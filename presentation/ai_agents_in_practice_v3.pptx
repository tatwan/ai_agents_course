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notesMasterIdLst>
    <p:notesMasterId r:id="rId1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notesMaster" Target="notesMasters/notesMaster1.xml"/><Relationship Id="rId114" Type="http://schemas.openxmlformats.org/officeDocument/2006/relationships/presProps" Target="presProps.xml"/><Relationship Id="rId115" Type="http://schemas.openxmlformats.org/officeDocument/2006/relationships/viewProps" Target="viewProps.xml"/><Relationship Id="rId116" Type="http://schemas.openxmlformats.org/officeDocument/2006/relationships/theme" Target="theme/theme1.xml"/><Relationship Id="rId1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days. Mornings build the concepts from these slides, afternoons are hands-on labs in the notebooks. No prior agent experience assumed. The room is deliberately mixed — engineers and non-engineers — and the slides are built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on slide 2 and mean it. It buys you permission to go deep later without losing half the room. Point at the yellow band so they know what to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and come back to it at every transition. Each layer exists because the one before it left a problem open. If someone asks 'why not just start with a framework' — this slide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early. No typing while I talk. Non-coders are not spectators in phase 3 — the notebooks are prose-heavy and the challenges have a discussion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an honest tone before the hype. IMPORTANT: this replaces the old unsourced '88%' slide — that number circulates on blogs with no traceable primary source (you can find 78, 86, 88, 89 and 95 all asserted). Gartner is citable and someone in the room will check. 'Agent washing' is the phrase that lands with the business half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wakes the room up — spend three or four minutes on it. Ask which row people's own function sits in; you will get the whole spread and that tells you how to pitch the rest of the two days. The bottom line is the teaching point: it is one loop, and the tools are the variable. Everything in this course generalises across all eight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antidote to 'my developers use Claude Code, why can't finance have the same thing'. Walk the five and let the room score their own domain out loud — it is the most useful ninety seconds in the opening. Callback: this comes back in module 01 as the three wrong-default reasons, and in module 17 as the decision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no-code risk out loud and do not soften it: the shadow-AI problem is real, and the people in the room who own governance will thank you for naming it. But do not sneer at no-code either — for a small departmental process with a tiny blast radius it is genuinely the right call, and half your room may already be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here prevents a derail later when someone mentions the low-code tool their department already bought. Acknowledge those tools as legitimate; the course teaches the layer underneath them. Pair this with the previous slide: that one was how you build, this one is who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ASIDE, and it will get raised whether or not you plan for it — every enterprise room has someone who owns an RPA estate. Two things to land: (1) unattended is autonomy, not agency; RPA is a workflow by module 01's test, because you wrote the steps. (2) Do not let the room think agents replace RPA. Every RPA vendor has bolted an agentic layer on, and the honest production pattern is a hybrid: judgment from the agent, execution from the deterministic bot. Also worth saying: RPA's brittleness is a feature of its determinism, and an agent's robustness is bought with non-determinism. You are trading one maintenance cost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module, but everything downstream is a delta against it. Do not skip it even for a senior room — the response object comes back in module 02 with one new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dump raw JSON on screen. Names only. Plant the dashed box: the same message object grows a tool_calls field in module 02, and that is the entire mechanism of tool use. NOTEBOOK after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riddle demo: the last line comes from the system role, not the user role. Ask the room which one after the first cell — it separates people who have read the docs from people who have used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After the forget cell: the list is the memory. After Prague: whatever number they got was not fetched, it was generated. This is the single most useful thing a non-technical attendee can take away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Landing slide for module 00. Mention reasoning_effort: pin it to none on a two-line riddle. Cost comes back properly in module 15, but plant the vocabulary here so the finance-minded people in the room have a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for the non-technical half of the room as much as for the builders. The vocabulary set here is what the closing workshop in module 17 grades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then wait. This is the sentence the rest of the course reuses, and the one your risk function will hear again in module 17. Do not rush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RPA is a workflow that drives a user interface — same test, you wrote the steps. Do not let anyone leave thinking 'agent' is the goal. The hero card is the agent because that's what the course builds, not because it's the right answer to every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drift, then land on the third row and keep that sentence available for the rest of the course. Gartner's 'agent washing' line from the opening slide is the same point told from the buyer's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for the business half of the room: an agent is mostly boring software. The model is one component, and it is the only one you did not write. That is why the failure modes later are all software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words are the grading scale for the closing workshop and the approval-gate map in module 14. Make the room say them back. A chatbot is usually suggest; a nightly export is usually act-with-audit.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reasons to stay with a script or a human. Reason 3 is the one that quietly kills pilots — and it is a data and process problem, not a model problem. Foreshadow module 17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do not show: 1 and 5 are workflows on act-with-audit. 2 is a chatbot. 3 and 6 are agents; keep 6 on suggest. 4 looks like an agent and must not be on act — draft, or a rules workflow with a human above the limit. That is the risk sentence of the whole course. 5 splits the room: classifier plus queues is a workflow, the leftovers are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 the misconception before anything else makes sense. Security, sandboxing, MCP and the whole of Day 2 depend on the room believing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move on until someone in the room says this back to you. Prompt injection is not the model doing something — it is YOUR code doing something because the model asked. That sentence is the whole of module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cell that matters in the notebook is the one where you pass tools= and then STOP before running anything. Look at the object. Do not run it yet. That pause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this was missing from the original deck. It matters because half the 'agent' use cases people bring to you are actually structured extraction, which needs no loop and no tools at all. Naming that early saves them money. Also note it's the same JSON Schema machinery as tool definitions, so it costs no new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Show step 3 deliberately: parse the arguments string, print it, THEN run. Also show what happens if you send back a lie — the model repeats it. That is a five-second demo that lands the trust boundary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this hard for the security module. When a tool call looks wrong, refusing it is not a hack or a workaround — it is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Largest module of Day 1. Three parts: ReAct in the open, ReAct wrapped in a class, then the official tool-calling loop. Do not call the official loop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 Reason + Act. It is not 'another way to call tools'. In module 02 the reasoning happened too — it just never surfaced. NOTEBOOK Part 1: the cell that matters is the SECOND thought, after the first observation. If it names the destination city, ReAct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label the right-hand column ReAct. Students should be able to name both and say which one they are looking at. This distinction is why 'we use ReAct' is a meaningless statement in most architecture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never discussed model selection, which is the first question a real team hits. Tie it to the course: MODEL_DEFAULT and MODEL_STRONG live in .env precisely so you re-pin in one place rather than in twenty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actual numbers from the notebook run out loud. Abstract cost warnings do nothing; a real dollar figure on a trivial question changes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engineers will photograph. Emphasise failure 3: an error is information, not an exception. Handing the error text back to the model is what makes an agent recover.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and mean it. It reframes the rest of the course from 'more tools to learn' to 'variations on something you already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on why it broke is worth an hour of slides. Both failures preview module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read/write split. Ask the room which two tools they would want an approval gate on before running unattended. That question is module 14, answered a day early by the room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ten minutes on WHY, not on the fix. Ask the room to predict what happens before you run it. Both failures are named again on Day 2, and the callback is what makes those slides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that quietly ends most enterprise pilots: context fills, cost climbs, and the agent gets worse the longer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this slide in every later module and point at which row you are changing. It converts a course full of separate topics into one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the interesting result here is not the 31% saving, it is that the fat prompt made the model WORSE — it asked to read a playbook it was already carrying. That is the counter-intuitive finding and it is verified 3/3 in your own notebook. Do not narrate the scripted version where fat is merely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token count before and after a summarisation pass in the notebook and replace these illustrative numbers verbally with the real ones. The final bar is the whole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people who have already tried and failed will nod at. Ask if anyone has seen it happen — you usually get 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in module 04 was wired by hand, to one agent, in one process. That is the problem MCP solves — and only that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make MCP sound magical. It is a plug standard. The value is entirely in not writing the same integration N times and in being able to govern one boundary instead of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filesystem reference server, inspected live, demystifies this in five minutes. Show tools/list first — the room sees that discovery is just a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never named JSON-RPC, which left MCP feeling like magic. Five minutes watching the raw traffic in the inspector demystifies the protocol completely, and it reassures the security people in the room that there is nothing exotic to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The statelessness point is the one that matters to a platform team: it removes the main operational objection to running MCP servers at scale. Do not teach HTTP+SSE — it is deprecated.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column is the part people miss. Ask: who decided this was in context? Tools = the model asked. Resources = your app attached it. Prompts = the user chose it. Elicitation reverses the direction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had nothing on authorisation, which is the very first thing a risk function asks about MCP. Agent identity is picked up properly in module 14; this slide just makes sure nobody leaves thinking MCP has no auth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attack anything here, just name the four. The detonation is module 14 and it hits much harder when it is their own corpus and their own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side-by-side slide fixes this confusion permanently. The Linux Foundation detail matters to procurement: A2A is not a single vendor's protocol, and saying so answers a question you will otherwise get in the corridor.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reply can carry several tool calls. Module 02 ran them one at a time; this module fixes that and shows where it bites back. Async comes BEFORE the frameworks on purpose — module 08 opens with await Runner.run, and this is the on-ramp.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live rather than trusting the chart. Replace the numbers verbally with what the room actually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primer can be compressed if the room is behind. The rule of thumb is the durable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bite in production and both have one-line fixes. return_exceptions=True and a semaphore. Show the failure first, then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framework module. The lab is the Chinook support desk built with the OpenAI Agents SDK, in three wirings. Async came first on purpose: every run here is an await.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The strongest practical advice in the course: build tier 0 once, then adopt a framework for the specific capability you found you needed. Teams that start at tier 3 cannot tell whether their problems come from the model, their code, or the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artifact of the course. Do not lecture the table — build one row live from a measurement the room just watched. Tier 4 is where lock-in lives, which is the bridge into module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design point explicitly: 'give the model SQL access' is the demo everyone builds and the thing nobody should ship. Narrow tools are auditable, cacheable,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dashed return arrows are the whole slide: they exist for the first two wirings and not for the hand-off. In the lab, the hand-off deliberately comes back with a half-answered two-part question — read last_agent out loud when it does. That is the lesson, not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Chinook desk, same tools, same question. The difference is that the control flow is a thing you can see, checkpoint, and stop halfway through. This is the cleanest close to 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and it closes a real gap: the deck asserted 'workflow' as a shape without ever showing what workflows actually look like. These five are Anthropic's published patterns and they are the standard vocabulary. Ask the room to name which pattern their last automation was — most will be routing or chaining. Patterns 4 and 5 are the bridge to the agent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 routing condition is code, not a model. People assume every decision in an 'agentic graph' is an LLM call, and that assumption is what makes them think it is unpredictable everywhere. Show the mermaid render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justifies tier 2 to an engineering manager. Tie it back hard to module 01's autonomy tiers and forward to module 14's approval gates — a 'draft' tier that cannot survive a process restart is not a real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students always ask 'which framework should we use' and a name-by-name tour is the wrong answer. Placing them on the tier ladder converts an unanswerable question into a decision about how much control they want to keep. Say out loud that this list will be different in a year and the tiers will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Question 4 is the one that resonates with the non-technical half of the room; question 1 is the one that actually decides it most often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line, not a citation. Ask the room which tier they could debug during an outage — it reframes framework choice as an operations decision rather than a taste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2 with a five-minute recap of the spine slide, then move straight into what happens when the model needs data it was never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 and charting use case, and the safe-execution question it forces. Sandboxing stops being theoretical the moment an agent writes matplotlib.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same tool with and without a container boundary and show what an unconstrained agent can reach — environment variables, the filesystem, the network. It takes thirty seconds and it is unforgettable.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moralise. Containers are a perfectly reasonable answer for most internal tooling. The point is that 'bare process' is a decision somebody made by not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Egress is the one people forget and it is the one that matters most for exfiltration. Ask the room how many of their existing containers restrict outbound network — the answer is usually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from context in general to retrieval specifically: unstructured text the model cannot otherwise reach. Build from scratch first so nobody thinks a vector store is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module 12. If the room accepts that these four question types are common, agentic RAG sells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scratch first, always. Ten lines of cosine similarity permanently removes the mystique, and it makes the vendor conversation on Day 2 far more sober.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most courses skip. A surprising number of enterprise RAG projects are re-implementing a SELECT statement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retrieval as a lookup to retrieval as its own agentic loop. The assess step is what a naive pipeline never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assess step is the slide. Everything else is module 11 with extra steps. Also flag the cost honestly — agentic RAG is not free and sometimes the naive version is good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evaluation habit you most want them to take home. Every corpus they build should have known-unanswerable questions in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reveal which document is poisoned. The reveal in module 14 is far more effective when they discover it happening to their own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agent cannot hold the whole job forever. But the org-chart metaphor seduces teams into a distributed systems problem they did not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an exercise if you have time: ask tables to design a multi-agent system for a process they own, on a flipchart, and only THEN show this slide. The trading example is close enough to a real function that it stings. Credit where due — this framing comes from Ed Donner's agentic course. Follow immediately with the five topologies, so they get the vocabulary after the warning, not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Trade-offs in latency, token cost and debuggability, not just topology. Ask which of these five they would want to explain to an auditor.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they remember. Say it, pause, then go to the next slide — which is the honest list of when splitting genuinely does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reasons, and only these four. If a proposal does not match one of them, the answer is one agent with more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before delivery: the weaker router must actually misroute when descriptions overlap, or the lesson does not land. Re-pin the model in .env if it stops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highest-retention module in the course, because it is their own agent from module 12 that gets attacked.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every card back to module 02 explicitly. If the room accepted that slide, none of these five should feel like a surprise — and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before delivery: the unguarded RAG agent MUST obey the planted instruction, or this module has no punchline. Test it the morning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had an autonomy spectrum but never said how a gate is actually built. Approval fatigue is the point the business half of the room recognises immediately from other systems they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topic a risk or compliance function asks about first, and it is a familiar problem with a familiar answer — which is a comfortable thing to be able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cost-to-build column explicit. Teams promise 'a human will review it' without budgeting the queue, the UI, and the resumable run that promise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measure, how to measure it, where the money goes, and what actually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room's own multi-agent run from module 13 is the trace to show here. Use their numbers, not invented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listed what to measure but never how. Step 3 is the one to caveat hardest: an uncalibrated LLM judge gives teams false confidence, which is worse than no eval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observability was mentioned in the original deck but never taught. The vendor-neutral angle matters: if they instrument with OpenTelemetry they are not locked into whichever LLM-observability startup they trial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rough order of how often they are actually used. Lever 3 is the one that turns a scary story into a bounded one — a runaway loop with a per-task cap is a bug report, not an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six-layer table slowly. The teaching point is which rows are open standards you already built, and which rows are genuinely sticky.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durable handout of the course. It answers 'what applies to me' for someone on any cloud, and it survives the vendors renaming their products next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The use / build / execute verb axis is the useful part — most landscape slides are logo soups sorted by nothing. The three-tier business model observation is the one procurement people will write down, and almost nobody's deck says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genuinely useful thing an architect takes back to their own organisation. It is also the slide most likely to get you invited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the business half of the room came for. Everything technical from the last two days becomes an input to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two 'stop here' lines out loud. In a room of enthusiastic people, permission to build the boring version is the most valuable thing you can hand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and the one the business half of the room came for. Walk it top to bottom out loud. Question 2 is where most real proposals die, and it dies for reasons that have nothing to do with AI. Question 5 is the one nobody asks and everybody regrets.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callback to module 01's three failure modes. Point out that the technical content of two days did not change the judgement criteria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is the minimum that produces anything real. Circulate. The most common stall is groups mapping the process they wish they had rather than the one they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they start, not after. It gives permission for the honest answer, which is the answer that saves the most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callback. Read it in order. Then hand over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Leave real time for questions — the best ones always come after the last slide. The three chips are the three things most likely to actually get done in the week after a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02-3.png"/><Relationship Id="rId2" Type="http://schemas.openxmlformats.org/officeDocument/2006/relationships/image" Target="../media/image-2-2.png"/><Relationship Id="rId3" Type="http://schemas.openxmlformats.org/officeDocument/2006/relationships/image" Target="../media/image-110-5.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0-2.png"/><Relationship Id="rId2" Type="http://schemas.openxmlformats.org/officeDocument/2006/relationships/image" Target="../media/image-110-2.png"/><Relationship Id="rId3" Type="http://schemas.openxmlformats.org/officeDocument/2006/relationships/image" Target="../media/image-102-5.png"/><Relationship Id="rId4" Type="http://schemas.openxmlformats.org/officeDocument/2006/relationships/image" Target="../media/image-108-3.png"/><Relationship Id="rId5" Type="http://schemas.openxmlformats.org/officeDocument/2006/relationships/image" Target="../media/image-110-5.png"/><Relationship Id="rId6" Type="http://schemas.openxmlformats.org/officeDocument/2006/relationships/image" Target="../media/image-110-6.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8-6.png"/><Relationship Id="rId2" Type="http://schemas.openxmlformats.org/officeDocument/2006/relationships/image" Target="../media/image-102-1.png"/><Relationship Id="rId3" Type="http://schemas.openxmlformats.org/officeDocument/2006/relationships/image" Target="../media/image-37-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3.png"/><Relationship Id="rId3" Type="http://schemas.openxmlformats.org/officeDocument/2006/relationships/image" Target="../media/image-108-6.png"/><Relationship Id="rId4" Type="http://schemas.openxmlformats.org/officeDocument/2006/relationships/image" Target="../media/image-22-3.png"/><Relationship Id="rId5" Type="http://schemas.openxmlformats.org/officeDocument/2006/relationships/image" Target="../media/image-6-5.png"/><Relationship Id="rId6" Type="http://schemas.openxmlformats.org/officeDocument/2006/relationships/image" Target="../media/image-38-2.png"/><Relationship Id="rId7" Type="http://schemas.openxmlformats.org/officeDocument/2006/relationships/image" Target="../media/image-108-2.png"/><Relationship Id="rId8" Type="http://schemas.openxmlformats.org/officeDocument/2006/relationships/image" Target="../media/image-49-2.png"/><Relationship Id="rId9" Type="http://schemas.openxmlformats.org/officeDocument/2006/relationships/image" Target="../media/image-104-2.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35-1.png"/><Relationship Id="rId3" Type="http://schemas.openxmlformats.org/officeDocument/2006/relationships/image" Target="../media/image-38-2.png"/><Relationship Id="rId4" Type="http://schemas.openxmlformats.org/officeDocument/2006/relationships/image" Target="../media/image-39-3.png"/><Relationship Id="rId5" Type="http://schemas.openxmlformats.org/officeDocument/2006/relationships/image" Target="../media/image-110-5.png"/><Relationship Id="rId6" Type="http://schemas.openxmlformats.org/officeDocument/2006/relationships/image" Target="../media/image-108-4.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2-2.png"/><Relationship Id="rId2" Type="http://schemas.openxmlformats.org/officeDocument/2006/relationships/image" Target="../media/image-102-5.png"/><Relationship Id="rId3" Type="http://schemas.openxmlformats.org/officeDocument/2006/relationships/image" Target="../media/image-102-3.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08-6.png"/><Relationship Id="rId3" Type="http://schemas.openxmlformats.org/officeDocument/2006/relationships/image" Target="../media/image-13-3.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07-2.png"/><Relationship Id="rId2" Type="http://schemas.openxmlformats.org/officeDocument/2006/relationships/image" Target="../media/image-107-2.png"/><Relationship Id="rId3" Type="http://schemas.openxmlformats.org/officeDocument/2006/relationships/image" Target="../media/image-103-1.png"/><Relationship Id="rId4" Type="http://schemas.openxmlformats.org/officeDocument/2006/relationships/image" Target="../media/image-103-1.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1-2.png"/><Relationship Id="rId3" Type="http://schemas.openxmlformats.org/officeDocument/2006/relationships/image" Target="../media/image-15-3.png"/><Relationship Id="rId4" Type="http://schemas.openxmlformats.org/officeDocument/2006/relationships/image" Target="../media/image-108-4.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4-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08-6.png"/><Relationship Id="rId2" Type="http://schemas.openxmlformats.org/officeDocument/2006/relationships/image" Target="../media/image-18-2.png"/><Relationship Id="rId3" Type="http://schemas.openxmlformats.org/officeDocument/2006/relationships/image" Target="../media/image-10-1.png"/><Relationship Id="rId4" Type="http://schemas.openxmlformats.org/officeDocument/2006/relationships/image" Target="../media/image-18-4.png"/><Relationship Id="rId5" Type="http://schemas.openxmlformats.org/officeDocument/2006/relationships/image" Target="../media/image-10-2.png"/><Relationship Id="rId6" Type="http://schemas.openxmlformats.org/officeDocument/2006/relationships/image" Target="../media/image-18-6.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3-3.png"/><Relationship Id="rId2" Type="http://schemas.openxmlformats.org/officeDocument/2006/relationships/image" Target="../media/image-13-1.png"/><Relationship Id="rId3" Type="http://schemas.openxmlformats.org/officeDocument/2006/relationships/image" Target="../media/image-20-3.png"/><Relationship Id="rId4" Type="http://schemas.openxmlformats.org/officeDocument/2006/relationships/image" Target="../media/image-10-1.png"/><Relationship Id="rId5" Type="http://schemas.openxmlformats.org/officeDocument/2006/relationships/image" Target="../media/image-10-2.png"/><Relationship Id="rId6" Type="http://schemas.openxmlformats.org/officeDocument/2006/relationships/image" Target="../media/image-106-1.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15-3.png"/><Relationship Id="rId4" Type="http://schemas.openxmlformats.org/officeDocument/2006/relationships/image" Target="../media/image-21-4.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8-4.png"/><Relationship Id="rId3" Type="http://schemas.openxmlformats.org/officeDocument/2006/relationships/image" Target="../media/image-22-3.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0-3.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08-6.png"/><Relationship Id="rId2" Type="http://schemas.openxmlformats.org/officeDocument/2006/relationships/image" Target="../media/image-102-3.png"/><Relationship Id="rId3" Type="http://schemas.openxmlformats.org/officeDocument/2006/relationships/image" Target="../media/image-26-3.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08-6.png"/><Relationship Id="rId2" Type="http://schemas.openxmlformats.org/officeDocument/2006/relationships/image" Target="../media/image-103-1.png"/><Relationship Id="rId3" Type="http://schemas.openxmlformats.org/officeDocument/2006/relationships/image" Target="../media/image-27-3.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1-2.png"/><Relationship Id="rId2" Type="http://schemas.openxmlformats.org/officeDocument/2006/relationships/image" Target="../media/image-13-3.png"/><Relationship Id="rId3" Type="http://schemas.openxmlformats.org/officeDocument/2006/relationships/image" Target="../media/image-28-3.png"/><Relationship Id="rId4" Type="http://schemas.openxmlformats.org/officeDocument/2006/relationships/image" Target="../media/image-20-3.png"/><Relationship Id="rId5" Type="http://schemas.openxmlformats.org/officeDocument/2006/relationships/image" Target="../media/image-108-6.png"/><Relationship Id="rId6" Type="http://schemas.openxmlformats.org/officeDocument/2006/relationships/image" Target="../media/image-10-3.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0-2.png"/><Relationship Id="rId2" Type="http://schemas.openxmlformats.org/officeDocument/2006/relationships/image" Target="../media/image-108-6.png"/><Relationship Id="rId3" Type="http://schemas.openxmlformats.org/officeDocument/2006/relationships/image" Target="../media/image-103-1.png"/><Relationship Id="rId4" Type="http://schemas.openxmlformats.org/officeDocument/2006/relationships/image" Target="../media/image-108-4.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27-3.png"/><Relationship Id="rId2" Type="http://schemas.openxmlformats.org/officeDocument/2006/relationships/image" Target="../media/image-15-1.png"/><Relationship Id="rId3" Type="http://schemas.openxmlformats.org/officeDocument/2006/relationships/image" Target="../media/image-108-2.png"/><Relationship Id="rId4" Type="http://schemas.openxmlformats.org/officeDocument/2006/relationships/image" Target="../media/image-102-5.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10-1.png"/><Relationship Id="rId3" Type="http://schemas.openxmlformats.org/officeDocument/2006/relationships/image" Target="../media/image-108-4.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22-3.png"/><Relationship Id="rId4" Type="http://schemas.openxmlformats.org/officeDocument/2006/relationships/image" Target="../media/image-21-2.png"/><Relationship Id="rId5" Type="http://schemas.openxmlformats.org/officeDocument/2006/relationships/image" Target="../media/image-102-1.png"/><Relationship Id="rId6" Type="http://schemas.openxmlformats.org/officeDocument/2006/relationships/image" Target="../media/image-103-4.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110-6.png"/><Relationship Id="rId5" Type="http://schemas.openxmlformats.org/officeDocument/2006/relationships/image" Target="../media/image-110-6.png"/><Relationship Id="rId6" Type="http://schemas.openxmlformats.org/officeDocument/2006/relationships/image" Target="../media/image-10-3.png"/><Relationship Id="rId7" Type="http://schemas.openxmlformats.org/officeDocument/2006/relationships/slideLayout" Target="../slideLayouts/slideLayout1.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5.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08-6.png"/><Relationship Id="rId3" Type="http://schemas.openxmlformats.org/officeDocument/2006/relationships/image" Target="../media/image-20-3.png"/><Relationship Id="rId4" Type="http://schemas.openxmlformats.org/officeDocument/2006/relationships/image" Target="../media/image-102-2.png"/><Relationship Id="rId5" Type="http://schemas.openxmlformats.org/officeDocument/2006/relationships/image" Target="../media/image-10-1.png"/><Relationship Id="rId6" Type="http://schemas.openxmlformats.org/officeDocument/2006/relationships/image" Target="../media/image-108-3.png"/><Relationship Id="rId7" Type="http://schemas.openxmlformats.org/officeDocument/2006/relationships/image" Target="../media/image-22-3.png"/><Relationship Id="rId8" Type="http://schemas.openxmlformats.org/officeDocument/2006/relationships/image" Target="../media/image-15-1.png"/><Relationship Id="rId9" Type="http://schemas.openxmlformats.org/officeDocument/2006/relationships/image" Target="../media/image-10-3.png"/><Relationship Id="rId10" Type="http://schemas.openxmlformats.org/officeDocument/2006/relationships/slideLayout" Target="../slideLayouts/slideLayout1.xml"/><Relationship Id="rId11"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28-3.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108-4.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0-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02-2.png"/><Relationship Id="rId2" Type="http://schemas.openxmlformats.org/officeDocument/2006/relationships/image" Target="../media/image-110-2.png"/><Relationship Id="rId3" Type="http://schemas.openxmlformats.org/officeDocument/2006/relationships/image" Target="../media/image-102-4.png"/><Relationship Id="rId4" Type="http://schemas.openxmlformats.org/officeDocument/2006/relationships/image" Target="../media/image-110-6.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02-3.png"/><Relationship Id="rId2" Type="http://schemas.openxmlformats.org/officeDocument/2006/relationships/image" Target="../media/image-10-1.png"/><Relationship Id="rId3" Type="http://schemas.openxmlformats.org/officeDocument/2006/relationships/image" Target="../media/image-15-3.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37-2.png"/><Relationship Id="rId2" Type="http://schemas.openxmlformats.org/officeDocument/2006/relationships/image" Target="../media/image-49-2.png"/><Relationship Id="rId3" Type="http://schemas.openxmlformats.org/officeDocument/2006/relationships/image" Target="../media/image-102-5.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20-3.png"/><Relationship Id="rId2" Type="http://schemas.openxmlformats.org/officeDocument/2006/relationships/image" Target="../media/image-38-2.png"/><Relationship Id="rId3" Type="http://schemas.openxmlformats.org/officeDocument/2006/relationships/image" Target="../media/image-108-6.png"/><Relationship Id="rId4" Type="http://schemas.openxmlformats.org/officeDocument/2006/relationships/image" Target="../media/image-21-1.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26-3.png"/><Relationship Id="rId2" Type="http://schemas.openxmlformats.org/officeDocument/2006/relationships/image" Target="../media/image-2-2.png"/><Relationship Id="rId3" Type="http://schemas.openxmlformats.org/officeDocument/2006/relationships/image" Target="../media/image-28-3.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08-4.png"/><Relationship Id="rId2" Type="http://schemas.openxmlformats.org/officeDocument/2006/relationships/image" Target="../media/image-108-6.png"/><Relationship Id="rId3" Type="http://schemas.openxmlformats.org/officeDocument/2006/relationships/image" Target="../media/image-103-4.png"/><Relationship Id="rId4" Type="http://schemas.openxmlformats.org/officeDocument/2006/relationships/image" Target="../media/image-15-3.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20-3.png"/><Relationship Id="rId2" Type="http://schemas.openxmlformats.org/officeDocument/2006/relationships/image" Target="../media/image-110-5.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1-4.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39-3.png"/><Relationship Id="rId2" Type="http://schemas.openxmlformats.org/officeDocument/2006/relationships/image" Target="../media/image-39-2.png"/><Relationship Id="rId3" Type="http://schemas.openxmlformats.org/officeDocument/2006/relationships/image" Target="../media/image-110-5.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108-4.png"/><Relationship Id="rId2" Type="http://schemas.openxmlformats.org/officeDocument/2006/relationships/image" Target="../media/image-106-1.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5.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102-3.png"/><Relationship Id="rId2" Type="http://schemas.openxmlformats.org/officeDocument/2006/relationships/image" Target="../media/image-102-5.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22-3.png"/><Relationship Id="rId2" Type="http://schemas.openxmlformats.org/officeDocument/2006/relationships/image" Target="../media/image-38-2.png"/><Relationship Id="rId3" Type="http://schemas.openxmlformats.org/officeDocument/2006/relationships/image" Target="../media/image-2-2.png"/><Relationship Id="rId4" Type="http://schemas.openxmlformats.org/officeDocument/2006/relationships/image" Target="../media/image-110-6.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102-3.png"/><Relationship Id="rId2" Type="http://schemas.openxmlformats.org/officeDocument/2006/relationships/image" Target="../media/image-20-3.png"/><Relationship Id="rId3" Type="http://schemas.openxmlformats.org/officeDocument/2006/relationships/image" Target="../media/image-11-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108-3.png"/><Relationship Id="rId2" Type="http://schemas.openxmlformats.org/officeDocument/2006/relationships/image" Target="../media/image-65-2.png"/><Relationship Id="rId3" Type="http://schemas.openxmlformats.org/officeDocument/2006/relationships/image" Target="../media/image-39-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2-2.png"/><Relationship Id="rId4" Type="http://schemas.openxmlformats.org/officeDocument/2006/relationships/image" Target="../media/image-102-1.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39-3.png"/><Relationship Id="rId2" Type="http://schemas.openxmlformats.org/officeDocument/2006/relationships/image" Target="../media/image-110-5.png"/><Relationship Id="rId3" Type="http://schemas.openxmlformats.org/officeDocument/2006/relationships/image" Target="../media/image-20-3.png"/><Relationship Id="rId4" Type="http://schemas.openxmlformats.org/officeDocument/2006/relationships/image" Target="../media/image-110-6.png"/><Relationship Id="rId5" Type="http://schemas.openxmlformats.org/officeDocument/2006/relationships/image" Target="../media/image-100-2.png"/><Relationship Id="rId6" Type="http://schemas.openxmlformats.org/officeDocument/2006/relationships/image" Target="../media/image-104-2.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1.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108-6.png"/><Relationship Id="rId2" Type="http://schemas.openxmlformats.org/officeDocument/2006/relationships/image" Target="../media/image-102-3.png"/><Relationship Id="rId3" Type="http://schemas.openxmlformats.org/officeDocument/2006/relationships/image" Target="../media/image-108-4.png"/><Relationship Id="rId4" Type="http://schemas.openxmlformats.org/officeDocument/2006/relationships/image" Target="../media/image-6-5.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107-2.png"/><Relationship Id="rId2" Type="http://schemas.openxmlformats.org/officeDocument/2006/relationships/image" Target="../media/image-65-2.png"/><Relationship Id="rId3" Type="http://schemas.openxmlformats.org/officeDocument/2006/relationships/image" Target="../media/image-110-6.png"/><Relationship Id="rId4" Type="http://schemas.openxmlformats.org/officeDocument/2006/relationships/image" Target="../media/image-100-2.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39-3.png"/><Relationship Id="rId2" Type="http://schemas.openxmlformats.org/officeDocument/2006/relationships/image" Target="../media/image-13-3.png"/><Relationship Id="rId3" Type="http://schemas.openxmlformats.org/officeDocument/2006/relationships/image" Target="../media/image-49-2.png"/><Relationship Id="rId4" Type="http://schemas.openxmlformats.org/officeDocument/2006/relationships/image" Target="../media/image-38-1.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3.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39-2.png"/><Relationship Id="rId2" Type="http://schemas.openxmlformats.org/officeDocument/2006/relationships/image" Target="../media/image-108-6.png"/><Relationship Id="rId3" Type="http://schemas.openxmlformats.org/officeDocument/2006/relationships/image" Target="../media/image-102-2.png"/><Relationship Id="rId4" Type="http://schemas.openxmlformats.org/officeDocument/2006/relationships/image" Target="../media/image-107-2.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102-5.png"/><Relationship Id="rId2" Type="http://schemas.openxmlformats.org/officeDocument/2006/relationships/image" Target="../media/image-10-3.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21-2.png"/><Relationship Id="rId2" Type="http://schemas.openxmlformats.org/officeDocument/2006/relationships/image" Target="../media/image-22-3.png"/><Relationship Id="rId3" Type="http://schemas.openxmlformats.org/officeDocument/2006/relationships/image" Target="../media/image-15-3.png"/><Relationship Id="rId4" Type="http://schemas.openxmlformats.org/officeDocument/2006/relationships/image" Target="../media/image-35-1.png"/><Relationship Id="rId5" Type="http://schemas.openxmlformats.org/officeDocument/2006/relationships/image" Target="../media/image-38-2.png"/><Relationship Id="rId6" Type="http://schemas.openxmlformats.org/officeDocument/2006/relationships/image" Target="../media/image-10-3.png"/><Relationship Id="rId7" Type="http://schemas.openxmlformats.org/officeDocument/2006/relationships/slideLayout" Target="../slideLayouts/slideLayout1.xml"/><Relationship Id="rId8"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27-3.png"/><Relationship Id="rId2" Type="http://schemas.openxmlformats.org/officeDocument/2006/relationships/image" Target="../media/image-107-2.png"/><Relationship Id="rId3" Type="http://schemas.openxmlformats.org/officeDocument/2006/relationships/image" Target="../media/image-103-1.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108-4.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0-5.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27-3.png"/><Relationship Id="rId2" Type="http://schemas.openxmlformats.org/officeDocument/2006/relationships/image" Target="../media/image-108-2.png"/><Relationship Id="rId3" Type="http://schemas.openxmlformats.org/officeDocument/2006/relationships/image" Target="../media/image-110-5.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104-2.png"/><Relationship Id="rId2" Type="http://schemas.openxmlformats.org/officeDocument/2006/relationships/image" Target="../media/image-10-1.png"/><Relationship Id="rId3" Type="http://schemas.openxmlformats.org/officeDocument/2006/relationships/image" Target="../media/image-102-5.png"/><Relationship Id="rId4" Type="http://schemas.openxmlformats.org/officeDocument/2006/relationships/image" Target="../media/image-85-4.png"/><Relationship Id="rId5" Type="http://schemas.openxmlformats.org/officeDocument/2006/relationships/image" Target="../media/image-102-2.png"/><Relationship Id="rId6" Type="http://schemas.openxmlformats.org/officeDocument/2006/relationships/image" Target="../media/image-15-1.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20-3.png"/><Relationship Id="rId2" Type="http://schemas.openxmlformats.org/officeDocument/2006/relationships/image" Target="../media/image-13-3.png"/><Relationship Id="rId3" Type="http://schemas.openxmlformats.org/officeDocument/2006/relationships/image" Target="../media/image-103-4.png"/><Relationship Id="rId4" Type="http://schemas.openxmlformats.org/officeDocument/2006/relationships/image" Target="../media/image-43-1.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104-2.png"/><Relationship Id="rId2" Type="http://schemas.openxmlformats.org/officeDocument/2006/relationships/image" Target="../media/image-108-4.png"/><Relationship Id="rId3" Type="http://schemas.openxmlformats.org/officeDocument/2006/relationships/image" Target="../media/image-108-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0-6.png"/><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108-6.png"/><Relationship Id="rId2" Type="http://schemas.openxmlformats.org/officeDocument/2006/relationships/image" Target="../media/image-42-1.png"/><Relationship Id="rId3" Type="http://schemas.openxmlformats.org/officeDocument/2006/relationships/image" Target="../media/image-11-2.png"/><Relationship Id="rId4" Type="http://schemas.openxmlformats.org/officeDocument/2006/relationships/image" Target="../media/image-35-1.png"/><Relationship Id="rId5" Type="http://schemas.openxmlformats.org/officeDocument/2006/relationships/image" Target="../media/image-2-2.png"/><Relationship Id="rId6" Type="http://schemas.openxmlformats.org/officeDocument/2006/relationships/image" Target="../media/image-110-6.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38-2.png"/><Relationship Id="rId2" Type="http://schemas.openxmlformats.org/officeDocument/2006/relationships/image" Target="../media/image-108-4.png"/><Relationship Id="rId3" Type="http://schemas.openxmlformats.org/officeDocument/2006/relationships/image" Target="../media/image-110-6.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38-2.png"/><Relationship Id="rId3" Type="http://schemas.openxmlformats.org/officeDocument/2006/relationships/image" Target="../media/image-66-2.png"/><Relationship Id="rId4" Type="http://schemas.openxmlformats.org/officeDocument/2006/relationships/image" Target="../media/image-15-3.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110-5.png"/><Relationship Id="rId2" Type="http://schemas.openxmlformats.org/officeDocument/2006/relationships/image" Target="../media/image-26-3.png"/><Relationship Id="rId3" Type="http://schemas.openxmlformats.org/officeDocument/2006/relationships/image" Target="../media/image-100-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8-2.png"/><Relationship Id="rId3" Type="http://schemas.openxmlformats.org/officeDocument/2006/relationships/slideLayout" Target="../slideLayouts/slideLayout1.xm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20-3.png"/><Relationship Id="rId3" Type="http://schemas.openxmlformats.org/officeDocument/2006/relationships/image" Target="../media/image-38-2.png"/><Relationship Id="rId4" Type="http://schemas.openxmlformats.org/officeDocument/2006/relationships/image" Target="../media/image-15-1.png"/><Relationship Id="rId5" Type="http://schemas.openxmlformats.org/officeDocument/2006/relationships/image" Target="../media/image-39-3.png"/><Relationship Id="rId6" Type="http://schemas.openxmlformats.org/officeDocument/2006/relationships/image" Target="../media/image-108-4.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9-2.png"/><Relationship Id="rId3" Type="http://schemas.openxmlformats.org/officeDocument/2006/relationships/image" Target="../media/image-108-2.png"/><Relationship Id="rId4" Type="http://schemas.openxmlformats.org/officeDocument/2006/relationships/image" Target="../media/image-35-1.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85-4.png"/><Relationship Id="rId2" Type="http://schemas.openxmlformats.org/officeDocument/2006/relationships/image" Target="../media/image-110-2.png"/><Relationship Id="rId3" Type="http://schemas.openxmlformats.org/officeDocument/2006/relationships/image" Target="../media/image-15-3.png"/><Relationship Id="rId4" Type="http://schemas.openxmlformats.org/officeDocument/2006/relationships/image" Target="../media/image-103-4.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39-2.png"/><Relationship Id="rId3" Type="http://schemas.openxmlformats.org/officeDocument/2006/relationships/image" Target="../media/image-106-1.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0-2.png"/><Relationship Id="rId3" Type="http://schemas.openxmlformats.org/officeDocument/2006/relationships/slideLayout" Target="../slideLayouts/slideLayout1.xml"/><Relationship Id="rId4"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image" Target="../media/image-102-2.png"/><Relationship Id="rId3" Type="http://schemas.openxmlformats.org/officeDocument/2006/relationships/image" Target="../media/image-102-3.png"/><Relationship Id="rId4" Type="http://schemas.openxmlformats.org/officeDocument/2006/relationships/image" Target="../media/image-102-4.png"/><Relationship Id="rId5" Type="http://schemas.openxmlformats.org/officeDocument/2006/relationships/image" Target="../media/image-102-5.png"/><Relationship Id="rId6" Type="http://schemas.openxmlformats.org/officeDocument/2006/relationships/image" Target="../media/image-10-3.png"/><Relationship Id="rId7" Type="http://schemas.openxmlformats.org/officeDocument/2006/relationships/slideLayout" Target="../slideLayouts/slideLayout1.xml"/><Relationship Id="rId8"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3-1.png"/><Relationship Id="rId3" Type="http://schemas.openxmlformats.org/officeDocument/2006/relationships/image" Target="../media/image-103-1.png"/><Relationship Id="rId4" Type="http://schemas.openxmlformats.org/officeDocument/2006/relationships/image" Target="../media/image-103-4.png"/><Relationship Id="rId5" Type="http://schemas.openxmlformats.org/officeDocument/2006/relationships/image" Target="../media/image-10-3.png"/><Relationship Id="rId6" Type="http://schemas.openxmlformats.org/officeDocument/2006/relationships/slideLayout" Target="../slideLayouts/slideLayout1.xml"/><Relationship Id="rId7"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4-2.png"/><Relationship Id="rId3" Type="http://schemas.openxmlformats.org/officeDocument/2006/relationships/slideLayout" Target="../slideLayouts/slideLayout1.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1.png"/><Relationship Id="rId3" Type="http://schemas.openxmlformats.org/officeDocument/2006/relationships/image" Target="../media/image-106-1.png"/><Relationship Id="rId4" Type="http://schemas.openxmlformats.org/officeDocument/2006/relationships/image" Target="../media/image-106-1.png"/><Relationship Id="rId5" Type="http://schemas.openxmlformats.org/officeDocument/2006/relationships/image" Target="../media/image-103-1.png"/><Relationship Id="rId6" Type="http://schemas.openxmlformats.org/officeDocument/2006/relationships/image" Target="../media/image-10-3.png"/><Relationship Id="rId7" Type="http://schemas.openxmlformats.org/officeDocument/2006/relationships/slideLayout" Target="../slideLayouts/slideLayout1.xml"/><Relationship Id="rId8"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7-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8-2.png"/><Relationship Id="rId3" Type="http://schemas.openxmlformats.org/officeDocument/2006/relationships/image" Target="../media/image-108-3.png"/><Relationship Id="rId4" Type="http://schemas.openxmlformats.org/officeDocument/2006/relationships/image" Target="../media/image-108-4.png"/><Relationship Id="rId5" Type="http://schemas.openxmlformats.org/officeDocument/2006/relationships/image" Target="../media/image-104-2.png"/><Relationship Id="rId6" Type="http://schemas.openxmlformats.org/officeDocument/2006/relationships/image" Target="../media/image-108-6.png"/><Relationship Id="rId7" Type="http://schemas.openxmlformats.org/officeDocument/2006/relationships/image" Target="../media/image-10-3.png"/><Relationship Id="rId8" Type="http://schemas.openxmlformats.org/officeDocument/2006/relationships/slideLayout" Target="../slideLayouts/slideLayout1.xml"/><Relationship Id="rId9"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0-2.png"/><Relationship Id="rId2" Type="http://schemas.openxmlformats.org/officeDocument/2006/relationships/image" Target="../media/image-110-2.png"/><Relationship Id="rId3" Type="http://schemas.openxmlformats.org/officeDocument/2006/relationships/image" Target="../media/image-102-5.png"/><Relationship Id="rId4" Type="http://schemas.openxmlformats.org/officeDocument/2006/relationships/image" Target="../media/image-108-3.png"/><Relationship Id="rId5" Type="http://schemas.openxmlformats.org/officeDocument/2006/relationships/image" Target="../media/image-110-5.png"/><Relationship Id="rId6" Type="http://schemas.openxmlformats.org/officeDocument/2006/relationships/image" Target="../media/image-110-6.png"/><Relationship Id="rId7" Type="http://schemas.openxmlformats.org/officeDocument/2006/relationships/image" Target="../media/image-104-2.png"/><Relationship Id="rId8" Type="http://schemas.openxmlformats.org/officeDocument/2006/relationships/image" Target="../media/image-10-3.png"/><Relationship Id="rId9" Type="http://schemas.openxmlformats.org/officeDocument/2006/relationships/slideLayout" Target="../slideLayouts/slideLayout1.xml"/><Relationship Id="rId10"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2121408"/>
            <a:ext cx="8229600" cy="274320"/>
          </a:xfrm>
          <a:prstGeom prst="rect">
            <a:avLst/>
          </a:prstGeom>
          <a:noFill/>
          <a:ln/>
        </p:spPr>
        <p:txBody>
          <a:bodyPr wrap="square" lIns="0" tIns="0" rIns="0" bIns="0" rtlCol="0" anchor="ctr"/>
          <a:lstStyle/>
          <a:p>
            <a:pPr indent="0" marL="0">
              <a:buNone/>
            </a:pPr>
            <a:r>
              <a:rPr lang="en-US" sz="1200" b="1" spc="300" kern="0" dirty="0">
                <a:solidFill>
                  <a:srgbClr val="F5A524"/>
                </a:solidFill>
                <a:latin typeface="Calibri" pitchFamily="34" charset="0"/>
                <a:ea typeface="Calibri" pitchFamily="34" charset="-122"/>
                <a:cs typeface="Calibri" pitchFamily="34" charset="-120"/>
              </a:rPr>
              <a:t>TWO-DAY ENTERPRISE WORKSHOP</a:t>
            </a:r>
            <a:endParaRPr lang="en-US" sz="1200" dirty="0"/>
          </a:p>
        </p:txBody>
      </p:sp>
      <p:sp>
        <p:nvSpPr>
          <p:cNvPr id="4" name="Text 1"/>
          <p:cNvSpPr/>
          <p:nvPr/>
        </p:nvSpPr>
        <p:spPr>
          <a:xfrm>
            <a:off x="530352" y="2505456"/>
            <a:ext cx="10424160" cy="1234440"/>
          </a:xfrm>
          <a:prstGeom prst="rect">
            <a:avLst/>
          </a:prstGeom>
          <a:noFill/>
          <a:ln/>
        </p:spPr>
        <p:txBody>
          <a:bodyPr wrap="square" lIns="0" tIns="0" rIns="0" bIns="0" rtlCol="0" anchor="t"/>
          <a:lstStyle/>
          <a:p>
            <a:pPr indent="0" marL="0">
              <a:buNone/>
            </a:pPr>
            <a:r>
              <a:rPr lang="en-US" sz="6200" b="1" dirty="0">
                <a:solidFill>
                  <a:srgbClr val="FFFFFF"/>
                </a:solidFill>
                <a:latin typeface="Cambria" pitchFamily="34" charset="0"/>
                <a:ea typeface="Cambria" pitchFamily="34" charset="-122"/>
                <a:cs typeface="Cambria" pitchFamily="34" charset="-120"/>
              </a:rPr>
              <a:t>AI Agents in Practice</a:t>
            </a:r>
            <a:endParaRPr lang="en-US" sz="6200" dirty="0"/>
          </a:p>
        </p:txBody>
      </p:sp>
      <p:sp>
        <p:nvSpPr>
          <p:cNvPr id="5" name="Text 2"/>
          <p:cNvSpPr/>
          <p:nvPr/>
        </p:nvSpPr>
        <p:spPr>
          <a:xfrm>
            <a:off x="566928" y="3785616"/>
            <a:ext cx="10058400" cy="411480"/>
          </a:xfrm>
          <a:prstGeom prst="rect">
            <a:avLst/>
          </a:prstGeom>
          <a:noFill/>
          <a:ln/>
        </p:spPr>
        <p:txBody>
          <a:bodyPr wrap="square" lIns="0" tIns="0" rIns="0" bIns="0" rtlCol="0" anchor="ctr"/>
          <a:lstStyle/>
          <a:p>
            <a:pPr indent="0" marL="0">
              <a:buNone/>
            </a:pPr>
            <a:r>
              <a:rPr lang="en-US" sz="1900" dirty="0">
                <a:solidFill>
                  <a:srgbClr val="B9B4E0"/>
                </a:solidFill>
                <a:latin typeface="Calibri" pitchFamily="34" charset="0"/>
                <a:ea typeface="Calibri" pitchFamily="34" charset="-122"/>
                <a:cs typeface="Calibri" pitchFamily="34" charset="-120"/>
              </a:rPr>
              <a:t>Foundations · Frameworks · Protocols · Production</a:t>
            </a:r>
            <a:endParaRPr lang="en-US" sz="1900" dirty="0"/>
          </a:p>
        </p:txBody>
      </p:sp>
      <p:sp>
        <p:nvSpPr>
          <p:cNvPr id="6" name="Shape 3"/>
          <p:cNvSpPr/>
          <p:nvPr/>
        </p:nvSpPr>
        <p:spPr>
          <a:xfrm>
            <a:off x="566928" y="4443984"/>
            <a:ext cx="2227478" cy="402336"/>
          </a:xfrm>
          <a:prstGeom prst="roundRect">
            <a:avLst>
              <a:gd name="adj" fmla="val 50000"/>
            </a:avLst>
          </a:prstGeom>
          <a:solidFill>
            <a:srgbClr val="FFFFFF">
              <a:alpha val="12000"/>
            </a:srgbClr>
          </a:solidFill>
          <a:ln w="12700">
            <a:solidFill>
              <a:srgbClr val="8E82F5"/>
            </a:solidFill>
            <a:prstDash val="solid"/>
          </a:ln>
        </p:spPr>
      </p:sp>
      <p:sp>
        <p:nvSpPr>
          <p:cNvPr id="7" name="Text 4"/>
          <p:cNvSpPr/>
          <p:nvPr/>
        </p:nvSpPr>
        <p:spPr>
          <a:xfrm>
            <a:off x="566928" y="4443984"/>
            <a:ext cx="2227478" cy="402336"/>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Day 1 — build the loop</a:t>
            </a:r>
            <a:endParaRPr lang="en-US" sz="1150" dirty="0"/>
          </a:p>
        </p:txBody>
      </p:sp>
      <p:sp>
        <p:nvSpPr>
          <p:cNvPr id="8" name="Shape 5"/>
          <p:cNvSpPr/>
          <p:nvPr/>
        </p:nvSpPr>
        <p:spPr>
          <a:xfrm>
            <a:off x="2977286" y="4443984"/>
            <a:ext cx="3661258" cy="402336"/>
          </a:xfrm>
          <a:prstGeom prst="roundRect">
            <a:avLst>
              <a:gd name="adj" fmla="val 50000"/>
            </a:avLst>
          </a:prstGeom>
          <a:solidFill>
            <a:srgbClr val="FFFFFF">
              <a:alpha val="12000"/>
            </a:srgbClr>
          </a:solidFill>
          <a:ln w="12700">
            <a:solidFill>
              <a:srgbClr val="8E82F5"/>
            </a:solidFill>
            <a:prstDash val="solid"/>
          </a:ln>
        </p:spPr>
      </p:sp>
      <p:sp>
        <p:nvSpPr>
          <p:cNvPr id="9" name="Text 6"/>
          <p:cNvSpPr/>
          <p:nvPr/>
        </p:nvSpPr>
        <p:spPr>
          <a:xfrm>
            <a:off x="2977286" y="4443984"/>
            <a:ext cx="3661258" cy="402336"/>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Day 2 — ground it, scale it, govern it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BEFORE WE START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This room is mixed on purpose, and so are these slides</a:t>
            </a:r>
            <a:endParaRPr lang="en-US" sz="28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Every technical slide carries a plain-language restatement. Nobody has to pretend to follow, and nobody has to sit through a watered-down version.</a:t>
            </a:r>
            <a:endParaRPr lang="en-US" sz="1400" dirty="0"/>
          </a:p>
        </p:txBody>
      </p:sp>
      <p:sp>
        <p:nvSpPr>
          <p:cNvPr id="5" name="Shape 3"/>
          <p:cNvSpPr/>
          <p:nvPr/>
        </p:nvSpPr>
        <p:spPr>
          <a:xfrm>
            <a:off x="566928" y="2670185"/>
            <a:ext cx="3527450" cy="1974830"/>
          </a:xfrm>
          <a:prstGeom prst="roundRect">
            <a:avLst>
              <a:gd name="adj" fmla="val 416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889641"/>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981081"/>
            <a:ext cx="182880" cy="182880"/>
          </a:xfrm>
          <a:prstGeom prst="rect">
            <a:avLst/>
          </a:prstGeom>
        </p:spPr>
      </p:pic>
      <p:sp>
        <p:nvSpPr>
          <p:cNvPr id="8" name="Text 5"/>
          <p:cNvSpPr/>
          <p:nvPr/>
        </p:nvSpPr>
        <p:spPr>
          <a:xfrm>
            <a:off x="1298448" y="2880497"/>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IF YOU WRITE CODE</a:t>
            </a:r>
            <a:endParaRPr lang="en-US" sz="850" dirty="0"/>
          </a:p>
        </p:txBody>
      </p:sp>
      <p:sp>
        <p:nvSpPr>
          <p:cNvPr id="9" name="Text 6"/>
          <p:cNvSpPr/>
          <p:nvPr/>
        </p:nvSpPr>
        <p:spPr>
          <a:xfrm>
            <a:off x="1298448" y="3099953"/>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The precise names</a:t>
            </a:r>
            <a:endParaRPr lang="en-US" sz="1450" dirty="0"/>
          </a:p>
        </p:txBody>
      </p:sp>
      <p:sp>
        <p:nvSpPr>
          <p:cNvPr id="10" name="Text 7"/>
          <p:cNvSpPr/>
          <p:nvPr/>
        </p:nvSpPr>
        <p:spPr>
          <a:xfrm>
            <a:off x="1298448" y="3447608"/>
            <a:ext cx="2558186" cy="101452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Real field names, real message shapes, real protocol methods. Everything on a slide appears in a notebook you will run this afternoon.</a:t>
            </a:r>
            <a:endParaRPr lang="en-US" sz="1150" dirty="0"/>
          </a:p>
        </p:txBody>
      </p:sp>
      <p:sp>
        <p:nvSpPr>
          <p:cNvPr id="11" name="Shape 8"/>
          <p:cNvSpPr/>
          <p:nvPr/>
        </p:nvSpPr>
        <p:spPr>
          <a:xfrm>
            <a:off x="4332122" y="2670185"/>
            <a:ext cx="3527450" cy="1974830"/>
          </a:xfrm>
          <a:prstGeom prst="roundRect">
            <a:avLst>
              <a:gd name="adj" fmla="val 416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4569866" y="2889641"/>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4661306" y="2981081"/>
            <a:ext cx="182880" cy="182880"/>
          </a:xfrm>
          <a:prstGeom prst="rect">
            <a:avLst/>
          </a:prstGeom>
        </p:spPr>
      </p:pic>
      <p:sp>
        <p:nvSpPr>
          <p:cNvPr id="14" name="Text 10"/>
          <p:cNvSpPr/>
          <p:nvPr/>
        </p:nvSpPr>
        <p:spPr>
          <a:xfrm>
            <a:off x="5063642" y="2880497"/>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IF YOU DON'T</a:t>
            </a:r>
            <a:endParaRPr lang="en-US" sz="850" dirty="0"/>
          </a:p>
        </p:txBody>
      </p:sp>
      <p:sp>
        <p:nvSpPr>
          <p:cNvPr id="15" name="Text 11"/>
          <p:cNvSpPr/>
          <p:nvPr/>
        </p:nvSpPr>
        <p:spPr>
          <a:xfrm>
            <a:off x="5063642" y="3099953"/>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The plain restatement</a:t>
            </a:r>
            <a:endParaRPr lang="en-US" sz="1450" dirty="0"/>
          </a:p>
        </p:txBody>
      </p:sp>
      <p:sp>
        <p:nvSpPr>
          <p:cNvPr id="16" name="Text 12"/>
          <p:cNvSpPr/>
          <p:nvPr/>
        </p:nvSpPr>
        <p:spPr>
          <a:xfrm>
            <a:off x="5063642" y="3447608"/>
            <a:ext cx="2558186" cy="101452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Every technical slide ends with a yellow line. That line is the whole point of the slide. If you take only that away, you can still hold your end of the conversation.</a:t>
            </a:r>
            <a:endParaRPr lang="en-US" sz="1150" dirty="0"/>
          </a:p>
        </p:txBody>
      </p:sp>
      <p:sp>
        <p:nvSpPr>
          <p:cNvPr id="17" name="Shape 13"/>
          <p:cNvSpPr/>
          <p:nvPr/>
        </p:nvSpPr>
        <p:spPr>
          <a:xfrm>
            <a:off x="8097317" y="2670185"/>
            <a:ext cx="3527450" cy="1974830"/>
          </a:xfrm>
          <a:prstGeom prst="roundRect">
            <a:avLst>
              <a:gd name="adj" fmla="val 416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8335061" y="2889641"/>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8426501" y="2981081"/>
            <a:ext cx="182880" cy="182880"/>
          </a:xfrm>
          <a:prstGeom prst="rect">
            <a:avLst/>
          </a:prstGeom>
        </p:spPr>
      </p:pic>
      <p:sp>
        <p:nvSpPr>
          <p:cNvPr id="20" name="Text 15"/>
          <p:cNvSpPr/>
          <p:nvPr/>
        </p:nvSpPr>
        <p:spPr>
          <a:xfrm>
            <a:off x="8828837" y="2880497"/>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EVERYONE</a:t>
            </a:r>
            <a:endParaRPr lang="en-US" sz="850" dirty="0"/>
          </a:p>
        </p:txBody>
      </p:sp>
      <p:sp>
        <p:nvSpPr>
          <p:cNvPr id="21" name="Text 16"/>
          <p:cNvSpPr/>
          <p:nvPr/>
        </p:nvSpPr>
        <p:spPr>
          <a:xfrm>
            <a:off x="8828837" y="3099953"/>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The decision language</a:t>
            </a:r>
            <a:endParaRPr lang="en-US" sz="1450" dirty="0"/>
          </a:p>
        </p:txBody>
      </p:sp>
      <p:sp>
        <p:nvSpPr>
          <p:cNvPr id="22" name="Text 17"/>
          <p:cNvSpPr/>
          <p:nvPr/>
        </p:nvSpPr>
        <p:spPr>
          <a:xfrm>
            <a:off x="8828837" y="3447608"/>
            <a:ext cx="2558186" cy="101452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Shape, autonomy, and cost of a wrong step. This vocabulary is what the closing workshop grades on, and what your risk function will ask you about.</a:t>
            </a:r>
            <a:endParaRPr lang="en-US" sz="1150" dirty="0"/>
          </a:p>
        </p:txBody>
      </p:sp>
      <p:sp>
        <p:nvSpPr>
          <p:cNvPr id="23"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4" name="Shape 19"/>
          <p:cNvSpPr/>
          <p:nvPr/>
        </p:nvSpPr>
        <p:spPr>
          <a:xfrm>
            <a:off x="841248" y="5760720"/>
            <a:ext cx="384048" cy="384048"/>
          </a:xfrm>
          <a:prstGeom prst="ellipse">
            <a:avLst/>
          </a:prstGeom>
          <a:solidFill>
            <a:srgbClr val="F5A524"/>
          </a:solidFill>
          <a:ln w="12700">
            <a:solidFill>
              <a:srgbClr val="F5A524"/>
            </a:solidFill>
            <a:prstDash val="solid"/>
          </a:ln>
        </p:spPr>
      </p:sp>
      <p:pic>
        <p:nvPicPr>
          <p:cNvPr id="25" name="Image 3" descr="preencoded.png">    </p:cNvPr>
          <p:cNvPicPr>
            <a:picLocks noChangeAspect="1"/>
          </p:cNvPicPr>
          <p:nvPr/>
        </p:nvPicPr>
        <p:blipFill>
          <a:blip r:embed="rId4"/>
          <a:stretch>
            <a:fillRect/>
          </a:stretch>
        </p:blipFill>
        <p:spPr>
          <a:xfrm>
            <a:off x="937260" y="5856732"/>
            <a:ext cx="192024" cy="192024"/>
          </a:xfrm>
          <a:prstGeom prst="rect">
            <a:avLst/>
          </a:prstGeom>
        </p:spPr>
      </p:pic>
      <p:sp>
        <p:nvSpPr>
          <p:cNvPr id="26" name="Text 20"/>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Yellow line = the takeaway. If a slide gets too technical, wait nine seconds and it will be restated.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THE SPINE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Each layer exists because the one before it left a problem open</a:t>
            </a:r>
            <a:endParaRPr lang="en-US" sz="2600" dirty="0"/>
          </a:p>
        </p:txBody>
      </p:sp>
      <p:sp>
        <p:nvSpPr>
          <p:cNvPr id="4" name="Shape 2"/>
          <p:cNvSpPr/>
          <p:nvPr/>
        </p:nvSpPr>
        <p:spPr>
          <a:xfrm>
            <a:off x="566928" y="2048256"/>
            <a:ext cx="1675333" cy="2286000"/>
          </a:xfrm>
          <a:prstGeom prst="roundRect">
            <a:avLst>
              <a:gd name="adj" fmla="val 5458"/>
            </a:avLst>
          </a:prstGeom>
          <a:solidFill>
            <a:srgbClr val="FFFFFF"/>
          </a:solidFill>
          <a:ln w="12700">
            <a:solidFill>
              <a:srgbClr val="E3E4F2"/>
            </a:solidFill>
            <a:prstDash val="solid"/>
          </a:ln>
          <a:effectLst>
            <a:outerShdw sx="100000" sy="100000" kx="0" ky="0" algn="bl" rotWithShape="0" blurRad="114300" dist="572" dir="5400000">
              <a:srgbClr val="1B1A4A">
                <a:alpha val="8000"/>
              </a:srgbClr>
            </a:outerShdw>
          </a:effectLst>
        </p:spPr>
      </p:sp>
      <p:sp>
        <p:nvSpPr>
          <p:cNvPr id="5" name="Shape 3"/>
          <p:cNvSpPr/>
          <p:nvPr/>
        </p:nvSpPr>
        <p:spPr>
          <a:xfrm>
            <a:off x="1203427" y="2267712"/>
            <a:ext cx="402336" cy="402336"/>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1304011" y="2368296"/>
            <a:ext cx="201168" cy="201168"/>
          </a:xfrm>
          <a:prstGeom prst="rect">
            <a:avLst/>
          </a:prstGeom>
        </p:spPr>
      </p:pic>
      <p:sp>
        <p:nvSpPr>
          <p:cNvPr id="7" name="Text 4"/>
          <p:cNvSpPr/>
          <p:nvPr/>
        </p:nvSpPr>
        <p:spPr>
          <a:xfrm>
            <a:off x="658368" y="2798064"/>
            <a:ext cx="1492453" cy="621792"/>
          </a:xfrm>
          <a:prstGeom prst="rect">
            <a:avLst/>
          </a:prstGeom>
          <a:noFill/>
          <a:ln/>
        </p:spPr>
        <p:txBody>
          <a:bodyPr wrap="square" lIns="0" tIns="0" rIns="0" bIns="0" rtlCol="0" anchor="t"/>
          <a:lstStyle/>
          <a:p>
            <a:pPr algn="ctr" indent="0" marL="0">
              <a:lnSpc>
                <a:spcPct val="105000"/>
              </a:lnSpc>
              <a:buNone/>
            </a:pPr>
            <a:r>
              <a:rPr lang="en-US" sz="1250" b="1" dirty="0">
                <a:solidFill>
                  <a:srgbClr val="141235"/>
                </a:solidFill>
                <a:latin typeface="Calibri" pitchFamily="34" charset="0"/>
                <a:ea typeface="Calibri" pitchFamily="34" charset="-122"/>
                <a:cs typeface="Calibri" pitchFamily="34" charset="-120"/>
              </a:rPr>
              <a:t>A hand-written loop</a:t>
            </a:r>
            <a:endParaRPr lang="en-US" sz="1250" dirty="0"/>
          </a:p>
        </p:txBody>
      </p:sp>
      <p:sp>
        <p:nvSpPr>
          <p:cNvPr id="8" name="Text 5"/>
          <p:cNvSpPr/>
          <p:nvPr/>
        </p:nvSpPr>
        <p:spPr>
          <a:xfrm>
            <a:off x="676656" y="3438144"/>
            <a:ext cx="1455877" cy="786384"/>
          </a:xfrm>
          <a:prstGeom prst="rect">
            <a:avLst/>
          </a:prstGeom>
          <a:noFill/>
          <a:ln/>
        </p:spPr>
        <p:txBody>
          <a:bodyPr wrap="square" lIns="0" tIns="0" rIns="0" bIns="0" rtlCol="0" anchor="t"/>
          <a:lstStyle/>
          <a:p>
            <a:pPr algn="ctr" indent="0" marL="0">
              <a:lnSpc>
                <a:spcPct val="110000"/>
              </a:lnSpc>
              <a:buNone/>
            </a:pPr>
            <a:r>
              <a:rPr lang="en-US" sz="1000" i="1" dirty="0">
                <a:solidFill>
                  <a:srgbClr val="6E6B8A"/>
                </a:solidFill>
                <a:latin typeface="Calibri" pitchFamily="34" charset="0"/>
                <a:ea typeface="Calibri" pitchFamily="34" charset="-122"/>
                <a:cs typeface="Calibri" pitchFamily="34" charset="-120"/>
              </a:rPr>
              <a:t>tools are wired by hand, to one agent</a:t>
            </a:r>
            <a:endParaRPr lang="en-US" sz="1000" dirty="0"/>
          </a:p>
        </p:txBody>
      </p:sp>
      <p:sp>
        <p:nvSpPr>
          <p:cNvPr id="9" name="Shape 6"/>
          <p:cNvSpPr/>
          <p:nvPr/>
        </p:nvSpPr>
        <p:spPr>
          <a:xfrm>
            <a:off x="2269693" y="3191256"/>
            <a:ext cx="146304" cy="0"/>
          </a:xfrm>
          <a:prstGeom prst="line">
            <a:avLst/>
          </a:prstGeom>
          <a:noFill/>
          <a:ln w="25400">
            <a:solidFill>
              <a:srgbClr val="8E82F5"/>
            </a:solidFill>
            <a:prstDash val="solid"/>
            <a:headEnd type="none"/>
            <a:tailEnd type="triangle"/>
          </a:ln>
        </p:spPr>
      </p:sp>
      <p:sp>
        <p:nvSpPr>
          <p:cNvPr id="10" name="Shape 7"/>
          <p:cNvSpPr/>
          <p:nvPr/>
        </p:nvSpPr>
        <p:spPr>
          <a:xfrm>
            <a:off x="2443429" y="2048256"/>
            <a:ext cx="1675333" cy="2286000"/>
          </a:xfrm>
          <a:prstGeom prst="roundRect">
            <a:avLst>
              <a:gd name="adj" fmla="val 5458"/>
            </a:avLst>
          </a:prstGeom>
          <a:solidFill>
            <a:srgbClr val="FFFFFF"/>
          </a:solidFill>
          <a:ln w="12700">
            <a:solidFill>
              <a:srgbClr val="E3E4F2"/>
            </a:solidFill>
            <a:prstDash val="solid"/>
          </a:ln>
          <a:effectLst>
            <a:outerShdw sx="100000" sy="100000" kx="0" ky="0" algn="bl" rotWithShape="0" blurRad="114300" dist="572" dir="5400000">
              <a:srgbClr val="1B1A4A">
                <a:alpha val="8000"/>
              </a:srgbClr>
            </a:outerShdw>
          </a:effectLst>
        </p:spPr>
      </p:sp>
      <p:sp>
        <p:nvSpPr>
          <p:cNvPr id="11" name="Shape 8"/>
          <p:cNvSpPr/>
          <p:nvPr/>
        </p:nvSpPr>
        <p:spPr>
          <a:xfrm>
            <a:off x="3079928" y="2267712"/>
            <a:ext cx="402336" cy="402336"/>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3180512" y="2368296"/>
            <a:ext cx="201168" cy="201168"/>
          </a:xfrm>
          <a:prstGeom prst="rect">
            <a:avLst/>
          </a:prstGeom>
        </p:spPr>
      </p:pic>
      <p:sp>
        <p:nvSpPr>
          <p:cNvPr id="13" name="Text 9"/>
          <p:cNvSpPr/>
          <p:nvPr/>
        </p:nvSpPr>
        <p:spPr>
          <a:xfrm>
            <a:off x="2534869" y="2798064"/>
            <a:ext cx="1492453" cy="621792"/>
          </a:xfrm>
          <a:prstGeom prst="rect">
            <a:avLst/>
          </a:prstGeom>
          <a:noFill/>
          <a:ln/>
        </p:spPr>
        <p:txBody>
          <a:bodyPr wrap="square" lIns="0" tIns="0" rIns="0" bIns="0" rtlCol="0" anchor="t"/>
          <a:lstStyle/>
          <a:p>
            <a:pPr algn="ctr" indent="0" marL="0">
              <a:lnSpc>
                <a:spcPct val="105000"/>
              </a:lnSpc>
              <a:buNone/>
            </a:pPr>
            <a:r>
              <a:rPr lang="en-US" sz="1250" b="1" dirty="0">
                <a:solidFill>
                  <a:srgbClr val="141235"/>
                </a:solidFill>
                <a:latin typeface="Calibri" pitchFamily="34" charset="0"/>
                <a:ea typeface="Calibri" pitchFamily="34" charset="-122"/>
                <a:cs typeface="Calibri" pitchFamily="34" charset="-120"/>
              </a:rPr>
              <a:t>A tool protocol (MCP)</a:t>
            </a:r>
            <a:endParaRPr lang="en-US" sz="1250" dirty="0"/>
          </a:p>
        </p:txBody>
      </p:sp>
      <p:sp>
        <p:nvSpPr>
          <p:cNvPr id="14" name="Text 10"/>
          <p:cNvSpPr/>
          <p:nvPr/>
        </p:nvSpPr>
        <p:spPr>
          <a:xfrm>
            <a:off x="2553157" y="3438144"/>
            <a:ext cx="1455877" cy="786384"/>
          </a:xfrm>
          <a:prstGeom prst="rect">
            <a:avLst/>
          </a:prstGeom>
          <a:noFill/>
          <a:ln/>
        </p:spPr>
        <p:txBody>
          <a:bodyPr wrap="square" lIns="0" tIns="0" rIns="0" bIns="0" rtlCol="0" anchor="t"/>
          <a:lstStyle/>
          <a:p>
            <a:pPr algn="ctr" indent="0" marL="0">
              <a:lnSpc>
                <a:spcPct val="110000"/>
              </a:lnSpc>
              <a:buNone/>
            </a:pPr>
            <a:r>
              <a:rPr lang="en-US" sz="1000" i="1" dirty="0">
                <a:solidFill>
                  <a:srgbClr val="6E6B8A"/>
                </a:solidFill>
                <a:latin typeface="Calibri" pitchFamily="34" charset="0"/>
                <a:ea typeface="Calibri" pitchFamily="34" charset="-122"/>
                <a:cs typeface="Calibri" pitchFamily="34" charset="-120"/>
              </a:rPr>
              <a:t>the loop itself is fragile</a:t>
            </a:r>
            <a:endParaRPr lang="en-US" sz="1000" dirty="0"/>
          </a:p>
        </p:txBody>
      </p:sp>
      <p:sp>
        <p:nvSpPr>
          <p:cNvPr id="15" name="Shape 11"/>
          <p:cNvSpPr/>
          <p:nvPr/>
        </p:nvSpPr>
        <p:spPr>
          <a:xfrm>
            <a:off x="4146194" y="3191256"/>
            <a:ext cx="146304" cy="0"/>
          </a:xfrm>
          <a:prstGeom prst="line">
            <a:avLst/>
          </a:prstGeom>
          <a:noFill/>
          <a:ln w="25400">
            <a:solidFill>
              <a:srgbClr val="8E82F5"/>
            </a:solidFill>
            <a:prstDash val="solid"/>
            <a:headEnd type="none"/>
            <a:tailEnd type="triangle"/>
          </a:ln>
        </p:spPr>
      </p:sp>
      <p:sp>
        <p:nvSpPr>
          <p:cNvPr id="16" name="Shape 12"/>
          <p:cNvSpPr/>
          <p:nvPr/>
        </p:nvSpPr>
        <p:spPr>
          <a:xfrm>
            <a:off x="4319930" y="2048256"/>
            <a:ext cx="1675333" cy="2286000"/>
          </a:xfrm>
          <a:prstGeom prst="roundRect">
            <a:avLst>
              <a:gd name="adj" fmla="val 5458"/>
            </a:avLst>
          </a:prstGeom>
          <a:solidFill>
            <a:srgbClr val="FFFFFF"/>
          </a:solidFill>
          <a:ln w="12700">
            <a:solidFill>
              <a:srgbClr val="E3E4F2"/>
            </a:solidFill>
            <a:prstDash val="solid"/>
          </a:ln>
          <a:effectLst>
            <a:outerShdw sx="100000" sy="100000" kx="0" ky="0" algn="bl" rotWithShape="0" blurRad="114300" dist="572" dir="5400000">
              <a:srgbClr val="1B1A4A">
                <a:alpha val="8000"/>
              </a:srgbClr>
            </a:outerShdw>
          </a:effectLst>
        </p:spPr>
      </p:sp>
      <p:sp>
        <p:nvSpPr>
          <p:cNvPr id="17" name="Shape 13"/>
          <p:cNvSpPr/>
          <p:nvPr/>
        </p:nvSpPr>
        <p:spPr>
          <a:xfrm>
            <a:off x="4956429" y="2267712"/>
            <a:ext cx="402336" cy="402336"/>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5057013" y="2368296"/>
            <a:ext cx="201168" cy="201168"/>
          </a:xfrm>
          <a:prstGeom prst="rect">
            <a:avLst/>
          </a:prstGeom>
        </p:spPr>
      </p:pic>
      <p:sp>
        <p:nvSpPr>
          <p:cNvPr id="19" name="Text 14"/>
          <p:cNvSpPr/>
          <p:nvPr/>
        </p:nvSpPr>
        <p:spPr>
          <a:xfrm>
            <a:off x="4411370" y="2798064"/>
            <a:ext cx="1492453" cy="621792"/>
          </a:xfrm>
          <a:prstGeom prst="rect">
            <a:avLst/>
          </a:prstGeom>
          <a:noFill/>
          <a:ln/>
        </p:spPr>
        <p:txBody>
          <a:bodyPr wrap="square" lIns="0" tIns="0" rIns="0" bIns="0" rtlCol="0" anchor="t"/>
          <a:lstStyle/>
          <a:p>
            <a:pPr algn="ctr" indent="0" marL="0">
              <a:lnSpc>
                <a:spcPct val="105000"/>
              </a:lnSpc>
              <a:buNone/>
            </a:pPr>
            <a:r>
              <a:rPr lang="en-US" sz="1250" b="1" dirty="0">
                <a:solidFill>
                  <a:srgbClr val="141235"/>
                </a:solidFill>
                <a:latin typeface="Calibri" pitchFamily="34" charset="0"/>
                <a:ea typeface="Calibri" pitchFamily="34" charset="-122"/>
                <a:cs typeface="Calibri" pitchFamily="34" charset="-120"/>
              </a:rPr>
              <a:t>A framework</a:t>
            </a:r>
            <a:endParaRPr lang="en-US" sz="1250" dirty="0"/>
          </a:p>
        </p:txBody>
      </p:sp>
      <p:sp>
        <p:nvSpPr>
          <p:cNvPr id="20" name="Text 15"/>
          <p:cNvSpPr/>
          <p:nvPr/>
        </p:nvSpPr>
        <p:spPr>
          <a:xfrm>
            <a:off x="4429658" y="3438144"/>
            <a:ext cx="1455877" cy="786384"/>
          </a:xfrm>
          <a:prstGeom prst="rect">
            <a:avLst/>
          </a:prstGeom>
          <a:noFill/>
          <a:ln/>
        </p:spPr>
        <p:txBody>
          <a:bodyPr wrap="square" lIns="0" tIns="0" rIns="0" bIns="0" rtlCol="0" anchor="t"/>
          <a:lstStyle/>
          <a:p>
            <a:pPr algn="ctr" indent="0" marL="0">
              <a:lnSpc>
                <a:spcPct val="110000"/>
              </a:lnSpc>
              <a:buNone/>
            </a:pPr>
            <a:r>
              <a:rPr lang="en-US" sz="1000" i="1" dirty="0">
                <a:solidFill>
                  <a:srgbClr val="6E6B8A"/>
                </a:solidFill>
                <a:latin typeface="Calibri" pitchFamily="34" charset="0"/>
                <a:ea typeface="Calibri" pitchFamily="34" charset="-122"/>
                <a:cs typeface="Calibri" pitchFamily="34" charset="-120"/>
              </a:rPr>
              <a:t>the model doesn't know your data</a:t>
            </a:r>
            <a:endParaRPr lang="en-US" sz="1000" dirty="0"/>
          </a:p>
        </p:txBody>
      </p:sp>
      <p:sp>
        <p:nvSpPr>
          <p:cNvPr id="21" name="Shape 16"/>
          <p:cNvSpPr/>
          <p:nvPr/>
        </p:nvSpPr>
        <p:spPr>
          <a:xfrm>
            <a:off x="6022696" y="3191256"/>
            <a:ext cx="146304" cy="0"/>
          </a:xfrm>
          <a:prstGeom prst="line">
            <a:avLst/>
          </a:prstGeom>
          <a:noFill/>
          <a:ln w="25400">
            <a:solidFill>
              <a:srgbClr val="8E82F5"/>
            </a:solidFill>
            <a:prstDash val="solid"/>
            <a:headEnd type="none"/>
            <a:tailEnd type="triangle"/>
          </a:ln>
        </p:spPr>
      </p:sp>
      <p:sp>
        <p:nvSpPr>
          <p:cNvPr id="22" name="Shape 17"/>
          <p:cNvSpPr/>
          <p:nvPr/>
        </p:nvSpPr>
        <p:spPr>
          <a:xfrm>
            <a:off x="6196432" y="2048256"/>
            <a:ext cx="1675333" cy="2286000"/>
          </a:xfrm>
          <a:prstGeom prst="roundRect">
            <a:avLst>
              <a:gd name="adj" fmla="val 5458"/>
            </a:avLst>
          </a:prstGeom>
          <a:solidFill>
            <a:srgbClr val="FFFFFF"/>
          </a:solidFill>
          <a:ln w="12700">
            <a:solidFill>
              <a:srgbClr val="E3E4F2"/>
            </a:solidFill>
            <a:prstDash val="solid"/>
          </a:ln>
          <a:effectLst>
            <a:outerShdw sx="100000" sy="100000" kx="0" ky="0" algn="bl" rotWithShape="0" blurRad="114300" dist="572" dir="5400000">
              <a:srgbClr val="1B1A4A">
                <a:alpha val="8000"/>
              </a:srgbClr>
            </a:outerShdw>
          </a:effectLst>
        </p:spPr>
      </p:sp>
      <p:sp>
        <p:nvSpPr>
          <p:cNvPr id="23" name="Shape 18"/>
          <p:cNvSpPr/>
          <p:nvPr/>
        </p:nvSpPr>
        <p:spPr>
          <a:xfrm>
            <a:off x="6832930" y="2267712"/>
            <a:ext cx="402336" cy="402336"/>
          </a:xfrm>
          <a:prstGeom prst="ellipse">
            <a:avLst/>
          </a:prstGeom>
          <a:solidFill>
            <a:srgbClr val="5B4BE8"/>
          </a:solidFill>
          <a:ln w="12700">
            <a:solidFill>
              <a:srgbClr val="5B4BE8"/>
            </a:solidFill>
            <a:prstDash val="solid"/>
          </a:ln>
        </p:spPr>
      </p:sp>
      <p:pic>
        <p:nvPicPr>
          <p:cNvPr id="24" name="Image 3" descr="preencoded.png">    </p:cNvPr>
          <p:cNvPicPr>
            <a:picLocks noChangeAspect="1"/>
          </p:cNvPicPr>
          <p:nvPr/>
        </p:nvPicPr>
        <p:blipFill>
          <a:blip r:embed="rId4"/>
          <a:stretch>
            <a:fillRect/>
          </a:stretch>
        </p:blipFill>
        <p:spPr>
          <a:xfrm>
            <a:off x="6933514" y="2368296"/>
            <a:ext cx="201168" cy="201168"/>
          </a:xfrm>
          <a:prstGeom prst="rect">
            <a:avLst/>
          </a:prstGeom>
        </p:spPr>
      </p:pic>
      <p:sp>
        <p:nvSpPr>
          <p:cNvPr id="25" name="Text 19"/>
          <p:cNvSpPr/>
          <p:nvPr/>
        </p:nvSpPr>
        <p:spPr>
          <a:xfrm>
            <a:off x="6287872" y="2798064"/>
            <a:ext cx="1492453" cy="621792"/>
          </a:xfrm>
          <a:prstGeom prst="rect">
            <a:avLst/>
          </a:prstGeom>
          <a:noFill/>
          <a:ln/>
        </p:spPr>
        <p:txBody>
          <a:bodyPr wrap="square" lIns="0" tIns="0" rIns="0" bIns="0" rtlCol="0" anchor="t"/>
          <a:lstStyle/>
          <a:p>
            <a:pPr algn="ctr" indent="0" marL="0">
              <a:lnSpc>
                <a:spcPct val="105000"/>
              </a:lnSpc>
              <a:buNone/>
            </a:pPr>
            <a:r>
              <a:rPr lang="en-US" sz="1250" b="1" dirty="0">
                <a:solidFill>
                  <a:srgbClr val="141235"/>
                </a:solidFill>
                <a:latin typeface="Calibri" pitchFamily="34" charset="0"/>
                <a:ea typeface="Calibri" pitchFamily="34" charset="-122"/>
                <a:cs typeface="Calibri" pitchFamily="34" charset="-120"/>
              </a:rPr>
              <a:t>Retrieval and memory</a:t>
            </a:r>
            <a:endParaRPr lang="en-US" sz="1250" dirty="0"/>
          </a:p>
        </p:txBody>
      </p:sp>
      <p:sp>
        <p:nvSpPr>
          <p:cNvPr id="26" name="Text 20"/>
          <p:cNvSpPr/>
          <p:nvPr/>
        </p:nvSpPr>
        <p:spPr>
          <a:xfrm>
            <a:off x="6306160" y="3438144"/>
            <a:ext cx="1455877" cy="786384"/>
          </a:xfrm>
          <a:prstGeom prst="rect">
            <a:avLst/>
          </a:prstGeom>
          <a:noFill/>
          <a:ln/>
        </p:spPr>
        <p:txBody>
          <a:bodyPr wrap="square" lIns="0" tIns="0" rIns="0" bIns="0" rtlCol="0" anchor="t"/>
          <a:lstStyle/>
          <a:p>
            <a:pPr algn="ctr" indent="0" marL="0">
              <a:lnSpc>
                <a:spcPct val="110000"/>
              </a:lnSpc>
              <a:buNone/>
            </a:pPr>
            <a:r>
              <a:rPr lang="en-US" sz="1000" i="1" dirty="0">
                <a:solidFill>
                  <a:srgbClr val="6E6B8A"/>
                </a:solidFill>
                <a:latin typeface="Calibri" pitchFamily="34" charset="0"/>
                <a:ea typeface="Calibri" pitchFamily="34" charset="-122"/>
                <a:cs typeface="Calibri" pitchFamily="34" charset="-120"/>
              </a:rPr>
              <a:t>one agent can't hold the whole job</a:t>
            </a:r>
            <a:endParaRPr lang="en-US" sz="1000" dirty="0"/>
          </a:p>
        </p:txBody>
      </p:sp>
      <p:sp>
        <p:nvSpPr>
          <p:cNvPr id="27" name="Shape 21"/>
          <p:cNvSpPr/>
          <p:nvPr/>
        </p:nvSpPr>
        <p:spPr>
          <a:xfrm>
            <a:off x="7899197" y="3191256"/>
            <a:ext cx="146304" cy="0"/>
          </a:xfrm>
          <a:prstGeom prst="line">
            <a:avLst/>
          </a:prstGeom>
          <a:noFill/>
          <a:ln w="25400">
            <a:solidFill>
              <a:srgbClr val="8E82F5"/>
            </a:solidFill>
            <a:prstDash val="solid"/>
            <a:headEnd type="none"/>
            <a:tailEnd type="triangle"/>
          </a:ln>
        </p:spPr>
      </p:sp>
      <p:sp>
        <p:nvSpPr>
          <p:cNvPr id="28" name="Shape 22"/>
          <p:cNvSpPr/>
          <p:nvPr/>
        </p:nvSpPr>
        <p:spPr>
          <a:xfrm>
            <a:off x="8072933" y="2048256"/>
            <a:ext cx="1675333" cy="2286000"/>
          </a:xfrm>
          <a:prstGeom prst="roundRect">
            <a:avLst>
              <a:gd name="adj" fmla="val 5458"/>
            </a:avLst>
          </a:prstGeom>
          <a:solidFill>
            <a:srgbClr val="FFFFFF"/>
          </a:solidFill>
          <a:ln w="12700">
            <a:solidFill>
              <a:srgbClr val="E3E4F2"/>
            </a:solidFill>
            <a:prstDash val="solid"/>
          </a:ln>
          <a:effectLst>
            <a:outerShdw sx="100000" sy="100000" kx="0" ky="0" algn="bl" rotWithShape="0" blurRad="114300" dist="572" dir="5400000">
              <a:srgbClr val="1B1A4A">
                <a:alpha val="8000"/>
              </a:srgbClr>
            </a:outerShdw>
          </a:effectLst>
        </p:spPr>
      </p:sp>
      <p:sp>
        <p:nvSpPr>
          <p:cNvPr id="29" name="Shape 23"/>
          <p:cNvSpPr/>
          <p:nvPr/>
        </p:nvSpPr>
        <p:spPr>
          <a:xfrm>
            <a:off x="8709431" y="2267712"/>
            <a:ext cx="402336" cy="402336"/>
          </a:xfrm>
          <a:prstGeom prst="ellipse">
            <a:avLst/>
          </a:prstGeom>
          <a:solidFill>
            <a:srgbClr val="5B4BE8"/>
          </a:solidFill>
          <a:ln w="12700">
            <a:solidFill>
              <a:srgbClr val="5B4BE8"/>
            </a:solidFill>
            <a:prstDash val="solid"/>
          </a:ln>
        </p:spPr>
      </p:sp>
      <p:pic>
        <p:nvPicPr>
          <p:cNvPr id="30" name="Image 4" descr="preencoded.png">    </p:cNvPr>
          <p:cNvPicPr>
            <a:picLocks noChangeAspect="1"/>
          </p:cNvPicPr>
          <p:nvPr/>
        </p:nvPicPr>
        <p:blipFill>
          <a:blip r:embed="rId5"/>
          <a:stretch>
            <a:fillRect/>
          </a:stretch>
        </p:blipFill>
        <p:spPr>
          <a:xfrm>
            <a:off x="8810015" y="2368296"/>
            <a:ext cx="201168" cy="201168"/>
          </a:xfrm>
          <a:prstGeom prst="rect">
            <a:avLst/>
          </a:prstGeom>
        </p:spPr>
      </p:pic>
      <p:sp>
        <p:nvSpPr>
          <p:cNvPr id="31" name="Text 24"/>
          <p:cNvSpPr/>
          <p:nvPr/>
        </p:nvSpPr>
        <p:spPr>
          <a:xfrm>
            <a:off x="8164373" y="2798064"/>
            <a:ext cx="1492453" cy="621792"/>
          </a:xfrm>
          <a:prstGeom prst="rect">
            <a:avLst/>
          </a:prstGeom>
          <a:noFill/>
          <a:ln/>
        </p:spPr>
        <p:txBody>
          <a:bodyPr wrap="square" lIns="0" tIns="0" rIns="0" bIns="0" rtlCol="0" anchor="t"/>
          <a:lstStyle/>
          <a:p>
            <a:pPr algn="ctr" indent="0" marL="0">
              <a:lnSpc>
                <a:spcPct val="105000"/>
              </a:lnSpc>
              <a:buNone/>
            </a:pPr>
            <a:r>
              <a:rPr lang="en-US" sz="1250" b="1" dirty="0">
                <a:solidFill>
                  <a:srgbClr val="141235"/>
                </a:solidFill>
                <a:latin typeface="Calibri" pitchFamily="34" charset="0"/>
                <a:ea typeface="Calibri" pitchFamily="34" charset="-122"/>
                <a:cs typeface="Calibri" pitchFamily="34" charset="-120"/>
              </a:rPr>
              <a:t>Delegation</a:t>
            </a:r>
            <a:endParaRPr lang="en-US" sz="1250" dirty="0"/>
          </a:p>
        </p:txBody>
      </p:sp>
      <p:sp>
        <p:nvSpPr>
          <p:cNvPr id="32" name="Text 25"/>
          <p:cNvSpPr/>
          <p:nvPr/>
        </p:nvSpPr>
        <p:spPr>
          <a:xfrm>
            <a:off x="8182661" y="3438144"/>
            <a:ext cx="1455877" cy="786384"/>
          </a:xfrm>
          <a:prstGeom prst="rect">
            <a:avLst/>
          </a:prstGeom>
          <a:noFill/>
          <a:ln/>
        </p:spPr>
        <p:txBody>
          <a:bodyPr wrap="square" lIns="0" tIns="0" rIns="0" bIns="0" rtlCol="0" anchor="t"/>
          <a:lstStyle/>
          <a:p>
            <a:pPr algn="ctr" indent="0" marL="0">
              <a:lnSpc>
                <a:spcPct val="110000"/>
              </a:lnSpc>
              <a:buNone/>
            </a:pPr>
            <a:r>
              <a:rPr lang="en-US" sz="1000" i="1" dirty="0">
                <a:solidFill>
                  <a:srgbClr val="6E6B8A"/>
                </a:solidFill>
                <a:latin typeface="Calibri" pitchFamily="34" charset="0"/>
                <a:ea typeface="Calibri" pitchFamily="34" charset="-122"/>
                <a:cs typeface="Calibri" pitchFamily="34" charset="-120"/>
              </a:rPr>
              <a:t>nobody can prove it behaved</a:t>
            </a:r>
            <a:endParaRPr lang="en-US" sz="1000" dirty="0"/>
          </a:p>
        </p:txBody>
      </p:sp>
      <p:sp>
        <p:nvSpPr>
          <p:cNvPr id="33" name="Shape 26"/>
          <p:cNvSpPr/>
          <p:nvPr/>
        </p:nvSpPr>
        <p:spPr>
          <a:xfrm>
            <a:off x="9775698" y="3191256"/>
            <a:ext cx="146304" cy="0"/>
          </a:xfrm>
          <a:prstGeom prst="line">
            <a:avLst/>
          </a:prstGeom>
          <a:noFill/>
          <a:ln w="25400">
            <a:solidFill>
              <a:srgbClr val="8E82F5"/>
            </a:solidFill>
            <a:prstDash val="solid"/>
            <a:headEnd type="none"/>
            <a:tailEnd type="triangle"/>
          </a:ln>
        </p:spPr>
      </p:sp>
      <p:sp>
        <p:nvSpPr>
          <p:cNvPr id="34" name="Shape 27"/>
          <p:cNvSpPr/>
          <p:nvPr/>
        </p:nvSpPr>
        <p:spPr>
          <a:xfrm>
            <a:off x="9949434" y="2048256"/>
            <a:ext cx="1675333" cy="2286000"/>
          </a:xfrm>
          <a:prstGeom prst="roundRect">
            <a:avLst>
              <a:gd name="adj" fmla="val 5458"/>
            </a:avLst>
          </a:prstGeom>
          <a:solidFill>
            <a:srgbClr val="5B4BE8"/>
          </a:solidFill>
          <a:ln w="12700">
            <a:solidFill>
              <a:srgbClr val="5B4BE8"/>
            </a:solidFill>
            <a:prstDash val="solid"/>
          </a:ln>
          <a:effectLst>
            <a:outerShdw sx="100000" sy="100000" kx="0" ky="0" algn="bl" rotWithShape="0" blurRad="114300" dist="572" dir="5400000">
              <a:srgbClr val="1B1A4A">
                <a:alpha val="8000"/>
              </a:srgbClr>
            </a:outerShdw>
          </a:effectLst>
        </p:spPr>
      </p:sp>
      <p:sp>
        <p:nvSpPr>
          <p:cNvPr id="35" name="Shape 28"/>
          <p:cNvSpPr/>
          <p:nvPr/>
        </p:nvSpPr>
        <p:spPr>
          <a:xfrm>
            <a:off x="10585933" y="2267712"/>
            <a:ext cx="402336" cy="402336"/>
          </a:xfrm>
          <a:prstGeom prst="ellipse">
            <a:avLst/>
          </a:prstGeom>
          <a:solidFill>
            <a:srgbClr val="F5A524"/>
          </a:solidFill>
          <a:ln w="12700">
            <a:solidFill>
              <a:srgbClr val="F5A524"/>
            </a:solidFill>
            <a:prstDash val="solid"/>
          </a:ln>
        </p:spPr>
      </p:sp>
      <p:pic>
        <p:nvPicPr>
          <p:cNvPr id="36" name="Image 5" descr="preencoded.png">    </p:cNvPr>
          <p:cNvPicPr>
            <a:picLocks noChangeAspect="1"/>
          </p:cNvPicPr>
          <p:nvPr/>
        </p:nvPicPr>
        <p:blipFill>
          <a:blip r:embed="rId6"/>
          <a:stretch>
            <a:fillRect/>
          </a:stretch>
        </p:blipFill>
        <p:spPr>
          <a:xfrm>
            <a:off x="10686517" y="2368296"/>
            <a:ext cx="201168" cy="201168"/>
          </a:xfrm>
          <a:prstGeom prst="rect">
            <a:avLst/>
          </a:prstGeom>
        </p:spPr>
      </p:pic>
      <p:sp>
        <p:nvSpPr>
          <p:cNvPr id="37" name="Text 29"/>
          <p:cNvSpPr/>
          <p:nvPr/>
        </p:nvSpPr>
        <p:spPr>
          <a:xfrm>
            <a:off x="10040874" y="2798064"/>
            <a:ext cx="1492453" cy="621792"/>
          </a:xfrm>
          <a:prstGeom prst="rect">
            <a:avLst/>
          </a:prstGeom>
          <a:noFill/>
          <a:ln/>
        </p:spPr>
        <p:txBody>
          <a:bodyPr wrap="square" lIns="0" tIns="0" rIns="0" bIns="0" rtlCol="0" anchor="t"/>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Governance</a:t>
            </a:r>
            <a:endParaRPr lang="en-US" sz="1250" dirty="0"/>
          </a:p>
        </p:txBody>
      </p:sp>
      <p:sp>
        <p:nvSpPr>
          <p:cNvPr id="38" name="Text 30"/>
          <p:cNvSpPr/>
          <p:nvPr/>
        </p:nvSpPr>
        <p:spPr>
          <a:xfrm>
            <a:off x="10059162" y="3438144"/>
            <a:ext cx="1455877" cy="786384"/>
          </a:xfrm>
          <a:prstGeom prst="rect">
            <a:avLst/>
          </a:prstGeom>
          <a:noFill/>
          <a:ln/>
        </p:spPr>
        <p:txBody>
          <a:bodyPr wrap="square" lIns="0" tIns="0" rIns="0" bIns="0" rtlCol="0" anchor="t"/>
          <a:lstStyle/>
          <a:p>
            <a:pPr algn="ctr" indent="0" marL="0">
              <a:lnSpc>
                <a:spcPct val="110000"/>
              </a:lnSpc>
              <a:buNone/>
            </a:pPr>
            <a:r>
              <a:rPr lang="en-US" sz="1000" i="1" dirty="0">
                <a:solidFill>
                  <a:srgbClr val="DCD8FF"/>
                </a:solidFill>
                <a:latin typeface="Calibri" pitchFamily="34" charset="0"/>
                <a:ea typeface="Calibri" pitchFamily="34" charset="-122"/>
                <a:cs typeface="Calibri" pitchFamily="34" charset="-120"/>
              </a:rPr>
              <a:t>…so what should we automate at all?</a:t>
            </a:r>
            <a:endParaRPr lang="en-US" sz="1000" dirty="0"/>
          </a:p>
        </p:txBody>
      </p:sp>
      <p:sp>
        <p:nvSpPr>
          <p:cNvPr id="39" name="Shape 31"/>
          <p:cNvSpPr/>
          <p:nvPr/>
        </p:nvSpPr>
        <p:spPr>
          <a:xfrm>
            <a:off x="566928" y="4626864"/>
            <a:ext cx="11057839" cy="822960"/>
          </a:xfrm>
          <a:prstGeom prst="roundRect">
            <a:avLst>
              <a:gd name="adj" fmla="val 10000"/>
            </a:avLst>
          </a:prstGeom>
          <a:solidFill>
            <a:srgbClr val="FFF4E0"/>
          </a:solidFill>
          <a:ln w="12700">
            <a:solidFill>
              <a:srgbClr val="F3DCB0"/>
            </a:solidFill>
            <a:prstDash val="solid"/>
          </a:ln>
        </p:spPr>
      </p:sp>
      <p:sp>
        <p:nvSpPr>
          <p:cNvPr id="40" name="Shape 32"/>
          <p:cNvSpPr/>
          <p:nvPr/>
        </p:nvSpPr>
        <p:spPr>
          <a:xfrm>
            <a:off x="841248" y="4846320"/>
            <a:ext cx="384048" cy="384048"/>
          </a:xfrm>
          <a:prstGeom prst="ellipse">
            <a:avLst/>
          </a:prstGeom>
          <a:solidFill>
            <a:srgbClr val="F5A524"/>
          </a:solidFill>
          <a:ln w="12700">
            <a:solidFill>
              <a:srgbClr val="F5A524"/>
            </a:solidFill>
            <a:prstDash val="solid"/>
          </a:ln>
        </p:spPr>
      </p:sp>
      <p:pic>
        <p:nvPicPr>
          <p:cNvPr id="41" name="Image 6" descr="preencoded.png">    </p:cNvPr>
          <p:cNvPicPr>
            <a:picLocks noChangeAspect="1"/>
          </p:cNvPicPr>
          <p:nvPr/>
        </p:nvPicPr>
        <p:blipFill>
          <a:blip r:embed="rId7"/>
          <a:stretch>
            <a:fillRect/>
          </a:stretch>
        </p:blipFill>
        <p:spPr>
          <a:xfrm>
            <a:off x="937260" y="4942332"/>
            <a:ext cx="192024" cy="192024"/>
          </a:xfrm>
          <a:prstGeom prst="rect">
            <a:avLst/>
          </a:prstGeom>
        </p:spPr>
      </p:pic>
      <p:sp>
        <p:nvSpPr>
          <p:cNvPr id="42" name="Text 33"/>
          <p:cNvSpPr/>
          <p:nvPr/>
        </p:nvSpPr>
        <p:spPr>
          <a:xfrm>
            <a:off x="1371600" y="46817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Nothing here is a shopping list of tools. Each box is the answer to a specific thing that broke in the box to its left.</a:t>
            </a:r>
            <a:endParaRPr lang="en-US" sz="1050" dirty="0"/>
          </a:p>
        </p:txBody>
      </p:sp>
      <p:sp>
        <p:nvSpPr>
          <p:cNvPr id="43" name="Text 34"/>
          <p:cNvSpPr/>
          <p:nvPr/>
        </p:nvSpPr>
        <p:spPr>
          <a:xfrm>
            <a:off x="566928" y="5632704"/>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Return to this slide at every module transition. It is the only map they need.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HOW WE WORK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Talk, watch, then hands on the keyboard</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There is no code-along. Watching and doing are separate on purpose — you cannot follow a demo and type at the same time.</a:t>
            </a:r>
            <a:endParaRPr lang="en-US" sz="1400" dirty="0"/>
          </a:p>
        </p:txBody>
      </p:sp>
      <p:sp>
        <p:nvSpPr>
          <p:cNvPr id="5" name="Shape 3"/>
          <p:cNvSpPr/>
          <p:nvPr/>
        </p:nvSpPr>
        <p:spPr>
          <a:xfrm>
            <a:off x="566928" y="2847487"/>
            <a:ext cx="3527450" cy="1583649"/>
          </a:xfrm>
          <a:prstGeom prst="roundRect">
            <a:avLst>
              <a:gd name="adj" fmla="val 519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3066943"/>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3158383"/>
            <a:ext cx="182880" cy="182880"/>
          </a:xfrm>
          <a:prstGeom prst="rect">
            <a:avLst/>
          </a:prstGeom>
        </p:spPr>
      </p:pic>
      <p:sp>
        <p:nvSpPr>
          <p:cNvPr id="8" name="Text 5"/>
          <p:cNvSpPr/>
          <p:nvPr/>
        </p:nvSpPr>
        <p:spPr>
          <a:xfrm>
            <a:off x="1298448" y="3057799"/>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PHASE 1</a:t>
            </a:r>
            <a:endParaRPr lang="en-US" sz="850" dirty="0"/>
          </a:p>
        </p:txBody>
      </p:sp>
      <p:sp>
        <p:nvSpPr>
          <p:cNvPr id="9" name="Text 6"/>
          <p:cNvSpPr/>
          <p:nvPr/>
        </p:nvSpPr>
        <p:spPr>
          <a:xfrm>
            <a:off x="1298448" y="3277255"/>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I talk</a:t>
            </a:r>
            <a:endParaRPr lang="en-US" sz="1450" dirty="0"/>
          </a:p>
        </p:txBody>
      </p:sp>
      <p:sp>
        <p:nvSpPr>
          <p:cNvPr id="10" name="Text 7"/>
          <p:cNvSpPr/>
          <p:nvPr/>
        </p:nvSpPr>
        <p:spPr>
          <a:xfrm>
            <a:off x="1298448" y="3624910"/>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concept, on these slides. What it is, and what breaks without it. Ten to twenty minutes.</a:t>
            </a:r>
            <a:endParaRPr lang="en-US" sz="1150" dirty="0"/>
          </a:p>
        </p:txBody>
      </p:sp>
      <p:sp>
        <p:nvSpPr>
          <p:cNvPr id="11" name="Shape 8"/>
          <p:cNvSpPr/>
          <p:nvPr/>
        </p:nvSpPr>
        <p:spPr>
          <a:xfrm>
            <a:off x="4332122" y="2847487"/>
            <a:ext cx="3527450" cy="1583649"/>
          </a:xfrm>
          <a:prstGeom prst="roundRect">
            <a:avLst>
              <a:gd name="adj" fmla="val 519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4569866" y="3066943"/>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4661306" y="3158383"/>
            <a:ext cx="182880" cy="182880"/>
          </a:xfrm>
          <a:prstGeom prst="rect">
            <a:avLst/>
          </a:prstGeom>
        </p:spPr>
      </p:pic>
      <p:sp>
        <p:nvSpPr>
          <p:cNvPr id="14" name="Text 10"/>
          <p:cNvSpPr/>
          <p:nvPr/>
        </p:nvSpPr>
        <p:spPr>
          <a:xfrm>
            <a:off x="5063642" y="3057799"/>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PHASE 2</a:t>
            </a:r>
            <a:endParaRPr lang="en-US" sz="850" dirty="0"/>
          </a:p>
        </p:txBody>
      </p:sp>
      <p:sp>
        <p:nvSpPr>
          <p:cNvPr id="15" name="Text 11"/>
          <p:cNvSpPr/>
          <p:nvPr/>
        </p:nvSpPr>
        <p:spPr>
          <a:xfrm>
            <a:off x="5063642" y="3277255"/>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I show</a:t>
            </a:r>
            <a:endParaRPr lang="en-US" sz="1450" dirty="0"/>
          </a:p>
        </p:txBody>
      </p:sp>
      <p:sp>
        <p:nvSpPr>
          <p:cNvPr id="16" name="Text 12"/>
          <p:cNvSpPr/>
          <p:nvPr/>
        </p:nvSpPr>
        <p:spPr>
          <a:xfrm>
            <a:off x="5063642" y="3624910"/>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I drive the notebook at the front of the room. Nobody types. Watch what the model actually returns.</a:t>
            </a:r>
            <a:endParaRPr lang="en-US" sz="1150" dirty="0"/>
          </a:p>
        </p:txBody>
      </p:sp>
      <p:sp>
        <p:nvSpPr>
          <p:cNvPr id="17" name="Shape 13"/>
          <p:cNvSpPr/>
          <p:nvPr/>
        </p:nvSpPr>
        <p:spPr>
          <a:xfrm>
            <a:off x="8097317" y="2847487"/>
            <a:ext cx="3527450" cy="1583649"/>
          </a:xfrm>
          <a:prstGeom prst="roundRect">
            <a:avLst>
              <a:gd name="adj" fmla="val 519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8335061" y="3066943"/>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8426501" y="3158383"/>
            <a:ext cx="182880" cy="182880"/>
          </a:xfrm>
          <a:prstGeom prst="rect">
            <a:avLst/>
          </a:prstGeom>
        </p:spPr>
      </p:pic>
      <p:sp>
        <p:nvSpPr>
          <p:cNvPr id="20" name="Text 15"/>
          <p:cNvSpPr/>
          <p:nvPr/>
        </p:nvSpPr>
        <p:spPr>
          <a:xfrm>
            <a:off x="8828837" y="3057799"/>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PHASE 3</a:t>
            </a:r>
            <a:endParaRPr lang="en-US" sz="850" dirty="0"/>
          </a:p>
        </p:txBody>
      </p:sp>
      <p:sp>
        <p:nvSpPr>
          <p:cNvPr id="21" name="Text 16"/>
          <p:cNvSpPr/>
          <p:nvPr/>
        </p:nvSpPr>
        <p:spPr>
          <a:xfrm>
            <a:off x="8828837" y="3277255"/>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You do it</a:t>
            </a:r>
            <a:endParaRPr lang="en-US" sz="1450" dirty="0"/>
          </a:p>
        </p:txBody>
      </p:sp>
      <p:sp>
        <p:nvSpPr>
          <p:cNvPr id="22" name="Text 17"/>
          <p:cNvSpPr/>
          <p:nvPr/>
        </p:nvSpPr>
        <p:spPr>
          <a:xfrm>
            <a:off x="8828837" y="3624910"/>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same notebook, your own pace. A challenge at the end, then a debrief with the solution.</a:t>
            </a:r>
            <a:endParaRPr lang="en-US" sz="1150" dirty="0"/>
          </a:p>
        </p:txBody>
      </p:sp>
      <p:sp>
        <p:nvSpPr>
          <p:cNvPr id="23"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4" name="Shape 19"/>
          <p:cNvSpPr/>
          <p:nvPr/>
        </p:nvSpPr>
        <p:spPr>
          <a:xfrm>
            <a:off x="841248" y="5760720"/>
            <a:ext cx="384048" cy="384048"/>
          </a:xfrm>
          <a:prstGeom prst="ellipse">
            <a:avLst/>
          </a:prstGeom>
          <a:solidFill>
            <a:srgbClr val="F5A524"/>
          </a:solidFill>
          <a:ln w="12700">
            <a:solidFill>
              <a:srgbClr val="F5A524"/>
            </a:solidFill>
            <a:prstDash val="solid"/>
          </a:ln>
        </p:spPr>
      </p:sp>
      <p:pic>
        <p:nvPicPr>
          <p:cNvPr id="25" name="Image 3" descr="preencoded.png">    </p:cNvPr>
          <p:cNvPicPr>
            <a:picLocks noChangeAspect="1"/>
          </p:cNvPicPr>
          <p:nvPr/>
        </p:nvPicPr>
        <p:blipFill>
          <a:blip r:embed="rId4"/>
          <a:stretch>
            <a:fillRect/>
          </a:stretch>
        </p:blipFill>
        <p:spPr>
          <a:xfrm>
            <a:off x="937260" y="5856732"/>
            <a:ext cx="192024" cy="192024"/>
          </a:xfrm>
          <a:prstGeom prst="rect">
            <a:avLst/>
          </a:prstGeom>
        </p:spPr>
      </p:pic>
      <p:sp>
        <p:nvSpPr>
          <p:cNvPr id="26" name="Text 20"/>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If you don't write code, phase 3 is your reading and discussion time — the notebooks are written to be read, not only run.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566928"/>
            <a:ext cx="7315200" cy="274320"/>
          </a:xfrm>
          <a:prstGeom prst="rect">
            <a:avLst/>
          </a:prstGeom>
          <a:noFill/>
          <a:ln/>
        </p:spPr>
        <p:txBody>
          <a:bodyPr wrap="square" lIns="0" tIns="0" rIns="0" bIns="0" rtlCol="0" anchor="ctr"/>
          <a:lstStyle/>
          <a:p>
            <a:pPr indent="0" marL="0">
              <a:buNone/>
            </a:pPr>
            <a:r>
              <a:rPr lang="en-US" sz="1100" b="1" spc="260" kern="0" dirty="0">
                <a:solidFill>
                  <a:srgbClr val="F5A524"/>
                </a:solidFill>
                <a:latin typeface="Calibri" pitchFamily="34" charset="0"/>
                <a:ea typeface="Calibri" pitchFamily="34" charset="-122"/>
                <a:cs typeface="Calibri" pitchFamily="34" charset="-120"/>
              </a:rPr>
              <a:t>THE HONEST OPENING</a:t>
            </a:r>
            <a:endParaRPr lang="en-US" sz="1100" dirty="0"/>
          </a:p>
        </p:txBody>
      </p:sp>
      <p:sp>
        <p:nvSpPr>
          <p:cNvPr id="4" name="Text 1"/>
          <p:cNvSpPr/>
          <p:nvPr/>
        </p:nvSpPr>
        <p:spPr>
          <a:xfrm>
            <a:off x="566928" y="932688"/>
            <a:ext cx="1060704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Most agent projects being started right now will be cancelled</a:t>
            </a:r>
            <a:endParaRPr lang="en-US" sz="3400" dirty="0"/>
          </a:p>
        </p:txBody>
      </p:sp>
      <p:sp>
        <p:nvSpPr>
          <p:cNvPr id="5" name="Shape 2"/>
          <p:cNvSpPr/>
          <p:nvPr/>
        </p:nvSpPr>
        <p:spPr>
          <a:xfrm>
            <a:off x="566928" y="2084832"/>
            <a:ext cx="3503066" cy="2889504"/>
          </a:xfrm>
          <a:prstGeom prst="roundRect">
            <a:avLst>
              <a:gd name="adj" fmla="val 3165"/>
            </a:avLst>
          </a:prstGeom>
          <a:solidFill>
            <a:srgbClr val="FFFFFF">
              <a:alpha val="9000"/>
            </a:srgbClr>
          </a:solidFill>
          <a:ln w="12700">
            <a:solidFill>
              <a:srgbClr val="6E5FD8"/>
            </a:solidFill>
            <a:prstDash val="solid"/>
          </a:ln>
        </p:spPr>
      </p:sp>
      <p:sp>
        <p:nvSpPr>
          <p:cNvPr id="6" name="Text 3"/>
          <p:cNvSpPr/>
          <p:nvPr/>
        </p:nvSpPr>
        <p:spPr>
          <a:xfrm>
            <a:off x="822960" y="2231136"/>
            <a:ext cx="3045866" cy="932688"/>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40%+</a:t>
            </a:r>
            <a:endParaRPr lang="en-US" sz="5000" dirty="0"/>
          </a:p>
        </p:txBody>
      </p:sp>
      <p:sp>
        <p:nvSpPr>
          <p:cNvPr id="7" name="Text 4"/>
          <p:cNvSpPr/>
          <p:nvPr/>
        </p:nvSpPr>
        <p:spPr>
          <a:xfrm>
            <a:off x="822960" y="3218688"/>
            <a:ext cx="2991002" cy="859536"/>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Calibri" pitchFamily="34" charset="0"/>
                <a:ea typeface="Calibri" pitchFamily="34" charset="-122"/>
                <a:cs typeface="Calibri" pitchFamily="34" charset="-120"/>
              </a:rPr>
              <a:t>of agentic AI projects will be cancelled by the end of 2027</a:t>
            </a:r>
            <a:endParaRPr lang="en-US" sz="1250" dirty="0"/>
          </a:p>
        </p:txBody>
      </p:sp>
      <p:sp>
        <p:nvSpPr>
          <p:cNvPr id="8" name="Text 5"/>
          <p:cNvSpPr/>
          <p:nvPr/>
        </p:nvSpPr>
        <p:spPr>
          <a:xfrm>
            <a:off x="822960" y="4114800"/>
            <a:ext cx="2991002" cy="74980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Escalating cost, unclear business value, inadequate risk controls.</a:t>
            </a:r>
            <a:endParaRPr lang="en-US" sz="1050" dirty="0"/>
          </a:p>
        </p:txBody>
      </p:sp>
      <p:sp>
        <p:nvSpPr>
          <p:cNvPr id="9" name="Shape 6"/>
          <p:cNvSpPr/>
          <p:nvPr/>
        </p:nvSpPr>
        <p:spPr>
          <a:xfrm>
            <a:off x="4344314" y="2084832"/>
            <a:ext cx="3503066" cy="2889504"/>
          </a:xfrm>
          <a:prstGeom prst="roundRect">
            <a:avLst>
              <a:gd name="adj" fmla="val 3165"/>
            </a:avLst>
          </a:prstGeom>
          <a:solidFill>
            <a:srgbClr val="FFFFFF">
              <a:alpha val="9000"/>
            </a:srgbClr>
          </a:solidFill>
          <a:ln w="12700">
            <a:solidFill>
              <a:srgbClr val="6E5FD8"/>
            </a:solidFill>
            <a:prstDash val="solid"/>
          </a:ln>
        </p:spPr>
      </p:sp>
      <p:sp>
        <p:nvSpPr>
          <p:cNvPr id="10" name="Text 7"/>
          <p:cNvSpPr/>
          <p:nvPr/>
        </p:nvSpPr>
        <p:spPr>
          <a:xfrm>
            <a:off x="4600346" y="2231136"/>
            <a:ext cx="3045866" cy="932688"/>
          </a:xfrm>
          <a:prstGeom prst="rect">
            <a:avLst/>
          </a:prstGeom>
          <a:noFill/>
          <a:ln/>
        </p:spPr>
        <p:txBody>
          <a:bodyPr wrap="square" lIns="0" tIns="0" rIns="0" bIns="0" rtlCol="0" anchor="ctr"/>
          <a:lstStyle/>
          <a:p>
            <a:pPr indent="0" marL="0">
              <a:buNone/>
            </a:pPr>
            <a:r>
              <a:rPr lang="en-US" sz="5000" b="1" dirty="0">
                <a:solidFill>
                  <a:srgbClr val="F5A524"/>
                </a:solidFill>
                <a:latin typeface="Cambria" pitchFamily="34" charset="0"/>
                <a:ea typeface="Cambria" pitchFamily="34" charset="-122"/>
                <a:cs typeface="Cambria" pitchFamily="34" charset="-120"/>
              </a:rPr>
              <a:t>~130</a:t>
            </a:r>
            <a:endParaRPr lang="en-US" sz="5000" dirty="0"/>
          </a:p>
        </p:txBody>
      </p:sp>
      <p:sp>
        <p:nvSpPr>
          <p:cNvPr id="11" name="Text 8"/>
          <p:cNvSpPr/>
          <p:nvPr/>
        </p:nvSpPr>
        <p:spPr>
          <a:xfrm>
            <a:off x="4600346" y="3218688"/>
            <a:ext cx="2991002" cy="859536"/>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Calibri" pitchFamily="34" charset="0"/>
                <a:ea typeface="Calibri" pitchFamily="34" charset="-122"/>
                <a:cs typeface="Calibri" pitchFamily="34" charset="-120"/>
              </a:rPr>
              <a:t>of thousands of self-described agentic AI vendors are the real thing</a:t>
            </a:r>
            <a:endParaRPr lang="en-US" sz="1250" dirty="0"/>
          </a:p>
        </p:txBody>
      </p:sp>
      <p:sp>
        <p:nvSpPr>
          <p:cNvPr id="12" name="Text 9"/>
          <p:cNvSpPr/>
          <p:nvPr/>
        </p:nvSpPr>
        <p:spPr>
          <a:xfrm>
            <a:off x="4600346" y="4114800"/>
            <a:ext cx="2991002" cy="74980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The rest is “agent washing” — rebranded chatbots, assistants and RPA.</a:t>
            </a:r>
            <a:endParaRPr lang="en-US" sz="1050" dirty="0"/>
          </a:p>
        </p:txBody>
      </p:sp>
      <p:sp>
        <p:nvSpPr>
          <p:cNvPr id="13" name="Shape 10"/>
          <p:cNvSpPr/>
          <p:nvPr/>
        </p:nvSpPr>
        <p:spPr>
          <a:xfrm>
            <a:off x="8121701" y="2084832"/>
            <a:ext cx="3503066" cy="2889504"/>
          </a:xfrm>
          <a:prstGeom prst="roundRect">
            <a:avLst>
              <a:gd name="adj" fmla="val 3165"/>
            </a:avLst>
          </a:prstGeom>
          <a:solidFill>
            <a:srgbClr val="FFFFFF">
              <a:alpha val="9000"/>
            </a:srgbClr>
          </a:solidFill>
          <a:ln w="12700">
            <a:solidFill>
              <a:srgbClr val="6E5FD8"/>
            </a:solidFill>
            <a:prstDash val="solid"/>
          </a:ln>
        </p:spPr>
      </p:sp>
      <p:sp>
        <p:nvSpPr>
          <p:cNvPr id="14" name="Text 11"/>
          <p:cNvSpPr/>
          <p:nvPr/>
        </p:nvSpPr>
        <p:spPr>
          <a:xfrm>
            <a:off x="8377733" y="2231136"/>
            <a:ext cx="3045866" cy="932688"/>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15%</a:t>
            </a:r>
            <a:endParaRPr lang="en-US" sz="5000" dirty="0"/>
          </a:p>
        </p:txBody>
      </p:sp>
      <p:sp>
        <p:nvSpPr>
          <p:cNvPr id="15" name="Text 12"/>
          <p:cNvSpPr/>
          <p:nvPr/>
        </p:nvSpPr>
        <p:spPr>
          <a:xfrm>
            <a:off x="8377733" y="3218688"/>
            <a:ext cx="2991002" cy="859536"/>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Calibri" pitchFamily="34" charset="0"/>
                <a:ea typeface="Calibri" pitchFamily="34" charset="-122"/>
                <a:cs typeface="Calibri" pitchFamily="34" charset="-120"/>
              </a:rPr>
              <a:t>of day-to-day work decisions made autonomously by 2028</a:t>
            </a:r>
            <a:endParaRPr lang="en-US" sz="1250" dirty="0"/>
          </a:p>
        </p:txBody>
      </p:sp>
      <p:sp>
        <p:nvSpPr>
          <p:cNvPr id="16" name="Text 13"/>
          <p:cNvSpPr/>
          <p:nvPr/>
        </p:nvSpPr>
        <p:spPr>
          <a:xfrm>
            <a:off x="8377733" y="4114800"/>
            <a:ext cx="2991002" cy="74980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Up from effectively zero in 2024. The direction is not in doubt. The execution is.</a:t>
            </a:r>
            <a:endParaRPr lang="en-US" sz="1050" dirty="0"/>
          </a:p>
        </p:txBody>
      </p:sp>
      <p:sp>
        <p:nvSpPr>
          <p:cNvPr id="17" name="Text 14"/>
          <p:cNvSpPr/>
          <p:nvPr/>
        </p:nvSpPr>
        <p:spPr>
          <a:xfrm>
            <a:off x="566928" y="5175504"/>
            <a:ext cx="11057839" cy="457200"/>
          </a:xfrm>
          <a:prstGeom prst="rect">
            <a:avLst/>
          </a:prstGeom>
          <a:noFill/>
          <a:ln/>
        </p:spPr>
        <p:txBody>
          <a:bodyPr wrap="square" lIns="0" tIns="0" rIns="0" bIns="0" rtlCol="0" anchor="ctr"/>
          <a:lstStyle/>
          <a:p>
            <a:pPr indent="0" marL="0">
              <a:buNone/>
            </a:pPr>
            <a:r>
              <a:rPr lang="en-US" sz="1500" i="1" dirty="0">
                <a:solidFill>
                  <a:srgbClr val="DCD8FF"/>
                </a:solidFill>
                <a:latin typeface="Calibri" pitchFamily="34" charset="0"/>
                <a:ea typeface="Calibri" pitchFamily="34" charset="-122"/>
                <a:cs typeface="Calibri" pitchFamily="34" charset="-120"/>
              </a:rPr>
              <a:t>The gap is almost never the model. It is evaluation, observability, cost control, and a process nobody had written down.</a:t>
            </a:r>
            <a:endParaRPr lang="en-US" sz="1500" dirty="0"/>
          </a:p>
        </p:txBody>
      </p:sp>
      <p:sp>
        <p:nvSpPr>
          <p:cNvPr id="18" name="Text 15"/>
          <p:cNvSpPr/>
          <p:nvPr/>
        </p:nvSpPr>
        <p:spPr>
          <a:xfrm>
            <a:off x="566928" y="5888736"/>
            <a:ext cx="11057839" cy="256032"/>
          </a:xfrm>
          <a:prstGeom prst="rect">
            <a:avLst/>
          </a:prstGeom>
          <a:noFill/>
          <a:ln/>
        </p:spPr>
        <p:txBody>
          <a:bodyPr wrap="square" lIns="0" tIns="0" rIns="0" bIns="0" rtlCol="0" anchor="ctr"/>
          <a:lstStyle/>
          <a:p>
            <a:pPr indent="0" marL="0">
              <a:buNone/>
            </a:pPr>
            <a:r>
              <a:rPr lang="en-US" sz="950" dirty="0">
                <a:solidFill>
                  <a:srgbClr val="8B86C0"/>
                </a:solidFill>
                <a:latin typeface="Calibri" pitchFamily="34" charset="0"/>
                <a:ea typeface="Calibri" pitchFamily="34" charset="-122"/>
                <a:cs typeface="Calibri" pitchFamily="34" charset="-120"/>
              </a:rPr>
              <a:t>Source: Gartner press release, 25 June 2025 — “Gartner Predicts Over 40% of Agentic AI Projects Will Be Canceled by End of 2027”.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457200"/>
            <a:ext cx="7315200" cy="274320"/>
          </a:xfrm>
          <a:prstGeom prst="rect">
            <a:avLst/>
          </a:prstGeom>
          <a:noFill/>
          <a:ln/>
        </p:spPr>
        <p:txBody>
          <a:bodyPr wrap="square" lIns="0" tIns="0" rIns="0" bIns="0" rtlCol="0" anchor="ctr"/>
          <a:lstStyle/>
          <a:p>
            <a:pPr indent="0" marL="0">
              <a:buNone/>
            </a:pPr>
            <a:r>
              <a:rPr lang="en-US" sz="1100" b="1" spc="260" kern="0" dirty="0">
                <a:solidFill>
                  <a:srgbClr val="F5A524"/>
                </a:solidFill>
                <a:latin typeface="Calibri" pitchFamily="34" charset="0"/>
                <a:ea typeface="Calibri" pitchFamily="34" charset="-122"/>
                <a:cs typeface="Calibri" pitchFamily="34" charset="-120"/>
              </a:rPr>
              <a:t>ORIENTATION</a:t>
            </a:r>
            <a:endParaRPr lang="en-US" sz="1100" dirty="0"/>
          </a:p>
        </p:txBody>
      </p:sp>
      <p:sp>
        <p:nvSpPr>
          <p:cNvPr id="4" name="Text 1"/>
          <p:cNvSpPr/>
          <p:nvPr/>
        </p:nvSpPr>
        <p:spPr>
          <a:xfrm>
            <a:off x="566928" y="786384"/>
            <a:ext cx="10607040" cy="6400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agentic AI landscape, in one picture</a:t>
            </a:r>
            <a:endParaRPr lang="en-US" sz="3400" dirty="0"/>
          </a:p>
        </p:txBody>
      </p:sp>
      <p:sp>
        <p:nvSpPr>
          <p:cNvPr id="5" name="Shape 2"/>
          <p:cNvSpPr/>
          <p:nvPr/>
        </p:nvSpPr>
        <p:spPr>
          <a:xfrm>
            <a:off x="566928" y="1627632"/>
            <a:ext cx="2613584" cy="1883664"/>
          </a:xfrm>
          <a:prstGeom prst="roundRect">
            <a:avLst>
              <a:gd name="adj" fmla="val 4854"/>
            </a:avLst>
          </a:prstGeom>
          <a:solidFill>
            <a:srgbClr val="FFFFFF">
              <a:alpha val="9000"/>
            </a:srgbClr>
          </a:solidFill>
          <a:ln w="12700">
            <a:solidFill>
              <a:srgbClr val="6E5FD8"/>
            </a:solidFill>
            <a:prstDash val="solid"/>
          </a:ln>
        </p:spPr>
      </p:sp>
      <p:sp>
        <p:nvSpPr>
          <p:cNvPr id="6" name="Shape 3"/>
          <p:cNvSpPr/>
          <p:nvPr/>
        </p:nvSpPr>
        <p:spPr>
          <a:xfrm>
            <a:off x="786384" y="1828800"/>
            <a:ext cx="384048" cy="384048"/>
          </a:xfrm>
          <a:prstGeom prst="ellipse">
            <a:avLst/>
          </a:prstGeom>
          <a:solidFill>
            <a:srgbClr val="5B4BE8"/>
          </a:solidFill>
          <a:ln w="12700">
            <a:solidFill>
              <a:srgbClr val="5B4BE8"/>
            </a:solidFill>
            <a:prstDash val="solid"/>
          </a:ln>
        </p:spPr>
      </p:sp>
      <p:pic>
        <p:nvPicPr>
          <p:cNvPr id="7" name="Image 1" descr="preencoded.png">    </p:cNvPr>
          <p:cNvPicPr>
            <a:picLocks noChangeAspect="1"/>
          </p:cNvPicPr>
          <p:nvPr/>
        </p:nvPicPr>
        <p:blipFill>
          <a:blip r:embed="rId2"/>
          <a:stretch>
            <a:fillRect/>
          </a:stretch>
        </p:blipFill>
        <p:spPr>
          <a:xfrm>
            <a:off x="882396" y="1924812"/>
            <a:ext cx="192024" cy="192024"/>
          </a:xfrm>
          <a:prstGeom prst="rect">
            <a:avLst/>
          </a:prstGeom>
        </p:spPr>
      </p:pic>
      <p:sp>
        <p:nvSpPr>
          <p:cNvPr id="8" name="Text 4"/>
          <p:cNvSpPr/>
          <p:nvPr/>
        </p:nvSpPr>
        <p:spPr>
          <a:xfrm>
            <a:off x="1662608" y="1901952"/>
            <a:ext cx="1298448" cy="219456"/>
          </a:xfrm>
          <a:prstGeom prst="rect">
            <a:avLst/>
          </a:prstGeom>
          <a:noFill/>
          <a:ln/>
        </p:spPr>
        <p:txBody>
          <a:bodyPr wrap="square" lIns="0" tIns="0" rIns="0" bIns="0" rtlCol="0" anchor="ctr"/>
          <a:lstStyle/>
          <a:p>
            <a:pPr algn="r" indent="0" marL="0">
              <a:buNone/>
            </a:pPr>
            <a:r>
              <a:rPr lang="en-US" sz="800" b="1" spc="120" kern="0" dirty="0">
                <a:solidFill>
                  <a:srgbClr val="0E9F6E"/>
                </a:solidFill>
                <a:latin typeface="Calibri" pitchFamily="34" charset="0"/>
                <a:ea typeface="Calibri" pitchFamily="34" charset="-122"/>
                <a:cs typeface="Calibri" pitchFamily="34" charset="-120"/>
              </a:rPr>
              <a:t>IN PRODUCTION</a:t>
            </a:r>
            <a:endParaRPr lang="en-US" sz="800" dirty="0"/>
          </a:p>
        </p:txBody>
      </p:sp>
      <p:sp>
        <p:nvSpPr>
          <p:cNvPr id="9" name="Text 5"/>
          <p:cNvSpPr/>
          <p:nvPr/>
        </p:nvSpPr>
        <p:spPr>
          <a:xfrm>
            <a:off x="786384" y="2322576"/>
            <a:ext cx="217467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Coding and software</a:t>
            </a:r>
            <a:endParaRPr lang="en-US" sz="1350" dirty="0"/>
          </a:p>
        </p:txBody>
      </p:sp>
      <p:sp>
        <p:nvSpPr>
          <p:cNvPr id="10" name="Text 6"/>
          <p:cNvSpPr/>
          <p:nvPr/>
        </p:nvSpPr>
        <p:spPr>
          <a:xfrm>
            <a:off x="786384" y="2633472"/>
            <a:ext cx="2174672" cy="56692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Read a repo, write a patch, run the tests, open the pull request.</a:t>
            </a:r>
            <a:endParaRPr lang="en-US" sz="1050" dirty="0"/>
          </a:p>
        </p:txBody>
      </p:sp>
      <p:sp>
        <p:nvSpPr>
          <p:cNvPr id="11" name="Text 7"/>
          <p:cNvSpPr/>
          <p:nvPr/>
        </p:nvSpPr>
        <p:spPr>
          <a:xfrm>
            <a:off x="786384" y="3163824"/>
            <a:ext cx="2174672" cy="237744"/>
          </a:xfrm>
          <a:prstGeom prst="rect">
            <a:avLst/>
          </a:prstGeom>
          <a:noFill/>
          <a:ln/>
        </p:spPr>
        <p:txBody>
          <a:bodyPr wrap="square" lIns="0" tIns="0" rIns="0" bIns="0" rtlCol="0" anchor="ctr"/>
          <a:lstStyle/>
          <a:p>
            <a:pPr indent="0" marL="0">
              <a:buNone/>
            </a:pPr>
            <a:r>
              <a:rPr lang="en-US" sz="850" dirty="0">
                <a:solidFill>
                  <a:srgbClr val="F5A524"/>
                </a:solidFill>
                <a:latin typeface="Courier New" pitchFamily="34" charset="0"/>
                <a:ea typeface="Courier New" pitchFamily="34" charset="-122"/>
                <a:cs typeface="Courier New" pitchFamily="34" charset="-120"/>
              </a:rPr>
              <a:t>files · shell · tests · git</a:t>
            </a:r>
            <a:endParaRPr lang="en-US" sz="850" dirty="0"/>
          </a:p>
        </p:txBody>
      </p:sp>
      <p:sp>
        <p:nvSpPr>
          <p:cNvPr id="12" name="Shape 8"/>
          <p:cNvSpPr/>
          <p:nvPr/>
        </p:nvSpPr>
        <p:spPr>
          <a:xfrm>
            <a:off x="3381680" y="1627632"/>
            <a:ext cx="2613584" cy="1883664"/>
          </a:xfrm>
          <a:prstGeom prst="roundRect">
            <a:avLst>
              <a:gd name="adj" fmla="val 4854"/>
            </a:avLst>
          </a:prstGeom>
          <a:solidFill>
            <a:srgbClr val="FFFFFF">
              <a:alpha val="9000"/>
            </a:srgbClr>
          </a:solidFill>
          <a:ln w="12700">
            <a:solidFill>
              <a:srgbClr val="6E5FD8"/>
            </a:solidFill>
            <a:prstDash val="solid"/>
          </a:ln>
        </p:spPr>
      </p:sp>
      <p:sp>
        <p:nvSpPr>
          <p:cNvPr id="13" name="Shape 9"/>
          <p:cNvSpPr/>
          <p:nvPr/>
        </p:nvSpPr>
        <p:spPr>
          <a:xfrm>
            <a:off x="3601136" y="1828800"/>
            <a:ext cx="384048" cy="384048"/>
          </a:xfrm>
          <a:prstGeom prst="ellipse">
            <a:avLst/>
          </a:prstGeom>
          <a:solidFill>
            <a:srgbClr val="5B4BE8"/>
          </a:solidFill>
          <a:ln w="12700">
            <a:solidFill>
              <a:srgbClr val="5B4BE8"/>
            </a:solidFill>
            <a:prstDash val="solid"/>
          </a:ln>
        </p:spPr>
      </p:sp>
      <p:pic>
        <p:nvPicPr>
          <p:cNvPr id="14" name="Image 2" descr="preencoded.png">    </p:cNvPr>
          <p:cNvPicPr>
            <a:picLocks noChangeAspect="1"/>
          </p:cNvPicPr>
          <p:nvPr/>
        </p:nvPicPr>
        <p:blipFill>
          <a:blip r:embed="rId3"/>
          <a:stretch>
            <a:fillRect/>
          </a:stretch>
        </p:blipFill>
        <p:spPr>
          <a:xfrm>
            <a:off x="3697148" y="1924812"/>
            <a:ext cx="192024" cy="192024"/>
          </a:xfrm>
          <a:prstGeom prst="rect">
            <a:avLst/>
          </a:prstGeom>
        </p:spPr>
      </p:pic>
      <p:sp>
        <p:nvSpPr>
          <p:cNvPr id="15" name="Text 10"/>
          <p:cNvSpPr/>
          <p:nvPr/>
        </p:nvSpPr>
        <p:spPr>
          <a:xfrm>
            <a:off x="4477360" y="1901952"/>
            <a:ext cx="1298448" cy="219456"/>
          </a:xfrm>
          <a:prstGeom prst="rect">
            <a:avLst/>
          </a:prstGeom>
          <a:noFill/>
          <a:ln/>
        </p:spPr>
        <p:txBody>
          <a:bodyPr wrap="square" lIns="0" tIns="0" rIns="0" bIns="0" rtlCol="0" anchor="ctr"/>
          <a:lstStyle/>
          <a:p>
            <a:pPr algn="r" indent="0" marL="0">
              <a:buNone/>
            </a:pPr>
            <a:r>
              <a:rPr lang="en-US" sz="800" b="1" spc="120" kern="0" dirty="0">
                <a:solidFill>
                  <a:srgbClr val="0E9F6E"/>
                </a:solidFill>
                <a:latin typeface="Calibri" pitchFamily="34" charset="0"/>
                <a:ea typeface="Calibri" pitchFamily="34" charset="-122"/>
                <a:cs typeface="Calibri" pitchFamily="34" charset="-120"/>
              </a:rPr>
              <a:t>IN PRODUCTION</a:t>
            </a:r>
            <a:endParaRPr lang="en-US" sz="800" dirty="0"/>
          </a:p>
        </p:txBody>
      </p:sp>
      <p:sp>
        <p:nvSpPr>
          <p:cNvPr id="16" name="Text 11"/>
          <p:cNvSpPr/>
          <p:nvPr/>
        </p:nvSpPr>
        <p:spPr>
          <a:xfrm>
            <a:off x="3601136" y="2322576"/>
            <a:ext cx="217467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Customer support</a:t>
            </a:r>
            <a:endParaRPr lang="en-US" sz="1350" dirty="0"/>
          </a:p>
        </p:txBody>
      </p:sp>
      <p:sp>
        <p:nvSpPr>
          <p:cNvPr id="17" name="Text 12"/>
          <p:cNvSpPr/>
          <p:nvPr/>
        </p:nvSpPr>
        <p:spPr>
          <a:xfrm>
            <a:off x="3601136" y="2633472"/>
            <a:ext cx="2174672" cy="56692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Answer from your own documentation and account data, escalate when unsure.</a:t>
            </a:r>
            <a:endParaRPr lang="en-US" sz="1050" dirty="0"/>
          </a:p>
        </p:txBody>
      </p:sp>
      <p:sp>
        <p:nvSpPr>
          <p:cNvPr id="18" name="Text 13"/>
          <p:cNvSpPr/>
          <p:nvPr/>
        </p:nvSpPr>
        <p:spPr>
          <a:xfrm>
            <a:off x="3601136" y="3163824"/>
            <a:ext cx="2174672" cy="237744"/>
          </a:xfrm>
          <a:prstGeom prst="rect">
            <a:avLst/>
          </a:prstGeom>
          <a:noFill/>
          <a:ln/>
        </p:spPr>
        <p:txBody>
          <a:bodyPr wrap="square" lIns="0" tIns="0" rIns="0" bIns="0" rtlCol="0" anchor="ctr"/>
          <a:lstStyle/>
          <a:p>
            <a:pPr indent="0" marL="0">
              <a:buNone/>
            </a:pPr>
            <a:r>
              <a:rPr lang="en-US" sz="850" dirty="0">
                <a:solidFill>
                  <a:srgbClr val="F5A524"/>
                </a:solidFill>
                <a:latin typeface="Courier New" pitchFamily="34" charset="0"/>
                <a:ea typeface="Courier New" pitchFamily="34" charset="-122"/>
                <a:cs typeface="Courier New" pitchFamily="34" charset="-120"/>
              </a:rPr>
              <a:t>search · CRM · ticketing</a:t>
            </a:r>
            <a:endParaRPr lang="en-US" sz="850" dirty="0"/>
          </a:p>
        </p:txBody>
      </p:sp>
      <p:sp>
        <p:nvSpPr>
          <p:cNvPr id="19" name="Shape 14"/>
          <p:cNvSpPr/>
          <p:nvPr/>
        </p:nvSpPr>
        <p:spPr>
          <a:xfrm>
            <a:off x="6196432" y="1627632"/>
            <a:ext cx="2613584" cy="1883664"/>
          </a:xfrm>
          <a:prstGeom prst="roundRect">
            <a:avLst>
              <a:gd name="adj" fmla="val 4854"/>
            </a:avLst>
          </a:prstGeom>
          <a:solidFill>
            <a:srgbClr val="FFFFFF">
              <a:alpha val="9000"/>
            </a:srgbClr>
          </a:solidFill>
          <a:ln w="12700">
            <a:solidFill>
              <a:srgbClr val="6E5FD8"/>
            </a:solidFill>
            <a:prstDash val="solid"/>
          </a:ln>
        </p:spPr>
      </p:sp>
      <p:sp>
        <p:nvSpPr>
          <p:cNvPr id="20" name="Shape 15"/>
          <p:cNvSpPr/>
          <p:nvPr/>
        </p:nvSpPr>
        <p:spPr>
          <a:xfrm>
            <a:off x="6415888" y="1828800"/>
            <a:ext cx="384048" cy="384048"/>
          </a:xfrm>
          <a:prstGeom prst="ellipse">
            <a:avLst/>
          </a:prstGeom>
          <a:solidFill>
            <a:srgbClr val="5B4BE8"/>
          </a:solidFill>
          <a:ln w="12700">
            <a:solidFill>
              <a:srgbClr val="5B4BE8"/>
            </a:solidFill>
            <a:prstDash val="solid"/>
          </a:ln>
        </p:spPr>
      </p:sp>
      <p:pic>
        <p:nvPicPr>
          <p:cNvPr id="21" name="Image 3" descr="preencoded.png">    </p:cNvPr>
          <p:cNvPicPr>
            <a:picLocks noChangeAspect="1"/>
          </p:cNvPicPr>
          <p:nvPr/>
        </p:nvPicPr>
        <p:blipFill>
          <a:blip r:embed="rId4"/>
          <a:stretch>
            <a:fillRect/>
          </a:stretch>
        </p:blipFill>
        <p:spPr>
          <a:xfrm>
            <a:off x="6511900" y="1924812"/>
            <a:ext cx="192024" cy="192024"/>
          </a:xfrm>
          <a:prstGeom prst="rect">
            <a:avLst/>
          </a:prstGeom>
        </p:spPr>
      </p:pic>
      <p:sp>
        <p:nvSpPr>
          <p:cNvPr id="22" name="Text 16"/>
          <p:cNvSpPr/>
          <p:nvPr/>
        </p:nvSpPr>
        <p:spPr>
          <a:xfrm>
            <a:off x="7292111" y="1901952"/>
            <a:ext cx="1298448" cy="219456"/>
          </a:xfrm>
          <a:prstGeom prst="rect">
            <a:avLst/>
          </a:prstGeom>
          <a:noFill/>
          <a:ln/>
        </p:spPr>
        <p:txBody>
          <a:bodyPr wrap="square" lIns="0" tIns="0" rIns="0" bIns="0" rtlCol="0" anchor="ctr"/>
          <a:lstStyle/>
          <a:p>
            <a:pPr algn="r" indent="0" marL="0">
              <a:buNone/>
            </a:pPr>
            <a:r>
              <a:rPr lang="en-US" sz="800" b="1" spc="120" kern="0" dirty="0">
                <a:solidFill>
                  <a:srgbClr val="0E9F6E"/>
                </a:solidFill>
                <a:latin typeface="Calibri" pitchFamily="34" charset="0"/>
                <a:ea typeface="Calibri" pitchFamily="34" charset="-122"/>
                <a:cs typeface="Calibri" pitchFamily="34" charset="-120"/>
              </a:rPr>
              <a:t>IN PRODUCTION</a:t>
            </a:r>
            <a:endParaRPr lang="en-US" sz="800" dirty="0"/>
          </a:p>
        </p:txBody>
      </p:sp>
      <p:sp>
        <p:nvSpPr>
          <p:cNvPr id="23" name="Text 17"/>
          <p:cNvSpPr/>
          <p:nvPr/>
        </p:nvSpPr>
        <p:spPr>
          <a:xfrm>
            <a:off x="6415888" y="2322576"/>
            <a:ext cx="217467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Research and analysis</a:t>
            </a:r>
            <a:endParaRPr lang="en-US" sz="1350" dirty="0"/>
          </a:p>
        </p:txBody>
      </p:sp>
      <p:sp>
        <p:nvSpPr>
          <p:cNvPr id="24" name="Text 18"/>
          <p:cNvSpPr/>
          <p:nvPr/>
        </p:nvSpPr>
        <p:spPr>
          <a:xfrm>
            <a:off x="6415888" y="2633472"/>
            <a:ext cx="2174672" cy="56692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Decompose a question, read many sources, come back with a cited answer.</a:t>
            </a:r>
            <a:endParaRPr lang="en-US" sz="1050" dirty="0"/>
          </a:p>
        </p:txBody>
      </p:sp>
      <p:sp>
        <p:nvSpPr>
          <p:cNvPr id="25" name="Text 19"/>
          <p:cNvSpPr/>
          <p:nvPr/>
        </p:nvSpPr>
        <p:spPr>
          <a:xfrm>
            <a:off x="6415888" y="3163824"/>
            <a:ext cx="2174672" cy="237744"/>
          </a:xfrm>
          <a:prstGeom prst="rect">
            <a:avLst/>
          </a:prstGeom>
          <a:noFill/>
          <a:ln/>
        </p:spPr>
        <p:txBody>
          <a:bodyPr wrap="square" lIns="0" tIns="0" rIns="0" bIns="0" rtlCol="0" anchor="ctr"/>
          <a:lstStyle/>
          <a:p>
            <a:pPr indent="0" marL="0">
              <a:buNone/>
            </a:pPr>
            <a:r>
              <a:rPr lang="en-US" sz="850" dirty="0">
                <a:solidFill>
                  <a:srgbClr val="F5A524"/>
                </a:solidFill>
                <a:latin typeface="Courier New" pitchFamily="34" charset="0"/>
                <a:ea typeface="Courier New" pitchFamily="34" charset="-122"/>
                <a:cs typeface="Courier New" pitchFamily="34" charset="-120"/>
              </a:rPr>
              <a:t>web · documents · corpora</a:t>
            </a:r>
            <a:endParaRPr lang="en-US" sz="850" dirty="0"/>
          </a:p>
        </p:txBody>
      </p:sp>
      <p:sp>
        <p:nvSpPr>
          <p:cNvPr id="26" name="Shape 20"/>
          <p:cNvSpPr/>
          <p:nvPr/>
        </p:nvSpPr>
        <p:spPr>
          <a:xfrm>
            <a:off x="9011183" y="1627632"/>
            <a:ext cx="2613584" cy="1883664"/>
          </a:xfrm>
          <a:prstGeom prst="roundRect">
            <a:avLst>
              <a:gd name="adj" fmla="val 4854"/>
            </a:avLst>
          </a:prstGeom>
          <a:solidFill>
            <a:srgbClr val="FFFFFF">
              <a:alpha val="9000"/>
            </a:srgbClr>
          </a:solidFill>
          <a:ln w="12700">
            <a:solidFill>
              <a:srgbClr val="6E5FD8"/>
            </a:solidFill>
            <a:prstDash val="solid"/>
          </a:ln>
        </p:spPr>
      </p:sp>
      <p:sp>
        <p:nvSpPr>
          <p:cNvPr id="27" name="Shape 21"/>
          <p:cNvSpPr/>
          <p:nvPr/>
        </p:nvSpPr>
        <p:spPr>
          <a:xfrm>
            <a:off x="9230639" y="1828800"/>
            <a:ext cx="384048" cy="384048"/>
          </a:xfrm>
          <a:prstGeom prst="ellipse">
            <a:avLst/>
          </a:prstGeom>
          <a:solidFill>
            <a:srgbClr val="5B4BE8"/>
          </a:solidFill>
          <a:ln w="12700">
            <a:solidFill>
              <a:srgbClr val="5B4BE8"/>
            </a:solidFill>
            <a:prstDash val="solid"/>
          </a:ln>
        </p:spPr>
      </p:sp>
      <p:pic>
        <p:nvPicPr>
          <p:cNvPr id="28" name="Image 4" descr="preencoded.png">    </p:cNvPr>
          <p:cNvPicPr>
            <a:picLocks noChangeAspect="1"/>
          </p:cNvPicPr>
          <p:nvPr/>
        </p:nvPicPr>
        <p:blipFill>
          <a:blip r:embed="rId5"/>
          <a:stretch>
            <a:fillRect/>
          </a:stretch>
        </p:blipFill>
        <p:spPr>
          <a:xfrm>
            <a:off x="9326651" y="1924812"/>
            <a:ext cx="192024" cy="192024"/>
          </a:xfrm>
          <a:prstGeom prst="rect">
            <a:avLst/>
          </a:prstGeom>
        </p:spPr>
      </p:pic>
      <p:sp>
        <p:nvSpPr>
          <p:cNvPr id="29" name="Text 22"/>
          <p:cNvSpPr/>
          <p:nvPr/>
        </p:nvSpPr>
        <p:spPr>
          <a:xfrm>
            <a:off x="10106863" y="1901952"/>
            <a:ext cx="1298448" cy="219456"/>
          </a:xfrm>
          <a:prstGeom prst="rect">
            <a:avLst/>
          </a:prstGeom>
          <a:noFill/>
          <a:ln/>
        </p:spPr>
        <p:txBody>
          <a:bodyPr wrap="square" lIns="0" tIns="0" rIns="0" bIns="0" rtlCol="0" anchor="ctr"/>
          <a:lstStyle/>
          <a:p>
            <a:pPr algn="r" indent="0" marL="0">
              <a:buNone/>
            </a:pPr>
            <a:r>
              <a:rPr lang="en-US" sz="800" b="1" spc="120" kern="0" dirty="0">
                <a:solidFill>
                  <a:srgbClr val="F5A524"/>
                </a:solidFill>
                <a:latin typeface="Calibri" pitchFamily="34" charset="0"/>
                <a:ea typeface="Calibri" pitchFamily="34" charset="-122"/>
                <a:cs typeface="Calibri" pitchFamily="34" charset="-120"/>
              </a:rPr>
              <a:t>EMERGING</a:t>
            </a:r>
            <a:endParaRPr lang="en-US" sz="800" dirty="0"/>
          </a:p>
        </p:txBody>
      </p:sp>
      <p:sp>
        <p:nvSpPr>
          <p:cNvPr id="30" name="Text 23"/>
          <p:cNvSpPr/>
          <p:nvPr/>
        </p:nvSpPr>
        <p:spPr>
          <a:xfrm>
            <a:off x="9230639" y="2322576"/>
            <a:ext cx="217467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 and BI</a:t>
            </a:r>
            <a:endParaRPr lang="en-US" sz="1350" dirty="0"/>
          </a:p>
        </p:txBody>
      </p:sp>
      <p:sp>
        <p:nvSpPr>
          <p:cNvPr id="31" name="Text 24"/>
          <p:cNvSpPr/>
          <p:nvPr/>
        </p:nvSpPr>
        <p:spPr>
          <a:xfrm>
            <a:off x="9230639" y="2633472"/>
            <a:ext cx="2174672" cy="56692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Turn a business question into a query and a chart, then explain the result.</a:t>
            </a:r>
            <a:endParaRPr lang="en-US" sz="1050" dirty="0"/>
          </a:p>
        </p:txBody>
      </p:sp>
      <p:sp>
        <p:nvSpPr>
          <p:cNvPr id="32" name="Text 25"/>
          <p:cNvSpPr/>
          <p:nvPr/>
        </p:nvSpPr>
        <p:spPr>
          <a:xfrm>
            <a:off x="9230639" y="3163824"/>
            <a:ext cx="2174672" cy="237744"/>
          </a:xfrm>
          <a:prstGeom prst="rect">
            <a:avLst/>
          </a:prstGeom>
          <a:noFill/>
          <a:ln/>
        </p:spPr>
        <p:txBody>
          <a:bodyPr wrap="square" lIns="0" tIns="0" rIns="0" bIns="0" rtlCol="0" anchor="ctr"/>
          <a:lstStyle/>
          <a:p>
            <a:pPr indent="0" marL="0">
              <a:buNone/>
            </a:pPr>
            <a:r>
              <a:rPr lang="en-US" sz="850" dirty="0">
                <a:solidFill>
                  <a:srgbClr val="F5A524"/>
                </a:solidFill>
                <a:latin typeface="Courier New" pitchFamily="34" charset="0"/>
                <a:ea typeface="Courier New" pitchFamily="34" charset="-122"/>
                <a:cs typeface="Courier New" pitchFamily="34" charset="-120"/>
              </a:rPr>
              <a:t>SQL · notebooks · charts</a:t>
            </a:r>
            <a:endParaRPr lang="en-US" sz="850" dirty="0"/>
          </a:p>
        </p:txBody>
      </p:sp>
      <p:sp>
        <p:nvSpPr>
          <p:cNvPr id="33" name="Shape 26"/>
          <p:cNvSpPr/>
          <p:nvPr/>
        </p:nvSpPr>
        <p:spPr>
          <a:xfrm>
            <a:off x="566928" y="3712464"/>
            <a:ext cx="2613584" cy="1883664"/>
          </a:xfrm>
          <a:prstGeom prst="roundRect">
            <a:avLst>
              <a:gd name="adj" fmla="val 4854"/>
            </a:avLst>
          </a:prstGeom>
          <a:solidFill>
            <a:srgbClr val="FFFFFF">
              <a:alpha val="9000"/>
            </a:srgbClr>
          </a:solidFill>
          <a:ln w="12700">
            <a:solidFill>
              <a:srgbClr val="6E5FD8"/>
            </a:solidFill>
            <a:prstDash val="solid"/>
          </a:ln>
        </p:spPr>
      </p:sp>
      <p:sp>
        <p:nvSpPr>
          <p:cNvPr id="34" name="Shape 27"/>
          <p:cNvSpPr/>
          <p:nvPr/>
        </p:nvSpPr>
        <p:spPr>
          <a:xfrm>
            <a:off x="786384" y="3913632"/>
            <a:ext cx="384048" cy="384048"/>
          </a:xfrm>
          <a:prstGeom prst="ellipse">
            <a:avLst/>
          </a:prstGeom>
          <a:solidFill>
            <a:srgbClr val="5B4BE8"/>
          </a:solidFill>
          <a:ln w="12700">
            <a:solidFill>
              <a:srgbClr val="5B4BE8"/>
            </a:solidFill>
            <a:prstDash val="solid"/>
          </a:ln>
        </p:spPr>
      </p:sp>
      <p:pic>
        <p:nvPicPr>
          <p:cNvPr id="35" name="Image 5" descr="preencoded.png">    </p:cNvPr>
          <p:cNvPicPr>
            <a:picLocks noChangeAspect="1"/>
          </p:cNvPicPr>
          <p:nvPr/>
        </p:nvPicPr>
        <p:blipFill>
          <a:blip r:embed="rId6"/>
          <a:stretch>
            <a:fillRect/>
          </a:stretch>
        </p:blipFill>
        <p:spPr>
          <a:xfrm>
            <a:off x="882396" y="4009644"/>
            <a:ext cx="192024" cy="192024"/>
          </a:xfrm>
          <a:prstGeom prst="rect">
            <a:avLst/>
          </a:prstGeom>
        </p:spPr>
      </p:pic>
      <p:sp>
        <p:nvSpPr>
          <p:cNvPr id="36" name="Text 28"/>
          <p:cNvSpPr/>
          <p:nvPr/>
        </p:nvSpPr>
        <p:spPr>
          <a:xfrm>
            <a:off x="1662608" y="3986784"/>
            <a:ext cx="1298448" cy="219456"/>
          </a:xfrm>
          <a:prstGeom prst="rect">
            <a:avLst/>
          </a:prstGeom>
          <a:noFill/>
          <a:ln/>
        </p:spPr>
        <p:txBody>
          <a:bodyPr wrap="square" lIns="0" tIns="0" rIns="0" bIns="0" rtlCol="0" anchor="ctr"/>
          <a:lstStyle/>
          <a:p>
            <a:pPr algn="r" indent="0" marL="0">
              <a:buNone/>
            </a:pPr>
            <a:r>
              <a:rPr lang="en-US" sz="800" b="1" spc="120" kern="0" dirty="0">
                <a:solidFill>
                  <a:srgbClr val="F5A524"/>
                </a:solidFill>
                <a:latin typeface="Calibri" pitchFamily="34" charset="0"/>
                <a:ea typeface="Calibri" pitchFamily="34" charset="-122"/>
                <a:cs typeface="Calibri" pitchFamily="34" charset="-120"/>
              </a:rPr>
              <a:t>EMERGING</a:t>
            </a:r>
            <a:endParaRPr lang="en-US" sz="800" dirty="0"/>
          </a:p>
        </p:txBody>
      </p:sp>
      <p:sp>
        <p:nvSpPr>
          <p:cNvPr id="37" name="Text 29"/>
          <p:cNvSpPr/>
          <p:nvPr/>
        </p:nvSpPr>
        <p:spPr>
          <a:xfrm>
            <a:off x="786384" y="4407408"/>
            <a:ext cx="217467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Back office and finance</a:t>
            </a:r>
            <a:endParaRPr lang="en-US" sz="1350" dirty="0"/>
          </a:p>
        </p:txBody>
      </p:sp>
      <p:sp>
        <p:nvSpPr>
          <p:cNvPr id="38" name="Text 30"/>
          <p:cNvSpPr/>
          <p:nvPr/>
        </p:nvSpPr>
        <p:spPr>
          <a:xfrm>
            <a:off x="786384" y="4718304"/>
            <a:ext cx="2174672" cy="56692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Read a messy document, reconcile it, propose the entry for approval.</a:t>
            </a:r>
            <a:endParaRPr lang="en-US" sz="1050" dirty="0"/>
          </a:p>
        </p:txBody>
      </p:sp>
      <p:sp>
        <p:nvSpPr>
          <p:cNvPr id="39" name="Text 31"/>
          <p:cNvSpPr/>
          <p:nvPr/>
        </p:nvSpPr>
        <p:spPr>
          <a:xfrm>
            <a:off x="786384" y="5248656"/>
            <a:ext cx="2174672" cy="237744"/>
          </a:xfrm>
          <a:prstGeom prst="rect">
            <a:avLst/>
          </a:prstGeom>
          <a:noFill/>
          <a:ln/>
        </p:spPr>
        <p:txBody>
          <a:bodyPr wrap="square" lIns="0" tIns="0" rIns="0" bIns="0" rtlCol="0" anchor="ctr"/>
          <a:lstStyle/>
          <a:p>
            <a:pPr indent="0" marL="0">
              <a:buNone/>
            </a:pPr>
            <a:r>
              <a:rPr lang="en-US" sz="850" dirty="0">
                <a:solidFill>
                  <a:srgbClr val="F5A524"/>
                </a:solidFill>
                <a:latin typeface="Courier New" pitchFamily="34" charset="0"/>
                <a:ea typeface="Courier New" pitchFamily="34" charset="-122"/>
                <a:cs typeface="Courier New" pitchFamily="34" charset="-120"/>
              </a:rPr>
              <a:t>ERP · documents · email</a:t>
            </a:r>
            <a:endParaRPr lang="en-US" sz="850" dirty="0"/>
          </a:p>
        </p:txBody>
      </p:sp>
      <p:sp>
        <p:nvSpPr>
          <p:cNvPr id="40" name="Shape 32"/>
          <p:cNvSpPr/>
          <p:nvPr/>
        </p:nvSpPr>
        <p:spPr>
          <a:xfrm>
            <a:off x="3381680" y="3712464"/>
            <a:ext cx="2613584" cy="1883664"/>
          </a:xfrm>
          <a:prstGeom prst="roundRect">
            <a:avLst>
              <a:gd name="adj" fmla="val 4854"/>
            </a:avLst>
          </a:prstGeom>
          <a:solidFill>
            <a:srgbClr val="FFFFFF">
              <a:alpha val="9000"/>
            </a:srgbClr>
          </a:solidFill>
          <a:ln w="12700">
            <a:solidFill>
              <a:srgbClr val="6E5FD8"/>
            </a:solidFill>
            <a:prstDash val="solid"/>
          </a:ln>
        </p:spPr>
      </p:sp>
      <p:sp>
        <p:nvSpPr>
          <p:cNvPr id="41" name="Shape 33"/>
          <p:cNvSpPr/>
          <p:nvPr/>
        </p:nvSpPr>
        <p:spPr>
          <a:xfrm>
            <a:off x="3601136" y="3913632"/>
            <a:ext cx="384048" cy="384048"/>
          </a:xfrm>
          <a:prstGeom prst="ellipse">
            <a:avLst/>
          </a:prstGeom>
          <a:solidFill>
            <a:srgbClr val="5B4BE8"/>
          </a:solidFill>
          <a:ln w="12700">
            <a:solidFill>
              <a:srgbClr val="5B4BE8"/>
            </a:solidFill>
            <a:prstDash val="solid"/>
          </a:ln>
        </p:spPr>
      </p:sp>
      <p:pic>
        <p:nvPicPr>
          <p:cNvPr id="42" name="Image 6" descr="preencoded.png">    </p:cNvPr>
          <p:cNvPicPr>
            <a:picLocks noChangeAspect="1"/>
          </p:cNvPicPr>
          <p:nvPr/>
        </p:nvPicPr>
        <p:blipFill>
          <a:blip r:embed="rId7"/>
          <a:stretch>
            <a:fillRect/>
          </a:stretch>
        </p:blipFill>
        <p:spPr>
          <a:xfrm>
            <a:off x="3697148" y="4009644"/>
            <a:ext cx="192024" cy="192024"/>
          </a:xfrm>
          <a:prstGeom prst="rect">
            <a:avLst/>
          </a:prstGeom>
        </p:spPr>
      </p:pic>
      <p:sp>
        <p:nvSpPr>
          <p:cNvPr id="43" name="Text 34"/>
          <p:cNvSpPr/>
          <p:nvPr/>
        </p:nvSpPr>
        <p:spPr>
          <a:xfrm>
            <a:off x="4477360" y="3986784"/>
            <a:ext cx="1298448" cy="219456"/>
          </a:xfrm>
          <a:prstGeom prst="rect">
            <a:avLst/>
          </a:prstGeom>
          <a:noFill/>
          <a:ln/>
        </p:spPr>
        <p:txBody>
          <a:bodyPr wrap="square" lIns="0" tIns="0" rIns="0" bIns="0" rtlCol="0" anchor="ctr"/>
          <a:lstStyle/>
          <a:p>
            <a:pPr algn="r" indent="0" marL="0">
              <a:buNone/>
            </a:pPr>
            <a:r>
              <a:rPr lang="en-US" sz="800" b="1" spc="120" kern="0" dirty="0">
                <a:solidFill>
                  <a:srgbClr val="F5A524"/>
                </a:solidFill>
                <a:latin typeface="Calibri" pitchFamily="34" charset="0"/>
                <a:ea typeface="Calibri" pitchFamily="34" charset="-122"/>
                <a:cs typeface="Calibri" pitchFamily="34" charset="-120"/>
              </a:rPr>
              <a:t>EMERGING</a:t>
            </a:r>
            <a:endParaRPr lang="en-US" sz="800" dirty="0"/>
          </a:p>
        </p:txBody>
      </p:sp>
      <p:sp>
        <p:nvSpPr>
          <p:cNvPr id="44" name="Text 35"/>
          <p:cNvSpPr/>
          <p:nvPr/>
        </p:nvSpPr>
        <p:spPr>
          <a:xfrm>
            <a:off x="3601136" y="4407408"/>
            <a:ext cx="217467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Ops, SRE and security</a:t>
            </a:r>
            <a:endParaRPr lang="en-US" sz="1350" dirty="0"/>
          </a:p>
        </p:txBody>
      </p:sp>
      <p:sp>
        <p:nvSpPr>
          <p:cNvPr id="45" name="Text 36"/>
          <p:cNvSpPr/>
          <p:nvPr/>
        </p:nvSpPr>
        <p:spPr>
          <a:xfrm>
            <a:off x="3601136" y="4718304"/>
            <a:ext cx="2174672" cy="56692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Triage an alert, correlate logs, propose or apply a remediation.</a:t>
            </a:r>
            <a:endParaRPr lang="en-US" sz="1050" dirty="0"/>
          </a:p>
        </p:txBody>
      </p:sp>
      <p:sp>
        <p:nvSpPr>
          <p:cNvPr id="46" name="Text 37"/>
          <p:cNvSpPr/>
          <p:nvPr/>
        </p:nvSpPr>
        <p:spPr>
          <a:xfrm>
            <a:off x="3601136" y="5248656"/>
            <a:ext cx="2174672" cy="237744"/>
          </a:xfrm>
          <a:prstGeom prst="rect">
            <a:avLst/>
          </a:prstGeom>
          <a:noFill/>
          <a:ln/>
        </p:spPr>
        <p:txBody>
          <a:bodyPr wrap="square" lIns="0" tIns="0" rIns="0" bIns="0" rtlCol="0" anchor="ctr"/>
          <a:lstStyle/>
          <a:p>
            <a:pPr indent="0" marL="0">
              <a:buNone/>
            </a:pPr>
            <a:r>
              <a:rPr lang="en-US" sz="850" dirty="0">
                <a:solidFill>
                  <a:srgbClr val="F5A524"/>
                </a:solidFill>
                <a:latin typeface="Courier New" pitchFamily="34" charset="0"/>
                <a:ea typeface="Courier New" pitchFamily="34" charset="-122"/>
                <a:cs typeface="Courier New" pitchFamily="34" charset="-120"/>
              </a:rPr>
              <a:t>telemetry · runbooks · APIs</a:t>
            </a:r>
            <a:endParaRPr lang="en-US" sz="850" dirty="0"/>
          </a:p>
        </p:txBody>
      </p:sp>
      <p:sp>
        <p:nvSpPr>
          <p:cNvPr id="47" name="Shape 38"/>
          <p:cNvSpPr/>
          <p:nvPr/>
        </p:nvSpPr>
        <p:spPr>
          <a:xfrm>
            <a:off x="6196432" y="3712464"/>
            <a:ext cx="2613584" cy="1883664"/>
          </a:xfrm>
          <a:prstGeom prst="roundRect">
            <a:avLst>
              <a:gd name="adj" fmla="val 4854"/>
            </a:avLst>
          </a:prstGeom>
          <a:solidFill>
            <a:srgbClr val="FFFFFF">
              <a:alpha val="9000"/>
            </a:srgbClr>
          </a:solidFill>
          <a:ln w="12700">
            <a:solidFill>
              <a:srgbClr val="6E5FD8"/>
            </a:solidFill>
            <a:prstDash val="solid"/>
          </a:ln>
        </p:spPr>
      </p:sp>
      <p:sp>
        <p:nvSpPr>
          <p:cNvPr id="48" name="Shape 39"/>
          <p:cNvSpPr/>
          <p:nvPr/>
        </p:nvSpPr>
        <p:spPr>
          <a:xfrm>
            <a:off x="6415888" y="3913632"/>
            <a:ext cx="384048" cy="384048"/>
          </a:xfrm>
          <a:prstGeom prst="ellipse">
            <a:avLst/>
          </a:prstGeom>
          <a:solidFill>
            <a:srgbClr val="5B4BE8"/>
          </a:solidFill>
          <a:ln w="12700">
            <a:solidFill>
              <a:srgbClr val="5B4BE8"/>
            </a:solidFill>
            <a:prstDash val="solid"/>
          </a:ln>
        </p:spPr>
      </p:sp>
      <p:pic>
        <p:nvPicPr>
          <p:cNvPr id="49" name="Image 7" descr="preencoded.png">    </p:cNvPr>
          <p:cNvPicPr>
            <a:picLocks noChangeAspect="1"/>
          </p:cNvPicPr>
          <p:nvPr/>
        </p:nvPicPr>
        <p:blipFill>
          <a:blip r:embed="rId8"/>
          <a:stretch>
            <a:fillRect/>
          </a:stretch>
        </p:blipFill>
        <p:spPr>
          <a:xfrm>
            <a:off x="6511900" y="4009644"/>
            <a:ext cx="192024" cy="192024"/>
          </a:xfrm>
          <a:prstGeom prst="rect">
            <a:avLst/>
          </a:prstGeom>
        </p:spPr>
      </p:pic>
      <p:sp>
        <p:nvSpPr>
          <p:cNvPr id="50" name="Text 40"/>
          <p:cNvSpPr/>
          <p:nvPr/>
        </p:nvSpPr>
        <p:spPr>
          <a:xfrm>
            <a:off x="7292111" y="3986784"/>
            <a:ext cx="1298448" cy="219456"/>
          </a:xfrm>
          <a:prstGeom prst="rect">
            <a:avLst/>
          </a:prstGeom>
          <a:noFill/>
          <a:ln/>
        </p:spPr>
        <p:txBody>
          <a:bodyPr wrap="square" lIns="0" tIns="0" rIns="0" bIns="0" rtlCol="0" anchor="ctr"/>
          <a:lstStyle/>
          <a:p>
            <a:pPr algn="r" indent="0" marL="0">
              <a:buNone/>
            </a:pPr>
            <a:r>
              <a:rPr lang="en-US" sz="800" b="1" spc="120" kern="0" dirty="0">
                <a:solidFill>
                  <a:srgbClr val="9B98B4"/>
                </a:solidFill>
                <a:latin typeface="Calibri" pitchFamily="34" charset="0"/>
                <a:ea typeface="Calibri" pitchFamily="34" charset="-122"/>
                <a:cs typeface="Calibri" pitchFamily="34" charset="-120"/>
              </a:rPr>
              <a:t>EARLY</a:t>
            </a:r>
            <a:endParaRPr lang="en-US" sz="800" dirty="0"/>
          </a:p>
        </p:txBody>
      </p:sp>
      <p:sp>
        <p:nvSpPr>
          <p:cNvPr id="51" name="Text 41"/>
          <p:cNvSpPr/>
          <p:nvPr/>
        </p:nvSpPr>
        <p:spPr>
          <a:xfrm>
            <a:off x="6415888" y="4407408"/>
            <a:ext cx="217467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Browser and computer use</a:t>
            </a:r>
            <a:endParaRPr lang="en-US" sz="1350" dirty="0"/>
          </a:p>
        </p:txBody>
      </p:sp>
      <p:sp>
        <p:nvSpPr>
          <p:cNvPr id="52" name="Text 42"/>
          <p:cNvSpPr/>
          <p:nvPr/>
        </p:nvSpPr>
        <p:spPr>
          <a:xfrm>
            <a:off x="6415888" y="4718304"/>
            <a:ext cx="2174672" cy="56692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Drive a real interface when there is no API to call.</a:t>
            </a:r>
            <a:endParaRPr lang="en-US" sz="1050" dirty="0"/>
          </a:p>
        </p:txBody>
      </p:sp>
      <p:sp>
        <p:nvSpPr>
          <p:cNvPr id="53" name="Text 43"/>
          <p:cNvSpPr/>
          <p:nvPr/>
        </p:nvSpPr>
        <p:spPr>
          <a:xfrm>
            <a:off x="6415888" y="5248656"/>
            <a:ext cx="2174672" cy="237744"/>
          </a:xfrm>
          <a:prstGeom prst="rect">
            <a:avLst/>
          </a:prstGeom>
          <a:noFill/>
          <a:ln/>
        </p:spPr>
        <p:txBody>
          <a:bodyPr wrap="square" lIns="0" tIns="0" rIns="0" bIns="0" rtlCol="0" anchor="ctr"/>
          <a:lstStyle/>
          <a:p>
            <a:pPr indent="0" marL="0">
              <a:buNone/>
            </a:pPr>
            <a:r>
              <a:rPr lang="en-US" sz="850" dirty="0">
                <a:solidFill>
                  <a:srgbClr val="F5A524"/>
                </a:solidFill>
                <a:latin typeface="Courier New" pitchFamily="34" charset="0"/>
                <a:ea typeface="Courier New" pitchFamily="34" charset="-122"/>
                <a:cs typeface="Courier New" pitchFamily="34" charset="-120"/>
              </a:rPr>
              <a:t>screen · keyboard · mouse</a:t>
            </a:r>
            <a:endParaRPr lang="en-US" sz="850" dirty="0"/>
          </a:p>
        </p:txBody>
      </p:sp>
      <p:sp>
        <p:nvSpPr>
          <p:cNvPr id="54" name="Shape 44"/>
          <p:cNvSpPr/>
          <p:nvPr/>
        </p:nvSpPr>
        <p:spPr>
          <a:xfrm>
            <a:off x="9011183" y="3712464"/>
            <a:ext cx="2613584" cy="1883664"/>
          </a:xfrm>
          <a:prstGeom prst="roundRect">
            <a:avLst>
              <a:gd name="adj" fmla="val 4854"/>
            </a:avLst>
          </a:prstGeom>
          <a:solidFill>
            <a:srgbClr val="FFFFFF">
              <a:alpha val="9000"/>
            </a:srgbClr>
          </a:solidFill>
          <a:ln w="12700">
            <a:solidFill>
              <a:srgbClr val="6E5FD8"/>
            </a:solidFill>
            <a:prstDash val="solid"/>
          </a:ln>
        </p:spPr>
      </p:sp>
      <p:sp>
        <p:nvSpPr>
          <p:cNvPr id="55" name="Shape 45"/>
          <p:cNvSpPr/>
          <p:nvPr/>
        </p:nvSpPr>
        <p:spPr>
          <a:xfrm>
            <a:off x="9230639" y="3913632"/>
            <a:ext cx="384048" cy="384048"/>
          </a:xfrm>
          <a:prstGeom prst="ellipse">
            <a:avLst/>
          </a:prstGeom>
          <a:solidFill>
            <a:srgbClr val="5B4BE8"/>
          </a:solidFill>
          <a:ln w="12700">
            <a:solidFill>
              <a:srgbClr val="5B4BE8"/>
            </a:solidFill>
            <a:prstDash val="solid"/>
          </a:ln>
        </p:spPr>
      </p:sp>
      <p:pic>
        <p:nvPicPr>
          <p:cNvPr id="56" name="Image 8" descr="preencoded.png">    </p:cNvPr>
          <p:cNvPicPr>
            <a:picLocks noChangeAspect="1"/>
          </p:cNvPicPr>
          <p:nvPr/>
        </p:nvPicPr>
        <p:blipFill>
          <a:blip r:embed="rId9"/>
          <a:stretch>
            <a:fillRect/>
          </a:stretch>
        </p:blipFill>
        <p:spPr>
          <a:xfrm>
            <a:off x="9326651" y="4009644"/>
            <a:ext cx="192024" cy="192024"/>
          </a:xfrm>
          <a:prstGeom prst="rect">
            <a:avLst/>
          </a:prstGeom>
        </p:spPr>
      </p:pic>
      <p:sp>
        <p:nvSpPr>
          <p:cNvPr id="57" name="Text 46"/>
          <p:cNvSpPr/>
          <p:nvPr/>
        </p:nvSpPr>
        <p:spPr>
          <a:xfrm>
            <a:off x="10106863" y="3986784"/>
            <a:ext cx="1298448" cy="219456"/>
          </a:xfrm>
          <a:prstGeom prst="rect">
            <a:avLst/>
          </a:prstGeom>
          <a:noFill/>
          <a:ln/>
        </p:spPr>
        <p:txBody>
          <a:bodyPr wrap="square" lIns="0" tIns="0" rIns="0" bIns="0" rtlCol="0" anchor="ctr"/>
          <a:lstStyle/>
          <a:p>
            <a:pPr algn="r" indent="0" marL="0">
              <a:buNone/>
            </a:pPr>
            <a:r>
              <a:rPr lang="en-US" sz="800" b="1" spc="120" kern="0" dirty="0">
                <a:solidFill>
                  <a:srgbClr val="9B98B4"/>
                </a:solidFill>
                <a:latin typeface="Calibri" pitchFamily="34" charset="0"/>
                <a:ea typeface="Calibri" pitchFamily="34" charset="-122"/>
                <a:cs typeface="Calibri" pitchFamily="34" charset="-120"/>
              </a:rPr>
              <a:t>EARLY</a:t>
            </a:r>
            <a:endParaRPr lang="en-US" sz="800" dirty="0"/>
          </a:p>
        </p:txBody>
      </p:sp>
      <p:sp>
        <p:nvSpPr>
          <p:cNvPr id="58" name="Text 47"/>
          <p:cNvSpPr/>
          <p:nvPr/>
        </p:nvSpPr>
        <p:spPr>
          <a:xfrm>
            <a:off x="9230639" y="4407408"/>
            <a:ext cx="217467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Physical and embodied</a:t>
            </a:r>
            <a:endParaRPr lang="en-US" sz="1350" dirty="0"/>
          </a:p>
        </p:txBody>
      </p:sp>
      <p:sp>
        <p:nvSpPr>
          <p:cNvPr id="59" name="Text 48"/>
          <p:cNvSpPr/>
          <p:nvPr/>
        </p:nvSpPr>
        <p:spPr>
          <a:xfrm>
            <a:off x="9230639" y="4718304"/>
            <a:ext cx="2174672" cy="566928"/>
          </a:xfrm>
          <a:prstGeom prst="rect">
            <a:avLst/>
          </a:prstGeom>
          <a:noFill/>
          <a:ln/>
        </p:spPr>
        <p:txBody>
          <a:bodyPr wrap="square" lIns="0" tIns="0" rIns="0" bIns="0" rtlCol="0" anchor="t"/>
          <a:lstStyle/>
          <a:p>
            <a:pPr indent="0" marL="0">
              <a:lnSpc>
                <a:spcPct val="112000"/>
              </a:lnSpc>
              <a:buNone/>
            </a:pPr>
            <a:r>
              <a:rPr lang="en-US" sz="1050" dirty="0">
                <a:solidFill>
                  <a:srgbClr val="B9B4E0"/>
                </a:solidFill>
                <a:latin typeface="Calibri" pitchFamily="34" charset="0"/>
                <a:ea typeface="Calibri" pitchFamily="34" charset="-122"/>
                <a:cs typeface="Calibri" pitchFamily="34" charset="-120"/>
              </a:rPr>
              <a:t>Perception and action in the world rather than in software.</a:t>
            </a:r>
            <a:endParaRPr lang="en-US" sz="1050" dirty="0"/>
          </a:p>
        </p:txBody>
      </p:sp>
      <p:sp>
        <p:nvSpPr>
          <p:cNvPr id="60" name="Text 49"/>
          <p:cNvSpPr/>
          <p:nvPr/>
        </p:nvSpPr>
        <p:spPr>
          <a:xfrm>
            <a:off x="9230639" y="5248656"/>
            <a:ext cx="2174672" cy="237744"/>
          </a:xfrm>
          <a:prstGeom prst="rect">
            <a:avLst/>
          </a:prstGeom>
          <a:noFill/>
          <a:ln/>
        </p:spPr>
        <p:txBody>
          <a:bodyPr wrap="square" lIns="0" tIns="0" rIns="0" bIns="0" rtlCol="0" anchor="ctr"/>
          <a:lstStyle/>
          <a:p>
            <a:pPr indent="0" marL="0">
              <a:buNone/>
            </a:pPr>
            <a:r>
              <a:rPr lang="en-US" sz="850" dirty="0">
                <a:solidFill>
                  <a:srgbClr val="F5A524"/>
                </a:solidFill>
                <a:latin typeface="Courier New" pitchFamily="34" charset="0"/>
                <a:ea typeface="Courier New" pitchFamily="34" charset="-122"/>
                <a:cs typeface="Courier New" pitchFamily="34" charset="-120"/>
              </a:rPr>
              <a:t>sensors · actuators</a:t>
            </a:r>
            <a:endParaRPr lang="en-US" sz="850" dirty="0"/>
          </a:p>
        </p:txBody>
      </p:sp>
      <p:sp>
        <p:nvSpPr>
          <p:cNvPr id="61" name="Text 50"/>
          <p:cNvSpPr/>
          <p:nvPr/>
        </p:nvSpPr>
        <p:spPr>
          <a:xfrm>
            <a:off x="566928" y="5669280"/>
            <a:ext cx="11057839" cy="310896"/>
          </a:xfrm>
          <a:prstGeom prst="rect">
            <a:avLst/>
          </a:prstGeom>
          <a:noFill/>
          <a:ln/>
        </p:spPr>
        <p:txBody>
          <a:bodyPr wrap="square" lIns="0" tIns="0" rIns="0" bIns="0" rtlCol="0" anchor="ctr"/>
          <a:lstStyle/>
          <a:p>
            <a:pPr indent="0" marL="0">
              <a:buNone/>
            </a:pPr>
            <a:r>
              <a:rPr lang="en-US" sz="1400" i="1" dirty="0">
                <a:solidFill>
                  <a:srgbClr val="DCD8FF"/>
                </a:solidFill>
                <a:latin typeface="Calibri" pitchFamily="34" charset="0"/>
                <a:ea typeface="Calibri" pitchFamily="34" charset="-122"/>
                <a:cs typeface="Calibri" pitchFamily="34" charset="-120"/>
              </a:rPr>
              <a:t>Same loop underneath all eight. What changes is the tools it can reach — and how expensive it is to be wrong.</a:t>
            </a:r>
            <a:endParaRPr lang="en-US" sz="1400" dirty="0"/>
          </a:p>
        </p:txBody>
      </p:sp>
      <p:sp>
        <p:nvSpPr>
          <p:cNvPr id="62" name="Text 51"/>
          <p:cNvSpPr/>
          <p:nvPr/>
        </p:nvSpPr>
        <p:spPr>
          <a:xfrm>
            <a:off x="566928" y="6035040"/>
            <a:ext cx="11057839" cy="256032"/>
          </a:xfrm>
          <a:prstGeom prst="rect">
            <a:avLst/>
          </a:prstGeom>
          <a:noFill/>
          <a:ln/>
        </p:spPr>
        <p:txBody>
          <a:bodyPr wrap="square" lIns="0" tIns="0" rIns="0" bIns="0" rtlCol="0" anchor="ctr"/>
          <a:lstStyle/>
          <a:p>
            <a:pPr indent="0" marL="0">
              <a:buNone/>
            </a:pPr>
            <a:r>
              <a:rPr lang="en-US" sz="950" dirty="0">
                <a:solidFill>
                  <a:srgbClr val="8B86C0"/>
                </a:solidFill>
                <a:latin typeface="Calibri" pitchFamily="34" charset="0"/>
                <a:ea typeface="Calibri" pitchFamily="34" charset="-122"/>
                <a:cs typeface="Calibri" pitchFamily="34" charset="-120"/>
              </a:rPr>
              <a:t>Maturity is my read as of August 2026, not a published index. The top row is where enterprises are already running things unattended; the bottom row is where the demos are.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Coding agents got there first, and that is not a coincidence</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Software happened to have five properties almost no other domain has. Knowing which ones your domain is missing tells you how hard your project will be.</a:t>
            </a:r>
            <a:endParaRPr lang="en-US" sz="1400" dirty="0"/>
          </a:p>
        </p:txBody>
      </p:sp>
      <p:sp>
        <p:nvSpPr>
          <p:cNvPr id="5" name="Shape 3"/>
          <p:cNvSpPr/>
          <p:nvPr/>
        </p:nvSpPr>
        <p:spPr>
          <a:xfrm>
            <a:off x="566928" y="19751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194560"/>
            <a:ext cx="365760" cy="365760"/>
          </a:xfrm>
          <a:prstGeom prst="ellipse">
            <a:avLst/>
          </a:prstGeom>
          <a:solidFill>
            <a:srgbClr val="0E9F6E"/>
          </a:solidFill>
          <a:ln w="12700">
            <a:solidFill>
              <a:srgbClr val="0E9F6E"/>
            </a:solidFill>
            <a:prstDash val="solid"/>
          </a:ln>
        </p:spPr>
      </p:sp>
      <p:pic>
        <p:nvPicPr>
          <p:cNvPr id="7" name="Image 0" descr="preencoded.png">    </p:cNvPr>
          <p:cNvPicPr>
            <a:picLocks noChangeAspect="1"/>
          </p:cNvPicPr>
          <p:nvPr/>
        </p:nvPicPr>
        <p:blipFill>
          <a:blip r:embed="rId1"/>
          <a:stretch>
            <a:fillRect/>
          </a:stretch>
        </p:blipFill>
        <p:spPr>
          <a:xfrm>
            <a:off x="896112" y="2286000"/>
            <a:ext cx="182880" cy="182880"/>
          </a:xfrm>
          <a:prstGeom prst="rect">
            <a:avLst/>
          </a:prstGeom>
        </p:spPr>
      </p:pic>
      <p:sp>
        <p:nvSpPr>
          <p:cNvPr id="8" name="Text 5"/>
          <p:cNvSpPr/>
          <p:nvPr/>
        </p:nvSpPr>
        <p:spPr>
          <a:xfrm>
            <a:off x="1298448" y="21854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PROPERTY 1</a:t>
            </a:r>
            <a:endParaRPr lang="en-US" sz="850" dirty="0"/>
          </a:p>
        </p:txBody>
      </p:sp>
      <p:sp>
        <p:nvSpPr>
          <p:cNvPr id="9" name="Text 6"/>
          <p:cNvSpPr/>
          <p:nvPr/>
        </p:nvSpPr>
        <p:spPr>
          <a:xfrm>
            <a:off x="1298448" y="2404872"/>
            <a:ext cx="2558186"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A built-in oracle</a:t>
            </a:r>
            <a:endParaRPr lang="en-US" sz="1350" dirty="0"/>
          </a:p>
        </p:txBody>
      </p:sp>
      <p:sp>
        <p:nvSpPr>
          <p:cNvPr id="10" name="Text 7"/>
          <p:cNvSpPr/>
          <p:nvPr/>
        </p:nvSpPr>
        <p:spPr>
          <a:xfrm>
            <a:off x="1298448" y="2736433"/>
            <a:ext cx="2558186" cy="64684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Tests, compilers and type checkers say “wrong” without a human. The agent can grade itself and try again. Most domains have no equivalent.</a:t>
            </a:r>
            <a:endParaRPr lang="en-US" sz="1100" dirty="0"/>
          </a:p>
        </p:txBody>
      </p:sp>
      <p:sp>
        <p:nvSpPr>
          <p:cNvPr id="11" name="Shape 8"/>
          <p:cNvSpPr/>
          <p:nvPr/>
        </p:nvSpPr>
        <p:spPr>
          <a:xfrm>
            <a:off x="4332122" y="19751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4569866" y="2194560"/>
            <a:ext cx="365760" cy="365760"/>
          </a:xfrm>
          <a:prstGeom prst="ellipse">
            <a:avLst/>
          </a:prstGeom>
          <a:solidFill>
            <a:srgbClr val="0E9F6E"/>
          </a:solidFill>
          <a:ln w="12700">
            <a:solidFill>
              <a:srgbClr val="0E9F6E"/>
            </a:solidFill>
            <a:prstDash val="solid"/>
          </a:ln>
        </p:spPr>
      </p:sp>
      <p:pic>
        <p:nvPicPr>
          <p:cNvPr id="13" name="Image 1" descr="preencoded.png">    </p:cNvPr>
          <p:cNvPicPr>
            <a:picLocks noChangeAspect="1"/>
          </p:cNvPicPr>
          <p:nvPr/>
        </p:nvPicPr>
        <p:blipFill>
          <a:blip r:embed="rId2"/>
          <a:stretch>
            <a:fillRect/>
          </a:stretch>
        </p:blipFill>
        <p:spPr>
          <a:xfrm>
            <a:off x="4661306" y="2286000"/>
            <a:ext cx="182880" cy="182880"/>
          </a:xfrm>
          <a:prstGeom prst="rect">
            <a:avLst/>
          </a:prstGeom>
        </p:spPr>
      </p:pic>
      <p:sp>
        <p:nvSpPr>
          <p:cNvPr id="14" name="Text 10"/>
          <p:cNvSpPr/>
          <p:nvPr/>
        </p:nvSpPr>
        <p:spPr>
          <a:xfrm>
            <a:off x="5063642" y="21854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PROPERTY 2</a:t>
            </a:r>
            <a:endParaRPr lang="en-US" sz="850" dirty="0"/>
          </a:p>
        </p:txBody>
      </p:sp>
      <p:sp>
        <p:nvSpPr>
          <p:cNvPr id="15" name="Text 11"/>
          <p:cNvSpPr/>
          <p:nvPr/>
        </p:nvSpPr>
        <p:spPr>
          <a:xfrm>
            <a:off x="5063642" y="2404872"/>
            <a:ext cx="2558186"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Cheap, total undo</a:t>
            </a:r>
            <a:endParaRPr lang="en-US" sz="1350" dirty="0"/>
          </a:p>
        </p:txBody>
      </p:sp>
      <p:sp>
        <p:nvSpPr>
          <p:cNvPr id="16" name="Text 12"/>
          <p:cNvSpPr/>
          <p:nvPr/>
        </p:nvSpPr>
        <p:spPr>
          <a:xfrm>
            <a:off x="5063642" y="2736433"/>
            <a:ext cx="2558186" cy="64684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Version control means a wrong step costs a revert. Compare that with a refund issued or an email sent to a customer.</a:t>
            </a:r>
            <a:endParaRPr lang="en-US" sz="1100" dirty="0"/>
          </a:p>
        </p:txBody>
      </p:sp>
      <p:sp>
        <p:nvSpPr>
          <p:cNvPr id="17" name="Shape 13"/>
          <p:cNvSpPr/>
          <p:nvPr/>
        </p:nvSpPr>
        <p:spPr>
          <a:xfrm>
            <a:off x="8097317" y="19751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8335061" y="2194560"/>
            <a:ext cx="365760" cy="365760"/>
          </a:xfrm>
          <a:prstGeom prst="ellipse">
            <a:avLst/>
          </a:prstGeom>
          <a:solidFill>
            <a:srgbClr val="0E9F6E"/>
          </a:solidFill>
          <a:ln w="12700">
            <a:solidFill>
              <a:srgbClr val="0E9F6E"/>
            </a:solidFill>
            <a:prstDash val="solid"/>
          </a:ln>
        </p:spPr>
      </p:sp>
      <p:pic>
        <p:nvPicPr>
          <p:cNvPr id="19" name="Image 2" descr="preencoded.png">    </p:cNvPr>
          <p:cNvPicPr>
            <a:picLocks noChangeAspect="1"/>
          </p:cNvPicPr>
          <p:nvPr/>
        </p:nvPicPr>
        <p:blipFill>
          <a:blip r:embed="rId3"/>
          <a:stretch>
            <a:fillRect/>
          </a:stretch>
        </p:blipFill>
        <p:spPr>
          <a:xfrm>
            <a:off x="8426501" y="2286000"/>
            <a:ext cx="182880" cy="182880"/>
          </a:xfrm>
          <a:prstGeom prst="rect">
            <a:avLst/>
          </a:prstGeom>
        </p:spPr>
      </p:pic>
      <p:sp>
        <p:nvSpPr>
          <p:cNvPr id="20" name="Text 15"/>
          <p:cNvSpPr/>
          <p:nvPr/>
        </p:nvSpPr>
        <p:spPr>
          <a:xfrm>
            <a:off x="8828837" y="21854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PROPERTY 3</a:t>
            </a:r>
            <a:endParaRPr lang="en-US" sz="850" dirty="0"/>
          </a:p>
        </p:txBody>
      </p:sp>
      <p:sp>
        <p:nvSpPr>
          <p:cNvPr id="21" name="Text 16"/>
          <p:cNvSpPr/>
          <p:nvPr/>
        </p:nvSpPr>
        <p:spPr>
          <a:xfrm>
            <a:off x="8828837" y="2404872"/>
            <a:ext cx="2558186"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The whole domain is text</a:t>
            </a:r>
            <a:endParaRPr lang="en-US" sz="1350" dirty="0"/>
          </a:p>
        </p:txBody>
      </p:sp>
      <p:sp>
        <p:nvSpPr>
          <p:cNvPr id="22" name="Text 17"/>
          <p:cNvSpPr/>
          <p:nvPr/>
        </p:nvSpPr>
        <p:spPr>
          <a:xfrm>
            <a:off x="8828837" y="2736433"/>
            <a:ext cx="2558186" cy="64684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Code, logs, diffs, docs, stack traces. No OCR, no schema mapping, no scanned PDF from 2011 with a coffee stain on it.</a:t>
            </a:r>
            <a:endParaRPr lang="en-US" sz="1100" dirty="0"/>
          </a:p>
        </p:txBody>
      </p:sp>
      <p:sp>
        <p:nvSpPr>
          <p:cNvPr id="23" name="Shape 18"/>
          <p:cNvSpPr/>
          <p:nvPr/>
        </p:nvSpPr>
        <p:spPr>
          <a:xfrm>
            <a:off x="566928" y="38039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4" name="Shape 19"/>
          <p:cNvSpPr/>
          <p:nvPr/>
        </p:nvSpPr>
        <p:spPr>
          <a:xfrm>
            <a:off x="804672" y="4023360"/>
            <a:ext cx="365760" cy="365760"/>
          </a:xfrm>
          <a:prstGeom prst="ellipse">
            <a:avLst/>
          </a:prstGeom>
          <a:solidFill>
            <a:srgbClr val="0E9F6E"/>
          </a:solidFill>
          <a:ln w="12700">
            <a:solidFill>
              <a:srgbClr val="0E9F6E"/>
            </a:solidFill>
            <a:prstDash val="solid"/>
          </a:ln>
        </p:spPr>
      </p:sp>
      <p:pic>
        <p:nvPicPr>
          <p:cNvPr id="25" name="Image 3" descr="preencoded.png">    </p:cNvPr>
          <p:cNvPicPr>
            <a:picLocks noChangeAspect="1"/>
          </p:cNvPicPr>
          <p:nvPr/>
        </p:nvPicPr>
        <p:blipFill>
          <a:blip r:embed="rId4"/>
          <a:stretch>
            <a:fillRect/>
          </a:stretch>
        </p:blipFill>
        <p:spPr>
          <a:xfrm>
            <a:off x="896112" y="4114800"/>
            <a:ext cx="182880" cy="182880"/>
          </a:xfrm>
          <a:prstGeom prst="rect">
            <a:avLst/>
          </a:prstGeom>
        </p:spPr>
      </p:pic>
      <p:sp>
        <p:nvSpPr>
          <p:cNvPr id="26" name="Text 20"/>
          <p:cNvSpPr/>
          <p:nvPr/>
        </p:nvSpPr>
        <p:spPr>
          <a:xfrm>
            <a:off x="1298448" y="40142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PROPERTY 4</a:t>
            </a:r>
            <a:endParaRPr lang="en-US" sz="850" dirty="0"/>
          </a:p>
        </p:txBody>
      </p:sp>
      <p:sp>
        <p:nvSpPr>
          <p:cNvPr id="27" name="Text 21"/>
          <p:cNvSpPr/>
          <p:nvPr/>
        </p:nvSpPr>
        <p:spPr>
          <a:xfrm>
            <a:off x="1298448" y="4233672"/>
            <a:ext cx="2558186"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A feedback loop in seconds</a:t>
            </a:r>
            <a:endParaRPr lang="en-US" sz="1350" dirty="0"/>
          </a:p>
        </p:txBody>
      </p:sp>
      <p:sp>
        <p:nvSpPr>
          <p:cNvPr id="28" name="Text 22"/>
          <p:cNvSpPr/>
          <p:nvPr/>
        </p:nvSpPr>
        <p:spPr>
          <a:xfrm>
            <a:off x="1298448" y="4565233"/>
            <a:ext cx="2558186" cy="64684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You find out immediately whether it worked. In most business processes the ground truth arrives days later, or never.</a:t>
            </a:r>
            <a:endParaRPr lang="en-US" sz="1100" dirty="0"/>
          </a:p>
        </p:txBody>
      </p:sp>
      <p:sp>
        <p:nvSpPr>
          <p:cNvPr id="29" name="Shape 23"/>
          <p:cNvSpPr/>
          <p:nvPr/>
        </p:nvSpPr>
        <p:spPr>
          <a:xfrm>
            <a:off x="4332122" y="38039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30" name="Shape 24"/>
          <p:cNvSpPr/>
          <p:nvPr/>
        </p:nvSpPr>
        <p:spPr>
          <a:xfrm>
            <a:off x="4569866" y="4023360"/>
            <a:ext cx="365760" cy="365760"/>
          </a:xfrm>
          <a:prstGeom prst="ellipse">
            <a:avLst/>
          </a:prstGeom>
          <a:solidFill>
            <a:srgbClr val="0E9F6E"/>
          </a:solidFill>
          <a:ln w="12700">
            <a:solidFill>
              <a:srgbClr val="0E9F6E"/>
            </a:solidFill>
            <a:prstDash val="solid"/>
          </a:ln>
        </p:spPr>
      </p:sp>
      <p:pic>
        <p:nvPicPr>
          <p:cNvPr id="31" name="Image 4" descr="preencoded.png">    </p:cNvPr>
          <p:cNvPicPr>
            <a:picLocks noChangeAspect="1"/>
          </p:cNvPicPr>
          <p:nvPr/>
        </p:nvPicPr>
        <p:blipFill>
          <a:blip r:embed="rId5"/>
          <a:stretch>
            <a:fillRect/>
          </a:stretch>
        </p:blipFill>
        <p:spPr>
          <a:xfrm>
            <a:off x="4661306" y="4114800"/>
            <a:ext cx="182880" cy="182880"/>
          </a:xfrm>
          <a:prstGeom prst="rect">
            <a:avLst/>
          </a:prstGeom>
        </p:spPr>
      </p:pic>
      <p:sp>
        <p:nvSpPr>
          <p:cNvPr id="32" name="Text 25"/>
          <p:cNvSpPr/>
          <p:nvPr/>
        </p:nvSpPr>
        <p:spPr>
          <a:xfrm>
            <a:off x="5063642" y="40142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PROPERTY 5</a:t>
            </a:r>
            <a:endParaRPr lang="en-US" sz="850" dirty="0"/>
          </a:p>
        </p:txBody>
      </p:sp>
      <p:sp>
        <p:nvSpPr>
          <p:cNvPr id="33" name="Text 26"/>
          <p:cNvSpPr/>
          <p:nvPr/>
        </p:nvSpPr>
        <p:spPr>
          <a:xfrm>
            <a:off x="5063642" y="4233672"/>
            <a:ext cx="2558186"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Unusually tolerant users</a:t>
            </a:r>
            <a:endParaRPr lang="en-US" sz="1350" dirty="0"/>
          </a:p>
        </p:txBody>
      </p:sp>
      <p:sp>
        <p:nvSpPr>
          <p:cNvPr id="34" name="Text 27"/>
          <p:cNvSpPr/>
          <p:nvPr/>
        </p:nvSpPr>
        <p:spPr>
          <a:xfrm>
            <a:off x="5063642" y="4565233"/>
            <a:ext cx="2558186" cy="64684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Developers debug, retry and read the trace. They are the most forgiving early users any product has ever had.</a:t>
            </a:r>
            <a:endParaRPr lang="en-US" sz="1100" dirty="0"/>
          </a:p>
        </p:txBody>
      </p:sp>
      <p:sp>
        <p:nvSpPr>
          <p:cNvPr id="35" name="Shape 28"/>
          <p:cNvSpPr/>
          <p:nvPr/>
        </p:nvSpPr>
        <p:spPr>
          <a:xfrm>
            <a:off x="8097317" y="3803904"/>
            <a:ext cx="3527450" cy="1591056"/>
          </a:xfrm>
          <a:prstGeom prst="roundRect">
            <a:avLst>
              <a:gd name="adj" fmla="val 5172"/>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36" name="Shape 29"/>
          <p:cNvSpPr/>
          <p:nvPr/>
        </p:nvSpPr>
        <p:spPr>
          <a:xfrm>
            <a:off x="8335061" y="4023360"/>
            <a:ext cx="365760" cy="365760"/>
          </a:xfrm>
          <a:prstGeom prst="ellipse">
            <a:avLst/>
          </a:prstGeom>
          <a:solidFill>
            <a:srgbClr val="F5A524"/>
          </a:solidFill>
          <a:ln w="12700">
            <a:solidFill>
              <a:srgbClr val="F5A524"/>
            </a:solidFill>
            <a:prstDash val="solid"/>
          </a:ln>
        </p:spPr>
      </p:sp>
      <p:pic>
        <p:nvPicPr>
          <p:cNvPr id="37" name="Image 5" descr="preencoded.png">    </p:cNvPr>
          <p:cNvPicPr>
            <a:picLocks noChangeAspect="1"/>
          </p:cNvPicPr>
          <p:nvPr/>
        </p:nvPicPr>
        <p:blipFill>
          <a:blip r:embed="rId6"/>
          <a:stretch>
            <a:fillRect/>
          </a:stretch>
        </p:blipFill>
        <p:spPr>
          <a:xfrm>
            <a:off x="8426501" y="4114800"/>
            <a:ext cx="182880" cy="182880"/>
          </a:xfrm>
          <a:prstGeom prst="rect">
            <a:avLst/>
          </a:prstGeom>
        </p:spPr>
      </p:pic>
      <p:sp>
        <p:nvSpPr>
          <p:cNvPr id="38" name="Text 30"/>
          <p:cNvSpPr/>
          <p:nvPr/>
        </p:nvSpPr>
        <p:spPr>
          <a:xfrm>
            <a:off x="8828837" y="40142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COROLLARY</a:t>
            </a:r>
            <a:endParaRPr lang="en-US" sz="850" dirty="0"/>
          </a:p>
        </p:txBody>
      </p:sp>
      <p:sp>
        <p:nvSpPr>
          <p:cNvPr id="39" name="Text 31"/>
          <p:cNvSpPr/>
          <p:nvPr/>
        </p:nvSpPr>
        <p:spPr>
          <a:xfrm>
            <a:off x="8828837" y="4233672"/>
            <a:ext cx="2558186"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Score your own domain out of five</a:t>
            </a:r>
            <a:endParaRPr lang="en-US" sz="1350" dirty="0"/>
          </a:p>
        </p:txBody>
      </p:sp>
      <p:sp>
        <p:nvSpPr>
          <p:cNvPr id="40" name="Text 32"/>
          <p:cNvSpPr/>
          <p:nvPr/>
        </p:nvSpPr>
        <p:spPr>
          <a:xfrm>
            <a:off x="8828837" y="4832787"/>
            <a:ext cx="2558186" cy="379293"/>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Every property you are missing is real work you will have to build: an eval set, an undo path, a document pipeline, a review queue.</a:t>
            </a:r>
            <a:endParaRPr lang="en-US" sz="1100" dirty="0"/>
          </a:p>
        </p:txBody>
      </p:sp>
      <p:sp>
        <p:nvSpPr>
          <p:cNvPr id="41" name="Shape 3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42" name="Shape 34"/>
          <p:cNvSpPr/>
          <p:nvPr/>
        </p:nvSpPr>
        <p:spPr>
          <a:xfrm>
            <a:off x="841248" y="5760720"/>
            <a:ext cx="384048" cy="384048"/>
          </a:xfrm>
          <a:prstGeom prst="ellipse">
            <a:avLst/>
          </a:prstGeom>
          <a:solidFill>
            <a:srgbClr val="F5A524"/>
          </a:solidFill>
          <a:ln w="12700">
            <a:solidFill>
              <a:srgbClr val="F5A524"/>
            </a:solidFill>
            <a:prstDash val="solid"/>
          </a:ln>
        </p:spPr>
      </p:sp>
      <p:pic>
        <p:nvPicPr>
          <p:cNvPr id="43" name="Image 6" descr="preencoded.png">    </p:cNvPr>
          <p:cNvPicPr>
            <a:picLocks noChangeAspect="1"/>
          </p:cNvPicPr>
          <p:nvPr/>
        </p:nvPicPr>
        <p:blipFill>
          <a:blip r:embed="rId7"/>
          <a:stretch>
            <a:fillRect/>
          </a:stretch>
        </p:blipFill>
        <p:spPr>
          <a:xfrm>
            <a:off x="937260" y="5856732"/>
            <a:ext cx="192024" cy="192024"/>
          </a:xfrm>
          <a:prstGeom prst="rect">
            <a:avLst/>
          </a:prstGeom>
        </p:spPr>
      </p:pic>
      <p:sp>
        <p:nvSpPr>
          <p:cNvPr id="44" name="Text 35"/>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Coding agents are not proof that agents are ready everywhere. They are proof that agents work where you can check the answer instantly and undo it for free.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Three ways to build one, and they fail differently</a:t>
            </a:r>
            <a:endParaRPr lang="en-US" sz="3000" dirty="0"/>
          </a:p>
        </p:txBody>
      </p:sp>
      <p:sp>
        <p:nvSpPr>
          <p:cNvPr id="4" name="Shape 2"/>
          <p:cNvSpPr/>
          <p:nvPr/>
        </p:nvSpPr>
        <p:spPr>
          <a:xfrm>
            <a:off x="566928" y="1810512"/>
            <a:ext cx="3527450" cy="3675888"/>
          </a:xfrm>
          <a:prstGeom prst="roundRect">
            <a:avLst>
              <a:gd name="adj" fmla="val 2592"/>
            </a:avLst>
          </a:prstGeom>
          <a:solidFill>
            <a:srgbClr val="FFFFFF"/>
          </a:solidFill>
          <a:ln w="17780">
            <a:solidFill>
              <a:srgbClr val="A9DCE3"/>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1975104"/>
            <a:ext cx="402336" cy="402336"/>
          </a:xfrm>
          <a:prstGeom prst="ellipse">
            <a:avLst/>
          </a:prstGeom>
          <a:solidFill>
            <a:srgbClr val="0E8C9E"/>
          </a:solidFill>
          <a:ln w="12700">
            <a:solidFill>
              <a:srgbClr val="0E8C9E"/>
            </a:solidFill>
            <a:prstDash val="solid"/>
          </a:ln>
        </p:spPr>
      </p:sp>
      <p:pic>
        <p:nvPicPr>
          <p:cNvPr id="6" name="Image 0" descr="preencoded.png">    </p:cNvPr>
          <p:cNvPicPr>
            <a:picLocks noChangeAspect="1"/>
          </p:cNvPicPr>
          <p:nvPr/>
        </p:nvPicPr>
        <p:blipFill>
          <a:blip r:embed="rId1"/>
          <a:stretch>
            <a:fillRect/>
          </a:stretch>
        </p:blipFill>
        <p:spPr>
          <a:xfrm>
            <a:off x="905256" y="2075688"/>
            <a:ext cx="201168" cy="201168"/>
          </a:xfrm>
          <a:prstGeom prst="rect">
            <a:avLst/>
          </a:prstGeom>
        </p:spPr>
      </p:pic>
      <p:sp>
        <p:nvSpPr>
          <p:cNvPr id="7" name="Text 4"/>
          <p:cNvSpPr/>
          <p:nvPr/>
        </p:nvSpPr>
        <p:spPr>
          <a:xfrm>
            <a:off x="1335024" y="1975104"/>
            <a:ext cx="2521610" cy="274320"/>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No-code</a:t>
            </a:r>
            <a:endParaRPr lang="en-US" sz="1700" dirty="0"/>
          </a:p>
        </p:txBody>
      </p:sp>
      <p:sp>
        <p:nvSpPr>
          <p:cNvPr id="8" name="Text 5"/>
          <p:cNvSpPr/>
          <p:nvPr/>
        </p:nvSpPr>
        <p:spPr>
          <a:xfrm>
            <a:off x="1335024" y="2249424"/>
            <a:ext cx="2567330" cy="237744"/>
          </a:xfrm>
          <a:prstGeom prst="rect">
            <a:avLst/>
          </a:prstGeom>
          <a:noFill/>
          <a:ln/>
        </p:spPr>
        <p:txBody>
          <a:bodyPr wrap="square" lIns="0" tIns="0" rIns="0" bIns="0" rtlCol="0" anchor="ctr"/>
          <a:lstStyle/>
          <a:p>
            <a:pPr indent="0" marL="0">
              <a:buNone/>
            </a:pPr>
            <a:r>
              <a:rPr lang="en-US" sz="1000" i="1" dirty="0">
                <a:solidFill>
                  <a:srgbClr val="0E8C9E"/>
                </a:solidFill>
                <a:latin typeface="Calibri" pitchFamily="34" charset="0"/>
                <a:ea typeface="Calibri" pitchFamily="34" charset="-122"/>
                <a:cs typeface="Calibri" pitchFamily="34" charset="-120"/>
              </a:rPr>
              <a:t>a visual builder, or a packaged agent product</a:t>
            </a:r>
            <a:endParaRPr lang="en-US" sz="1000" dirty="0"/>
          </a:p>
        </p:txBody>
      </p:sp>
      <p:sp>
        <p:nvSpPr>
          <p:cNvPr id="9" name="Shape 6"/>
          <p:cNvSpPr/>
          <p:nvPr/>
        </p:nvSpPr>
        <p:spPr>
          <a:xfrm>
            <a:off x="786384" y="2578608"/>
            <a:ext cx="3088538" cy="621792"/>
          </a:xfrm>
          <a:prstGeom prst="roundRect">
            <a:avLst>
              <a:gd name="adj" fmla="val 8824"/>
            </a:avLst>
          </a:prstGeom>
          <a:solidFill>
            <a:srgbClr val="E4F4F6"/>
          </a:solidFill>
          <a:ln w="12700">
            <a:solidFill>
              <a:srgbClr val="A9DCE3"/>
            </a:solidFill>
            <a:prstDash val="solid"/>
          </a:ln>
        </p:spPr>
      </p:sp>
      <p:sp>
        <p:nvSpPr>
          <p:cNvPr id="10" name="Text 7"/>
          <p:cNvSpPr/>
          <p:nvPr/>
        </p:nvSpPr>
        <p:spPr>
          <a:xfrm>
            <a:off x="841248" y="2615184"/>
            <a:ext cx="938073" cy="548640"/>
          </a:xfrm>
          <a:prstGeom prst="rect">
            <a:avLst/>
          </a:prstGeom>
          <a:noFill/>
          <a:ln/>
        </p:spPr>
        <p:txBody>
          <a:bodyPr wrap="square" lIns="0" tIns="0" rIns="0" bIns="0" rtlCol="0" anchor="ctr"/>
          <a:lstStyle/>
          <a:p>
            <a:pPr algn="ctr" indent="0" marL="0">
              <a:lnSpc>
                <a:spcPct val="102000"/>
              </a:lnSpc>
              <a:buNone/>
            </a:pPr>
            <a:r>
              <a:rPr lang="en-US" sz="700" b="1" spc="80" kern="0" dirty="0">
                <a:solidFill>
                  <a:srgbClr val="9B98B4"/>
                </a:solidFill>
                <a:latin typeface="Calibri" pitchFamily="34" charset="0"/>
                <a:ea typeface="Calibri" pitchFamily="34" charset="-122"/>
                <a:cs typeface="Calibri" pitchFamily="34" charset="-120"/>
              </a:rPr>
              <a:t>WHO</a:t>
            </a:r>
            <a:endParaRPr lang="en-US" sz="700" dirty="0"/>
          </a:p>
          <a:p>
            <a:pPr algn="ctr" indent="0" marL="0">
              <a:lnSpc>
                <a:spcPct val="102000"/>
              </a:lnSpc>
              <a:buNone/>
            </a:pPr>
            <a:r>
              <a:rPr lang="en-US" sz="900" b="1" dirty="0">
                <a:solidFill>
                  <a:srgbClr val="3B3760"/>
                </a:solidFill>
                <a:latin typeface="Calibri" pitchFamily="34" charset="0"/>
                <a:ea typeface="Calibri" pitchFamily="34" charset="-122"/>
                <a:cs typeface="Calibri" pitchFamily="34" charset="-120"/>
              </a:rPr>
              <a:t>Business and ops teams</a:t>
            </a:r>
            <a:endParaRPr lang="en-US" sz="700" dirty="0"/>
          </a:p>
        </p:txBody>
      </p:sp>
      <p:sp>
        <p:nvSpPr>
          <p:cNvPr id="11" name="Text 8"/>
          <p:cNvSpPr/>
          <p:nvPr/>
        </p:nvSpPr>
        <p:spPr>
          <a:xfrm>
            <a:off x="1870761" y="2615184"/>
            <a:ext cx="938073" cy="548640"/>
          </a:xfrm>
          <a:prstGeom prst="rect">
            <a:avLst/>
          </a:prstGeom>
          <a:noFill/>
          <a:ln/>
        </p:spPr>
        <p:txBody>
          <a:bodyPr wrap="square" lIns="0" tIns="0" rIns="0" bIns="0" rtlCol="0" anchor="ctr"/>
          <a:lstStyle/>
          <a:p>
            <a:pPr algn="ctr" indent="0" marL="0">
              <a:lnSpc>
                <a:spcPct val="102000"/>
              </a:lnSpc>
              <a:buNone/>
            </a:pPr>
            <a:r>
              <a:rPr lang="en-US" sz="700" b="1" spc="80" kern="0" dirty="0">
                <a:solidFill>
                  <a:srgbClr val="9B98B4"/>
                </a:solidFill>
                <a:latin typeface="Calibri" pitchFamily="34" charset="0"/>
                <a:ea typeface="Calibri" pitchFamily="34" charset="-122"/>
                <a:cs typeface="Calibri" pitchFamily="34" charset="-120"/>
              </a:rPr>
              <a:t>FIRST AGENT</a:t>
            </a:r>
            <a:endParaRPr lang="en-US" sz="700" dirty="0"/>
          </a:p>
          <a:p>
            <a:pPr algn="ctr" indent="0" marL="0">
              <a:lnSpc>
                <a:spcPct val="102000"/>
              </a:lnSpc>
              <a:buNone/>
            </a:pPr>
            <a:r>
              <a:rPr lang="en-US" sz="900" b="1" dirty="0">
                <a:solidFill>
                  <a:srgbClr val="3B3760"/>
                </a:solidFill>
                <a:latin typeface="Calibri" pitchFamily="34" charset="0"/>
                <a:ea typeface="Calibri" pitchFamily="34" charset="-122"/>
                <a:cs typeface="Calibri" pitchFamily="34" charset="-120"/>
              </a:rPr>
              <a:t>Hours</a:t>
            </a:r>
            <a:endParaRPr lang="en-US" sz="700" dirty="0"/>
          </a:p>
        </p:txBody>
      </p:sp>
      <p:sp>
        <p:nvSpPr>
          <p:cNvPr id="12" name="Text 9"/>
          <p:cNvSpPr/>
          <p:nvPr/>
        </p:nvSpPr>
        <p:spPr>
          <a:xfrm>
            <a:off x="2900274" y="2615184"/>
            <a:ext cx="938073" cy="548640"/>
          </a:xfrm>
          <a:prstGeom prst="rect">
            <a:avLst/>
          </a:prstGeom>
          <a:noFill/>
          <a:ln/>
        </p:spPr>
        <p:txBody>
          <a:bodyPr wrap="square" lIns="0" tIns="0" rIns="0" bIns="0" rtlCol="0" anchor="ctr"/>
          <a:lstStyle/>
          <a:p>
            <a:pPr algn="ctr" indent="0" marL="0">
              <a:lnSpc>
                <a:spcPct val="102000"/>
              </a:lnSpc>
              <a:buNone/>
            </a:pPr>
            <a:r>
              <a:rPr lang="en-US" sz="700" b="1" spc="80" kern="0" dirty="0">
                <a:solidFill>
                  <a:srgbClr val="9B98B4"/>
                </a:solidFill>
                <a:latin typeface="Calibri" pitchFamily="34" charset="0"/>
                <a:ea typeface="Calibri" pitchFamily="34" charset="-122"/>
                <a:cs typeface="Calibri" pitchFamily="34" charset="-120"/>
              </a:rPr>
              <a:t>YOU CONTROL</a:t>
            </a:r>
            <a:endParaRPr lang="en-US" sz="700" dirty="0"/>
          </a:p>
          <a:p>
            <a:pPr algn="ctr" indent="0" marL="0">
              <a:lnSpc>
                <a:spcPct val="102000"/>
              </a:lnSpc>
              <a:buNone/>
            </a:pPr>
            <a:r>
              <a:rPr lang="en-US" sz="900" b="1" dirty="0">
                <a:solidFill>
                  <a:srgbClr val="3B3760"/>
                </a:solidFill>
                <a:latin typeface="Calibri" pitchFamily="34" charset="0"/>
                <a:ea typeface="Calibri" pitchFamily="34" charset="-122"/>
                <a:cs typeface="Calibri" pitchFamily="34" charset="-120"/>
              </a:rPr>
              <a:t>Configuration only</a:t>
            </a:r>
            <a:endParaRPr lang="en-US" sz="700" dirty="0"/>
          </a:p>
        </p:txBody>
      </p:sp>
      <p:sp>
        <p:nvSpPr>
          <p:cNvPr id="13" name="Text 10"/>
          <p:cNvSpPr/>
          <p:nvPr/>
        </p:nvSpPr>
        <p:spPr>
          <a:xfrm>
            <a:off x="804672" y="3310128"/>
            <a:ext cx="3051962" cy="201168"/>
          </a:xfrm>
          <a:prstGeom prst="rect">
            <a:avLst/>
          </a:prstGeom>
          <a:noFill/>
          <a:ln/>
        </p:spPr>
        <p:txBody>
          <a:bodyPr wrap="square" lIns="0" tIns="0" rIns="0" bIns="0" rtlCol="0" anchor="ctr"/>
          <a:lstStyle/>
          <a:p>
            <a:pPr indent="0" marL="0">
              <a:buNone/>
            </a:pPr>
            <a:r>
              <a:rPr lang="en-US" sz="850" b="1" spc="130" kern="0" dirty="0">
                <a:solidFill>
                  <a:srgbClr val="0E9F6E"/>
                </a:solidFill>
                <a:latin typeface="Calibri" pitchFamily="34" charset="0"/>
                <a:ea typeface="Calibri" pitchFamily="34" charset="-122"/>
                <a:cs typeface="Calibri" pitchFamily="34" charset="-120"/>
              </a:rPr>
              <a:t>GOOD FOR</a:t>
            </a:r>
            <a:endParaRPr lang="en-US" sz="850" dirty="0"/>
          </a:p>
        </p:txBody>
      </p:sp>
      <p:sp>
        <p:nvSpPr>
          <p:cNvPr id="14" name="Text 11"/>
          <p:cNvSpPr/>
          <p:nvPr/>
        </p:nvSpPr>
        <p:spPr>
          <a:xfrm>
            <a:off x="804672" y="3502152"/>
            <a:ext cx="3051962" cy="566928"/>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Departmental, repetitive, low stakes. Genuinely the right answer when the process is small and the blast radius is tiny.</a:t>
            </a:r>
            <a:endParaRPr lang="en-US" sz="1050" dirty="0"/>
          </a:p>
        </p:txBody>
      </p:sp>
      <p:sp>
        <p:nvSpPr>
          <p:cNvPr id="15" name="Text 12"/>
          <p:cNvSpPr/>
          <p:nvPr/>
        </p:nvSpPr>
        <p:spPr>
          <a:xfrm>
            <a:off x="804672" y="4041648"/>
            <a:ext cx="3051962" cy="201168"/>
          </a:xfrm>
          <a:prstGeom prst="rect">
            <a:avLst/>
          </a:prstGeom>
          <a:noFill/>
          <a:ln/>
        </p:spPr>
        <p:txBody>
          <a:bodyPr wrap="square" lIns="0" tIns="0" rIns="0" bIns="0" rtlCol="0" anchor="ctr"/>
          <a:lstStyle/>
          <a:p>
            <a:pPr indent="0" marL="0">
              <a:buNone/>
            </a:pPr>
            <a:r>
              <a:rPr lang="en-US" sz="850" b="1" spc="130" kern="0" dirty="0">
                <a:solidFill>
                  <a:srgbClr val="D93A3F"/>
                </a:solidFill>
                <a:latin typeface="Calibri" pitchFamily="34" charset="0"/>
                <a:ea typeface="Calibri" pitchFamily="34" charset="-122"/>
                <a:cs typeface="Calibri" pitchFamily="34" charset="-120"/>
              </a:rPr>
              <a:t>WHERE IT BREAKS</a:t>
            </a:r>
            <a:endParaRPr lang="en-US" sz="850" dirty="0"/>
          </a:p>
        </p:txBody>
      </p:sp>
      <p:sp>
        <p:nvSpPr>
          <p:cNvPr id="16" name="Text 13"/>
          <p:cNvSpPr/>
          <p:nvPr/>
        </p:nvSpPr>
        <p:spPr>
          <a:xfrm>
            <a:off x="804672" y="4233672"/>
            <a:ext cx="3051962" cy="566928"/>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Anything the vendor did not anticipate. Testing, versioning and rollback are usually weak or absent.</a:t>
            </a:r>
            <a:endParaRPr lang="en-US" sz="1050" dirty="0"/>
          </a:p>
        </p:txBody>
      </p:sp>
      <p:sp>
        <p:nvSpPr>
          <p:cNvPr id="17" name="Text 14"/>
          <p:cNvSpPr/>
          <p:nvPr/>
        </p:nvSpPr>
        <p:spPr>
          <a:xfrm>
            <a:off x="804672" y="4773168"/>
            <a:ext cx="3051962" cy="201168"/>
          </a:xfrm>
          <a:prstGeom prst="rect">
            <a:avLst/>
          </a:prstGeom>
          <a:noFill/>
          <a:ln/>
        </p:spPr>
        <p:txBody>
          <a:bodyPr wrap="square" lIns="0" tIns="0" rIns="0" bIns="0" rtlCol="0" anchor="ctr"/>
          <a:lstStyle/>
          <a:p>
            <a:pPr indent="0" marL="0">
              <a:buNone/>
            </a:pPr>
            <a:r>
              <a:rPr lang="en-US" sz="850" b="1" spc="130" kern="0" dirty="0">
                <a:solidFill>
                  <a:srgbClr val="E08700"/>
                </a:solidFill>
                <a:latin typeface="Calibri" pitchFamily="34" charset="0"/>
                <a:ea typeface="Calibri" pitchFamily="34" charset="-122"/>
                <a:cs typeface="Calibri" pitchFamily="34" charset="-120"/>
              </a:rPr>
              <a:t>THE HONEST RISK</a:t>
            </a:r>
            <a:endParaRPr lang="en-US" sz="850" dirty="0"/>
          </a:p>
        </p:txBody>
      </p:sp>
      <p:sp>
        <p:nvSpPr>
          <p:cNvPr id="18" name="Text 15"/>
          <p:cNvSpPr/>
          <p:nvPr/>
        </p:nvSpPr>
        <p:spPr>
          <a:xfrm>
            <a:off x="804672" y="4965192"/>
            <a:ext cx="3051962" cy="566928"/>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This is where ungoverned agents appear, because they never pass through your software delivery process.</a:t>
            </a:r>
            <a:endParaRPr lang="en-US" sz="1050" dirty="0"/>
          </a:p>
        </p:txBody>
      </p:sp>
      <p:sp>
        <p:nvSpPr>
          <p:cNvPr id="19" name="Shape 16"/>
          <p:cNvSpPr/>
          <p:nvPr/>
        </p:nvSpPr>
        <p:spPr>
          <a:xfrm>
            <a:off x="4332122" y="1810512"/>
            <a:ext cx="3527450" cy="3675888"/>
          </a:xfrm>
          <a:prstGeom prst="roundRect">
            <a:avLst>
              <a:gd name="adj" fmla="val 2592"/>
            </a:avLst>
          </a:prstGeom>
          <a:solidFill>
            <a:srgbClr val="FFFFFF"/>
          </a:solidFill>
          <a:ln w="17780">
            <a:solidFill>
              <a:srgbClr val="8E82F5"/>
            </a:solidFill>
            <a:prstDash val="solid"/>
          </a:ln>
          <a:effectLst>
            <a:outerShdw sx="100000" sy="100000" kx="0" ky="0" algn="bl" rotWithShape="0" blurRad="114300" dist="572" dir="5400000">
              <a:srgbClr val="1B1A4A">
                <a:alpha val="7000"/>
              </a:srgbClr>
            </a:outerShdw>
          </a:effectLst>
        </p:spPr>
      </p:sp>
      <p:sp>
        <p:nvSpPr>
          <p:cNvPr id="20" name="Shape 17"/>
          <p:cNvSpPr/>
          <p:nvPr/>
        </p:nvSpPr>
        <p:spPr>
          <a:xfrm>
            <a:off x="4569866" y="1975104"/>
            <a:ext cx="402336" cy="402336"/>
          </a:xfrm>
          <a:prstGeom prst="ellipse">
            <a:avLst/>
          </a:prstGeom>
          <a:solidFill>
            <a:srgbClr val="5B4BE8"/>
          </a:solidFill>
          <a:ln w="12700">
            <a:solidFill>
              <a:srgbClr val="5B4BE8"/>
            </a:solidFill>
            <a:prstDash val="solid"/>
          </a:ln>
        </p:spPr>
      </p:sp>
      <p:pic>
        <p:nvPicPr>
          <p:cNvPr id="21" name="Image 1" descr="preencoded.png">    </p:cNvPr>
          <p:cNvPicPr>
            <a:picLocks noChangeAspect="1"/>
          </p:cNvPicPr>
          <p:nvPr/>
        </p:nvPicPr>
        <p:blipFill>
          <a:blip r:embed="rId2"/>
          <a:stretch>
            <a:fillRect/>
          </a:stretch>
        </p:blipFill>
        <p:spPr>
          <a:xfrm>
            <a:off x="4670450" y="2075688"/>
            <a:ext cx="201168" cy="201168"/>
          </a:xfrm>
          <a:prstGeom prst="rect">
            <a:avLst/>
          </a:prstGeom>
        </p:spPr>
      </p:pic>
      <p:sp>
        <p:nvSpPr>
          <p:cNvPr id="22" name="Text 18"/>
          <p:cNvSpPr/>
          <p:nvPr/>
        </p:nvSpPr>
        <p:spPr>
          <a:xfrm>
            <a:off x="5100218" y="1975104"/>
            <a:ext cx="2521610" cy="274320"/>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Low-code</a:t>
            </a:r>
            <a:endParaRPr lang="en-US" sz="1700" dirty="0"/>
          </a:p>
        </p:txBody>
      </p:sp>
      <p:sp>
        <p:nvSpPr>
          <p:cNvPr id="23" name="Text 19"/>
          <p:cNvSpPr/>
          <p:nvPr/>
        </p:nvSpPr>
        <p:spPr>
          <a:xfrm>
            <a:off x="5100218" y="2249424"/>
            <a:ext cx="2567330" cy="237744"/>
          </a:xfrm>
          <a:prstGeom prst="rect">
            <a:avLst/>
          </a:prstGeom>
          <a:noFill/>
          <a:ln/>
        </p:spPr>
        <p:txBody>
          <a:bodyPr wrap="square" lIns="0" tIns="0" rIns="0" bIns="0" rtlCol="0" anchor="ctr"/>
          <a:lstStyle/>
          <a:p>
            <a:pPr indent="0" marL="0">
              <a:buNone/>
            </a:pPr>
            <a:r>
              <a:rPr lang="en-US" sz="1000" i="1" dirty="0">
                <a:solidFill>
                  <a:srgbClr val="5B4BE8"/>
                </a:solidFill>
                <a:latin typeface="Calibri" pitchFamily="34" charset="0"/>
                <a:ea typeface="Calibri" pitchFamily="34" charset="-122"/>
                <a:cs typeface="Calibri" pitchFamily="34" charset="-120"/>
              </a:rPr>
              <a:t>a framework — tiers 1 to 3 of module 09</a:t>
            </a:r>
            <a:endParaRPr lang="en-US" sz="1000" dirty="0"/>
          </a:p>
        </p:txBody>
      </p:sp>
      <p:sp>
        <p:nvSpPr>
          <p:cNvPr id="24" name="Shape 20"/>
          <p:cNvSpPr/>
          <p:nvPr/>
        </p:nvSpPr>
        <p:spPr>
          <a:xfrm>
            <a:off x="4551578" y="2578608"/>
            <a:ext cx="3088538" cy="621792"/>
          </a:xfrm>
          <a:prstGeom prst="roundRect">
            <a:avLst>
              <a:gd name="adj" fmla="val 8824"/>
            </a:avLst>
          </a:prstGeom>
          <a:solidFill>
            <a:srgbClr val="EEEDFE"/>
          </a:solidFill>
          <a:ln w="12700">
            <a:solidFill>
              <a:srgbClr val="8E82F5"/>
            </a:solidFill>
            <a:prstDash val="solid"/>
          </a:ln>
        </p:spPr>
      </p:sp>
      <p:sp>
        <p:nvSpPr>
          <p:cNvPr id="25" name="Text 21"/>
          <p:cNvSpPr/>
          <p:nvPr/>
        </p:nvSpPr>
        <p:spPr>
          <a:xfrm>
            <a:off x="4606442" y="2615184"/>
            <a:ext cx="938073" cy="548640"/>
          </a:xfrm>
          <a:prstGeom prst="rect">
            <a:avLst/>
          </a:prstGeom>
          <a:noFill/>
          <a:ln/>
        </p:spPr>
        <p:txBody>
          <a:bodyPr wrap="square" lIns="0" tIns="0" rIns="0" bIns="0" rtlCol="0" anchor="ctr"/>
          <a:lstStyle/>
          <a:p>
            <a:pPr algn="ctr" indent="0" marL="0">
              <a:lnSpc>
                <a:spcPct val="102000"/>
              </a:lnSpc>
              <a:buNone/>
            </a:pPr>
            <a:r>
              <a:rPr lang="en-US" sz="700" b="1" spc="80" kern="0" dirty="0">
                <a:solidFill>
                  <a:srgbClr val="9B98B4"/>
                </a:solidFill>
                <a:latin typeface="Calibri" pitchFamily="34" charset="0"/>
                <a:ea typeface="Calibri" pitchFamily="34" charset="-122"/>
                <a:cs typeface="Calibri" pitchFamily="34" charset="-120"/>
              </a:rPr>
              <a:t>WHO</a:t>
            </a:r>
            <a:endParaRPr lang="en-US" sz="700" dirty="0"/>
          </a:p>
          <a:p>
            <a:pPr algn="ctr" indent="0" marL="0">
              <a:lnSpc>
                <a:spcPct val="102000"/>
              </a:lnSpc>
              <a:buNone/>
            </a:pPr>
            <a:r>
              <a:rPr lang="en-US" sz="900" b="1" dirty="0">
                <a:solidFill>
                  <a:srgbClr val="3B3760"/>
                </a:solidFill>
                <a:latin typeface="Calibri" pitchFamily="34" charset="0"/>
                <a:ea typeface="Calibri" pitchFamily="34" charset="-122"/>
                <a:cs typeface="Calibri" pitchFamily="34" charset="-120"/>
              </a:rPr>
              <a:t>Developers</a:t>
            </a:r>
            <a:endParaRPr lang="en-US" sz="700" dirty="0"/>
          </a:p>
        </p:txBody>
      </p:sp>
      <p:sp>
        <p:nvSpPr>
          <p:cNvPr id="26" name="Text 22"/>
          <p:cNvSpPr/>
          <p:nvPr/>
        </p:nvSpPr>
        <p:spPr>
          <a:xfrm>
            <a:off x="5635955" y="2615184"/>
            <a:ext cx="938073" cy="548640"/>
          </a:xfrm>
          <a:prstGeom prst="rect">
            <a:avLst/>
          </a:prstGeom>
          <a:noFill/>
          <a:ln/>
        </p:spPr>
        <p:txBody>
          <a:bodyPr wrap="square" lIns="0" tIns="0" rIns="0" bIns="0" rtlCol="0" anchor="ctr"/>
          <a:lstStyle/>
          <a:p>
            <a:pPr algn="ctr" indent="0" marL="0">
              <a:lnSpc>
                <a:spcPct val="102000"/>
              </a:lnSpc>
              <a:buNone/>
            </a:pPr>
            <a:r>
              <a:rPr lang="en-US" sz="700" b="1" spc="80" kern="0" dirty="0">
                <a:solidFill>
                  <a:srgbClr val="9B98B4"/>
                </a:solidFill>
                <a:latin typeface="Calibri" pitchFamily="34" charset="0"/>
                <a:ea typeface="Calibri" pitchFamily="34" charset="-122"/>
                <a:cs typeface="Calibri" pitchFamily="34" charset="-120"/>
              </a:rPr>
              <a:t>FIRST AGENT</a:t>
            </a:r>
            <a:endParaRPr lang="en-US" sz="700" dirty="0"/>
          </a:p>
          <a:p>
            <a:pPr algn="ctr" indent="0" marL="0">
              <a:lnSpc>
                <a:spcPct val="102000"/>
              </a:lnSpc>
              <a:buNone/>
            </a:pPr>
            <a:r>
              <a:rPr lang="en-US" sz="900" b="1" dirty="0">
                <a:solidFill>
                  <a:srgbClr val="3B3760"/>
                </a:solidFill>
                <a:latin typeface="Calibri" pitchFamily="34" charset="0"/>
                <a:ea typeface="Calibri" pitchFamily="34" charset="-122"/>
                <a:cs typeface="Calibri" pitchFamily="34" charset="-120"/>
              </a:rPr>
              <a:t>Days</a:t>
            </a:r>
            <a:endParaRPr lang="en-US" sz="700" dirty="0"/>
          </a:p>
        </p:txBody>
      </p:sp>
      <p:sp>
        <p:nvSpPr>
          <p:cNvPr id="27" name="Text 23"/>
          <p:cNvSpPr/>
          <p:nvPr/>
        </p:nvSpPr>
        <p:spPr>
          <a:xfrm>
            <a:off x="6665468" y="2615184"/>
            <a:ext cx="938073" cy="548640"/>
          </a:xfrm>
          <a:prstGeom prst="rect">
            <a:avLst/>
          </a:prstGeom>
          <a:noFill/>
          <a:ln/>
        </p:spPr>
        <p:txBody>
          <a:bodyPr wrap="square" lIns="0" tIns="0" rIns="0" bIns="0" rtlCol="0" anchor="ctr"/>
          <a:lstStyle/>
          <a:p>
            <a:pPr algn="ctr" indent="0" marL="0">
              <a:lnSpc>
                <a:spcPct val="102000"/>
              </a:lnSpc>
              <a:buNone/>
            </a:pPr>
            <a:r>
              <a:rPr lang="en-US" sz="700" b="1" spc="80" kern="0" dirty="0">
                <a:solidFill>
                  <a:srgbClr val="9B98B4"/>
                </a:solidFill>
                <a:latin typeface="Calibri" pitchFamily="34" charset="0"/>
                <a:ea typeface="Calibri" pitchFamily="34" charset="-122"/>
                <a:cs typeface="Calibri" pitchFamily="34" charset="-120"/>
              </a:rPr>
              <a:t>YOU CONTROL</a:t>
            </a:r>
            <a:endParaRPr lang="en-US" sz="700" dirty="0"/>
          </a:p>
          <a:p>
            <a:pPr algn="ctr" indent="0" marL="0">
              <a:lnSpc>
                <a:spcPct val="102000"/>
              </a:lnSpc>
              <a:buNone/>
            </a:pPr>
            <a:r>
              <a:rPr lang="en-US" sz="900" b="1" dirty="0">
                <a:solidFill>
                  <a:srgbClr val="3B3760"/>
                </a:solidFill>
                <a:latin typeface="Calibri" pitchFamily="34" charset="0"/>
                <a:ea typeface="Calibri" pitchFamily="34" charset="-122"/>
                <a:cs typeface="Calibri" pitchFamily="34" charset="-120"/>
              </a:rPr>
              <a:t>The loop’s shape</a:t>
            </a:r>
            <a:endParaRPr lang="en-US" sz="700" dirty="0"/>
          </a:p>
        </p:txBody>
      </p:sp>
      <p:sp>
        <p:nvSpPr>
          <p:cNvPr id="28" name="Text 24"/>
          <p:cNvSpPr/>
          <p:nvPr/>
        </p:nvSpPr>
        <p:spPr>
          <a:xfrm>
            <a:off x="4569866" y="3310128"/>
            <a:ext cx="3051962" cy="201168"/>
          </a:xfrm>
          <a:prstGeom prst="rect">
            <a:avLst/>
          </a:prstGeom>
          <a:noFill/>
          <a:ln/>
        </p:spPr>
        <p:txBody>
          <a:bodyPr wrap="square" lIns="0" tIns="0" rIns="0" bIns="0" rtlCol="0" anchor="ctr"/>
          <a:lstStyle/>
          <a:p>
            <a:pPr indent="0" marL="0">
              <a:buNone/>
            </a:pPr>
            <a:r>
              <a:rPr lang="en-US" sz="850" b="1" spc="130" kern="0" dirty="0">
                <a:solidFill>
                  <a:srgbClr val="0E9F6E"/>
                </a:solidFill>
                <a:latin typeface="Calibri" pitchFamily="34" charset="0"/>
                <a:ea typeface="Calibri" pitchFamily="34" charset="-122"/>
                <a:cs typeface="Calibri" pitchFamily="34" charset="-120"/>
              </a:rPr>
              <a:t>GOOD FOR</a:t>
            </a:r>
            <a:endParaRPr lang="en-US" sz="850" dirty="0"/>
          </a:p>
        </p:txBody>
      </p:sp>
      <p:sp>
        <p:nvSpPr>
          <p:cNvPr id="29" name="Text 25"/>
          <p:cNvSpPr/>
          <p:nvPr/>
        </p:nvSpPr>
        <p:spPr>
          <a:xfrm>
            <a:off x="4569866" y="3502152"/>
            <a:ext cx="3051962" cy="566928"/>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Most production work. You get checkpointing, resumability, tracing and human-in-the-loop pauses without writing them.</a:t>
            </a:r>
            <a:endParaRPr lang="en-US" sz="1050" dirty="0"/>
          </a:p>
        </p:txBody>
      </p:sp>
      <p:sp>
        <p:nvSpPr>
          <p:cNvPr id="30" name="Text 26"/>
          <p:cNvSpPr/>
          <p:nvPr/>
        </p:nvSpPr>
        <p:spPr>
          <a:xfrm>
            <a:off x="4569866" y="4041648"/>
            <a:ext cx="3051962" cy="201168"/>
          </a:xfrm>
          <a:prstGeom prst="rect">
            <a:avLst/>
          </a:prstGeom>
          <a:noFill/>
          <a:ln/>
        </p:spPr>
        <p:txBody>
          <a:bodyPr wrap="square" lIns="0" tIns="0" rIns="0" bIns="0" rtlCol="0" anchor="ctr"/>
          <a:lstStyle/>
          <a:p>
            <a:pPr indent="0" marL="0">
              <a:buNone/>
            </a:pPr>
            <a:r>
              <a:rPr lang="en-US" sz="850" b="1" spc="130" kern="0" dirty="0">
                <a:solidFill>
                  <a:srgbClr val="D93A3F"/>
                </a:solidFill>
                <a:latin typeface="Calibri" pitchFamily="34" charset="0"/>
                <a:ea typeface="Calibri" pitchFamily="34" charset="-122"/>
                <a:cs typeface="Calibri" pitchFamily="34" charset="-120"/>
              </a:rPr>
              <a:t>WHERE IT BREAKS</a:t>
            </a:r>
            <a:endParaRPr lang="en-US" sz="850" dirty="0"/>
          </a:p>
        </p:txBody>
      </p:sp>
      <p:sp>
        <p:nvSpPr>
          <p:cNvPr id="31" name="Text 27"/>
          <p:cNvSpPr/>
          <p:nvPr/>
        </p:nvSpPr>
        <p:spPr>
          <a:xfrm>
            <a:off x="4569866" y="4233672"/>
            <a:ext cx="3051962" cy="566928"/>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An abstraction to learn on top of the concept, and breaking changes on somebody else's schedule.</a:t>
            </a:r>
            <a:endParaRPr lang="en-US" sz="1050" dirty="0"/>
          </a:p>
        </p:txBody>
      </p:sp>
      <p:sp>
        <p:nvSpPr>
          <p:cNvPr id="32" name="Text 28"/>
          <p:cNvSpPr/>
          <p:nvPr/>
        </p:nvSpPr>
        <p:spPr>
          <a:xfrm>
            <a:off x="4569866" y="4773168"/>
            <a:ext cx="3051962" cy="201168"/>
          </a:xfrm>
          <a:prstGeom prst="rect">
            <a:avLst/>
          </a:prstGeom>
          <a:noFill/>
          <a:ln/>
        </p:spPr>
        <p:txBody>
          <a:bodyPr wrap="square" lIns="0" tIns="0" rIns="0" bIns="0" rtlCol="0" anchor="ctr"/>
          <a:lstStyle/>
          <a:p>
            <a:pPr indent="0" marL="0">
              <a:buNone/>
            </a:pPr>
            <a:r>
              <a:rPr lang="en-US" sz="850" b="1" spc="130" kern="0" dirty="0">
                <a:solidFill>
                  <a:srgbClr val="E08700"/>
                </a:solidFill>
                <a:latin typeface="Calibri" pitchFamily="34" charset="0"/>
                <a:ea typeface="Calibri" pitchFamily="34" charset="-122"/>
                <a:cs typeface="Calibri" pitchFamily="34" charset="-120"/>
              </a:rPr>
              <a:t>THE HONEST RISK</a:t>
            </a:r>
            <a:endParaRPr lang="en-US" sz="850" dirty="0"/>
          </a:p>
        </p:txBody>
      </p:sp>
      <p:sp>
        <p:nvSpPr>
          <p:cNvPr id="33" name="Text 29"/>
          <p:cNvSpPr/>
          <p:nvPr/>
        </p:nvSpPr>
        <p:spPr>
          <a:xfrm>
            <a:off x="4569866" y="4965192"/>
            <a:ext cx="3051962" cy="566928"/>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Easy to adopt an org-chart framework for a problem that was one agent with four tools.</a:t>
            </a:r>
            <a:endParaRPr lang="en-US" sz="1050" dirty="0"/>
          </a:p>
        </p:txBody>
      </p:sp>
      <p:sp>
        <p:nvSpPr>
          <p:cNvPr id="34" name="Shape 30"/>
          <p:cNvSpPr/>
          <p:nvPr/>
        </p:nvSpPr>
        <p:spPr>
          <a:xfrm>
            <a:off x="8097317" y="1810512"/>
            <a:ext cx="3527450" cy="3675888"/>
          </a:xfrm>
          <a:prstGeom prst="roundRect">
            <a:avLst>
              <a:gd name="adj" fmla="val 2592"/>
            </a:avLst>
          </a:prstGeom>
          <a:solidFill>
            <a:srgbClr val="FFFFFF"/>
          </a:solidFill>
          <a:ln w="17780">
            <a:solidFill>
              <a:srgbClr val="F0D5A6"/>
            </a:solidFill>
            <a:prstDash val="solid"/>
          </a:ln>
          <a:effectLst>
            <a:outerShdw sx="100000" sy="100000" kx="0" ky="0" algn="bl" rotWithShape="0" blurRad="114300" dist="572" dir="5400000">
              <a:srgbClr val="1B1A4A">
                <a:alpha val="7000"/>
              </a:srgbClr>
            </a:outerShdw>
          </a:effectLst>
        </p:spPr>
      </p:sp>
      <p:sp>
        <p:nvSpPr>
          <p:cNvPr id="35" name="Shape 31"/>
          <p:cNvSpPr/>
          <p:nvPr/>
        </p:nvSpPr>
        <p:spPr>
          <a:xfrm>
            <a:off x="8335061" y="1975104"/>
            <a:ext cx="402336" cy="402336"/>
          </a:xfrm>
          <a:prstGeom prst="ellipse">
            <a:avLst/>
          </a:prstGeom>
          <a:solidFill>
            <a:srgbClr val="E08700"/>
          </a:solidFill>
          <a:ln w="12700">
            <a:solidFill>
              <a:srgbClr val="E08700"/>
            </a:solidFill>
            <a:prstDash val="solid"/>
          </a:ln>
        </p:spPr>
      </p:sp>
      <p:pic>
        <p:nvPicPr>
          <p:cNvPr id="36" name="Image 2" descr="preencoded.png">    </p:cNvPr>
          <p:cNvPicPr>
            <a:picLocks noChangeAspect="1"/>
          </p:cNvPicPr>
          <p:nvPr/>
        </p:nvPicPr>
        <p:blipFill>
          <a:blip r:embed="rId3"/>
          <a:stretch>
            <a:fillRect/>
          </a:stretch>
        </p:blipFill>
        <p:spPr>
          <a:xfrm>
            <a:off x="8435645" y="2075688"/>
            <a:ext cx="201168" cy="201168"/>
          </a:xfrm>
          <a:prstGeom prst="rect">
            <a:avLst/>
          </a:prstGeom>
        </p:spPr>
      </p:pic>
      <p:sp>
        <p:nvSpPr>
          <p:cNvPr id="37" name="Text 32"/>
          <p:cNvSpPr/>
          <p:nvPr/>
        </p:nvSpPr>
        <p:spPr>
          <a:xfrm>
            <a:off x="8865413" y="1975104"/>
            <a:ext cx="2521610" cy="274320"/>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Pro-code</a:t>
            </a:r>
            <a:endParaRPr lang="en-US" sz="1700" dirty="0"/>
          </a:p>
        </p:txBody>
      </p:sp>
      <p:sp>
        <p:nvSpPr>
          <p:cNvPr id="38" name="Text 33"/>
          <p:cNvSpPr/>
          <p:nvPr/>
        </p:nvSpPr>
        <p:spPr>
          <a:xfrm>
            <a:off x="8865413" y="2249424"/>
            <a:ext cx="2567330" cy="237744"/>
          </a:xfrm>
          <a:prstGeom prst="rect">
            <a:avLst/>
          </a:prstGeom>
          <a:noFill/>
          <a:ln/>
        </p:spPr>
        <p:txBody>
          <a:bodyPr wrap="square" lIns="0" tIns="0" rIns="0" bIns="0" rtlCol="0" anchor="ctr"/>
          <a:lstStyle/>
          <a:p>
            <a:pPr indent="0" marL="0">
              <a:buNone/>
            </a:pPr>
            <a:r>
              <a:rPr lang="en-US" sz="1000" i="1" dirty="0">
                <a:solidFill>
                  <a:srgbClr val="E08700"/>
                </a:solidFill>
                <a:latin typeface="Calibri" pitchFamily="34" charset="0"/>
                <a:ea typeface="Calibri" pitchFamily="34" charset="-122"/>
                <a:cs typeface="Calibri" pitchFamily="34" charset="-120"/>
              </a:rPr>
              <a:t>your own loop — tier 0</a:t>
            </a:r>
            <a:endParaRPr lang="en-US" sz="1000" dirty="0"/>
          </a:p>
        </p:txBody>
      </p:sp>
      <p:sp>
        <p:nvSpPr>
          <p:cNvPr id="39" name="Shape 34"/>
          <p:cNvSpPr/>
          <p:nvPr/>
        </p:nvSpPr>
        <p:spPr>
          <a:xfrm>
            <a:off x="8316773" y="2578608"/>
            <a:ext cx="3088538" cy="621792"/>
          </a:xfrm>
          <a:prstGeom prst="roundRect">
            <a:avLst>
              <a:gd name="adj" fmla="val 8824"/>
            </a:avLst>
          </a:prstGeom>
          <a:solidFill>
            <a:srgbClr val="FFF4E0"/>
          </a:solidFill>
          <a:ln w="12700">
            <a:solidFill>
              <a:srgbClr val="F0D5A6"/>
            </a:solidFill>
            <a:prstDash val="solid"/>
          </a:ln>
        </p:spPr>
      </p:sp>
      <p:sp>
        <p:nvSpPr>
          <p:cNvPr id="40" name="Text 35"/>
          <p:cNvSpPr/>
          <p:nvPr/>
        </p:nvSpPr>
        <p:spPr>
          <a:xfrm>
            <a:off x="8371637" y="2615184"/>
            <a:ext cx="938073" cy="548640"/>
          </a:xfrm>
          <a:prstGeom prst="rect">
            <a:avLst/>
          </a:prstGeom>
          <a:noFill/>
          <a:ln/>
        </p:spPr>
        <p:txBody>
          <a:bodyPr wrap="square" lIns="0" tIns="0" rIns="0" bIns="0" rtlCol="0" anchor="ctr"/>
          <a:lstStyle/>
          <a:p>
            <a:pPr algn="ctr" indent="0" marL="0">
              <a:lnSpc>
                <a:spcPct val="102000"/>
              </a:lnSpc>
              <a:buNone/>
            </a:pPr>
            <a:r>
              <a:rPr lang="en-US" sz="700" b="1" spc="80" kern="0" dirty="0">
                <a:solidFill>
                  <a:srgbClr val="9B98B4"/>
                </a:solidFill>
                <a:latin typeface="Calibri" pitchFamily="34" charset="0"/>
                <a:ea typeface="Calibri" pitchFamily="34" charset="-122"/>
                <a:cs typeface="Calibri" pitchFamily="34" charset="-120"/>
              </a:rPr>
              <a:t>WHO</a:t>
            </a:r>
            <a:endParaRPr lang="en-US" sz="700" dirty="0"/>
          </a:p>
          <a:p>
            <a:pPr algn="ctr" indent="0" marL="0">
              <a:lnSpc>
                <a:spcPct val="102000"/>
              </a:lnSpc>
              <a:buNone/>
            </a:pPr>
            <a:r>
              <a:rPr lang="en-US" sz="900" b="1" dirty="0">
                <a:solidFill>
                  <a:srgbClr val="3B3760"/>
                </a:solidFill>
                <a:latin typeface="Calibri" pitchFamily="34" charset="0"/>
                <a:ea typeface="Calibri" pitchFamily="34" charset="-122"/>
                <a:cs typeface="Calibri" pitchFamily="34" charset="-120"/>
              </a:rPr>
              <a:t>Engineering teams</a:t>
            </a:r>
            <a:endParaRPr lang="en-US" sz="700" dirty="0"/>
          </a:p>
        </p:txBody>
      </p:sp>
      <p:sp>
        <p:nvSpPr>
          <p:cNvPr id="41" name="Text 36"/>
          <p:cNvSpPr/>
          <p:nvPr/>
        </p:nvSpPr>
        <p:spPr>
          <a:xfrm>
            <a:off x="9401150" y="2615184"/>
            <a:ext cx="938073" cy="548640"/>
          </a:xfrm>
          <a:prstGeom prst="rect">
            <a:avLst/>
          </a:prstGeom>
          <a:noFill/>
          <a:ln/>
        </p:spPr>
        <p:txBody>
          <a:bodyPr wrap="square" lIns="0" tIns="0" rIns="0" bIns="0" rtlCol="0" anchor="ctr"/>
          <a:lstStyle/>
          <a:p>
            <a:pPr algn="ctr" indent="0" marL="0">
              <a:lnSpc>
                <a:spcPct val="102000"/>
              </a:lnSpc>
              <a:buNone/>
            </a:pPr>
            <a:r>
              <a:rPr lang="en-US" sz="700" b="1" spc="80" kern="0" dirty="0">
                <a:solidFill>
                  <a:srgbClr val="9B98B4"/>
                </a:solidFill>
                <a:latin typeface="Calibri" pitchFamily="34" charset="0"/>
                <a:ea typeface="Calibri" pitchFamily="34" charset="-122"/>
                <a:cs typeface="Calibri" pitchFamily="34" charset="-120"/>
              </a:rPr>
              <a:t>FIRST AGENT</a:t>
            </a:r>
            <a:endParaRPr lang="en-US" sz="700" dirty="0"/>
          </a:p>
          <a:p>
            <a:pPr algn="ctr" indent="0" marL="0">
              <a:lnSpc>
                <a:spcPct val="102000"/>
              </a:lnSpc>
              <a:buNone/>
            </a:pPr>
            <a:r>
              <a:rPr lang="en-US" sz="900" b="1" dirty="0">
                <a:solidFill>
                  <a:srgbClr val="3B3760"/>
                </a:solidFill>
                <a:latin typeface="Calibri" pitchFamily="34" charset="0"/>
                <a:ea typeface="Calibri" pitchFamily="34" charset="-122"/>
                <a:cs typeface="Calibri" pitchFamily="34" charset="-120"/>
              </a:rPr>
              <a:t>Days to weeks</a:t>
            </a:r>
            <a:endParaRPr lang="en-US" sz="700" dirty="0"/>
          </a:p>
        </p:txBody>
      </p:sp>
      <p:sp>
        <p:nvSpPr>
          <p:cNvPr id="42" name="Text 37"/>
          <p:cNvSpPr/>
          <p:nvPr/>
        </p:nvSpPr>
        <p:spPr>
          <a:xfrm>
            <a:off x="10430662" y="2615184"/>
            <a:ext cx="938073" cy="548640"/>
          </a:xfrm>
          <a:prstGeom prst="rect">
            <a:avLst/>
          </a:prstGeom>
          <a:noFill/>
          <a:ln/>
        </p:spPr>
        <p:txBody>
          <a:bodyPr wrap="square" lIns="0" tIns="0" rIns="0" bIns="0" rtlCol="0" anchor="ctr"/>
          <a:lstStyle/>
          <a:p>
            <a:pPr algn="ctr" indent="0" marL="0">
              <a:lnSpc>
                <a:spcPct val="102000"/>
              </a:lnSpc>
              <a:buNone/>
            </a:pPr>
            <a:r>
              <a:rPr lang="en-US" sz="700" b="1" spc="80" kern="0" dirty="0">
                <a:solidFill>
                  <a:srgbClr val="9B98B4"/>
                </a:solidFill>
                <a:latin typeface="Calibri" pitchFamily="34" charset="0"/>
                <a:ea typeface="Calibri" pitchFamily="34" charset="-122"/>
                <a:cs typeface="Calibri" pitchFamily="34" charset="-120"/>
              </a:rPr>
              <a:t>YOU CONTROL</a:t>
            </a:r>
            <a:endParaRPr lang="en-US" sz="700" dirty="0"/>
          </a:p>
          <a:p>
            <a:pPr algn="ctr" indent="0" marL="0">
              <a:lnSpc>
                <a:spcPct val="102000"/>
              </a:lnSpc>
              <a:buNone/>
            </a:pPr>
            <a:r>
              <a:rPr lang="en-US" sz="900" b="1" dirty="0">
                <a:solidFill>
                  <a:srgbClr val="3B3760"/>
                </a:solidFill>
                <a:latin typeface="Calibri" pitchFamily="34" charset="0"/>
                <a:ea typeface="Calibri" pitchFamily="34" charset="-122"/>
                <a:cs typeface="Calibri" pitchFamily="34" charset="-120"/>
              </a:rPr>
              <a:t>Everything</a:t>
            </a:r>
            <a:endParaRPr lang="en-US" sz="700" dirty="0"/>
          </a:p>
        </p:txBody>
      </p:sp>
      <p:sp>
        <p:nvSpPr>
          <p:cNvPr id="43" name="Text 38"/>
          <p:cNvSpPr/>
          <p:nvPr/>
        </p:nvSpPr>
        <p:spPr>
          <a:xfrm>
            <a:off x="8335061" y="3310128"/>
            <a:ext cx="3051962" cy="201168"/>
          </a:xfrm>
          <a:prstGeom prst="rect">
            <a:avLst/>
          </a:prstGeom>
          <a:noFill/>
          <a:ln/>
        </p:spPr>
        <p:txBody>
          <a:bodyPr wrap="square" lIns="0" tIns="0" rIns="0" bIns="0" rtlCol="0" anchor="ctr"/>
          <a:lstStyle/>
          <a:p>
            <a:pPr indent="0" marL="0">
              <a:buNone/>
            </a:pPr>
            <a:r>
              <a:rPr lang="en-US" sz="850" b="1" spc="130" kern="0" dirty="0">
                <a:solidFill>
                  <a:srgbClr val="0E9F6E"/>
                </a:solidFill>
                <a:latin typeface="Calibri" pitchFamily="34" charset="0"/>
                <a:ea typeface="Calibri" pitchFamily="34" charset="-122"/>
                <a:cs typeface="Calibri" pitchFamily="34" charset="-120"/>
              </a:rPr>
              <a:t>GOOD FOR</a:t>
            </a:r>
            <a:endParaRPr lang="en-US" sz="850" dirty="0"/>
          </a:p>
        </p:txBody>
      </p:sp>
      <p:sp>
        <p:nvSpPr>
          <p:cNvPr id="44" name="Text 39"/>
          <p:cNvSpPr/>
          <p:nvPr/>
        </p:nvSpPr>
        <p:spPr>
          <a:xfrm>
            <a:off x="8335061" y="3502152"/>
            <a:ext cx="3051962" cy="566928"/>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Regulated, high stakes, or genuinely unusual. Also: whenever you are still working out what the problem is.</a:t>
            </a:r>
            <a:endParaRPr lang="en-US" sz="1050" dirty="0"/>
          </a:p>
        </p:txBody>
      </p:sp>
      <p:sp>
        <p:nvSpPr>
          <p:cNvPr id="45" name="Text 40"/>
          <p:cNvSpPr/>
          <p:nvPr/>
        </p:nvSpPr>
        <p:spPr>
          <a:xfrm>
            <a:off x="8335061" y="4041648"/>
            <a:ext cx="3051962" cy="201168"/>
          </a:xfrm>
          <a:prstGeom prst="rect">
            <a:avLst/>
          </a:prstGeom>
          <a:noFill/>
          <a:ln/>
        </p:spPr>
        <p:txBody>
          <a:bodyPr wrap="square" lIns="0" tIns="0" rIns="0" bIns="0" rtlCol="0" anchor="ctr"/>
          <a:lstStyle/>
          <a:p>
            <a:pPr indent="0" marL="0">
              <a:buNone/>
            </a:pPr>
            <a:r>
              <a:rPr lang="en-US" sz="850" b="1" spc="130" kern="0" dirty="0">
                <a:solidFill>
                  <a:srgbClr val="D93A3F"/>
                </a:solidFill>
                <a:latin typeface="Calibri" pitchFamily="34" charset="0"/>
                <a:ea typeface="Calibri" pitchFamily="34" charset="-122"/>
                <a:cs typeface="Calibri" pitchFamily="34" charset="-120"/>
              </a:rPr>
              <a:t>WHERE IT BREAKS</a:t>
            </a:r>
            <a:endParaRPr lang="en-US" sz="850" dirty="0"/>
          </a:p>
        </p:txBody>
      </p:sp>
      <p:sp>
        <p:nvSpPr>
          <p:cNvPr id="46" name="Text 41"/>
          <p:cNvSpPr/>
          <p:nvPr/>
        </p:nvSpPr>
        <p:spPr>
          <a:xfrm>
            <a:off x="8335061" y="4233672"/>
            <a:ext cx="3051962" cy="566928"/>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You write state, retries, dispatch and resumability yourself, and you own every failure.</a:t>
            </a:r>
            <a:endParaRPr lang="en-US" sz="1050" dirty="0"/>
          </a:p>
        </p:txBody>
      </p:sp>
      <p:sp>
        <p:nvSpPr>
          <p:cNvPr id="47" name="Text 42"/>
          <p:cNvSpPr/>
          <p:nvPr/>
        </p:nvSpPr>
        <p:spPr>
          <a:xfrm>
            <a:off x="8335061" y="4773168"/>
            <a:ext cx="3051962" cy="201168"/>
          </a:xfrm>
          <a:prstGeom prst="rect">
            <a:avLst/>
          </a:prstGeom>
          <a:noFill/>
          <a:ln/>
        </p:spPr>
        <p:txBody>
          <a:bodyPr wrap="square" lIns="0" tIns="0" rIns="0" bIns="0" rtlCol="0" anchor="ctr"/>
          <a:lstStyle/>
          <a:p>
            <a:pPr indent="0" marL="0">
              <a:buNone/>
            </a:pPr>
            <a:r>
              <a:rPr lang="en-US" sz="850" b="1" spc="130" kern="0" dirty="0">
                <a:solidFill>
                  <a:srgbClr val="E08700"/>
                </a:solidFill>
                <a:latin typeface="Calibri" pitchFamily="34" charset="0"/>
                <a:ea typeface="Calibri" pitchFamily="34" charset="-122"/>
                <a:cs typeface="Calibri" pitchFamily="34" charset="-120"/>
              </a:rPr>
              <a:t>THE HONEST RISK</a:t>
            </a:r>
            <a:endParaRPr lang="en-US" sz="850" dirty="0"/>
          </a:p>
        </p:txBody>
      </p:sp>
      <p:sp>
        <p:nvSpPr>
          <p:cNvPr id="48" name="Text 43"/>
          <p:cNvSpPr/>
          <p:nvPr/>
        </p:nvSpPr>
        <p:spPr>
          <a:xfrm>
            <a:off x="8335061" y="4965192"/>
            <a:ext cx="3051962" cy="566928"/>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Reinventing helpers that a framework already gives you, forever, in every team.</a:t>
            </a:r>
            <a:endParaRPr lang="en-US" sz="1050" dirty="0"/>
          </a:p>
        </p:txBody>
      </p:sp>
      <p:sp>
        <p:nvSpPr>
          <p:cNvPr id="49" name="Shape 44"/>
          <p:cNvSpPr/>
          <p:nvPr/>
        </p:nvSpPr>
        <p:spPr>
          <a:xfrm>
            <a:off x="566928" y="5596128"/>
            <a:ext cx="11057839" cy="749808"/>
          </a:xfrm>
          <a:prstGeom prst="roundRect">
            <a:avLst>
              <a:gd name="adj" fmla="val 10976"/>
            </a:avLst>
          </a:prstGeom>
          <a:solidFill>
            <a:srgbClr val="FFF4E0"/>
          </a:solidFill>
          <a:ln w="12700">
            <a:solidFill>
              <a:srgbClr val="F3DCB0"/>
            </a:solidFill>
            <a:prstDash val="solid"/>
          </a:ln>
        </p:spPr>
      </p:sp>
      <p:sp>
        <p:nvSpPr>
          <p:cNvPr id="50" name="Shape 45"/>
          <p:cNvSpPr/>
          <p:nvPr/>
        </p:nvSpPr>
        <p:spPr>
          <a:xfrm>
            <a:off x="841248" y="5779008"/>
            <a:ext cx="384048" cy="384048"/>
          </a:xfrm>
          <a:prstGeom prst="ellipse">
            <a:avLst/>
          </a:prstGeom>
          <a:solidFill>
            <a:srgbClr val="F5A524"/>
          </a:solidFill>
          <a:ln w="12700">
            <a:solidFill>
              <a:srgbClr val="F5A524"/>
            </a:solidFill>
            <a:prstDash val="solid"/>
          </a:ln>
        </p:spPr>
      </p:sp>
      <p:pic>
        <p:nvPicPr>
          <p:cNvPr id="51" name="Image 3" descr="preencoded.png">    </p:cNvPr>
          <p:cNvPicPr>
            <a:picLocks noChangeAspect="1"/>
          </p:cNvPicPr>
          <p:nvPr/>
        </p:nvPicPr>
        <p:blipFill>
          <a:blip r:embed="rId4"/>
          <a:stretch>
            <a:fillRect/>
          </a:stretch>
        </p:blipFill>
        <p:spPr>
          <a:xfrm>
            <a:off x="937260" y="5875020"/>
            <a:ext cx="192024" cy="192024"/>
          </a:xfrm>
          <a:prstGeom prst="rect">
            <a:avLst/>
          </a:prstGeom>
        </p:spPr>
      </p:pic>
      <p:sp>
        <p:nvSpPr>
          <p:cNvPr id="52" name="Text 46"/>
          <p:cNvSpPr/>
          <p:nvPr/>
        </p:nvSpPr>
        <p:spPr>
          <a:xfrm>
            <a:off x="1371600" y="5650992"/>
            <a:ext cx="9960559" cy="640080"/>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All three are legitimate. The mistake is not picking the wrong one — it is picking one without noticing that its failure mode is now your problem.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Two axes explain most of the confusion in the market</a:t>
            </a:r>
            <a:endParaRPr lang="en-US" sz="2800" dirty="0"/>
          </a:p>
        </p:txBody>
      </p:sp>
      <p:sp>
        <p:nvSpPr>
          <p:cNvPr id="4" name="Shape 2"/>
          <p:cNvSpPr/>
          <p:nvPr/>
        </p:nvSpPr>
        <p:spPr>
          <a:xfrm>
            <a:off x="2148840" y="1883664"/>
            <a:ext cx="4315968" cy="1700784"/>
          </a:xfrm>
          <a:prstGeom prst="roundRect">
            <a:avLst>
              <a:gd name="adj" fmla="val 4839"/>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5" name="Text 3"/>
          <p:cNvSpPr/>
          <p:nvPr/>
        </p:nvSpPr>
        <p:spPr>
          <a:xfrm>
            <a:off x="2386584" y="2066544"/>
            <a:ext cx="3840480" cy="274320"/>
          </a:xfrm>
          <a:prstGeom prst="rect">
            <a:avLst/>
          </a:prstGeom>
          <a:noFill/>
          <a:ln/>
        </p:spPr>
        <p:txBody>
          <a:bodyPr wrap="square" lIns="0" tIns="0" rIns="0" bIns="0" rtlCol="0" anchor="ctr"/>
          <a:lstStyle/>
          <a:p>
            <a:pPr indent="0" marL="0">
              <a:buNone/>
            </a:pPr>
            <a:r>
              <a:rPr lang="en-US" sz="1350" b="1" dirty="0">
                <a:solidFill>
                  <a:srgbClr val="141235"/>
                </a:solidFill>
                <a:latin typeface="Calibri" pitchFamily="34" charset="0"/>
                <a:ea typeface="Calibri" pitchFamily="34" charset="-122"/>
                <a:cs typeface="Calibri" pitchFamily="34" charset="-120"/>
              </a:rPr>
              <a:t>Builds agents · non-technical</a:t>
            </a:r>
            <a:endParaRPr lang="en-US" sz="1350" dirty="0"/>
          </a:p>
        </p:txBody>
      </p:sp>
      <p:sp>
        <p:nvSpPr>
          <p:cNvPr id="6" name="Text 4"/>
          <p:cNvSpPr/>
          <p:nvPr/>
        </p:nvSpPr>
        <p:spPr>
          <a:xfrm>
            <a:off x="2386584" y="2395728"/>
            <a:ext cx="3840480" cy="822960"/>
          </a:xfrm>
          <a:prstGeom prst="rect">
            <a:avLst/>
          </a:prstGeom>
          <a:noFill/>
          <a:ln/>
        </p:spPr>
        <p:txBody>
          <a:bodyPr wrap="square" lIns="0" tIns="0" rIns="0" bIns="0" rtlCol="0" anchor="t"/>
          <a:lstStyle/>
          <a:p>
            <a:pPr indent="0" marL="0">
              <a:lnSpc>
                <a:spcPct val="110000"/>
              </a:lnSpc>
              <a:buNone/>
            </a:pPr>
            <a:r>
              <a:rPr lang="en-US" sz="1100" dirty="0">
                <a:solidFill>
                  <a:srgbClr val="6E6B8A"/>
                </a:solidFill>
                <a:latin typeface="Calibri" pitchFamily="34" charset="0"/>
                <a:ea typeface="Calibri" pitchFamily="34" charset="-122"/>
                <a:cs typeface="Calibri" pitchFamily="34" charset="-120"/>
              </a:rPr>
              <a:t>No-code builders, workflow automation tools. Fast to start, hard to test or govern.</a:t>
            </a:r>
            <a:endParaRPr lang="en-US" sz="1100" dirty="0"/>
          </a:p>
        </p:txBody>
      </p:sp>
      <p:sp>
        <p:nvSpPr>
          <p:cNvPr id="7" name="Shape 5"/>
          <p:cNvSpPr/>
          <p:nvPr/>
        </p:nvSpPr>
        <p:spPr>
          <a:xfrm>
            <a:off x="6611112" y="1883664"/>
            <a:ext cx="4315968" cy="1700784"/>
          </a:xfrm>
          <a:prstGeom prst="roundRect">
            <a:avLst>
              <a:gd name="adj" fmla="val 4839"/>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8" name="Text 6"/>
          <p:cNvSpPr/>
          <p:nvPr/>
        </p:nvSpPr>
        <p:spPr>
          <a:xfrm>
            <a:off x="6848856" y="2066544"/>
            <a:ext cx="3840480" cy="274320"/>
          </a:xfrm>
          <a:prstGeom prst="rect">
            <a:avLst/>
          </a:prstGeom>
          <a:noFill/>
          <a:ln/>
        </p:spPr>
        <p:txBody>
          <a:bodyPr wrap="square" lIns="0" tIns="0" rIns="0" bIns="0" rtlCol="0" anchor="ctr"/>
          <a:lstStyle/>
          <a:p>
            <a:pPr indent="0" marL="0">
              <a:buNone/>
            </a:pPr>
            <a:r>
              <a:rPr lang="en-US" sz="1350" b="1" dirty="0">
                <a:solidFill>
                  <a:srgbClr val="141235"/>
                </a:solidFill>
                <a:latin typeface="Calibri" pitchFamily="34" charset="0"/>
                <a:ea typeface="Calibri" pitchFamily="34" charset="-122"/>
                <a:cs typeface="Calibri" pitchFamily="34" charset="-120"/>
              </a:rPr>
              <a:t>Runs agents · non-technical</a:t>
            </a:r>
            <a:endParaRPr lang="en-US" sz="1350" dirty="0"/>
          </a:p>
        </p:txBody>
      </p:sp>
      <p:sp>
        <p:nvSpPr>
          <p:cNvPr id="9" name="Text 7"/>
          <p:cNvSpPr/>
          <p:nvPr/>
        </p:nvSpPr>
        <p:spPr>
          <a:xfrm>
            <a:off x="6848856" y="2395728"/>
            <a:ext cx="3840480" cy="822960"/>
          </a:xfrm>
          <a:prstGeom prst="rect">
            <a:avLst/>
          </a:prstGeom>
          <a:noFill/>
          <a:ln/>
        </p:spPr>
        <p:txBody>
          <a:bodyPr wrap="square" lIns="0" tIns="0" rIns="0" bIns="0" rtlCol="0" anchor="t"/>
          <a:lstStyle/>
          <a:p>
            <a:pPr indent="0" marL="0">
              <a:lnSpc>
                <a:spcPct val="110000"/>
              </a:lnSpc>
              <a:buNone/>
            </a:pPr>
            <a:r>
              <a:rPr lang="en-US" sz="1100" dirty="0">
                <a:solidFill>
                  <a:srgbClr val="6E6B8A"/>
                </a:solidFill>
                <a:latin typeface="Calibri" pitchFamily="34" charset="0"/>
                <a:ea typeface="Calibri" pitchFamily="34" charset="-122"/>
                <a:cs typeface="Calibri" pitchFamily="34" charset="-120"/>
              </a:rPr>
              <a:t>Packaged assistants and agent products, used as-is. Someone else owns the loop.</a:t>
            </a:r>
            <a:endParaRPr lang="en-US" sz="1100" dirty="0"/>
          </a:p>
        </p:txBody>
      </p:sp>
      <p:sp>
        <p:nvSpPr>
          <p:cNvPr id="10" name="Shape 8"/>
          <p:cNvSpPr/>
          <p:nvPr/>
        </p:nvSpPr>
        <p:spPr>
          <a:xfrm>
            <a:off x="2148840" y="3730752"/>
            <a:ext cx="4315968" cy="1700784"/>
          </a:xfrm>
          <a:prstGeom prst="roundRect">
            <a:avLst>
              <a:gd name="adj" fmla="val 4839"/>
            </a:avLst>
          </a:prstGeom>
          <a:solidFill>
            <a:srgbClr val="5B4BE8"/>
          </a:solidFill>
          <a:ln w="12700">
            <a:solidFill>
              <a:srgbClr val="5B4BE8"/>
            </a:solidFill>
            <a:prstDash val="solid"/>
          </a:ln>
          <a:effectLst>
            <a:outerShdw sx="100000" sy="100000" kx="0" ky="0" algn="bl" rotWithShape="0" blurRad="101600" dist="508" dir="5400000">
              <a:srgbClr val="1B1A4A">
                <a:alpha val="7000"/>
              </a:srgbClr>
            </a:outerShdw>
          </a:effectLst>
        </p:spPr>
      </p:sp>
      <p:sp>
        <p:nvSpPr>
          <p:cNvPr id="11" name="Text 9"/>
          <p:cNvSpPr/>
          <p:nvPr/>
        </p:nvSpPr>
        <p:spPr>
          <a:xfrm>
            <a:off x="2386584" y="3913632"/>
            <a:ext cx="38404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Builds agents · technical</a:t>
            </a:r>
            <a:endParaRPr lang="en-US" sz="1350" dirty="0"/>
          </a:p>
        </p:txBody>
      </p:sp>
      <p:sp>
        <p:nvSpPr>
          <p:cNvPr id="12" name="Text 10"/>
          <p:cNvSpPr/>
          <p:nvPr/>
        </p:nvSpPr>
        <p:spPr>
          <a:xfrm>
            <a:off x="2386584" y="4242816"/>
            <a:ext cx="3840480" cy="822960"/>
          </a:xfrm>
          <a:prstGeom prst="rect">
            <a:avLst/>
          </a:prstGeom>
          <a:noFill/>
          <a:ln/>
        </p:spPr>
        <p:txBody>
          <a:bodyPr wrap="square" lIns="0" tIns="0" rIns="0" bIns="0" rtlCol="0" anchor="t"/>
          <a:lstStyle/>
          <a:p>
            <a:pPr indent="0" marL="0">
              <a:lnSpc>
                <a:spcPct val="110000"/>
              </a:lnSpc>
              <a:buNone/>
            </a:pPr>
            <a:r>
              <a:rPr lang="en-US" sz="1100" dirty="0">
                <a:solidFill>
                  <a:srgbClr val="D8D3FF"/>
                </a:solidFill>
                <a:latin typeface="Calibri" pitchFamily="34" charset="0"/>
                <a:ea typeface="Calibri" pitchFamily="34" charset="-122"/>
                <a:cs typeface="Calibri" pitchFamily="34" charset="-120"/>
              </a:rPr>
              <a:t>Open frameworks, hand-written loops, open protocols.</a:t>
            </a:r>
            <a:endParaRPr lang="en-US" sz="1100" dirty="0"/>
          </a:p>
        </p:txBody>
      </p:sp>
      <p:sp>
        <p:nvSpPr>
          <p:cNvPr id="13" name="Text 11"/>
          <p:cNvSpPr/>
          <p:nvPr/>
        </p:nvSpPr>
        <p:spPr>
          <a:xfrm>
            <a:off x="2386584" y="5010912"/>
            <a:ext cx="3840480" cy="237744"/>
          </a:xfrm>
          <a:prstGeom prst="rect">
            <a:avLst/>
          </a:prstGeom>
          <a:noFill/>
          <a:ln/>
        </p:spPr>
        <p:txBody>
          <a:bodyPr wrap="square" lIns="0" tIns="0" rIns="0" bIns="0" rtlCol="0" anchor="ctr"/>
          <a:lstStyle/>
          <a:p>
            <a:pPr indent="0" marL="0">
              <a:buNone/>
            </a:pPr>
            <a:r>
              <a:rPr lang="en-US" sz="950" b="1" spc="200" kern="0" dirty="0">
                <a:solidFill>
                  <a:srgbClr val="F5A524"/>
                </a:solidFill>
                <a:latin typeface="Calibri" pitchFamily="34" charset="0"/>
                <a:ea typeface="Calibri" pitchFamily="34" charset="-122"/>
                <a:cs typeface="Calibri" pitchFamily="34" charset="-120"/>
              </a:rPr>
              <a:t>YOU ARE HERE</a:t>
            </a:r>
            <a:endParaRPr lang="en-US" sz="950" dirty="0"/>
          </a:p>
        </p:txBody>
      </p:sp>
      <p:sp>
        <p:nvSpPr>
          <p:cNvPr id="14" name="Shape 12"/>
          <p:cNvSpPr/>
          <p:nvPr/>
        </p:nvSpPr>
        <p:spPr>
          <a:xfrm>
            <a:off x="6611112" y="3730752"/>
            <a:ext cx="4315968" cy="1700784"/>
          </a:xfrm>
          <a:prstGeom prst="roundRect">
            <a:avLst>
              <a:gd name="adj" fmla="val 4839"/>
            </a:avLst>
          </a:prstGeom>
          <a:solidFill>
            <a:srgbClr val="EEEDFE"/>
          </a:solidFill>
          <a:ln w="12700">
            <a:solidFill>
              <a:srgbClr val="8E82F5"/>
            </a:solidFill>
            <a:prstDash val="solid"/>
          </a:ln>
          <a:effectLst>
            <a:outerShdw sx="100000" sy="100000" kx="0" ky="0" algn="bl" rotWithShape="0" blurRad="101600" dist="508" dir="5400000">
              <a:srgbClr val="1B1A4A">
                <a:alpha val="7000"/>
              </a:srgbClr>
            </a:outerShdw>
          </a:effectLst>
        </p:spPr>
      </p:sp>
      <p:sp>
        <p:nvSpPr>
          <p:cNvPr id="15" name="Text 13"/>
          <p:cNvSpPr/>
          <p:nvPr/>
        </p:nvSpPr>
        <p:spPr>
          <a:xfrm>
            <a:off x="6848856" y="3913632"/>
            <a:ext cx="3840480" cy="274320"/>
          </a:xfrm>
          <a:prstGeom prst="rect">
            <a:avLst/>
          </a:prstGeom>
          <a:noFill/>
          <a:ln/>
        </p:spPr>
        <p:txBody>
          <a:bodyPr wrap="square" lIns="0" tIns="0" rIns="0" bIns="0" rtlCol="0" anchor="ctr"/>
          <a:lstStyle/>
          <a:p>
            <a:pPr indent="0" marL="0">
              <a:buNone/>
            </a:pPr>
            <a:r>
              <a:rPr lang="en-US" sz="1350" b="1" dirty="0">
                <a:solidFill>
                  <a:srgbClr val="141235"/>
                </a:solidFill>
                <a:latin typeface="Calibri" pitchFamily="34" charset="0"/>
                <a:ea typeface="Calibri" pitchFamily="34" charset="-122"/>
                <a:cs typeface="Calibri" pitchFamily="34" charset="-120"/>
              </a:rPr>
              <a:t>Runs agents · technical</a:t>
            </a:r>
            <a:endParaRPr lang="en-US" sz="1350" dirty="0"/>
          </a:p>
        </p:txBody>
      </p:sp>
      <p:sp>
        <p:nvSpPr>
          <p:cNvPr id="16" name="Text 14"/>
          <p:cNvSpPr/>
          <p:nvPr/>
        </p:nvSpPr>
        <p:spPr>
          <a:xfrm>
            <a:off x="6848856" y="4242816"/>
            <a:ext cx="3840480" cy="822960"/>
          </a:xfrm>
          <a:prstGeom prst="rect">
            <a:avLst/>
          </a:prstGeom>
          <a:noFill/>
          <a:ln/>
        </p:spPr>
        <p:txBody>
          <a:bodyPr wrap="square" lIns="0" tIns="0" rIns="0" bIns="0" rtlCol="0" anchor="t"/>
          <a:lstStyle/>
          <a:p>
            <a:pPr indent="0" marL="0">
              <a:lnSpc>
                <a:spcPct val="110000"/>
              </a:lnSpc>
              <a:buNone/>
            </a:pPr>
            <a:r>
              <a:rPr lang="en-US" sz="1100" dirty="0">
                <a:solidFill>
                  <a:srgbClr val="6E6B8A"/>
                </a:solidFill>
                <a:latin typeface="Calibri" pitchFamily="34" charset="0"/>
                <a:ea typeface="Calibri" pitchFamily="34" charset="-122"/>
                <a:cs typeface="Calibri" pitchFamily="34" charset="-120"/>
              </a:rPr>
              <a:t>Managed runtimes and platform services, operated in production. We visit here on Day 2.</a:t>
            </a:r>
            <a:endParaRPr lang="en-US" sz="1100" dirty="0"/>
          </a:p>
        </p:txBody>
      </p:sp>
      <p:sp>
        <p:nvSpPr>
          <p:cNvPr id="17" name="Text 15"/>
          <p:cNvSpPr/>
          <p:nvPr/>
        </p:nvSpPr>
        <p:spPr>
          <a:xfrm>
            <a:off x="502920" y="2386584"/>
            <a:ext cx="1554480" cy="274320"/>
          </a:xfrm>
          <a:prstGeom prst="rect">
            <a:avLst/>
          </a:prstGeom>
          <a:noFill/>
          <a:ln/>
        </p:spPr>
        <p:txBody>
          <a:bodyPr wrap="square" lIns="0" tIns="0" rIns="0" bIns="0" rtlCol="0" anchor="ctr"/>
          <a:lstStyle/>
          <a:p>
            <a:pPr algn="r" indent="0" marL="0">
              <a:buNone/>
            </a:pPr>
            <a:r>
              <a:rPr lang="en-US" sz="1000" b="1" spc="160" kern="0" dirty="0">
                <a:solidFill>
                  <a:srgbClr val="9B98B4"/>
                </a:solidFill>
                <a:latin typeface="Calibri" pitchFamily="34" charset="0"/>
                <a:ea typeface="Calibri" pitchFamily="34" charset="-122"/>
                <a:cs typeface="Calibri" pitchFamily="34" charset="-120"/>
              </a:rPr>
              <a:t>BUILDS IT</a:t>
            </a:r>
            <a:endParaRPr lang="en-US" sz="1000" dirty="0"/>
          </a:p>
        </p:txBody>
      </p:sp>
      <p:sp>
        <p:nvSpPr>
          <p:cNvPr id="18" name="Text 16"/>
          <p:cNvSpPr/>
          <p:nvPr/>
        </p:nvSpPr>
        <p:spPr>
          <a:xfrm>
            <a:off x="502920" y="4233672"/>
            <a:ext cx="1554480" cy="274320"/>
          </a:xfrm>
          <a:prstGeom prst="rect">
            <a:avLst/>
          </a:prstGeom>
          <a:noFill/>
          <a:ln/>
        </p:spPr>
        <p:txBody>
          <a:bodyPr wrap="square" lIns="0" tIns="0" rIns="0" bIns="0" rtlCol="0" anchor="ctr"/>
          <a:lstStyle/>
          <a:p>
            <a:pPr algn="r" indent="0" marL="0">
              <a:buNone/>
            </a:pPr>
            <a:r>
              <a:rPr lang="en-US" sz="1000" b="1" spc="160" kern="0" dirty="0">
                <a:solidFill>
                  <a:srgbClr val="9B98B4"/>
                </a:solidFill>
                <a:latin typeface="Calibri" pitchFamily="34" charset="0"/>
                <a:ea typeface="Calibri" pitchFamily="34" charset="-122"/>
                <a:cs typeface="Calibri" pitchFamily="34" charset="-120"/>
              </a:rPr>
              <a:t>RUNS IT</a:t>
            </a:r>
            <a:endParaRPr lang="en-US" sz="1000" dirty="0"/>
          </a:p>
        </p:txBody>
      </p:sp>
      <p:sp>
        <p:nvSpPr>
          <p:cNvPr id="19" name="Text 17"/>
          <p:cNvSpPr/>
          <p:nvPr/>
        </p:nvSpPr>
        <p:spPr>
          <a:xfrm>
            <a:off x="2148840" y="5559552"/>
            <a:ext cx="4315968" cy="256032"/>
          </a:xfrm>
          <a:prstGeom prst="rect">
            <a:avLst/>
          </a:prstGeom>
          <a:noFill/>
          <a:ln/>
        </p:spPr>
        <p:txBody>
          <a:bodyPr wrap="square" lIns="0" tIns="0" rIns="0" bIns="0" rtlCol="0" anchor="ctr"/>
          <a:lstStyle/>
          <a:p>
            <a:pPr algn="ctr" indent="0" marL="0">
              <a:buNone/>
            </a:pPr>
            <a:r>
              <a:rPr lang="en-US" sz="1000" b="1" spc="160" kern="0" dirty="0">
                <a:solidFill>
                  <a:srgbClr val="9B98B4"/>
                </a:solidFill>
                <a:latin typeface="Calibri" pitchFamily="34" charset="0"/>
                <a:ea typeface="Calibri" pitchFamily="34" charset="-122"/>
                <a:cs typeface="Calibri" pitchFamily="34" charset="-120"/>
              </a:rPr>
              <a:t>NON-TECHNICAL</a:t>
            </a:r>
            <a:endParaRPr lang="en-US" sz="1000" dirty="0"/>
          </a:p>
        </p:txBody>
      </p:sp>
      <p:sp>
        <p:nvSpPr>
          <p:cNvPr id="20" name="Text 18"/>
          <p:cNvSpPr/>
          <p:nvPr/>
        </p:nvSpPr>
        <p:spPr>
          <a:xfrm>
            <a:off x="6611112" y="5559552"/>
            <a:ext cx="4315968" cy="256032"/>
          </a:xfrm>
          <a:prstGeom prst="rect">
            <a:avLst/>
          </a:prstGeom>
          <a:noFill/>
          <a:ln/>
        </p:spPr>
        <p:txBody>
          <a:bodyPr wrap="square" lIns="0" tIns="0" rIns="0" bIns="0" rtlCol="0" anchor="ctr"/>
          <a:lstStyle/>
          <a:p>
            <a:pPr algn="ctr" indent="0" marL="0">
              <a:buNone/>
            </a:pPr>
            <a:r>
              <a:rPr lang="en-US" sz="1000" b="1" spc="160" kern="0" dirty="0">
                <a:solidFill>
                  <a:srgbClr val="9B98B4"/>
                </a:solidFill>
                <a:latin typeface="Calibri" pitchFamily="34" charset="0"/>
                <a:ea typeface="Calibri" pitchFamily="34" charset="-122"/>
                <a:cs typeface="Calibri" pitchFamily="34" charset="-120"/>
              </a:rPr>
              <a:t>TECHNICAL</a:t>
            </a:r>
            <a:endParaRPr lang="en-US" sz="1000" dirty="0"/>
          </a:p>
        </p:txBody>
      </p:sp>
      <p:sp>
        <p:nvSpPr>
          <p:cNvPr id="21" name="Shape 19"/>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2" name="Shape 20"/>
          <p:cNvSpPr/>
          <p:nvPr/>
        </p:nvSpPr>
        <p:spPr>
          <a:xfrm>
            <a:off x="841248" y="5760720"/>
            <a:ext cx="384048" cy="384048"/>
          </a:xfrm>
          <a:prstGeom prst="ellipse">
            <a:avLst/>
          </a:prstGeom>
          <a:solidFill>
            <a:srgbClr val="F5A524"/>
          </a:solidFill>
          <a:ln w="12700">
            <a:solidFill>
              <a:srgbClr val="F5A524"/>
            </a:solidFill>
            <a:prstDash val="solid"/>
          </a:ln>
        </p:spPr>
      </p:sp>
      <p:pic>
        <p:nvPicPr>
          <p:cNvPr id="23" name="Image 0" descr="preencoded.png">    </p:cNvPr>
          <p:cNvPicPr>
            <a:picLocks noChangeAspect="1"/>
          </p:cNvPicPr>
          <p:nvPr/>
        </p:nvPicPr>
        <p:blipFill>
          <a:blip r:embed="rId1"/>
          <a:stretch>
            <a:fillRect/>
          </a:stretch>
        </p:blipFill>
        <p:spPr>
          <a:xfrm>
            <a:off x="937260" y="5856732"/>
            <a:ext cx="192024" cy="192024"/>
          </a:xfrm>
          <a:prstGeom prst="rect">
            <a:avLst/>
          </a:prstGeom>
        </p:spPr>
      </p:pic>
      <p:sp>
        <p:nvSpPr>
          <p:cNvPr id="24" name="Text 21"/>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Nobody is in the wrong quadrant. But a tool built in one quadrant usually cannot be governed from another — that is where most enterprise arguments about agents actually come from.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ORIENTATION · THE ASIDE EVERYONE NEEDS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Unattended is not the same as agentic</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You almost certainly already automate things. The confusion is that RPA runs at 3am with nobody watching, so it feels autonomous — but nothing in it ever decides anything.</a:t>
            </a:r>
            <a:endParaRPr lang="en-US" sz="1400" dirty="0"/>
          </a:p>
        </p:txBody>
      </p:sp>
      <p:sp>
        <p:nvSpPr>
          <p:cNvPr id="5" name="Shape 3"/>
          <p:cNvSpPr/>
          <p:nvPr/>
        </p:nvSpPr>
        <p:spPr>
          <a:xfrm>
            <a:off x="566928" y="2084832"/>
            <a:ext cx="5391760" cy="3218688"/>
          </a:xfrm>
          <a:prstGeom prst="roundRect">
            <a:avLst>
              <a:gd name="adj" fmla="val 2841"/>
            </a:avLst>
          </a:prstGeom>
          <a:solidFill>
            <a:srgbClr val="FFFFFF"/>
          </a:solidFill>
          <a:ln w="17780">
            <a:solidFill>
              <a:srgbClr val="A9DCE3"/>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231136"/>
            <a:ext cx="402336" cy="402336"/>
          </a:xfrm>
          <a:prstGeom prst="ellipse">
            <a:avLst/>
          </a:prstGeom>
          <a:solidFill>
            <a:srgbClr val="0E8C9E"/>
          </a:solidFill>
          <a:ln w="12700">
            <a:solidFill>
              <a:srgbClr val="0E8C9E"/>
            </a:solidFill>
            <a:prstDash val="solid"/>
          </a:ln>
        </p:spPr>
      </p:sp>
      <p:pic>
        <p:nvPicPr>
          <p:cNvPr id="7" name="Image 0" descr="preencoded.png">    </p:cNvPr>
          <p:cNvPicPr>
            <a:picLocks noChangeAspect="1"/>
          </p:cNvPicPr>
          <p:nvPr/>
        </p:nvPicPr>
        <p:blipFill>
          <a:blip r:embed="rId1"/>
          <a:stretch>
            <a:fillRect/>
          </a:stretch>
        </p:blipFill>
        <p:spPr>
          <a:xfrm>
            <a:off x="905256" y="2331720"/>
            <a:ext cx="201168" cy="201168"/>
          </a:xfrm>
          <a:prstGeom prst="rect">
            <a:avLst/>
          </a:prstGeom>
        </p:spPr>
      </p:pic>
      <p:sp>
        <p:nvSpPr>
          <p:cNvPr id="8" name="Text 5"/>
          <p:cNvSpPr/>
          <p:nvPr/>
        </p:nvSpPr>
        <p:spPr>
          <a:xfrm>
            <a:off x="1335024" y="2231136"/>
            <a:ext cx="4385920" cy="274320"/>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RPA and workflow automation</a:t>
            </a:r>
            <a:endParaRPr lang="en-US" sz="1550" dirty="0"/>
          </a:p>
        </p:txBody>
      </p:sp>
      <p:sp>
        <p:nvSpPr>
          <p:cNvPr id="9" name="Text 6"/>
          <p:cNvSpPr/>
          <p:nvPr/>
        </p:nvSpPr>
        <p:spPr>
          <a:xfrm>
            <a:off x="1335024" y="2505456"/>
            <a:ext cx="4385920" cy="237744"/>
          </a:xfrm>
          <a:prstGeom prst="rect">
            <a:avLst/>
          </a:prstGeom>
          <a:noFill/>
          <a:ln/>
        </p:spPr>
        <p:txBody>
          <a:bodyPr wrap="square" lIns="0" tIns="0" rIns="0" bIns="0" rtlCol="0" anchor="ctr"/>
          <a:lstStyle/>
          <a:p>
            <a:pPr indent="0" marL="0">
              <a:buNone/>
            </a:pPr>
            <a:r>
              <a:rPr lang="en-US" sz="1050" i="1" dirty="0">
                <a:solidFill>
                  <a:srgbClr val="0E8C9E"/>
                </a:solidFill>
                <a:latin typeface="Calibri" pitchFamily="34" charset="0"/>
                <a:ea typeface="Calibri" pitchFamily="34" charset="-122"/>
                <a:cs typeface="Calibri" pitchFamily="34" charset="-120"/>
              </a:rPr>
              <a:t>you wrote every step</a:t>
            </a:r>
            <a:endParaRPr lang="en-US" sz="1050" dirty="0"/>
          </a:p>
        </p:txBody>
      </p:sp>
      <p:sp>
        <p:nvSpPr>
          <p:cNvPr id="10" name="Shape 7"/>
          <p:cNvSpPr/>
          <p:nvPr/>
        </p:nvSpPr>
        <p:spPr>
          <a:xfrm>
            <a:off x="749808" y="2852928"/>
            <a:ext cx="5026000" cy="365760"/>
          </a:xfrm>
          <a:prstGeom prst="roundRect">
            <a:avLst>
              <a:gd name="adj" fmla="val 12500"/>
            </a:avLst>
          </a:prstGeom>
          <a:solidFill>
            <a:srgbClr val="F5F6FC"/>
          </a:solidFill>
          <a:ln w="12700">
            <a:solidFill>
              <a:srgbClr val="F5F6FC"/>
            </a:solidFill>
            <a:prstDash val="solid"/>
          </a:ln>
        </p:spPr>
      </p:sp>
      <p:sp>
        <p:nvSpPr>
          <p:cNvPr id="11" name="Text 8"/>
          <p:cNvSpPr/>
          <p:nvPr/>
        </p:nvSpPr>
        <p:spPr>
          <a:xfrm>
            <a:off x="859536" y="2852928"/>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Decides the next step</a:t>
            </a:r>
            <a:endParaRPr lang="en-US" sz="1000" dirty="0"/>
          </a:p>
        </p:txBody>
      </p:sp>
      <p:sp>
        <p:nvSpPr>
          <p:cNvPr id="12" name="Text 9"/>
          <p:cNvSpPr/>
          <p:nvPr/>
        </p:nvSpPr>
        <p:spPr>
          <a:xfrm>
            <a:off x="3017520" y="2852928"/>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You did, at design time</a:t>
            </a:r>
            <a:endParaRPr lang="en-US" sz="1100" dirty="0"/>
          </a:p>
        </p:txBody>
      </p:sp>
      <p:sp>
        <p:nvSpPr>
          <p:cNvPr id="13" name="Text 10"/>
          <p:cNvSpPr/>
          <p:nvPr/>
        </p:nvSpPr>
        <p:spPr>
          <a:xfrm>
            <a:off x="859536" y="3255264"/>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Input it can handle</a:t>
            </a:r>
            <a:endParaRPr lang="en-US" sz="1000" dirty="0"/>
          </a:p>
        </p:txBody>
      </p:sp>
      <p:sp>
        <p:nvSpPr>
          <p:cNvPr id="14" name="Text 11"/>
          <p:cNvSpPr/>
          <p:nvPr/>
        </p:nvSpPr>
        <p:spPr>
          <a:xfrm>
            <a:off x="3017520" y="3255264"/>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Structured and predictable</a:t>
            </a:r>
            <a:endParaRPr lang="en-US" sz="1100" dirty="0"/>
          </a:p>
        </p:txBody>
      </p:sp>
      <p:sp>
        <p:nvSpPr>
          <p:cNvPr id="15" name="Shape 12"/>
          <p:cNvSpPr/>
          <p:nvPr/>
        </p:nvSpPr>
        <p:spPr>
          <a:xfrm>
            <a:off x="749808" y="3657600"/>
            <a:ext cx="5026000" cy="365760"/>
          </a:xfrm>
          <a:prstGeom prst="roundRect">
            <a:avLst>
              <a:gd name="adj" fmla="val 12500"/>
            </a:avLst>
          </a:prstGeom>
          <a:solidFill>
            <a:srgbClr val="F5F6FC"/>
          </a:solidFill>
          <a:ln w="12700">
            <a:solidFill>
              <a:srgbClr val="F5F6FC"/>
            </a:solidFill>
            <a:prstDash val="solid"/>
          </a:ln>
        </p:spPr>
      </p:sp>
      <p:sp>
        <p:nvSpPr>
          <p:cNvPr id="16" name="Text 13"/>
          <p:cNvSpPr/>
          <p:nvPr/>
        </p:nvSpPr>
        <p:spPr>
          <a:xfrm>
            <a:off x="859536" y="3657600"/>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Same input twice</a:t>
            </a:r>
            <a:endParaRPr lang="en-US" sz="1000" dirty="0"/>
          </a:p>
        </p:txBody>
      </p:sp>
      <p:sp>
        <p:nvSpPr>
          <p:cNvPr id="17" name="Text 14"/>
          <p:cNvSpPr/>
          <p:nvPr/>
        </p:nvSpPr>
        <p:spPr>
          <a:xfrm>
            <a:off x="3017520" y="3657600"/>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Identical output, every time</a:t>
            </a:r>
            <a:endParaRPr lang="en-US" sz="1100" dirty="0"/>
          </a:p>
        </p:txBody>
      </p:sp>
      <p:sp>
        <p:nvSpPr>
          <p:cNvPr id="18" name="Text 15"/>
          <p:cNvSpPr/>
          <p:nvPr/>
        </p:nvSpPr>
        <p:spPr>
          <a:xfrm>
            <a:off x="859536" y="4059936"/>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Breaks when</a:t>
            </a:r>
            <a:endParaRPr lang="en-US" sz="1000" dirty="0"/>
          </a:p>
        </p:txBody>
      </p:sp>
      <p:sp>
        <p:nvSpPr>
          <p:cNvPr id="19" name="Text 16"/>
          <p:cNvSpPr/>
          <p:nvPr/>
        </p:nvSpPr>
        <p:spPr>
          <a:xfrm>
            <a:off x="3017520" y="4059936"/>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The screen or the form changes</a:t>
            </a:r>
            <a:endParaRPr lang="en-US" sz="1100" dirty="0"/>
          </a:p>
        </p:txBody>
      </p:sp>
      <p:sp>
        <p:nvSpPr>
          <p:cNvPr id="20" name="Shape 17"/>
          <p:cNvSpPr/>
          <p:nvPr/>
        </p:nvSpPr>
        <p:spPr>
          <a:xfrm>
            <a:off x="749808" y="4462272"/>
            <a:ext cx="5026000" cy="365760"/>
          </a:xfrm>
          <a:prstGeom prst="roundRect">
            <a:avLst>
              <a:gd name="adj" fmla="val 12500"/>
            </a:avLst>
          </a:prstGeom>
          <a:solidFill>
            <a:srgbClr val="F5F6FC"/>
          </a:solidFill>
          <a:ln w="12700">
            <a:solidFill>
              <a:srgbClr val="F5F6FC"/>
            </a:solidFill>
            <a:prstDash val="solid"/>
          </a:ln>
        </p:spPr>
      </p:sp>
      <p:sp>
        <p:nvSpPr>
          <p:cNvPr id="21" name="Text 18"/>
          <p:cNvSpPr/>
          <p:nvPr/>
        </p:nvSpPr>
        <p:spPr>
          <a:xfrm>
            <a:off x="859536" y="4462272"/>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Cost per run</a:t>
            </a:r>
            <a:endParaRPr lang="en-US" sz="1000" dirty="0"/>
          </a:p>
        </p:txBody>
      </p:sp>
      <p:sp>
        <p:nvSpPr>
          <p:cNvPr id="22" name="Text 19"/>
          <p:cNvSpPr/>
          <p:nvPr/>
        </p:nvSpPr>
        <p:spPr>
          <a:xfrm>
            <a:off x="3017520" y="4462272"/>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Effectively zero</a:t>
            </a:r>
            <a:endParaRPr lang="en-US" sz="1100" dirty="0"/>
          </a:p>
        </p:txBody>
      </p:sp>
      <p:sp>
        <p:nvSpPr>
          <p:cNvPr id="23" name="Text 20"/>
          <p:cNvSpPr/>
          <p:nvPr/>
        </p:nvSpPr>
        <p:spPr>
          <a:xfrm>
            <a:off x="859536" y="4864608"/>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Auditability</a:t>
            </a:r>
            <a:endParaRPr lang="en-US" sz="1000" dirty="0"/>
          </a:p>
        </p:txBody>
      </p:sp>
      <p:sp>
        <p:nvSpPr>
          <p:cNvPr id="24" name="Text 21"/>
          <p:cNvSpPr/>
          <p:nvPr/>
        </p:nvSpPr>
        <p:spPr>
          <a:xfrm>
            <a:off x="3017520" y="4864608"/>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Perfect, by construction</a:t>
            </a:r>
            <a:endParaRPr lang="en-US" sz="1100" dirty="0"/>
          </a:p>
        </p:txBody>
      </p:sp>
      <p:sp>
        <p:nvSpPr>
          <p:cNvPr id="25" name="Shape 22"/>
          <p:cNvSpPr/>
          <p:nvPr/>
        </p:nvSpPr>
        <p:spPr>
          <a:xfrm>
            <a:off x="6233008" y="2084832"/>
            <a:ext cx="5391760" cy="3218688"/>
          </a:xfrm>
          <a:prstGeom prst="roundRect">
            <a:avLst>
              <a:gd name="adj" fmla="val 2841"/>
            </a:avLst>
          </a:prstGeom>
          <a:solidFill>
            <a:srgbClr val="FFFFFF"/>
          </a:solidFill>
          <a:ln w="17780">
            <a:solidFill>
              <a:srgbClr val="8E82F5"/>
            </a:solidFill>
            <a:prstDash val="solid"/>
          </a:ln>
          <a:effectLst>
            <a:outerShdw sx="100000" sy="100000" kx="0" ky="0" algn="bl" rotWithShape="0" blurRad="114300" dist="572" dir="5400000">
              <a:srgbClr val="1B1A4A">
                <a:alpha val="7000"/>
              </a:srgbClr>
            </a:outerShdw>
          </a:effectLst>
        </p:spPr>
      </p:sp>
      <p:sp>
        <p:nvSpPr>
          <p:cNvPr id="26" name="Shape 23"/>
          <p:cNvSpPr/>
          <p:nvPr/>
        </p:nvSpPr>
        <p:spPr>
          <a:xfrm>
            <a:off x="6470752" y="2231136"/>
            <a:ext cx="402336" cy="402336"/>
          </a:xfrm>
          <a:prstGeom prst="ellipse">
            <a:avLst/>
          </a:prstGeom>
          <a:solidFill>
            <a:srgbClr val="5B4BE8"/>
          </a:solidFill>
          <a:ln w="12700">
            <a:solidFill>
              <a:srgbClr val="5B4BE8"/>
            </a:solidFill>
            <a:prstDash val="solid"/>
          </a:ln>
        </p:spPr>
      </p:sp>
      <p:pic>
        <p:nvPicPr>
          <p:cNvPr id="27" name="Image 1" descr="preencoded.png">    </p:cNvPr>
          <p:cNvPicPr>
            <a:picLocks noChangeAspect="1"/>
          </p:cNvPicPr>
          <p:nvPr/>
        </p:nvPicPr>
        <p:blipFill>
          <a:blip r:embed="rId2"/>
          <a:stretch>
            <a:fillRect/>
          </a:stretch>
        </p:blipFill>
        <p:spPr>
          <a:xfrm>
            <a:off x="6571336" y="2331720"/>
            <a:ext cx="201168" cy="201168"/>
          </a:xfrm>
          <a:prstGeom prst="rect">
            <a:avLst/>
          </a:prstGeom>
        </p:spPr>
      </p:pic>
      <p:sp>
        <p:nvSpPr>
          <p:cNvPr id="28" name="Text 24"/>
          <p:cNvSpPr/>
          <p:nvPr/>
        </p:nvSpPr>
        <p:spPr>
          <a:xfrm>
            <a:off x="7001104" y="2231136"/>
            <a:ext cx="4385920" cy="274320"/>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An agent</a:t>
            </a:r>
            <a:endParaRPr lang="en-US" sz="1550" dirty="0"/>
          </a:p>
        </p:txBody>
      </p:sp>
      <p:sp>
        <p:nvSpPr>
          <p:cNvPr id="29" name="Text 25"/>
          <p:cNvSpPr/>
          <p:nvPr/>
        </p:nvSpPr>
        <p:spPr>
          <a:xfrm>
            <a:off x="7001104" y="2505456"/>
            <a:ext cx="4385920" cy="237744"/>
          </a:xfrm>
          <a:prstGeom prst="rect">
            <a:avLst/>
          </a:prstGeom>
          <a:noFill/>
          <a:ln/>
        </p:spPr>
        <p:txBody>
          <a:bodyPr wrap="square" lIns="0" tIns="0" rIns="0" bIns="0" rtlCol="0" anchor="ctr"/>
          <a:lstStyle/>
          <a:p>
            <a:pPr indent="0" marL="0">
              <a:buNone/>
            </a:pPr>
            <a:r>
              <a:rPr lang="en-US" sz="1050" i="1" dirty="0">
                <a:solidFill>
                  <a:srgbClr val="5B4BE8"/>
                </a:solidFill>
                <a:latin typeface="Calibri" pitchFamily="34" charset="0"/>
                <a:ea typeface="Calibri" pitchFamily="34" charset="-122"/>
                <a:cs typeface="Calibri" pitchFamily="34" charset="-120"/>
              </a:rPr>
              <a:t>the model picks the next step</a:t>
            </a:r>
            <a:endParaRPr lang="en-US" sz="1050" dirty="0"/>
          </a:p>
        </p:txBody>
      </p:sp>
      <p:sp>
        <p:nvSpPr>
          <p:cNvPr id="30" name="Shape 26"/>
          <p:cNvSpPr/>
          <p:nvPr/>
        </p:nvSpPr>
        <p:spPr>
          <a:xfrm>
            <a:off x="6415888" y="2852928"/>
            <a:ext cx="5026000" cy="365760"/>
          </a:xfrm>
          <a:prstGeom prst="roundRect">
            <a:avLst>
              <a:gd name="adj" fmla="val 12500"/>
            </a:avLst>
          </a:prstGeom>
          <a:solidFill>
            <a:srgbClr val="F5F6FC"/>
          </a:solidFill>
          <a:ln w="12700">
            <a:solidFill>
              <a:srgbClr val="F5F6FC"/>
            </a:solidFill>
            <a:prstDash val="solid"/>
          </a:ln>
        </p:spPr>
      </p:sp>
      <p:sp>
        <p:nvSpPr>
          <p:cNvPr id="31" name="Text 27"/>
          <p:cNvSpPr/>
          <p:nvPr/>
        </p:nvSpPr>
        <p:spPr>
          <a:xfrm>
            <a:off x="6525616" y="2852928"/>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Decides the next step</a:t>
            </a:r>
            <a:endParaRPr lang="en-US" sz="1000" dirty="0"/>
          </a:p>
        </p:txBody>
      </p:sp>
      <p:sp>
        <p:nvSpPr>
          <p:cNvPr id="32" name="Text 28"/>
          <p:cNvSpPr/>
          <p:nvPr/>
        </p:nvSpPr>
        <p:spPr>
          <a:xfrm>
            <a:off x="8683600" y="2852928"/>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The model does, at run time</a:t>
            </a:r>
            <a:endParaRPr lang="en-US" sz="1100" dirty="0"/>
          </a:p>
        </p:txBody>
      </p:sp>
      <p:sp>
        <p:nvSpPr>
          <p:cNvPr id="33" name="Text 29"/>
          <p:cNvSpPr/>
          <p:nvPr/>
        </p:nvSpPr>
        <p:spPr>
          <a:xfrm>
            <a:off x="6525616" y="3255264"/>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Input it can handle</a:t>
            </a:r>
            <a:endParaRPr lang="en-US" sz="1000" dirty="0"/>
          </a:p>
        </p:txBody>
      </p:sp>
      <p:sp>
        <p:nvSpPr>
          <p:cNvPr id="34" name="Text 30"/>
          <p:cNvSpPr/>
          <p:nvPr/>
        </p:nvSpPr>
        <p:spPr>
          <a:xfrm>
            <a:off x="8683600" y="3255264"/>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Messy, varied, unseen before</a:t>
            </a:r>
            <a:endParaRPr lang="en-US" sz="1100" dirty="0"/>
          </a:p>
        </p:txBody>
      </p:sp>
      <p:sp>
        <p:nvSpPr>
          <p:cNvPr id="35" name="Shape 31"/>
          <p:cNvSpPr/>
          <p:nvPr/>
        </p:nvSpPr>
        <p:spPr>
          <a:xfrm>
            <a:off x="6415888" y="3657600"/>
            <a:ext cx="5026000" cy="365760"/>
          </a:xfrm>
          <a:prstGeom prst="roundRect">
            <a:avLst>
              <a:gd name="adj" fmla="val 12500"/>
            </a:avLst>
          </a:prstGeom>
          <a:solidFill>
            <a:srgbClr val="F5F6FC"/>
          </a:solidFill>
          <a:ln w="12700">
            <a:solidFill>
              <a:srgbClr val="F5F6FC"/>
            </a:solidFill>
            <a:prstDash val="solid"/>
          </a:ln>
        </p:spPr>
      </p:sp>
      <p:sp>
        <p:nvSpPr>
          <p:cNvPr id="36" name="Text 32"/>
          <p:cNvSpPr/>
          <p:nvPr/>
        </p:nvSpPr>
        <p:spPr>
          <a:xfrm>
            <a:off x="6525616" y="3657600"/>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Same input twice</a:t>
            </a:r>
            <a:endParaRPr lang="en-US" sz="1000" dirty="0"/>
          </a:p>
        </p:txBody>
      </p:sp>
      <p:sp>
        <p:nvSpPr>
          <p:cNvPr id="37" name="Text 33"/>
          <p:cNvSpPr/>
          <p:nvPr/>
        </p:nvSpPr>
        <p:spPr>
          <a:xfrm>
            <a:off x="8683600" y="3657600"/>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Possibly a different path</a:t>
            </a:r>
            <a:endParaRPr lang="en-US" sz="1100" dirty="0"/>
          </a:p>
        </p:txBody>
      </p:sp>
      <p:sp>
        <p:nvSpPr>
          <p:cNvPr id="38" name="Text 34"/>
          <p:cNvSpPr/>
          <p:nvPr/>
        </p:nvSpPr>
        <p:spPr>
          <a:xfrm>
            <a:off x="6525616" y="4059936"/>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Breaks when</a:t>
            </a:r>
            <a:endParaRPr lang="en-US" sz="1000" dirty="0"/>
          </a:p>
        </p:txBody>
      </p:sp>
      <p:sp>
        <p:nvSpPr>
          <p:cNvPr id="39" name="Text 35"/>
          <p:cNvSpPr/>
          <p:nvPr/>
        </p:nvSpPr>
        <p:spPr>
          <a:xfrm>
            <a:off x="8683600" y="4059936"/>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The judgment was wrong</a:t>
            </a:r>
            <a:endParaRPr lang="en-US" sz="1100" dirty="0"/>
          </a:p>
        </p:txBody>
      </p:sp>
      <p:sp>
        <p:nvSpPr>
          <p:cNvPr id="40" name="Shape 36"/>
          <p:cNvSpPr/>
          <p:nvPr/>
        </p:nvSpPr>
        <p:spPr>
          <a:xfrm>
            <a:off x="6415888" y="4462272"/>
            <a:ext cx="5026000" cy="365760"/>
          </a:xfrm>
          <a:prstGeom prst="roundRect">
            <a:avLst>
              <a:gd name="adj" fmla="val 12500"/>
            </a:avLst>
          </a:prstGeom>
          <a:solidFill>
            <a:srgbClr val="F5F6FC"/>
          </a:solidFill>
          <a:ln w="12700">
            <a:solidFill>
              <a:srgbClr val="F5F6FC"/>
            </a:solidFill>
            <a:prstDash val="solid"/>
          </a:ln>
        </p:spPr>
      </p:sp>
      <p:sp>
        <p:nvSpPr>
          <p:cNvPr id="41" name="Text 37"/>
          <p:cNvSpPr/>
          <p:nvPr/>
        </p:nvSpPr>
        <p:spPr>
          <a:xfrm>
            <a:off x="6525616" y="4462272"/>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Cost per run</a:t>
            </a:r>
            <a:endParaRPr lang="en-US" sz="1000" dirty="0"/>
          </a:p>
        </p:txBody>
      </p:sp>
      <p:sp>
        <p:nvSpPr>
          <p:cNvPr id="42" name="Text 38"/>
          <p:cNvSpPr/>
          <p:nvPr/>
        </p:nvSpPr>
        <p:spPr>
          <a:xfrm>
            <a:off x="8683600" y="4462272"/>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Real, and it scales with turns</a:t>
            </a:r>
            <a:endParaRPr lang="en-US" sz="1100" dirty="0"/>
          </a:p>
        </p:txBody>
      </p:sp>
      <p:sp>
        <p:nvSpPr>
          <p:cNvPr id="43" name="Text 39"/>
          <p:cNvSpPr/>
          <p:nvPr/>
        </p:nvSpPr>
        <p:spPr>
          <a:xfrm>
            <a:off x="6525616" y="4864608"/>
            <a:ext cx="2103120" cy="365760"/>
          </a:xfrm>
          <a:prstGeom prst="rect">
            <a:avLst/>
          </a:prstGeom>
          <a:noFill/>
          <a:ln/>
        </p:spPr>
        <p:txBody>
          <a:bodyPr wrap="square" lIns="0" tIns="0" rIns="0" bIns="0" rtlCol="0" anchor="ctr"/>
          <a:lstStyle/>
          <a:p>
            <a:pPr indent="0" marL="0">
              <a:buNone/>
            </a:pPr>
            <a:r>
              <a:rPr lang="en-US" sz="1000" dirty="0">
                <a:solidFill>
                  <a:srgbClr val="9B98B4"/>
                </a:solidFill>
                <a:latin typeface="Calibri" pitchFamily="34" charset="0"/>
                <a:ea typeface="Calibri" pitchFamily="34" charset="-122"/>
                <a:cs typeface="Calibri" pitchFamily="34" charset="-120"/>
              </a:rPr>
              <a:t>Auditability</a:t>
            </a:r>
            <a:endParaRPr lang="en-US" sz="1000" dirty="0"/>
          </a:p>
        </p:txBody>
      </p:sp>
      <p:sp>
        <p:nvSpPr>
          <p:cNvPr id="44" name="Text 40"/>
          <p:cNvSpPr/>
          <p:nvPr/>
        </p:nvSpPr>
        <p:spPr>
          <a:xfrm>
            <a:off x="8683600" y="4864608"/>
            <a:ext cx="2740000" cy="365760"/>
          </a:xfrm>
          <a:prstGeom prst="rect">
            <a:avLst/>
          </a:prstGeom>
          <a:noFill/>
          <a:ln/>
        </p:spPr>
        <p:txBody>
          <a:bodyPr wrap="square" lIns="0" tIns="0" rIns="0" bIns="0" rtlCol="0" anchor="ctr"/>
          <a:lstStyle/>
          <a:p>
            <a:pPr indent="0" marL="0">
              <a:buNone/>
            </a:pPr>
            <a:r>
              <a:rPr lang="en-US" sz="1100" b="1" dirty="0">
                <a:solidFill>
                  <a:srgbClr val="3B3760"/>
                </a:solidFill>
                <a:latin typeface="Calibri" pitchFamily="34" charset="0"/>
                <a:ea typeface="Calibri" pitchFamily="34" charset="-122"/>
                <a:cs typeface="Calibri" pitchFamily="34" charset="-120"/>
              </a:rPr>
              <a:t>Only if you built the traces</a:t>
            </a:r>
            <a:endParaRPr lang="en-US" sz="1100" dirty="0"/>
          </a:p>
        </p:txBody>
      </p:sp>
      <p:sp>
        <p:nvSpPr>
          <p:cNvPr id="45" name="Text 41"/>
          <p:cNvSpPr/>
          <p:nvPr/>
        </p:nvSpPr>
        <p:spPr>
          <a:xfrm>
            <a:off x="566928" y="5413248"/>
            <a:ext cx="11057839" cy="310896"/>
          </a:xfrm>
          <a:prstGeom prst="rect">
            <a:avLst/>
          </a:prstGeom>
          <a:noFill/>
          <a:ln/>
        </p:spPr>
        <p:txBody>
          <a:bodyPr wrap="square" lIns="0" tIns="0" rIns="0" bIns="0" rtlCol="0" anchor="ctr"/>
          <a:lstStyle/>
          <a:p>
            <a:pPr algn="ctr" indent="0" marL="0">
              <a:buNone/>
            </a:pPr>
            <a:r>
              <a:rPr lang="en-US" sz="1350" i="1" dirty="0">
                <a:solidFill>
                  <a:srgbClr val="3B3760"/>
                </a:solidFill>
                <a:latin typeface="Calibri" pitchFamily="34" charset="0"/>
                <a:ea typeface="Calibri" pitchFamily="34" charset="-122"/>
                <a:cs typeface="Calibri" pitchFamily="34" charset="-120"/>
              </a:rPr>
              <a:t>In production the answer is usually both: an agent for the step that needs judgment, deterministic automation for the steps that do not.</a:t>
            </a:r>
            <a:endParaRPr lang="en-US" sz="1350" dirty="0"/>
          </a:p>
        </p:txBody>
      </p:sp>
      <p:sp>
        <p:nvSpPr>
          <p:cNvPr id="46" name="Shape 42"/>
          <p:cNvSpPr/>
          <p:nvPr/>
        </p:nvSpPr>
        <p:spPr>
          <a:xfrm>
            <a:off x="566928" y="5797296"/>
            <a:ext cx="11057839" cy="676656"/>
          </a:xfrm>
          <a:prstGeom prst="roundRect">
            <a:avLst>
              <a:gd name="adj" fmla="val 12162"/>
            </a:avLst>
          </a:prstGeom>
          <a:solidFill>
            <a:srgbClr val="FFF4E0"/>
          </a:solidFill>
          <a:ln w="12700">
            <a:solidFill>
              <a:srgbClr val="F3DCB0"/>
            </a:solidFill>
            <a:prstDash val="solid"/>
          </a:ln>
        </p:spPr>
      </p:sp>
      <p:sp>
        <p:nvSpPr>
          <p:cNvPr id="47" name="Shape 43"/>
          <p:cNvSpPr/>
          <p:nvPr/>
        </p:nvSpPr>
        <p:spPr>
          <a:xfrm>
            <a:off x="841248" y="5943600"/>
            <a:ext cx="384048" cy="384048"/>
          </a:xfrm>
          <a:prstGeom prst="ellipse">
            <a:avLst/>
          </a:prstGeom>
          <a:solidFill>
            <a:srgbClr val="F5A524"/>
          </a:solidFill>
          <a:ln w="12700">
            <a:solidFill>
              <a:srgbClr val="F5A524"/>
            </a:solidFill>
            <a:prstDash val="solid"/>
          </a:ln>
        </p:spPr>
      </p:sp>
      <p:pic>
        <p:nvPicPr>
          <p:cNvPr id="48" name="Image 2" descr="preencoded.png">    </p:cNvPr>
          <p:cNvPicPr>
            <a:picLocks noChangeAspect="1"/>
          </p:cNvPicPr>
          <p:nvPr/>
        </p:nvPicPr>
        <p:blipFill>
          <a:blip r:embed="rId3"/>
          <a:stretch>
            <a:fillRect/>
          </a:stretch>
        </p:blipFill>
        <p:spPr>
          <a:xfrm>
            <a:off x="937260" y="6039612"/>
            <a:ext cx="192024" cy="192024"/>
          </a:xfrm>
          <a:prstGeom prst="rect">
            <a:avLst/>
          </a:prstGeom>
        </p:spPr>
      </p:pic>
      <p:sp>
        <p:nvSpPr>
          <p:cNvPr id="49" name="Text 44"/>
          <p:cNvSpPr/>
          <p:nvPr/>
        </p:nvSpPr>
        <p:spPr>
          <a:xfrm>
            <a:off x="1371600" y="5852160"/>
            <a:ext cx="9960559" cy="566928"/>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RPA is a very fast clerk following a checklist you wrote. An agent is a junior colleague deciding what to do next. One never surprises you; the other is only worth having because it sometimes does.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00</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00</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The API, once clearly</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One call. One object back. No memory, no hands, and a meter running.</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You send a list. You get one object back.</a:t>
            </a:r>
            <a:endParaRPr lang="en-US" sz="3000" dirty="0"/>
          </a:p>
        </p:txBody>
      </p:sp>
      <p:sp>
        <p:nvSpPr>
          <p:cNvPr id="4" name="Shape 2"/>
          <p:cNvSpPr/>
          <p:nvPr/>
        </p:nvSpPr>
        <p:spPr>
          <a:xfrm>
            <a:off x="960120" y="2286000"/>
            <a:ext cx="1874520" cy="530352"/>
          </a:xfrm>
          <a:prstGeom prst="roundRect">
            <a:avLst>
              <a:gd name="adj" fmla="val 13793"/>
            </a:avLst>
          </a:prstGeom>
          <a:solidFill>
            <a:srgbClr val="FFFFFF"/>
          </a:solidFill>
          <a:ln w="19050">
            <a:solidFill>
              <a:srgbClr val="5B4BE8"/>
            </a:solidFill>
            <a:prstDash val="solid"/>
          </a:ln>
          <a:effectLst>
            <a:outerShdw sx="100000" sy="100000" kx="0" ky="0" algn="bl" rotWithShape="0" blurRad="101600" dist="508" dir="5400000">
              <a:srgbClr val="1B1A4A">
                <a:alpha val="8000"/>
              </a:srgbClr>
            </a:outerShdw>
          </a:effectLst>
        </p:spPr>
      </p:sp>
      <p:sp>
        <p:nvSpPr>
          <p:cNvPr id="5" name="Text 3"/>
          <p:cNvSpPr/>
          <p:nvPr/>
        </p:nvSpPr>
        <p:spPr>
          <a:xfrm>
            <a:off x="960120" y="2286000"/>
            <a:ext cx="1874520" cy="530352"/>
          </a:xfrm>
          <a:prstGeom prst="rect">
            <a:avLst/>
          </a:prstGeom>
          <a:noFill/>
          <a:ln/>
        </p:spPr>
        <p:txBody>
          <a:bodyPr wrap="square" lIns="635" tIns="635" rIns="635" bIns="635" rtlCol="0" anchor="ctr"/>
          <a:lstStyle/>
          <a:p>
            <a:pPr algn="ctr" indent="0" marL="0">
              <a:lnSpc>
                <a:spcPct val="110000"/>
              </a:lnSpc>
              <a:buNone/>
            </a:pPr>
            <a:r>
              <a:rPr lang="en-US" sz="1250" b="1" dirty="0">
                <a:solidFill>
                  <a:srgbClr val="141235"/>
                </a:solidFill>
                <a:latin typeface="Calibri" pitchFamily="34" charset="0"/>
                <a:ea typeface="Calibri" pitchFamily="34" charset="-122"/>
                <a:cs typeface="Calibri" pitchFamily="34" charset="-120"/>
              </a:rPr>
              <a:t>system</a:t>
            </a:r>
            <a:endParaRPr lang="en-US" sz="1250" dirty="0"/>
          </a:p>
        </p:txBody>
      </p:sp>
      <p:sp>
        <p:nvSpPr>
          <p:cNvPr id="6" name="Shape 4"/>
          <p:cNvSpPr/>
          <p:nvPr/>
        </p:nvSpPr>
        <p:spPr>
          <a:xfrm>
            <a:off x="960120" y="2944368"/>
            <a:ext cx="1874520" cy="530352"/>
          </a:xfrm>
          <a:prstGeom prst="roundRect">
            <a:avLst>
              <a:gd name="adj" fmla="val 13793"/>
            </a:avLst>
          </a:prstGeom>
          <a:solidFill>
            <a:srgbClr val="FFFFFF"/>
          </a:solidFill>
          <a:ln w="19050">
            <a:solidFill>
              <a:srgbClr val="5B4BE8"/>
            </a:solidFill>
            <a:prstDash val="solid"/>
          </a:ln>
          <a:effectLst>
            <a:outerShdw sx="100000" sy="100000" kx="0" ky="0" algn="bl" rotWithShape="0" blurRad="101600" dist="508" dir="5400000">
              <a:srgbClr val="1B1A4A">
                <a:alpha val="8000"/>
              </a:srgbClr>
            </a:outerShdw>
          </a:effectLst>
        </p:spPr>
      </p:sp>
      <p:sp>
        <p:nvSpPr>
          <p:cNvPr id="7" name="Text 5"/>
          <p:cNvSpPr/>
          <p:nvPr/>
        </p:nvSpPr>
        <p:spPr>
          <a:xfrm>
            <a:off x="960120" y="2944368"/>
            <a:ext cx="1874520" cy="530352"/>
          </a:xfrm>
          <a:prstGeom prst="rect">
            <a:avLst/>
          </a:prstGeom>
          <a:noFill/>
          <a:ln/>
        </p:spPr>
        <p:txBody>
          <a:bodyPr wrap="square" lIns="635" tIns="635" rIns="635" bIns="635" rtlCol="0" anchor="ctr"/>
          <a:lstStyle/>
          <a:p>
            <a:pPr algn="ctr" indent="0" marL="0">
              <a:lnSpc>
                <a:spcPct val="110000"/>
              </a:lnSpc>
              <a:buNone/>
            </a:pPr>
            <a:r>
              <a:rPr lang="en-US" sz="1250" b="1" dirty="0">
                <a:solidFill>
                  <a:srgbClr val="141235"/>
                </a:solidFill>
                <a:latin typeface="Calibri" pitchFamily="34" charset="0"/>
                <a:ea typeface="Calibri" pitchFamily="34" charset="-122"/>
                <a:cs typeface="Calibri" pitchFamily="34" charset="-120"/>
              </a:rPr>
              <a:t>user</a:t>
            </a:r>
            <a:endParaRPr lang="en-US" sz="1250" dirty="0"/>
          </a:p>
        </p:txBody>
      </p:sp>
      <p:sp>
        <p:nvSpPr>
          <p:cNvPr id="8" name="Shape 6"/>
          <p:cNvSpPr/>
          <p:nvPr/>
        </p:nvSpPr>
        <p:spPr>
          <a:xfrm>
            <a:off x="960120" y="3602736"/>
            <a:ext cx="1874520" cy="530352"/>
          </a:xfrm>
          <a:prstGeom prst="roundRect">
            <a:avLst>
              <a:gd name="adj" fmla="val 13793"/>
            </a:avLst>
          </a:prstGeom>
          <a:solidFill>
            <a:srgbClr val="FFFFFF"/>
          </a:solidFill>
          <a:ln w="19050">
            <a:solidFill>
              <a:srgbClr val="E3E4F2"/>
            </a:solidFill>
            <a:prstDash val="solid"/>
          </a:ln>
          <a:effectLst>
            <a:outerShdw sx="100000" sy="100000" kx="0" ky="0" algn="bl" rotWithShape="0" blurRad="101600" dist="508" dir="5400000">
              <a:srgbClr val="1B1A4A">
                <a:alpha val="8000"/>
              </a:srgbClr>
            </a:outerShdw>
          </a:effectLst>
        </p:spPr>
      </p:sp>
      <p:sp>
        <p:nvSpPr>
          <p:cNvPr id="9" name="Text 7"/>
          <p:cNvSpPr/>
          <p:nvPr/>
        </p:nvSpPr>
        <p:spPr>
          <a:xfrm>
            <a:off x="960120" y="3602736"/>
            <a:ext cx="1874520" cy="530352"/>
          </a:xfrm>
          <a:prstGeom prst="rect">
            <a:avLst/>
          </a:prstGeom>
          <a:noFill/>
          <a:ln/>
        </p:spPr>
        <p:txBody>
          <a:bodyPr wrap="square" lIns="635" tIns="635" rIns="635" bIns="635" rtlCol="0" anchor="ctr"/>
          <a:lstStyle/>
          <a:p>
            <a:pPr algn="ctr" indent="0" marL="0">
              <a:lnSpc>
                <a:spcPct val="110000"/>
              </a:lnSpc>
              <a:buNone/>
            </a:pPr>
            <a:r>
              <a:rPr lang="en-US" sz="1250" b="1" dirty="0">
                <a:solidFill>
                  <a:srgbClr val="6E6B8A"/>
                </a:solidFill>
                <a:latin typeface="Calibri" pitchFamily="34" charset="0"/>
                <a:ea typeface="Calibri" pitchFamily="34" charset="-122"/>
                <a:cs typeface="Calibri" pitchFamily="34" charset="-120"/>
              </a:rPr>
              <a:t>assistant</a:t>
            </a:r>
            <a:endParaRPr lang="en-US" sz="1250" dirty="0"/>
          </a:p>
        </p:txBody>
      </p:sp>
      <p:sp>
        <p:nvSpPr>
          <p:cNvPr id="10" name="Text 8"/>
          <p:cNvSpPr/>
          <p:nvPr/>
        </p:nvSpPr>
        <p:spPr>
          <a:xfrm>
            <a:off x="960120" y="4334256"/>
            <a:ext cx="1874520" cy="274320"/>
          </a:xfrm>
          <a:prstGeom prst="rect">
            <a:avLst/>
          </a:prstGeom>
          <a:noFill/>
          <a:ln/>
        </p:spPr>
        <p:txBody>
          <a:bodyPr wrap="square" lIns="0" tIns="0" rIns="0" bIns="0" rtlCol="0" anchor="ctr"/>
          <a:lstStyle/>
          <a:p>
            <a:pPr algn="ctr" indent="0" marL="0">
              <a:buNone/>
            </a:pPr>
            <a:r>
              <a:rPr lang="en-US" sz="1050" dirty="0">
                <a:solidFill>
                  <a:srgbClr val="6E6B8A"/>
                </a:solidFill>
                <a:latin typeface="Courier New" pitchFamily="34" charset="0"/>
                <a:ea typeface="Courier New" pitchFamily="34" charset="-122"/>
                <a:cs typeface="Courier New" pitchFamily="34" charset="-120"/>
              </a:rPr>
              <a:t>messages = [ … ]</a:t>
            </a:r>
            <a:endParaRPr lang="en-US" sz="1050" dirty="0"/>
          </a:p>
        </p:txBody>
      </p:sp>
      <p:sp>
        <p:nvSpPr>
          <p:cNvPr id="11" name="Shape 9"/>
          <p:cNvSpPr/>
          <p:nvPr/>
        </p:nvSpPr>
        <p:spPr>
          <a:xfrm>
            <a:off x="2953512" y="3273552"/>
            <a:ext cx="566928" cy="0"/>
          </a:xfrm>
          <a:prstGeom prst="line">
            <a:avLst/>
          </a:prstGeom>
          <a:noFill/>
          <a:ln w="27940">
            <a:solidFill>
              <a:srgbClr val="8E82F5"/>
            </a:solidFill>
            <a:prstDash val="solid"/>
            <a:headEnd type="none"/>
            <a:tailEnd type="triangle"/>
          </a:ln>
        </p:spPr>
      </p:sp>
      <p:sp>
        <p:nvSpPr>
          <p:cNvPr id="12" name="Shape 10"/>
          <p:cNvSpPr/>
          <p:nvPr/>
        </p:nvSpPr>
        <p:spPr>
          <a:xfrm>
            <a:off x="3611880" y="2615184"/>
            <a:ext cx="2286000" cy="1316736"/>
          </a:xfrm>
          <a:prstGeom prst="roundRect">
            <a:avLst>
              <a:gd name="adj" fmla="val 5556"/>
            </a:avLst>
          </a:prstGeom>
          <a:solidFill>
            <a:srgbClr val="5B4BE8"/>
          </a:solidFill>
          <a:ln w="19050">
            <a:solidFill>
              <a:srgbClr val="5B4BE8"/>
            </a:solidFill>
            <a:prstDash val="solid"/>
          </a:ln>
        </p:spPr>
      </p:sp>
      <p:sp>
        <p:nvSpPr>
          <p:cNvPr id="13" name="Text 11"/>
          <p:cNvSpPr/>
          <p:nvPr/>
        </p:nvSpPr>
        <p:spPr>
          <a:xfrm>
            <a:off x="3611880" y="2615184"/>
            <a:ext cx="2286000" cy="1316736"/>
          </a:xfrm>
          <a:prstGeom prst="rect">
            <a:avLst/>
          </a:prstGeom>
          <a:noFill/>
          <a:ln/>
        </p:spPr>
        <p:txBody>
          <a:bodyPr wrap="square" lIns="635" tIns="635" rIns="635" bIns="635"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client.chat</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.completions</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.create()</a:t>
            </a:r>
            <a:endParaRPr lang="en-US" sz="1250" dirty="0"/>
          </a:p>
        </p:txBody>
      </p:sp>
      <p:sp>
        <p:nvSpPr>
          <p:cNvPr id="14" name="Shape 12"/>
          <p:cNvSpPr/>
          <p:nvPr/>
        </p:nvSpPr>
        <p:spPr>
          <a:xfrm>
            <a:off x="6035040" y="3273552"/>
            <a:ext cx="566928" cy="0"/>
          </a:xfrm>
          <a:prstGeom prst="line">
            <a:avLst/>
          </a:prstGeom>
          <a:noFill/>
          <a:ln w="27940">
            <a:solidFill>
              <a:srgbClr val="8E82F5"/>
            </a:solidFill>
            <a:prstDash val="solid"/>
            <a:headEnd type="none"/>
            <a:tailEnd type="triangle"/>
          </a:ln>
        </p:spPr>
      </p:sp>
      <p:sp>
        <p:nvSpPr>
          <p:cNvPr id="15" name="Shape 13"/>
          <p:cNvSpPr/>
          <p:nvPr/>
        </p:nvSpPr>
        <p:spPr>
          <a:xfrm>
            <a:off x="6729984" y="2304288"/>
            <a:ext cx="2743200" cy="1938528"/>
          </a:xfrm>
          <a:prstGeom prst="roundRect">
            <a:avLst>
              <a:gd name="adj" fmla="val 3774"/>
            </a:avLst>
          </a:prstGeom>
          <a:solidFill>
            <a:srgbClr val="FFFFFF"/>
          </a:solidFill>
          <a:ln w="19050">
            <a:solidFill>
              <a:srgbClr val="E08700"/>
            </a:solidFill>
            <a:prstDash val="solid"/>
          </a:ln>
          <a:effectLst>
            <a:outerShdw sx="100000" sy="100000" kx="0" ky="0" algn="bl" rotWithShape="0" blurRad="101600" dist="508" dir="5400000">
              <a:srgbClr val="1B1A4A">
                <a:alpha val="8000"/>
              </a:srgbClr>
            </a:outerShdw>
          </a:effectLst>
        </p:spPr>
      </p:sp>
      <p:sp>
        <p:nvSpPr>
          <p:cNvPr id="16" name="Text 14"/>
          <p:cNvSpPr/>
          <p:nvPr/>
        </p:nvSpPr>
        <p:spPr>
          <a:xfrm>
            <a:off x="6729984" y="2304288"/>
            <a:ext cx="2743200" cy="1938528"/>
          </a:xfrm>
          <a:prstGeom prst="rect">
            <a:avLst/>
          </a:prstGeom>
          <a:noFill/>
          <a:ln/>
        </p:spPr>
        <p:txBody>
          <a:bodyPr wrap="square" lIns="635" tIns="635" rIns="635" bIns="635" rtlCol="0" anchor="ctr"/>
          <a:lstStyle/>
          <a:p>
            <a:pPr algn="ctr" indent="0" marL="0">
              <a:lnSpc>
                <a:spcPct val="110000"/>
              </a:lnSpc>
              <a:buNone/>
            </a:pPr>
            <a:r>
              <a:rPr lang="en-US" sz="1300" b="1" dirty="0">
                <a:solidFill>
                  <a:srgbClr val="141235"/>
                </a:solidFill>
                <a:latin typeface="Calibri" pitchFamily="34" charset="0"/>
                <a:ea typeface="Calibri" pitchFamily="34" charset="-122"/>
                <a:cs typeface="Calibri" pitchFamily="34" charset="-120"/>
              </a:rPr>
              <a:t>ChatCompletion</a:t>
            </a:r>
            <a:endParaRPr lang="en-US" sz="1300" dirty="0"/>
          </a:p>
          <a:p>
            <a:pPr algn="ctr" indent="0" marL="0">
              <a:lnSpc>
                <a:spcPct val="110000"/>
              </a:lnSpc>
              <a:buNone/>
            </a:pPr>
            <a:r>
              <a:rPr lang="en-US" sz="950" dirty="0">
                <a:solidFill>
                  <a:srgbClr val="6E6B8A"/>
                </a:solidFill>
                <a:latin typeface="Calibri" pitchFamily="34" charset="0"/>
                <a:ea typeface="Calibri" pitchFamily="34" charset="-122"/>
                <a:cs typeface="Calibri" pitchFamily="34" charset="-120"/>
              </a:rPr>
              <a:t>one object, once</a:t>
            </a:r>
            <a:endParaRPr lang="en-US" sz="1300" dirty="0"/>
          </a:p>
        </p:txBody>
      </p:sp>
      <p:sp>
        <p:nvSpPr>
          <p:cNvPr id="17" name="Text 15"/>
          <p:cNvSpPr/>
          <p:nvPr/>
        </p:nvSpPr>
        <p:spPr>
          <a:xfrm>
            <a:off x="6967728" y="2962656"/>
            <a:ext cx="2377440" cy="219456"/>
          </a:xfrm>
          <a:prstGeom prst="rect">
            <a:avLst/>
          </a:prstGeom>
          <a:noFill/>
          <a:ln/>
        </p:spPr>
        <p:txBody>
          <a:bodyPr wrap="square" lIns="0" tIns="0" rIns="0" bIns="0" rtlCol="0" anchor="ctr"/>
          <a:lstStyle/>
          <a:p>
            <a:pPr indent="0" marL="0">
              <a:buNone/>
            </a:pPr>
            <a:r>
              <a:rPr lang="en-US" sz="1000" dirty="0">
                <a:solidFill>
                  <a:srgbClr val="6E6B8A"/>
                </a:solidFill>
                <a:latin typeface="Courier New" pitchFamily="34" charset="0"/>
                <a:ea typeface="Courier New" pitchFamily="34" charset="-122"/>
                <a:cs typeface="Courier New" pitchFamily="34" charset="-120"/>
              </a:rPr>
              <a:t>· id</a:t>
            </a:r>
            <a:endParaRPr lang="en-US" sz="1000" dirty="0"/>
          </a:p>
        </p:txBody>
      </p:sp>
      <p:sp>
        <p:nvSpPr>
          <p:cNvPr id="18" name="Text 16"/>
          <p:cNvSpPr/>
          <p:nvPr/>
        </p:nvSpPr>
        <p:spPr>
          <a:xfrm>
            <a:off x="6967728" y="3200400"/>
            <a:ext cx="2377440" cy="219456"/>
          </a:xfrm>
          <a:prstGeom prst="rect">
            <a:avLst/>
          </a:prstGeom>
          <a:noFill/>
          <a:ln/>
        </p:spPr>
        <p:txBody>
          <a:bodyPr wrap="square" lIns="0" tIns="0" rIns="0" bIns="0" rtlCol="0" anchor="ctr"/>
          <a:lstStyle/>
          <a:p>
            <a:pPr indent="0" marL="0">
              <a:buNone/>
            </a:pPr>
            <a:r>
              <a:rPr lang="en-US" sz="1000" dirty="0">
                <a:solidFill>
                  <a:srgbClr val="6E6B8A"/>
                </a:solidFill>
                <a:latin typeface="Courier New" pitchFamily="34" charset="0"/>
                <a:ea typeface="Courier New" pitchFamily="34" charset="-122"/>
                <a:cs typeface="Courier New" pitchFamily="34" charset="-120"/>
              </a:rPr>
              <a:t>· model</a:t>
            </a:r>
            <a:endParaRPr lang="en-US" sz="1000" dirty="0"/>
          </a:p>
        </p:txBody>
      </p:sp>
      <p:sp>
        <p:nvSpPr>
          <p:cNvPr id="19" name="Text 17"/>
          <p:cNvSpPr/>
          <p:nvPr/>
        </p:nvSpPr>
        <p:spPr>
          <a:xfrm>
            <a:off x="6967728" y="3438144"/>
            <a:ext cx="2377440" cy="219456"/>
          </a:xfrm>
          <a:prstGeom prst="rect">
            <a:avLst/>
          </a:prstGeom>
          <a:noFill/>
          <a:ln/>
        </p:spPr>
        <p:txBody>
          <a:bodyPr wrap="square" lIns="0" tIns="0" rIns="0" bIns="0" rtlCol="0" anchor="ctr"/>
          <a:lstStyle/>
          <a:p>
            <a:pPr indent="0" marL="0">
              <a:buNone/>
            </a:pPr>
            <a:r>
              <a:rPr lang="en-US" sz="1000" b="1" dirty="0">
                <a:solidFill>
                  <a:srgbClr val="E08700"/>
                </a:solidFill>
                <a:latin typeface="Courier New" pitchFamily="34" charset="0"/>
                <a:ea typeface="Courier New" pitchFamily="34" charset="-122"/>
                <a:cs typeface="Courier New" pitchFamily="34" charset="-120"/>
              </a:rPr>
              <a:t>· choices[0].message</a:t>
            </a:r>
            <a:endParaRPr lang="en-US" sz="1000" dirty="0"/>
          </a:p>
        </p:txBody>
      </p:sp>
      <p:sp>
        <p:nvSpPr>
          <p:cNvPr id="20" name="Text 18"/>
          <p:cNvSpPr/>
          <p:nvPr/>
        </p:nvSpPr>
        <p:spPr>
          <a:xfrm>
            <a:off x="6967728" y="3675888"/>
            <a:ext cx="2377440" cy="219456"/>
          </a:xfrm>
          <a:prstGeom prst="rect">
            <a:avLst/>
          </a:prstGeom>
          <a:noFill/>
          <a:ln/>
        </p:spPr>
        <p:txBody>
          <a:bodyPr wrap="square" lIns="0" tIns="0" rIns="0" bIns="0" rtlCol="0" anchor="ctr"/>
          <a:lstStyle/>
          <a:p>
            <a:pPr indent="0" marL="0">
              <a:buNone/>
            </a:pPr>
            <a:r>
              <a:rPr lang="en-US" sz="1000" dirty="0">
                <a:solidFill>
                  <a:srgbClr val="6E6B8A"/>
                </a:solidFill>
                <a:latin typeface="Courier New" pitchFamily="34" charset="0"/>
                <a:ea typeface="Courier New" pitchFamily="34" charset="-122"/>
                <a:cs typeface="Courier New" pitchFamily="34" charset="-120"/>
              </a:rPr>
              <a:t>· finish_reason</a:t>
            </a:r>
            <a:endParaRPr lang="en-US" sz="1000" dirty="0"/>
          </a:p>
        </p:txBody>
      </p:sp>
      <p:sp>
        <p:nvSpPr>
          <p:cNvPr id="21" name="Text 19"/>
          <p:cNvSpPr/>
          <p:nvPr/>
        </p:nvSpPr>
        <p:spPr>
          <a:xfrm>
            <a:off x="6967728" y="3913632"/>
            <a:ext cx="2377440" cy="219456"/>
          </a:xfrm>
          <a:prstGeom prst="rect">
            <a:avLst/>
          </a:prstGeom>
          <a:noFill/>
          <a:ln/>
        </p:spPr>
        <p:txBody>
          <a:bodyPr wrap="square" lIns="0" tIns="0" rIns="0" bIns="0" rtlCol="0" anchor="ctr"/>
          <a:lstStyle/>
          <a:p>
            <a:pPr indent="0" marL="0">
              <a:buNone/>
            </a:pPr>
            <a:r>
              <a:rPr lang="en-US" sz="1000" dirty="0">
                <a:solidFill>
                  <a:srgbClr val="6E6B8A"/>
                </a:solidFill>
                <a:latin typeface="Courier New" pitchFamily="34" charset="0"/>
                <a:ea typeface="Courier New" pitchFamily="34" charset="-122"/>
                <a:cs typeface="Courier New" pitchFamily="34" charset="-120"/>
              </a:rPr>
              <a:t>· usage</a:t>
            </a:r>
            <a:endParaRPr lang="en-US" sz="1000" dirty="0"/>
          </a:p>
        </p:txBody>
      </p:sp>
      <p:sp>
        <p:nvSpPr>
          <p:cNvPr id="22" name="Shape 20"/>
          <p:cNvSpPr/>
          <p:nvPr/>
        </p:nvSpPr>
        <p:spPr>
          <a:xfrm>
            <a:off x="9710928" y="2761488"/>
            <a:ext cx="1920240" cy="1005840"/>
          </a:xfrm>
          <a:prstGeom prst="roundRect">
            <a:avLst>
              <a:gd name="adj" fmla="val 7273"/>
            </a:avLst>
          </a:prstGeom>
          <a:solidFill>
            <a:srgbClr val="FFF4E0"/>
          </a:solidFill>
          <a:ln w="19050">
            <a:solidFill>
              <a:srgbClr val="E08700"/>
            </a:solidFill>
            <a:prstDash val="dash"/>
          </a:ln>
        </p:spPr>
      </p:sp>
      <p:sp>
        <p:nvSpPr>
          <p:cNvPr id="23" name="Text 21"/>
          <p:cNvSpPr/>
          <p:nvPr/>
        </p:nvSpPr>
        <p:spPr>
          <a:xfrm>
            <a:off x="9710928" y="2761488"/>
            <a:ext cx="1920240" cy="1005840"/>
          </a:xfrm>
          <a:prstGeom prst="rect">
            <a:avLst/>
          </a:prstGeom>
          <a:noFill/>
          <a:ln/>
        </p:spPr>
        <p:txBody>
          <a:bodyPr wrap="square" lIns="635" tIns="635" rIns="635" bIns="635" rtlCol="0" anchor="ctr"/>
          <a:lstStyle/>
          <a:p>
            <a:pPr algn="ctr" indent="0" marL="0">
              <a:lnSpc>
                <a:spcPct val="110000"/>
              </a:lnSpc>
              <a:buNone/>
            </a:pPr>
            <a:r>
              <a:rPr lang="en-US" sz="1200" b="1" dirty="0">
                <a:solidFill>
                  <a:srgbClr val="E08700"/>
                </a:solidFill>
                <a:latin typeface="Calibri" pitchFamily="34" charset="0"/>
                <a:ea typeface="Calibri" pitchFamily="34" charset="-122"/>
                <a:cs typeface="Calibri" pitchFamily="34" charset="-120"/>
              </a:rPr>
              <a:t>tool_calls</a:t>
            </a:r>
            <a:endParaRPr lang="en-US" sz="1200" dirty="0"/>
          </a:p>
          <a:p>
            <a:pPr algn="ctr" indent="0" marL="0">
              <a:lnSpc>
                <a:spcPct val="110000"/>
              </a:lnSpc>
              <a:buNone/>
            </a:pPr>
            <a:r>
              <a:rPr lang="en-US" sz="950" dirty="0">
                <a:solidFill>
                  <a:srgbClr val="6E6B8A"/>
                </a:solidFill>
                <a:latin typeface="Calibri" pitchFamily="34" charset="0"/>
                <a:ea typeface="Calibri" pitchFamily="34" charset="-122"/>
                <a:cs typeface="Calibri" pitchFamily="34" charset="-120"/>
              </a:rPr>
              <a:t>appears here in module 02</a:t>
            </a:r>
            <a:endParaRPr lang="en-US" sz="1200" dirty="0"/>
          </a:p>
        </p:txBody>
      </p:sp>
      <p:sp>
        <p:nvSpPr>
          <p:cNvPr id="24" name="Shape 22"/>
          <p:cNvSpPr/>
          <p:nvPr/>
        </p:nvSpPr>
        <p:spPr>
          <a:xfrm>
            <a:off x="9528048" y="3264408"/>
            <a:ext cx="128016" cy="0"/>
          </a:xfrm>
          <a:prstGeom prst="line">
            <a:avLst/>
          </a:prstGeom>
          <a:noFill/>
          <a:ln w="19050">
            <a:solidFill>
              <a:srgbClr val="E08700"/>
            </a:solidFill>
            <a:prstDash val="dash"/>
            <a:headEnd type="none"/>
            <a:tailEnd type="triangle"/>
          </a:ln>
        </p:spPr>
      </p:sp>
      <p:sp>
        <p:nvSpPr>
          <p:cNvPr id="25"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6" name="Shape 24"/>
          <p:cNvSpPr/>
          <p:nvPr/>
        </p:nvSpPr>
        <p:spPr>
          <a:xfrm>
            <a:off x="841248" y="5760720"/>
            <a:ext cx="384048" cy="384048"/>
          </a:xfrm>
          <a:prstGeom prst="ellipse">
            <a:avLst/>
          </a:prstGeom>
          <a:solidFill>
            <a:srgbClr val="F5A524"/>
          </a:solidFill>
          <a:ln w="12700">
            <a:solidFill>
              <a:srgbClr val="F5A524"/>
            </a:solidFill>
            <a:prstDash val="solid"/>
          </a:ln>
        </p:spPr>
      </p:sp>
      <p:pic>
        <p:nvPicPr>
          <p:cNvPr id="27" name="Image 0" descr="preencoded.png">    </p:cNvPr>
          <p:cNvPicPr>
            <a:picLocks noChangeAspect="1"/>
          </p:cNvPicPr>
          <p:nvPr/>
        </p:nvPicPr>
        <p:blipFill>
          <a:blip r:embed="rId1"/>
          <a:stretch>
            <a:fillRect/>
          </a:stretch>
        </p:blipFill>
        <p:spPr>
          <a:xfrm>
            <a:off x="937260" y="5856732"/>
            <a:ext cx="192024" cy="192024"/>
          </a:xfrm>
          <a:prstGeom prst="rect">
            <a:avLst/>
          </a:prstGeom>
        </p:spPr>
      </p:pic>
      <p:sp>
        <p:nvSpPr>
          <p:cNvPr id="28" name="Text 25"/>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A model call is a vending machine, not a conversation. You put the whole history in, you get one answer out, and the machine forgets you immediately.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Three roles, and only one of them is you</a:t>
            </a:r>
            <a:endParaRPr lang="en-US" sz="3000" dirty="0"/>
          </a:p>
        </p:txBody>
      </p:sp>
      <p:sp>
        <p:nvSpPr>
          <p:cNvPr id="4" name="Shape 2"/>
          <p:cNvSpPr/>
          <p:nvPr/>
        </p:nvSpPr>
        <p:spPr>
          <a:xfrm>
            <a:off x="566928" y="2767980"/>
            <a:ext cx="3527450" cy="1779240"/>
          </a:xfrm>
          <a:prstGeom prst="roundRect">
            <a:avLst>
              <a:gd name="adj" fmla="val 4625"/>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987436"/>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3078876"/>
            <a:ext cx="182880" cy="182880"/>
          </a:xfrm>
          <a:prstGeom prst="rect">
            <a:avLst/>
          </a:prstGeom>
        </p:spPr>
      </p:pic>
      <p:sp>
        <p:nvSpPr>
          <p:cNvPr id="7" name="Text 4"/>
          <p:cNvSpPr/>
          <p:nvPr/>
        </p:nvSpPr>
        <p:spPr>
          <a:xfrm>
            <a:off x="1298448" y="2978292"/>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ROLE: SYSTEM</a:t>
            </a:r>
            <a:endParaRPr lang="en-US" sz="850" dirty="0"/>
          </a:p>
        </p:txBody>
      </p:sp>
      <p:sp>
        <p:nvSpPr>
          <p:cNvPr id="8" name="Text 5"/>
          <p:cNvSpPr/>
          <p:nvPr/>
        </p:nvSpPr>
        <p:spPr>
          <a:xfrm>
            <a:off x="1298448" y="3197748"/>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The standing instruction</a:t>
            </a:r>
            <a:endParaRPr lang="en-US" sz="1450" dirty="0"/>
          </a:p>
        </p:txBody>
      </p:sp>
      <p:sp>
        <p:nvSpPr>
          <p:cNvPr id="9" name="Text 6"/>
          <p:cNvSpPr/>
          <p:nvPr/>
        </p:nvSpPr>
        <p:spPr>
          <a:xfrm>
            <a:off x="1298448" y="3545403"/>
            <a:ext cx="2558186" cy="81893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How it should behave, who it is, what it must never do. It is not stored anywhere. If you want it on the next call, you send it again.</a:t>
            </a:r>
            <a:endParaRPr lang="en-US" sz="1150" dirty="0"/>
          </a:p>
        </p:txBody>
      </p:sp>
      <p:sp>
        <p:nvSpPr>
          <p:cNvPr id="10" name="Shape 7"/>
          <p:cNvSpPr/>
          <p:nvPr/>
        </p:nvSpPr>
        <p:spPr>
          <a:xfrm>
            <a:off x="4332122" y="2767980"/>
            <a:ext cx="3527450" cy="1779240"/>
          </a:xfrm>
          <a:prstGeom prst="roundRect">
            <a:avLst>
              <a:gd name="adj" fmla="val 4625"/>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987436"/>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4661306" y="3078876"/>
            <a:ext cx="182880" cy="182880"/>
          </a:xfrm>
          <a:prstGeom prst="rect">
            <a:avLst/>
          </a:prstGeom>
        </p:spPr>
      </p:pic>
      <p:sp>
        <p:nvSpPr>
          <p:cNvPr id="13" name="Text 9"/>
          <p:cNvSpPr/>
          <p:nvPr/>
        </p:nvSpPr>
        <p:spPr>
          <a:xfrm>
            <a:off x="5063642" y="2978292"/>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ROLE: USER</a:t>
            </a:r>
            <a:endParaRPr lang="en-US" sz="850" dirty="0"/>
          </a:p>
        </p:txBody>
      </p:sp>
      <p:sp>
        <p:nvSpPr>
          <p:cNvPr id="14" name="Text 10"/>
          <p:cNvSpPr/>
          <p:nvPr/>
        </p:nvSpPr>
        <p:spPr>
          <a:xfrm>
            <a:off x="5063642" y="3197748"/>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This turn's request</a:t>
            </a:r>
            <a:endParaRPr lang="en-US" sz="1450" dirty="0"/>
          </a:p>
        </p:txBody>
      </p:sp>
      <p:sp>
        <p:nvSpPr>
          <p:cNvPr id="15" name="Text 11"/>
          <p:cNvSpPr/>
          <p:nvPr/>
        </p:nvSpPr>
        <p:spPr>
          <a:xfrm>
            <a:off x="5063642" y="3545403"/>
            <a:ext cx="2558186" cy="81893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What the person actually asked, right now. In an agent this is often the only thing a human wrote.</a:t>
            </a:r>
            <a:endParaRPr lang="en-US" sz="1150" dirty="0"/>
          </a:p>
        </p:txBody>
      </p:sp>
      <p:sp>
        <p:nvSpPr>
          <p:cNvPr id="16" name="Shape 12"/>
          <p:cNvSpPr/>
          <p:nvPr/>
        </p:nvSpPr>
        <p:spPr>
          <a:xfrm>
            <a:off x="8097317" y="2767980"/>
            <a:ext cx="3527450" cy="1779240"/>
          </a:xfrm>
          <a:prstGeom prst="roundRect">
            <a:avLst>
              <a:gd name="adj" fmla="val 4625"/>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987436"/>
            <a:ext cx="365760" cy="365760"/>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8426501" y="3078876"/>
            <a:ext cx="182880" cy="182880"/>
          </a:xfrm>
          <a:prstGeom prst="rect">
            <a:avLst/>
          </a:prstGeom>
        </p:spPr>
      </p:pic>
      <p:sp>
        <p:nvSpPr>
          <p:cNvPr id="19" name="Text 14"/>
          <p:cNvSpPr/>
          <p:nvPr/>
        </p:nvSpPr>
        <p:spPr>
          <a:xfrm>
            <a:off x="8828837" y="2978292"/>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ROLE: ASSISTANT</a:t>
            </a:r>
            <a:endParaRPr lang="en-US" sz="850" dirty="0"/>
          </a:p>
        </p:txBody>
      </p:sp>
      <p:sp>
        <p:nvSpPr>
          <p:cNvPr id="20" name="Text 15"/>
          <p:cNvSpPr/>
          <p:nvPr/>
        </p:nvSpPr>
        <p:spPr>
          <a:xfrm>
            <a:off x="8828837" y="3197748"/>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What it said last time</a:t>
            </a:r>
            <a:endParaRPr lang="en-US" sz="1450" dirty="0"/>
          </a:p>
        </p:txBody>
      </p:sp>
      <p:sp>
        <p:nvSpPr>
          <p:cNvPr id="21" name="Text 16"/>
          <p:cNvSpPr/>
          <p:nvPr/>
        </p:nvSpPr>
        <p:spPr>
          <a:xfrm>
            <a:off x="8828837" y="3545403"/>
            <a:ext cx="2558186" cy="81893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You send the model's own previous replies back to it. That, and nothing else, is what makes a conversation feel continuous.</a:t>
            </a:r>
            <a:endParaRPr lang="en-US" sz="115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sp>
      <p:pic>
        <p:nvPicPr>
          <p:cNvPr id="24" name="Image 3" descr="preencoded.png">    </p:cNvPr>
          <p:cNvPicPr>
            <a:picLocks noChangeAspect="1"/>
          </p:cNvPicPr>
          <p:nvPr/>
        </p:nvPicPr>
        <p:blipFill>
          <a:blip r:embed="rId4"/>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 model has no memory. What looks like memory is your program re-sending the whole transcript every single time.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Two holes a bare model call cannot fill</a:t>
            </a:r>
            <a:endParaRPr lang="en-US" sz="3000" dirty="0"/>
          </a:p>
        </p:txBody>
      </p:sp>
      <p:sp>
        <p:nvSpPr>
          <p:cNvPr id="4" name="Shape 2"/>
          <p:cNvSpPr/>
          <p:nvPr/>
        </p:nvSpPr>
        <p:spPr>
          <a:xfrm>
            <a:off x="566928" y="2073768"/>
            <a:ext cx="5410048" cy="1887504"/>
          </a:xfrm>
          <a:prstGeom prst="roundRect">
            <a:avLst>
              <a:gd name="adj" fmla="val 4360"/>
            </a:avLst>
          </a:prstGeom>
          <a:solidFill>
            <a:srgbClr val="FDECEC"/>
          </a:solidFill>
          <a:ln w="12700">
            <a:solidFill>
              <a:srgbClr val="F3C9C9"/>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293224"/>
            <a:ext cx="365760" cy="365760"/>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896112" y="2384664"/>
            <a:ext cx="182880" cy="182880"/>
          </a:xfrm>
          <a:prstGeom prst="rect">
            <a:avLst/>
          </a:prstGeom>
        </p:spPr>
      </p:pic>
      <p:sp>
        <p:nvSpPr>
          <p:cNvPr id="7" name="Text 4"/>
          <p:cNvSpPr/>
          <p:nvPr/>
        </p:nvSpPr>
        <p:spPr>
          <a:xfrm>
            <a:off x="1298448" y="2284080"/>
            <a:ext cx="4440784"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HOLE 1</a:t>
            </a:r>
            <a:endParaRPr lang="en-US" sz="850" dirty="0"/>
          </a:p>
        </p:txBody>
      </p:sp>
      <p:sp>
        <p:nvSpPr>
          <p:cNvPr id="8" name="Text 5"/>
          <p:cNvSpPr/>
          <p:nvPr/>
        </p:nvSpPr>
        <p:spPr>
          <a:xfrm>
            <a:off x="1298448" y="2503536"/>
            <a:ext cx="4440784" cy="378744"/>
          </a:xfrm>
          <a:prstGeom prst="rect">
            <a:avLst/>
          </a:prstGeom>
          <a:noFill/>
          <a:ln/>
        </p:spPr>
        <p:txBody>
          <a:bodyPr wrap="square" lIns="0" tIns="0" rIns="0" bIns="0" rtlCol="0" anchor="t"/>
          <a:lstStyle/>
          <a:p>
            <a:pPr indent="0" marL="0">
              <a:lnSpc>
                <a:spcPct val="105000"/>
              </a:lnSpc>
              <a:buNone/>
            </a:pPr>
            <a:r>
              <a:rPr lang="en-US" sz="1700" b="1" dirty="0">
                <a:solidFill>
                  <a:srgbClr val="141235"/>
                </a:solidFill>
                <a:latin typeface="Calibri" pitchFamily="34" charset="0"/>
                <a:ea typeface="Calibri" pitchFamily="34" charset="-122"/>
                <a:cs typeface="Calibri" pitchFamily="34" charset="-120"/>
              </a:rPr>
              <a:t>No memory</a:t>
            </a:r>
            <a:endParaRPr lang="en-US" sz="1700" dirty="0"/>
          </a:p>
        </p:txBody>
      </p:sp>
      <p:sp>
        <p:nvSpPr>
          <p:cNvPr id="9" name="Text 6"/>
          <p:cNvSpPr/>
          <p:nvPr/>
        </p:nvSpPr>
        <p:spPr>
          <a:xfrm>
            <a:off x="1298448" y="2891424"/>
            <a:ext cx="4440784" cy="886968"/>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Ask again in a fresh call and the previous turn is simply gone. There is no server-side conversation. The Python list you keep IS the memory — lose it and the agent has amnesia.</a:t>
            </a:r>
            <a:endParaRPr lang="en-US" sz="1250" dirty="0"/>
          </a:p>
        </p:txBody>
      </p:sp>
      <p:sp>
        <p:nvSpPr>
          <p:cNvPr id="10" name="Shape 7"/>
          <p:cNvSpPr/>
          <p:nvPr/>
        </p:nvSpPr>
        <p:spPr>
          <a:xfrm>
            <a:off x="6214720" y="2073768"/>
            <a:ext cx="5410048" cy="1887504"/>
          </a:xfrm>
          <a:prstGeom prst="roundRect">
            <a:avLst>
              <a:gd name="adj" fmla="val 4360"/>
            </a:avLst>
          </a:prstGeom>
          <a:solidFill>
            <a:srgbClr val="FDECEC"/>
          </a:solidFill>
          <a:ln w="12700">
            <a:solidFill>
              <a:srgbClr val="F3C9C9"/>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6452464" y="2293224"/>
            <a:ext cx="365760" cy="365760"/>
          </a:xfrm>
          <a:prstGeom prst="ellipse">
            <a:avLst/>
          </a:prstGeom>
          <a:solidFill>
            <a:srgbClr val="D93A3F"/>
          </a:solidFill>
          <a:ln w="12700">
            <a:solidFill>
              <a:srgbClr val="D93A3F"/>
            </a:solidFill>
            <a:prstDash val="solid"/>
          </a:ln>
        </p:spPr>
      </p:sp>
      <p:pic>
        <p:nvPicPr>
          <p:cNvPr id="12" name="Image 1" descr="preencoded.png">    </p:cNvPr>
          <p:cNvPicPr>
            <a:picLocks noChangeAspect="1"/>
          </p:cNvPicPr>
          <p:nvPr/>
        </p:nvPicPr>
        <p:blipFill>
          <a:blip r:embed="rId2"/>
          <a:stretch>
            <a:fillRect/>
          </a:stretch>
        </p:blipFill>
        <p:spPr>
          <a:xfrm>
            <a:off x="6543904" y="2384664"/>
            <a:ext cx="182880" cy="182880"/>
          </a:xfrm>
          <a:prstGeom prst="rect">
            <a:avLst/>
          </a:prstGeom>
        </p:spPr>
      </p:pic>
      <p:sp>
        <p:nvSpPr>
          <p:cNvPr id="13" name="Text 9"/>
          <p:cNvSpPr/>
          <p:nvPr/>
        </p:nvSpPr>
        <p:spPr>
          <a:xfrm>
            <a:off x="6946240" y="2284080"/>
            <a:ext cx="4440784"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HOLE 2</a:t>
            </a:r>
            <a:endParaRPr lang="en-US" sz="850" dirty="0"/>
          </a:p>
        </p:txBody>
      </p:sp>
      <p:sp>
        <p:nvSpPr>
          <p:cNvPr id="14" name="Text 10"/>
          <p:cNvSpPr/>
          <p:nvPr/>
        </p:nvSpPr>
        <p:spPr>
          <a:xfrm>
            <a:off x="6946240" y="2503536"/>
            <a:ext cx="4440784" cy="378744"/>
          </a:xfrm>
          <a:prstGeom prst="rect">
            <a:avLst/>
          </a:prstGeom>
          <a:noFill/>
          <a:ln/>
        </p:spPr>
        <p:txBody>
          <a:bodyPr wrap="square" lIns="0" tIns="0" rIns="0" bIns="0" rtlCol="0" anchor="t"/>
          <a:lstStyle/>
          <a:p>
            <a:pPr indent="0" marL="0">
              <a:lnSpc>
                <a:spcPct val="105000"/>
              </a:lnSpc>
              <a:buNone/>
            </a:pPr>
            <a:r>
              <a:rPr lang="en-US" sz="1700" b="1" dirty="0">
                <a:solidFill>
                  <a:srgbClr val="141235"/>
                </a:solidFill>
                <a:latin typeface="Calibri" pitchFamily="34" charset="0"/>
                <a:ea typeface="Calibri" pitchFamily="34" charset="-122"/>
                <a:cs typeface="Calibri" pitchFamily="34" charset="-120"/>
              </a:rPr>
              <a:t>No hands</a:t>
            </a:r>
            <a:endParaRPr lang="en-US" sz="1700" dirty="0"/>
          </a:p>
        </p:txBody>
      </p:sp>
      <p:sp>
        <p:nvSpPr>
          <p:cNvPr id="15" name="Text 11"/>
          <p:cNvSpPr/>
          <p:nvPr/>
        </p:nvSpPr>
        <p:spPr>
          <a:xfrm>
            <a:off x="6946240" y="2891424"/>
            <a:ext cx="4440784" cy="886968"/>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Ask for the weather in Prague right now and it will invent a plausible number, confidently. It has no clock, no network, no database. Flight status fails the same way.</a:t>
            </a:r>
            <a:endParaRPr lang="en-US" sz="1250" dirty="0"/>
          </a:p>
        </p:txBody>
      </p:sp>
      <p:sp>
        <p:nvSpPr>
          <p:cNvPr id="16" name="Shape 12"/>
          <p:cNvSpPr/>
          <p:nvPr/>
        </p:nvSpPr>
        <p:spPr>
          <a:xfrm>
            <a:off x="566928" y="4389852"/>
            <a:ext cx="5410048" cy="967801"/>
          </a:xfrm>
          <a:prstGeom prst="roundRect">
            <a:avLst>
              <a:gd name="adj" fmla="val 8503"/>
            </a:avLst>
          </a:prstGeom>
          <a:solidFill>
            <a:srgbClr val="E7F7F1"/>
          </a:solidFill>
          <a:ln w="12700">
            <a:solidFill>
              <a:srgbClr val="C6E9DA"/>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04672" y="4609308"/>
            <a:ext cx="365760" cy="365760"/>
          </a:xfrm>
          <a:prstGeom prst="ellipse">
            <a:avLst/>
          </a:prstGeom>
          <a:solidFill>
            <a:srgbClr val="0E9F6E"/>
          </a:solidFill>
          <a:ln w="12700">
            <a:solidFill>
              <a:srgbClr val="0E9F6E"/>
            </a:solidFill>
            <a:prstDash val="solid"/>
          </a:ln>
        </p:spPr>
      </p:sp>
      <p:pic>
        <p:nvPicPr>
          <p:cNvPr id="18" name="Image 2" descr="preencoded.png">    </p:cNvPr>
          <p:cNvPicPr>
            <a:picLocks noChangeAspect="1"/>
          </p:cNvPicPr>
          <p:nvPr/>
        </p:nvPicPr>
        <p:blipFill>
          <a:blip r:embed="rId3"/>
          <a:stretch>
            <a:fillRect/>
          </a:stretch>
        </p:blipFill>
        <p:spPr>
          <a:xfrm>
            <a:off x="896112" y="4700748"/>
            <a:ext cx="182880" cy="182880"/>
          </a:xfrm>
          <a:prstGeom prst="rect">
            <a:avLst/>
          </a:prstGeom>
        </p:spPr>
      </p:pic>
      <p:sp>
        <p:nvSpPr>
          <p:cNvPr id="19" name="Text 14"/>
          <p:cNvSpPr/>
          <p:nvPr/>
        </p:nvSpPr>
        <p:spPr>
          <a:xfrm>
            <a:off x="1298448" y="4627596"/>
            <a:ext cx="4440784" cy="314371"/>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Module 02 closes hole 2</a:t>
            </a:r>
            <a:endParaRPr lang="en-US" sz="1300" dirty="0"/>
          </a:p>
        </p:txBody>
      </p:sp>
      <p:sp>
        <p:nvSpPr>
          <p:cNvPr id="20" name="Text 15"/>
          <p:cNvSpPr/>
          <p:nvPr/>
        </p:nvSpPr>
        <p:spPr>
          <a:xfrm>
            <a:off x="1298448" y="4951110"/>
            <a:ext cx="4440784" cy="223662"/>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Tools. Your code fetches, the model reads the result.</a:t>
            </a:r>
            <a:endParaRPr lang="en-US" sz="1100" dirty="0"/>
          </a:p>
        </p:txBody>
      </p:sp>
      <p:sp>
        <p:nvSpPr>
          <p:cNvPr id="21" name="Shape 16"/>
          <p:cNvSpPr/>
          <p:nvPr/>
        </p:nvSpPr>
        <p:spPr>
          <a:xfrm>
            <a:off x="6214720" y="4389852"/>
            <a:ext cx="5410048" cy="967801"/>
          </a:xfrm>
          <a:prstGeom prst="roundRect">
            <a:avLst>
              <a:gd name="adj" fmla="val 8503"/>
            </a:avLst>
          </a:prstGeom>
          <a:solidFill>
            <a:srgbClr val="E7F7F1"/>
          </a:solidFill>
          <a:ln w="12700">
            <a:solidFill>
              <a:srgbClr val="C6E9DA"/>
            </a:solidFill>
            <a:prstDash val="solid"/>
          </a:ln>
          <a:effectLst>
            <a:outerShdw sx="100000" sy="100000" kx="0" ky="0" algn="bl" rotWithShape="0" blurRad="114300" dist="572" dir="5400000">
              <a:srgbClr val="1B1A4A">
                <a:alpha val="7000"/>
              </a:srgbClr>
            </a:outerShdw>
          </a:effectLst>
        </p:spPr>
      </p:sp>
      <p:sp>
        <p:nvSpPr>
          <p:cNvPr id="22" name="Shape 17"/>
          <p:cNvSpPr/>
          <p:nvPr/>
        </p:nvSpPr>
        <p:spPr>
          <a:xfrm>
            <a:off x="6452464" y="4609308"/>
            <a:ext cx="365760" cy="365760"/>
          </a:xfrm>
          <a:prstGeom prst="ellipse">
            <a:avLst/>
          </a:prstGeom>
          <a:solidFill>
            <a:srgbClr val="0E9F6E"/>
          </a:solidFill>
          <a:ln w="12700">
            <a:solidFill>
              <a:srgbClr val="0E9F6E"/>
            </a:solidFill>
            <a:prstDash val="solid"/>
          </a:ln>
        </p:spPr>
      </p:sp>
      <p:pic>
        <p:nvPicPr>
          <p:cNvPr id="23" name="Image 3" descr="preencoded.png">    </p:cNvPr>
          <p:cNvPicPr>
            <a:picLocks noChangeAspect="1"/>
          </p:cNvPicPr>
          <p:nvPr/>
        </p:nvPicPr>
        <p:blipFill>
          <a:blip r:embed="rId4"/>
          <a:stretch>
            <a:fillRect/>
          </a:stretch>
        </p:blipFill>
        <p:spPr>
          <a:xfrm>
            <a:off x="6543904" y="4700748"/>
            <a:ext cx="182880" cy="182880"/>
          </a:xfrm>
          <a:prstGeom prst="rect">
            <a:avLst/>
          </a:prstGeom>
        </p:spPr>
      </p:pic>
      <p:sp>
        <p:nvSpPr>
          <p:cNvPr id="24" name="Text 18"/>
          <p:cNvSpPr/>
          <p:nvPr/>
        </p:nvSpPr>
        <p:spPr>
          <a:xfrm>
            <a:off x="6946240" y="4627596"/>
            <a:ext cx="4440784" cy="314371"/>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Module 05 makes hole 1 affordable</a:t>
            </a:r>
            <a:endParaRPr lang="en-US" sz="1300" dirty="0"/>
          </a:p>
        </p:txBody>
      </p:sp>
      <p:sp>
        <p:nvSpPr>
          <p:cNvPr id="25" name="Text 19"/>
          <p:cNvSpPr/>
          <p:nvPr/>
        </p:nvSpPr>
        <p:spPr>
          <a:xfrm>
            <a:off x="6946240" y="4951110"/>
            <a:ext cx="4440784" cy="223662"/>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Context engineering. Memory costs money per turn.</a:t>
            </a:r>
            <a:endParaRPr lang="en-US" sz="1100" dirty="0"/>
          </a:p>
        </p:txBody>
      </p:sp>
      <p:sp>
        <p:nvSpPr>
          <p:cNvPr id="26" name="Shape 20"/>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7" name="Shape 21"/>
          <p:cNvSpPr/>
          <p:nvPr/>
        </p:nvSpPr>
        <p:spPr>
          <a:xfrm>
            <a:off x="841248" y="5760720"/>
            <a:ext cx="384048" cy="384048"/>
          </a:xfrm>
          <a:prstGeom prst="ellipse">
            <a:avLst/>
          </a:prstGeom>
          <a:solidFill>
            <a:srgbClr val="F5A524"/>
          </a:solidFill>
          <a:ln w="12700">
            <a:solidFill>
              <a:srgbClr val="F5A524"/>
            </a:solidFill>
            <a:prstDash val="solid"/>
          </a:ln>
        </p:spPr>
      </p:sp>
      <p:pic>
        <p:nvPicPr>
          <p:cNvPr id="28" name="Image 4" descr="preencoded.png">    </p:cNvPr>
          <p:cNvPicPr>
            <a:picLocks noChangeAspect="1"/>
          </p:cNvPicPr>
          <p:nvPr/>
        </p:nvPicPr>
        <p:blipFill>
          <a:blip r:embed="rId5"/>
          <a:stretch>
            <a:fillRect/>
          </a:stretch>
        </p:blipFill>
        <p:spPr>
          <a:xfrm>
            <a:off x="937260" y="5856732"/>
            <a:ext cx="192024" cy="192024"/>
          </a:xfrm>
          <a:prstGeom prst="rect">
            <a:avLst/>
          </a:prstGeom>
        </p:spPr>
      </p:pic>
      <p:sp>
        <p:nvSpPr>
          <p:cNvPr id="29" name="Text 22"/>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Everything you have ever seen an AI agent do is one of these two holes being patched by ordinary software around the model.</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Tokens are the meter, and agents run it in a loop</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One call is a fraction of a cent. That is exactly why nobody budgets for it — and then a loop runs it ten thousand times.</a:t>
            </a:r>
            <a:endParaRPr lang="en-US" sz="1400" dirty="0"/>
          </a:p>
        </p:txBody>
      </p:sp>
      <p:sp>
        <p:nvSpPr>
          <p:cNvPr id="5" name="Shape 3"/>
          <p:cNvSpPr/>
          <p:nvPr/>
        </p:nvSpPr>
        <p:spPr>
          <a:xfrm>
            <a:off x="566928" y="2549622"/>
            <a:ext cx="2586152" cy="2215957"/>
          </a:xfrm>
          <a:prstGeom prst="roundRect">
            <a:avLst>
              <a:gd name="adj" fmla="val 371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769078"/>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860518"/>
            <a:ext cx="182880" cy="182880"/>
          </a:xfrm>
          <a:prstGeom prst="rect">
            <a:avLst/>
          </a:prstGeom>
        </p:spPr>
      </p:pic>
      <p:sp>
        <p:nvSpPr>
          <p:cNvPr id="8" name="Text 5"/>
          <p:cNvSpPr/>
          <p:nvPr/>
        </p:nvSpPr>
        <p:spPr>
          <a:xfrm>
            <a:off x="1298448" y="275993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INPUT TOKENS</a:t>
            </a:r>
            <a:endParaRPr lang="en-US" sz="850" dirty="0"/>
          </a:p>
        </p:txBody>
      </p:sp>
      <p:sp>
        <p:nvSpPr>
          <p:cNvPr id="9" name="Text 6"/>
          <p:cNvSpPr/>
          <p:nvPr/>
        </p:nvSpPr>
        <p:spPr>
          <a:xfrm>
            <a:off x="1298448" y="297939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Everything you send</a:t>
            </a:r>
            <a:endParaRPr lang="en-US" sz="1450" dirty="0"/>
          </a:p>
        </p:txBody>
      </p:sp>
      <p:sp>
        <p:nvSpPr>
          <p:cNvPr id="10" name="Text 7"/>
          <p:cNvSpPr/>
          <p:nvPr/>
        </p:nvSpPr>
        <p:spPr>
          <a:xfrm>
            <a:off x="1298448" y="3610691"/>
            <a:ext cx="1616888" cy="97200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System prompt, whole history, every tool schema, every tool result. It all gets re-sent on every single turn.</a:t>
            </a:r>
            <a:endParaRPr lang="en-US" sz="1100" dirty="0"/>
          </a:p>
        </p:txBody>
      </p:sp>
      <p:sp>
        <p:nvSpPr>
          <p:cNvPr id="11" name="Shape 8"/>
          <p:cNvSpPr/>
          <p:nvPr/>
        </p:nvSpPr>
        <p:spPr>
          <a:xfrm>
            <a:off x="3390824" y="2549622"/>
            <a:ext cx="2586152" cy="2215957"/>
          </a:xfrm>
          <a:prstGeom prst="roundRect">
            <a:avLst>
              <a:gd name="adj" fmla="val 371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3628568" y="2769078"/>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3720008" y="2860518"/>
            <a:ext cx="182880" cy="182880"/>
          </a:xfrm>
          <a:prstGeom prst="rect">
            <a:avLst/>
          </a:prstGeom>
        </p:spPr>
      </p:pic>
      <p:sp>
        <p:nvSpPr>
          <p:cNvPr id="14" name="Text 10"/>
          <p:cNvSpPr/>
          <p:nvPr/>
        </p:nvSpPr>
        <p:spPr>
          <a:xfrm>
            <a:off x="4122344" y="275993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OUTPUT TOKENS</a:t>
            </a:r>
            <a:endParaRPr lang="en-US" sz="850" dirty="0"/>
          </a:p>
        </p:txBody>
      </p:sp>
      <p:sp>
        <p:nvSpPr>
          <p:cNvPr id="15" name="Text 11"/>
          <p:cNvSpPr/>
          <p:nvPr/>
        </p:nvSpPr>
        <p:spPr>
          <a:xfrm>
            <a:off x="4122344" y="297939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Everything it writes</a:t>
            </a:r>
            <a:endParaRPr lang="en-US" sz="1450" dirty="0"/>
          </a:p>
        </p:txBody>
      </p:sp>
      <p:sp>
        <p:nvSpPr>
          <p:cNvPr id="16" name="Text 12"/>
          <p:cNvSpPr/>
          <p:nvPr/>
        </p:nvSpPr>
        <p:spPr>
          <a:xfrm>
            <a:off x="4122344" y="3610691"/>
            <a:ext cx="1616888" cy="97200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Including the tool call it asks for. Cheaper per call than input, usually — but you pay for every retry.</a:t>
            </a:r>
            <a:endParaRPr lang="en-US" sz="1100" dirty="0"/>
          </a:p>
        </p:txBody>
      </p:sp>
      <p:sp>
        <p:nvSpPr>
          <p:cNvPr id="17" name="Shape 13"/>
          <p:cNvSpPr/>
          <p:nvPr/>
        </p:nvSpPr>
        <p:spPr>
          <a:xfrm>
            <a:off x="6214720" y="2549622"/>
            <a:ext cx="2586152" cy="2215957"/>
          </a:xfrm>
          <a:prstGeom prst="roundRect">
            <a:avLst>
              <a:gd name="adj" fmla="val 371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6452464" y="2769078"/>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6543904" y="2860518"/>
            <a:ext cx="182880" cy="182880"/>
          </a:xfrm>
          <a:prstGeom prst="rect">
            <a:avLst/>
          </a:prstGeom>
        </p:spPr>
      </p:pic>
      <p:sp>
        <p:nvSpPr>
          <p:cNvPr id="20" name="Text 15"/>
          <p:cNvSpPr/>
          <p:nvPr/>
        </p:nvSpPr>
        <p:spPr>
          <a:xfrm>
            <a:off x="6946240" y="275993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REASONING TOKENS</a:t>
            </a:r>
            <a:endParaRPr lang="en-US" sz="850" dirty="0"/>
          </a:p>
        </p:txBody>
      </p:sp>
      <p:sp>
        <p:nvSpPr>
          <p:cNvPr id="21" name="Text 16"/>
          <p:cNvSpPr/>
          <p:nvPr/>
        </p:nvSpPr>
        <p:spPr>
          <a:xfrm>
            <a:off x="6946240" y="297939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Thinking you never see</a:t>
            </a:r>
            <a:endParaRPr lang="en-US" sz="1450" dirty="0"/>
          </a:p>
        </p:txBody>
      </p:sp>
      <p:sp>
        <p:nvSpPr>
          <p:cNvPr id="22" name="Text 17"/>
          <p:cNvSpPr/>
          <p:nvPr/>
        </p:nvSpPr>
        <p:spPr>
          <a:xfrm>
            <a:off x="6946240" y="3610691"/>
            <a:ext cx="1616888" cy="97200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Billed as output even when the text is never returned to you. This is the line item that surprises finance.</a:t>
            </a:r>
            <a:endParaRPr lang="en-US" sz="1100" dirty="0"/>
          </a:p>
        </p:txBody>
      </p:sp>
      <p:sp>
        <p:nvSpPr>
          <p:cNvPr id="23" name="Shape 18"/>
          <p:cNvSpPr/>
          <p:nvPr/>
        </p:nvSpPr>
        <p:spPr>
          <a:xfrm>
            <a:off x="9038615" y="2549622"/>
            <a:ext cx="2586152" cy="2215957"/>
          </a:xfrm>
          <a:prstGeom prst="roundRect">
            <a:avLst>
              <a:gd name="adj" fmla="val 371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4" name="Shape 19"/>
          <p:cNvSpPr/>
          <p:nvPr/>
        </p:nvSpPr>
        <p:spPr>
          <a:xfrm>
            <a:off x="9276359" y="2769078"/>
            <a:ext cx="365760" cy="365760"/>
          </a:xfrm>
          <a:prstGeom prst="ellipse">
            <a:avLst/>
          </a:prstGeom>
          <a:solidFill>
            <a:srgbClr val="F5A524"/>
          </a:solidFill>
          <a:ln w="12700">
            <a:solidFill>
              <a:srgbClr val="F5A524"/>
            </a:solidFill>
            <a:prstDash val="solid"/>
          </a:ln>
        </p:spPr>
      </p:sp>
      <p:pic>
        <p:nvPicPr>
          <p:cNvPr id="25" name="Image 3" descr="preencoded.png">    </p:cNvPr>
          <p:cNvPicPr>
            <a:picLocks noChangeAspect="1"/>
          </p:cNvPicPr>
          <p:nvPr/>
        </p:nvPicPr>
        <p:blipFill>
          <a:blip r:embed="rId4"/>
          <a:stretch>
            <a:fillRect/>
          </a:stretch>
        </p:blipFill>
        <p:spPr>
          <a:xfrm>
            <a:off x="9367799" y="2860518"/>
            <a:ext cx="182880" cy="182880"/>
          </a:xfrm>
          <a:prstGeom prst="rect">
            <a:avLst/>
          </a:prstGeom>
        </p:spPr>
      </p:pic>
      <p:sp>
        <p:nvSpPr>
          <p:cNvPr id="26" name="Text 20"/>
          <p:cNvSpPr/>
          <p:nvPr/>
        </p:nvSpPr>
        <p:spPr>
          <a:xfrm>
            <a:off x="9770135" y="275993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MULTIPLIER</a:t>
            </a:r>
            <a:endParaRPr lang="en-US" sz="850" dirty="0"/>
          </a:p>
        </p:txBody>
      </p:sp>
      <p:sp>
        <p:nvSpPr>
          <p:cNvPr id="27" name="Text 21"/>
          <p:cNvSpPr/>
          <p:nvPr/>
        </p:nvSpPr>
        <p:spPr>
          <a:xfrm>
            <a:off x="9770135" y="297939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 every user, × every turn</a:t>
            </a:r>
            <a:endParaRPr lang="en-US" sz="1450" dirty="0"/>
          </a:p>
        </p:txBody>
      </p:sp>
      <p:sp>
        <p:nvSpPr>
          <p:cNvPr id="28" name="Text 22"/>
          <p:cNvSpPr/>
          <p:nvPr/>
        </p:nvSpPr>
        <p:spPr>
          <a:xfrm>
            <a:off x="9770135" y="3610691"/>
            <a:ext cx="1616888" cy="97200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 page-load assistant, or a retry loop with no cap, is where a fraction of a cent becomes a real invoice.</a:t>
            </a:r>
            <a:endParaRPr lang="en-US" sz="1100" dirty="0"/>
          </a:p>
        </p:txBody>
      </p:sp>
      <p:sp>
        <p:nvSpPr>
          <p:cNvPr id="29"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30" name="Shape 24"/>
          <p:cNvSpPr/>
          <p:nvPr/>
        </p:nvSpPr>
        <p:spPr>
          <a:xfrm>
            <a:off x="841248" y="5760720"/>
            <a:ext cx="384048" cy="384048"/>
          </a:xfrm>
          <a:prstGeom prst="ellipse">
            <a:avLst/>
          </a:prstGeom>
          <a:solidFill>
            <a:srgbClr val="F5A524"/>
          </a:solidFill>
          <a:ln w="12700">
            <a:solidFill>
              <a:srgbClr val="F5A524"/>
            </a:solidFill>
            <a:prstDash val="solid"/>
          </a:ln>
        </p:spPr>
      </p:sp>
      <p:pic>
        <p:nvPicPr>
          <p:cNvPr id="31" name="Image 4" descr="preencoded.png">    </p:cNvPr>
          <p:cNvPicPr>
            <a:picLocks noChangeAspect="1"/>
          </p:cNvPicPr>
          <p:nvPr/>
        </p:nvPicPr>
        <p:blipFill>
          <a:blip r:embed="rId5"/>
          <a:stretch>
            <a:fillRect/>
          </a:stretch>
        </p:blipFill>
        <p:spPr>
          <a:xfrm>
            <a:off x="937260" y="5856732"/>
            <a:ext cx="192024" cy="192024"/>
          </a:xfrm>
          <a:prstGeom prst="rect">
            <a:avLst/>
          </a:prstGeom>
        </p:spPr>
      </p:pic>
      <p:sp>
        <p:nvSpPr>
          <p:cNvPr id="32" name="Text 25"/>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You are not billed per question. You are billed per word in and per word out, every time round the loop — so a chatty agent is literally a more expensive agent.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01</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01</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What an agent is</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One test, three shapes, and an honest look at when it should not be one.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A22"/>
        </a:solidFill>
      </p:bgPr>
    </p:bg>
    <p:spTree>
      <p:nvGrpSpPr>
        <p:cNvPr id="1" name=""/>
        <p:cNvGrpSpPr/>
        <p:nvPr/>
      </p:nvGrpSpPr>
      <p:grpSpPr>
        <a:xfrm>
          <a:off x="0" y="0"/>
          <a:ext cx="0" cy="0"/>
          <a:chOff x="0" y="0"/>
          <a:chExt cx="0" cy="0"/>
        </a:xfrm>
      </p:grpSpPr>
      <p:pic>
        <p:nvPicPr>
          <p:cNvPr id="2" name="Image 0" descr="bg quo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01 · WHAT AN AGENT IS</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indent="0" marL="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indent="0" marL="0">
              <a:lnSpc>
                <a:spcPct val="116000"/>
              </a:lnSpc>
              <a:buNone/>
            </a:pPr>
            <a:r>
              <a:rPr lang="en-US" sz="4200" b="1" dirty="0">
                <a:solidFill>
                  <a:srgbClr val="FFFFFF"/>
                </a:solidFill>
                <a:latin typeface="Cambria" pitchFamily="34" charset="0"/>
                <a:ea typeface="Cambria" pitchFamily="34" charset="-122"/>
                <a:cs typeface="Cambria" pitchFamily="34" charset="-120"/>
              </a:rPr>
              <a:t>Who decides the next step —</a:t>
            </a:r>
            <a:endParaRPr lang="en-US" sz="4200" dirty="0"/>
          </a:p>
          <a:p>
            <a:pPr indent="0" marL="0">
              <a:lnSpc>
                <a:spcPct val="116000"/>
              </a:lnSpc>
              <a:buNone/>
            </a:pPr>
            <a:r>
              <a:rPr lang="en-US" sz="4200" b="1" dirty="0">
                <a:solidFill>
                  <a:srgbClr val="FFFFFF"/>
                </a:solidFill>
                <a:latin typeface="Cambria" pitchFamily="34" charset="0"/>
                <a:ea typeface="Cambria" pitchFamily="34" charset="-122"/>
                <a:cs typeface="Cambria" pitchFamily="34" charset="-120"/>
              </a:rPr>
              <a:t>you, or the model?</a:t>
            </a:r>
            <a:endParaRPr lang="en-US" sz="42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indent="0" marL="0">
              <a:lnSpc>
                <a:spcPct val="120000"/>
              </a:lnSpc>
              <a:buNone/>
            </a:pPr>
            <a:r>
              <a:rPr lang="en-US" sz="1450" dirty="0">
                <a:solidFill>
                  <a:srgbClr val="B9B4E0"/>
                </a:solidFill>
                <a:latin typeface="Calibri" pitchFamily="34" charset="0"/>
                <a:ea typeface="Calibri" pitchFamily="34" charset="-122"/>
                <a:cs typeface="Calibri" pitchFamily="34" charset="-120"/>
              </a:rPr>
              <a:t>This is the whole test. Everything else — frameworks, protocols, topologies — is downstream of the answer.</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Chatbot, workflow, or agent — told apart by one question</a:t>
            </a:r>
            <a:endParaRPr lang="en-US" sz="2800" dirty="0"/>
          </a:p>
        </p:txBody>
      </p:sp>
      <p:sp>
        <p:nvSpPr>
          <p:cNvPr id="4" name="Shape 2"/>
          <p:cNvSpPr/>
          <p:nvPr/>
        </p:nvSpPr>
        <p:spPr>
          <a:xfrm>
            <a:off x="566928" y="1847088"/>
            <a:ext cx="3503066" cy="3566160"/>
          </a:xfrm>
          <a:prstGeom prst="roundRect">
            <a:avLst>
              <a:gd name="adj" fmla="val 2610"/>
            </a:avLst>
          </a:prstGeom>
          <a:solidFill>
            <a:srgbClr val="FFFFFF"/>
          </a:solidFill>
          <a:ln w="12700">
            <a:solidFill>
              <a:srgbClr val="E3E4F2"/>
            </a:solidFill>
            <a:prstDash val="solid"/>
          </a:ln>
          <a:effectLst>
            <a:outerShdw sx="100000" sy="100000" kx="0" ky="0" algn="bl" rotWithShape="0" blurRad="114300" dist="572" dir="5400000">
              <a:srgbClr val="1B1A4A">
                <a:alpha val="8000"/>
              </a:srgbClr>
            </a:outerShdw>
          </a:effectLst>
        </p:spPr>
      </p:sp>
      <p:sp>
        <p:nvSpPr>
          <p:cNvPr id="5" name="Shape 3"/>
          <p:cNvSpPr/>
          <p:nvPr/>
        </p:nvSpPr>
        <p:spPr>
          <a:xfrm>
            <a:off x="804672" y="2048256"/>
            <a:ext cx="402336" cy="402336"/>
          </a:xfrm>
          <a:prstGeom prst="ellipse">
            <a:avLst/>
          </a:prstGeom>
          <a:solidFill>
            <a:srgbClr val="8E82F5"/>
          </a:solidFill>
          <a:ln w="12700">
            <a:solidFill>
              <a:srgbClr val="8E82F5"/>
            </a:solidFill>
            <a:prstDash val="solid"/>
          </a:ln>
        </p:spPr>
      </p:sp>
      <p:pic>
        <p:nvPicPr>
          <p:cNvPr id="6" name="Image 0" descr="preencoded.png">    </p:cNvPr>
          <p:cNvPicPr>
            <a:picLocks noChangeAspect="1"/>
          </p:cNvPicPr>
          <p:nvPr/>
        </p:nvPicPr>
        <p:blipFill>
          <a:blip r:embed="rId1"/>
          <a:stretch>
            <a:fillRect/>
          </a:stretch>
        </p:blipFill>
        <p:spPr>
          <a:xfrm>
            <a:off x="905256" y="2148840"/>
            <a:ext cx="201168" cy="201168"/>
          </a:xfrm>
          <a:prstGeom prst="rect">
            <a:avLst/>
          </a:prstGeom>
        </p:spPr>
      </p:pic>
      <p:sp>
        <p:nvSpPr>
          <p:cNvPr id="7" name="Text 4"/>
          <p:cNvSpPr/>
          <p:nvPr/>
        </p:nvSpPr>
        <p:spPr>
          <a:xfrm>
            <a:off x="1316736" y="2084832"/>
            <a:ext cx="2497226" cy="329184"/>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Chatbot</a:t>
            </a:r>
            <a:endParaRPr lang="en-US" sz="1700" dirty="0"/>
          </a:p>
        </p:txBody>
      </p:sp>
      <p:pic>
        <p:nvPicPr>
          <p:cNvPr id="8" name="Image 1" descr="s18 chatbot">    </p:cNvPr>
          <p:cNvPicPr>
            <a:picLocks noChangeAspect="1"/>
          </p:cNvPicPr>
          <p:nvPr/>
        </p:nvPicPr>
        <p:blipFill>
          <a:blip r:embed="rId2"/>
          <a:stretch>
            <a:fillRect/>
          </a:stretch>
        </p:blipFill>
        <p:spPr>
          <a:xfrm>
            <a:off x="1368930" y="2432304"/>
            <a:ext cx="1899062" cy="1481328"/>
          </a:xfrm>
          <a:prstGeom prst="rect">
            <a:avLst/>
          </a:prstGeom>
        </p:spPr>
      </p:pic>
      <p:sp>
        <p:nvSpPr>
          <p:cNvPr id="9" name="Text 5"/>
          <p:cNvSpPr/>
          <p:nvPr/>
        </p:nvSpPr>
        <p:spPr>
          <a:xfrm>
            <a:off x="822960" y="4114800"/>
            <a:ext cx="2991002" cy="786384"/>
          </a:xfrm>
          <a:prstGeom prst="rect">
            <a:avLst/>
          </a:prstGeom>
          <a:noFill/>
          <a:ln/>
        </p:spPr>
        <p:txBody>
          <a:bodyPr wrap="square" lIns="0" tIns="0" rIns="0" bIns="0" rtlCol="0" anchor="t"/>
          <a:lstStyle/>
          <a:p>
            <a:pPr indent="0" marL="0">
              <a:lnSpc>
                <a:spcPct val="112000"/>
              </a:lnSpc>
              <a:buNone/>
            </a:pPr>
            <a:r>
              <a:rPr lang="en-US" sz="950" b="1" spc="120" kern="0" dirty="0">
                <a:solidFill>
                  <a:srgbClr val="E08700"/>
                </a:solidFill>
                <a:latin typeface="Calibri" pitchFamily="34" charset="0"/>
                <a:ea typeface="Calibri" pitchFamily="34" charset="-122"/>
                <a:cs typeface="Calibri" pitchFamily="34" charset="-120"/>
              </a:rPr>
              <a:t>Who decides?</a:t>
            </a:r>
            <a:endParaRPr lang="en-US" sz="950" dirty="0"/>
          </a:p>
          <a:p>
            <a:pPr indent="0" marL="0">
              <a:lnSpc>
                <a:spcPct val="112000"/>
              </a:lnSpc>
              <a:buNone/>
            </a:pPr>
            <a:r>
              <a:rPr lang="en-US" sz="1150" dirty="0">
                <a:solidFill>
                  <a:srgbClr val="3B3760"/>
                </a:solidFill>
                <a:latin typeface="Calibri" pitchFamily="34" charset="0"/>
                <a:ea typeface="Calibri" pitchFamily="34" charset="-122"/>
                <a:cs typeface="Calibri" pitchFamily="34" charset="-120"/>
              </a:rPr>
              <a:t>Nobody decides — there are no steps</a:t>
            </a:r>
            <a:endParaRPr lang="en-US" sz="950" dirty="0"/>
          </a:p>
        </p:txBody>
      </p:sp>
      <p:sp>
        <p:nvSpPr>
          <p:cNvPr id="10" name="Text 6"/>
          <p:cNvSpPr/>
          <p:nvPr/>
        </p:nvSpPr>
        <p:spPr>
          <a:xfrm>
            <a:off x="822960" y="4882896"/>
            <a:ext cx="2991002" cy="512064"/>
          </a:xfrm>
          <a:prstGeom prst="rect">
            <a:avLst/>
          </a:prstGeom>
          <a:noFill/>
          <a:ln/>
        </p:spPr>
        <p:txBody>
          <a:bodyPr wrap="square" lIns="0" tIns="0" rIns="0" bIns="0" rtlCol="0" anchor="t"/>
          <a:lstStyle/>
          <a:p>
            <a:pPr indent="0" marL="0">
              <a:lnSpc>
                <a:spcPct val="110000"/>
              </a:lnSpc>
              <a:buNone/>
            </a:pPr>
            <a:r>
              <a:rPr lang="en-US" sz="1100" dirty="0">
                <a:solidFill>
                  <a:srgbClr val="6E6B8A"/>
                </a:solidFill>
                <a:latin typeface="Calibri" pitchFamily="34" charset="0"/>
                <a:ea typeface="Calibri" pitchFamily="34" charset="-122"/>
                <a:cs typeface="Calibri" pitchFamily="34" charset="-120"/>
              </a:rPr>
              <a:t>Talk only. No tools, no loop.</a:t>
            </a:r>
            <a:endParaRPr lang="en-US" sz="1100" dirty="0"/>
          </a:p>
        </p:txBody>
      </p:sp>
      <p:sp>
        <p:nvSpPr>
          <p:cNvPr id="11" name="Shape 7"/>
          <p:cNvSpPr/>
          <p:nvPr/>
        </p:nvSpPr>
        <p:spPr>
          <a:xfrm>
            <a:off x="4344314" y="1847088"/>
            <a:ext cx="3503066" cy="3566160"/>
          </a:xfrm>
          <a:prstGeom prst="roundRect">
            <a:avLst>
              <a:gd name="adj" fmla="val 2610"/>
            </a:avLst>
          </a:prstGeom>
          <a:solidFill>
            <a:srgbClr val="FFFFFF"/>
          </a:solidFill>
          <a:ln w="12700">
            <a:solidFill>
              <a:srgbClr val="E3E4F2"/>
            </a:solidFill>
            <a:prstDash val="solid"/>
          </a:ln>
          <a:effectLst>
            <a:outerShdw sx="100000" sy="100000" kx="0" ky="0" algn="bl" rotWithShape="0" blurRad="114300" dist="572" dir="5400000">
              <a:srgbClr val="1B1A4A">
                <a:alpha val="8000"/>
              </a:srgbClr>
            </a:outerShdw>
          </a:effectLst>
        </p:spPr>
      </p:sp>
      <p:sp>
        <p:nvSpPr>
          <p:cNvPr id="12" name="Shape 8"/>
          <p:cNvSpPr/>
          <p:nvPr/>
        </p:nvSpPr>
        <p:spPr>
          <a:xfrm>
            <a:off x="4582058" y="2048256"/>
            <a:ext cx="402336" cy="402336"/>
          </a:xfrm>
          <a:prstGeom prst="ellipse">
            <a:avLst/>
          </a:prstGeom>
          <a:solidFill>
            <a:srgbClr val="8E82F5"/>
          </a:solidFill>
          <a:ln w="12700">
            <a:solidFill>
              <a:srgbClr val="8E82F5"/>
            </a:solidFill>
            <a:prstDash val="solid"/>
          </a:ln>
        </p:spPr>
      </p:sp>
      <p:pic>
        <p:nvPicPr>
          <p:cNvPr id="13" name="Image 2" descr="preencoded.png">    </p:cNvPr>
          <p:cNvPicPr>
            <a:picLocks noChangeAspect="1"/>
          </p:cNvPicPr>
          <p:nvPr/>
        </p:nvPicPr>
        <p:blipFill>
          <a:blip r:embed="rId3"/>
          <a:stretch>
            <a:fillRect/>
          </a:stretch>
        </p:blipFill>
        <p:spPr>
          <a:xfrm>
            <a:off x="4682642" y="2148840"/>
            <a:ext cx="201168" cy="201168"/>
          </a:xfrm>
          <a:prstGeom prst="rect">
            <a:avLst/>
          </a:prstGeom>
        </p:spPr>
      </p:pic>
      <p:sp>
        <p:nvSpPr>
          <p:cNvPr id="14" name="Text 9"/>
          <p:cNvSpPr/>
          <p:nvPr/>
        </p:nvSpPr>
        <p:spPr>
          <a:xfrm>
            <a:off x="5094122" y="2084832"/>
            <a:ext cx="2497226" cy="329184"/>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Workflow</a:t>
            </a:r>
            <a:endParaRPr lang="en-US" sz="1700" dirty="0"/>
          </a:p>
        </p:txBody>
      </p:sp>
      <p:pic>
        <p:nvPicPr>
          <p:cNvPr id="15" name="Image 3" descr="s18 workflow">    </p:cNvPr>
          <p:cNvPicPr>
            <a:picLocks noChangeAspect="1"/>
          </p:cNvPicPr>
          <p:nvPr/>
        </p:nvPicPr>
        <p:blipFill>
          <a:blip r:embed="rId4"/>
          <a:stretch>
            <a:fillRect/>
          </a:stretch>
        </p:blipFill>
        <p:spPr>
          <a:xfrm>
            <a:off x="5066325" y="2432304"/>
            <a:ext cx="2059046" cy="1481328"/>
          </a:xfrm>
          <a:prstGeom prst="rect">
            <a:avLst/>
          </a:prstGeom>
        </p:spPr>
      </p:pic>
      <p:sp>
        <p:nvSpPr>
          <p:cNvPr id="16" name="Text 10"/>
          <p:cNvSpPr/>
          <p:nvPr/>
        </p:nvSpPr>
        <p:spPr>
          <a:xfrm>
            <a:off x="4600346" y="4114800"/>
            <a:ext cx="2991002" cy="786384"/>
          </a:xfrm>
          <a:prstGeom prst="rect">
            <a:avLst/>
          </a:prstGeom>
          <a:noFill/>
          <a:ln/>
        </p:spPr>
        <p:txBody>
          <a:bodyPr wrap="square" lIns="0" tIns="0" rIns="0" bIns="0" rtlCol="0" anchor="t"/>
          <a:lstStyle/>
          <a:p>
            <a:pPr indent="0" marL="0">
              <a:lnSpc>
                <a:spcPct val="112000"/>
              </a:lnSpc>
              <a:buNone/>
            </a:pPr>
            <a:r>
              <a:rPr lang="en-US" sz="950" b="1" spc="120" kern="0" dirty="0">
                <a:solidFill>
                  <a:srgbClr val="E08700"/>
                </a:solidFill>
                <a:latin typeface="Calibri" pitchFamily="34" charset="0"/>
                <a:ea typeface="Calibri" pitchFamily="34" charset="-122"/>
                <a:cs typeface="Calibri" pitchFamily="34" charset="-120"/>
              </a:rPr>
              <a:t>Who decides?</a:t>
            </a:r>
            <a:endParaRPr lang="en-US" sz="950" dirty="0"/>
          </a:p>
          <a:p>
            <a:pPr indent="0" marL="0">
              <a:lnSpc>
                <a:spcPct val="112000"/>
              </a:lnSpc>
              <a:buNone/>
            </a:pPr>
            <a:r>
              <a:rPr lang="en-US" sz="1150" dirty="0">
                <a:solidFill>
                  <a:srgbClr val="3B3760"/>
                </a:solidFill>
                <a:latin typeface="Calibri" pitchFamily="34" charset="0"/>
                <a:ea typeface="Calibri" pitchFamily="34" charset="-122"/>
                <a:cs typeface="Calibri" pitchFamily="34" charset="-120"/>
              </a:rPr>
              <a:t>You decided, in advance, in code</a:t>
            </a:r>
            <a:endParaRPr lang="en-US" sz="950" dirty="0"/>
          </a:p>
        </p:txBody>
      </p:sp>
      <p:sp>
        <p:nvSpPr>
          <p:cNvPr id="17" name="Text 11"/>
          <p:cNvSpPr/>
          <p:nvPr/>
        </p:nvSpPr>
        <p:spPr>
          <a:xfrm>
            <a:off x="4600346" y="4882896"/>
            <a:ext cx="2991002" cy="512064"/>
          </a:xfrm>
          <a:prstGeom prst="rect">
            <a:avLst/>
          </a:prstGeom>
          <a:noFill/>
          <a:ln/>
        </p:spPr>
        <p:txBody>
          <a:bodyPr wrap="square" lIns="0" tIns="0" rIns="0" bIns="0" rtlCol="0" anchor="t"/>
          <a:lstStyle/>
          <a:p>
            <a:pPr indent="0" marL="0">
              <a:lnSpc>
                <a:spcPct val="110000"/>
              </a:lnSpc>
              <a:buNone/>
            </a:pPr>
            <a:r>
              <a:rPr lang="en-US" sz="1100" dirty="0">
                <a:solidFill>
                  <a:srgbClr val="6E6B8A"/>
                </a:solidFill>
                <a:latin typeface="Calibri" pitchFamily="34" charset="0"/>
                <a:ea typeface="Calibri" pitchFamily="34" charset="-122"/>
                <a:cs typeface="Calibri" pitchFamily="34" charset="-120"/>
              </a:rPr>
              <a:t>You wrote the steps. Often no model at all.</a:t>
            </a:r>
            <a:endParaRPr lang="en-US" sz="1100" dirty="0"/>
          </a:p>
        </p:txBody>
      </p:sp>
      <p:sp>
        <p:nvSpPr>
          <p:cNvPr id="18" name="Shape 12"/>
          <p:cNvSpPr/>
          <p:nvPr/>
        </p:nvSpPr>
        <p:spPr>
          <a:xfrm>
            <a:off x="8121701" y="1847088"/>
            <a:ext cx="3503066" cy="3566160"/>
          </a:xfrm>
          <a:prstGeom prst="roundRect">
            <a:avLst>
              <a:gd name="adj" fmla="val 2610"/>
            </a:avLst>
          </a:prstGeom>
          <a:solidFill>
            <a:srgbClr val="EEEDFE"/>
          </a:solidFill>
          <a:ln w="20320">
            <a:solidFill>
              <a:srgbClr val="5B4BE8"/>
            </a:solidFill>
            <a:prstDash val="solid"/>
          </a:ln>
          <a:effectLst>
            <a:outerShdw sx="100000" sy="100000" kx="0" ky="0" algn="bl" rotWithShape="0" blurRad="114300" dist="572" dir="5400000">
              <a:srgbClr val="1B1A4A">
                <a:alpha val="8000"/>
              </a:srgbClr>
            </a:outerShdw>
          </a:effectLst>
        </p:spPr>
      </p:sp>
      <p:sp>
        <p:nvSpPr>
          <p:cNvPr id="19" name="Shape 13"/>
          <p:cNvSpPr/>
          <p:nvPr/>
        </p:nvSpPr>
        <p:spPr>
          <a:xfrm>
            <a:off x="8359445" y="2048256"/>
            <a:ext cx="402336" cy="402336"/>
          </a:xfrm>
          <a:prstGeom prst="ellipse">
            <a:avLst/>
          </a:prstGeom>
          <a:solidFill>
            <a:srgbClr val="5B4BE8"/>
          </a:solidFill>
          <a:ln w="12700">
            <a:solidFill>
              <a:srgbClr val="5B4BE8"/>
            </a:solidFill>
            <a:prstDash val="solid"/>
          </a:ln>
        </p:spPr>
      </p:sp>
      <p:pic>
        <p:nvPicPr>
          <p:cNvPr id="20" name="Image 4" descr="preencoded.png">    </p:cNvPr>
          <p:cNvPicPr>
            <a:picLocks noChangeAspect="1"/>
          </p:cNvPicPr>
          <p:nvPr/>
        </p:nvPicPr>
        <p:blipFill>
          <a:blip r:embed="rId5"/>
          <a:stretch>
            <a:fillRect/>
          </a:stretch>
        </p:blipFill>
        <p:spPr>
          <a:xfrm>
            <a:off x="8460029" y="2148840"/>
            <a:ext cx="201168" cy="201168"/>
          </a:xfrm>
          <a:prstGeom prst="rect">
            <a:avLst/>
          </a:prstGeom>
        </p:spPr>
      </p:pic>
      <p:sp>
        <p:nvSpPr>
          <p:cNvPr id="21" name="Text 14"/>
          <p:cNvSpPr/>
          <p:nvPr/>
        </p:nvSpPr>
        <p:spPr>
          <a:xfrm>
            <a:off x="8871509" y="2084832"/>
            <a:ext cx="2497226" cy="329184"/>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Agent</a:t>
            </a:r>
            <a:endParaRPr lang="en-US" sz="1700" dirty="0"/>
          </a:p>
        </p:txBody>
      </p:sp>
      <p:pic>
        <p:nvPicPr>
          <p:cNvPr id="22" name="Image 5" descr="s18 agent">    </p:cNvPr>
          <p:cNvPicPr>
            <a:picLocks noChangeAspect="1"/>
          </p:cNvPicPr>
          <p:nvPr/>
        </p:nvPicPr>
        <p:blipFill>
          <a:blip r:embed="rId6"/>
          <a:stretch>
            <a:fillRect/>
          </a:stretch>
        </p:blipFill>
        <p:spPr>
          <a:xfrm>
            <a:off x="8875560" y="2432304"/>
            <a:ext cx="1995349" cy="1481328"/>
          </a:xfrm>
          <a:prstGeom prst="rect">
            <a:avLst/>
          </a:prstGeom>
        </p:spPr>
      </p:pic>
      <p:sp>
        <p:nvSpPr>
          <p:cNvPr id="23" name="Text 15"/>
          <p:cNvSpPr/>
          <p:nvPr/>
        </p:nvSpPr>
        <p:spPr>
          <a:xfrm>
            <a:off x="8377733" y="4114800"/>
            <a:ext cx="2991002" cy="786384"/>
          </a:xfrm>
          <a:prstGeom prst="rect">
            <a:avLst/>
          </a:prstGeom>
          <a:noFill/>
          <a:ln/>
        </p:spPr>
        <p:txBody>
          <a:bodyPr wrap="square" lIns="0" tIns="0" rIns="0" bIns="0" rtlCol="0" anchor="t"/>
          <a:lstStyle/>
          <a:p>
            <a:pPr indent="0" marL="0">
              <a:lnSpc>
                <a:spcPct val="112000"/>
              </a:lnSpc>
              <a:buNone/>
            </a:pPr>
            <a:r>
              <a:rPr lang="en-US" sz="950" b="1" spc="120" kern="0" dirty="0">
                <a:solidFill>
                  <a:srgbClr val="E08700"/>
                </a:solidFill>
                <a:latin typeface="Calibri" pitchFamily="34" charset="0"/>
                <a:ea typeface="Calibri" pitchFamily="34" charset="-122"/>
                <a:cs typeface="Calibri" pitchFamily="34" charset="-120"/>
              </a:rPr>
              <a:t>Who decides?</a:t>
            </a:r>
            <a:endParaRPr lang="en-US" sz="950" dirty="0"/>
          </a:p>
          <a:p>
            <a:pPr indent="0" marL="0">
              <a:lnSpc>
                <a:spcPct val="112000"/>
              </a:lnSpc>
              <a:buNone/>
            </a:pPr>
            <a:r>
              <a:rPr lang="en-US" sz="1150" dirty="0">
                <a:solidFill>
                  <a:srgbClr val="3B3760"/>
                </a:solidFill>
                <a:latin typeface="Calibri" pitchFamily="34" charset="0"/>
                <a:ea typeface="Calibri" pitchFamily="34" charset="-122"/>
                <a:cs typeface="Calibri" pitchFamily="34" charset="-120"/>
              </a:rPr>
              <a:t>The model decides, turn by turn</a:t>
            </a:r>
            <a:endParaRPr lang="en-US" sz="950" dirty="0"/>
          </a:p>
        </p:txBody>
      </p:sp>
      <p:sp>
        <p:nvSpPr>
          <p:cNvPr id="24" name="Text 16"/>
          <p:cNvSpPr/>
          <p:nvPr/>
        </p:nvSpPr>
        <p:spPr>
          <a:xfrm>
            <a:off x="8377733" y="4882896"/>
            <a:ext cx="2991002" cy="512064"/>
          </a:xfrm>
          <a:prstGeom prst="rect">
            <a:avLst/>
          </a:prstGeom>
          <a:noFill/>
          <a:ln/>
        </p:spPr>
        <p:txBody>
          <a:bodyPr wrap="square" lIns="0" tIns="0" rIns="0" bIns="0" rtlCol="0" anchor="t"/>
          <a:lstStyle/>
          <a:p>
            <a:pPr indent="0" marL="0">
              <a:lnSpc>
                <a:spcPct val="110000"/>
              </a:lnSpc>
              <a:buNone/>
            </a:pPr>
            <a:r>
              <a:rPr lang="en-US" sz="1100" dirty="0">
                <a:solidFill>
                  <a:srgbClr val="6E6B8A"/>
                </a:solidFill>
                <a:latin typeface="Calibri" pitchFamily="34" charset="0"/>
                <a:ea typeface="Calibri" pitchFamily="34" charset="-122"/>
                <a:cs typeface="Calibri" pitchFamily="34" charset="-120"/>
              </a:rPr>
              <a:t>Your code still runs every tool.</a:t>
            </a:r>
            <a:endParaRPr lang="en-US" sz="1100" dirty="0"/>
          </a:p>
        </p:txBody>
      </p:sp>
      <p:sp>
        <p:nvSpPr>
          <p:cNvPr id="25"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6" name="Shape 18"/>
          <p:cNvSpPr/>
          <p:nvPr/>
        </p:nvSpPr>
        <p:spPr>
          <a:xfrm>
            <a:off x="841248" y="5760720"/>
            <a:ext cx="384048" cy="384048"/>
          </a:xfrm>
          <a:prstGeom prst="ellipse">
            <a:avLst/>
          </a:prstGeom>
          <a:solidFill>
            <a:srgbClr val="F5A524"/>
          </a:solidFill>
          <a:ln w="12700">
            <a:solidFill>
              <a:srgbClr val="F5A524"/>
            </a:solidFill>
            <a:prstDash val="solid"/>
          </a:ln>
        </p:spPr>
      </p:sp>
      <p:pic>
        <p:nvPicPr>
          <p:cNvPr id="27" name="Image 6" descr="preencoded.png">    </p:cNvPr>
          <p:cNvPicPr>
            <a:picLocks noChangeAspect="1"/>
          </p:cNvPicPr>
          <p:nvPr/>
        </p:nvPicPr>
        <p:blipFill>
          <a:blip r:embed="rId7"/>
          <a:stretch>
            <a:fillRect/>
          </a:stretch>
        </p:blipFill>
        <p:spPr>
          <a:xfrm>
            <a:off x="937260" y="5856732"/>
            <a:ext cx="192024" cy="192024"/>
          </a:xfrm>
          <a:prstGeom prst="rect">
            <a:avLst/>
          </a:prstGeom>
        </p:spPr>
      </p:pic>
      <p:sp>
        <p:nvSpPr>
          <p:cNvPr id="28" name="Text 19"/>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In production you will very often want the middle one. Predictability is not a lesser achievement — a workflow that never surprises anyone is a feature.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There is no settled definition, and that is fine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The word has drifted for three years. Rather than argue about it, we will pick one sentence and hold it for two days.</a:t>
            </a:r>
            <a:endParaRPr lang="en-US" sz="1400" dirty="0"/>
          </a:p>
        </p:txBody>
      </p:sp>
      <p:sp>
        <p:nvSpPr>
          <p:cNvPr id="5" name="Shape 3"/>
          <p:cNvSpPr/>
          <p:nvPr/>
        </p:nvSpPr>
        <p:spPr>
          <a:xfrm>
            <a:off x="566928" y="2084832"/>
            <a:ext cx="11057839" cy="914400"/>
          </a:xfrm>
          <a:prstGeom prst="roundRect">
            <a:avLst>
              <a:gd name="adj" fmla="val 9000"/>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6" name="Text 4"/>
          <p:cNvSpPr/>
          <p:nvPr/>
        </p:nvSpPr>
        <p:spPr>
          <a:xfrm>
            <a:off x="859536" y="2176272"/>
            <a:ext cx="2286000" cy="731520"/>
          </a:xfrm>
          <a:prstGeom prst="rect">
            <a:avLst/>
          </a:prstGeom>
          <a:noFill/>
          <a:ln/>
        </p:spPr>
        <p:txBody>
          <a:bodyPr wrap="square" lIns="0" tIns="0" rIns="0" bIns="0" rtlCol="0" anchor="ctr"/>
          <a:lstStyle/>
          <a:p>
            <a:pPr indent="0" marL="0">
              <a:buNone/>
            </a:pPr>
            <a:r>
              <a:rPr lang="en-US" sz="1150" b="1" dirty="0">
                <a:solidFill>
                  <a:srgbClr val="6E6B8A"/>
                </a:solidFill>
                <a:latin typeface="Calibri" pitchFamily="34" charset="0"/>
                <a:ea typeface="Calibri" pitchFamily="34" charset="-122"/>
                <a:cs typeface="Calibri" pitchFamily="34" charset="-120"/>
              </a:rPr>
              <a:t>Early framing</a:t>
            </a:r>
            <a:endParaRPr lang="en-US" sz="1150" dirty="0"/>
          </a:p>
        </p:txBody>
      </p:sp>
      <p:sp>
        <p:nvSpPr>
          <p:cNvPr id="7" name="Text 5"/>
          <p:cNvSpPr/>
          <p:nvPr/>
        </p:nvSpPr>
        <p:spPr>
          <a:xfrm>
            <a:off x="3264408" y="2176272"/>
            <a:ext cx="5029200" cy="731520"/>
          </a:xfrm>
          <a:prstGeom prst="rect">
            <a:avLst/>
          </a:prstGeom>
          <a:noFill/>
          <a:ln/>
        </p:spPr>
        <p:txBody>
          <a:bodyPr wrap="square" lIns="0" tIns="0" rIns="0" bIns="0" rtlCol="0" anchor="ctr"/>
          <a:lstStyle/>
          <a:p>
            <a:pPr indent="0" marL="0">
              <a:buNone/>
            </a:pPr>
            <a:r>
              <a:rPr lang="en-US" sz="1450" dirty="0">
                <a:solidFill>
                  <a:srgbClr val="141235"/>
                </a:solidFill>
                <a:latin typeface="Calibri" pitchFamily="34" charset="0"/>
                <a:ea typeface="Calibri" pitchFamily="34" charset="-122"/>
                <a:cs typeface="Calibri" pitchFamily="34" charset="-120"/>
              </a:rPr>
              <a:t>Systems that do work independently</a:t>
            </a:r>
            <a:endParaRPr lang="en-US" sz="1450" dirty="0"/>
          </a:p>
        </p:txBody>
      </p:sp>
      <p:sp>
        <p:nvSpPr>
          <p:cNvPr id="8" name="Text 6"/>
          <p:cNvSpPr/>
          <p:nvPr/>
        </p:nvSpPr>
        <p:spPr>
          <a:xfrm>
            <a:off x="8430768" y="2176272"/>
            <a:ext cx="2926080" cy="731520"/>
          </a:xfrm>
          <a:prstGeom prst="rect">
            <a:avLst/>
          </a:prstGeom>
          <a:noFill/>
          <a:ln/>
        </p:spPr>
        <p:txBody>
          <a:bodyPr wrap="square" lIns="0" tIns="0" rIns="0" bIns="0" rtlCol="0" anchor="ctr"/>
          <a:lstStyle/>
          <a:p>
            <a:pPr indent="0" marL="0">
              <a:buNone/>
            </a:pPr>
            <a:r>
              <a:rPr lang="en-US" sz="1050" i="1" dirty="0">
                <a:solidFill>
                  <a:srgbClr val="9B98B4"/>
                </a:solidFill>
                <a:latin typeface="Calibri" pitchFamily="34" charset="0"/>
                <a:ea typeface="Calibri" pitchFamily="34" charset="-122"/>
                <a:cs typeface="Calibri" pitchFamily="34" charset="-120"/>
              </a:rPr>
              <a:t>Too broad — a cron job qualifies</a:t>
            </a:r>
            <a:endParaRPr lang="en-US" sz="1050" dirty="0"/>
          </a:p>
        </p:txBody>
      </p:sp>
      <p:sp>
        <p:nvSpPr>
          <p:cNvPr id="9" name="Shape 7"/>
          <p:cNvSpPr/>
          <p:nvPr/>
        </p:nvSpPr>
        <p:spPr>
          <a:xfrm>
            <a:off x="566928" y="3127248"/>
            <a:ext cx="11057839" cy="914400"/>
          </a:xfrm>
          <a:prstGeom prst="roundRect">
            <a:avLst>
              <a:gd name="adj" fmla="val 9000"/>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0" name="Text 8"/>
          <p:cNvSpPr/>
          <p:nvPr/>
        </p:nvSpPr>
        <p:spPr>
          <a:xfrm>
            <a:off x="859536" y="3218688"/>
            <a:ext cx="2286000" cy="731520"/>
          </a:xfrm>
          <a:prstGeom prst="rect">
            <a:avLst/>
          </a:prstGeom>
          <a:noFill/>
          <a:ln/>
        </p:spPr>
        <p:txBody>
          <a:bodyPr wrap="square" lIns="0" tIns="0" rIns="0" bIns="0" rtlCol="0" anchor="ctr"/>
          <a:lstStyle/>
          <a:p>
            <a:pPr indent="0" marL="0">
              <a:buNone/>
            </a:pPr>
            <a:r>
              <a:rPr lang="en-US" sz="1150" b="1" dirty="0">
                <a:solidFill>
                  <a:srgbClr val="6E6B8A"/>
                </a:solidFill>
                <a:latin typeface="Calibri" pitchFamily="34" charset="0"/>
                <a:ea typeface="Calibri" pitchFamily="34" charset="-122"/>
                <a:cs typeface="Calibri" pitchFamily="34" charset="-120"/>
              </a:rPr>
              <a:t>A step further</a:t>
            </a:r>
            <a:endParaRPr lang="en-US" sz="1150" dirty="0"/>
          </a:p>
        </p:txBody>
      </p:sp>
      <p:sp>
        <p:nvSpPr>
          <p:cNvPr id="11" name="Text 9"/>
          <p:cNvSpPr/>
          <p:nvPr/>
        </p:nvSpPr>
        <p:spPr>
          <a:xfrm>
            <a:off x="3264408" y="3218688"/>
            <a:ext cx="5029200" cy="731520"/>
          </a:xfrm>
          <a:prstGeom prst="rect">
            <a:avLst/>
          </a:prstGeom>
          <a:noFill/>
          <a:ln/>
        </p:spPr>
        <p:txBody>
          <a:bodyPr wrap="square" lIns="0" tIns="0" rIns="0" bIns="0" rtlCol="0" anchor="ctr"/>
          <a:lstStyle/>
          <a:p>
            <a:pPr indent="0" marL="0">
              <a:buNone/>
            </a:pPr>
            <a:r>
              <a:rPr lang="en-US" sz="1450" dirty="0">
                <a:solidFill>
                  <a:srgbClr val="141235"/>
                </a:solidFill>
                <a:latin typeface="Calibri" pitchFamily="34" charset="0"/>
                <a:ea typeface="Calibri" pitchFamily="34" charset="-122"/>
                <a:cs typeface="Calibri" pitchFamily="34" charset="-120"/>
              </a:rPr>
              <a:t>Systems where the model controls the workflow</a:t>
            </a:r>
            <a:endParaRPr lang="en-US" sz="1450" dirty="0"/>
          </a:p>
        </p:txBody>
      </p:sp>
      <p:sp>
        <p:nvSpPr>
          <p:cNvPr id="12" name="Text 10"/>
          <p:cNvSpPr/>
          <p:nvPr/>
        </p:nvSpPr>
        <p:spPr>
          <a:xfrm>
            <a:off x="8430768" y="3218688"/>
            <a:ext cx="2926080" cy="731520"/>
          </a:xfrm>
          <a:prstGeom prst="rect">
            <a:avLst/>
          </a:prstGeom>
          <a:noFill/>
          <a:ln/>
        </p:spPr>
        <p:txBody>
          <a:bodyPr wrap="square" lIns="0" tIns="0" rIns="0" bIns="0" rtlCol="0" anchor="ctr"/>
          <a:lstStyle/>
          <a:p>
            <a:pPr indent="0" marL="0">
              <a:buNone/>
            </a:pPr>
            <a:r>
              <a:rPr lang="en-US" sz="1050" i="1" dirty="0">
                <a:solidFill>
                  <a:srgbClr val="9B98B4"/>
                </a:solidFill>
                <a:latin typeface="Calibri" pitchFamily="34" charset="0"/>
                <a:ea typeface="Calibri" pitchFamily="34" charset="-122"/>
                <a:cs typeface="Calibri" pitchFamily="34" charset="-120"/>
              </a:rPr>
              <a:t>Better — this is the control question</a:t>
            </a:r>
            <a:endParaRPr lang="en-US" sz="1050" dirty="0"/>
          </a:p>
        </p:txBody>
      </p:sp>
      <p:sp>
        <p:nvSpPr>
          <p:cNvPr id="13" name="Shape 11"/>
          <p:cNvSpPr/>
          <p:nvPr/>
        </p:nvSpPr>
        <p:spPr>
          <a:xfrm>
            <a:off x="566928" y="4169664"/>
            <a:ext cx="11057839" cy="914400"/>
          </a:xfrm>
          <a:prstGeom prst="roundRect">
            <a:avLst>
              <a:gd name="adj" fmla="val 9000"/>
            </a:avLst>
          </a:prstGeom>
          <a:solidFill>
            <a:srgbClr val="5B4BE8"/>
          </a:solidFill>
          <a:ln w="12700">
            <a:solidFill>
              <a:srgbClr val="5B4BE8"/>
            </a:solidFill>
            <a:prstDash val="solid"/>
          </a:ln>
          <a:effectLst>
            <a:outerShdw sx="100000" sy="100000" kx="0" ky="0" algn="bl" rotWithShape="0" blurRad="101600" dist="508" dir="5400000">
              <a:srgbClr val="1B1A4A">
                <a:alpha val="7000"/>
              </a:srgbClr>
            </a:outerShdw>
          </a:effectLst>
        </p:spPr>
      </p:sp>
      <p:sp>
        <p:nvSpPr>
          <p:cNvPr id="14" name="Text 12"/>
          <p:cNvSpPr/>
          <p:nvPr/>
        </p:nvSpPr>
        <p:spPr>
          <a:xfrm>
            <a:off x="859536" y="4261104"/>
            <a:ext cx="2286000" cy="731520"/>
          </a:xfrm>
          <a:prstGeom prst="rect">
            <a:avLst/>
          </a:prstGeom>
          <a:noFill/>
          <a:ln/>
        </p:spPr>
        <p:txBody>
          <a:bodyPr wrap="square" lIns="0" tIns="0" rIns="0" bIns="0" rtlCol="0" anchor="ctr"/>
          <a:lstStyle/>
          <a:p>
            <a:pPr indent="0" marL="0">
              <a:buNone/>
            </a:pPr>
            <a:r>
              <a:rPr lang="en-US" sz="1150" b="1" dirty="0">
                <a:solidFill>
                  <a:srgbClr val="CFC9FF"/>
                </a:solidFill>
                <a:latin typeface="Calibri" pitchFamily="34" charset="0"/>
                <a:ea typeface="Calibri" pitchFamily="34" charset="-122"/>
                <a:cs typeface="Calibri" pitchFamily="34" charset="-120"/>
              </a:rPr>
              <a:t>What we will use</a:t>
            </a:r>
            <a:endParaRPr lang="en-US" sz="1150" dirty="0"/>
          </a:p>
        </p:txBody>
      </p:sp>
      <p:sp>
        <p:nvSpPr>
          <p:cNvPr id="15" name="Text 13"/>
          <p:cNvSpPr/>
          <p:nvPr/>
        </p:nvSpPr>
        <p:spPr>
          <a:xfrm>
            <a:off x="3264408" y="4261104"/>
            <a:ext cx="502920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model with tools, in a loop, working toward a goal</a:t>
            </a:r>
            <a:endParaRPr lang="en-US" sz="1600" dirty="0"/>
          </a:p>
        </p:txBody>
      </p:sp>
      <p:sp>
        <p:nvSpPr>
          <p:cNvPr id="16" name="Text 14"/>
          <p:cNvSpPr/>
          <p:nvPr/>
        </p:nvSpPr>
        <p:spPr>
          <a:xfrm>
            <a:off x="8430768" y="4261104"/>
            <a:ext cx="2926080" cy="731520"/>
          </a:xfrm>
          <a:prstGeom prst="rect">
            <a:avLst/>
          </a:prstGeom>
          <a:noFill/>
          <a:ln/>
        </p:spPr>
        <p:txBody>
          <a:bodyPr wrap="square" lIns="0" tIns="0" rIns="0" bIns="0" rtlCol="0" anchor="ctr"/>
          <a:lstStyle/>
          <a:p>
            <a:pPr indent="0" marL="0">
              <a:buNone/>
            </a:pPr>
            <a:r>
              <a:rPr lang="en-US" sz="1050" i="1" dirty="0">
                <a:solidFill>
                  <a:srgbClr val="CFC9FF"/>
                </a:solidFill>
                <a:latin typeface="Calibri" pitchFamily="34" charset="0"/>
                <a:ea typeface="Calibri" pitchFamily="34" charset="-122"/>
                <a:cs typeface="Calibri" pitchFamily="34" charset="-120"/>
              </a:rPr>
              <a:t>Four parts. Every module improves exactly one of them.</a:t>
            </a:r>
            <a:endParaRPr lang="en-US" sz="1050" dirty="0"/>
          </a:p>
        </p:txBody>
      </p:sp>
      <p:sp>
        <p:nvSpPr>
          <p:cNvPr id="17" name="Shape 15"/>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18" name="Shape 16"/>
          <p:cNvSpPr/>
          <p:nvPr/>
        </p:nvSpPr>
        <p:spPr>
          <a:xfrm>
            <a:off x="841248" y="5760720"/>
            <a:ext cx="384048" cy="384048"/>
          </a:xfrm>
          <a:prstGeom prst="ellipse">
            <a:avLst/>
          </a:prstGeom>
          <a:solidFill>
            <a:srgbClr val="F5A524"/>
          </a:solidFill>
          <a:ln w="12700">
            <a:solidFill>
              <a:srgbClr val="F5A524"/>
            </a:solidFill>
            <a:prstDash val="solid"/>
          </a:ln>
        </p:spPr>
      </p:sp>
      <p:pic>
        <p:nvPicPr>
          <p:cNvPr id="19" name="Image 0" descr="preencoded.png">    </p:cNvPr>
          <p:cNvPicPr>
            <a:picLocks noChangeAspect="1"/>
          </p:cNvPicPr>
          <p:nvPr/>
        </p:nvPicPr>
        <p:blipFill>
          <a:blip r:embed="rId1"/>
          <a:stretch>
            <a:fillRect/>
          </a:stretch>
        </p:blipFill>
        <p:spPr>
          <a:xfrm>
            <a:off x="937260" y="5856732"/>
            <a:ext cx="192024" cy="192024"/>
          </a:xfrm>
          <a:prstGeom prst="rect">
            <a:avLst/>
          </a:prstGeom>
        </p:spPr>
      </p:pic>
      <p:sp>
        <p:nvSpPr>
          <p:cNvPr id="20" name="Text 17"/>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If someone tells you their product “is an agent”, ask which of those four words they mean. Most of the time the honest answer is “a model with a prompt”.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Six parts, and only one of them is the model</a:t>
            </a:r>
            <a:endParaRPr lang="en-US" sz="3000" dirty="0"/>
          </a:p>
        </p:txBody>
      </p:sp>
      <p:sp>
        <p:nvSpPr>
          <p:cNvPr id="4" name="Shape 2"/>
          <p:cNvSpPr/>
          <p:nvPr/>
        </p:nvSpPr>
        <p:spPr>
          <a:xfrm>
            <a:off x="566928" y="2485614"/>
            <a:ext cx="3527450" cy="1016538"/>
          </a:xfrm>
          <a:prstGeom prst="roundRect">
            <a:avLst>
              <a:gd name="adj" fmla="val 8096"/>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705070"/>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796510"/>
            <a:ext cx="182880" cy="182880"/>
          </a:xfrm>
          <a:prstGeom prst="rect">
            <a:avLst/>
          </a:prstGeom>
        </p:spPr>
      </p:pic>
      <p:sp>
        <p:nvSpPr>
          <p:cNvPr id="7" name="Text 4"/>
          <p:cNvSpPr/>
          <p:nvPr/>
        </p:nvSpPr>
        <p:spPr>
          <a:xfrm>
            <a:off x="1298448" y="2723358"/>
            <a:ext cx="2558186" cy="354604"/>
          </a:xfrm>
          <a:prstGeom prst="rect">
            <a:avLst/>
          </a:prstGeom>
          <a:noFill/>
          <a:ln/>
        </p:spPr>
        <p:txBody>
          <a:bodyPr wrap="square" lIns="0" tIns="0" rIns="0" bIns="0" rtlCol="0" anchor="t"/>
          <a:lstStyle/>
          <a:p>
            <a:pPr indent="0" marL="0">
              <a:lnSpc>
                <a:spcPct val="105000"/>
              </a:lnSpc>
              <a:buNone/>
            </a:pPr>
            <a:r>
              <a:rPr lang="en-US" sz="1550" b="1" dirty="0">
                <a:solidFill>
                  <a:srgbClr val="141235"/>
                </a:solidFill>
                <a:latin typeface="Calibri" pitchFamily="34" charset="0"/>
                <a:ea typeface="Calibri" pitchFamily="34" charset="-122"/>
                <a:cs typeface="Calibri" pitchFamily="34" charset="-120"/>
              </a:rPr>
              <a:t>Model</a:t>
            </a:r>
            <a:endParaRPr lang="en-US" sz="1550" dirty="0"/>
          </a:p>
        </p:txBody>
      </p:sp>
      <p:sp>
        <p:nvSpPr>
          <p:cNvPr id="8" name="Text 5"/>
          <p:cNvSpPr/>
          <p:nvPr/>
        </p:nvSpPr>
        <p:spPr>
          <a:xfrm>
            <a:off x="1298448" y="3087106"/>
            <a:ext cx="2558186" cy="23216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Reasons and chooses the next step</a:t>
            </a:r>
            <a:endParaRPr lang="en-US" sz="1150" dirty="0"/>
          </a:p>
        </p:txBody>
      </p:sp>
      <p:sp>
        <p:nvSpPr>
          <p:cNvPr id="9" name="Shape 6"/>
          <p:cNvSpPr/>
          <p:nvPr/>
        </p:nvSpPr>
        <p:spPr>
          <a:xfrm>
            <a:off x="4332122" y="2485614"/>
            <a:ext cx="3527450" cy="1016538"/>
          </a:xfrm>
          <a:prstGeom prst="roundRect">
            <a:avLst>
              <a:gd name="adj" fmla="val 8096"/>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0" name="Shape 7"/>
          <p:cNvSpPr/>
          <p:nvPr/>
        </p:nvSpPr>
        <p:spPr>
          <a:xfrm>
            <a:off x="4569866" y="2705070"/>
            <a:ext cx="365760" cy="365760"/>
          </a:xfrm>
          <a:prstGeom prst="ellipse">
            <a:avLst/>
          </a:prstGeom>
          <a:solidFill>
            <a:srgbClr val="5B4BE8"/>
          </a:solidFill>
          <a:ln w="12700">
            <a:solidFill>
              <a:srgbClr val="5B4BE8"/>
            </a:solidFill>
            <a:prstDash val="solid"/>
          </a:ln>
        </p:spPr>
      </p:sp>
      <p:pic>
        <p:nvPicPr>
          <p:cNvPr id="11" name="Image 1" descr="preencoded.png">    </p:cNvPr>
          <p:cNvPicPr>
            <a:picLocks noChangeAspect="1"/>
          </p:cNvPicPr>
          <p:nvPr/>
        </p:nvPicPr>
        <p:blipFill>
          <a:blip r:embed="rId2"/>
          <a:stretch>
            <a:fillRect/>
          </a:stretch>
        </p:blipFill>
        <p:spPr>
          <a:xfrm>
            <a:off x="4661306" y="2796510"/>
            <a:ext cx="182880" cy="182880"/>
          </a:xfrm>
          <a:prstGeom prst="rect">
            <a:avLst/>
          </a:prstGeom>
        </p:spPr>
      </p:pic>
      <p:sp>
        <p:nvSpPr>
          <p:cNvPr id="12" name="Text 8"/>
          <p:cNvSpPr/>
          <p:nvPr/>
        </p:nvSpPr>
        <p:spPr>
          <a:xfrm>
            <a:off x="5063642" y="2723358"/>
            <a:ext cx="2558186" cy="354604"/>
          </a:xfrm>
          <a:prstGeom prst="rect">
            <a:avLst/>
          </a:prstGeom>
          <a:noFill/>
          <a:ln/>
        </p:spPr>
        <p:txBody>
          <a:bodyPr wrap="square" lIns="0" tIns="0" rIns="0" bIns="0" rtlCol="0" anchor="t"/>
          <a:lstStyle/>
          <a:p>
            <a:pPr indent="0" marL="0">
              <a:lnSpc>
                <a:spcPct val="105000"/>
              </a:lnSpc>
              <a:buNone/>
            </a:pPr>
            <a:r>
              <a:rPr lang="en-US" sz="1550" b="1" dirty="0">
                <a:solidFill>
                  <a:srgbClr val="141235"/>
                </a:solidFill>
                <a:latin typeface="Calibri" pitchFamily="34" charset="0"/>
                <a:ea typeface="Calibri" pitchFamily="34" charset="-122"/>
                <a:cs typeface="Calibri" pitchFamily="34" charset="-120"/>
              </a:rPr>
              <a:t>Instructions</a:t>
            </a:r>
            <a:endParaRPr lang="en-US" sz="1550" dirty="0"/>
          </a:p>
        </p:txBody>
      </p:sp>
      <p:sp>
        <p:nvSpPr>
          <p:cNvPr id="13" name="Text 9"/>
          <p:cNvSpPr/>
          <p:nvPr/>
        </p:nvSpPr>
        <p:spPr>
          <a:xfrm>
            <a:off x="5063642" y="3087106"/>
            <a:ext cx="2558186" cy="23216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What it should and must not do</a:t>
            </a:r>
            <a:endParaRPr lang="en-US" sz="1150" dirty="0"/>
          </a:p>
        </p:txBody>
      </p:sp>
      <p:sp>
        <p:nvSpPr>
          <p:cNvPr id="14" name="Shape 10"/>
          <p:cNvSpPr/>
          <p:nvPr/>
        </p:nvSpPr>
        <p:spPr>
          <a:xfrm>
            <a:off x="8097317" y="2485614"/>
            <a:ext cx="3527450" cy="1016538"/>
          </a:xfrm>
          <a:prstGeom prst="roundRect">
            <a:avLst>
              <a:gd name="adj" fmla="val 8096"/>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5" name="Shape 11"/>
          <p:cNvSpPr/>
          <p:nvPr/>
        </p:nvSpPr>
        <p:spPr>
          <a:xfrm>
            <a:off x="8335061" y="2705070"/>
            <a:ext cx="365760" cy="365760"/>
          </a:xfrm>
          <a:prstGeom prst="ellipse">
            <a:avLst/>
          </a:prstGeom>
          <a:solidFill>
            <a:srgbClr val="5B4BE8"/>
          </a:solidFill>
          <a:ln w="12700">
            <a:solidFill>
              <a:srgbClr val="5B4BE8"/>
            </a:solidFill>
            <a:prstDash val="solid"/>
          </a:ln>
        </p:spPr>
      </p:sp>
      <p:pic>
        <p:nvPicPr>
          <p:cNvPr id="16" name="Image 2" descr="preencoded.png">    </p:cNvPr>
          <p:cNvPicPr>
            <a:picLocks noChangeAspect="1"/>
          </p:cNvPicPr>
          <p:nvPr/>
        </p:nvPicPr>
        <p:blipFill>
          <a:blip r:embed="rId3"/>
          <a:stretch>
            <a:fillRect/>
          </a:stretch>
        </p:blipFill>
        <p:spPr>
          <a:xfrm>
            <a:off x="8426501" y="2796510"/>
            <a:ext cx="182880" cy="182880"/>
          </a:xfrm>
          <a:prstGeom prst="rect">
            <a:avLst/>
          </a:prstGeom>
        </p:spPr>
      </p:pic>
      <p:sp>
        <p:nvSpPr>
          <p:cNvPr id="17" name="Text 12"/>
          <p:cNvSpPr/>
          <p:nvPr/>
        </p:nvSpPr>
        <p:spPr>
          <a:xfrm>
            <a:off x="8828837" y="2723358"/>
            <a:ext cx="2558186" cy="354604"/>
          </a:xfrm>
          <a:prstGeom prst="rect">
            <a:avLst/>
          </a:prstGeom>
          <a:noFill/>
          <a:ln/>
        </p:spPr>
        <p:txBody>
          <a:bodyPr wrap="square" lIns="0" tIns="0" rIns="0" bIns="0" rtlCol="0" anchor="t"/>
          <a:lstStyle/>
          <a:p>
            <a:pPr indent="0" marL="0">
              <a:lnSpc>
                <a:spcPct val="105000"/>
              </a:lnSpc>
              <a:buNone/>
            </a:pPr>
            <a:r>
              <a:rPr lang="en-US" sz="1550" b="1" dirty="0">
                <a:solidFill>
                  <a:srgbClr val="141235"/>
                </a:solidFill>
                <a:latin typeface="Calibri" pitchFamily="34" charset="0"/>
                <a:ea typeface="Calibri" pitchFamily="34" charset="-122"/>
                <a:cs typeface="Calibri" pitchFamily="34" charset="-120"/>
              </a:rPr>
              <a:t>Tools</a:t>
            </a:r>
            <a:endParaRPr lang="en-US" sz="1550" dirty="0"/>
          </a:p>
        </p:txBody>
      </p:sp>
      <p:sp>
        <p:nvSpPr>
          <p:cNvPr id="18" name="Text 13"/>
          <p:cNvSpPr/>
          <p:nvPr/>
        </p:nvSpPr>
        <p:spPr>
          <a:xfrm>
            <a:off x="8828837" y="3087106"/>
            <a:ext cx="2558186" cy="23216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What it can reach — via your code</a:t>
            </a:r>
            <a:endParaRPr lang="en-US" sz="1150" dirty="0"/>
          </a:p>
        </p:txBody>
      </p:sp>
      <p:sp>
        <p:nvSpPr>
          <p:cNvPr id="19" name="Shape 14"/>
          <p:cNvSpPr/>
          <p:nvPr/>
        </p:nvSpPr>
        <p:spPr>
          <a:xfrm>
            <a:off x="566928" y="3739896"/>
            <a:ext cx="3527450" cy="1016538"/>
          </a:xfrm>
          <a:prstGeom prst="roundRect">
            <a:avLst>
              <a:gd name="adj" fmla="val 8096"/>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0" name="Shape 15"/>
          <p:cNvSpPr/>
          <p:nvPr/>
        </p:nvSpPr>
        <p:spPr>
          <a:xfrm>
            <a:off x="804672" y="3959352"/>
            <a:ext cx="365760" cy="365760"/>
          </a:xfrm>
          <a:prstGeom prst="ellipse">
            <a:avLst/>
          </a:prstGeom>
          <a:solidFill>
            <a:srgbClr val="5B4BE8"/>
          </a:solidFill>
          <a:ln w="12700">
            <a:solidFill>
              <a:srgbClr val="5B4BE8"/>
            </a:solidFill>
            <a:prstDash val="solid"/>
          </a:ln>
        </p:spPr>
      </p:sp>
      <p:pic>
        <p:nvPicPr>
          <p:cNvPr id="21" name="Image 3" descr="preencoded.png">    </p:cNvPr>
          <p:cNvPicPr>
            <a:picLocks noChangeAspect="1"/>
          </p:cNvPicPr>
          <p:nvPr/>
        </p:nvPicPr>
        <p:blipFill>
          <a:blip r:embed="rId4"/>
          <a:stretch>
            <a:fillRect/>
          </a:stretch>
        </p:blipFill>
        <p:spPr>
          <a:xfrm>
            <a:off x="896112" y="4050792"/>
            <a:ext cx="182880" cy="182880"/>
          </a:xfrm>
          <a:prstGeom prst="rect">
            <a:avLst/>
          </a:prstGeom>
        </p:spPr>
      </p:pic>
      <p:sp>
        <p:nvSpPr>
          <p:cNvPr id="22" name="Text 16"/>
          <p:cNvSpPr/>
          <p:nvPr/>
        </p:nvSpPr>
        <p:spPr>
          <a:xfrm>
            <a:off x="1298448" y="3977640"/>
            <a:ext cx="2558186" cy="354604"/>
          </a:xfrm>
          <a:prstGeom prst="rect">
            <a:avLst/>
          </a:prstGeom>
          <a:noFill/>
          <a:ln/>
        </p:spPr>
        <p:txBody>
          <a:bodyPr wrap="square" lIns="0" tIns="0" rIns="0" bIns="0" rtlCol="0" anchor="t"/>
          <a:lstStyle/>
          <a:p>
            <a:pPr indent="0" marL="0">
              <a:lnSpc>
                <a:spcPct val="105000"/>
              </a:lnSpc>
              <a:buNone/>
            </a:pPr>
            <a:r>
              <a:rPr lang="en-US" sz="1550" b="1" dirty="0">
                <a:solidFill>
                  <a:srgbClr val="141235"/>
                </a:solidFill>
                <a:latin typeface="Calibri" pitchFamily="34" charset="0"/>
                <a:ea typeface="Calibri" pitchFamily="34" charset="-122"/>
                <a:cs typeface="Calibri" pitchFamily="34" charset="-120"/>
              </a:rPr>
              <a:t>Memory</a:t>
            </a:r>
            <a:endParaRPr lang="en-US" sz="1550" dirty="0"/>
          </a:p>
        </p:txBody>
      </p:sp>
      <p:sp>
        <p:nvSpPr>
          <p:cNvPr id="23" name="Text 17"/>
          <p:cNvSpPr/>
          <p:nvPr/>
        </p:nvSpPr>
        <p:spPr>
          <a:xfrm>
            <a:off x="1298448" y="4341388"/>
            <a:ext cx="2558186" cy="23216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message list, so far</a:t>
            </a:r>
            <a:endParaRPr lang="en-US" sz="1150" dirty="0"/>
          </a:p>
        </p:txBody>
      </p:sp>
      <p:sp>
        <p:nvSpPr>
          <p:cNvPr id="24" name="Shape 18"/>
          <p:cNvSpPr/>
          <p:nvPr/>
        </p:nvSpPr>
        <p:spPr>
          <a:xfrm>
            <a:off x="4332122" y="3739896"/>
            <a:ext cx="3527450" cy="1016538"/>
          </a:xfrm>
          <a:prstGeom prst="roundRect">
            <a:avLst>
              <a:gd name="adj" fmla="val 8096"/>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5" name="Shape 19"/>
          <p:cNvSpPr/>
          <p:nvPr/>
        </p:nvSpPr>
        <p:spPr>
          <a:xfrm>
            <a:off x="4569866" y="3959352"/>
            <a:ext cx="365760" cy="365760"/>
          </a:xfrm>
          <a:prstGeom prst="ellipse">
            <a:avLst/>
          </a:prstGeom>
          <a:solidFill>
            <a:srgbClr val="5B4BE8"/>
          </a:solidFill>
          <a:ln w="12700">
            <a:solidFill>
              <a:srgbClr val="5B4BE8"/>
            </a:solidFill>
            <a:prstDash val="solid"/>
          </a:ln>
        </p:spPr>
      </p:sp>
      <p:pic>
        <p:nvPicPr>
          <p:cNvPr id="26" name="Image 4" descr="preencoded.png">    </p:cNvPr>
          <p:cNvPicPr>
            <a:picLocks noChangeAspect="1"/>
          </p:cNvPicPr>
          <p:nvPr/>
        </p:nvPicPr>
        <p:blipFill>
          <a:blip r:embed="rId5"/>
          <a:stretch>
            <a:fillRect/>
          </a:stretch>
        </p:blipFill>
        <p:spPr>
          <a:xfrm>
            <a:off x="4661306" y="4050792"/>
            <a:ext cx="182880" cy="182880"/>
          </a:xfrm>
          <a:prstGeom prst="rect">
            <a:avLst/>
          </a:prstGeom>
        </p:spPr>
      </p:pic>
      <p:sp>
        <p:nvSpPr>
          <p:cNvPr id="27" name="Text 20"/>
          <p:cNvSpPr/>
          <p:nvPr/>
        </p:nvSpPr>
        <p:spPr>
          <a:xfrm>
            <a:off x="5063642" y="3977640"/>
            <a:ext cx="2558186" cy="354604"/>
          </a:xfrm>
          <a:prstGeom prst="rect">
            <a:avLst/>
          </a:prstGeom>
          <a:noFill/>
          <a:ln/>
        </p:spPr>
        <p:txBody>
          <a:bodyPr wrap="square" lIns="0" tIns="0" rIns="0" bIns="0" rtlCol="0" anchor="t"/>
          <a:lstStyle/>
          <a:p>
            <a:pPr indent="0" marL="0">
              <a:lnSpc>
                <a:spcPct val="105000"/>
              </a:lnSpc>
              <a:buNone/>
            </a:pPr>
            <a:r>
              <a:rPr lang="en-US" sz="1550" b="1" dirty="0">
                <a:solidFill>
                  <a:srgbClr val="141235"/>
                </a:solidFill>
                <a:latin typeface="Calibri" pitchFamily="34" charset="0"/>
                <a:ea typeface="Calibri" pitchFamily="34" charset="-122"/>
                <a:cs typeface="Calibri" pitchFamily="34" charset="-120"/>
              </a:rPr>
              <a:t>A loop</a:t>
            </a:r>
            <a:endParaRPr lang="en-US" sz="1550" dirty="0"/>
          </a:p>
        </p:txBody>
      </p:sp>
      <p:sp>
        <p:nvSpPr>
          <p:cNvPr id="28" name="Text 21"/>
          <p:cNvSpPr/>
          <p:nvPr/>
        </p:nvSpPr>
        <p:spPr>
          <a:xfrm>
            <a:off x="5063642" y="4341388"/>
            <a:ext cx="2558186" cy="23216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Code you wrote. Not the model.</a:t>
            </a:r>
            <a:endParaRPr lang="en-US" sz="1150" dirty="0"/>
          </a:p>
        </p:txBody>
      </p:sp>
      <p:sp>
        <p:nvSpPr>
          <p:cNvPr id="29" name="Shape 22"/>
          <p:cNvSpPr/>
          <p:nvPr/>
        </p:nvSpPr>
        <p:spPr>
          <a:xfrm>
            <a:off x="8097317" y="3739896"/>
            <a:ext cx="3527450" cy="1016538"/>
          </a:xfrm>
          <a:prstGeom prst="roundRect">
            <a:avLst>
              <a:gd name="adj" fmla="val 8096"/>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30" name="Shape 23"/>
          <p:cNvSpPr/>
          <p:nvPr/>
        </p:nvSpPr>
        <p:spPr>
          <a:xfrm>
            <a:off x="8335061" y="3959352"/>
            <a:ext cx="365760" cy="365760"/>
          </a:xfrm>
          <a:prstGeom prst="ellipse">
            <a:avLst/>
          </a:prstGeom>
          <a:solidFill>
            <a:srgbClr val="F5A524"/>
          </a:solidFill>
          <a:ln w="12700">
            <a:solidFill>
              <a:srgbClr val="F5A524"/>
            </a:solidFill>
            <a:prstDash val="solid"/>
          </a:ln>
        </p:spPr>
      </p:sp>
      <p:pic>
        <p:nvPicPr>
          <p:cNvPr id="31" name="Image 5" descr="preencoded.png">    </p:cNvPr>
          <p:cNvPicPr>
            <a:picLocks noChangeAspect="1"/>
          </p:cNvPicPr>
          <p:nvPr/>
        </p:nvPicPr>
        <p:blipFill>
          <a:blip r:embed="rId6"/>
          <a:stretch>
            <a:fillRect/>
          </a:stretch>
        </p:blipFill>
        <p:spPr>
          <a:xfrm>
            <a:off x="8426501" y="4050792"/>
            <a:ext cx="182880" cy="182880"/>
          </a:xfrm>
          <a:prstGeom prst="rect">
            <a:avLst/>
          </a:prstGeom>
        </p:spPr>
      </p:pic>
      <p:sp>
        <p:nvSpPr>
          <p:cNvPr id="32" name="Text 24"/>
          <p:cNvSpPr/>
          <p:nvPr/>
        </p:nvSpPr>
        <p:spPr>
          <a:xfrm>
            <a:off x="8828837" y="3977640"/>
            <a:ext cx="2558186" cy="354604"/>
          </a:xfrm>
          <a:prstGeom prst="rect">
            <a:avLst/>
          </a:prstGeom>
          <a:noFill/>
          <a:ln/>
        </p:spPr>
        <p:txBody>
          <a:bodyPr wrap="square" lIns="0" tIns="0" rIns="0" bIns="0" rtlCol="0" anchor="t"/>
          <a:lstStyle/>
          <a:p>
            <a:pPr indent="0" marL="0">
              <a:lnSpc>
                <a:spcPct val="105000"/>
              </a:lnSpc>
              <a:buNone/>
            </a:pPr>
            <a:r>
              <a:rPr lang="en-US" sz="1550" b="1" dirty="0">
                <a:solidFill>
                  <a:srgbClr val="141235"/>
                </a:solidFill>
                <a:latin typeface="Calibri" pitchFamily="34" charset="0"/>
                <a:ea typeface="Calibri" pitchFamily="34" charset="-122"/>
                <a:cs typeface="Calibri" pitchFamily="34" charset="-120"/>
              </a:rPr>
              <a:t>A stop condition</a:t>
            </a:r>
            <a:endParaRPr lang="en-US" sz="1550" dirty="0"/>
          </a:p>
        </p:txBody>
      </p:sp>
      <p:sp>
        <p:nvSpPr>
          <p:cNvPr id="33" name="Text 25"/>
          <p:cNvSpPr/>
          <p:nvPr/>
        </p:nvSpPr>
        <p:spPr>
          <a:xfrm>
            <a:off x="8828837" y="4341388"/>
            <a:ext cx="2558186" cy="23216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Or it runs until you pay for it</a:t>
            </a:r>
            <a:endParaRPr lang="en-US" sz="1150" dirty="0"/>
          </a:p>
        </p:txBody>
      </p:sp>
      <p:sp>
        <p:nvSpPr>
          <p:cNvPr id="34" name="Shape 26"/>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35" name="Shape 27"/>
          <p:cNvSpPr/>
          <p:nvPr/>
        </p:nvSpPr>
        <p:spPr>
          <a:xfrm>
            <a:off x="841248" y="5760720"/>
            <a:ext cx="384048" cy="384048"/>
          </a:xfrm>
          <a:prstGeom prst="ellipse">
            <a:avLst/>
          </a:prstGeom>
          <a:solidFill>
            <a:srgbClr val="F5A524"/>
          </a:solidFill>
          <a:ln w="12700">
            <a:solidFill>
              <a:srgbClr val="F5A524"/>
            </a:solidFill>
            <a:prstDash val="solid"/>
          </a:ln>
        </p:spPr>
      </p:sp>
      <p:pic>
        <p:nvPicPr>
          <p:cNvPr id="36" name="Image 6" descr="preencoded.png">    </p:cNvPr>
          <p:cNvPicPr>
            <a:picLocks noChangeAspect="1"/>
          </p:cNvPicPr>
          <p:nvPr/>
        </p:nvPicPr>
        <p:blipFill>
          <a:blip r:embed="rId7"/>
          <a:stretch>
            <a:fillRect/>
          </a:stretch>
        </p:blipFill>
        <p:spPr>
          <a:xfrm>
            <a:off x="937260" y="5856732"/>
            <a:ext cx="192024" cy="192024"/>
          </a:xfrm>
          <a:prstGeom prst="rect">
            <a:avLst/>
          </a:prstGeom>
        </p:spPr>
      </p:pic>
      <p:sp>
        <p:nvSpPr>
          <p:cNvPr id="37" name="Text 28"/>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Five of the six are ordinary software that a normal engineering team already knows how to build, test and review.</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Shape is what it is. Autonomy is how much rope.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Two independent questions. A chatbot can be dangerous and an agent can be harmless — it depends entirely on this second axis.</a:t>
            </a:r>
            <a:endParaRPr lang="en-US" sz="1400" dirty="0"/>
          </a:p>
        </p:txBody>
      </p:sp>
      <p:sp>
        <p:nvSpPr>
          <p:cNvPr id="5" name="Shape 3"/>
          <p:cNvSpPr/>
          <p:nvPr/>
        </p:nvSpPr>
        <p:spPr>
          <a:xfrm>
            <a:off x="566928" y="1956816"/>
            <a:ext cx="2599868" cy="201168"/>
          </a:xfrm>
          <a:prstGeom prst="roundRect">
            <a:avLst>
              <a:gd name="adj" fmla="val 50000"/>
            </a:avLst>
          </a:prstGeom>
          <a:solidFill>
            <a:srgbClr val="C7C2F7"/>
          </a:solidFill>
          <a:ln w="12700">
            <a:solidFill>
              <a:srgbClr val="C7C2F7"/>
            </a:solidFill>
            <a:prstDash val="solid"/>
          </a:ln>
        </p:spPr>
      </p:sp>
      <p:sp>
        <p:nvSpPr>
          <p:cNvPr id="6" name="Shape 4"/>
          <p:cNvSpPr/>
          <p:nvPr/>
        </p:nvSpPr>
        <p:spPr>
          <a:xfrm>
            <a:off x="566928" y="2249424"/>
            <a:ext cx="2599868" cy="2560320"/>
          </a:xfrm>
          <a:prstGeom prst="roundRect">
            <a:avLst>
              <a:gd name="adj" fmla="val 3571"/>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7" name="Shape 5"/>
          <p:cNvSpPr/>
          <p:nvPr/>
        </p:nvSpPr>
        <p:spPr>
          <a:xfrm>
            <a:off x="804672" y="2450592"/>
            <a:ext cx="384048" cy="384048"/>
          </a:xfrm>
          <a:prstGeom prst="ellipse">
            <a:avLst/>
          </a:prstGeom>
          <a:solidFill>
            <a:srgbClr val="C7C2F7"/>
          </a:solidFill>
          <a:ln w="12700">
            <a:solidFill>
              <a:srgbClr val="C7C2F7"/>
            </a:solidFill>
            <a:prstDash val="solid"/>
          </a:ln>
        </p:spPr>
      </p:sp>
      <p:pic>
        <p:nvPicPr>
          <p:cNvPr id="8" name="Image 0" descr="preencoded.png">    </p:cNvPr>
          <p:cNvPicPr>
            <a:picLocks noChangeAspect="1"/>
          </p:cNvPicPr>
          <p:nvPr/>
        </p:nvPicPr>
        <p:blipFill>
          <a:blip r:embed="rId1"/>
          <a:stretch>
            <a:fillRect/>
          </a:stretch>
        </p:blipFill>
        <p:spPr>
          <a:xfrm>
            <a:off x="900684" y="2546604"/>
            <a:ext cx="192024" cy="192024"/>
          </a:xfrm>
          <a:prstGeom prst="rect">
            <a:avLst/>
          </a:prstGeom>
        </p:spPr>
      </p:pic>
      <p:sp>
        <p:nvSpPr>
          <p:cNvPr id="9" name="Text 6"/>
          <p:cNvSpPr/>
          <p:nvPr/>
        </p:nvSpPr>
        <p:spPr>
          <a:xfrm>
            <a:off x="804672" y="2962656"/>
            <a:ext cx="2124380" cy="292608"/>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Suggest</a:t>
            </a:r>
            <a:endParaRPr lang="en-US" sz="1550" dirty="0"/>
          </a:p>
        </p:txBody>
      </p:sp>
      <p:sp>
        <p:nvSpPr>
          <p:cNvPr id="10" name="Text 7"/>
          <p:cNvSpPr/>
          <p:nvPr/>
        </p:nvSpPr>
        <p:spPr>
          <a:xfrm>
            <a:off x="804672" y="3310128"/>
            <a:ext cx="2124380" cy="786384"/>
          </a:xfrm>
          <a:prstGeom prst="rect">
            <a:avLst/>
          </a:prstGeom>
          <a:noFill/>
          <a:ln/>
        </p:spPr>
        <p:txBody>
          <a:bodyPr wrap="square" lIns="0" tIns="0" rIns="0" bIns="0" rtlCol="0" anchor="t"/>
          <a:lstStyle/>
          <a:p>
            <a:pPr indent="0" marL="0">
              <a:lnSpc>
                <a:spcPct val="112000"/>
              </a:lnSpc>
              <a:buNone/>
            </a:pPr>
            <a:r>
              <a:rPr lang="en-US" sz="1150" dirty="0">
                <a:solidFill>
                  <a:srgbClr val="6E6B8A"/>
                </a:solidFill>
                <a:latin typeface="Calibri" pitchFamily="34" charset="0"/>
                <a:ea typeface="Calibri" pitchFamily="34" charset="-122"/>
                <a:cs typeface="Calibri" pitchFamily="34" charset="-120"/>
              </a:rPr>
              <a:t>It recommends. A person does the thing.</a:t>
            </a:r>
            <a:endParaRPr lang="en-US" sz="1150" dirty="0"/>
          </a:p>
        </p:txBody>
      </p:sp>
      <p:sp>
        <p:nvSpPr>
          <p:cNvPr id="11" name="Text 8"/>
          <p:cNvSpPr/>
          <p:nvPr/>
        </p:nvSpPr>
        <p:spPr>
          <a:xfrm>
            <a:off x="804672" y="4206240"/>
            <a:ext cx="2124380" cy="457200"/>
          </a:xfrm>
          <a:prstGeom prst="rect">
            <a:avLst/>
          </a:prstGeom>
          <a:noFill/>
          <a:ln/>
        </p:spPr>
        <p:txBody>
          <a:bodyPr wrap="square" lIns="0" tIns="0" rIns="0" bIns="0" rtlCol="0" anchor="t"/>
          <a:lstStyle/>
          <a:p>
            <a:pPr indent="0" marL="0">
              <a:buNone/>
            </a:pPr>
            <a:r>
              <a:rPr lang="en-US" sz="1050" i="1" dirty="0">
                <a:solidFill>
                  <a:srgbClr val="E08700"/>
                </a:solidFill>
                <a:latin typeface="Calibri" pitchFamily="34" charset="0"/>
                <a:ea typeface="Calibri" pitchFamily="34" charset="-122"/>
                <a:cs typeface="Calibri" pitchFamily="34" charset="-120"/>
              </a:rPr>
              <a:t>A chatbot. A search result.</a:t>
            </a:r>
            <a:endParaRPr lang="en-US" sz="1050" dirty="0"/>
          </a:p>
        </p:txBody>
      </p:sp>
      <p:sp>
        <p:nvSpPr>
          <p:cNvPr id="12" name="Shape 9"/>
          <p:cNvSpPr/>
          <p:nvPr/>
        </p:nvSpPr>
        <p:spPr>
          <a:xfrm>
            <a:off x="3386252" y="1956816"/>
            <a:ext cx="2599868" cy="201168"/>
          </a:xfrm>
          <a:prstGeom prst="roundRect">
            <a:avLst>
              <a:gd name="adj" fmla="val 50000"/>
            </a:avLst>
          </a:prstGeom>
          <a:solidFill>
            <a:srgbClr val="9E94F0"/>
          </a:solidFill>
          <a:ln w="12700">
            <a:solidFill>
              <a:srgbClr val="9E94F0"/>
            </a:solidFill>
            <a:prstDash val="solid"/>
          </a:ln>
        </p:spPr>
      </p:sp>
      <p:sp>
        <p:nvSpPr>
          <p:cNvPr id="13" name="Shape 10"/>
          <p:cNvSpPr/>
          <p:nvPr/>
        </p:nvSpPr>
        <p:spPr>
          <a:xfrm>
            <a:off x="3386252" y="2249424"/>
            <a:ext cx="2599868" cy="2560320"/>
          </a:xfrm>
          <a:prstGeom prst="roundRect">
            <a:avLst>
              <a:gd name="adj" fmla="val 3571"/>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4" name="Shape 11"/>
          <p:cNvSpPr/>
          <p:nvPr/>
        </p:nvSpPr>
        <p:spPr>
          <a:xfrm>
            <a:off x="3623996" y="2450592"/>
            <a:ext cx="384048" cy="384048"/>
          </a:xfrm>
          <a:prstGeom prst="ellipse">
            <a:avLst/>
          </a:prstGeom>
          <a:solidFill>
            <a:srgbClr val="9E94F0"/>
          </a:solidFill>
          <a:ln w="12700">
            <a:solidFill>
              <a:srgbClr val="9E94F0"/>
            </a:solidFill>
            <a:prstDash val="solid"/>
          </a:ln>
        </p:spPr>
      </p:sp>
      <p:pic>
        <p:nvPicPr>
          <p:cNvPr id="15" name="Image 1" descr="preencoded.png">    </p:cNvPr>
          <p:cNvPicPr>
            <a:picLocks noChangeAspect="1"/>
          </p:cNvPicPr>
          <p:nvPr/>
        </p:nvPicPr>
        <p:blipFill>
          <a:blip r:embed="rId2"/>
          <a:stretch>
            <a:fillRect/>
          </a:stretch>
        </p:blipFill>
        <p:spPr>
          <a:xfrm>
            <a:off x="3720008" y="2546604"/>
            <a:ext cx="192024" cy="192024"/>
          </a:xfrm>
          <a:prstGeom prst="rect">
            <a:avLst/>
          </a:prstGeom>
        </p:spPr>
      </p:pic>
      <p:sp>
        <p:nvSpPr>
          <p:cNvPr id="16" name="Text 12"/>
          <p:cNvSpPr/>
          <p:nvPr/>
        </p:nvSpPr>
        <p:spPr>
          <a:xfrm>
            <a:off x="3623996" y="2962656"/>
            <a:ext cx="2124380" cy="292608"/>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Draft</a:t>
            </a:r>
            <a:endParaRPr lang="en-US" sz="1550" dirty="0"/>
          </a:p>
        </p:txBody>
      </p:sp>
      <p:sp>
        <p:nvSpPr>
          <p:cNvPr id="17" name="Text 13"/>
          <p:cNvSpPr/>
          <p:nvPr/>
        </p:nvSpPr>
        <p:spPr>
          <a:xfrm>
            <a:off x="3623996" y="3310128"/>
            <a:ext cx="2124380" cy="786384"/>
          </a:xfrm>
          <a:prstGeom prst="rect">
            <a:avLst/>
          </a:prstGeom>
          <a:noFill/>
          <a:ln/>
        </p:spPr>
        <p:txBody>
          <a:bodyPr wrap="square" lIns="0" tIns="0" rIns="0" bIns="0" rtlCol="0" anchor="t"/>
          <a:lstStyle/>
          <a:p>
            <a:pPr indent="0" marL="0">
              <a:lnSpc>
                <a:spcPct val="112000"/>
              </a:lnSpc>
              <a:buNone/>
            </a:pPr>
            <a:r>
              <a:rPr lang="en-US" sz="1150" dirty="0">
                <a:solidFill>
                  <a:srgbClr val="6E6B8A"/>
                </a:solidFill>
                <a:latin typeface="Calibri" pitchFamily="34" charset="0"/>
                <a:ea typeface="Calibri" pitchFamily="34" charset="-122"/>
                <a:cs typeface="Calibri" pitchFamily="34" charset="-120"/>
              </a:rPr>
              <a:t>It writes the action and waits.</a:t>
            </a:r>
            <a:endParaRPr lang="en-US" sz="1150" dirty="0"/>
          </a:p>
        </p:txBody>
      </p:sp>
      <p:sp>
        <p:nvSpPr>
          <p:cNvPr id="18" name="Text 14"/>
          <p:cNvSpPr/>
          <p:nvPr/>
        </p:nvSpPr>
        <p:spPr>
          <a:xfrm>
            <a:off x="3623996" y="4206240"/>
            <a:ext cx="2124380" cy="457200"/>
          </a:xfrm>
          <a:prstGeom prst="rect">
            <a:avLst/>
          </a:prstGeom>
          <a:noFill/>
          <a:ln/>
        </p:spPr>
        <p:txBody>
          <a:bodyPr wrap="square" lIns="0" tIns="0" rIns="0" bIns="0" rtlCol="0" anchor="t"/>
          <a:lstStyle/>
          <a:p>
            <a:pPr indent="0" marL="0">
              <a:buNone/>
            </a:pPr>
            <a:r>
              <a:rPr lang="en-US" sz="1050" i="1" dirty="0">
                <a:solidFill>
                  <a:srgbClr val="E08700"/>
                </a:solidFill>
                <a:latin typeface="Calibri" pitchFamily="34" charset="0"/>
                <a:ea typeface="Calibri" pitchFamily="34" charset="-122"/>
                <a:cs typeface="Calibri" pitchFamily="34" charset="-120"/>
              </a:rPr>
              <a:t>A reply queued for approval.</a:t>
            </a:r>
            <a:endParaRPr lang="en-US" sz="1050" dirty="0"/>
          </a:p>
        </p:txBody>
      </p:sp>
      <p:sp>
        <p:nvSpPr>
          <p:cNvPr id="19" name="Shape 15"/>
          <p:cNvSpPr/>
          <p:nvPr/>
        </p:nvSpPr>
        <p:spPr>
          <a:xfrm>
            <a:off x="6205576" y="1956816"/>
            <a:ext cx="2599868" cy="201168"/>
          </a:xfrm>
          <a:prstGeom prst="roundRect">
            <a:avLst>
              <a:gd name="adj" fmla="val 50000"/>
            </a:avLst>
          </a:prstGeom>
          <a:solidFill>
            <a:srgbClr val="6E5FE8"/>
          </a:solidFill>
          <a:ln w="12700">
            <a:solidFill>
              <a:srgbClr val="6E5FE8"/>
            </a:solidFill>
            <a:prstDash val="solid"/>
          </a:ln>
        </p:spPr>
      </p:sp>
      <p:sp>
        <p:nvSpPr>
          <p:cNvPr id="20" name="Shape 16"/>
          <p:cNvSpPr/>
          <p:nvPr/>
        </p:nvSpPr>
        <p:spPr>
          <a:xfrm>
            <a:off x="6205576" y="2249424"/>
            <a:ext cx="2599868" cy="2560320"/>
          </a:xfrm>
          <a:prstGeom prst="roundRect">
            <a:avLst>
              <a:gd name="adj" fmla="val 3571"/>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21" name="Shape 17"/>
          <p:cNvSpPr/>
          <p:nvPr/>
        </p:nvSpPr>
        <p:spPr>
          <a:xfrm>
            <a:off x="6443320" y="2450592"/>
            <a:ext cx="384048" cy="384048"/>
          </a:xfrm>
          <a:prstGeom prst="ellipse">
            <a:avLst/>
          </a:prstGeom>
          <a:solidFill>
            <a:srgbClr val="6E5FE8"/>
          </a:solidFill>
          <a:ln w="12700">
            <a:solidFill>
              <a:srgbClr val="6E5FE8"/>
            </a:solidFill>
            <a:prstDash val="solid"/>
          </a:ln>
        </p:spPr>
      </p:sp>
      <p:pic>
        <p:nvPicPr>
          <p:cNvPr id="22" name="Image 2" descr="preencoded.png">    </p:cNvPr>
          <p:cNvPicPr>
            <a:picLocks noChangeAspect="1"/>
          </p:cNvPicPr>
          <p:nvPr/>
        </p:nvPicPr>
        <p:blipFill>
          <a:blip r:embed="rId3"/>
          <a:stretch>
            <a:fillRect/>
          </a:stretch>
        </p:blipFill>
        <p:spPr>
          <a:xfrm>
            <a:off x="6539332" y="2546604"/>
            <a:ext cx="192024" cy="192024"/>
          </a:xfrm>
          <a:prstGeom prst="rect">
            <a:avLst/>
          </a:prstGeom>
        </p:spPr>
      </p:pic>
      <p:sp>
        <p:nvSpPr>
          <p:cNvPr id="23" name="Text 18"/>
          <p:cNvSpPr/>
          <p:nvPr/>
        </p:nvSpPr>
        <p:spPr>
          <a:xfrm>
            <a:off x="6443320" y="2962656"/>
            <a:ext cx="2124380" cy="292608"/>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Act with audit</a:t>
            </a:r>
            <a:endParaRPr lang="en-US" sz="1550" dirty="0"/>
          </a:p>
        </p:txBody>
      </p:sp>
      <p:sp>
        <p:nvSpPr>
          <p:cNvPr id="24" name="Text 19"/>
          <p:cNvSpPr/>
          <p:nvPr/>
        </p:nvSpPr>
        <p:spPr>
          <a:xfrm>
            <a:off x="6443320" y="3310128"/>
            <a:ext cx="2124380" cy="786384"/>
          </a:xfrm>
          <a:prstGeom prst="rect">
            <a:avLst/>
          </a:prstGeom>
          <a:noFill/>
          <a:ln/>
        </p:spPr>
        <p:txBody>
          <a:bodyPr wrap="square" lIns="0" tIns="0" rIns="0" bIns="0" rtlCol="0" anchor="t"/>
          <a:lstStyle/>
          <a:p>
            <a:pPr indent="0" marL="0">
              <a:lnSpc>
                <a:spcPct val="112000"/>
              </a:lnSpc>
              <a:buNone/>
            </a:pPr>
            <a:r>
              <a:rPr lang="en-US" sz="1150" dirty="0">
                <a:solidFill>
                  <a:srgbClr val="6E6B8A"/>
                </a:solidFill>
                <a:latin typeface="Calibri" pitchFamily="34" charset="0"/>
                <a:ea typeface="Calibri" pitchFamily="34" charset="-122"/>
                <a:cs typeface="Calibri" pitchFamily="34" charset="-120"/>
              </a:rPr>
              <a:t>It acts. Every step is logged and reversible.</a:t>
            </a:r>
            <a:endParaRPr lang="en-US" sz="1150" dirty="0"/>
          </a:p>
        </p:txBody>
      </p:sp>
      <p:sp>
        <p:nvSpPr>
          <p:cNvPr id="25" name="Text 20"/>
          <p:cNvSpPr/>
          <p:nvPr/>
        </p:nvSpPr>
        <p:spPr>
          <a:xfrm>
            <a:off x="6443320" y="4206240"/>
            <a:ext cx="2124380" cy="457200"/>
          </a:xfrm>
          <a:prstGeom prst="rect">
            <a:avLst/>
          </a:prstGeom>
          <a:noFill/>
          <a:ln/>
        </p:spPr>
        <p:txBody>
          <a:bodyPr wrap="square" lIns="0" tIns="0" rIns="0" bIns="0" rtlCol="0" anchor="t"/>
          <a:lstStyle/>
          <a:p>
            <a:pPr indent="0" marL="0">
              <a:buNone/>
            </a:pPr>
            <a:r>
              <a:rPr lang="en-US" sz="1050" i="1" dirty="0">
                <a:solidFill>
                  <a:srgbClr val="E08700"/>
                </a:solidFill>
                <a:latin typeface="Calibri" pitchFamily="34" charset="0"/>
                <a:ea typeface="Calibri" pitchFamily="34" charset="-122"/>
                <a:cs typeface="Calibri" pitchFamily="34" charset="-120"/>
              </a:rPr>
              <a:t>A nightly export you can re-run.</a:t>
            </a:r>
            <a:endParaRPr lang="en-US" sz="1050" dirty="0"/>
          </a:p>
        </p:txBody>
      </p:sp>
      <p:sp>
        <p:nvSpPr>
          <p:cNvPr id="26" name="Shape 21"/>
          <p:cNvSpPr/>
          <p:nvPr/>
        </p:nvSpPr>
        <p:spPr>
          <a:xfrm>
            <a:off x="9024899" y="1956816"/>
            <a:ext cx="2599868" cy="201168"/>
          </a:xfrm>
          <a:prstGeom prst="roundRect">
            <a:avLst>
              <a:gd name="adj" fmla="val 50000"/>
            </a:avLst>
          </a:prstGeom>
          <a:solidFill>
            <a:srgbClr val="3B2EB8"/>
          </a:solidFill>
          <a:ln w="12700">
            <a:solidFill>
              <a:srgbClr val="3B2EB8"/>
            </a:solidFill>
            <a:prstDash val="solid"/>
          </a:ln>
        </p:spPr>
      </p:sp>
      <p:sp>
        <p:nvSpPr>
          <p:cNvPr id="27" name="Shape 22"/>
          <p:cNvSpPr/>
          <p:nvPr/>
        </p:nvSpPr>
        <p:spPr>
          <a:xfrm>
            <a:off x="9024899" y="2249424"/>
            <a:ext cx="2599868" cy="2560320"/>
          </a:xfrm>
          <a:prstGeom prst="roundRect">
            <a:avLst>
              <a:gd name="adj" fmla="val 3571"/>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28" name="Shape 23"/>
          <p:cNvSpPr/>
          <p:nvPr/>
        </p:nvSpPr>
        <p:spPr>
          <a:xfrm>
            <a:off x="9262643" y="2450592"/>
            <a:ext cx="384048" cy="384048"/>
          </a:xfrm>
          <a:prstGeom prst="ellipse">
            <a:avLst/>
          </a:prstGeom>
          <a:solidFill>
            <a:srgbClr val="3B2EB8"/>
          </a:solidFill>
          <a:ln w="12700">
            <a:solidFill>
              <a:srgbClr val="3B2EB8"/>
            </a:solidFill>
            <a:prstDash val="solid"/>
          </a:ln>
        </p:spPr>
      </p:sp>
      <p:pic>
        <p:nvPicPr>
          <p:cNvPr id="29" name="Image 3" descr="preencoded.png">    </p:cNvPr>
          <p:cNvPicPr>
            <a:picLocks noChangeAspect="1"/>
          </p:cNvPicPr>
          <p:nvPr/>
        </p:nvPicPr>
        <p:blipFill>
          <a:blip r:embed="rId4"/>
          <a:stretch>
            <a:fillRect/>
          </a:stretch>
        </p:blipFill>
        <p:spPr>
          <a:xfrm>
            <a:off x="9358655" y="2546604"/>
            <a:ext cx="192024" cy="192024"/>
          </a:xfrm>
          <a:prstGeom prst="rect">
            <a:avLst/>
          </a:prstGeom>
        </p:spPr>
      </p:pic>
      <p:sp>
        <p:nvSpPr>
          <p:cNvPr id="30" name="Text 24"/>
          <p:cNvSpPr/>
          <p:nvPr/>
        </p:nvSpPr>
        <p:spPr>
          <a:xfrm>
            <a:off x="9262643" y="2962656"/>
            <a:ext cx="2124380" cy="292608"/>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Act</a:t>
            </a:r>
            <a:endParaRPr lang="en-US" sz="1550" dirty="0"/>
          </a:p>
        </p:txBody>
      </p:sp>
      <p:sp>
        <p:nvSpPr>
          <p:cNvPr id="31" name="Text 25"/>
          <p:cNvSpPr/>
          <p:nvPr/>
        </p:nvSpPr>
        <p:spPr>
          <a:xfrm>
            <a:off x="9262643" y="3310128"/>
            <a:ext cx="2124380" cy="786384"/>
          </a:xfrm>
          <a:prstGeom prst="rect">
            <a:avLst/>
          </a:prstGeom>
          <a:noFill/>
          <a:ln/>
        </p:spPr>
        <p:txBody>
          <a:bodyPr wrap="square" lIns="0" tIns="0" rIns="0" bIns="0" rtlCol="0" anchor="t"/>
          <a:lstStyle/>
          <a:p>
            <a:pPr indent="0" marL="0">
              <a:lnSpc>
                <a:spcPct val="112000"/>
              </a:lnSpc>
              <a:buNone/>
            </a:pPr>
            <a:r>
              <a:rPr lang="en-US" sz="1150" dirty="0">
                <a:solidFill>
                  <a:srgbClr val="6E6B8A"/>
                </a:solidFill>
                <a:latin typeface="Calibri" pitchFamily="34" charset="0"/>
                <a:ea typeface="Calibri" pitchFamily="34" charset="-122"/>
                <a:cs typeface="Calibri" pitchFamily="34" charset="-120"/>
              </a:rPr>
              <a:t>It acts. No one is in the loop.</a:t>
            </a:r>
            <a:endParaRPr lang="en-US" sz="1150" dirty="0"/>
          </a:p>
        </p:txBody>
      </p:sp>
      <p:sp>
        <p:nvSpPr>
          <p:cNvPr id="32" name="Text 26"/>
          <p:cNvSpPr/>
          <p:nvPr/>
        </p:nvSpPr>
        <p:spPr>
          <a:xfrm>
            <a:off x="9262643" y="4206240"/>
            <a:ext cx="2124380" cy="457200"/>
          </a:xfrm>
          <a:prstGeom prst="rect">
            <a:avLst/>
          </a:prstGeom>
          <a:noFill/>
          <a:ln/>
        </p:spPr>
        <p:txBody>
          <a:bodyPr wrap="square" lIns="0" tIns="0" rIns="0" bIns="0" rtlCol="0" anchor="t"/>
          <a:lstStyle/>
          <a:p>
            <a:pPr indent="0" marL="0">
              <a:buNone/>
            </a:pPr>
            <a:r>
              <a:rPr lang="en-US" sz="1050" i="1" dirty="0">
                <a:solidFill>
                  <a:srgbClr val="E08700"/>
                </a:solidFill>
                <a:latin typeface="Calibri" pitchFamily="34" charset="0"/>
                <a:ea typeface="Calibri" pitchFamily="34" charset="-122"/>
                <a:cs typeface="Calibri" pitchFamily="34" charset="-120"/>
              </a:rPr>
              <a:t>Reserve for the lowest stakes.</a:t>
            </a:r>
            <a:endParaRPr lang="en-US" sz="1050" dirty="0"/>
          </a:p>
        </p:txBody>
      </p:sp>
      <p:sp>
        <p:nvSpPr>
          <p:cNvPr id="33" name="Text 27"/>
          <p:cNvSpPr/>
          <p:nvPr/>
        </p:nvSpPr>
        <p:spPr>
          <a:xfrm>
            <a:off x="566928" y="4956048"/>
            <a:ext cx="11057839" cy="365760"/>
          </a:xfrm>
          <a:prstGeom prst="rect">
            <a:avLst/>
          </a:prstGeom>
          <a:noFill/>
          <a:ln/>
        </p:spPr>
        <p:txBody>
          <a:bodyPr wrap="square" lIns="0" tIns="0" rIns="0" bIns="0" rtlCol="0" anchor="ctr"/>
          <a:lstStyle/>
          <a:p>
            <a:pPr indent="0" marL="0">
              <a:buNone/>
            </a:pPr>
            <a:r>
              <a:rPr lang="en-US" sz="1350" i="1" dirty="0">
                <a:solidFill>
                  <a:srgbClr val="3B3760"/>
                </a:solidFill>
                <a:latin typeface="Calibri" pitchFamily="34" charset="0"/>
                <a:ea typeface="Calibri" pitchFamily="34" charset="-122"/>
                <a:cs typeface="Calibri" pitchFamily="34" charset="-120"/>
              </a:rPr>
              <a:t>An agent that can move money, contact a customer, or change a record should rarely sit on the far right — whatever its shape.</a:t>
            </a:r>
            <a:endParaRPr lang="en-US" sz="1350" dirty="0"/>
          </a:p>
        </p:txBody>
      </p:sp>
      <p:sp>
        <p:nvSpPr>
          <p:cNvPr id="34" name="Shape 28"/>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35" name="Shape 29"/>
          <p:cNvSpPr/>
          <p:nvPr/>
        </p:nvSpPr>
        <p:spPr>
          <a:xfrm>
            <a:off x="841248" y="5650992"/>
            <a:ext cx="384048" cy="384048"/>
          </a:xfrm>
          <a:prstGeom prst="ellipse">
            <a:avLst/>
          </a:prstGeom>
          <a:solidFill>
            <a:srgbClr val="F5A524"/>
          </a:solidFill>
          <a:ln w="12700">
            <a:solidFill>
              <a:srgbClr val="F5A524"/>
            </a:solidFill>
            <a:prstDash val="solid"/>
          </a:ln>
        </p:spPr>
      </p:sp>
      <p:pic>
        <p:nvPicPr>
          <p:cNvPr id="36" name="Image 4" descr="preencoded.png">    </p:cNvPr>
          <p:cNvPicPr>
            <a:picLocks noChangeAspect="1"/>
          </p:cNvPicPr>
          <p:nvPr/>
        </p:nvPicPr>
        <p:blipFill>
          <a:blip r:embed="rId5"/>
          <a:stretch>
            <a:fillRect/>
          </a:stretch>
        </p:blipFill>
        <p:spPr>
          <a:xfrm>
            <a:off x="937260" y="5747004"/>
            <a:ext cx="192024" cy="192024"/>
          </a:xfrm>
          <a:prstGeom prst="rect">
            <a:avLst/>
          </a:prstGeom>
        </p:spPr>
      </p:pic>
      <p:sp>
        <p:nvSpPr>
          <p:cNvPr id="37" name="Text 30"/>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Ask of any AI proposal: if it is wrong at 3am and nobody notices until Monday, what has it already done? That answer picks the tier.</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Three places an agent is the wrong default</a:t>
            </a:r>
            <a:endParaRPr lang="en-US" sz="3000" dirty="0"/>
          </a:p>
        </p:txBody>
      </p:sp>
      <p:sp>
        <p:nvSpPr>
          <p:cNvPr id="4" name="Shape 2"/>
          <p:cNvSpPr/>
          <p:nvPr/>
        </p:nvSpPr>
        <p:spPr>
          <a:xfrm>
            <a:off x="566928" y="2378720"/>
            <a:ext cx="3527450" cy="2521184"/>
          </a:xfrm>
          <a:prstGeom prst="roundRect">
            <a:avLst>
              <a:gd name="adj" fmla="val 326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598176"/>
            <a:ext cx="365760" cy="365760"/>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896112" y="2689616"/>
            <a:ext cx="182880" cy="182880"/>
          </a:xfrm>
          <a:prstGeom prst="rect">
            <a:avLst/>
          </a:prstGeom>
        </p:spPr>
      </p:pic>
      <p:sp>
        <p:nvSpPr>
          <p:cNvPr id="7" name="Text 4"/>
          <p:cNvSpPr/>
          <p:nvPr/>
        </p:nvSpPr>
        <p:spPr>
          <a:xfrm>
            <a:off x="1298448" y="2589032"/>
            <a:ext cx="2558186"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REASON 1</a:t>
            </a:r>
            <a:endParaRPr lang="en-US" sz="850" dirty="0"/>
          </a:p>
        </p:txBody>
      </p:sp>
      <p:sp>
        <p:nvSpPr>
          <p:cNvPr id="8" name="Text 5"/>
          <p:cNvSpPr/>
          <p:nvPr/>
        </p:nvSpPr>
        <p:spPr>
          <a:xfrm>
            <a:off x="1298448" y="2808488"/>
            <a:ext cx="2558186" cy="638251"/>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The steps are already known</a:t>
            </a:r>
            <a:endParaRPr lang="en-US" sz="1500" dirty="0"/>
          </a:p>
        </p:txBody>
      </p:sp>
      <p:sp>
        <p:nvSpPr>
          <p:cNvPr id="9" name="Text 6"/>
          <p:cNvSpPr/>
          <p:nvPr/>
        </p:nvSpPr>
        <p:spPr>
          <a:xfrm>
            <a:off x="1298448" y="3455883"/>
            <a:ext cx="2558186" cy="1261140"/>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If you can write the path down, write it down. A script is cheaper, faster, testable, and it does not have a bad day. Reaching for a model here is a tax you pay forever.</a:t>
            </a:r>
            <a:endParaRPr lang="en-US" sz="1200" dirty="0"/>
          </a:p>
        </p:txBody>
      </p:sp>
      <p:sp>
        <p:nvSpPr>
          <p:cNvPr id="10" name="Shape 7"/>
          <p:cNvSpPr/>
          <p:nvPr/>
        </p:nvSpPr>
        <p:spPr>
          <a:xfrm>
            <a:off x="4332122" y="2378720"/>
            <a:ext cx="3527450" cy="2521184"/>
          </a:xfrm>
          <a:prstGeom prst="roundRect">
            <a:avLst>
              <a:gd name="adj" fmla="val 326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598176"/>
            <a:ext cx="365760" cy="365760"/>
          </a:xfrm>
          <a:prstGeom prst="ellipse">
            <a:avLst/>
          </a:prstGeom>
          <a:solidFill>
            <a:srgbClr val="D93A3F"/>
          </a:solidFill>
          <a:ln w="12700">
            <a:solidFill>
              <a:srgbClr val="D93A3F"/>
            </a:solidFill>
            <a:prstDash val="solid"/>
          </a:ln>
        </p:spPr>
      </p:sp>
      <p:pic>
        <p:nvPicPr>
          <p:cNvPr id="12" name="Image 1" descr="preencoded.png">    </p:cNvPr>
          <p:cNvPicPr>
            <a:picLocks noChangeAspect="1"/>
          </p:cNvPicPr>
          <p:nvPr/>
        </p:nvPicPr>
        <p:blipFill>
          <a:blip r:embed="rId2"/>
          <a:stretch>
            <a:fillRect/>
          </a:stretch>
        </p:blipFill>
        <p:spPr>
          <a:xfrm>
            <a:off x="4661306" y="2689616"/>
            <a:ext cx="182880" cy="182880"/>
          </a:xfrm>
          <a:prstGeom prst="rect">
            <a:avLst/>
          </a:prstGeom>
        </p:spPr>
      </p:pic>
      <p:sp>
        <p:nvSpPr>
          <p:cNvPr id="13" name="Text 9"/>
          <p:cNvSpPr/>
          <p:nvPr/>
        </p:nvSpPr>
        <p:spPr>
          <a:xfrm>
            <a:off x="5063642" y="2589032"/>
            <a:ext cx="2558186"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REASON 2</a:t>
            </a:r>
            <a:endParaRPr lang="en-US" sz="850" dirty="0"/>
          </a:p>
        </p:txBody>
      </p:sp>
      <p:sp>
        <p:nvSpPr>
          <p:cNvPr id="14" name="Text 10"/>
          <p:cNvSpPr/>
          <p:nvPr/>
        </p:nvSpPr>
        <p:spPr>
          <a:xfrm>
            <a:off x="5063642" y="2808488"/>
            <a:ext cx="2558186" cy="638251"/>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A wrong action is expensive or hard to undo</a:t>
            </a:r>
            <a:endParaRPr lang="en-US" sz="1500" dirty="0"/>
          </a:p>
        </p:txBody>
      </p:sp>
      <p:sp>
        <p:nvSpPr>
          <p:cNvPr id="15" name="Text 11"/>
          <p:cNvSpPr/>
          <p:nvPr/>
        </p:nvSpPr>
        <p:spPr>
          <a:xfrm>
            <a:off x="5063642" y="3455883"/>
            <a:ext cx="2558186" cy="1261140"/>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Refunds, emails to customers, production writes, anything with a regulator attached. The shape may still be an agent — but not on the far right of the autonomy scale.</a:t>
            </a:r>
            <a:endParaRPr lang="en-US" sz="1200" dirty="0"/>
          </a:p>
        </p:txBody>
      </p:sp>
      <p:sp>
        <p:nvSpPr>
          <p:cNvPr id="16" name="Shape 12"/>
          <p:cNvSpPr/>
          <p:nvPr/>
        </p:nvSpPr>
        <p:spPr>
          <a:xfrm>
            <a:off x="8097317" y="2378720"/>
            <a:ext cx="3527450" cy="2521184"/>
          </a:xfrm>
          <a:prstGeom prst="roundRect">
            <a:avLst>
              <a:gd name="adj" fmla="val 326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598176"/>
            <a:ext cx="365760" cy="365760"/>
          </a:xfrm>
          <a:prstGeom prst="ellipse">
            <a:avLst/>
          </a:prstGeom>
          <a:solidFill>
            <a:srgbClr val="D93A3F"/>
          </a:solidFill>
          <a:ln w="12700">
            <a:solidFill>
              <a:srgbClr val="D93A3F"/>
            </a:solidFill>
            <a:prstDash val="solid"/>
          </a:ln>
        </p:spPr>
      </p:sp>
      <p:pic>
        <p:nvPicPr>
          <p:cNvPr id="18" name="Image 2" descr="preencoded.png">    </p:cNvPr>
          <p:cNvPicPr>
            <a:picLocks noChangeAspect="1"/>
          </p:cNvPicPr>
          <p:nvPr/>
        </p:nvPicPr>
        <p:blipFill>
          <a:blip r:embed="rId3"/>
          <a:stretch>
            <a:fillRect/>
          </a:stretch>
        </p:blipFill>
        <p:spPr>
          <a:xfrm>
            <a:off x="8426501" y="2689616"/>
            <a:ext cx="182880" cy="182880"/>
          </a:xfrm>
          <a:prstGeom prst="rect">
            <a:avLst/>
          </a:prstGeom>
        </p:spPr>
      </p:pic>
      <p:sp>
        <p:nvSpPr>
          <p:cNvPr id="19" name="Text 14"/>
          <p:cNvSpPr/>
          <p:nvPr/>
        </p:nvSpPr>
        <p:spPr>
          <a:xfrm>
            <a:off x="8828837" y="2589032"/>
            <a:ext cx="2558186"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REASON 3</a:t>
            </a:r>
            <a:endParaRPr lang="en-US" sz="850" dirty="0"/>
          </a:p>
        </p:txBody>
      </p:sp>
      <p:sp>
        <p:nvSpPr>
          <p:cNvPr id="20" name="Text 15"/>
          <p:cNvSpPr/>
          <p:nvPr/>
        </p:nvSpPr>
        <p:spPr>
          <a:xfrm>
            <a:off x="8828837" y="2808488"/>
            <a:ext cx="2558186" cy="638251"/>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The facts were never written down</a:t>
            </a:r>
            <a:endParaRPr lang="en-US" sz="1500" dirty="0"/>
          </a:p>
        </p:txBody>
      </p:sp>
      <p:sp>
        <p:nvSpPr>
          <p:cNvPr id="21" name="Text 16"/>
          <p:cNvSpPr/>
          <p:nvPr/>
        </p:nvSpPr>
        <p:spPr>
          <a:xfrm>
            <a:off x="8828837" y="3455883"/>
            <a:ext cx="2558186" cy="1261140"/>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A tool cannot fetch what nobody stored. If the answer lives only in somebody's head or in a meeting nobody minuted, no amount of retrieval will find it.</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sp>
      <p:pic>
        <p:nvPicPr>
          <p:cNvPr id="24" name="Image 3" descr="preencoded.png">    </p:cNvPr>
          <p:cNvPicPr>
            <a:picLocks noChangeAspect="1"/>
          </p:cNvPicPr>
          <p:nvPr/>
        </p:nvPicPr>
        <p:blipFill>
          <a:blip r:embed="rId4"/>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Two of these three are not AI problems at all. They are “we never wrote our process down” problems, which is what module 17 is about.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01 · WHAT AN AGENT IS · EXERCISE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In pairs: shape and score these jobs</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Five to seven minutes. For each row: what shape is it, and how far would you let it go?</a:t>
            </a:r>
            <a:endParaRPr lang="en-US" sz="1400" dirty="0"/>
          </a:p>
        </p:txBody>
      </p:sp>
      <p:sp>
        <p:nvSpPr>
          <p:cNvPr id="5" name="Text 3"/>
          <p:cNvSpPr/>
          <p:nvPr/>
        </p:nvSpPr>
        <p:spPr>
          <a:xfrm>
            <a:off x="841248" y="2011680"/>
            <a:ext cx="6766560" cy="274320"/>
          </a:xfrm>
          <a:prstGeom prst="rect">
            <a:avLst/>
          </a:prstGeom>
          <a:noFill/>
          <a:ln/>
        </p:spPr>
        <p:txBody>
          <a:bodyPr wrap="square" lIns="0" tIns="0" rIns="0" bIns="0" rtlCol="0" anchor="ctr"/>
          <a:lstStyle/>
          <a:p>
            <a:pPr indent="0" marL="0">
              <a:buNone/>
            </a:pPr>
            <a:r>
              <a:rPr lang="en-US" sz="950" b="1" spc="180" kern="0" dirty="0">
                <a:solidFill>
                  <a:srgbClr val="9B98B4"/>
                </a:solidFill>
                <a:latin typeface="Calibri" pitchFamily="34" charset="0"/>
                <a:ea typeface="Calibri" pitchFamily="34" charset="-122"/>
                <a:cs typeface="Calibri" pitchFamily="34" charset="-120"/>
              </a:rPr>
              <a:t>JOB</a:t>
            </a:r>
            <a:endParaRPr lang="en-US" sz="950" dirty="0"/>
          </a:p>
        </p:txBody>
      </p:sp>
      <p:sp>
        <p:nvSpPr>
          <p:cNvPr id="6" name="Text 4"/>
          <p:cNvSpPr/>
          <p:nvPr/>
        </p:nvSpPr>
        <p:spPr>
          <a:xfrm>
            <a:off x="7882128" y="2011680"/>
            <a:ext cx="1737360" cy="274320"/>
          </a:xfrm>
          <a:prstGeom prst="rect">
            <a:avLst/>
          </a:prstGeom>
          <a:noFill/>
          <a:ln/>
        </p:spPr>
        <p:txBody>
          <a:bodyPr wrap="square" lIns="0" tIns="0" rIns="0" bIns="0" rtlCol="0" anchor="ctr"/>
          <a:lstStyle/>
          <a:p>
            <a:pPr indent="0" marL="0">
              <a:buNone/>
            </a:pPr>
            <a:r>
              <a:rPr lang="en-US" sz="950" b="1" spc="180" kern="0" dirty="0">
                <a:solidFill>
                  <a:srgbClr val="9B98B4"/>
                </a:solidFill>
                <a:latin typeface="Calibri" pitchFamily="34" charset="0"/>
                <a:ea typeface="Calibri" pitchFamily="34" charset="-122"/>
                <a:cs typeface="Calibri" pitchFamily="34" charset="-120"/>
              </a:rPr>
              <a:t>SHAPE</a:t>
            </a:r>
            <a:endParaRPr lang="en-US" sz="950" dirty="0"/>
          </a:p>
        </p:txBody>
      </p:sp>
      <p:sp>
        <p:nvSpPr>
          <p:cNvPr id="7" name="Text 5"/>
          <p:cNvSpPr/>
          <p:nvPr/>
        </p:nvSpPr>
        <p:spPr>
          <a:xfrm>
            <a:off x="9710928" y="2011680"/>
            <a:ext cx="1737360" cy="274320"/>
          </a:xfrm>
          <a:prstGeom prst="rect">
            <a:avLst/>
          </a:prstGeom>
          <a:noFill/>
          <a:ln/>
        </p:spPr>
        <p:txBody>
          <a:bodyPr wrap="square" lIns="0" tIns="0" rIns="0" bIns="0" rtlCol="0" anchor="ctr"/>
          <a:lstStyle/>
          <a:p>
            <a:pPr indent="0" marL="0">
              <a:buNone/>
            </a:pPr>
            <a:r>
              <a:rPr lang="en-US" sz="950" b="1" spc="180" kern="0" dirty="0">
                <a:solidFill>
                  <a:srgbClr val="9B98B4"/>
                </a:solidFill>
                <a:latin typeface="Calibri" pitchFamily="34" charset="0"/>
                <a:ea typeface="Calibri" pitchFamily="34" charset="-122"/>
                <a:cs typeface="Calibri" pitchFamily="34" charset="-120"/>
              </a:rPr>
              <a:t>HOW FAR</a:t>
            </a:r>
            <a:endParaRPr lang="en-US" sz="950" dirty="0"/>
          </a:p>
        </p:txBody>
      </p:sp>
      <p:sp>
        <p:nvSpPr>
          <p:cNvPr id="8" name="Shape 6"/>
          <p:cNvSpPr/>
          <p:nvPr/>
        </p:nvSpPr>
        <p:spPr>
          <a:xfrm>
            <a:off x="566928" y="2340864"/>
            <a:ext cx="11057839" cy="438912"/>
          </a:xfrm>
          <a:prstGeom prst="roundRect">
            <a:avLst>
              <a:gd name="adj" fmla="val 12500"/>
            </a:avLst>
          </a:prstGeom>
          <a:solidFill>
            <a:srgbClr val="F5F6FC"/>
          </a:solidFill>
          <a:ln w="12700">
            <a:solidFill>
              <a:srgbClr val="E3E4F2"/>
            </a:solidFill>
            <a:prstDash val="solid"/>
          </a:ln>
        </p:spPr>
      </p:sp>
      <p:sp>
        <p:nvSpPr>
          <p:cNvPr id="9" name="Text 7"/>
          <p:cNvSpPr/>
          <p:nvPr/>
        </p:nvSpPr>
        <p:spPr>
          <a:xfrm>
            <a:off x="621792" y="2340864"/>
            <a:ext cx="310896" cy="438912"/>
          </a:xfrm>
          <a:prstGeom prst="rect">
            <a:avLst/>
          </a:prstGeom>
          <a:noFill/>
          <a:ln/>
        </p:spPr>
        <p:txBody>
          <a:bodyPr wrap="square" lIns="0" tIns="0" rIns="0" bIns="0" rtlCol="0" anchor="ctr"/>
          <a:lstStyle/>
          <a:p>
            <a:pPr algn="ctr" indent="0" marL="0">
              <a:buNone/>
            </a:pPr>
            <a:r>
              <a:rPr lang="en-US" sz="1100" b="1" dirty="0">
                <a:solidFill>
                  <a:srgbClr val="5B4BE8"/>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987552" y="2340864"/>
            <a:ext cx="6675120" cy="438912"/>
          </a:xfrm>
          <a:prstGeom prst="rect">
            <a:avLst/>
          </a:prstGeom>
          <a:noFill/>
          <a:ln/>
        </p:spPr>
        <p:txBody>
          <a:bodyPr wrap="square" lIns="0" tIns="0" rIns="0" bIns="0" rtlCol="0" anchor="ctr"/>
          <a:lstStyle/>
          <a:p>
            <a:pPr indent="0" marL="0">
              <a:buNone/>
            </a:pPr>
            <a:r>
              <a:rPr lang="en-US" sz="1200" dirty="0">
                <a:solidFill>
                  <a:srgbClr val="141235"/>
                </a:solidFill>
                <a:latin typeface="Calibri" pitchFamily="34" charset="0"/>
                <a:ea typeface="Calibri" pitchFamily="34" charset="-122"/>
                <a:cs typeface="Calibri" pitchFamily="34" charset="-120"/>
              </a:rPr>
              <a:t>The same overdue reminder to every account past 30 days</a:t>
            </a:r>
            <a:endParaRPr lang="en-US" sz="1200" dirty="0"/>
          </a:p>
        </p:txBody>
      </p:sp>
      <p:sp>
        <p:nvSpPr>
          <p:cNvPr id="11" name="Text 9"/>
          <p:cNvSpPr/>
          <p:nvPr/>
        </p:nvSpPr>
        <p:spPr>
          <a:xfrm>
            <a:off x="7882128" y="2340864"/>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9710928" y="2340864"/>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566928" y="2852928"/>
            <a:ext cx="11057839" cy="438912"/>
          </a:xfrm>
          <a:prstGeom prst="roundRect">
            <a:avLst>
              <a:gd name="adj" fmla="val 12500"/>
            </a:avLst>
          </a:prstGeom>
          <a:solidFill>
            <a:srgbClr val="FFFFFF"/>
          </a:solidFill>
          <a:ln w="12700">
            <a:solidFill>
              <a:srgbClr val="E3E4F2"/>
            </a:solidFill>
            <a:prstDash val="solid"/>
          </a:ln>
        </p:spPr>
      </p:sp>
      <p:sp>
        <p:nvSpPr>
          <p:cNvPr id="14" name="Text 12"/>
          <p:cNvSpPr/>
          <p:nvPr/>
        </p:nvSpPr>
        <p:spPr>
          <a:xfrm>
            <a:off x="621792" y="2852928"/>
            <a:ext cx="310896" cy="438912"/>
          </a:xfrm>
          <a:prstGeom prst="rect">
            <a:avLst/>
          </a:prstGeom>
          <a:noFill/>
          <a:ln/>
        </p:spPr>
        <p:txBody>
          <a:bodyPr wrap="square" lIns="0" tIns="0" rIns="0" bIns="0" rtlCol="0" anchor="ctr"/>
          <a:lstStyle/>
          <a:p>
            <a:pPr algn="ctr" indent="0" marL="0">
              <a:buNone/>
            </a:pPr>
            <a:r>
              <a:rPr lang="en-US" sz="1100" b="1" dirty="0">
                <a:solidFill>
                  <a:srgbClr val="5B4BE8"/>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987552" y="2852928"/>
            <a:ext cx="6675120" cy="438912"/>
          </a:xfrm>
          <a:prstGeom prst="rect">
            <a:avLst/>
          </a:prstGeom>
          <a:noFill/>
          <a:ln/>
        </p:spPr>
        <p:txBody>
          <a:bodyPr wrap="square" lIns="0" tIns="0" rIns="0" bIns="0" rtlCol="0" anchor="ctr"/>
          <a:lstStyle/>
          <a:p>
            <a:pPr indent="0" marL="0">
              <a:buNone/>
            </a:pPr>
            <a:r>
              <a:rPr lang="en-US" sz="1200" dirty="0">
                <a:solidFill>
                  <a:srgbClr val="141235"/>
                </a:solidFill>
                <a:latin typeface="Calibri" pitchFamily="34" charset="0"/>
                <a:ea typeface="Calibri" pitchFamily="34" charset="-122"/>
                <a:cs typeface="Calibri" pitchFamily="34" charset="-120"/>
              </a:rPr>
              <a:t>A visitor asks what jazz fusion is</a:t>
            </a:r>
            <a:endParaRPr lang="en-US" sz="1200" dirty="0"/>
          </a:p>
        </p:txBody>
      </p:sp>
      <p:sp>
        <p:nvSpPr>
          <p:cNvPr id="16" name="Text 14"/>
          <p:cNvSpPr/>
          <p:nvPr/>
        </p:nvSpPr>
        <p:spPr>
          <a:xfrm>
            <a:off x="7882128" y="2852928"/>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710928" y="2852928"/>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566928" y="3364992"/>
            <a:ext cx="11057839" cy="438912"/>
          </a:xfrm>
          <a:prstGeom prst="roundRect">
            <a:avLst>
              <a:gd name="adj" fmla="val 12500"/>
            </a:avLst>
          </a:prstGeom>
          <a:solidFill>
            <a:srgbClr val="F5F6FC"/>
          </a:solidFill>
          <a:ln w="12700">
            <a:solidFill>
              <a:srgbClr val="E3E4F2"/>
            </a:solidFill>
            <a:prstDash val="solid"/>
          </a:ln>
        </p:spPr>
      </p:sp>
      <p:sp>
        <p:nvSpPr>
          <p:cNvPr id="19" name="Text 17"/>
          <p:cNvSpPr/>
          <p:nvPr/>
        </p:nvSpPr>
        <p:spPr>
          <a:xfrm>
            <a:off x="621792" y="3364992"/>
            <a:ext cx="310896" cy="438912"/>
          </a:xfrm>
          <a:prstGeom prst="rect">
            <a:avLst/>
          </a:prstGeom>
          <a:noFill/>
          <a:ln/>
        </p:spPr>
        <p:txBody>
          <a:bodyPr wrap="square" lIns="0" tIns="0" rIns="0" bIns="0" rtlCol="0" anchor="ctr"/>
          <a:lstStyle/>
          <a:p>
            <a:pPr algn="ctr" indent="0" marL="0">
              <a:buNone/>
            </a:pPr>
            <a:r>
              <a:rPr lang="en-US" sz="1100" b="1" dirty="0">
                <a:solidFill>
                  <a:srgbClr val="5B4BE8"/>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987552" y="3364992"/>
            <a:ext cx="6675120" cy="438912"/>
          </a:xfrm>
          <a:prstGeom prst="rect">
            <a:avLst/>
          </a:prstGeom>
          <a:noFill/>
          <a:ln/>
        </p:spPr>
        <p:txBody>
          <a:bodyPr wrap="square" lIns="0" tIns="0" rIns="0" bIns="0" rtlCol="0" anchor="ctr"/>
          <a:lstStyle/>
          <a:p>
            <a:pPr indent="0" marL="0">
              <a:buNone/>
            </a:pPr>
            <a:r>
              <a:rPr lang="en-US" sz="1200" dirty="0">
                <a:solidFill>
                  <a:srgbClr val="141235"/>
                </a:solidFill>
                <a:latin typeface="Calibri" pitchFamily="34" charset="0"/>
                <a:ea typeface="Calibri" pitchFamily="34" charset="-122"/>
                <a:cs typeface="Calibri" pitchFamily="34" charset="-120"/>
              </a:rPr>
              <a:t>A messy email with an invoice, an address change, and a question</a:t>
            </a:r>
            <a:endParaRPr lang="en-US" sz="1200" dirty="0"/>
          </a:p>
        </p:txBody>
      </p:sp>
      <p:sp>
        <p:nvSpPr>
          <p:cNvPr id="21" name="Text 19"/>
          <p:cNvSpPr/>
          <p:nvPr/>
        </p:nvSpPr>
        <p:spPr>
          <a:xfrm>
            <a:off x="7882128" y="3364992"/>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9710928" y="3364992"/>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566928" y="3877056"/>
            <a:ext cx="11057839" cy="438912"/>
          </a:xfrm>
          <a:prstGeom prst="roundRect">
            <a:avLst>
              <a:gd name="adj" fmla="val 12500"/>
            </a:avLst>
          </a:prstGeom>
          <a:solidFill>
            <a:srgbClr val="FFFFFF"/>
          </a:solidFill>
          <a:ln w="12700">
            <a:solidFill>
              <a:srgbClr val="E3E4F2"/>
            </a:solidFill>
            <a:prstDash val="solid"/>
          </a:ln>
        </p:spPr>
      </p:sp>
      <p:sp>
        <p:nvSpPr>
          <p:cNvPr id="24" name="Text 22"/>
          <p:cNvSpPr/>
          <p:nvPr/>
        </p:nvSpPr>
        <p:spPr>
          <a:xfrm>
            <a:off x="621792" y="3877056"/>
            <a:ext cx="310896" cy="438912"/>
          </a:xfrm>
          <a:prstGeom prst="rect">
            <a:avLst/>
          </a:prstGeom>
          <a:noFill/>
          <a:ln/>
        </p:spPr>
        <p:txBody>
          <a:bodyPr wrap="square" lIns="0" tIns="0" rIns="0" bIns="0" rtlCol="0" anchor="ctr"/>
          <a:lstStyle/>
          <a:p>
            <a:pPr algn="ctr" indent="0" marL="0">
              <a:buNone/>
            </a:pPr>
            <a:r>
              <a:rPr lang="en-US" sz="1100" b="1" dirty="0">
                <a:solidFill>
                  <a:srgbClr val="5B4BE8"/>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987552" y="3877056"/>
            <a:ext cx="6675120" cy="438912"/>
          </a:xfrm>
          <a:prstGeom prst="rect">
            <a:avLst/>
          </a:prstGeom>
          <a:noFill/>
          <a:ln/>
        </p:spPr>
        <p:txBody>
          <a:bodyPr wrap="square" lIns="0" tIns="0" rIns="0" bIns="0" rtlCol="0" anchor="ctr"/>
          <a:lstStyle/>
          <a:p>
            <a:pPr indent="0" marL="0">
              <a:buNone/>
            </a:pPr>
            <a:r>
              <a:rPr lang="en-US" sz="1200" dirty="0">
                <a:solidFill>
                  <a:srgbClr val="141235"/>
                </a:solidFill>
                <a:latin typeface="Calibri" pitchFamily="34" charset="0"/>
                <a:ea typeface="Calibri" pitchFamily="34" charset="-122"/>
                <a:cs typeface="Calibri" pitchFamily="34" charset="-120"/>
              </a:rPr>
              <a:t>Auto-refund up to a set limit, straight from an inbox, no one in the loop</a:t>
            </a:r>
            <a:endParaRPr lang="en-US" sz="1200" dirty="0"/>
          </a:p>
        </p:txBody>
      </p:sp>
      <p:sp>
        <p:nvSpPr>
          <p:cNvPr id="26" name="Text 24"/>
          <p:cNvSpPr/>
          <p:nvPr/>
        </p:nvSpPr>
        <p:spPr>
          <a:xfrm>
            <a:off x="7882128" y="3877056"/>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9710928" y="3877056"/>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566928" y="4389120"/>
            <a:ext cx="11057839" cy="438912"/>
          </a:xfrm>
          <a:prstGeom prst="roundRect">
            <a:avLst>
              <a:gd name="adj" fmla="val 12500"/>
            </a:avLst>
          </a:prstGeom>
          <a:solidFill>
            <a:srgbClr val="F5F6FC"/>
          </a:solidFill>
          <a:ln w="12700">
            <a:solidFill>
              <a:srgbClr val="E3E4F2"/>
            </a:solidFill>
            <a:prstDash val="solid"/>
          </a:ln>
        </p:spPr>
      </p:sp>
      <p:sp>
        <p:nvSpPr>
          <p:cNvPr id="29" name="Text 27"/>
          <p:cNvSpPr/>
          <p:nvPr/>
        </p:nvSpPr>
        <p:spPr>
          <a:xfrm>
            <a:off x="621792" y="4389120"/>
            <a:ext cx="310896" cy="438912"/>
          </a:xfrm>
          <a:prstGeom prst="rect">
            <a:avLst/>
          </a:prstGeom>
          <a:noFill/>
          <a:ln/>
        </p:spPr>
        <p:txBody>
          <a:bodyPr wrap="square" lIns="0" tIns="0" rIns="0" bIns="0" rtlCol="0" anchor="ctr"/>
          <a:lstStyle/>
          <a:p>
            <a:pPr algn="ctr" indent="0" marL="0">
              <a:buNone/>
            </a:pPr>
            <a:r>
              <a:rPr lang="en-US" sz="1100" b="1" dirty="0">
                <a:solidFill>
                  <a:srgbClr val="5B4BE8"/>
                </a:solidFill>
                <a:latin typeface="Calibri" pitchFamily="34" charset="0"/>
                <a:ea typeface="Calibri" pitchFamily="34" charset="-122"/>
                <a:cs typeface="Calibri" pitchFamily="34" charset="-120"/>
              </a:rPr>
              <a:t>5</a:t>
            </a:r>
            <a:endParaRPr lang="en-US" sz="1100" dirty="0"/>
          </a:p>
        </p:txBody>
      </p:sp>
      <p:sp>
        <p:nvSpPr>
          <p:cNvPr id="30" name="Text 28"/>
          <p:cNvSpPr/>
          <p:nvPr/>
        </p:nvSpPr>
        <p:spPr>
          <a:xfrm>
            <a:off x="987552" y="4389120"/>
            <a:ext cx="6675120" cy="438912"/>
          </a:xfrm>
          <a:prstGeom prst="rect">
            <a:avLst/>
          </a:prstGeom>
          <a:noFill/>
          <a:ln/>
        </p:spPr>
        <p:txBody>
          <a:bodyPr wrap="square" lIns="0" tIns="0" rIns="0" bIns="0" rtlCol="0" anchor="ctr"/>
          <a:lstStyle/>
          <a:p>
            <a:pPr indent="0" marL="0">
              <a:buNone/>
            </a:pPr>
            <a:r>
              <a:rPr lang="en-US" sz="1200" dirty="0">
                <a:solidFill>
                  <a:srgbClr val="141235"/>
                </a:solidFill>
                <a:latin typeface="Calibri" pitchFamily="34" charset="0"/>
                <a:ea typeface="Calibri" pitchFamily="34" charset="-122"/>
                <a:cs typeface="Calibri" pitchFamily="34" charset="-120"/>
              </a:rPr>
              <a:t>Route each incoming request to billing, shipping, or product</a:t>
            </a:r>
            <a:endParaRPr lang="en-US" sz="1200" dirty="0"/>
          </a:p>
        </p:txBody>
      </p:sp>
      <p:sp>
        <p:nvSpPr>
          <p:cNvPr id="31" name="Text 29"/>
          <p:cNvSpPr/>
          <p:nvPr/>
        </p:nvSpPr>
        <p:spPr>
          <a:xfrm>
            <a:off x="7882128" y="4389120"/>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9710928" y="4389120"/>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566928" y="4901184"/>
            <a:ext cx="11057839" cy="438912"/>
          </a:xfrm>
          <a:prstGeom prst="roundRect">
            <a:avLst>
              <a:gd name="adj" fmla="val 12500"/>
            </a:avLst>
          </a:prstGeom>
          <a:solidFill>
            <a:srgbClr val="FFFFFF"/>
          </a:solidFill>
          <a:ln w="12700">
            <a:solidFill>
              <a:srgbClr val="E3E4F2"/>
            </a:solidFill>
            <a:prstDash val="solid"/>
          </a:ln>
        </p:spPr>
      </p:sp>
      <p:sp>
        <p:nvSpPr>
          <p:cNvPr id="34" name="Text 32"/>
          <p:cNvSpPr/>
          <p:nvPr/>
        </p:nvSpPr>
        <p:spPr>
          <a:xfrm>
            <a:off x="621792" y="4901184"/>
            <a:ext cx="310896" cy="438912"/>
          </a:xfrm>
          <a:prstGeom prst="rect">
            <a:avLst/>
          </a:prstGeom>
          <a:noFill/>
          <a:ln/>
        </p:spPr>
        <p:txBody>
          <a:bodyPr wrap="square" lIns="0" tIns="0" rIns="0" bIns="0" rtlCol="0" anchor="ctr"/>
          <a:lstStyle/>
          <a:p>
            <a:pPr algn="ctr" indent="0" marL="0">
              <a:buNone/>
            </a:pPr>
            <a:r>
              <a:rPr lang="en-US" sz="1100" b="1" dirty="0">
                <a:solidFill>
                  <a:srgbClr val="5B4BE8"/>
                </a:solidFill>
                <a:latin typeface="Calibri" pitchFamily="34" charset="0"/>
                <a:ea typeface="Calibri" pitchFamily="34" charset="-122"/>
                <a:cs typeface="Calibri" pitchFamily="34" charset="-120"/>
              </a:rPr>
              <a:t>6</a:t>
            </a:r>
            <a:endParaRPr lang="en-US" sz="1100" dirty="0"/>
          </a:p>
        </p:txBody>
      </p:sp>
      <p:sp>
        <p:nvSpPr>
          <p:cNvPr id="35" name="Text 33"/>
          <p:cNvSpPr/>
          <p:nvPr/>
        </p:nvSpPr>
        <p:spPr>
          <a:xfrm>
            <a:off x="987552" y="4901184"/>
            <a:ext cx="6675120" cy="438912"/>
          </a:xfrm>
          <a:prstGeom prst="rect">
            <a:avLst/>
          </a:prstGeom>
          <a:noFill/>
          <a:ln/>
        </p:spPr>
        <p:txBody>
          <a:bodyPr wrap="square" lIns="0" tIns="0" rIns="0" bIns="0" rtlCol="0" anchor="ctr"/>
          <a:lstStyle/>
          <a:p>
            <a:pPr indent="0" marL="0">
              <a:buNone/>
            </a:pPr>
            <a:r>
              <a:rPr lang="en-US" sz="1200" dirty="0">
                <a:solidFill>
                  <a:srgbClr val="141235"/>
                </a:solidFill>
                <a:latin typeface="Calibri" pitchFamily="34" charset="0"/>
                <a:ea typeface="Calibri" pitchFamily="34" charset="-122"/>
                <a:cs typeface="Calibri" pitchFamily="34" charset="-120"/>
              </a:rPr>
              <a:t>Why is Q3 revenue down?</a:t>
            </a:r>
            <a:endParaRPr lang="en-US" sz="1200" dirty="0"/>
          </a:p>
        </p:txBody>
      </p:sp>
      <p:sp>
        <p:nvSpPr>
          <p:cNvPr id="36" name="Text 34"/>
          <p:cNvSpPr/>
          <p:nvPr/>
        </p:nvSpPr>
        <p:spPr>
          <a:xfrm>
            <a:off x="7882128" y="4901184"/>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7" name="Text 35"/>
          <p:cNvSpPr/>
          <p:nvPr/>
        </p:nvSpPr>
        <p:spPr>
          <a:xfrm>
            <a:off x="9710928" y="4901184"/>
            <a:ext cx="1737360" cy="438912"/>
          </a:xfrm>
          <a:prstGeom prst="rect">
            <a:avLst/>
          </a:prstGeom>
          <a:noFill/>
          <a:ln/>
        </p:spPr>
        <p:txBody>
          <a:bodyPr wrap="square" lIns="0" tIns="0" rIns="0" bIns="0" rtlCol="0" anchor="ctr"/>
          <a:lstStyle/>
          <a:p>
            <a:pPr indent="0" marL="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8" name="Text 36"/>
          <p:cNvSpPr/>
          <p:nvPr/>
        </p:nvSpPr>
        <p:spPr>
          <a:xfrm>
            <a:off x="566928" y="5468112"/>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Score each on volume, judgment required, cost of a wrong step, and whether the context even exists in writing.</a:t>
            </a:r>
            <a:endParaRPr lang="en-US" sz="950" dirty="0"/>
          </a:p>
        </p:txBody>
      </p:sp>
      <p:sp>
        <p:nvSpPr>
          <p:cNvPr id="39" name="Text 37"/>
          <p:cNvSpPr/>
          <p:nvPr/>
        </p:nvSpPr>
        <p:spPr>
          <a:xfrm>
            <a:off x="566928" y="5742432"/>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Mixed pairs work best — put one builder with one non-builder.</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02</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02</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Tool calling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The model never touches a tool. It only ever asks — and your code decides.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What everyone assumes, and what actually happens</a:t>
            </a:r>
            <a:endParaRPr lang="en-US" sz="3000" dirty="0"/>
          </a:p>
        </p:txBody>
      </p:sp>
      <p:sp>
        <p:nvSpPr>
          <p:cNvPr id="4" name="Shape 2"/>
          <p:cNvSpPr/>
          <p:nvPr/>
        </p:nvSpPr>
        <p:spPr>
          <a:xfrm>
            <a:off x="566928" y="1517904"/>
            <a:ext cx="11057839" cy="1517904"/>
          </a:xfrm>
          <a:prstGeom prst="roundRect">
            <a:avLst>
              <a:gd name="adj" fmla="val 6024"/>
            </a:avLst>
          </a:prstGeom>
          <a:solidFill>
            <a:srgbClr val="FDECEC"/>
          </a:solidFill>
          <a:ln w="12700">
            <a:solidFill>
              <a:srgbClr val="F1C9C9"/>
            </a:solidFill>
            <a:prstDash val="solid"/>
          </a:ln>
        </p:spPr>
      </p:sp>
      <p:sp>
        <p:nvSpPr>
          <p:cNvPr id="5" name="Text 3"/>
          <p:cNvSpPr/>
          <p:nvPr/>
        </p:nvSpPr>
        <p:spPr>
          <a:xfrm>
            <a:off x="841248" y="1645920"/>
            <a:ext cx="1463040" cy="256032"/>
          </a:xfrm>
          <a:prstGeom prst="rect">
            <a:avLst/>
          </a:prstGeom>
          <a:noFill/>
          <a:ln/>
        </p:spPr>
        <p:txBody>
          <a:bodyPr wrap="square" lIns="0" tIns="0" rIns="0" bIns="0" rtlCol="0" anchor="ctr"/>
          <a:lstStyle/>
          <a:p>
            <a:pPr indent="0" marL="0">
              <a:buNone/>
            </a:pPr>
            <a:r>
              <a:rPr lang="en-US" sz="1000" b="1" spc="200" kern="0" dirty="0">
                <a:solidFill>
                  <a:srgbClr val="D93A3F"/>
                </a:solidFill>
                <a:latin typeface="Calibri" pitchFamily="34" charset="0"/>
                <a:ea typeface="Calibri" pitchFamily="34" charset="-122"/>
                <a:cs typeface="Calibri" pitchFamily="34" charset="-120"/>
              </a:rPr>
              <a:t>ASSUMED</a:t>
            </a:r>
            <a:endParaRPr lang="en-US" sz="1000" dirty="0"/>
          </a:p>
        </p:txBody>
      </p:sp>
      <p:pic>
        <p:nvPicPr>
          <p:cNvPr id="6" name="Image 0" descr="s25 assumed">    </p:cNvPr>
          <p:cNvPicPr>
            <a:picLocks noChangeAspect="1"/>
          </p:cNvPicPr>
          <p:nvPr/>
        </p:nvPicPr>
        <p:blipFill>
          <a:blip r:embed="rId1"/>
          <a:stretch>
            <a:fillRect/>
          </a:stretch>
        </p:blipFill>
        <p:spPr>
          <a:xfrm>
            <a:off x="2130552" y="1737360"/>
            <a:ext cx="7772400" cy="1024128"/>
          </a:xfrm>
          <a:prstGeom prst="rect">
            <a:avLst/>
          </a:prstGeom>
        </p:spPr>
      </p:pic>
      <p:sp>
        <p:nvSpPr>
          <p:cNvPr id="7" name="Text 4"/>
          <p:cNvSpPr/>
          <p:nvPr/>
        </p:nvSpPr>
        <p:spPr>
          <a:xfrm>
            <a:off x="841248" y="2743200"/>
            <a:ext cx="10509199" cy="237744"/>
          </a:xfrm>
          <a:prstGeom prst="rect">
            <a:avLst/>
          </a:prstGeom>
          <a:noFill/>
          <a:ln/>
        </p:spPr>
        <p:txBody>
          <a:bodyPr wrap="square" lIns="0" tIns="0" rIns="0" bIns="0" rtlCol="0" anchor="ctr"/>
          <a:lstStyle/>
          <a:p>
            <a:pPr indent="0" marL="0">
              <a:buNone/>
            </a:pPr>
            <a:r>
              <a:rPr lang="en-US" sz="1050" i="1" dirty="0">
                <a:solidFill>
                  <a:srgbClr val="D93A3F"/>
                </a:solidFill>
                <a:latin typeface="Calibri" pitchFamily="34" charset="0"/>
                <a:ea typeface="Calibri" pitchFamily="34" charset="-122"/>
                <a:cs typeface="Calibri" pitchFamily="34" charset="-120"/>
              </a:rPr>
              <a:t>“the model goes and does things”</a:t>
            </a:r>
            <a:endParaRPr lang="en-US" sz="1050" dirty="0"/>
          </a:p>
        </p:txBody>
      </p:sp>
      <p:sp>
        <p:nvSpPr>
          <p:cNvPr id="8" name="Shape 5"/>
          <p:cNvSpPr/>
          <p:nvPr/>
        </p:nvSpPr>
        <p:spPr>
          <a:xfrm>
            <a:off x="566928" y="3145536"/>
            <a:ext cx="11057839" cy="2212848"/>
          </a:xfrm>
          <a:prstGeom prst="roundRect">
            <a:avLst>
              <a:gd name="adj" fmla="val 4132"/>
            </a:avLst>
          </a:prstGeom>
          <a:solidFill>
            <a:srgbClr val="E7F7F1"/>
          </a:solidFill>
          <a:ln w="12700">
            <a:solidFill>
              <a:srgbClr val="C2E6D7"/>
            </a:solidFill>
            <a:prstDash val="solid"/>
          </a:ln>
        </p:spPr>
      </p:sp>
      <p:sp>
        <p:nvSpPr>
          <p:cNvPr id="9" name="Text 6"/>
          <p:cNvSpPr/>
          <p:nvPr/>
        </p:nvSpPr>
        <p:spPr>
          <a:xfrm>
            <a:off x="841248" y="3273552"/>
            <a:ext cx="1463040" cy="256032"/>
          </a:xfrm>
          <a:prstGeom prst="rect">
            <a:avLst/>
          </a:prstGeom>
          <a:noFill/>
          <a:ln/>
        </p:spPr>
        <p:txBody>
          <a:bodyPr wrap="square" lIns="0" tIns="0" rIns="0" bIns="0" rtlCol="0" anchor="ctr"/>
          <a:lstStyle/>
          <a:p>
            <a:pPr indent="0" marL="0">
              <a:buNone/>
            </a:pPr>
            <a:r>
              <a:rPr lang="en-US" sz="1000" b="1" spc="200" kern="0" dirty="0">
                <a:solidFill>
                  <a:srgbClr val="0E9F6E"/>
                </a:solidFill>
                <a:latin typeface="Calibri" pitchFamily="34" charset="0"/>
                <a:ea typeface="Calibri" pitchFamily="34" charset="-122"/>
                <a:cs typeface="Calibri" pitchFamily="34" charset="-120"/>
              </a:rPr>
              <a:t>ACTUAL</a:t>
            </a:r>
            <a:endParaRPr lang="en-US" sz="1000" dirty="0"/>
          </a:p>
        </p:txBody>
      </p:sp>
      <p:pic>
        <p:nvPicPr>
          <p:cNvPr id="10" name="Image 1" descr="s25 actual">    </p:cNvPr>
          <p:cNvPicPr>
            <a:picLocks noChangeAspect="1"/>
          </p:cNvPicPr>
          <p:nvPr/>
        </p:nvPicPr>
        <p:blipFill>
          <a:blip r:embed="rId2"/>
          <a:stretch>
            <a:fillRect/>
          </a:stretch>
        </p:blipFill>
        <p:spPr>
          <a:xfrm>
            <a:off x="2130552" y="3255264"/>
            <a:ext cx="7772400" cy="2103120"/>
          </a:xfrm>
          <a:prstGeom prst="rect">
            <a:avLst/>
          </a:prstGeom>
        </p:spPr>
      </p:pic>
      <p:sp>
        <p:nvSpPr>
          <p:cNvPr id="11" name="Shape 7"/>
          <p:cNvSpPr/>
          <p:nvPr/>
        </p:nvSpPr>
        <p:spPr>
          <a:xfrm>
            <a:off x="566928" y="5486400"/>
            <a:ext cx="11057839" cy="822960"/>
          </a:xfrm>
          <a:prstGeom prst="roundRect">
            <a:avLst>
              <a:gd name="adj" fmla="val 10000"/>
            </a:avLst>
          </a:prstGeom>
          <a:solidFill>
            <a:srgbClr val="FFF4E0"/>
          </a:solidFill>
          <a:ln w="12700">
            <a:solidFill>
              <a:srgbClr val="F3DCB0"/>
            </a:solidFill>
            <a:prstDash val="solid"/>
          </a:ln>
        </p:spPr>
      </p:sp>
      <p:sp>
        <p:nvSpPr>
          <p:cNvPr id="12" name="Shape 8"/>
          <p:cNvSpPr/>
          <p:nvPr/>
        </p:nvSpPr>
        <p:spPr>
          <a:xfrm>
            <a:off x="841248" y="5705856"/>
            <a:ext cx="384048" cy="384048"/>
          </a:xfrm>
          <a:prstGeom prst="ellipse">
            <a:avLst/>
          </a:prstGeom>
          <a:solidFill>
            <a:srgbClr val="F5A524"/>
          </a:solidFill>
          <a:ln w="12700">
            <a:solidFill>
              <a:srgbClr val="F5A524"/>
            </a:solidFill>
            <a:prstDash val="solid"/>
          </a:ln>
        </p:spPr>
      </p:sp>
      <p:pic>
        <p:nvPicPr>
          <p:cNvPr id="13" name="Image 2" descr="preencoded.png">    </p:cNvPr>
          <p:cNvPicPr>
            <a:picLocks noChangeAspect="1"/>
          </p:cNvPicPr>
          <p:nvPr/>
        </p:nvPicPr>
        <p:blipFill>
          <a:blip r:embed="rId3"/>
          <a:stretch>
            <a:fillRect/>
          </a:stretch>
        </p:blipFill>
        <p:spPr>
          <a:xfrm>
            <a:off x="937260" y="5801868"/>
            <a:ext cx="192024" cy="192024"/>
          </a:xfrm>
          <a:prstGeom prst="rect">
            <a:avLst/>
          </a:prstGeom>
        </p:spPr>
      </p:pic>
      <p:sp>
        <p:nvSpPr>
          <p:cNvPr id="14" name="Text 9"/>
          <p:cNvSpPr/>
          <p:nvPr/>
        </p:nvSpPr>
        <p:spPr>
          <a:xfrm>
            <a:off x="1371600" y="5541264"/>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 model is an advisor, not an operator. It can ask for anything; every single thing that actually happens was executed by software your team wrote and controls.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Same object as module 00, one new field</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Nothing exotic happens. The assistant message you already know grows a list called tool_calls, and content usually goes empty.</a:t>
            </a:r>
            <a:endParaRPr lang="en-US" sz="1400" dirty="0"/>
          </a:p>
        </p:txBody>
      </p:sp>
      <p:sp>
        <p:nvSpPr>
          <p:cNvPr id="5" name="Shape 3"/>
          <p:cNvSpPr/>
          <p:nvPr/>
        </p:nvSpPr>
        <p:spPr>
          <a:xfrm>
            <a:off x="566928" y="1883664"/>
            <a:ext cx="5943600" cy="3072384"/>
          </a:xfrm>
          <a:prstGeom prst="roundRect">
            <a:avLst>
              <a:gd name="adj" fmla="val 2679"/>
            </a:avLst>
          </a:prstGeom>
          <a:solidFill>
            <a:srgbClr val="F7F8FD"/>
          </a:solidFill>
          <a:ln w="12700">
            <a:solidFill>
              <a:srgbClr val="E3E4F2"/>
            </a:solidFill>
            <a:prstDash val="solid"/>
          </a:ln>
        </p:spPr>
      </p:sp>
      <p:sp>
        <p:nvSpPr>
          <p:cNvPr id="6" name="Text 4"/>
          <p:cNvSpPr/>
          <p:nvPr/>
        </p:nvSpPr>
        <p:spPr>
          <a:xfrm>
            <a:off x="841248" y="2084832"/>
            <a:ext cx="5486400" cy="256032"/>
          </a:xfrm>
          <a:prstGeom prst="rect">
            <a:avLst/>
          </a:prstGeom>
          <a:noFill/>
          <a:ln/>
        </p:spPr>
        <p:txBody>
          <a:bodyPr wrap="square" lIns="0" tIns="0" rIns="0" bIns="0" rtlCol="0" anchor="ctr"/>
          <a:lstStyle/>
          <a:p>
            <a:pPr indent="0" marL="0">
              <a:buNone/>
            </a:pPr>
            <a:r>
              <a:rPr lang="en-US" sz="1100" dirty="0">
                <a:solidFill>
                  <a:srgbClr val="6E6B8A"/>
                </a:solidFill>
                <a:latin typeface="Courier New" pitchFamily="34" charset="0"/>
                <a:ea typeface="Courier New" pitchFamily="34" charset="-122"/>
                <a:cs typeface="Courier New" pitchFamily="34" charset="-120"/>
              </a:rPr>
              <a:t>message.role</a:t>
            </a:r>
            <a:endParaRPr lang="en-US" sz="1100" dirty="0"/>
          </a:p>
        </p:txBody>
      </p:sp>
      <p:sp>
        <p:nvSpPr>
          <p:cNvPr id="7" name="Text 5"/>
          <p:cNvSpPr/>
          <p:nvPr/>
        </p:nvSpPr>
        <p:spPr>
          <a:xfrm>
            <a:off x="841248" y="2359152"/>
            <a:ext cx="5486400" cy="256032"/>
          </a:xfrm>
          <a:prstGeom prst="rect">
            <a:avLst/>
          </a:prstGeom>
          <a:noFill/>
          <a:ln/>
        </p:spPr>
        <p:txBody>
          <a:bodyPr wrap="square" lIns="0" tIns="0" rIns="0" bIns="0" rtlCol="0" anchor="ctr"/>
          <a:lstStyle/>
          <a:p>
            <a:pPr indent="0" marL="0">
              <a:buNone/>
            </a:pPr>
            <a:r>
              <a:rPr lang="en-US" sz="1100" dirty="0">
                <a:solidFill>
                  <a:srgbClr val="3B3760"/>
                </a:solidFill>
                <a:latin typeface="Courier New" pitchFamily="34" charset="0"/>
                <a:ea typeface="Courier New" pitchFamily="34" charset="-122"/>
                <a:cs typeface="Courier New" pitchFamily="34" charset="-120"/>
              </a:rPr>
              <a:t>  "assistant"</a:t>
            </a:r>
            <a:endParaRPr lang="en-US" sz="1100" dirty="0"/>
          </a:p>
        </p:txBody>
      </p:sp>
      <p:sp>
        <p:nvSpPr>
          <p:cNvPr id="8" name="Text 6"/>
          <p:cNvSpPr/>
          <p:nvPr/>
        </p:nvSpPr>
        <p:spPr>
          <a:xfrm>
            <a:off x="841248" y="2633472"/>
            <a:ext cx="5486400" cy="256032"/>
          </a:xfrm>
          <a:prstGeom prst="rect">
            <a:avLst/>
          </a:prstGeom>
          <a:noFill/>
          <a:ln/>
        </p:spPr>
        <p:txBody>
          <a:bodyPr wrap="square" lIns="0" tIns="0" rIns="0" bIns="0" rtlCol="0" anchor="ctr"/>
          <a:lstStyle/>
          <a:p>
            <a:pPr indent="0" marL="0">
              <a:buNone/>
            </a:pPr>
            <a:r>
              <a:rPr lang="en-US" sz="1100" dirty="0">
                <a:solidFill>
                  <a:srgbClr val="6E6B8A"/>
                </a:solidFill>
                <a:latin typeface="Courier New" pitchFamily="34" charset="0"/>
                <a:ea typeface="Courier New" pitchFamily="34" charset="-122"/>
                <a:cs typeface="Courier New" pitchFamily="34" charset="-120"/>
              </a:rPr>
              <a:t>message.content</a:t>
            </a:r>
            <a:endParaRPr lang="en-US" sz="1100" dirty="0"/>
          </a:p>
        </p:txBody>
      </p:sp>
      <p:sp>
        <p:nvSpPr>
          <p:cNvPr id="9" name="Text 7"/>
          <p:cNvSpPr/>
          <p:nvPr/>
        </p:nvSpPr>
        <p:spPr>
          <a:xfrm>
            <a:off x="841248" y="2907792"/>
            <a:ext cx="5486400" cy="256032"/>
          </a:xfrm>
          <a:prstGeom prst="rect">
            <a:avLst/>
          </a:prstGeom>
          <a:noFill/>
          <a:ln/>
        </p:spPr>
        <p:txBody>
          <a:bodyPr wrap="square" lIns="0" tIns="0" rIns="0" bIns="0" rtlCol="0" anchor="ctr"/>
          <a:lstStyle/>
          <a:p>
            <a:pPr indent="0" marL="0">
              <a:buNone/>
            </a:pPr>
            <a:r>
              <a:rPr lang="en-US" sz="1100" dirty="0">
                <a:solidFill>
                  <a:srgbClr val="9B98B4"/>
                </a:solidFill>
                <a:latin typeface="Courier New" pitchFamily="34" charset="0"/>
                <a:ea typeface="Courier New" pitchFamily="34" charset="-122"/>
                <a:cs typeface="Courier New" pitchFamily="34" charset="-120"/>
              </a:rPr>
              <a:t>  None          ← often empty</a:t>
            </a:r>
            <a:endParaRPr lang="en-US" sz="1100" dirty="0"/>
          </a:p>
        </p:txBody>
      </p:sp>
      <p:sp>
        <p:nvSpPr>
          <p:cNvPr id="10" name="Text 8"/>
          <p:cNvSpPr/>
          <p:nvPr/>
        </p:nvSpPr>
        <p:spPr>
          <a:xfrm>
            <a:off x="841248" y="3182112"/>
            <a:ext cx="5486400" cy="256032"/>
          </a:xfrm>
          <a:prstGeom prst="rect">
            <a:avLst/>
          </a:prstGeom>
          <a:noFill/>
          <a:ln/>
        </p:spPr>
        <p:txBody>
          <a:bodyPr wrap="square" lIns="0" tIns="0" rIns="0" bIns="0" rtlCol="0" anchor="ctr"/>
          <a:lstStyle/>
          <a:p>
            <a:pPr indent="0" marL="0">
              <a:buNone/>
            </a:pPr>
            <a:r>
              <a:rPr lang="en-US" sz="1100" b="1" dirty="0">
                <a:solidFill>
                  <a:srgbClr val="E08700"/>
                </a:solidFill>
                <a:latin typeface="Courier New" pitchFamily="34" charset="0"/>
                <a:ea typeface="Courier New" pitchFamily="34" charset="-122"/>
                <a:cs typeface="Courier New" pitchFamily="34" charset="-120"/>
              </a:rPr>
              <a:t>message.tool_calls[0]</a:t>
            </a:r>
            <a:endParaRPr lang="en-US" sz="1100" dirty="0"/>
          </a:p>
        </p:txBody>
      </p:sp>
      <p:sp>
        <p:nvSpPr>
          <p:cNvPr id="11" name="Text 9"/>
          <p:cNvSpPr/>
          <p:nvPr/>
        </p:nvSpPr>
        <p:spPr>
          <a:xfrm>
            <a:off x="841248" y="3456432"/>
            <a:ext cx="5486400" cy="256032"/>
          </a:xfrm>
          <a:prstGeom prst="rect">
            <a:avLst/>
          </a:prstGeom>
          <a:noFill/>
          <a:ln/>
        </p:spPr>
        <p:txBody>
          <a:bodyPr wrap="square" lIns="0" tIns="0" rIns="0" bIns="0" rtlCol="0" anchor="ctr"/>
          <a:lstStyle/>
          <a:p>
            <a:pPr indent="0" marL="0">
              <a:buNone/>
            </a:pPr>
            <a:r>
              <a:rPr lang="en-US" sz="1100" dirty="0">
                <a:solidFill>
                  <a:srgbClr val="3B3760"/>
                </a:solidFill>
                <a:latin typeface="Courier New" pitchFamily="34" charset="0"/>
                <a:ea typeface="Courier New" pitchFamily="34" charset="-122"/>
                <a:cs typeface="Courier New" pitchFamily="34" charset="-120"/>
              </a:rPr>
              <a:t>  .function.name       "get_flight"</a:t>
            </a:r>
            <a:endParaRPr lang="en-US" sz="1100" dirty="0"/>
          </a:p>
        </p:txBody>
      </p:sp>
      <p:sp>
        <p:nvSpPr>
          <p:cNvPr id="12" name="Text 10"/>
          <p:cNvSpPr/>
          <p:nvPr/>
        </p:nvSpPr>
        <p:spPr>
          <a:xfrm>
            <a:off x="841248" y="3730752"/>
            <a:ext cx="5486400" cy="256032"/>
          </a:xfrm>
          <a:prstGeom prst="rect">
            <a:avLst/>
          </a:prstGeom>
          <a:noFill/>
          <a:ln/>
        </p:spPr>
        <p:txBody>
          <a:bodyPr wrap="square" lIns="0" tIns="0" rIns="0" bIns="0" rtlCol="0" anchor="ctr"/>
          <a:lstStyle/>
          <a:p>
            <a:pPr indent="0" marL="0">
              <a:buNone/>
            </a:pPr>
            <a:r>
              <a:rPr lang="en-US" sz="1100" dirty="0">
                <a:solidFill>
                  <a:srgbClr val="3B3760"/>
                </a:solidFill>
                <a:latin typeface="Courier New" pitchFamily="34" charset="0"/>
                <a:ea typeface="Courier New" pitchFamily="34" charset="-122"/>
                <a:cs typeface="Courier New" pitchFamily="34" charset="-120"/>
              </a:rPr>
              <a:t>  .function.arguments  '{"frm":"Sydney", ...}'</a:t>
            </a:r>
            <a:endParaRPr lang="en-US" sz="1100" dirty="0"/>
          </a:p>
        </p:txBody>
      </p:sp>
      <p:sp>
        <p:nvSpPr>
          <p:cNvPr id="13" name="Text 11"/>
          <p:cNvSpPr/>
          <p:nvPr/>
        </p:nvSpPr>
        <p:spPr>
          <a:xfrm>
            <a:off x="841248" y="4005072"/>
            <a:ext cx="5486400" cy="256032"/>
          </a:xfrm>
          <a:prstGeom prst="rect">
            <a:avLst/>
          </a:prstGeom>
          <a:noFill/>
          <a:ln/>
        </p:spPr>
        <p:txBody>
          <a:bodyPr wrap="square" lIns="0" tIns="0" rIns="0" bIns="0" rtlCol="0" anchor="ctr"/>
          <a:lstStyle/>
          <a:p>
            <a:pPr indent="0" marL="0">
              <a:buNone/>
            </a:pPr>
            <a:r>
              <a:rPr lang="en-US" sz="1100" dirty="0">
                <a:solidFill>
                  <a:srgbClr val="3B3760"/>
                </a:solidFill>
                <a:latin typeface="Courier New" pitchFamily="34" charset="0"/>
                <a:ea typeface="Courier New" pitchFamily="34" charset="-122"/>
                <a:cs typeface="Courier New" pitchFamily="34" charset="-120"/>
              </a:rPr>
              <a:t>  .id                  "call_a91f"</a:t>
            </a:r>
            <a:endParaRPr lang="en-US" sz="1100" dirty="0"/>
          </a:p>
        </p:txBody>
      </p:sp>
      <p:sp>
        <p:nvSpPr>
          <p:cNvPr id="14" name="Text 12"/>
          <p:cNvSpPr/>
          <p:nvPr/>
        </p:nvSpPr>
        <p:spPr>
          <a:xfrm>
            <a:off x="841248" y="4279392"/>
            <a:ext cx="5486400" cy="256032"/>
          </a:xfrm>
          <a:prstGeom prst="rect">
            <a:avLst/>
          </a:prstGeom>
          <a:noFill/>
          <a:ln/>
        </p:spPr>
        <p:txBody>
          <a:bodyPr wrap="square" lIns="0" tIns="0" rIns="0" bIns="0" rtlCol="0" anchor="ctr"/>
          <a:lstStyle/>
          <a:p>
            <a:pPr indent="0" marL="0">
              <a:buNone/>
            </a:pPr>
            <a:r>
              <a:rPr lang="en-US" sz="1100" dirty="0">
                <a:solidFill>
                  <a:srgbClr val="6E6B8A"/>
                </a:solidFill>
                <a:latin typeface="Courier New" pitchFamily="34" charset="0"/>
                <a:ea typeface="Courier New" pitchFamily="34" charset="-122"/>
                <a:cs typeface="Courier New" pitchFamily="34" charset="-120"/>
              </a:rPr>
              <a:t>finish_reason</a:t>
            </a:r>
            <a:endParaRPr lang="en-US" sz="1100" dirty="0"/>
          </a:p>
        </p:txBody>
      </p:sp>
      <p:sp>
        <p:nvSpPr>
          <p:cNvPr id="15" name="Text 13"/>
          <p:cNvSpPr/>
          <p:nvPr/>
        </p:nvSpPr>
        <p:spPr>
          <a:xfrm>
            <a:off x="841248" y="4553712"/>
            <a:ext cx="5486400" cy="256032"/>
          </a:xfrm>
          <a:prstGeom prst="rect">
            <a:avLst/>
          </a:prstGeom>
          <a:noFill/>
          <a:ln/>
        </p:spPr>
        <p:txBody>
          <a:bodyPr wrap="square" lIns="0" tIns="0" rIns="0" bIns="0" rtlCol="0" anchor="ctr"/>
          <a:lstStyle/>
          <a:p>
            <a:pPr indent="0" marL="0">
              <a:buNone/>
            </a:pPr>
            <a:r>
              <a:rPr lang="en-US" sz="1100" b="1" dirty="0">
                <a:solidFill>
                  <a:srgbClr val="E08700"/>
                </a:solidFill>
                <a:latin typeface="Courier New" pitchFamily="34" charset="0"/>
                <a:ea typeface="Courier New" pitchFamily="34" charset="-122"/>
                <a:cs typeface="Courier New" pitchFamily="34" charset="-120"/>
              </a:rPr>
              <a:t>  "tool_calls"   ← not "stop"</a:t>
            </a:r>
            <a:endParaRPr lang="en-US" sz="1100" dirty="0"/>
          </a:p>
        </p:txBody>
      </p:sp>
      <p:sp>
        <p:nvSpPr>
          <p:cNvPr id="16" name="Shape 14"/>
          <p:cNvSpPr/>
          <p:nvPr/>
        </p:nvSpPr>
        <p:spPr>
          <a:xfrm>
            <a:off x="6766560" y="1883664"/>
            <a:ext cx="4858207" cy="969264"/>
          </a:xfrm>
          <a:prstGeom prst="roundRect">
            <a:avLst>
              <a:gd name="adj" fmla="val 8491"/>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5"/>
          <p:cNvSpPr/>
          <p:nvPr/>
        </p:nvSpPr>
        <p:spPr>
          <a:xfrm>
            <a:off x="7004304" y="2103120"/>
            <a:ext cx="365760" cy="365760"/>
          </a:xfrm>
          <a:prstGeom prst="ellipse">
            <a:avLst/>
          </a:prstGeom>
          <a:solidFill>
            <a:srgbClr val="5B4BE8"/>
          </a:solidFill>
          <a:ln w="12700">
            <a:solidFill>
              <a:srgbClr val="5B4BE8"/>
            </a:solidFill>
            <a:prstDash val="solid"/>
          </a:ln>
        </p:spPr>
      </p:sp>
      <p:pic>
        <p:nvPicPr>
          <p:cNvPr id="18" name="Image 0" descr="preencoded.png">    </p:cNvPr>
          <p:cNvPicPr>
            <a:picLocks noChangeAspect="1"/>
          </p:cNvPicPr>
          <p:nvPr/>
        </p:nvPicPr>
        <p:blipFill>
          <a:blip r:embed="rId1"/>
          <a:stretch>
            <a:fillRect/>
          </a:stretch>
        </p:blipFill>
        <p:spPr>
          <a:xfrm>
            <a:off x="7095744" y="2194560"/>
            <a:ext cx="182880" cy="182880"/>
          </a:xfrm>
          <a:prstGeom prst="rect">
            <a:avLst/>
          </a:prstGeom>
        </p:spPr>
      </p:pic>
      <p:sp>
        <p:nvSpPr>
          <p:cNvPr id="19" name="Text 16"/>
          <p:cNvSpPr/>
          <p:nvPr/>
        </p:nvSpPr>
        <p:spPr>
          <a:xfrm>
            <a:off x="7498080" y="2121408"/>
            <a:ext cx="3888943" cy="314371"/>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It is a name, not a call</a:t>
            </a:r>
            <a:endParaRPr lang="en-US" sz="1300" dirty="0"/>
          </a:p>
        </p:txBody>
      </p:sp>
      <p:sp>
        <p:nvSpPr>
          <p:cNvPr id="20" name="Text 17"/>
          <p:cNvSpPr/>
          <p:nvPr/>
        </p:nvSpPr>
        <p:spPr>
          <a:xfrm>
            <a:off x="7498080" y="2444923"/>
            <a:ext cx="3888943" cy="225125"/>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A string. Your dispatcher looks it up in a dict of functions you wrote. If it names something you never registered, nothing happens.</a:t>
            </a:r>
            <a:endParaRPr lang="en-US" sz="1050" dirty="0"/>
          </a:p>
        </p:txBody>
      </p:sp>
      <p:sp>
        <p:nvSpPr>
          <p:cNvPr id="21" name="Shape 18"/>
          <p:cNvSpPr/>
          <p:nvPr/>
        </p:nvSpPr>
        <p:spPr>
          <a:xfrm>
            <a:off x="6766560" y="2935224"/>
            <a:ext cx="4858207" cy="969264"/>
          </a:xfrm>
          <a:prstGeom prst="roundRect">
            <a:avLst>
              <a:gd name="adj" fmla="val 8491"/>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2" name="Shape 19"/>
          <p:cNvSpPr/>
          <p:nvPr/>
        </p:nvSpPr>
        <p:spPr>
          <a:xfrm>
            <a:off x="7004304" y="3154680"/>
            <a:ext cx="365760" cy="365760"/>
          </a:xfrm>
          <a:prstGeom prst="ellipse">
            <a:avLst/>
          </a:prstGeom>
          <a:solidFill>
            <a:srgbClr val="5B4BE8"/>
          </a:solidFill>
          <a:ln w="12700">
            <a:solidFill>
              <a:srgbClr val="5B4BE8"/>
            </a:solidFill>
            <a:prstDash val="solid"/>
          </a:ln>
        </p:spPr>
      </p:sp>
      <p:pic>
        <p:nvPicPr>
          <p:cNvPr id="23" name="Image 1" descr="preencoded.png">    </p:cNvPr>
          <p:cNvPicPr>
            <a:picLocks noChangeAspect="1"/>
          </p:cNvPicPr>
          <p:nvPr/>
        </p:nvPicPr>
        <p:blipFill>
          <a:blip r:embed="rId2"/>
          <a:stretch>
            <a:fillRect/>
          </a:stretch>
        </p:blipFill>
        <p:spPr>
          <a:xfrm>
            <a:off x="7095744" y="3246120"/>
            <a:ext cx="182880" cy="182880"/>
          </a:xfrm>
          <a:prstGeom prst="rect">
            <a:avLst/>
          </a:prstGeom>
        </p:spPr>
      </p:pic>
      <p:sp>
        <p:nvSpPr>
          <p:cNvPr id="24" name="Text 20"/>
          <p:cNvSpPr/>
          <p:nvPr/>
        </p:nvSpPr>
        <p:spPr>
          <a:xfrm>
            <a:off x="7498080" y="3172968"/>
            <a:ext cx="3888943" cy="314371"/>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arguments is a string</a:t>
            </a:r>
            <a:endParaRPr lang="en-US" sz="1300" dirty="0"/>
          </a:p>
        </p:txBody>
      </p:sp>
      <p:sp>
        <p:nvSpPr>
          <p:cNvPr id="25" name="Text 21"/>
          <p:cNvSpPr/>
          <p:nvPr/>
        </p:nvSpPr>
        <p:spPr>
          <a:xfrm>
            <a:off x="7498080" y="3496483"/>
            <a:ext cx="3888943" cy="225125"/>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Not a dict. It is JSON text the model generated, and it can be malformed. Parse it, then validate it, before you use it.</a:t>
            </a:r>
            <a:endParaRPr lang="en-US" sz="1050" dirty="0"/>
          </a:p>
        </p:txBody>
      </p:sp>
      <p:sp>
        <p:nvSpPr>
          <p:cNvPr id="26" name="Shape 22"/>
          <p:cNvSpPr/>
          <p:nvPr/>
        </p:nvSpPr>
        <p:spPr>
          <a:xfrm>
            <a:off x="6766560" y="3986784"/>
            <a:ext cx="4858207" cy="969264"/>
          </a:xfrm>
          <a:prstGeom prst="roundRect">
            <a:avLst>
              <a:gd name="adj" fmla="val 8491"/>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7" name="Shape 23"/>
          <p:cNvSpPr/>
          <p:nvPr/>
        </p:nvSpPr>
        <p:spPr>
          <a:xfrm>
            <a:off x="7004304" y="4206240"/>
            <a:ext cx="365760" cy="365760"/>
          </a:xfrm>
          <a:prstGeom prst="ellipse">
            <a:avLst/>
          </a:prstGeom>
          <a:solidFill>
            <a:srgbClr val="5B4BE8"/>
          </a:solidFill>
          <a:ln w="12700">
            <a:solidFill>
              <a:srgbClr val="5B4BE8"/>
            </a:solidFill>
            <a:prstDash val="solid"/>
          </a:ln>
        </p:spPr>
      </p:sp>
      <p:pic>
        <p:nvPicPr>
          <p:cNvPr id="28" name="Image 2" descr="preencoded.png">    </p:cNvPr>
          <p:cNvPicPr>
            <a:picLocks noChangeAspect="1"/>
          </p:cNvPicPr>
          <p:nvPr/>
        </p:nvPicPr>
        <p:blipFill>
          <a:blip r:embed="rId3"/>
          <a:stretch>
            <a:fillRect/>
          </a:stretch>
        </p:blipFill>
        <p:spPr>
          <a:xfrm>
            <a:off x="7095744" y="4297680"/>
            <a:ext cx="182880" cy="182880"/>
          </a:xfrm>
          <a:prstGeom prst="rect">
            <a:avLst/>
          </a:prstGeom>
        </p:spPr>
      </p:pic>
      <p:sp>
        <p:nvSpPr>
          <p:cNvPr id="29" name="Text 24"/>
          <p:cNvSpPr/>
          <p:nvPr/>
        </p:nvSpPr>
        <p:spPr>
          <a:xfrm>
            <a:off x="7498080" y="4224528"/>
            <a:ext cx="3888943" cy="314371"/>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id ties the answer back</a:t>
            </a:r>
            <a:endParaRPr lang="en-US" sz="1300" dirty="0"/>
          </a:p>
        </p:txBody>
      </p:sp>
      <p:sp>
        <p:nvSpPr>
          <p:cNvPr id="30" name="Text 25"/>
          <p:cNvSpPr/>
          <p:nvPr/>
        </p:nvSpPr>
        <p:spPr>
          <a:xfrm>
            <a:off x="7498080" y="4548043"/>
            <a:ext cx="3888943" cy="225125"/>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You send a tool message carrying the same id. Without it the model cannot match your result to its request.</a:t>
            </a:r>
            <a:endParaRPr lang="en-US" sz="1050" dirty="0"/>
          </a:p>
        </p:txBody>
      </p:sp>
      <p:sp>
        <p:nvSpPr>
          <p:cNvPr id="31" name="Shape 26"/>
          <p:cNvSpPr/>
          <p:nvPr/>
        </p:nvSpPr>
        <p:spPr>
          <a:xfrm>
            <a:off x="566928" y="5120640"/>
            <a:ext cx="11057839" cy="786384"/>
          </a:xfrm>
          <a:prstGeom prst="roundRect">
            <a:avLst>
              <a:gd name="adj" fmla="val 10465"/>
            </a:avLst>
          </a:prstGeom>
          <a:solidFill>
            <a:srgbClr val="FFF4E0"/>
          </a:solidFill>
          <a:ln w="12700">
            <a:solidFill>
              <a:srgbClr val="F3DCB0"/>
            </a:solidFill>
            <a:prstDash val="solid"/>
          </a:ln>
        </p:spPr>
      </p:sp>
      <p:sp>
        <p:nvSpPr>
          <p:cNvPr id="32" name="Shape 27"/>
          <p:cNvSpPr/>
          <p:nvPr/>
        </p:nvSpPr>
        <p:spPr>
          <a:xfrm>
            <a:off x="841248" y="5321808"/>
            <a:ext cx="384048" cy="384048"/>
          </a:xfrm>
          <a:prstGeom prst="ellipse">
            <a:avLst/>
          </a:prstGeom>
          <a:solidFill>
            <a:srgbClr val="F5A524"/>
          </a:solidFill>
          <a:ln w="12700">
            <a:solidFill>
              <a:srgbClr val="F5A524"/>
            </a:solidFill>
            <a:prstDash val="solid"/>
          </a:ln>
        </p:spPr>
      </p:sp>
      <p:pic>
        <p:nvPicPr>
          <p:cNvPr id="33" name="Image 3" descr="preencoded.png">    </p:cNvPr>
          <p:cNvPicPr>
            <a:picLocks noChangeAspect="1"/>
          </p:cNvPicPr>
          <p:nvPr/>
        </p:nvPicPr>
        <p:blipFill>
          <a:blip r:embed="rId4"/>
          <a:stretch>
            <a:fillRect/>
          </a:stretch>
        </p:blipFill>
        <p:spPr>
          <a:xfrm>
            <a:off x="937260" y="5417820"/>
            <a:ext cx="192024" cy="192024"/>
          </a:xfrm>
          <a:prstGeom prst="rect">
            <a:avLst/>
          </a:prstGeom>
        </p:spPr>
      </p:pic>
      <p:sp>
        <p:nvSpPr>
          <p:cNvPr id="34" name="Text 28"/>
          <p:cNvSpPr/>
          <p:nvPr/>
        </p:nvSpPr>
        <p:spPr>
          <a:xfrm>
            <a:off x="1371600" y="5175504"/>
            <a:ext cx="9960559" cy="676656"/>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 model writes a note that says “please run get_flight with these details”. Somebody still has to read the note and decide to act on it.</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The same trick, used without any tool: structured outputs</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A tool schema is just JSON Schema. Point that at the answer instead of at a function and you get machine-readable output, guaranteed to parse.</a:t>
            </a:r>
            <a:endParaRPr lang="en-US" sz="1400" dirty="0"/>
          </a:p>
        </p:txBody>
      </p:sp>
      <p:sp>
        <p:nvSpPr>
          <p:cNvPr id="5" name="Shape 3"/>
          <p:cNvSpPr/>
          <p:nvPr/>
        </p:nvSpPr>
        <p:spPr>
          <a:xfrm>
            <a:off x="566928" y="2457999"/>
            <a:ext cx="3527450" cy="2454067"/>
          </a:xfrm>
          <a:prstGeom prst="roundRect">
            <a:avLst>
              <a:gd name="adj" fmla="val 3353"/>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677455"/>
            <a:ext cx="365760" cy="365760"/>
          </a:xfrm>
          <a:prstGeom prst="ellipse">
            <a:avLst/>
          </a:prstGeom>
          <a:solidFill>
            <a:srgbClr val="D93A3F"/>
          </a:solidFill>
          <a:ln w="12700">
            <a:solidFill>
              <a:srgbClr val="D93A3F"/>
            </a:solidFill>
            <a:prstDash val="solid"/>
          </a:ln>
        </p:spPr>
      </p:sp>
      <p:pic>
        <p:nvPicPr>
          <p:cNvPr id="7" name="Image 0" descr="preencoded.png">    </p:cNvPr>
          <p:cNvPicPr>
            <a:picLocks noChangeAspect="1"/>
          </p:cNvPicPr>
          <p:nvPr/>
        </p:nvPicPr>
        <p:blipFill>
          <a:blip r:embed="rId1"/>
          <a:stretch>
            <a:fillRect/>
          </a:stretch>
        </p:blipFill>
        <p:spPr>
          <a:xfrm>
            <a:off x="896112" y="2768895"/>
            <a:ext cx="182880" cy="182880"/>
          </a:xfrm>
          <a:prstGeom prst="rect">
            <a:avLst/>
          </a:prstGeom>
        </p:spPr>
      </p:pic>
      <p:sp>
        <p:nvSpPr>
          <p:cNvPr id="8" name="Text 5"/>
          <p:cNvSpPr/>
          <p:nvPr/>
        </p:nvSpPr>
        <p:spPr>
          <a:xfrm>
            <a:off x="1298448" y="2668311"/>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BEFORE</a:t>
            </a:r>
            <a:endParaRPr lang="en-US" sz="850" dirty="0"/>
          </a:p>
        </p:txBody>
      </p:sp>
      <p:sp>
        <p:nvSpPr>
          <p:cNvPr id="9" name="Text 6"/>
          <p:cNvSpPr/>
          <p:nvPr/>
        </p:nvSpPr>
        <p:spPr>
          <a:xfrm>
            <a:off x="1298448" y="2887767"/>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“Reply in JSON, I promise”</a:t>
            </a:r>
            <a:endParaRPr lang="en-US" sz="1450" dirty="0"/>
          </a:p>
        </p:txBody>
      </p:sp>
      <p:sp>
        <p:nvSpPr>
          <p:cNvPr id="10" name="Text 7"/>
          <p:cNvSpPr/>
          <p:nvPr/>
        </p:nvSpPr>
        <p:spPr>
          <a:xfrm>
            <a:off x="1298448" y="3519068"/>
            <a:ext cx="2558186" cy="121011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A prompt instruction. Works most of the time, which is the worst possible reliability profile. Someone downstream writes a try/except and a regex, and that regex becomes load-bearing.</a:t>
            </a:r>
            <a:endParaRPr lang="en-US" sz="1150" dirty="0"/>
          </a:p>
        </p:txBody>
      </p:sp>
      <p:sp>
        <p:nvSpPr>
          <p:cNvPr id="11" name="Shape 8"/>
          <p:cNvSpPr/>
          <p:nvPr/>
        </p:nvSpPr>
        <p:spPr>
          <a:xfrm>
            <a:off x="4332122" y="2457999"/>
            <a:ext cx="3527450" cy="2454067"/>
          </a:xfrm>
          <a:prstGeom prst="roundRect">
            <a:avLst>
              <a:gd name="adj" fmla="val 3353"/>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4569866" y="2677455"/>
            <a:ext cx="365760" cy="365760"/>
          </a:xfrm>
          <a:prstGeom prst="ellipse">
            <a:avLst/>
          </a:prstGeom>
          <a:solidFill>
            <a:srgbClr val="0E9F6E"/>
          </a:solidFill>
          <a:ln w="12700">
            <a:solidFill>
              <a:srgbClr val="0E9F6E"/>
            </a:solidFill>
            <a:prstDash val="solid"/>
          </a:ln>
        </p:spPr>
      </p:sp>
      <p:pic>
        <p:nvPicPr>
          <p:cNvPr id="13" name="Image 1" descr="preencoded.png">    </p:cNvPr>
          <p:cNvPicPr>
            <a:picLocks noChangeAspect="1"/>
          </p:cNvPicPr>
          <p:nvPr/>
        </p:nvPicPr>
        <p:blipFill>
          <a:blip r:embed="rId2"/>
          <a:stretch>
            <a:fillRect/>
          </a:stretch>
        </p:blipFill>
        <p:spPr>
          <a:xfrm>
            <a:off x="4661306" y="2768895"/>
            <a:ext cx="182880" cy="182880"/>
          </a:xfrm>
          <a:prstGeom prst="rect">
            <a:avLst/>
          </a:prstGeom>
        </p:spPr>
      </p:pic>
      <p:sp>
        <p:nvSpPr>
          <p:cNvPr id="14" name="Text 10"/>
          <p:cNvSpPr/>
          <p:nvPr/>
        </p:nvSpPr>
        <p:spPr>
          <a:xfrm>
            <a:off x="5063642" y="2668311"/>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NOW</a:t>
            </a:r>
            <a:endParaRPr lang="en-US" sz="850" dirty="0"/>
          </a:p>
        </p:txBody>
      </p:sp>
      <p:sp>
        <p:nvSpPr>
          <p:cNvPr id="15" name="Text 11"/>
          <p:cNvSpPr/>
          <p:nvPr/>
        </p:nvSpPr>
        <p:spPr>
          <a:xfrm>
            <a:off x="5063642" y="2887767"/>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A schema the decoder enforces</a:t>
            </a:r>
            <a:endParaRPr lang="en-US" sz="1450" dirty="0"/>
          </a:p>
        </p:txBody>
      </p:sp>
      <p:sp>
        <p:nvSpPr>
          <p:cNvPr id="16" name="Text 12"/>
          <p:cNvSpPr/>
          <p:nvPr/>
        </p:nvSpPr>
        <p:spPr>
          <a:xfrm>
            <a:off x="5063642" y="3519068"/>
            <a:ext cx="2558186" cy="121011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Attach a JSON Schema and the model is constrained to emit something that validates. Same mechanism as tool arguments, pointed at your answer instead of a function.</a:t>
            </a:r>
            <a:endParaRPr lang="en-US" sz="1150" dirty="0"/>
          </a:p>
        </p:txBody>
      </p:sp>
      <p:sp>
        <p:nvSpPr>
          <p:cNvPr id="17" name="Shape 13"/>
          <p:cNvSpPr/>
          <p:nvPr/>
        </p:nvSpPr>
        <p:spPr>
          <a:xfrm>
            <a:off x="8097317" y="2457999"/>
            <a:ext cx="3527450" cy="2454067"/>
          </a:xfrm>
          <a:prstGeom prst="roundRect">
            <a:avLst>
              <a:gd name="adj" fmla="val 335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8335061" y="2677455"/>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8426501" y="2768895"/>
            <a:ext cx="182880" cy="182880"/>
          </a:xfrm>
          <a:prstGeom prst="rect">
            <a:avLst/>
          </a:prstGeom>
        </p:spPr>
      </p:pic>
      <p:sp>
        <p:nvSpPr>
          <p:cNvPr id="20" name="Text 15"/>
          <p:cNvSpPr/>
          <p:nvPr/>
        </p:nvSpPr>
        <p:spPr>
          <a:xfrm>
            <a:off x="8828837" y="2668311"/>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WHY IT MATTERS HERE</a:t>
            </a:r>
            <a:endParaRPr lang="en-US" sz="850" dirty="0"/>
          </a:p>
        </p:txBody>
      </p:sp>
      <p:sp>
        <p:nvSpPr>
          <p:cNvPr id="21" name="Text 16"/>
          <p:cNvSpPr/>
          <p:nvPr/>
        </p:nvSpPr>
        <p:spPr>
          <a:xfrm>
            <a:off x="8828837" y="2887767"/>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Agents are pipelines</a:t>
            </a:r>
            <a:endParaRPr lang="en-US" sz="1450" dirty="0"/>
          </a:p>
        </p:txBody>
      </p:sp>
      <p:sp>
        <p:nvSpPr>
          <p:cNvPr id="22" name="Text 17"/>
          <p:cNvSpPr/>
          <p:nvPr/>
        </p:nvSpPr>
        <p:spPr>
          <a:xfrm>
            <a:off x="8828837" y="3235422"/>
            <a:ext cx="2558186" cy="1493764"/>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Every step that hands data to the next step needs a shape. Extraction, routing and classification stop being “AI features” and become ordinary typed functions.</a:t>
            </a:r>
            <a:endParaRPr lang="en-US" sz="1150" dirty="0"/>
          </a:p>
        </p:txBody>
      </p:sp>
      <p:sp>
        <p:nvSpPr>
          <p:cNvPr id="23"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4" name="Shape 19"/>
          <p:cNvSpPr/>
          <p:nvPr/>
        </p:nvSpPr>
        <p:spPr>
          <a:xfrm>
            <a:off x="841248" y="5760720"/>
            <a:ext cx="384048" cy="384048"/>
          </a:xfrm>
          <a:prstGeom prst="ellipse">
            <a:avLst/>
          </a:prstGeom>
          <a:solidFill>
            <a:srgbClr val="F5A524"/>
          </a:solidFill>
          <a:ln w="12700">
            <a:solidFill>
              <a:srgbClr val="F5A524"/>
            </a:solidFill>
            <a:prstDash val="solid"/>
          </a:ln>
        </p:spPr>
      </p:sp>
      <p:pic>
        <p:nvPicPr>
          <p:cNvPr id="25" name="Image 3" descr="preencoded.png">    </p:cNvPr>
          <p:cNvPicPr>
            <a:picLocks noChangeAspect="1"/>
          </p:cNvPicPr>
          <p:nvPr/>
        </p:nvPicPr>
        <p:blipFill>
          <a:blip r:embed="rId4"/>
          <a:stretch>
            <a:fillRect/>
          </a:stretch>
        </p:blipFill>
        <p:spPr>
          <a:xfrm>
            <a:off x="937260" y="5856732"/>
            <a:ext cx="192024" cy="192024"/>
          </a:xfrm>
          <a:prstGeom prst="rect">
            <a:avLst/>
          </a:prstGeom>
        </p:spPr>
      </p:pic>
      <p:sp>
        <p:nvSpPr>
          <p:cNvPr id="26" name="Text 20"/>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You can make the model fill in a form instead of writing a paragraph. Forms can be checked by a computer. Paragraphs cannot.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One round trip, five moves</a:t>
            </a:r>
            <a:endParaRPr lang="en-US" sz="3000" dirty="0"/>
          </a:p>
        </p:txBody>
      </p:sp>
      <p:sp>
        <p:nvSpPr>
          <p:cNvPr id="4" name="Shape 2"/>
          <p:cNvSpPr/>
          <p:nvPr/>
        </p:nvSpPr>
        <p:spPr>
          <a:xfrm>
            <a:off x="566928" y="1956816"/>
            <a:ext cx="2050633" cy="2487168"/>
          </a:xfrm>
          <a:prstGeom prst="roundRect">
            <a:avLst>
              <a:gd name="adj" fmla="val 4459"/>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5" name="Text 3"/>
          <p:cNvSpPr/>
          <p:nvPr/>
        </p:nvSpPr>
        <p:spPr>
          <a:xfrm>
            <a:off x="786384" y="2103120"/>
            <a:ext cx="457200" cy="402336"/>
          </a:xfrm>
          <a:prstGeom prst="rect">
            <a:avLst/>
          </a:prstGeom>
          <a:noFill/>
          <a:ln/>
        </p:spPr>
        <p:txBody>
          <a:bodyPr wrap="square" lIns="0" tIns="0" rIns="0" bIns="0" rtlCol="0" anchor="ctr"/>
          <a:lstStyle/>
          <a:p>
            <a:pPr indent="0" marL="0">
              <a:buNone/>
            </a:pPr>
            <a:r>
              <a:rPr lang="en-US" sz="2600" b="1" dirty="0">
                <a:solidFill>
                  <a:srgbClr val="9B98B4"/>
                </a:solidFill>
                <a:latin typeface="Cambria" pitchFamily="34" charset="0"/>
                <a:ea typeface="Cambria" pitchFamily="34" charset="-122"/>
                <a:cs typeface="Cambria" pitchFamily="34" charset="-120"/>
              </a:rPr>
              <a:t>1</a:t>
            </a:r>
            <a:endParaRPr lang="en-US" sz="2600" dirty="0"/>
          </a:p>
        </p:txBody>
      </p:sp>
      <p:sp>
        <p:nvSpPr>
          <p:cNvPr id="6" name="Shape 4"/>
          <p:cNvSpPr/>
          <p:nvPr/>
        </p:nvSpPr>
        <p:spPr>
          <a:xfrm>
            <a:off x="2014057" y="2139696"/>
            <a:ext cx="365760" cy="365760"/>
          </a:xfrm>
          <a:prstGeom prst="ellipse">
            <a:avLst/>
          </a:prstGeom>
          <a:solidFill>
            <a:srgbClr val="F5A524"/>
          </a:solidFill>
          <a:ln w="12700">
            <a:solidFill>
              <a:srgbClr val="F5A524"/>
            </a:solidFill>
            <a:prstDash val="solid"/>
          </a:ln>
        </p:spPr>
      </p:sp>
      <p:pic>
        <p:nvPicPr>
          <p:cNvPr id="7" name="Image 0" descr="preencoded.png">    </p:cNvPr>
          <p:cNvPicPr>
            <a:picLocks noChangeAspect="1"/>
          </p:cNvPicPr>
          <p:nvPr/>
        </p:nvPicPr>
        <p:blipFill>
          <a:blip r:embed="rId1"/>
          <a:stretch>
            <a:fillRect/>
          </a:stretch>
        </p:blipFill>
        <p:spPr>
          <a:xfrm>
            <a:off x="2105497" y="2231136"/>
            <a:ext cx="182880" cy="182880"/>
          </a:xfrm>
          <a:prstGeom prst="rect">
            <a:avLst/>
          </a:prstGeom>
        </p:spPr>
      </p:pic>
      <p:sp>
        <p:nvSpPr>
          <p:cNvPr id="8" name="Text 5"/>
          <p:cNvSpPr/>
          <p:nvPr/>
        </p:nvSpPr>
        <p:spPr>
          <a:xfrm>
            <a:off x="786384" y="2651760"/>
            <a:ext cx="1611721" cy="1097280"/>
          </a:xfrm>
          <a:prstGeom prst="rect">
            <a:avLst/>
          </a:prstGeom>
          <a:noFill/>
          <a:ln/>
        </p:spPr>
        <p:txBody>
          <a:bodyPr wrap="square" lIns="0" tIns="0" rIns="0" bIns="0" rtlCol="0" anchor="t"/>
          <a:lstStyle/>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You send the question</a:t>
            </a:r>
            <a:endParaRPr lang="en-US" sz="1200" dirty="0"/>
          </a:p>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 the tool schemas</a:t>
            </a:r>
            <a:endParaRPr lang="en-US" sz="1200" dirty="0"/>
          </a:p>
        </p:txBody>
      </p:sp>
      <p:sp>
        <p:nvSpPr>
          <p:cNvPr id="9" name="Text 6"/>
          <p:cNvSpPr/>
          <p:nvPr/>
        </p:nvSpPr>
        <p:spPr>
          <a:xfrm>
            <a:off x="786384" y="4041648"/>
            <a:ext cx="1611721" cy="237744"/>
          </a:xfrm>
          <a:prstGeom prst="rect">
            <a:avLst/>
          </a:prstGeom>
          <a:noFill/>
          <a:ln/>
        </p:spPr>
        <p:txBody>
          <a:bodyPr wrap="square" lIns="0" tIns="0" rIns="0" bIns="0" rtlCol="0" anchor="ctr"/>
          <a:lstStyle/>
          <a:p>
            <a:pPr indent="0" marL="0">
              <a:buNone/>
            </a:pPr>
            <a:r>
              <a:rPr lang="en-US" sz="900" b="1" spc="150" kern="0" dirty="0">
                <a:solidFill>
                  <a:srgbClr val="E08700"/>
                </a:solidFill>
                <a:latin typeface="Calibri" pitchFamily="34" charset="0"/>
                <a:ea typeface="Calibri" pitchFamily="34" charset="-122"/>
                <a:cs typeface="Calibri" pitchFamily="34" charset="-120"/>
              </a:rPr>
              <a:t>YOUR CODE</a:t>
            </a:r>
            <a:endParaRPr lang="en-US" sz="900" dirty="0"/>
          </a:p>
        </p:txBody>
      </p:sp>
      <p:sp>
        <p:nvSpPr>
          <p:cNvPr id="10" name="Shape 7"/>
          <p:cNvSpPr/>
          <p:nvPr/>
        </p:nvSpPr>
        <p:spPr>
          <a:xfrm>
            <a:off x="2635849" y="3200400"/>
            <a:ext cx="155448" cy="0"/>
          </a:xfrm>
          <a:prstGeom prst="line">
            <a:avLst/>
          </a:prstGeom>
          <a:noFill/>
          <a:ln w="25400">
            <a:solidFill>
              <a:srgbClr val="8E82F5"/>
            </a:solidFill>
            <a:prstDash val="solid"/>
            <a:headEnd type="none"/>
            <a:tailEnd type="triangle"/>
          </a:ln>
        </p:spPr>
      </p:sp>
      <p:sp>
        <p:nvSpPr>
          <p:cNvPr id="11" name="Shape 8"/>
          <p:cNvSpPr/>
          <p:nvPr/>
        </p:nvSpPr>
        <p:spPr>
          <a:xfrm>
            <a:off x="2818729" y="1956816"/>
            <a:ext cx="2050633" cy="2487168"/>
          </a:xfrm>
          <a:prstGeom prst="roundRect">
            <a:avLst>
              <a:gd name="adj" fmla="val 4459"/>
            </a:avLst>
          </a:prstGeom>
          <a:solidFill>
            <a:srgbClr val="EEEDFE"/>
          </a:solidFill>
          <a:ln w="12700">
            <a:solidFill>
              <a:srgbClr val="8E82F5"/>
            </a:solidFill>
            <a:prstDash val="solid"/>
          </a:ln>
          <a:effectLst>
            <a:outerShdw sx="100000" sy="100000" kx="0" ky="0" algn="bl" rotWithShape="0" blurRad="101600" dist="508" dir="5400000">
              <a:srgbClr val="1B1A4A">
                <a:alpha val="7000"/>
              </a:srgbClr>
            </a:outerShdw>
          </a:effectLst>
        </p:spPr>
      </p:sp>
      <p:sp>
        <p:nvSpPr>
          <p:cNvPr id="12" name="Text 9"/>
          <p:cNvSpPr/>
          <p:nvPr/>
        </p:nvSpPr>
        <p:spPr>
          <a:xfrm>
            <a:off x="3038185" y="2103120"/>
            <a:ext cx="457200" cy="402336"/>
          </a:xfrm>
          <a:prstGeom prst="rect">
            <a:avLst/>
          </a:prstGeom>
          <a:noFill/>
          <a:ln/>
        </p:spPr>
        <p:txBody>
          <a:bodyPr wrap="square" lIns="0" tIns="0" rIns="0" bIns="0" rtlCol="0" anchor="ctr"/>
          <a:lstStyle/>
          <a:p>
            <a:pPr indent="0" marL="0">
              <a:buNone/>
            </a:pPr>
            <a:r>
              <a:rPr lang="en-US" sz="2600" b="1" dirty="0">
                <a:solidFill>
                  <a:srgbClr val="5B4BE8"/>
                </a:solidFill>
                <a:latin typeface="Cambria" pitchFamily="34" charset="0"/>
                <a:ea typeface="Cambria" pitchFamily="34" charset="-122"/>
                <a:cs typeface="Cambria" pitchFamily="34" charset="-120"/>
              </a:rPr>
              <a:t>2</a:t>
            </a:r>
            <a:endParaRPr lang="en-US" sz="2600" dirty="0"/>
          </a:p>
        </p:txBody>
      </p:sp>
      <p:sp>
        <p:nvSpPr>
          <p:cNvPr id="13" name="Shape 10"/>
          <p:cNvSpPr/>
          <p:nvPr/>
        </p:nvSpPr>
        <p:spPr>
          <a:xfrm>
            <a:off x="4265859" y="2139696"/>
            <a:ext cx="365760" cy="365760"/>
          </a:xfrm>
          <a:prstGeom prst="ellipse">
            <a:avLst/>
          </a:prstGeom>
          <a:solidFill>
            <a:srgbClr val="5B4BE8"/>
          </a:solidFill>
          <a:ln w="12700">
            <a:solidFill>
              <a:srgbClr val="5B4BE8"/>
            </a:solidFill>
            <a:prstDash val="solid"/>
          </a:ln>
        </p:spPr>
      </p:sp>
      <p:pic>
        <p:nvPicPr>
          <p:cNvPr id="14" name="Image 1" descr="preencoded.png">    </p:cNvPr>
          <p:cNvPicPr>
            <a:picLocks noChangeAspect="1"/>
          </p:cNvPicPr>
          <p:nvPr/>
        </p:nvPicPr>
        <p:blipFill>
          <a:blip r:embed="rId2"/>
          <a:stretch>
            <a:fillRect/>
          </a:stretch>
        </p:blipFill>
        <p:spPr>
          <a:xfrm>
            <a:off x="4357299" y="2231136"/>
            <a:ext cx="182880" cy="182880"/>
          </a:xfrm>
          <a:prstGeom prst="rect">
            <a:avLst/>
          </a:prstGeom>
        </p:spPr>
      </p:pic>
      <p:sp>
        <p:nvSpPr>
          <p:cNvPr id="15" name="Text 11"/>
          <p:cNvSpPr/>
          <p:nvPr/>
        </p:nvSpPr>
        <p:spPr>
          <a:xfrm>
            <a:off x="3038185" y="2651760"/>
            <a:ext cx="1611721" cy="1097280"/>
          </a:xfrm>
          <a:prstGeom prst="rect">
            <a:avLst/>
          </a:prstGeom>
          <a:noFill/>
          <a:ln/>
        </p:spPr>
        <p:txBody>
          <a:bodyPr wrap="square" lIns="0" tIns="0" rIns="0" bIns="0" rtlCol="0" anchor="t"/>
          <a:lstStyle/>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Model replies with</a:t>
            </a:r>
            <a:endParaRPr lang="en-US" sz="1200" dirty="0"/>
          </a:p>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tool_calls, not an answer</a:t>
            </a:r>
            <a:endParaRPr lang="en-US" sz="1200" dirty="0"/>
          </a:p>
        </p:txBody>
      </p:sp>
      <p:sp>
        <p:nvSpPr>
          <p:cNvPr id="16" name="Text 12"/>
          <p:cNvSpPr/>
          <p:nvPr/>
        </p:nvSpPr>
        <p:spPr>
          <a:xfrm>
            <a:off x="3038185" y="4041648"/>
            <a:ext cx="1611721" cy="237744"/>
          </a:xfrm>
          <a:prstGeom prst="rect">
            <a:avLst/>
          </a:prstGeom>
          <a:noFill/>
          <a:ln/>
        </p:spPr>
        <p:txBody>
          <a:bodyPr wrap="square" lIns="0" tIns="0" rIns="0" bIns="0" rtlCol="0" anchor="ctr"/>
          <a:lstStyle/>
          <a:p>
            <a:pPr indent="0" marL="0">
              <a:buNone/>
            </a:pPr>
            <a:r>
              <a:rPr lang="en-US" sz="900" b="1" spc="150" kern="0" dirty="0">
                <a:solidFill>
                  <a:srgbClr val="5B4BE8"/>
                </a:solidFill>
                <a:latin typeface="Calibri" pitchFamily="34" charset="0"/>
                <a:ea typeface="Calibri" pitchFamily="34" charset="-122"/>
                <a:cs typeface="Calibri" pitchFamily="34" charset="-120"/>
              </a:rPr>
              <a:t>THE MODEL</a:t>
            </a:r>
            <a:endParaRPr lang="en-US" sz="900" dirty="0"/>
          </a:p>
        </p:txBody>
      </p:sp>
      <p:sp>
        <p:nvSpPr>
          <p:cNvPr id="17" name="Shape 13"/>
          <p:cNvSpPr/>
          <p:nvPr/>
        </p:nvSpPr>
        <p:spPr>
          <a:xfrm>
            <a:off x="4887651" y="3200400"/>
            <a:ext cx="155448" cy="0"/>
          </a:xfrm>
          <a:prstGeom prst="line">
            <a:avLst/>
          </a:prstGeom>
          <a:noFill/>
          <a:ln w="25400">
            <a:solidFill>
              <a:srgbClr val="8E82F5"/>
            </a:solidFill>
            <a:prstDash val="solid"/>
            <a:headEnd type="none"/>
            <a:tailEnd type="triangle"/>
          </a:ln>
        </p:spPr>
      </p:sp>
      <p:sp>
        <p:nvSpPr>
          <p:cNvPr id="18" name="Shape 14"/>
          <p:cNvSpPr/>
          <p:nvPr/>
        </p:nvSpPr>
        <p:spPr>
          <a:xfrm>
            <a:off x="5070531" y="1956816"/>
            <a:ext cx="2050633" cy="2487168"/>
          </a:xfrm>
          <a:prstGeom prst="roundRect">
            <a:avLst>
              <a:gd name="adj" fmla="val 4459"/>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9" name="Text 15"/>
          <p:cNvSpPr/>
          <p:nvPr/>
        </p:nvSpPr>
        <p:spPr>
          <a:xfrm>
            <a:off x="5289987" y="2103120"/>
            <a:ext cx="457200" cy="402336"/>
          </a:xfrm>
          <a:prstGeom prst="rect">
            <a:avLst/>
          </a:prstGeom>
          <a:noFill/>
          <a:ln/>
        </p:spPr>
        <p:txBody>
          <a:bodyPr wrap="square" lIns="0" tIns="0" rIns="0" bIns="0" rtlCol="0" anchor="ctr"/>
          <a:lstStyle/>
          <a:p>
            <a:pPr indent="0" marL="0">
              <a:buNone/>
            </a:pPr>
            <a:r>
              <a:rPr lang="en-US" sz="2600" b="1" dirty="0">
                <a:solidFill>
                  <a:srgbClr val="9B98B4"/>
                </a:solidFill>
                <a:latin typeface="Cambria" pitchFamily="34" charset="0"/>
                <a:ea typeface="Cambria" pitchFamily="34" charset="-122"/>
                <a:cs typeface="Cambria" pitchFamily="34" charset="-120"/>
              </a:rPr>
              <a:t>3</a:t>
            </a:r>
            <a:endParaRPr lang="en-US" sz="2600" dirty="0"/>
          </a:p>
        </p:txBody>
      </p:sp>
      <p:sp>
        <p:nvSpPr>
          <p:cNvPr id="20" name="Shape 16"/>
          <p:cNvSpPr/>
          <p:nvPr/>
        </p:nvSpPr>
        <p:spPr>
          <a:xfrm>
            <a:off x="6517660" y="2139696"/>
            <a:ext cx="365760" cy="365760"/>
          </a:xfrm>
          <a:prstGeom prst="ellipse">
            <a:avLst/>
          </a:prstGeom>
          <a:solidFill>
            <a:srgbClr val="F5A524"/>
          </a:solidFill>
          <a:ln w="12700">
            <a:solidFill>
              <a:srgbClr val="F5A524"/>
            </a:solidFill>
            <a:prstDash val="solid"/>
          </a:ln>
        </p:spPr>
      </p:sp>
      <p:pic>
        <p:nvPicPr>
          <p:cNvPr id="21" name="Image 2" descr="preencoded.png">    </p:cNvPr>
          <p:cNvPicPr>
            <a:picLocks noChangeAspect="1"/>
          </p:cNvPicPr>
          <p:nvPr/>
        </p:nvPicPr>
        <p:blipFill>
          <a:blip r:embed="rId3"/>
          <a:stretch>
            <a:fillRect/>
          </a:stretch>
        </p:blipFill>
        <p:spPr>
          <a:xfrm>
            <a:off x="6609100" y="2231136"/>
            <a:ext cx="182880" cy="182880"/>
          </a:xfrm>
          <a:prstGeom prst="rect">
            <a:avLst/>
          </a:prstGeom>
        </p:spPr>
      </p:pic>
      <p:sp>
        <p:nvSpPr>
          <p:cNvPr id="22" name="Text 17"/>
          <p:cNvSpPr/>
          <p:nvPr/>
        </p:nvSpPr>
        <p:spPr>
          <a:xfrm>
            <a:off x="5289987" y="2651760"/>
            <a:ext cx="1611721" cy="1097280"/>
          </a:xfrm>
          <a:prstGeom prst="rect">
            <a:avLst/>
          </a:prstGeom>
          <a:noFill/>
          <a:ln/>
        </p:spPr>
        <p:txBody>
          <a:bodyPr wrap="square" lIns="0" tIns="0" rIns="0" bIns="0" rtlCol="0" anchor="t"/>
          <a:lstStyle/>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You parse arguments,</a:t>
            </a:r>
            <a:endParaRPr lang="en-US" sz="1200" dirty="0"/>
          </a:p>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validate, and decide</a:t>
            </a:r>
            <a:endParaRPr lang="en-US" sz="1200" dirty="0"/>
          </a:p>
        </p:txBody>
      </p:sp>
      <p:sp>
        <p:nvSpPr>
          <p:cNvPr id="23" name="Text 18"/>
          <p:cNvSpPr/>
          <p:nvPr/>
        </p:nvSpPr>
        <p:spPr>
          <a:xfrm>
            <a:off x="5289987" y="4041648"/>
            <a:ext cx="1611721" cy="237744"/>
          </a:xfrm>
          <a:prstGeom prst="rect">
            <a:avLst/>
          </a:prstGeom>
          <a:noFill/>
          <a:ln/>
        </p:spPr>
        <p:txBody>
          <a:bodyPr wrap="square" lIns="0" tIns="0" rIns="0" bIns="0" rtlCol="0" anchor="ctr"/>
          <a:lstStyle/>
          <a:p>
            <a:pPr indent="0" marL="0">
              <a:buNone/>
            </a:pPr>
            <a:r>
              <a:rPr lang="en-US" sz="900" b="1" spc="150" kern="0" dirty="0">
                <a:solidFill>
                  <a:srgbClr val="E08700"/>
                </a:solidFill>
                <a:latin typeface="Calibri" pitchFamily="34" charset="0"/>
                <a:ea typeface="Calibri" pitchFamily="34" charset="-122"/>
                <a:cs typeface="Calibri" pitchFamily="34" charset="-120"/>
              </a:rPr>
              <a:t>YOUR CODE</a:t>
            </a:r>
            <a:endParaRPr lang="en-US" sz="900" dirty="0"/>
          </a:p>
        </p:txBody>
      </p:sp>
      <p:sp>
        <p:nvSpPr>
          <p:cNvPr id="24" name="Shape 19"/>
          <p:cNvSpPr/>
          <p:nvPr/>
        </p:nvSpPr>
        <p:spPr>
          <a:xfrm>
            <a:off x="7139452" y="3200400"/>
            <a:ext cx="155448" cy="0"/>
          </a:xfrm>
          <a:prstGeom prst="line">
            <a:avLst/>
          </a:prstGeom>
          <a:noFill/>
          <a:ln w="25400">
            <a:solidFill>
              <a:srgbClr val="8E82F5"/>
            </a:solidFill>
            <a:prstDash val="solid"/>
            <a:headEnd type="none"/>
            <a:tailEnd type="triangle"/>
          </a:ln>
        </p:spPr>
      </p:sp>
      <p:sp>
        <p:nvSpPr>
          <p:cNvPr id="25" name="Shape 20"/>
          <p:cNvSpPr/>
          <p:nvPr/>
        </p:nvSpPr>
        <p:spPr>
          <a:xfrm>
            <a:off x="7322332" y="1956816"/>
            <a:ext cx="2050633" cy="2487168"/>
          </a:xfrm>
          <a:prstGeom prst="roundRect">
            <a:avLst>
              <a:gd name="adj" fmla="val 4459"/>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26" name="Text 21"/>
          <p:cNvSpPr/>
          <p:nvPr/>
        </p:nvSpPr>
        <p:spPr>
          <a:xfrm>
            <a:off x="7541788" y="2103120"/>
            <a:ext cx="457200" cy="402336"/>
          </a:xfrm>
          <a:prstGeom prst="rect">
            <a:avLst/>
          </a:prstGeom>
          <a:noFill/>
          <a:ln/>
        </p:spPr>
        <p:txBody>
          <a:bodyPr wrap="square" lIns="0" tIns="0" rIns="0" bIns="0" rtlCol="0" anchor="ctr"/>
          <a:lstStyle/>
          <a:p>
            <a:pPr indent="0" marL="0">
              <a:buNone/>
            </a:pPr>
            <a:r>
              <a:rPr lang="en-US" sz="2600" b="1" dirty="0">
                <a:solidFill>
                  <a:srgbClr val="9B98B4"/>
                </a:solidFill>
                <a:latin typeface="Cambria" pitchFamily="34" charset="0"/>
                <a:ea typeface="Cambria" pitchFamily="34" charset="-122"/>
                <a:cs typeface="Cambria" pitchFamily="34" charset="-120"/>
              </a:rPr>
              <a:t>4</a:t>
            </a:r>
            <a:endParaRPr lang="en-US" sz="2600" dirty="0"/>
          </a:p>
        </p:txBody>
      </p:sp>
      <p:sp>
        <p:nvSpPr>
          <p:cNvPr id="27" name="Shape 22"/>
          <p:cNvSpPr/>
          <p:nvPr/>
        </p:nvSpPr>
        <p:spPr>
          <a:xfrm>
            <a:off x="8769462" y="2139696"/>
            <a:ext cx="365760" cy="365760"/>
          </a:xfrm>
          <a:prstGeom prst="ellipse">
            <a:avLst/>
          </a:prstGeom>
          <a:solidFill>
            <a:srgbClr val="F5A524"/>
          </a:solidFill>
          <a:ln w="12700">
            <a:solidFill>
              <a:srgbClr val="F5A524"/>
            </a:solidFill>
            <a:prstDash val="solid"/>
          </a:ln>
        </p:spPr>
      </p:sp>
      <p:pic>
        <p:nvPicPr>
          <p:cNvPr id="28" name="Image 3" descr="preencoded.png">    </p:cNvPr>
          <p:cNvPicPr>
            <a:picLocks noChangeAspect="1"/>
          </p:cNvPicPr>
          <p:nvPr/>
        </p:nvPicPr>
        <p:blipFill>
          <a:blip r:embed="rId4"/>
          <a:stretch>
            <a:fillRect/>
          </a:stretch>
        </p:blipFill>
        <p:spPr>
          <a:xfrm>
            <a:off x="8860902" y="2231136"/>
            <a:ext cx="182880" cy="182880"/>
          </a:xfrm>
          <a:prstGeom prst="rect">
            <a:avLst/>
          </a:prstGeom>
        </p:spPr>
      </p:pic>
      <p:sp>
        <p:nvSpPr>
          <p:cNvPr id="29" name="Text 23"/>
          <p:cNvSpPr/>
          <p:nvPr/>
        </p:nvSpPr>
        <p:spPr>
          <a:xfrm>
            <a:off x="7541788" y="2651760"/>
            <a:ext cx="1611721" cy="1097280"/>
          </a:xfrm>
          <a:prstGeom prst="rect">
            <a:avLst/>
          </a:prstGeom>
          <a:noFill/>
          <a:ln/>
        </p:spPr>
        <p:txBody>
          <a:bodyPr wrap="square" lIns="0" tIns="0" rIns="0" bIns="0" rtlCol="0" anchor="t"/>
          <a:lstStyle/>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You run the function</a:t>
            </a:r>
            <a:endParaRPr lang="en-US" sz="1200" dirty="0"/>
          </a:p>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and append a tool message</a:t>
            </a:r>
            <a:endParaRPr lang="en-US" sz="1200" dirty="0"/>
          </a:p>
        </p:txBody>
      </p:sp>
      <p:sp>
        <p:nvSpPr>
          <p:cNvPr id="30" name="Text 24"/>
          <p:cNvSpPr/>
          <p:nvPr/>
        </p:nvSpPr>
        <p:spPr>
          <a:xfrm>
            <a:off x="7541788" y="4041648"/>
            <a:ext cx="1611721" cy="237744"/>
          </a:xfrm>
          <a:prstGeom prst="rect">
            <a:avLst/>
          </a:prstGeom>
          <a:noFill/>
          <a:ln/>
        </p:spPr>
        <p:txBody>
          <a:bodyPr wrap="square" lIns="0" tIns="0" rIns="0" bIns="0" rtlCol="0" anchor="ctr"/>
          <a:lstStyle/>
          <a:p>
            <a:pPr indent="0" marL="0">
              <a:buNone/>
            </a:pPr>
            <a:r>
              <a:rPr lang="en-US" sz="900" b="1" spc="150" kern="0" dirty="0">
                <a:solidFill>
                  <a:srgbClr val="E08700"/>
                </a:solidFill>
                <a:latin typeface="Calibri" pitchFamily="34" charset="0"/>
                <a:ea typeface="Calibri" pitchFamily="34" charset="-122"/>
                <a:cs typeface="Calibri" pitchFamily="34" charset="-120"/>
              </a:rPr>
              <a:t>YOUR CODE</a:t>
            </a:r>
            <a:endParaRPr lang="en-US" sz="900" dirty="0"/>
          </a:p>
        </p:txBody>
      </p:sp>
      <p:sp>
        <p:nvSpPr>
          <p:cNvPr id="31" name="Shape 25"/>
          <p:cNvSpPr/>
          <p:nvPr/>
        </p:nvSpPr>
        <p:spPr>
          <a:xfrm>
            <a:off x="9391254" y="3200400"/>
            <a:ext cx="155448" cy="0"/>
          </a:xfrm>
          <a:prstGeom prst="line">
            <a:avLst/>
          </a:prstGeom>
          <a:noFill/>
          <a:ln w="25400">
            <a:solidFill>
              <a:srgbClr val="8E82F5"/>
            </a:solidFill>
            <a:prstDash val="solid"/>
            <a:headEnd type="none"/>
            <a:tailEnd type="triangle"/>
          </a:ln>
        </p:spPr>
      </p:sp>
      <p:sp>
        <p:nvSpPr>
          <p:cNvPr id="32" name="Shape 26"/>
          <p:cNvSpPr/>
          <p:nvPr/>
        </p:nvSpPr>
        <p:spPr>
          <a:xfrm>
            <a:off x="9574134" y="1956816"/>
            <a:ext cx="2050633" cy="2487168"/>
          </a:xfrm>
          <a:prstGeom prst="roundRect">
            <a:avLst>
              <a:gd name="adj" fmla="val 4459"/>
            </a:avLst>
          </a:prstGeom>
          <a:solidFill>
            <a:srgbClr val="EEEDFE"/>
          </a:solidFill>
          <a:ln w="12700">
            <a:solidFill>
              <a:srgbClr val="8E82F5"/>
            </a:solidFill>
            <a:prstDash val="solid"/>
          </a:ln>
          <a:effectLst>
            <a:outerShdw sx="100000" sy="100000" kx="0" ky="0" algn="bl" rotWithShape="0" blurRad="101600" dist="508" dir="5400000">
              <a:srgbClr val="1B1A4A">
                <a:alpha val="7000"/>
              </a:srgbClr>
            </a:outerShdw>
          </a:effectLst>
        </p:spPr>
      </p:sp>
      <p:sp>
        <p:nvSpPr>
          <p:cNvPr id="33" name="Text 27"/>
          <p:cNvSpPr/>
          <p:nvPr/>
        </p:nvSpPr>
        <p:spPr>
          <a:xfrm>
            <a:off x="9793590" y="2103120"/>
            <a:ext cx="457200" cy="402336"/>
          </a:xfrm>
          <a:prstGeom prst="rect">
            <a:avLst/>
          </a:prstGeom>
          <a:noFill/>
          <a:ln/>
        </p:spPr>
        <p:txBody>
          <a:bodyPr wrap="square" lIns="0" tIns="0" rIns="0" bIns="0" rtlCol="0" anchor="ctr"/>
          <a:lstStyle/>
          <a:p>
            <a:pPr indent="0" marL="0">
              <a:buNone/>
            </a:pPr>
            <a:r>
              <a:rPr lang="en-US" sz="2600" b="1" dirty="0">
                <a:solidFill>
                  <a:srgbClr val="5B4BE8"/>
                </a:solidFill>
                <a:latin typeface="Cambria" pitchFamily="34" charset="0"/>
                <a:ea typeface="Cambria" pitchFamily="34" charset="-122"/>
                <a:cs typeface="Cambria" pitchFamily="34" charset="-120"/>
              </a:rPr>
              <a:t>5</a:t>
            </a:r>
            <a:endParaRPr lang="en-US" sz="2600" dirty="0"/>
          </a:p>
        </p:txBody>
      </p:sp>
      <p:sp>
        <p:nvSpPr>
          <p:cNvPr id="34" name="Shape 28"/>
          <p:cNvSpPr/>
          <p:nvPr/>
        </p:nvSpPr>
        <p:spPr>
          <a:xfrm>
            <a:off x="11021263" y="2139696"/>
            <a:ext cx="365760" cy="365760"/>
          </a:xfrm>
          <a:prstGeom prst="ellipse">
            <a:avLst/>
          </a:prstGeom>
          <a:solidFill>
            <a:srgbClr val="5B4BE8"/>
          </a:solidFill>
          <a:ln w="12700">
            <a:solidFill>
              <a:srgbClr val="5B4BE8"/>
            </a:solidFill>
            <a:prstDash val="solid"/>
          </a:ln>
        </p:spPr>
      </p:sp>
      <p:pic>
        <p:nvPicPr>
          <p:cNvPr id="35" name="Image 4" descr="preencoded.png">    </p:cNvPr>
          <p:cNvPicPr>
            <a:picLocks noChangeAspect="1"/>
          </p:cNvPicPr>
          <p:nvPr/>
        </p:nvPicPr>
        <p:blipFill>
          <a:blip r:embed="rId5"/>
          <a:stretch>
            <a:fillRect/>
          </a:stretch>
        </p:blipFill>
        <p:spPr>
          <a:xfrm>
            <a:off x="11112703" y="2231136"/>
            <a:ext cx="182880" cy="182880"/>
          </a:xfrm>
          <a:prstGeom prst="rect">
            <a:avLst/>
          </a:prstGeom>
        </p:spPr>
      </p:pic>
      <p:sp>
        <p:nvSpPr>
          <p:cNvPr id="36" name="Text 29"/>
          <p:cNvSpPr/>
          <p:nvPr/>
        </p:nvSpPr>
        <p:spPr>
          <a:xfrm>
            <a:off x="9793590" y="2651760"/>
            <a:ext cx="1611721" cy="1097280"/>
          </a:xfrm>
          <a:prstGeom prst="rect">
            <a:avLst/>
          </a:prstGeom>
          <a:noFill/>
          <a:ln/>
        </p:spPr>
        <p:txBody>
          <a:bodyPr wrap="square" lIns="0" tIns="0" rIns="0" bIns="0" rtlCol="0" anchor="t"/>
          <a:lstStyle/>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Model reads the result</a:t>
            </a:r>
            <a:endParaRPr lang="en-US" sz="1200" dirty="0"/>
          </a:p>
          <a:p>
            <a:pPr indent="0" marL="0">
              <a:lnSpc>
                <a:spcPct val="112000"/>
              </a:lnSpc>
              <a:buNone/>
            </a:pPr>
            <a:r>
              <a:rPr lang="en-US" sz="1200" dirty="0">
                <a:solidFill>
                  <a:srgbClr val="141235"/>
                </a:solidFill>
                <a:latin typeface="Calibri" pitchFamily="34" charset="0"/>
                <a:ea typeface="Calibri" pitchFamily="34" charset="-122"/>
                <a:cs typeface="Calibri" pitchFamily="34" charset="-120"/>
              </a:rPr>
              <a:t>and writes the answer</a:t>
            </a:r>
            <a:endParaRPr lang="en-US" sz="1200" dirty="0"/>
          </a:p>
        </p:txBody>
      </p:sp>
      <p:sp>
        <p:nvSpPr>
          <p:cNvPr id="37" name="Text 30"/>
          <p:cNvSpPr/>
          <p:nvPr/>
        </p:nvSpPr>
        <p:spPr>
          <a:xfrm>
            <a:off x="9793590" y="4041648"/>
            <a:ext cx="1611721" cy="237744"/>
          </a:xfrm>
          <a:prstGeom prst="rect">
            <a:avLst/>
          </a:prstGeom>
          <a:noFill/>
          <a:ln/>
        </p:spPr>
        <p:txBody>
          <a:bodyPr wrap="square" lIns="0" tIns="0" rIns="0" bIns="0" rtlCol="0" anchor="ctr"/>
          <a:lstStyle/>
          <a:p>
            <a:pPr indent="0" marL="0">
              <a:buNone/>
            </a:pPr>
            <a:r>
              <a:rPr lang="en-US" sz="900" b="1" spc="150" kern="0" dirty="0">
                <a:solidFill>
                  <a:srgbClr val="5B4BE8"/>
                </a:solidFill>
                <a:latin typeface="Calibri" pitchFamily="34" charset="0"/>
                <a:ea typeface="Calibri" pitchFamily="34" charset="-122"/>
                <a:cs typeface="Calibri" pitchFamily="34" charset="-120"/>
              </a:rPr>
              <a:t>THE MODEL</a:t>
            </a:r>
            <a:endParaRPr lang="en-US" sz="900" dirty="0"/>
          </a:p>
        </p:txBody>
      </p:sp>
      <p:sp>
        <p:nvSpPr>
          <p:cNvPr id="38" name="Text 31"/>
          <p:cNvSpPr/>
          <p:nvPr/>
        </p:nvSpPr>
        <p:spPr>
          <a:xfrm>
            <a:off x="566928" y="4626864"/>
            <a:ext cx="11057839" cy="365760"/>
          </a:xfrm>
          <a:prstGeom prst="rect">
            <a:avLst/>
          </a:prstGeom>
          <a:noFill/>
          <a:ln/>
        </p:spPr>
        <p:txBody>
          <a:bodyPr wrap="square" lIns="0" tIns="0" rIns="0" bIns="0" rtlCol="0" anchor="ctr"/>
          <a:lstStyle/>
          <a:p>
            <a:pPr indent="0" marL="0">
              <a:buNone/>
            </a:pPr>
            <a:r>
              <a:rPr lang="en-US" sz="1350" i="1" dirty="0">
                <a:solidFill>
                  <a:srgbClr val="3B3760"/>
                </a:solidFill>
                <a:latin typeface="Calibri" pitchFamily="34" charset="0"/>
                <a:ea typeface="Calibri" pitchFamily="34" charset="-122"/>
                <a:cs typeface="Calibri" pitchFamily="34" charset="-120"/>
              </a:rPr>
              <a:t>Three of the five moves are yours. The loop in module 03 is just this, repeated until the model stops asking.</a:t>
            </a:r>
            <a:endParaRPr lang="en-US" sz="1350" dirty="0"/>
          </a:p>
        </p:txBody>
      </p:sp>
      <p:sp>
        <p:nvSpPr>
          <p:cNvPr id="39" name="Shape 32"/>
          <p:cNvSpPr/>
          <p:nvPr/>
        </p:nvSpPr>
        <p:spPr>
          <a:xfrm>
            <a:off x="566928" y="5120640"/>
            <a:ext cx="11057839" cy="786384"/>
          </a:xfrm>
          <a:prstGeom prst="roundRect">
            <a:avLst>
              <a:gd name="adj" fmla="val 10465"/>
            </a:avLst>
          </a:prstGeom>
          <a:solidFill>
            <a:srgbClr val="FFF4E0"/>
          </a:solidFill>
          <a:ln w="12700">
            <a:solidFill>
              <a:srgbClr val="F3DCB0"/>
            </a:solidFill>
            <a:prstDash val="solid"/>
          </a:ln>
        </p:spPr>
      </p:sp>
      <p:sp>
        <p:nvSpPr>
          <p:cNvPr id="40" name="Shape 33"/>
          <p:cNvSpPr/>
          <p:nvPr/>
        </p:nvSpPr>
        <p:spPr>
          <a:xfrm>
            <a:off x="841248" y="5321808"/>
            <a:ext cx="384048" cy="384048"/>
          </a:xfrm>
          <a:prstGeom prst="ellipse">
            <a:avLst/>
          </a:prstGeom>
          <a:solidFill>
            <a:srgbClr val="F5A524"/>
          </a:solidFill>
          <a:ln w="12700">
            <a:solidFill>
              <a:srgbClr val="F5A524"/>
            </a:solidFill>
            <a:prstDash val="solid"/>
          </a:ln>
        </p:spPr>
      </p:sp>
      <p:pic>
        <p:nvPicPr>
          <p:cNvPr id="41" name="Image 5" descr="preencoded.png">    </p:cNvPr>
          <p:cNvPicPr>
            <a:picLocks noChangeAspect="1"/>
          </p:cNvPicPr>
          <p:nvPr/>
        </p:nvPicPr>
        <p:blipFill>
          <a:blip r:embed="rId6"/>
          <a:stretch>
            <a:fillRect/>
          </a:stretch>
        </p:blipFill>
        <p:spPr>
          <a:xfrm>
            <a:off x="937260" y="5417820"/>
            <a:ext cx="192024" cy="192024"/>
          </a:xfrm>
          <a:prstGeom prst="rect">
            <a:avLst/>
          </a:prstGeom>
        </p:spPr>
      </p:pic>
      <p:sp>
        <p:nvSpPr>
          <p:cNvPr id="42" name="Text 34"/>
          <p:cNvSpPr/>
          <p:nvPr/>
        </p:nvSpPr>
        <p:spPr>
          <a:xfrm>
            <a:off x="1371600" y="5175504"/>
            <a:ext cx="9960559" cy="676656"/>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Two of the five boxes are the AI. The other three are code review, error handling and logging — the things your organisation already knows how to govern.</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A22"/>
        </a:solidFill>
      </p:bgPr>
    </p:bg>
    <p:spTree>
      <p:nvGrpSpPr>
        <p:cNvPr id="1" name=""/>
        <p:cNvGrpSpPr/>
        <p:nvPr/>
      </p:nvGrpSpPr>
      <p:grpSpPr>
        <a:xfrm>
          <a:off x="0" y="0"/>
          <a:ext cx="0" cy="0"/>
          <a:chOff x="0" y="0"/>
          <a:chExt cx="0" cy="0"/>
        </a:xfrm>
      </p:grpSpPr>
      <p:pic>
        <p:nvPicPr>
          <p:cNvPr id="2" name="Image 0" descr="bg quo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02 · TOOL CALLING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indent="0" marL="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indent="0" marL="0">
              <a:lnSpc>
                <a:spcPct val="116000"/>
              </a:lnSpc>
              <a:buNone/>
            </a:pPr>
            <a:r>
              <a:rPr lang="en-US" sz="3800" b="1" dirty="0">
                <a:solidFill>
                  <a:srgbClr val="FFFFFF"/>
                </a:solidFill>
                <a:latin typeface="Cambria" pitchFamily="34" charset="0"/>
                <a:ea typeface="Cambria" pitchFamily="34" charset="-122"/>
                <a:cs typeface="Cambria" pitchFamily="34" charset="-120"/>
              </a:rPr>
              <a:t>Nothing forces you to run a tool</a:t>
            </a:r>
            <a:endParaRPr lang="en-US" sz="3800" dirty="0"/>
          </a:p>
          <a:p>
            <a:pPr indent="0" marL="0">
              <a:lnSpc>
                <a:spcPct val="116000"/>
              </a:lnSpc>
              <a:buNone/>
            </a:pPr>
            <a:r>
              <a:rPr lang="en-US" sz="3800" b="1" dirty="0">
                <a:solidFill>
                  <a:srgbClr val="FFFFFF"/>
                </a:solidFill>
                <a:latin typeface="Cambria" pitchFamily="34" charset="0"/>
                <a:ea typeface="Cambria" pitchFamily="34" charset="-122"/>
                <a:cs typeface="Cambria" pitchFamily="34" charset="-120"/>
              </a:rPr>
              <a:t>just because the model asked.</a:t>
            </a:r>
            <a:endParaRPr lang="en-US" sz="38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indent="0" marL="0">
              <a:lnSpc>
                <a:spcPct val="120000"/>
              </a:lnSpc>
              <a:buNone/>
            </a:pPr>
            <a:r>
              <a:rPr lang="en-US" sz="1450" dirty="0">
                <a:solidFill>
                  <a:srgbClr val="B9B4E0"/>
                </a:solidFill>
                <a:latin typeface="Calibri" pitchFamily="34" charset="0"/>
                <a:ea typeface="Calibri" pitchFamily="34" charset="-122"/>
                <a:cs typeface="Calibri" pitchFamily="34" charset="-120"/>
              </a:rPr>
              <a:t>Your code always gets the last word. Every guardrail in module 14 is an exercise of exactly this right.</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03</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03</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The ReAct loop</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Think out loud, act, observe, repeat — then the silent version you will actually ship.</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Reason, then act, in the open</a:t>
            </a:r>
            <a:endParaRPr lang="en-US" sz="3000" dirty="0"/>
          </a:p>
        </p:txBody>
      </p:sp>
      <p:sp>
        <p:nvSpPr>
          <p:cNvPr id="4" name="Shape 2"/>
          <p:cNvSpPr/>
          <p:nvPr/>
        </p:nvSpPr>
        <p:spPr>
          <a:xfrm>
            <a:off x="1883664" y="2121408"/>
            <a:ext cx="2377440" cy="2377440"/>
          </a:xfrm>
          <a:prstGeom prst="ellipse">
            <a:avLst/>
          </a:prstGeom>
          <a:solidFill>
            <a:srgbClr val="FFFFFF"/>
          </a:solidFill>
          <a:ln w="17780">
            <a:solidFill>
              <a:srgbClr val="E3E4F2"/>
            </a:solidFill>
            <a:prstDash val="dash"/>
          </a:ln>
        </p:spPr>
      </p:sp>
      <p:sp>
        <p:nvSpPr>
          <p:cNvPr id="5" name="Shape 3"/>
          <p:cNvSpPr/>
          <p:nvPr/>
        </p:nvSpPr>
        <p:spPr>
          <a:xfrm>
            <a:off x="2450592" y="1773936"/>
            <a:ext cx="1243584" cy="731520"/>
          </a:xfrm>
          <a:prstGeom prst="roundRect">
            <a:avLst>
              <a:gd name="adj" fmla="val 11250"/>
            </a:avLst>
          </a:prstGeom>
          <a:solidFill>
            <a:srgbClr val="FFFFFF"/>
          </a:solidFill>
          <a:ln w="22860">
            <a:solidFill>
              <a:srgbClr val="5B4BE8"/>
            </a:solidFill>
            <a:prstDash val="solid"/>
          </a:ln>
          <a:effectLst>
            <a:outerShdw sx="100000" sy="100000" kx="0" ky="0" algn="bl" rotWithShape="0" blurRad="101600" dist="508" dir="5400000">
              <a:srgbClr val="1B1A4A">
                <a:alpha val="10000"/>
              </a:srgbClr>
            </a:outerShdw>
          </a:effectLst>
        </p:spPr>
      </p:sp>
      <p:sp>
        <p:nvSpPr>
          <p:cNvPr id="6" name="Text 4"/>
          <p:cNvSpPr/>
          <p:nvPr/>
        </p:nvSpPr>
        <p:spPr>
          <a:xfrm>
            <a:off x="2450592" y="1828800"/>
            <a:ext cx="1243584" cy="274320"/>
          </a:xfrm>
          <a:prstGeom prst="rect">
            <a:avLst/>
          </a:prstGeom>
          <a:noFill/>
          <a:ln/>
        </p:spPr>
        <p:txBody>
          <a:bodyPr wrap="square" lIns="0" tIns="0" rIns="0" bIns="0" rtlCol="0" anchor="ctr"/>
          <a:lstStyle/>
          <a:p>
            <a:pPr algn="ctr" indent="0" marL="0">
              <a:buNone/>
            </a:pPr>
            <a:r>
              <a:rPr lang="en-US" sz="1250" b="1" dirty="0">
                <a:solidFill>
                  <a:srgbClr val="141235"/>
                </a:solidFill>
                <a:latin typeface="Calibri" pitchFamily="34" charset="0"/>
                <a:ea typeface="Calibri" pitchFamily="34" charset="-122"/>
                <a:cs typeface="Calibri" pitchFamily="34" charset="-120"/>
              </a:rPr>
              <a:t>Thought</a:t>
            </a:r>
            <a:endParaRPr lang="en-US" sz="1250" dirty="0"/>
          </a:p>
        </p:txBody>
      </p:sp>
      <p:sp>
        <p:nvSpPr>
          <p:cNvPr id="7" name="Text 5"/>
          <p:cNvSpPr/>
          <p:nvPr/>
        </p:nvSpPr>
        <p:spPr>
          <a:xfrm>
            <a:off x="2313432" y="2523744"/>
            <a:ext cx="1517904" cy="548640"/>
          </a:xfrm>
          <a:prstGeom prst="rect">
            <a:avLst/>
          </a:prstGeom>
          <a:noFill/>
          <a:ln/>
        </p:spPr>
        <p:txBody>
          <a:bodyPr wrap="square" lIns="0" tIns="0" rIns="0" bIns="0" rtlCol="0" anchor="t"/>
          <a:lstStyle/>
          <a:p>
            <a:pPr algn="ctr" indent="0" marL="0">
              <a:lnSpc>
                <a:spcPct val="105000"/>
              </a:lnSpc>
              <a:buNone/>
            </a:pPr>
            <a:r>
              <a:rPr lang="en-US" sz="950" dirty="0">
                <a:solidFill>
                  <a:srgbClr val="6E6B8A"/>
                </a:solidFill>
                <a:latin typeface="Calibri" pitchFamily="34" charset="0"/>
                <a:ea typeface="Calibri" pitchFamily="34" charset="-122"/>
                <a:cs typeface="Calibri" pitchFamily="34" charset="-120"/>
              </a:rPr>
              <a:t>It writes its plan</a:t>
            </a:r>
            <a:endParaRPr lang="en-US" sz="950" dirty="0"/>
          </a:p>
          <a:p>
            <a:pPr algn="ctr" indent="0" marL="0">
              <a:lnSpc>
                <a:spcPct val="105000"/>
              </a:lnSpc>
              <a:buNone/>
            </a:pPr>
            <a:r>
              <a:rPr lang="en-US" sz="950" dirty="0">
                <a:solidFill>
                  <a:srgbClr val="6E6B8A"/>
                </a:solidFill>
                <a:latin typeface="Calibri" pitchFamily="34" charset="0"/>
                <a:ea typeface="Calibri" pitchFamily="34" charset="-122"/>
                <a:cs typeface="Calibri" pitchFamily="34" charset="-120"/>
              </a:rPr>
              <a:t>in plain text</a:t>
            </a:r>
            <a:endParaRPr lang="en-US" sz="950" dirty="0"/>
          </a:p>
        </p:txBody>
      </p:sp>
      <p:sp>
        <p:nvSpPr>
          <p:cNvPr id="8" name="Shape 6"/>
          <p:cNvSpPr/>
          <p:nvPr/>
        </p:nvSpPr>
        <p:spPr>
          <a:xfrm>
            <a:off x="3621024" y="2944368"/>
            <a:ext cx="1243584" cy="731520"/>
          </a:xfrm>
          <a:prstGeom prst="roundRect">
            <a:avLst>
              <a:gd name="adj" fmla="val 11250"/>
            </a:avLst>
          </a:prstGeom>
          <a:solidFill>
            <a:srgbClr val="FFFFFF"/>
          </a:solidFill>
          <a:ln w="22860">
            <a:solidFill>
              <a:srgbClr val="F5A524"/>
            </a:solidFill>
            <a:prstDash val="solid"/>
          </a:ln>
          <a:effectLst>
            <a:outerShdw sx="100000" sy="100000" kx="0" ky="0" algn="bl" rotWithShape="0" blurRad="101600" dist="508" dir="5400000">
              <a:srgbClr val="1B1A4A">
                <a:alpha val="10000"/>
              </a:srgbClr>
            </a:outerShdw>
          </a:effectLst>
        </p:spPr>
      </p:sp>
      <p:sp>
        <p:nvSpPr>
          <p:cNvPr id="9" name="Text 7"/>
          <p:cNvSpPr/>
          <p:nvPr/>
        </p:nvSpPr>
        <p:spPr>
          <a:xfrm>
            <a:off x="3621024" y="2999232"/>
            <a:ext cx="1243584" cy="274320"/>
          </a:xfrm>
          <a:prstGeom prst="rect">
            <a:avLst/>
          </a:prstGeom>
          <a:noFill/>
          <a:ln/>
        </p:spPr>
        <p:txBody>
          <a:bodyPr wrap="square" lIns="0" tIns="0" rIns="0" bIns="0" rtlCol="0" anchor="ctr"/>
          <a:lstStyle/>
          <a:p>
            <a:pPr algn="ctr" indent="0" marL="0">
              <a:buNone/>
            </a:pPr>
            <a:r>
              <a:rPr lang="en-US" sz="1250" b="1" dirty="0">
                <a:solidFill>
                  <a:srgbClr val="141235"/>
                </a:solidFill>
                <a:latin typeface="Calibri" pitchFamily="34" charset="0"/>
                <a:ea typeface="Calibri" pitchFamily="34" charset="-122"/>
                <a:cs typeface="Calibri" pitchFamily="34" charset="-120"/>
              </a:rPr>
              <a:t>Action</a:t>
            </a:r>
            <a:endParaRPr lang="en-US" sz="1250" dirty="0"/>
          </a:p>
        </p:txBody>
      </p:sp>
      <p:sp>
        <p:nvSpPr>
          <p:cNvPr id="10" name="Text 8"/>
          <p:cNvSpPr/>
          <p:nvPr/>
        </p:nvSpPr>
        <p:spPr>
          <a:xfrm>
            <a:off x="3483864" y="3694176"/>
            <a:ext cx="1517904" cy="548640"/>
          </a:xfrm>
          <a:prstGeom prst="rect">
            <a:avLst/>
          </a:prstGeom>
          <a:noFill/>
          <a:ln/>
        </p:spPr>
        <p:txBody>
          <a:bodyPr wrap="square" lIns="0" tIns="0" rIns="0" bIns="0" rtlCol="0" anchor="t"/>
          <a:lstStyle/>
          <a:p>
            <a:pPr algn="ctr" indent="0" marL="0">
              <a:lnSpc>
                <a:spcPct val="105000"/>
              </a:lnSpc>
              <a:buNone/>
            </a:pPr>
            <a:r>
              <a:rPr lang="en-US" sz="950" dirty="0">
                <a:solidFill>
                  <a:srgbClr val="6E6B8A"/>
                </a:solidFill>
                <a:latin typeface="Calibri" pitchFamily="34" charset="0"/>
                <a:ea typeface="Calibri" pitchFamily="34" charset="-122"/>
                <a:cs typeface="Calibri" pitchFamily="34" charset="-120"/>
              </a:rPr>
              <a:t>One tool, named</a:t>
            </a:r>
            <a:endParaRPr lang="en-US" sz="950" dirty="0"/>
          </a:p>
          <a:p>
            <a:pPr algn="ctr" indent="0" marL="0">
              <a:lnSpc>
                <a:spcPct val="105000"/>
              </a:lnSpc>
              <a:buNone/>
            </a:pPr>
            <a:r>
              <a:rPr lang="en-US" sz="950" dirty="0">
                <a:solidFill>
                  <a:srgbClr val="6E6B8A"/>
                </a:solidFill>
                <a:latin typeface="Calibri" pitchFamily="34" charset="0"/>
                <a:ea typeface="Calibri" pitchFamily="34" charset="-122"/>
                <a:cs typeface="Calibri" pitchFamily="34" charset="-120"/>
              </a:rPr>
              <a:t>in a fixed format</a:t>
            </a:r>
            <a:endParaRPr lang="en-US" sz="950" dirty="0"/>
          </a:p>
        </p:txBody>
      </p:sp>
      <p:sp>
        <p:nvSpPr>
          <p:cNvPr id="11" name="Shape 9"/>
          <p:cNvSpPr/>
          <p:nvPr/>
        </p:nvSpPr>
        <p:spPr>
          <a:xfrm>
            <a:off x="2450592" y="4114800"/>
            <a:ext cx="1243584" cy="731520"/>
          </a:xfrm>
          <a:prstGeom prst="roundRect">
            <a:avLst>
              <a:gd name="adj" fmla="val 11250"/>
            </a:avLst>
          </a:prstGeom>
          <a:solidFill>
            <a:srgbClr val="FFFFFF"/>
          </a:solidFill>
          <a:ln w="22860">
            <a:solidFill>
              <a:srgbClr val="0E9F6E"/>
            </a:solidFill>
            <a:prstDash val="solid"/>
          </a:ln>
          <a:effectLst>
            <a:outerShdw sx="100000" sy="100000" kx="0" ky="0" algn="bl" rotWithShape="0" blurRad="101600" dist="508" dir="5400000">
              <a:srgbClr val="1B1A4A">
                <a:alpha val="10000"/>
              </a:srgbClr>
            </a:outerShdw>
          </a:effectLst>
        </p:spPr>
      </p:sp>
      <p:sp>
        <p:nvSpPr>
          <p:cNvPr id="12" name="Text 10"/>
          <p:cNvSpPr/>
          <p:nvPr/>
        </p:nvSpPr>
        <p:spPr>
          <a:xfrm>
            <a:off x="2450592" y="4169664"/>
            <a:ext cx="1243584" cy="274320"/>
          </a:xfrm>
          <a:prstGeom prst="rect">
            <a:avLst/>
          </a:prstGeom>
          <a:noFill/>
          <a:ln/>
        </p:spPr>
        <p:txBody>
          <a:bodyPr wrap="square" lIns="0" tIns="0" rIns="0" bIns="0" rtlCol="0" anchor="ctr"/>
          <a:lstStyle/>
          <a:p>
            <a:pPr algn="ctr" indent="0" marL="0">
              <a:buNone/>
            </a:pPr>
            <a:r>
              <a:rPr lang="en-US" sz="1250" b="1" dirty="0">
                <a:solidFill>
                  <a:srgbClr val="141235"/>
                </a:solidFill>
                <a:latin typeface="Calibri" pitchFamily="34" charset="0"/>
                <a:ea typeface="Calibri" pitchFamily="34" charset="-122"/>
                <a:cs typeface="Calibri" pitchFamily="34" charset="-120"/>
              </a:rPr>
              <a:t>Observation</a:t>
            </a:r>
            <a:endParaRPr lang="en-US" sz="1250" dirty="0"/>
          </a:p>
        </p:txBody>
      </p:sp>
      <p:sp>
        <p:nvSpPr>
          <p:cNvPr id="13" name="Text 11"/>
          <p:cNvSpPr/>
          <p:nvPr/>
        </p:nvSpPr>
        <p:spPr>
          <a:xfrm>
            <a:off x="2313432" y="4864608"/>
            <a:ext cx="1517904" cy="548640"/>
          </a:xfrm>
          <a:prstGeom prst="rect">
            <a:avLst/>
          </a:prstGeom>
          <a:noFill/>
          <a:ln/>
        </p:spPr>
        <p:txBody>
          <a:bodyPr wrap="square" lIns="0" tIns="0" rIns="0" bIns="0" rtlCol="0" anchor="t"/>
          <a:lstStyle/>
          <a:p>
            <a:pPr algn="ctr" indent="0" marL="0">
              <a:lnSpc>
                <a:spcPct val="105000"/>
              </a:lnSpc>
              <a:buNone/>
            </a:pPr>
            <a:r>
              <a:rPr lang="en-US" sz="950" dirty="0">
                <a:solidFill>
                  <a:srgbClr val="6E6B8A"/>
                </a:solidFill>
                <a:latin typeface="Calibri" pitchFamily="34" charset="0"/>
                <a:ea typeface="Calibri" pitchFamily="34" charset="-122"/>
                <a:cs typeface="Calibri" pitchFamily="34" charset="-120"/>
              </a:rPr>
              <a:t>Your code writes</a:t>
            </a:r>
            <a:endParaRPr lang="en-US" sz="950" dirty="0"/>
          </a:p>
          <a:p>
            <a:pPr algn="ctr" indent="0" marL="0">
              <a:lnSpc>
                <a:spcPct val="105000"/>
              </a:lnSpc>
              <a:buNone/>
            </a:pPr>
            <a:r>
              <a:rPr lang="en-US" sz="950" dirty="0">
                <a:solidFill>
                  <a:srgbClr val="6E6B8A"/>
                </a:solidFill>
                <a:latin typeface="Calibri" pitchFamily="34" charset="0"/>
                <a:ea typeface="Calibri" pitchFamily="34" charset="-122"/>
                <a:cs typeface="Calibri" pitchFamily="34" charset="-120"/>
              </a:rPr>
              <a:t>the result back</a:t>
            </a:r>
            <a:endParaRPr lang="en-US" sz="950" dirty="0"/>
          </a:p>
        </p:txBody>
      </p:sp>
      <p:sp>
        <p:nvSpPr>
          <p:cNvPr id="14" name="Shape 12"/>
          <p:cNvSpPr/>
          <p:nvPr/>
        </p:nvSpPr>
        <p:spPr>
          <a:xfrm>
            <a:off x="1280160" y="2944368"/>
            <a:ext cx="1243584" cy="731520"/>
          </a:xfrm>
          <a:prstGeom prst="roundRect">
            <a:avLst>
              <a:gd name="adj" fmla="val 11250"/>
            </a:avLst>
          </a:prstGeom>
          <a:solidFill>
            <a:srgbClr val="FFFFFF"/>
          </a:solidFill>
          <a:ln w="22860">
            <a:solidFill>
              <a:srgbClr val="9B98B4"/>
            </a:solidFill>
            <a:prstDash val="solid"/>
          </a:ln>
          <a:effectLst>
            <a:outerShdw sx="100000" sy="100000" kx="0" ky="0" algn="bl" rotWithShape="0" blurRad="101600" dist="508" dir="5400000">
              <a:srgbClr val="1B1A4A">
                <a:alpha val="10000"/>
              </a:srgbClr>
            </a:outerShdw>
          </a:effectLst>
        </p:spPr>
      </p:sp>
      <p:sp>
        <p:nvSpPr>
          <p:cNvPr id="15" name="Text 13"/>
          <p:cNvSpPr/>
          <p:nvPr/>
        </p:nvSpPr>
        <p:spPr>
          <a:xfrm>
            <a:off x="1280160" y="2999232"/>
            <a:ext cx="1243584" cy="274320"/>
          </a:xfrm>
          <a:prstGeom prst="rect">
            <a:avLst/>
          </a:prstGeom>
          <a:noFill/>
          <a:ln/>
        </p:spPr>
        <p:txBody>
          <a:bodyPr wrap="square" lIns="0" tIns="0" rIns="0" bIns="0" rtlCol="0" anchor="ctr"/>
          <a:lstStyle/>
          <a:p>
            <a:pPr algn="ctr" indent="0" marL="0">
              <a:buNone/>
            </a:pPr>
            <a:r>
              <a:rPr lang="en-US" sz="1250" b="1" dirty="0">
                <a:solidFill>
                  <a:srgbClr val="141235"/>
                </a:solidFill>
                <a:latin typeface="Calibri" pitchFamily="34" charset="0"/>
                <a:ea typeface="Calibri" pitchFamily="34" charset="-122"/>
                <a:cs typeface="Calibri" pitchFamily="34" charset="-120"/>
              </a:rPr>
              <a:t>PAUSE</a:t>
            </a:r>
            <a:endParaRPr lang="en-US" sz="1250" dirty="0"/>
          </a:p>
        </p:txBody>
      </p:sp>
      <p:sp>
        <p:nvSpPr>
          <p:cNvPr id="16" name="Text 14"/>
          <p:cNvSpPr/>
          <p:nvPr/>
        </p:nvSpPr>
        <p:spPr>
          <a:xfrm>
            <a:off x="1143000" y="3694176"/>
            <a:ext cx="1517904" cy="548640"/>
          </a:xfrm>
          <a:prstGeom prst="rect">
            <a:avLst/>
          </a:prstGeom>
          <a:noFill/>
          <a:ln/>
        </p:spPr>
        <p:txBody>
          <a:bodyPr wrap="square" lIns="0" tIns="0" rIns="0" bIns="0" rtlCol="0" anchor="t"/>
          <a:lstStyle/>
          <a:p>
            <a:pPr algn="ctr" indent="0" marL="0">
              <a:lnSpc>
                <a:spcPct val="105000"/>
              </a:lnSpc>
              <a:buNone/>
            </a:pPr>
            <a:r>
              <a:rPr lang="en-US" sz="950" dirty="0">
                <a:solidFill>
                  <a:srgbClr val="6E6B8A"/>
                </a:solidFill>
                <a:latin typeface="Calibri" pitchFamily="34" charset="0"/>
                <a:ea typeface="Calibri" pitchFamily="34" charset="-122"/>
                <a:cs typeface="Calibri" pitchFamily="34" charset="-120"/>
              </a:rPr>
              <a:t>It stops and waits</a:t>
            </a:r>
            <a:endParaRPr lang="en-US" sz="950" dirty="0"/>
          </a:p>
          <a:p>
            <a:pPr algn="ctr" indent="0" marL="0">
              <a:lnSpc>
                <a:spcPct val="105000"/>
              </a:lnSpc>
              <a:buNone/>
            </a:pPr>
            <a:r>
              <a:rPr lang="en-US" sz="950" dirty="0">
                <a:solidFill>
                  <a:srgbClr val="6E6B8A"/>
                </a:solidFill>
                <a:latin typeface="Calibri" pitchFamily="34" charset="0"/>
                <a:ea typeface="Calibri" pitchFamily="34" charset="-122"/>
                <a:cs typeface="Calibri" pitchFamily="34" charset="-120"/>
              </a:rPr>
              <a:t>on purpose</a:t>
            </a:r>
            <a:endParaRPr lang="en-US" sz="950" dirty="0"/>
          </a:p>
        </p:txBody>
      </p:sp>
      <p:sp>
        <p:nvSpPr>
          <p:cNvPr id="17" name="Shape 15"/>
          <p:cNvSpPr/>
          <p:nvPr/>
        </p:nvSpPr>
        <p:spPr>
          <a:xfrm>
            <a:off x="2871216" y="3108960"/>
            <a:ext cx="402336" cy="402336"/>
          </a:xfrm>
          <a:prstGeom prst="ellipse">
            <a:avLst/>
          </a:prstGeom>
          <a:solidFill>
            <a:srgbClr val="5B4BE8"/>
          </a:solidFill>
          <a:ln w="12700">
            <a:solidFill>
              <a:srgbClr val="5B4BE8"/>
            </a:solidFill>
            <a:prstDash val="solid"/>
          </a:ln>
        </p:spPr>
      </p:sp>
      <p:pic>
        <p:nvPicPr>
          <p:cNvPr id="18" name="Image 0" descr="preencoded.png">    </p:cNvPr>
          <p:cNvPicPr>
            <a:picLocks noChangeAspect="1"/>
          </p:cNvPicPr>
          <p:nvPr/>
        </p:nvPicPr>
        <p:blipFill>
          <a:blip r:embed="rId1"/>
          <a:stretch>
            <a:fillRect/>
          </a:stretch>
        </p:blipFill>
        <p:spPr>
          <a:xfrm>
            <a:off x="2971800" y="3209544"/>
            <a:ext cx="201168" cy="201168"/>
          </a:xfrm>
          <a:prstGeom prst="rect">
            <a:avLst/>
          </a:prstGeom>
        </p:spPr>
      </p:pic>
      <p:sp>
        <p:nvSpPr>
          <p:cNvPr id="19" name="Shape 16"/>
          <p:cNvSpPr/>
          <p:nvPr/>
        </p:nvSpPr>
        <p:spPr>
          <a:xfrm>
            <a:off x="5120640" y="1828800"/>
            <a:ext cx="6504127" cy="969264"/>
          </a:xfrm>
          <a:prstGeom prst="roundRect">
            <a:avLst>
              <a:gd name="adj" fmla="val 8491"/>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0" name="Shape 17"/>
          <p:cNvSpPr/>
          <p:nvPr/>
        </p:nvSpPr>
        <p:spPr>
          <a:xfrm>
            <a:off x="5358384" y="2048256"/>
            <a:ext cx="365760" cy="365760"/>
          </a:xfrm>
          <a:prstGeom prst="ellipse">
            <a:avLst/>
          </a:prstGeom>
          <a:solidFill>
            <a:srgbClr val="5B4BE8"/>
          </a:solidFill>
          <a:ln w="12700">
            <a:solidFill>
              <a:srgbClr val="5B4BE8"/>
            </a:solidFill>
            <a:prstDash val="solid"/>
          </a:ln>
        </p:spPr>
      </p:sp>
      <p:pic>
        <p:nvPicPr>
          <p:cNvPr id="21" name="Image 1" descr="preencoded.png">    </p:cNvPr>
          <p:cNvPicPr>
            <a:picLocks noChangeAspect="1"/>
          </p:cNvPicPr>
          <p:nvPr/>
        </p:nvPicPr>
        <p:blipFill>
          <a:blip r:embed="rId2"/>
          <a:stretch>
            <a:fillRect/>
          </a:stretch>
        </p:blipFill>
        <p:spPr>
          <a:xfrm>
            <a:off x="5449824" y="2139696"/>
            <a:ext cx="182880" cy="182880"/>
          </a:xfrm>
          <a:prstGeom prst="rect">
            <a:avLst/>
          </a:prstGeom>
        </p:spPr>
      </p:pic>
      <p:sp>
        <p:nvSpPr>
          <p:cNvPr id="22" name="Text 18"/>
          <p:cNvSpPr/>
          <p:nvPr/>
        </p:nvSpPr>
        <p:spPr>
          <a:xfrm>
            <a:off x="5852160" y="2066544"/>
            <a:ext cx="5534863"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The reasoning becomes text you can read</a:t>
            </a:r>
            <a:endParaRPr lang="en-US" sz="1350" dirty="0"/>
          </a:p>
        </p:txBody>
      </p:sp>
      <p:sp>
        <p:nvSpPr>
          <p:cNvPr id="23" name="Text 19"/>
          <p:cNvSpPr/>
          <p:nvPr/>
        </p:nvSpPr>
        <p:spPr>
          <a:xfrm>
            <a:off x="5852160" y="2398105"/>
            <a:ext cx="5534863" cy="217079"/>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Not hidden inside the model. Printed, logged, shown to a user, argued with in a code review.</a:t>
            </a:r>
            <a:endParaRPr lang="en-US" sz="1100" dirty="0"/>
          </a:p>
        </p:txBody>
      </p:sp>
      <p:sp>
        <p:nvSpPr>
          <p:cNvPr id="24" name="Shape 20"/>
          <p:cNvSpPr/>
          <p:nvPr/>
        </p:nvSpPr>
        <p:spPr>
          <a:xfrm>
            <a:off x="5120640" y="2871216"/>
            <a:ext cx="6504127" cy="969264"/>
          </a:xfrm>
          <a:prstGeom prst="roundRect">
            <a:avLst>
              <a:gd name="adj" fmla="val 8491"/>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5" name="Shape 21"/>
          <p:cNvSpPr/>
          <p:nvPr/>
        </p:nvSpPr>
        <p:spPr>
          <a:xfrm>
            <a:off x="5358384" y="3090672"/>
            <a:ext cx="365760" cy="365760"/>
          </a:xfrm>
          <a:prstGeom prst="ellipse">
            <a:avLst/>
          </a:prstGeom>
          <a:solidFill>
            <a:srgbClr val="0E9F6E"/>
          </a:solidFill>
          <a:ln w="12700">
            <a:solidFill>
              <a:srgbClr val="0E9F6E"/>
            </a:solidFill>
            <a:prstDash val="solid"/>
          </a:ln>
        </p:spPr>
      </p:sp>
      <p:pic>
        <p:nvPicPr>
          <p:cNvPr id="26" name="Image 2" descr="preencoded.png">    </p:cNvPr>
          <p:cNvPicPr>
            <a:picLocks noChangeAspect="1"/>
          </p:cNvPicPr>
          <p:nvPr/>
        </p:nvPicPr>
        <p:blipFill>
          <a:blip r:embed="rId3"/>
          <a:stretch>
            <a:fillRect/>
          </a:stretch>
        </p:blipFill>
        <p:spPr>
          <a:xfrm>
            <a:off x="5449824" y="3182112"/>
            <a:ext cx="182880" cy="182880"/>
          </a:xfrm>
          <a:prstGeom prst="rect">
            <a:avLst/>
          </a:prstGeom>
        </p:spPr>
      </p:pic>
      <p:sp>
        <p:nvSpPr>
          <p:cNvPr id="27" name="Text 22"/>
          <p:cNvSpPr/>
          <p:nvPr/>
        </p:nvSpPr>
        <p:spPr>
          <a:xfrm>
            <a:off x="5852160" y="3108960"/>
            <a:ext cx="5534863"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That readability is the product</a:t>
            </a:r>
            <a:endParaRPr lang="en-US" sz="1350" dirty="0"/>
          </a:p>
        </p:txBody>
      </p:sp>
      <p:sp>
        <p:nvSpPr>
          <p:cNvPr id="28" name="Text 23"/>
          <p:cNvSpPr/>
          <p:nvPr/>
        </p:nvSpPr>
        <p:spPr>
          <a:xfrm>
            <a:off x="5852160" y="3440521"/>
            <a:ext cx="5534863" cy="217079"/>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For a regulated process, an agent that can show its work is worth more than one that is slightly more accurate.</a:t>
            </a:r>
            <a:endParaRPr lang="en-US" sz="1100" dirty="0"/>
          </a:p>
        </p:txBody>
      </p:sp>
      <p:sp>
        <p:nvSpPr>
          <p:cNvPr id="29" name="Shape 24"/>
          <p:cNvSpPr/>
          <p:nvPr/>
        </p:nvSpPr>
        <p:spPr>
          <a:xfrm>
            <a:off x="5120640" y="3913632"/>
            <a:ext cx="6504127" cy="1005840"/>
          </a:xfrm>
          <a:prstGeom prst="roundRect">
            <a:avLst>
              <a:gd name="adj" fmla="val 8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30" name="Shape 25"/>
          <p:cNvSpPr/>
          <p:nvPr/>
        </p:nvSpPr>
        <p:spPr>
          <a:xfrm>
            <a:off x="5358384" y="4133088"/>
            <a:ext cx="365760" cy="365760"/>
          </a:xfrm>
          <a:prstGeom prst="ellipse">
            <a:avLst/>
          </a:prstGeom>
          <a:solidFill>
            <a:srgbClr val="F5A524"/>
          </a:solidFill>
          <a:ln w="12700">
            <a:solidFill>
              <a:srgbClr val="F5A524"/>
            </a:solidFill>
            <a:prstDash val="solid"/>
          </a:ln>
        </p:spPr>
      </p:sp>
      <p:pic>
        <p:nvPicPr>
          <p:cNvPr id="31" name="Image 3" descr="preencoded.png">    </p:cNvPr>
          <p:cNvPicPr>
            <a:picLocks noChangeAspect="1"/>
          </p:cNvPicPr>
          <p:nvPr/>
        </p:nvPicPr>
        <p:blipFill>
          <a:blip r:embed="rId4"/>
          <a:stretch>
            <a:fillRect/>
          </a:stretch>
        </p:blipFill>
        <p:spPr>
          <a:xfrm>
            <a:off x="5449824" y="4224528"/>
            <a:ext cx="182880" cy="182880"/>
          </a:xfrm>
          <a:prstGeom prst="rect">
            <a:avLst/>
          </a:prstGeom>
        </p:spPr>
      </p:pic>
      <p:sp>
        <p:nvSpPr>
          <p:cNvPr id="32" name="Text 26"/>
          <p:cNvSpPr/>
          <p:nvPr/>
        </p:nvSpPr>
        <p:spPr>
          <a:xfrm>
            <a:off x="5852160" y="4151376"/>
            <a:ext cx="5534863"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And it is fragile</a:t>
            </a:r>
            <a:endParaRPr lang="en-US" sz="1350" dirty="0"/>
          </a:p>
        </p:txBody>
      </p:sp>
      <p:sp>
        <p:nvSpPr>
          <p:cNvPr id="33" name="Text 27"/>
          <p:cNvSpPr/>
          <p:nvPr/>
        </p:nvSpPr>
        <p:spPr>
          <a:xfrm>
            <a:off x="5852160" y="4482937"/>
            <a:ext cx="5534863" cy="253655"/>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It depends on the model formatting its lines correctly. Ramble once and your parser breaks. That is the trade.</a:t>
            </a:r>
            <a:endParaRPr lang="en-US" sz="1100" dirty="0"/>
          </a:p>
        </p:txBody>
      </p:sp>
      <p:sp>
        <p:nvSpPr>
          <p:cNvPr id="34" name="Shape 28"/>
          <p:cNvSpPr/>
          <p:nvPr/>
        </p:nvSpPr>
        <p:spPr>
          <a:xfrm>
            <a:off x="566928" y="5138928"/>
            <a:ext cx="11057839" cy="822960"/>
          </a:xfrm>
          <a:prstGeom prst="roundRect">
            <a:avLst>
              <a:gd name="adj" fmla="val 10000"/>
            </a:avLst>
          </a:prstGeom>
          <a:solidFill>
            <a:srgbClr val="FFF4E0"/>
          </a:solidFill>
          <a:ln w="12700">
            <a:solidFill>
              <a:srgbClr val="F3DCB0"/>
            </a:solidFill>
            <a:prstDash val="solid"/>
          </a:ln>
        </p:spPr>
      </p:sp>
      <p:sp>
        <p:nvSpPr>
          <p:cNvPr id="35" name="Shape 29"/>
          <p:cNvSpPr/>
          <p:nvPr/>
        </p:nvSpPr>
        <p:spPr>
          <a:xfrm>
            <a:off x="841248" y="5358384"/>
            <a:ext cx="384048" cy="384048"/>
          </a:xfrm>
          <a:prstGeom prst="ellipse">
            <a:avLst/>
          </a:prstGeom>
          <a:solidFill>
            <a:srgbClr val="F5A524"/>
          </a:solidFill>
          <a:ln w="12700">
            <a:solidFill>
              <a:srgbClr val="F5A524"/>
            </a:solidFill>
            <a:prstDash val="solid"/>
          </a:ln>
        </p:spPr>
      </p:sp>
      <p:pic>
        <p:nvPicPr>
          <p:cNvPr id="36" name="Image 4" descr="preencoded.png">    </p:cNvPr>
          <p:cNvPicPr>
            <a:picLocks noChangeAspect="1"/>
          </p:cNvPicPr>
          <p:nvPr/>
        </p:nvPicPr>
        <p:blipFill>
          <a:blip r:embed="rId5"/>
          <a:stretch>
            <a:fillRect/>
          </a:stretch>
        </p:blipFill>
        <p:spPr>
          <a:xfrm>
            <a:off x="937260" y="5454396"/>
            <a:ext cx="192024" cy="192024"/>
          </a:xfrm>
          <a:prstGeom prst="rect">
            <a:avLst/>
          </a:prstGeom>
        </p:spPr>
      </p:pic>
      <p:sp>
        <p:nvSpPr>
          <p:cNvPr id="37" name="Text 30"/>
          <p:cNvSpPr/>
          <p:nvPr/>
        </p:nvSpPr>
        <p:spPr>
          <a:xfrm>
            <a:off x="1371600" y="5193792"/>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ReAct is the difference between an employee who hands you an answer and one who shows you their working. Both can be wrong; only one can be checked.</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Two different things, not two names for one thing</a:t>
            </a:r>
            <a:endParaRPr lang="en-US" sz="3000" dirty="0"/>
          </a:p>
        </p:txBody>
      </p:sp>
      <p:sp>
        <p:nvSpPr>
          <p:cNvPr id="4" name="Shape 2"/>
          <p:cNvSpPr/>
          <p:nvPr/>
        </p:nvSpPr>
        <p:spPr>
          <a:xfrm>
            <a:off x="3986784" y="1700784"/>
            <a:ext cx="3764128" cy="658368"/>
          </a:xfrm>
          <a:prstGeom prst="roundRect">
            <a:avLst>
              <a:gd name="adj" fmla="val 11111"/>
            </a:avLst>
          </a:prstGeom>
          <a:solidFill>
            <a:srgbClr val="FFF4E0"/>
          </a:solidFill>
          <a:ln w="12700">
            <a:solidFill>
              <a:srgbClr val="F3DCB0"/>
            </a:solidFill>
            <a:prstDash val="solid"/>
          </a:ln>
        </p:spPr>
      </p:sp>
      <p:sp>
        <p:nvSpPr>
          <p:cNvPr id="5" name="Text 3"/>
          <p:cNvSpPr/>
          <p:nvPr/>
        </p:nvSpPr>
        <p:spPr>
          <a:xfrm>
            <a:off x="4078224" y="1737360"/>
            <a:ext cx="3581248" cy="585216"/>
          </a:xfrm>
          <a:prstGeom prst="rect">
            <a:avLst/>
          </a:prstGeom>
          <a:noFill/>
          <a:ln/>
        </p:spPr>
        <p:txBody>
          <a:bodyPr wrap="square" lIns="0" tIns="0" rIns="0" bIns="0" rtlCol="0" anchor="ctr"/>
          <a:lstStyle/>
          <a:p>
            <a:pPr algn="ctr" indent="0" marL="0">
              <a:lnSpc>
                <a:spcPct val="105000"/>
              </a:lnSpc>
              <a:buNone/>
            </a:pPr>
            <a:r>
              <a:rPr lang="en-US" sz="1400" b="1" dirty="0">
                <a:solidFill>
                  <a:srgbClr val="E08700"/>
                </a:solidFill>
                <a:latin typeface="Calibri" pitchFamily="34" charset="0"/>
                <a:ea typeface="Calibri" pitchFamily="34" charset="-122"/>
                <a:cs typeface="Calibri" pitchFamily="34" charset="-120"/>
              </a:rPr>
              <a:t>ReAct</a:t>
            </a:r>
            <a:endParaRPr lang="en-US" sz="1400" dirty="0"/>
          </a:p>
          <a:p>
            <a:pPr algn="ctr" indent="0" marL="0">
              <a:lnSpc>
                <a:spcPct val="105000"/>
              </a:lnSpc>
              <a:buNone/>
            </a:pPr>
            <a:r>
              <a:rPr lang="en-US" sz="1000" i="1" dirty="0">
                <a:solidFill>
                  <a:srgbClr val="6E6B8A"/>
                </a:solidFill>
                <a:latin typeface="Calibri" pitchFamily="34" charset="0"/>
                <a:ea typeface="Calibri" pitchFamily="34" charset="-122"/>
                <a:cs typeface="Calibri" pitchFamily="34" charset="-120"/>
              </a:rPr>
              <a:t>a prompting pattern</a:t>
            </a:r>
            <a:endParaRPr lang="en-US" sz="1400" dirty="0"/>
          </a:p>
        </p:txBody>
      </p:sp>
      <p:sp>
        <p:nvSpPr>
          <p:cNvPr id="6" name="Shape 4"/>
          <p:cNvSpPr/>
          <p:nvPr/>
        </p:nvSpPr>
        <p:spPr>
          <a:xfrm>
            <a:off x="7824064" y="1700784"/>
            <a:ext cx="3764128" cy="658368"/>
          </a:xfrm>
          <a:prstGeom prst="roundRect">
            <a:avLst>
              <a:gd name="adj" fmla="val 11111"/>
            </a:avLst>
          </a:prstGeom>
          <a:solidFill>
            <a:srgbClr val="EEEDFE"/>
          </a:solidFill>
          <a:ln w="12700">
            <a:solidFill>
              <a:srgbClr val="8E82F5"/>
            </a:solidFill>
            <a:prstDash val="solid"/>
          </a:ln>
        </p:spPr>
      </p:sp>
      <p:sp>
        <p:nvSpPr>
          <p:cNvPr id="7" name="Text 5"/>
          <p:cNvSpPr/>
          <p:nvPr/>
        </p:nvSpPr>
        <p:spPr>
          <a:xfrm>
            <a:off x="7915504" y="1737360"/>
            <a:ext cx="3581248" cy="585216"/>
          </a:xfrm>
          <a:prstGeom prst="rect">
            <a:avLst/>
          </a:prstGeom>
          <a:noFill/>
          <a:ln/>
        </p:spPr>
        <p:txBody>
          <a:bodyPr wrap="square" lIns="0" tIns="0" rIns="0" bIns="0" rtlCol="0" anchor="ctr"/>
          <a:lstStyle/>
          <a:p>
            <a:pPr algn="ctr" indent="0" marL="0">
              <a:lnSpc>
                <a:spcPct val="105000"/>
              </a:lnSpc>
              <a:buNone/>
            </a:pPr>
            <a:r>
              <a:rPr lang="en-US" sz="1400" b="1" dirty="0">
                <a:solidFill>
                  <a:srgbClr val="5B4BE8"/>
                </a:solidFill>
                <a:latin typeface="Calibri" pitchFamily="34" charset="0"/>
                <a:ea typeface="Calibri" pitchFamily="34" charset="-122"/>
                <a:cs typeface="Calibri" pitchFamily="34" charset="-120"/>
              </a:rPr>
              <a:t>The official tool-calling loop</a:t>
            </a:r>
            <a:endParaRPr lang="en-US" sz="1400" dirty="0"/>
          </a:p>
          <a:p>
            <a:pPr algn="ctr" indent="0" marL="0">
              <a:lnSpc>
                <a:spcPct val="105000"/>
              </a:lnSpc>
              <a:buNone/>
            </a:pPr>
            <a:r>
              <a:rPr lang="en-US" sz="1000" i="1" dirty="0">
                <a:solidFill>
                  <a:srgbClr val="6E6B8A"/>
                </a:solidFill>
                <a:latin typeface="Calibri" pitchFamily="34" charset="0"/>
                <a:ea typeface="Calibri" pitchFamily="34" charset="-122"/>
                <a:cs typeface="Calibri" pitchFamily="34" charset="-120"/>
              </a:rPr>
              <a:t>an API feature</a:t>
            </a:r>
            <a:endParaRPr lang="en-US" sz="1400" dirty="0"/>
          </a:p>
        </p:txBody>
      </p:sp>
      <p:sp>
        <p:nvSpPr>
          <p:cNvPr id="8" name="Shape 6"/>
          <p:cNvSpPr/>
          <p:nvPr/>
        </p:nvSpPr>
        <p:spPr>
          <a:xfrm>
            <a:off x="566928" y="2450592"/>
            <a:ext cx="11057839" cy="493776"/>
          </a:xfrm>
          <a:prstGeom prst="roundRect">
            <a:avLst>
              <a:gd name="adj" fmla="val 9259"/>
            </a:avLst>
          </a:prstGeom>
          <a:solidFill>
            <a:srgbClr val="F5F6FC"/>
          </a:solidFill>
          <a:ln w="12700">
            <a:solidFill>
              <a:srgbClr val="F5F6FC"/>
            </a:solidFill>
            <a:prstDash val="solid"/>
          </a:ln>
        </p:spPr>
      </p:sp>
      <p:sp>
        <p:nvSpPr>
          <p:cNvPr id="9" name="Text 7"/>
          <p:cNvSpPr/>
          <p:nvPr/>
        </p:nvSpPr>
        <p:spPr>
          <a:xfrm>
            <a:off x="713232" y="2450592"/>
            <a:ext cx="3017520" cy="493776"/>
          </a:xfrm>
          <a:prstGeom prst="rect">
            <a:avLst/>
          </a:prstGeom>
          <a:noFill/>
          <a:ln/>
        </p:spPr>
        <p:txBody>
          <a:bodyPr wrap="square" lIns="0" tIns="0" rIns="0" bIns="0" rtlCol="0" anchor="ctr"/>
          <a:lstStyle/>
          <a:p>
            <a:pPr indent="0" marL="0">
              <a:buNone/>
            </a:pPr>
            <a:r>
              <a:rPr lang="en-US" sz="1150" b="1" dirty="0">
                <a:solidFill>
                  <a:srgbClr val="3B3760"/>
                </a:solidFill>
                <a:latin typeface="Calibri" pitchFamily="34" charset="0"/>
                <a:ea typeface="Calibri" pitchFamily="34" charset="-122"/>
                <a:cs typeface="Calibri" pitchFamily="34" charset="-120"/>
              </a:rPr>
              <a:t>How it asks for a tool</a:t>
            </a:r>
            <a:endParaRPr lang="en-US" sz="1150" dirty="0"/>
          </a:p>
        </p:txBody>
      </p:sp>
      <p:sp>
        <p:nvSpPr>
          <p:cNvPr id="10" name="Text 8"/>
          <p:cNvSpPr/>
          <p:nvPr/>
        </p:nvSpPr>
        <p:spPr>
          <a:xfrm>
            <a:off x="4041648" y="2450592"/>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A line of text: Action: get_weather</a:t>
            </a:r>
            <a:endParaRPr lang="en-US" sz="1150" dirty="0"/>
          </a:p>
        </p:txBody>
      </p:sp>
      <p:sp>
        <p:nvSpPr>
          <p:cNvPr id="11" name="Text 9"/>
          <p:cNvSpPr/>
          <p:nvPr/>
        </p:nvSpPr>
        <p:spPr>
          <a:xfrm>
            <a:off x="7915504" y="2450592"/>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A structured field: finish_reason == tool_calls</a:t>
            </a:r>
            <a:endParaRPr lang="en-US" sz="1150" dirty="0"/>
          </a:p>
        </p:txBody>
      </p:sp>
      <p:sp>
        <p:nvSpPr>
          <p:cNvPr id="12" name="Text 10"/>
          <p:cNvSpPr/>
          <p:nvPr/>
        </p:nvSpPr>
        <p:spPr>
          <a:xfrm>
            <a:off x="713232" y="2980944"/>
            <a:ext cx="3017520" cy="493776"/>
          </a:xfrm>
          <a:prstGeom prst="rect">
            <a:avLst/>
          </a:prstGeom>
          <a:noFill/>
          <a:ln/>
        </p:spPr>
        <p:txBody>
          <a:bodyPr wrap="square" lIns="0" tIns="0" rIns="0" bIns="0" rtlCol="0" anchor="ctr"/>
          <a:lstStyle/>
          <a:p>
            <a:pPr indent="0" marL="0">
              <a:buNone/>
            </a:pPr>
            <a:r>
              <a:rPr lang="en-US" sz="1150" b="1" dirty="0">
                <a:solidFill>
                  <a:srgbClr val="3B3760"/>
                </a:solidFill>
                <a:latin typeface="Calibri" pitchFamily="34" charset="0"/>
                <a:ea typeface="Calibri" pitchFamily="34" charset="-122"/>
                <a:cs typeface="Calibri" pitchFamily="34" charset="-120"/>
              </a:rPr>
              <a:t>How you detect it</a:t>
            </a:r>
            <a:endParaRPr lang="en-US" sz="1150" dirty="0"/>
          </a:p>
        </p:txBody>
      </p:sp>
      <p:sp>
        <p:nvSpPr>
          <p:cNvPr id="13" name="Text 11"/>
          <p:cNvSpPr/>
          <p:nvPr/>
        </p:nvSpPr>
        <p:spPr>
          <a:xfrm>
            <a:off x="4041648" y="2980944"/>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You walk the lines and parse them</a:t>
            </a:r>
            <a:endParaRPr lang="en-US" sz="1150" dirty="0"/>
          </a:p>
        </p:txBody>
      </p:sp>
      <p:sp>
        <p:nvSpPr>
          <p:cNvPr id="14" name="Text 12"/>
          <p:cNvSpPr/>
          <p:nvPr/>
        </p:nvSpPr>
        <p:spPr>
          <a:xfrm>
            <a:off x="7915504" y="2980944"/>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You read one field on the response</a:t>
            </a:r>
            <a:endParaRPr lang="en-US" sz="1150" dirty="0"/>
          </a:p>
        </p:txBody>
      </p:sp>
      <p:sp>
        <p:nvSpPr>
          <p:cNvPr id="15" name="Shape 13"/>
          <p:cNvSpPr/>
          <p:nvPr/>
        </p:nvSpPr>
        <p:spPr>
          <a:xfrm>
            <a:off x="566928" y="3511296"/>
            <a:ext cx="11057839" cy="493776"/>
          </a:xfrm>
          <a:prstGeom prst="roundRect">
            <a:avLst>
              <a:gd name="adj" fmla="val 9259"/>
            </a:avLst>
          </a:prstGeom>
          <a:solidFill>
            <a:srgbClr val="F5F6FC"/>
          </a:solidFill>
          <a:ln w="12700">
            <a:solidFill>
              <a:srgbClr val="F5F6FC"/>
            </a:solidFill>
            <a:prstDash val="solid"/>
          </a:ln>
        </p:spPr>
      </p:sp>
      <p:sp>
        <p:nvSpPr>
          <p:cNvPr id="16" name="Text 14"/>
          <p:cNvSpPr/>
          <p:nvPr/>
        </p:nvSpPr>
        <p:spPr>
          <a:xfrm>
            <a:off x="713232" y="3511296"/>
            <a:ext cx="3017520" cy="493776"/>
          </a:xfrm>
          <a:prstGeom prst="rect">
            <a:avLst/>
          </a:prstGeom>
          <a:noFill/>
          <a:ln/>
        </p:spPr>
        <p:txBody>
          <a:bodyPr wrap="square" lIns="0" tIns="0" rIns="0" bIns="0" rtlCol="0" anchor="ctr"/>
          <a:lstStyle/>
          <a:p>
            <a:pPr indent="0" marL="0">
              <a:buNone/>
            </a:pPr>
            <a:r>
              <a:rPr lang="en-US" sz="1150" b="1" dirty="0">
                <a:solidFill>
                  <a:srgbClr val="3B3760"/>
                </a:solidFill>
                <a:latin typeface="Calibri" pitchFamily="34" charset="0"/>
                <a:ea typeface="Calibri" pitchFamily="34" charset="-122"/>
                <a:cs typeface="Calibri" pitchFamily="34" charset="-120"/>
              </a:rPr>
              <a:t>Is the reasoning visible?</a:t>
            </a:r>
            <a:endParaRPr lang="en-US" sz="1150" dirty="0"/>
          </a:p>
        </p:txBody>
      </p:sp>
      <p:sp>
        <p:nvSpPr>
          <p:cNvPr id="17" name="Text 15"/>
          <p:cNvSpPr/>
          <p:nvPr/>
        </p:nvSpPr>
        <p:spPr>
          <a:xfrm>
            <a:off x="4041648" y="3511296"/>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Yes — every Thought: line is printed</a:t>
            </a:r>
            <a:endParaRPr lang="en-US" sz="1150" dirty="0"/>
          </a:p>
        </p:txBody>
      </p:sp>
      <p:sp>
        <p:nvSpPr>
          <p:cNvPr id="18" name="Text 16"/>
          <p:cNvSpPr/>
          <p:nvPr/>
        </p:nvSpPr>
        <p:spPr>
          <a:xfrm>
            <a:off x="7915504" y="3511296"/>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No — it happens inside the model</a:t>
            </a:r>
            <a:endParaRPr lang="en-US" sz="1150" dirty="0"/>
          </a:p>
        </p:txBody>
      </p:sp>
      <p:sp>
        <p:nvSpPr>
          <p:cNvPr id="19" name="Text 17"/>
          <p:cNvSpPr/>
          <p:nvPr/>
        </p:nvSpPr>
        <p:spPr>
          <a:xfrm>
            <a:off x="713232" y="4041648"/>
            <a:ext cx="3017520" cy="493776"/>
          </a:xfrm>
          <a:prstGeom prst="rect">
            <a:avLst/>
          </a:prstGeom>
          <a:noFill/>
          <a:ln/>
        </p:spPr>
        <p:txBody>
          <a:bodyPr wrap="square" lIns="0" tIns="0" rIns="0" bIns="0" rtlCol="0" anchor="ctr"/>
          <a:lstStyle/>
          <a:p>
            <a:pPr indent="0" marL="0">
              <a:buNone/>
            </a:pPr>
            <a:r>
              <a:rPr lang="en-US" sz="1150" b="1" dirty="0">
                <a:solidFill>
                  <a:srgbClr val="3B3760"/>
                </a:solidFill>
                <a:latin typeface="Calibri" pitchFamily="34" charset="0"/>
                <a:ea typeface="Calibri" pitchFamily="34" charset="-122"/>
                <a:cs typeface="Calibri" pitchFamily="34" charset="-120"/>
              </a:rPr>
              <a:t>Breaks if the model rambles?</a:t>
            </a:r>
            <a:endParaRPr lang="en-US" sz="1150" dirty="0"/>
          </a:p>
        </p:txBody>
      </p:sp>
      <p:sp>
        <p:nvSpPr>
          <p:cNvPr id="20" name="Text 18"/>
          <p:cNvSpPr/>
          <p:nvPr/>
        </p:nvSpPr>
        <p:spPr>
          <a:xfrm>
            <a:off x="4041648" y="4041648"/>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Yes</a:t>
            </a:r>
            <a:endParaRPr lang="en-US" sz="1150" dirty="0"/>
          </a:p>
        </p:txBody>
      </p:sp>
      <p:sp>
        <p:nvSpPr>
          <p:cNvPr id="21" name="Text 19"/>
          <p:cNvSpPr/>
          <p:nvPr/>
        </p:nvSpPr>
        <p:spPr>
          <a:xfrm>
            <a:off x="7915504" y="4041648"/>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No</a:t>
            </a:r>
            <a:endParaRPr lang="en-US" sz="1150" dirty="0"/>
          </a:p>
        </p:txBody>
      </p:sp>
      <p:sp>
        <p:nvSpPr>
          <p:cNvPr id="22" name="Shape 20"/>
          <p:cNvSpPr/>
          <p:nvPr/>
        </p:nvSpPr>
        <p:spPr>
          <a:xfrm>
            <a:off x="566928" y="4572000"/>
            <a:ext cx="11057839" cy="493776"/>
          </a:xfrm>
          <a:prstGeom prst="roundRect">
            <a:avLst>
              <a:gd name="adj" fmla="val 9259"/>
            </a:avLst>
          </a:prstGeom>
          <a:solidFill>
            <a:srgbClr val="F5F6FC"/>
          </a:solidFill>
          <a:ln w="12700">
            <a:solidFill>
              <a:srgbClr val="F5F6FC"/>
            </a:solidFill>
            <a:prstDash val="solid"/>
          </a:ln>
        </p:spPr>
      </p:sp>
      <p:sp>
        <p:nvSpPr>
          <p:cNvPr id="23" name="Text 21"/>
          <p:cNvSpPr/>
          <p:nvPr/>
        </p:nvSpPr>
        <p:spPr>
          <a:xfrm>
            <a:off x="713232" y="4572000"/>
            <a:ext cx="3017520" cy="493776"/>
          </a:xfrm>
          <a:prstGeom prst="rect">
            <a:avLst/>
          </a:prstGeom>
          <a:noFill/>
          <a:ln/>
        </p:spPr>
        <p:txBody>
          <a:bodyPr wrap="square" lIns="0" tIns="0" rIns="0" bIns="0" rtlCol="0" anchor="ctr"/>
          <a:lstStyle/>
          <a:p>
            <a:pPr indent="0" marL="0">
              <a:buNone/>
            </a:pPr>
            <a:r>
              <a:rPr lang="en-US" sz="1150" b="1" dirty="0">
                <a:solidFill>
                  <a:srgbClr val="3B3760"/>
                </a:solidFill>
                <a:latin typeface="Calibri" pitchFamily="34" charset="0"/>
                <a:ea typeface="Calibri" pitchFamily="34" charset="-122"/>
                <a:cs typeface="Calibri" pitchFamily="34" charset="-120"/>
              </a:rPr>
              <a:t>Works on any chat model?</a:t>
            </a:r>
            <a:endParaRPr lang="en-US" sz="1150" dirty="0"/>
          </a:p>
        </p:txBody>
      </p:sp>
      <p:sp>
        <p:nvSpPr>
          <p:cNvPr id="24" name="Text 22"/>
          <p:cNvSpPr/>
          <p:nvPr/>
        </p:nvSpPr>
        <p:spPr>
          <a:xfrm>
            <a:off x="4041648" y="4572000"/>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Yes, including local and open models</a:t>
            </a:r>
            <a:endParaRPr lang="en-US" sz="1150" dirty="0"/>
          </a:p>
        </p:txBody>
      </p:sp>
      <p:sp>
        <p:nvSpPr>
          <p:cNvPr id="25" name="Text 23"/>
          <p:cNvSpPr/>
          <p:nvPr/>
        </p:nvSpPr>
        <p:spPr>
          <a:xfrm>
            <a:off x="7915504" y="4572000"/>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Only where the provider offers tool calling</a:t>
            </a:r>
            <a:endParaRPr lang="en-US" sz="1150" dirty="0"/>
          </a:p>
        </p:txBody>
      </p:sp>
      <p:sp>
        <p:nvSpPr>
          <p:cNvPr id="26" name="Text 24"/>
          <p:cNvSpPr/>
          <p:nvPr/>
        </p:nvSpPr>
        <p:spPr>
          <a:xfrm>
            <a:off x="713232" y="5102352"/>
            <a:ext cx="3017520" cy="493776"/>
          </a:xfrm>
          <a:prstGeom prst="rect">
            <a:avLst/>
          </a:prstGeom>
          <a:noFill/>
          <a:ln/>
        </p:spPr>
        <p:txBody>
          <a:bodyPr wrap="square" lIns="0" tIns="0" rIns="0" bIns="0" rtlCol="0" anchor="ctr"/>
          <a:lstStyle/>
          <a:p>
            <a:pPr indent="0" marL="0">
              <a:buNone/>
            </a:pPr>
            <a:r>
              <a:rPr lang="en-US" sz="1150" b="1" dirty="0">
                <a:solidFill>
                  <a:srgbClr val="3B3760"/>
                </a:solidFill>
                <a:latin typeface="Calibri" pitchFamily="34" charset="0"/>
                <a:ea typeface="Calibri" pitchFamily="34" charset="-122"/>
                <a:cs typeface="Calibri" pitchFamily="34" charset="-120"/>
              </a:rPr>
              <a:t>What you will ship</a:t>
            </a:r>
            <a:endParaRPr lang="en-US" sz="1150" dirty="0"/>
          </a:p>
        </p:txBody>
      </p:sp>
      <p:sp>
        <p:nvSpPr>
          <p:cNvPr id="27" name="Text 25"/>
          <p:cNvSpPr/>
          <p:nvPr/>
        </p:nvSpPr>
        <p:spPr>
          <a:xfrm>
            <a:off x="4041648" y="5102352"/>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Rarely, on its own</a:t>
            </a:r>
            <a:endParaRPr lang="en-US" sz="1150" dirty="0"/>
          </a:p>
        </p:txBody>
      </p:sp>
      <p:sp>
        <p:nvSpPr>
          <p:cNvPr id="28" name="Text 26"/>
          <p:cNvSpPr/>
          <p:nvPr/>
        </p:nvSpPr>
        <p:spPr>
          <a:xfrm>
            <a:off x="7915504" y="5102352"/>
            <a:ext cx="3562960" cy="49377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Almost always</a:t>
            </a:r>
            <a:endParaRPr lang="en-US" sz="1150" dirty="0"/>
          </a:p>
        </p:txBody>
      </p:sp>
      <p:sp>
        <p:nvSpPr>
          <p:cNvPr id="29" name="Shape 27"/>
          <p:cNvSpPr/>
          <p:nvPr/>
        </p:nvSpPr>
        <p:spPr>
          <a:xfrm>
            <a:off x="566928" y="5705856"/>
            <a:ext cx="11057839" cy="713232"/>
          </a:xfrm>
          <a:prstGeom prst="roundRect">
            <a:avLst>
              <a:gd name="adj" fmla="val 11538"/>
            </a:avLst>
          </a:prstGeom>
          <a:solidFill>
            <a:srgbClr val="FFF4E0"/>
          </a:solidFill>
          <a:ln w="12700">
            <a:solidFill>
              <a:srgbClr val="F3DCB0"/>
            </a:solidFill>
            <a:prstDash val="solid"/>
          </a:ln>
        </p:spPr>
      </p:sp>
      <p:sp>
        <p:nvSpPr>
          <p:cNvPr id="30" name="Shape 28"/>
          <p:cNvSpPr/>
          <p:nvPr/>
        </p:nvSpPr>
        <p:spPr>
          <a:xfrm>
            <a:off x="841248" y="5870448"/>
            <a:ext cx="384048" cy="384048"/>
          </a:xfrm>
          <a:prstGeom prst="ellipse">
            <a:avLst/>
          </a:prstGeom>
          <a:solidFill>
            <a:srgbClr val="F5A524"/>
          </a:solidFill>
          <a:ln w="12700">
            <a:solidFill>
              <a:srgbClr val="F5A524"/>
            </a:solidFill>
            <a:prstDash val="solid"/>
          </a:ln>
        </p:spPr>
      </p:sp>
      <p:pic>
        <p:nvPicPr>
          <p:cNvPr id="31" name="Image 0" descr="preencoded.png">    </p:cNvPr>
          <p:cNvPicPr>
            <a:picLocks noChangeAspect="1"/>
          </p:cNvPicPr>
          <p:nvPr/>
        </p:nvPicPr>
        <p:blipFill>
          <a:blip r:embed="rId1"/>
          <a:stretch>
            <a:fillRect/>
          </a:stretch>
        </p:blipFill>
        <p:spPr>
          <a:xfrm>
            <a:off x="937260" y="5966460"/>
            <a:ext cx="192024" cy="192024"/>
          </a:xfrm>
          <a:prstGeom prst="rect">
            <a:avLst/>
          </a:prstGeom>
        </p:spPr>
      </p:pic>
      <p:sp>
        <p:nvSpPr>
          <p:cNvPr id="32" name="Text 29"/>
          <p:cNvSpPr/>
          <p:nvPr/>
        </p:nvSpPr>
        <p:spPr>
          <a:xfrm>
            <a:off x="1371600" y="5760720"/>
            <a:ext cx="9960559" cy="603504"/>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Most frameworks use the API feature under the hood, and still borrow ReAct's idea — think before you act — by putting it in the prompt.</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Choosing a model is not choosing the smartest one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In a loop, the same model is called five to fifty times. Reliability and cost compound; raw capability does not.</a:t>
            </a:r>
            <a:endParaRPr lang="en-US" sz="1400" dirty="0"/>
          </a:p>
        </p:txBody>
      </p:sp>
      <p:sp>
        <p:nvSpPr>
          <p:cNvPr id="5" name="Shape 3"/>
          <p:cNvSpPr/>
          <p:nvPr/>
        </p:nvSpPr>
        <p:spPr>
          <a:xfrm>
            <a:off x="566928" y="2450592"/>
            <a:ext cx="2586152" cy="2468880"/>
          </a:xfrm>
          <a:prstGeom prst="roundRect">
            <a:avLst>
              <a:gd name="adj" fmla="val 333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670048"/>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761488"/>
            <a:ext cx="182880" cy="182880"/>
          </a:xfrm>
          <a:prstGeom prst="rect">
            <a:avLst/>
          </a:prstGeom>
        </p:spPr>
      </p:pic>
      <p:sp>
        <p:nvSpPr>
          <p:cNvPr id="8" name="Text 5"/>
          <p:cNvSpPr/>
          <p:nvPr/>
        </p:nvSpPr>
        <p:spPr>
          <a:xfrm>
            <a:off x="1298448" y="266090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FIRST</a:t>
            </a:r>
            <a:endParaRPr lang="en-US" sz="850" dirty="0"/>
          </a:p>
        </p:txBody>
      </p:sp>
      <p:sp>
        <p:nvSpPr>
          <p:cNvPr id="9" name="Text 6"/>
          <p:cNvSpPr/>
          <p:nvPr/>
        </p:nvSpPr>
        <p:spPr>
          <a:xfrm>
            <a:off x="1298448" y="288036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Tool-calling reliability</a:t>
            </a:r>
            <a:endParaRPr lang="en-US" sz="1450" dirty="0"/>
          </a:p>
        </p:txBody>
      </p:sp>
      <p:sp>
        <p:nvSpPr>
          <p:cNvPr id="10" name="Text 7"/>
          <p:cNvSpPr/>
          <p:nvPr/>
        </p:nvSpPr>
        <p:spPr>
          <a:xfrm>
            <a:off x="1298448" y="3511662"/>
            <a:ext cx="1616888" cy="122493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Does it emit well-formed arguments, every time, under your schemas? A model that is right 95% of the time fails roughly one loop in three at six turns.</a:t>
            </a:r>
            <a:endParaRPr lang="en-US" sz="1100" dirty="0"/>
          </a:p>
        </p:txBody>
      </p:sp>
      <p:sp>
        <p:nvSpPr>
          <p:cNvPr id="11" name="Shape 8"/>
          <p:cNvSpPr/>
          <p:nvPr/>
        </p:nvSpPr>
        <p:spPr>
          <a:xfrm>
            <a:off x="3390824" y="2450592"/>
            <a:ext cx="2586152" cy="2468880"/>
          </a:xfrm>
          <a:prstGeom prst="roundRect">
            <a:avLst>
              <a:gd name="adj" fmla="val 333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3628568" y="2670048"/>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3720008" y="2761488"/>
            <a:ext cx="182880" cy="182880"/>
          </a:xfrm>
          <a:prstGeom prst="rect">
            <a:avLst/>
          </a:prstGeom>
        </p:spPr>
      </p:pic>
      <p:sp>
        <p:nvSpPr>
          <p:cNvPr id="14" name="Text 10"/>
          <p:cNvSpPr/>
          <p:nvPr/>
        </p:nvSpPr>
        <p:spPr>
          <a:xfrm>
            <a:off x="4122344" y="266090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SECOND</a:t>
            </a:r>
            <a:endParaRPr lang="en-US" sz="850" dirty="0"/>
          </a:p>
        </p:txBody>
      </p:sp>
      <p:sp>
        <p:nvSpPr>
          <p:cNvPr id="15" name="Text 11"/>
          <p:cNvSpPr/>
          <p:nvPr/>
        </p:nvSpPr>
        <p:spPr>
          <a:xfrm>
            <a:off x="4122344" y="288036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Cost per turn, not per call</a:t>
            </a:r>
            <a:endParaRPr lang="en-US" sz="1450" dirty="0"/>
          </a:p>
        </p:txBody>
      </p:sp>
      <p:sp>
        <p:nvSpPr>
          <p:cNvPr id="16" name="Text 12"/>
          <p:cNvSpPr/>
          <p:nvPr/>
        </p:nvSpPr>
        <p:spPr>
          <a:xfrm>
            <a:off x="4122344" y="3511662"/>
            <a:ext cx="1616888" cy="122493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Multiply by the turn cap, then by concurrent users. A cheaper model that needs one extra turn can still win.</a:t>
            </a:r>
            <a:endParaRPr lang="en-US" sz="1100" dirty="0"/>
          </a:p>
        </p:txBody>
      </p:sp>
      <p:sp>
        <p:nvSpPr>
          <p:cNvPr id="17" name="Shape 13"/>
          <p:cNvSpPr/>
          <p:nvPr/>
        </p:nvSpPr>
        <p:spPr>
          <a:xfrm>
            <a:off x="6214720" y="2450592"/>
            <a:ext cx="2586152" cy="2468880"/>
          </a:xfrm>
          <a:prstGeom prst="roundRect">
            <a:avLst>
              <a:gd name="adj" fmla="val 333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6452464" y="2670048"/>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6543904" y="2761488"/>
            <a:ext cx="182880" cy="182880"/>
          </a:xfrm>
          <a:prstGeom prst="rect">
            <a:avLst/>
          </a:prstGeom>
        </p:spPr>
      </p:pic>
      <p:sp>
        <p:nvSpPr>
          <p:cNvPr id="20" name="Text 15"/>
          <p:cNvSpPr/>
          <p:nvPr/>
        </p:nvSpPr>
        <p:spPr>
          <a:xfrm>
            <a:off x="6946240" y="266090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THIRD</a:t>
            </a:r>
            <a:endParaRPr lang="en-US" sz="850" dirty="0"/>
          </a:p>
        </p:txBody>
      </p:sp>
      <p:sp>
        <p:nvSpPr>
          <p:cNvPr id="21" name="Text 16"/>
          <p:cNvSpPr/>
          <p:nvPr/>
        </p:nvSpPr>
        <p:spPr>
          <a:xfrm>
            <a:off x="6946240" y="288036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Reasoning effort as a dial</a:t>
            </a:r>
            <a:endParaRPr lang="en-US" sz="1450" dirty="0"/>
          </a:p>
        </p:txBody>
      </p:sp>
      <p:sp>
        <p:nvSpPr>
          <p:cNvPr id="22" name="Text 17"/>
          <p:cNvSpPr/>
          <p:nvPr/>
        </p:nvSpPr>
        <p:spPr>
          <a:xfrm>
            <a:off x="6946240" y="3511662"/>
            <a:ext cx="1616888" cy="122493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Reasoning tokens are billed as output whether or not you see them. Turn the dial down for routing and extraction; up for genuinely hard planning.</a:t>
            </a:r>
            <a:endParaRPr lang="en-US" sz="1100" dirty="0"/>
          </a:p>
        </p:txBody>
      </p:sp>
      <p:sp>
        <p:nvSpPr>
          <p:cNvPr id="23" name="Shape 18"/>
          <p:cNvSpPr/>
          <p:nvPr/>
        </p:nvSpPr>
        <p:spPr>
          <a:xfrm>
            <a:off x="9038615" y="2450592"/>
            <a:ext cx="2586152" cy="2468880"/>
          </a:xfrm>
          <a:prstGeom prst="roundRect">
            <a:avLst>
              <a:gd name="adj" fmla="val 333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4" name="Shape 19"/>
          <p:cNvSpPr/>
          <p:nvPr/>
        </p:nvSpPr>
        <p:spPr>
          <a:xfrm>
            <a:off x="9276359" y="2670048"/>
            <a:ext cx="365760" cy="365760"/>
          </a:xfrm>
          <a:prstGeom prst="ellipse">
            <a:avLst/>
          </a:prstGeom>
          <a:solidFill>
            <a:srgbClr val="5B4BE8"/>
          </a:solidFill>
          <a:ln w="12700">
            <a:solidFill>
              <a:srgbClr val="5B4BE8"/>
            </a:solidFill>
            <a:prstDash val="solid"/>
          </a:ln>
        </p:spPr>
      </p:sp>
      <p:pic>
        <p:nvPicPr>
          <p:cNvPr id="25" name="Image 3" descr="preencoded.png">    </p:cNvPr>
          <p:cNvPicPr>
            <a:picLocks noChangeAspect="1"/>
          </p:cNvPicPr>
          <p:nvPr/>
        </p:nvPicPr>
        <p:blipFill>
          <a:blip r:embed="rId4"/>
          <a:stretch>
            <a:fillRect/>
          </a:stretch>
        </p:blipFill>
        <p:spPr>
          <a:xfrm>
            <a:off x="9367799" y="2761488"/>
            <a:ext cx="182880" cy="182880"/>
          </a:xfrm>
          <a:prstGeom prst="rect">
            <a:avLst/>
          </a:prstGeom>
        </p:spPr>
      </p:pic>
      <p:sp>
        <p:nvSpPr>
          <p:cNvPr id="26" name="Text 20"/>
          <p:cNvSpPr/>
          <p:nvPr/>
        </p:nvSpPr>
        <p:spPr>
          <a:xfrm>
            <a:off x="9770135" y="266090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FOURTH</a:t>
            </a:r>
            <a:endParaRPr lang="en-US" sz="850" dirty="0"/>
          </a:p>
        </p:txBody>
      </p:sp>
      <p:sp>
        <p:nvSpPr>
          <p:cNvPr id="27" name="Text 21"/>
          <p:cNvSpPr/>
          <p:nvPr/>
        </p:nvSpPr>
        <p:spPr>
          <a:xfrm>
            <a:off x="9770135" y="288036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Route, don't standardise</a:t>
            </a:r>
            <a:endParaRPr lang="en-US" sz="1450" dirty="0"/>
          </a:p>
        </p:txBody>
      </p:sp>
      <p:sp>
        <p:nvSpPr>
          <p:cNvPr id="28" name="Text 22"/>
          <p:cNvSpPr/>
          <p:nvPr/>
        </p:nvSpPr>
        <p:spPr>
          <a:xfrm>
            <a:off x="9770135" y="3511662"/>
            <a:ext cx="1616888" cy="122493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Small model for classification and dispatch, strong model for the hard turn. Module 15 measures whether that actually saved anything.</a:t>
            </a:r>
            <a:endParaRPr lang="en-US" sz="1100" dirty="0"/>
          </a:p>
        </p:txBody>
      </p:sp>
      <p:sp>
        <p:nvSpPr>
          <p:cNvPr id="29"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30" name="Shape 24"/>
          <p:cNvSpPr/>
          <p:nvPr/>
        </p:nvSpPr>
        <p:spPr>
          <a:xfrm>
            <a:off x="841248" y="5760720"/>
            <a:ext cx="384048" cy="384048"/>
          </a:xfrm>
          <a:prstGeom prst="ellipse">
            <a:avLst/>
          </a:prstGeom>
          <a:solidFill>
            <a:srgbClr val="F5A524"/>
          </a:solidFill>
          <a:ln w="12700">
            <a:solidFill>
              <a:srgbClr val="F5A524"/>
            </a:solidFill>
            <a:prstDash val="solid"/>
          </a:ln>
        </p:spPr>
      </p:sp>
      <p:pic>
        <p:nvPicPr>
          <p:cNvPr id="31" name="Image 4" descr="preencoded.png">    </p:cNvPr>
          <p:cNvPicPr>
            <a:picLocks noChangeAspect="1"/>
          </p:cNvPicPr>
          <p:nvPr/>
        </p:nvPicPr>
        <p:blipFill>
          <a:blip r:embed="rId5"/>
          <a:stretch>
            <a:fillRect/>
          </a:stretch>
        </p:blipFill>
        <p:spPr>
          <a:xfrm>
            <a:off x="937260" y="5856732"/>
            <a:ext cx="192024" cy="192024"/>
          </a:xfrm>
          <a:prstGeom prst="rect">
            <a:avLst/>
          </a:prstGeom>
        </p:spPr>
      </p:pic>
      <p:sp>
        <p:nvSpPr>
          <p:cNvPr id="32" name="Text 25"/>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Picking the biggest model for every step is like sending a partner to every meeting. It works, and it is the fastest way to make the project uneconomic.</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A22"/>
        </a:solidFill>
      </p:bgPr>
    </p:bg>
    <p:spTree>
      <p:nvGrpSpPr>
        <p:cNvPr id="1" name=""/>
        <p:cNvGrpSpPr/>
        <p:nvPr/>
      </p:nvGrpSpPr>
      <p:grpSpPr>
        <a:xfrm>
          <a:off x="0" y="0"/>
          <a:ext cx="0" cy="0"/>
          <a:chOff x="0" y="0"/>
          <a:chExt cx="0" cy="0"/>
        </a:xfrm>
      </p:grpSpPr>
      <p:pic>
        <p:nvPicPr>
          <p:cNvPr id="2" name="Image 0" descr="bg quo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03 · THE REACT LOOP</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indent="0" marL="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indent="0" marL="0">
              <a:lnSpc>
                <a:spcPct val="116000"/>
              </a:lnSpc>
              <a:buNone/>
            </a:pPr>
            <a:r>
              <a:rPr lang="en-US" sz="3400" b="1" dirty="0">
                <a:solidFill>
                  <a:srgbClr val="FFFFFF"/>
                </a:solidFill>
                <a:latin typeface="Cambria" pitchFamily="34" charset="0"/>
                <a:ea typeface="Cambria" pitchFamily="34" charset="-122"/>
                <a:cs typeface="Cambria" pitchFamily="34" charset="-120"/>
              </a:rPr>
              <a:t>Every line of thought is billed</a:t>
            </a:r>
            <a:endParaRPr lang="en-US" sz="3400" dirty="0"/>
          </a:p>
          <a:p>
            <a:pPr indent="0" marL="0">
              <a:lnSpc>
                <a:spcPct val="116000"/>
              </a:lnSpc>
              <a:buNone/>
            </a:pPr>
            <a:r>
              <a:rPr lang="en-US" sz="3400" b="1" dirty="0">
                <a:solidFill>
                  <a:srgbClr val="FFFFFF"/>
                </a:solidFill>
                <a:latin typeface="Cambria" pitchFamily="34" charset="0"/>
                <a:ea typeface="Cambria" pitchFamily="34" charset="-122"/>
                <a:cs typeface="Cambria" pitchFamily="34" charset="-120"/>
              </a:rPr>
              <a:t>as output. A chatty plan is a bill,</a:t>
            </a:r>
            <a:endParaRPr lang="en-US" sz="3400" dirty="0"/>
          </a:p>
          <a:p>
            <a:pPr indent="0" marL="0">
              <a:lnSpc>
                <a:spcPct val="116000"/>
              </a:lnSpc>
              <a:buNone/>
            </a:pPr>
            <a:r>
              <a:rPr lang="en-US" sz="3400" b="1" dirty="0">
                <a:solidFill>
                  <a:srgbClr val="FFFFFF"/>
                </a:solidFill>
                <a:latin typeface="Cambria" pitchFamily="34" charset="0"/>
                <a:ea typeface="Cambria" pitchFamily="34" charset="-122"/>
                <a:cs typeface="Cambria" pitchFamily="34" charset="-120"/>
              </a:rPr>
              <a:t>not a virtue.</a:t>
            </a:r>
            <a:endParaRPr lang="en-US" sz="34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indent="0" marL="0">
              <a:lnSpc>
                <a:spcPct val="120000"/>
              </a:lnSpc>
              <a:buNone/>
            </a:pPr>
            <a:r>
              <a:rPr lang="en-US" sz="1450" dirty="0">
                <a:solidFill>
                  <a:srgbClr val="B9B4E0"/>
                </a:solidFill>
                <a:latin typeface="Calibri" pitchFamily="34" charset="0"/>
                <a:ea typeface="Calibri" pitchFamily="34" charset="-122"/>
                <a:cs typeface="Calibri" pitchFamily="34" charset="-120"/>
              </a:rPr>
              <a:t>Same usage object from module 00. Read the token count and the dollar line out loud after the demo — it changes how people prompt.</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Three things that go wrong, and all three are yours</a:t>
            </a:r>
            <a:endParaRPr lang="en-US" sz="2800" dirty="0"/>
          </a:p>
        </p:txBody>
      </p:sp>
      <p:sp>
        <p:nvSpPr>
          <p:cNvPr id="4" name="Shape 2"/>
          <p:cNvSpPr/>
          <p:nvPr/>
        </p:nvSpPr>
        <p:spPr>
          <a:xfrm>
            <a:off x="566928" y="2378720"/>
            <a:ext cx="3527450" cy="2521184"/>
          </a:xfrm>
          <a:prstGeom prst="roundRect">
            <a:avLst>
              <a:gd name="adj" fmla="val 326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598176"/>
            <a:ext cx="365760" cy="365760"/>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896112" y="2689616"/>
            <a:ext cx="182880" cy="182880"/>
          </a:xfrm>
          <a:prstGeom prst="rect">
            <a:avLst/>
          </a:prstGeom>
        </p:spPr>
      </p:pic>
      <p:sp>
        <p:nvSpPr>
          <p:cNvPr id="7" name="Text 4"/>
          <p:cNvSpPr/>
          <p:nvPr/>
        </p:nvSpPr>
        <p:spPr>
          <a:xfrm>
            <a:off x="1298448" y="2589032"/>
            <a:ext cx="2558186"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FAILURE 1</a:t>
            </a:r>
            <a:endParaRPr lang="en-US" sz="850" dirty="0"/>
          </a:p>
        </p:txBody>
      </p:sp>
      <p:sp>
        <p:nvSpPr>
          <p:cNvPr id="8" name="Text 5"/>
          <p:cNvSpPr/>
          <p:nvPr/>
        </p:nvSpPr>
        <p:spPr>
          <a:xfrm>
            <a:off x="1298448" y="280848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No turn cap</a:t>
            </a:r>
            <a:endParaRPr lang="en-US" sz="1500" dirty="0"/>
          </a:p>
        </p:txBody>
      </p:sp>
      <p:sp>
        <p:nvSpPr>
          <p:cNvPr id="9" name="Text 6"/>
          <p:cNvSpPr/>
          <p:nvPr/>
        </p:nvSpPr>
        <p:spPr>
          <a:xfrm>
            <a:off x="1298448" y="3164190"/>
            <a:ext cx="2558186" cy="1552834"/>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The loop has no natural end. Without a maximum it will call tools until the model gets bored or your invoice does. Cap it, and log when the cap is hit — that log is a bug report.</a:t>
            </a:r>
            <a:endParaRPr lang="en-US" sz="1200" dirty="0"/>
          </a:p>
        </p:txBody>
      </p:sp>
      <p:sp>
        <p:nvSpPr>
          <p:cNvPr id="10" name="Shape 7"/>
          <p:cNvSpPr/>
          <p:nvPr/>
        </p:nvSpPr>
        <p:spPr>
          <a:xfrm>
            <a:off x="4332122" y="2378720"/>
            <a:ext cx="3527450" cy="2521184"/>
          </a:xfrm>
          <a:prstGeom prst="roundRect">
            <a:avLst>
              <a:gd name="adj" fmla="val 326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598176"/>
            <a:ext cx="365760" cy="365760"/>
          </a:xfrm>
          <a:prstGeom prst="ellipse">
            <a:avLst/>
          </a:prstGeom>
          <a:solidFill>
            <a:srgbClr val="D93A3F"/>
          </a:solidFill>
          <a:ln w="12700">
            <a:solidFill>
              <a:srgbClr val="D93A3F"/>
            </a:solidFill>
            <a:prstDash val="solid"/>
          </a:ln>
        </p:spPr>
      </p:sp>
      <p:pic>
        <p:nvPicPr>
          <p:cNvPr id="12" name="Image 1" descr="preencoded.png">    </p:cNvPr>
          <p:cNvPicPr>
            <a:picLocks noChangeAspect="1"/>
          </p:cNvPicPr>
          <p:nvPr/>
        </p:nvPicPr>
        <p:blipFill>
          <a:blip r:embed="rId2"/>
          <a:stretch>
            <a:fillRect/>
          </a:stretch>
        </p:blipFill>
        <p:spPr>
          <a:xfrm>
            <a:off x="4661306" y="2689616"/>
            <a:ext cx="182880" cy="182880"/>
          </a:xfrm>
          <a:prstGeom prst="rect">
            <a:avLst/>
          </a:prstGeom>
        </p:spPr>
      </p:pic>
      <p:sp>
        <p:nvSpPr>
          <p:cNvPr id="13" name="Text 9"/>
          <p:cNvSpPr/>
          <p:nvPr/>
        </p:nvSpPr>
        <p:spPr>
          <a:xfrm>
            <a:off x="5063642" y="2589032"/>
            <a:ext cx="2558186"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FAILURE 2</a:t>
            </a:r>
            <a:endParaRPr lang="en-US" sz="850" dirty="0"/>
          </a:p>
        </p:txBody>
      </p:sp>
      <p:sp>
        <p:nvSpPr>
          <p:cNvPr id="14" name="Text 10"/>
          <p:cNvSpPr/>
          <p:nvPr/>
        </p:nvSpPr>
        <p:spPr>
          <a:xfrm>
            <a:off x="5063642" y="2808488"/>
            <a:ext cx="2558186" cy="638251"/>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Dropping the message list</a:t>
            </a:r>
            <a:endParaRPr lang="en-US" sz="1500" dirty="0"/>
          </a:p>
        </p:txBody>
      </p:sp>
      <p:sp>
        <p:nvSpPr>
          <p:cNvPr id="15" name="Text 11"/>
          <p:cNvSpPr/>
          <p:nvPr/>
        </p:nvSpPr>
        <p:spPr>
          <a:xfrm>
            <a:off x="5063642" y="3455883"/>
            <a:ext cx="2558186" cy="1261140"/>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Forget to append the tool result and the model asks for the same thing again, forever. Most infinite loops people show me are this, not a model problem.</a:t>
            </a:r>
            <a:endParaRPr lang="en-US" sz="1200" dirty="0"/>
          </a:p>
        </p:txBody>
      </p:sp>
      <p:sp>
        <p:nvSpPr>
          <p:cNvPr id="16" name="Shape 12"/>
          <p:cNvSpPr/>
          <p:nvPr/>
        </p:nvSpPr>
        <p:spPr>
          <a:xfrm>
            <a:off x="8097317" y="2378720"/>
            <a:ext cx="3527450" cy="2521184"/>
          </a:xfrm>
          <a:prstGeom prst="roundRect">
            <a:avLst>
              <a:gd name="adj" fmla="val 3264"/>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598176"/>
            <a:ext cx="365760" cy="365760"/>
          </a:xfrm>
          <a:prstGeom prst="ellipse">
            <a:avLst/>
          </a:prstGeom>
          <a:solidFill>
            <a:srgbClr val="D93A3F"/>
          </a:solidFill>
          <a:ln w="12700">
            <a:solidFill>
              <a:srgbClr val="D93A3F"/>
            </a:solidFill>
            <a:prstDash val="solid"/>
          </a:ln>
        </p:spPr>
      </p:sp>
      <p:pic>
        <p:nvPicPr>
          <p:cNvPr id="18" name="Image 2" descr="preencoded.png">    </p:cNvPr>
          <p:cNvPicPr>
            <a:picLocks noChangeAspect="1"/>
          </p:cNvPicPr>
          <p:nvPr/>
        </p:nvPicPr>
        <p:blipFill>
          <a:blip r:embed="rId3"/>
          <a:stretch>
            <a:fillRect/>
          </a:stretch>
        </p:blipFill>
        <p:spPr>
          <a:xfrm>
            <a:off x="8426501" y="2689616"/>
            <a:ext cx="182880" cy="182880"/>
          </a:xfrm>
          <a:prstGeom prst="rect">
            <a:avLst/>
          </a:prstGeom>
        </p:spPr>
      </p:pic>
      <p:sp>
        <p:nvSpPr>
          <p:cNvPr id="19" name="Text 14"/>
          <p:cNvSpPr/>
          <p:nvPr/>
        </p:nvSpPr>
        <p:spPr>
          <a:xfrm>
            <a:off x="8828837" y="2589032"/>
            <a:ext cx="2558186"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FAILURE 3</a:t>
            </a:r>
            <a:endParaRPr lang="en-US" sz="850" dirty="0"/>
          </a:p>
        </p:txBody>
      </p:sp>
      <p:sp>
        <p:nvSpPr>
          <p:cNvPr id="20" name="Text 15"/>
          <p:cNvSpPr/>
          <p:nvPr/>
        </p:nvSpPr>
        <p:spPr>
          <a:xfrm>
            <a:off x="8828837" y="2808488"/>
            <a:ext cx="2558186" cy="638251"/>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Raising when a tool fails</a:t>
            </a:r>
            <a:endParaRPr lang="en-US" sz="1500" dirty="0"/>
          </a:p>
        </p:txBody>
      </p:sp>
      <p:sp>
        <p:nvSpPr>
          <p:cNvPr id="21" name="Text 16"/>
          <p:cNvSpPr/>
          <p:nvPr/>
        </p:nvSpPr>
        <p:spPr>
          <a:xfrm>
            <a:off x="8828837" y="3455883"/>
            <a:ext cx="2558186" cy="1261140"/>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A tool that throws kills the run. Send the error back as an observation instead and the model can try something else — which is the entire point of having a loop.</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sp>
      <p:pic>
        <p:nvPicPr>
          <p:cNvPr id="24" name="Image 3" descr="preencoded.png">    </p:cNvPr>
          <p:cNvPicPr>
            <a:picLocks noChangeAspect="1"/>
          </p:cNvPicPr>
          <p:nvPr/>
        </p:nvPicPr>
        <p:blipFill>
          <a:blip r:embed="rId4"/>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None of these are AI failures. They are a missing limit, a missing append, and a missing try/except — the same bugs as any other retry loop.</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A22"/>
        </a:solidFill>
      </p:bgPr>
    </p:bg>
    <p:spTree>
      <p:nvGrpSpPr>
        <p:cNvPr id="1" name=""/>
        <p:cNvGrpSpPr/>
        <p:nvPr/>
      </p:nvGrpSpPr>
      <p:grpSpPr>
        <a:xfrm>
          <a:off x="0" y="0"/>
          <a:ext cx="0" cy="0"/>
          <a:chOff x="0" y="0"/>
          <a:chExt cx="0" cy="0"/>
        </a:xfrm>
      </p:grpSpPr>
      <p:pic>
        <p:nvPicPr>
          <p:cNvPr id="2" name="Image 0" descr="bg quo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03 · LANDING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indent="0" marL="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indent="0" marL="0">
              <a:lnSpc>
                <a:spcPct val="116000"/>
              </a:lnSpc>
              <a:buNone/>
            </a:pPr>
            <a:r>
              <a:rPr lang="en-US" sz="3400" b="1" dirty="0">
                <a:solidFill>
                  <a:srgbClr val="FFFFFF"/>
                </a:solidFill>
                <a:latin typeface="Cambria" pitchFamily="34" charset="0"/>
                <a:ea typeface="Cambria" pitchFamily="34" charset="-122"/>
                <a:cs typeface="Cambria" pitchFamily="34" charset="-120"/>
              </a:rPr>
              <a:t>You have now written the loop</a:t>
            </a:r>
            <a:endParaRPr lang="en-US" sz="3400" dirty="0"/>
          </a:p>
          <a:p>
            <a:pPr indent="0" marL="0">
              <a:lnSpc>
                <a:spcPct val="116000"/>
              </a:lnSpc>
              <a:buNone/>
            </a:pPr>
            <a:r>
              <a:rPr lang="en-US" sz="3400" b="1" dirty="0">
                <a:solidFill>
                  <a:srgbClr val="FFFFFF"/>
                </a:solidFill>
                <a:latin typeface="Cambria" pitchFamily="34" charset="0"/>
                <a:ea typeface="Cambria" pitchFamily="34" charset="-122"/>
                <a:cs typeface="Cambria" pitchFamily="34" charset="-120"/>
              </a:rPr>
              <a:t>by hand. Everything from here</a:t>
            </a:r>
            <a:endParaRPr lang="en-US" sz="3400" dirty="0"/>
          </a:p>
          <a:p>
            <a:pPr indent="0" marL="0">
              <a:lnSpc>
                <a:spcPct val="116000"/>
              </a:lnSpc>
              <a:buNone/>
            </a:pPr>
            <a:r>
              <a:rPr lang="en-US" sz="3400" b="1" dirty="0">
                <a:solidFill>
                  <a:srgbClr val="FFFFFF"/>
                </a:solidFill>
                <a:latin typeface="Cambria" pitchFamily="34" charset="0"/>
                <a:ea typeface="Cambria" pitchFamily="34" charset="-122"/>
                <a:cs typeface="Cambria" pitchFamily="34" charset="-120"/>
              </a:rPr>
              <a:t>is a delta against it.</a:t>
            </a:r>
            <a:endParaRPr lang="en-US" sz="34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indent="0" marL="0">
              <a:lnSpc>
                <a:spcPct val="120000"/>
              </a:lnSpc>
              <a:buNone/>
            </a:pPr>
            <a:r>
              <a:rPr lang="en-US" sz="1450" dirty="0">
                <a:solidFill>
                  <a:srgbClr val="B9B4E0"/>
                </a:solidFill>
                <a:latin typeface="Calibri" pitchFamily="34" charset="0"/>
                <a:ea typeface="Calibri" pitchFamily="34" charset="-122"/>
                <a:cs typeface="Calibri" pitchFamily="34" charset="-120"/>
              </a:rPr>
              <a:t>Frameworks, protocols, retrieval, delegation, governance — every remaining module changes exactly one part of the thing you just built.</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04</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04</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 coding agent, then break it</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The same loop, five real tools, one folder — and two failures on purpose.</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04 · CODING AGENT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Five tools, and a wall around all of them</a:t>
            </a:r>
            <a:endParaRPr lang="en-US" sz="3000" dirty="0"/>
          </a:p>
        </p:txBody>
      </p:sp>
      <p:sp>
        <p:nvSpPr>
          <p:cNvPr id="4" name="Shape 2"/>
          <p:cNvSpPr/>
          <p:nvPr/>
        </p:nvSpPr>
        <p:spPr>
          <a:xfrm>
            <a:off x="566928" y="1920240"/>
            <a:ext cx="2050633" cy="1316736"/>
          </a:xfrm>
          <a:prstGeom prst="roundRect">
            <a:avLst>
              <a:gd name="adj" fmla="val 6944"/>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5" name="Shape 3"/>
          <p:cNvSpPr/>
          <p:nvPr/>
        </p:nvSpPr>
        <p:spPr>
          <a:xfrm>
            <a:off x="1400221" y="2084832"/>
            <a:ext cx="384048" cy="384048"/>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1496233" y="2180844"/>
            <a:ext cx="192024" cy="192024"/>
          </a:xfrm>
          <a:prstGeom prst="rect">
            <a:avLst/>
          </a:prstGeom>
        </p:spPr>
      </p:pic>
      <p:sp>
        <p:nvSpPr>
          <p:cNvPr id="7" name="Text 4"/>
          <p:cNvSpPr/>
          <p:nvPr/>
        </p:nvSpPr>
        <p:spPr>
          <a:xfrm>
            <a:off x="658368" y="2560320"/>
            <a:ext cx="1867753" cy="256032"/>
          </a:xfrm>
          <a:prstGeom prst="rect">
            <a:avLst/>
          </a:prstGeom>
          <a:noFill/>
          <a:ln/>
        </p:spPr>
        <p:txBody>
          <a:bodyPr wrap="square" lIns="0" tIns="0" rIns="0" bIns="0" rtlCol="0" anchor="ctr"/>
          <a:lstStyle/>
          <a:p>
            <a:pPr algn="ctr" indent="0" marL="0">
              <a:buNone/>
            </a:pPr>
            <a:r>
              <a:rPr lang="en-US" sz="1200" b="1" dirty="0">
                <a:solidFill>
                  <a:srgbClr val="141235"/>
                </a:solidFill>
                <a:latin typeface="Courier New" pitchFamily="34" charset="0"/>
                <a:ea typeface="Courier New" pitchFamily="34" charset="-122"/>
                <a:cs typeface="Courier New" pitchFamily="34" charset="-120"/>
              </a:rPr>
              <a:t>list_dir</a:t>
            </a:r>
            <a:endParaRPr lang="en-US" sz="1200" dirty="0"/>
          </a:p>
        </p:txBody>
      </p:sp>
      <p:sp>
        <p:nvSpPr>
          <p:cNvPr id="8" name="Text 5"/>
          <p:cNvSpPr/>
          <p:nvPr/>
        </p:nvSpPr>
        <p:spPr>
          <a:xfrm>
            <a:off x="658368" y="2834640"/>
            <a:ext cx="1867753" cy="274320"/>
          </a:xfrm>
          <a:prstGeom prst="rect">
            <a:avLst/>
          </a:prstGeom>
          <a:noFill/>
          <a:ln/>
        </p:spPr>
        <p:txBody>
          <a:bodyPr wrap="square" lIns="0" tIns="0" rIns="0" bIns="0" rtlCol="0" anchor="ctr"/>
          <a:lstStyle/>
          <a:p>
            <a:pPr algn="ctr" indent="0" marL="0">
              <a:buNone/>
            </a:pPr>
            <a:r>
              <a:rPr lang="en-US" sz="1000" dirty="0">
                <a:solidFill>
                  <a:srgbClr val="6E6B8A"/>
                </a:solidFill>
                <a:latin typeface="Calibri" pitchFamily="34" charset="0"/>
                <a:ea typeface="Calibri" pitchFamily="34" charset="-122"/>
                <a:cs typeface="Calibri" pitchFamily="34" charset="-120"/>
              </a:rPr>
              <a:t>See what exists</a:t>
            </a:r>
            <a:endParaRPr lang="en-US" sz="1000" dirty="0"/>
          </a:p>
        </p:txBody>
      </p:sp>
      <p:sp>
        <p:nvSpPr>
          <p:cNvPr id="9" name="Shape 6"/>
          <p:cNvSpPr/>
          <p:nvPr/>
        </p:nvSpPr>
        <p:spPr>
          <a:xfrm>
            <a:off x="2818729" y="1920240"/>
            <a:ext cx="2050633" cy="1316736"/>
          </a:xfrm>
          <a:prstGeom prst="roundRect">
            <a:avLst>
              <a:gd name="adj" fmla="val 6944"/>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0" name="Shape 7"/>
          <p:cNvSpPr/>
          <p:nvPr/>
        </p:nvSpPr>
        <p:spPr>
          <a:xfrm>
            <a:off x="3652022" y="2084832"/>
            <a:ext cx="384048" cy="384048"/>
          </a:xfrm>
          <a:prstGeom prst="ellipse">
            <a:avLst/>
          </a:prstGeom>
          <a:solidFill>
            <a:srgbClr val="5B4BE8"/>
          </a:solidFill>
          <a:ln w="12700">
            <a:solidFill>
              <a:srgbClr val="5B4BE8"/>
            </a:solidFill>
            <a:prstDash val="solid"/>
          </a:ln>
        </p:spPr>
      </p:sp>
      <p:pic>
        <p:nvPicPr>
          <p:cNvPr id="11" name="Image 1" descr="preencoded.png">    </p:cNvPr>
          <p:cNvPicPr>
            <a:picLocks noChangeAspect="1"/>
          </p:cNvPicPr>
          <p:nvPr/>
        </p:nvPicPr>
        <p:blipFill>
          <a:blip r:embed="rId2"/>
          <a:stretch>
            <a:fillRect/>
          </a:stretch>
        </p:blipFill>
        <p:spPr>
          <a:xfrm>
            <a:off x="3748034" y="2180844"/>
            <a:ext cx="192024" cy="192024"/>
          </a:xfrm>
          <a:prstGeom prst="rect">
            <a:avLst/>
          </a:prstGeom>
        </p:spPr>
      </p:pic>
      <p:sp>
        <p:nvSpPr>
          <p:cNvPr id="12" name="Text 8"/>
          <p:cNvSpPr/>
          <p:nvPr/>
        </p:nvSpPr>
        <p:spPr>
          <a:xfrm>
            <a:off x="2910169" y="2560320"/>
            <a:ext cx="1867753" cy="256032"/>
          </a:xfrm>
          <a:prstGeom prst="rect">
            <a:avLst/>
          </a:prstGeom>
          <a:noFill/>
          <a:ln/>
        </p:spPr>
        <p:txBody>
          <a:bodyPr wrap="square" lIns="0" tIns="0" rIns="0" bIns="0" rtlCol="0" anchor="ctr"/>
          <a:lstStyle/>
          <a:p>
            <a:pPr algn="ctr" indent="0" marL="0">
              <a:buNone/>
            </a:pPr>
            <a:r>
              <a:rPr lang="en-US" sz="1200" b="1" dirty="0">
                <a:solidFill>
                  <a:srgbClr val="141235"/>
                </a:solidFill>
                <a:latin typeface="Courier New" pitchFamily="34" charset="0"/>
                <a:ea typeface="Courier New" pitchFamily="34" charset="-122"/>
                <a:cs typeface="Courier New" pitchFamily="34" charset="-120"/>
              </a:rPr>
              <a:t>read_file</a:t>
            </a:r>
            <a:endParaRPr lang="en-US" sz="1200" dirty="0"/>
          </a:p>
        </p:txBody>
      </p:sp>
      <p:sp>
        <p:nvSpPr>
          <p:cNvPr id="13" name="Text 9"/>
          <p:cNvSpPr/>
          <p:nvPr/>
        </p:nvSpPr>
        <p:spPr>
          <a:xfrm>
            <a:off x="2910169" y="2834640"/>
            <a:ext cx="1867753" cy="274320"/>
          </a:xfrm>
          <a:prstGeom prst="rect">
            <a:avLst/>
          </a:prstGeom>
          <a:noFill/>
          <a:ln/>
        </p:spPr>
        <p:txBody>
          <a:bodyPr wrap="square" lIns="0" tIns="0" rIns="0" bIns="0" rtlCol="0" anchor="ctr"/>
          <a:lstStyle/>
          <a:p>
            <a:pPr algn="ctr" indent="0" marL="0">
              <a:buNone/>
            </a:pPr>
            <a:r>
              <a:rPr lang="en-US" sz="1000" dirty="0">
                <a:solidFill>
                  <a:srgbClr val="6E6B8A"/>
                </a:solidFill>
                <a:latin typeface="Calibri" pitchFamily="34" charset="0"/>
                <a:ea typeface="Calibri" pitchFamily="34" charset="-122"/>
                <a:cs typeface="Calibri" pitchFamily="34" charset="-120"/>
              </a:rPr>
              <a:t>Read one file</a:t>
            </a:r>
            <a:endParaRPr lang="en-US" sz="1000" dirty="0"/>
          </a:p>
        </p:txBody>
      </p:sp>
      <p:sp>
        <p:nvSpPr>
          <p:cNvPr id="14" name="Shape 10"/>
          <p:cNvSpPr/>
          <p:nvPr/>
        </p:nvSpPr>
        <p:spPr>
          <a:xfrm>
            <a:off x="5070531" y="1920240"/>
            <a:ext cx="2050633" cy="1316736"/>
          </a:xfrm>
          <a:prstGeom prst="roundRect">
            <a:avLst>
              <a:gd name="adj" fmla="val 6944"/>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5" name="Shape 11"/>
          <p:cNvSpPr/>
          <p:nvPr/>
        </p:nvSpPr>
        <p:spPr>
          <a:xfrm>
            <a:off x="5903824" y="2084832"/>
            <a:ext cx="384048" cy="384048"/>
          </a:xfrm>
          <a:prstGeom prst="ellipse">
            <a:avLst/>
          </a:prstGeom>
          <a:solidFill>
            <a:srgbClr val="5B4BE8"/>
          </a:solidFill>
          <a:ln w="12700">
            <a:solidFill>
              <a:srgbClr val="5B4BE8"/>
            </a:solidFill>
            <a:prstDash val="solid"/>
          </a:ln>
        </p:spPr>
      </p:sp>
      <p:pic>
        <p:nvPicPr>
          <p:cNvPr id="16" name="Image 2" descr="preencoded.png">    </p:cNvPr>
          <p:cNvPicPr>
            <a:picLocks noChangeAspect="1"/>
          </p:cNvPicPr>
          <p:nvPr/>
        </p:nvPicPr>
        <p:blipFill>
          <a:blip r:embed="rId3"/>
          <a:stretch>
            <a:fillRect/>
          </a:stretch>
        </p:blipFill>
        <p:spPr>
          <a:xfrm>
            <a:off x="5999836" y="2180844"/>
            <a:ext cx="192024" cy="192024"/>
          </a:xfrm>
          <a:prstGeom prst="rect">
            <a:avLst/>
          </a:prstGeom>
        </p:spPr>
      </p:pic>
      <p:sp>
        <p:nvSpPr>
          <p:cNvPr id="17" name="Text 12"/>
          <p:cNvSpPr/>
          <p:nvPr/>
        </p:nvSpPr>
        <p:spPr>
          <a:xfrm>
            <a:off x="5161971" y="2560320"/>
            <a:ext cx="1867753" cy="256032"/>
          </a:xfrm>
          <a:prstGeom prst="rect">
            <a:avLst/>
          </a:prstGeom>
          <a:noFill/>
          <a:ln/>
        </p:spPr>
        <p:txBody>
          <a:bodyPr wrap="square" lIns="0" tIns="0" rIns="0" bIns="0" rtlCol="0" anchor="ctr"/>
          <a:lstStyle/>
          <a:p>
            <a:pPr algn="ctr" indent="0" marL="0">
              <a:buNone/>
            </a:pPr>
            <a:r>
              <a:rPr lang="en-US" sz="1200" b="1" dirty="0">
                <a:solidFill>
                  <a:srgbClr val="141235"/>
                </a:solidFill>
                <a:latin typeface="Courier New" pitchFamily="34" charset="0"/>
                <a:ea typeface="Courier New" pitchFamily="34" charset="-122"/>
                <a:cs typeface="Courier New" pitchFamily="34" charset="-120"/>
              </a:rPr>
              <a:t>grep</a:t>
            </a:r>
            <a:endParaRPr lang="en-US" sz="1200" dirty="0"/>
          </a:p>
        </p:txBody>
      </p:sp>
      <p:sp>
        <p:nvSpPr>
          <p:cNvPr id="18" name="Text 13"/>
          <p:cNvSpPr/>
          <p:nvPr/>
        </p:nvSpPr>
        <p:spPr>
          <a:xfrm>
            <a:off x="5161971" y="2834640"/>
            <a:ext cx="1867753" cy="274320"/>
          </a:xfrm>
          <a:prstGeom prst="rect">
            <a:avLst/>
          </a:prstGeom>
          <a:noFill/>
          <a:ln/>
        </p:spPr>
        <p:txBody>
          <a:bodyPr wrap="square" lIns="0" tIns="0" rIns="0" bIns="0" rtlCol="0" anchor="ctr"/>
          <a:lstStyle/>
          <a:p>
            <a:pPr algn="ctr" indent="0" marL="0">
              <a:buNone/>
            </a:pPr>
            <a:r>
              <a:rPr lang="en-US" sz="1000" dirty="0">
                <a:solidFill>
                  <a:srgbClr val="6E6B8A"/>
                </a:solidFill>
                <a:latin typeface="Calibri" pitchFamily="34" charset="0"/>
                <a:ea typeface="Calibri" pitchFamily="34" charset="-122"/>
                <a:cs typeface="Calibri" pitchFamily="34" charset="-120"/>
              </a:rPr>
              <a:t>Find the symbol</a:t>
            </a:r>
            <a:endParaRPr lang="en-US" sz="1000" dirty="0"/>
          </a:p>
        </p:txBody>
      </p:sp>
      <p:sp>
        <p:nvSpPr>
          <p:cNvPr id="19" name="Shape 14"/>
          <p:cNvSpPr/>
          <p:nvPr/>
        </p:nvSpPr>
        <p:spPr>
          <a:xfrm>
            <a:off x="7322332" y="1920240"/>
            <a:ext cx="2050633" cy="1316736"/>
          </a:xfrm>
          <a:prstGeom prst="roundRect">
            <a:avLst>
              <a:gd name="adj" fmla="val 6944"/>
            </a:avLst>
          </a:prstGeom>
          <a:solidFill>
            <a:srgbClr val="FFF4E0"/>
          </a:solidFill>
          <a:ln w="12700">
            <a:solidFill>
              <a:srgbClr val="F0D5A6"/>
            </a:solidFill>
            <a:prstDash val="solid"/>
          </a:ln>
          <a:effectLst>
            <a:outerShdw sx="100000" sy="100000" kx="0" ky="0" algn="bl" rotWithShape="0" blurRad="101600" dist="508" dir="5400000">
              <a:srgbClr val="1B1A4A">
                <a:alpha val="7000"/>
              </a:srgbClr>
            </a:outerShdw>
          </a:effectLst>
        </p:spPr>
      </p:sp>
      <p:sp>
        <p:nvSpPr>
          <p:cNvPr id="20" name="Shape 15"/>
          <p:cNvSpPr/>
          <p:nvPr/>
        </p:nvSpPr>
        <p:spPr>
          <a:xfrm>
            <a:off x="8155625" y="2084832"/>
            <a:ext cx="384048" cy="384048"/>
          </a:xfrm>
          <a:prstGeom prst="ellipse">
            <a:avLst/>
          </a:prstGeom>
          <a:solidFill>
            <a:srgbClr val="F5A524"/>
          </a:solidFill>
          <a:ln w="12700">
            <a:solidFill>
              <a:srgbClr val="F5A524"/>
            </a:solidFill>
            <a:prstDash val="solid"/>
          </a:ln>
        </p:spPr>
      </p:sp>
      <p:pic>
        <p:nvPicPr>
          <p:cNvPr id="21" name="Image 3" descr="preencoded.png">    </p:cNvPr>
          <p:cNvPicPr>
            <a:picLocks noChangeAspect="1"/>
          </p:cNvPicPr>
          <p:nvPr/>
        </p:nvPicPr>
        <p:blipFill>
          <a:blip r:embed="rId4"/>
          <a:stretch>
            <a:fillRect/>
          </a:stretch>
        </p:blipFill>
        <p:spPr>
          <a:xfrm>
            <a:off x="8251637" y="2180844"/>
            <a:ext cx="192024" cy="192024"/>
          </a:xfrm>
          <a:prstGeom prst="rect">
            <a:avLst/>
          </a:prstGeom>
        </p:spPr>
      </p:pic>
      <p:sp>
        <p:nvSpPr>
          <p:cNvPr id="22" name="Text 16"/>
          <p:cNvSpPr/>
          <p:nvPr/>
        </p:nvSpPr>
        <p:spPr>
          <a:xfrm>
            <a:off x="7413772" y="2560320"/>
            <a:ext cx="1867753" cy="256032"/>
          </a:xfrm>
          <a:prstGeom prst="rect">
            <a:avLst/>
          </a:prstGeom>
          <a:noFill/>
          <a:ln/>
        </p:spPr>
        <p:txBody>
          <a:bodyPr wrap="square" lIns="0" tIns="0" rIns="0" bIns="0" rtlCol="0" anchor="ctr"/>
          <a:lstStyle/>
          <a:p>
            <a:pPr algn="ctr" indent="0" marL="0">
              <a:buNone/>
            </a:pPr>
            <a:r>
              <a:rPr lang="en-US" sz="1200" b="1" dirty="0">
                <a:solidFill>
                  <a:srgbClr val="141235"/>
                </a:solidFill>
                <a:latin typeface="Courier New" pitchFamily="34" charset="0"/>
                <a:ea typeface="Courier New" pitchFamily="34" charset="-122"/>
                <a:cs typeface="Courier New" pitchFamily="34" charset="-120"/>
              </a:rPr>
              <a:t>write_file</a:t>
            </a:r>
            <a:endParaRPr lang="en-US" sz="1200" dirty="0"/>
          </a:p>
        </p:txBody>
      </p:sp>
      <p:sp>
        <p:nvSpPr>
          <p:cNvPr id="23" name="Text 17"/>
          <p:cNvSpPr/>
          <p:nvPr/>
        </p:nvSpPr>
        <p:spPr>
          <a:xfrm>
            <a:off x="7413772" y="2834640"/>
            <a:ext cx="1867753" cy="274320"/>
          </a:xfrm>
          <a:prstGeom prst="rect">
            <a:avLst/>
          </a:prstGeom>
          <a:noFill/>
          <a:ln/>
        </p:spPr>
        <p:txBody>
          <a:bodyPr wrap="square" lIns="0" tIns="0" rIns="0" bIns="0" rtlCol="0" anchor="ctr"/>
          <a:lstStyle/>
          <a:p>
            <a:pPr algn="ctr" indent="0" marL="0">
              <a:buNone/>
            </a:pPr>
            <a:r>
              <a:rPr lang="en-US" sz="1000" dirty="0">
                <a:solidFill>
                  <a:srgbClr val="6E6B8A"/>
                </a:solidFill>
                <a:latin typeface="Calibri" pitchFamily="34" charset="0"/>
                <a:ea typeface="Calibri" pitchFamily="34" charset="-122"/>
                <a:cs typeface="Calibri" pitchFamily="34" charset="-120"/>
              </a:rPr>
              <a:t>Change one file</a:t>
            </a:r>
            <a:endParaRPr lang="en-US" sz="1000" dirty="0"/>
          </a:p>
        </p:txBody>
      </p:sp>
      <p:sp>
        <p:nvSpPr>
          <p:cNvPr id="24" name="Shape 18"/>
          <p:cNvSpPr/>
          <p:nvPr/>
        </p:nvSpPr>
        <p:spPr>
          <a:xfrm>
            <a:off x="9574134" y="1920240"/>
            <a:ext cx="2050633" cy="1316736"/>
          </a:xfrm>
          <a:prstGeom prst="roundRect">
            <a:avLst>
              <a:gd name="adj" fmla="val 6944"/>
            </a:avLst>
          </a:prstGeom>
          <a:solidFill>
            <a:srgbClr val="FFF4E0"/>
          </a:solidFill>
          <a:ln w="12700">
            <a:solidFill>
              <a:srgbClr val="F0D5A6"/>
            </a:solidFill>
            <a:prstDash val="solid"/>
          </a:ln>
          <a:effectLst>
            <a:outerShdw sx="100000" sy="100000" kx="0" ky="0" algn="bl" rotWithShape="0" blurRad="101600" dist="508" dir="5400000">
              <a:srgbClr val="1B1A4A">
                <a:alpha val="7000"/>
              </a:srgbClr>
            </a:outerShdw>
          </a:effectLst>
        </p:spPr>
      </p:sp>
      <p:sp>
        <p:nvSpPr>
          <p:cNvPr id="25" name="Shape 19"/>
          <p:cNvSpPr/>
          <p:nvPr/>
        </p:nvSpPr>
        <p:spPr>
          <a:xfrm>
            <a:off x="10407426" y="2084832"/>
            <a:ext cx="384048" cy="384048"/>
          </a:xfrm>
          <a:prstGeom prst="ellipse">
            <a:avLst/>
          </a:prstGeom>
          <a:solidFill>
            <a:srgbClr val="F5A524"/>
          </a:solidFill>
          <a:ln w="12700">
            <a:solidFill>
              <a:srgbClr val="F5A524"/>
            </a:solidFill>
            <a:prstDash val="solid"/>
          </a:ln>
        </p:spPr>
      </p:sp>
      <p:pic>
        <p:nvPicPr>
          <p:cNvPr id="26" name="Image 4" descr="preencoded.png">    </p:cNvPr>
          <p:cNvPicPr>
            <a:picLocks noChangeAspect="1"/>
          </p:cNvPicPr>
          <p:nvPr/>
        </p:nvPicPr>
        <p:blipFill>
          <a:blip r:embed="rId5"/>
          <a:stretch>
            <a:fillRect/>
          </a:stretch>
        </p:blipFill>
        <p:spPr>
          <a:xfrm>
            <a:off x="10503438" y="2180844"/>
            <a:ext cx="192024" cy="192024"/>
          </a:xfrm>
          <a:prstGeom prst="rect">
            <a:avLst/>
          </a:prstGeom>
        </p:spPr>
      </p:pic>
      <p:sp>
        <p:nvSpPr>
          <p:cNvPr id="27" name="Text 20"/>
          <p:cNvSpPr/>
          <p:nvPr/>
        </p:nvSpPr>
        <p:spPr>
          <a:xfrm>
            <a:off x="9665574" y="2560320"/>
            <a:ext cx="1867753" cy="256032"/>
          </a:xfrm>
          <a:prstGeom prst="rect">
            <a:avLst/>
          </a:prstGeom>
          <a:noFill/>
          <a:ln/>
        </p:spPr>
        <p:txBody>
          <a:bodyPr wrap="square" lIns="0" tIns="0" rIns="0" bIns="0" rtlCol="0" anchor="ctr"/>
          <a:lstStyle/>
          <a:p>
            <a:pPr algn="ctr" indent="0" marL="0">
              <a:buNone/>
            </a:pPr>
            <a:r>
              <a:rPr lang="en-US" sz="1200" b="1" dirty="0">
                <a:solidFill>
                  <a:srgbClr val="141235"/>
                </a:solidFill>
                <a:latin typeface="Courier New" pitchFamily="34" charset="0"/>
                <a:ea typeface="Courier New" pitchFamily="34" charset="-122"/>
                <a:cs typeface="Courier New" pitchFamily="34" charset="-120"/>
              </a:rPr>
              <a:t>run_tests</a:t>
            </a:r>
            <a:endParaRPr lang="en-US" sz="1200" dirty="0"/>
          </a:p>
        </p:txBody>
      </p:sp>
      <p:sp>
        <p:nvSpPr>
          <p:cNvPr id="28" name="Text 21"/>
          <p:cNvSpPr/>
          <p:nvPr/>
        </p:nvSpPr>
        <p:spPr>
          <a:xfrm>
            <a:off x="9665574" y="2834640"/>
            <a:ext cx="1867753" cy="274320"/>
          </a:xfrm>
          <a:prstGeom prst="rect">
            <a:avLst/>
          </a:prstGeom>
          <a:noFill/>
          <a:ln/>
        </p:spPr>
        <p:txBody>
          <a:bodyPr wrap="square" lIns="0" tIns="0" rIns="0" bIns="0" rtlCol="0" anchor="ctr"/>
          <a:lstStyle/>
          <a:p>
            <a:pPr algn="ctr" indent="0" marL="0">
              <a:buNone/>
            </a:pPr>
            <a:r>
              <a:rPr lang="en-US" sz="1000" dirty="0">
                <a:solidFill>
                  <a:srgbClr val="6E6B8A"/>
                </a:solidFill>
                <a:latin typeface="Calibri" pitchFamily="34" charset="0"/>
                <a:ea typeface="Calibri" pitchFamily="34" charset="-122"/>
                <a:cs typeface="Calibri" pitchFamily="34" charset="-120"/>
              </a:rPr>
              <a:t>Find out if it worked</a:t>
            </a:r>
            <a:endParaRPr lang="en-US" sz="1000" dirty="0"/>
          </a:p>
        </p:txBody>
      </p:sp>
      <p:sp>
        <p:nvSpPr>
          <p:cNvPr id="29" name="Text 22"/>
          <p:cNvSpPr/>
          <p:nvPr/>
        </p:nvSpPr>
        <p:spPr>
          <a:xfrm>
            <a:off x="566928" y="3310128"/>
            <a:ext cx="6554236" cy="219456"/>
          </a:xfrm>
          <a:prstGeom prst="rect">
            <a:avLst/>
          </a:prstGeom>
          <a:noFill/>
          <a:ln/>
        </p:spPr>
        <p:txBody>
          <a:bodyPr wrap="square" lIns="0" tIns="0" rIns="0" bIns="0" rtlCol="0" anchor="ctr"/>
          <a:lstStyle/>
          <a:p>
            <a:pPr algn="ctr" indent="0" marL="0">
              <a:buNone/>
            </a:pPr>
            <a:r>
              <a:rPr lang="en-US" sz="900" b="1" spc="160" kern="0" dirty="0">
                <a:solidFill>
                  <a:srgbClr val="5B4BE8"/>
                </a:solidFill>
                <a:latin typeface="Calibri" pitchFamily="34" charset="0"/>
                <a:ea typeface="Calibri" pitchFamily="34" charset="-122"/>
                <a:cs typeface="Calibri" pitchFamily="34" charset="-120"/>
              </a:rPr>
              <a:t>READ ONLY</a:t>
            </a:r>
            <a:endParaRPr lang="en-US" sz="900" dirty="0"/>
          </a:p>
        </p:txBody>
      </p:sp>
      <p:sp>
        <p:nvSpPr>
          <p:cNvPr id="30" name="Text 23"/>
          <p:cNvSpPr/>
          <p:nvPr/>
        </p:nvSpPr>
        <p:spPr>
          <a:xfrm>
            <a:off x="7322332" y="3310128"/>
            <a:ext cx="4302435" cy="219456"/>
          </a:xfrm>
          <a:prstGeom prst="rect">
            <a:avLst/>
          </a:prstGeom>
          <a:noFill/>
          <a:ln/>
        </p:spPr>
        <p:txBody>
          <a:bodyPr wrap="square" lIns="0" tIns="0" rIns="0" bIns="0" rtlCol="0" anchor="ctr"/>
          <a:lstStyle/>
          <a:p>
            <a:pPr algn="ctr" indent="0" marL="0">
              <a:buNone/>
            </a:pPr>
            <a:r>
              <a:rPr lang="en-US" sz="900" b="1" spc="160" kern="0" dirty="0">
                <a:solidFill>
                  <a:srgbClr val="E08700"/>
                </a:solidFill>
                <a:latin typeface="Calibri" pitchFamily="34" charset="0"/>
                <a:ea typeface="Calibri" pitchFamily="34" charset="-122"/>
                <a:cs typeface="Calibri" pitchFamily="34" charset="-120"/>
              </a:rPr>
              <a:t>CAN CHANGE THINGS</a:t>
            </a:r>
            <a:endParaRPr lang="en-US" sz="900" dirty="0"/>
          </a:p>
        </p:txBody>
      </p:sp>
      <p:sp>
        <p:nvSpPr>
          <p:cNvPr id="31" name="Shape 24"/>
          <p:cNvSpPr/>
          <p:nvPr/>
        </p:nvSpPr>
        <p:spPr>
          <a:xfrm>
            <a:off x="566928" y="3730752"/>
            <a:ext cx="11057839" cy="1371600"/>
          </a:xfrm>
          <a:prstGeom prst="roundRect">
            <a:avLst>
              <a:gd name="adj" fmla="val 6667"/>
            </a:avLst>
          </a:prstGeom>
          <a:solidFill>
            <a:srgbClr val="F7F8FD"/>
          </a:solidFill>
          <a:ln w="20320">
            <a:solidFill>
              <a:srgbClr val="5B4BE8"/>
            </a:solidFill>
            <a:prstDash val="dash"/>
          </a:ln>
        </p:spPr>
      </p:sp>
      <p:sp>
        <p:nvSpPr>
          <p:cNvPr id="32" name="Shape 25"/>
          <p:cNvSpPr/>
          <p:nvPr/>
        </p:nvSpPr>
        <p:spPr>
          <a:xfrm>
            <a:off x="877824" y="4041648"/>
            <a:ext cx="457200" cy="457200"/>
          </a:xfrm>
          <a:prstGeom prst="ellipse">
            <a:avLst/>
          </a:prstGeom>
          <a:solidFill>
            <a:srgbClr val="5B4BE8"/>
          </a:solidFill>
          <a:ln w="12700">
            <a:solidFill>
              <a:srgbClr val="5B4BE8"/>
            </a:solidFill>
            <a:prstDash val="solid"/>
          </a:ln>
        </p:spPr>
      </p:sp>
      <p:pic>
        <p:nvPicPr>
          <p:cNvPr id="33" name="Image 5" descr="preencoded.png">    </p:cNvPr>
          <p:cNvPicPr>
            <a:picLocks noChangeAspect="1"/>
          </p:cNvPicPr>
          <p:nvPr/>
        </p:nvPicPr>
        <p:blipFill>
          <a:blip r:embed="rId6"/>
          <a:stretch>
            <a:fillRect/>
          </a:stretch>
        </p:blipFill>
        <p:spPr>
          <a:xfrm>
            <a:off x="992124" y="4155948"/>
            <a:ext cx="228600" cy="228600"/>
          </a:xfrm>
          <a:prstGeom prst="rect">
            <a:avLst/>
          </a:prstGeom>
        </p:spPr>
      </p:pic>
      <p:sp>
        <p:nvSpPr>
          <p:cNvPr id="34" name="Text 26"/>
          <p:cNvSpPr/>
          <p:nvPr/>
        </p:nvSpPr>
        <p:spPr>
          <a:xfrm>
            <a:off x="1499616" y="3877056"/>
            <a:ext cx="9777679" cy="1097280"/>
          </a:xfrm>
          <a:prstGeom prst="rect">
            <a:avLst/>
          </a:prstGeom>
          <a:noFill/>
          <a:ln/>
        </p:spPr>
        <p:txBody>
          <a:bodyPr wrap="square" lIns="0" tIns="0" rIns="0" bIns="0" rtlCol="0" anchor="ctr"/>
          <a:lstStyle/>
          <a:p>
            <a:pPr indent="0" marL="0">
              <a:lnSpc>
                <a:spcPct val="114000"/>
              </a:lnSpc>
              <a:buNone/>
            </a:pPr>
            <a:r>
              <a:rPr lang="en-US" sz="1450" b="1" dirty="0">
                <a:solidFill>
                  <a:srgbClr val="141235"/>
                </a:solidFill>
                <a:latin typeface="Calibri" pitchFamily="34" charset="0"/>
                <a:ea typeface="Calibri" pitchFamily="34" charset="-122"/>
                <a:cs typeface="Calibri" pitchFamily="34" charset="-120"/>
              </a:rPr>
              <a:t>All five tools resolve inside one folder. Nothing else on the machine is reachable.</a:t>
            </a:r>
            <a:endParaRPr lang="en-US" sz="1450" dirty="0"/>
          </a:p>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The jail is not a detail of this lab. It is the thing that makes an agent with write access acceptable at all — and every level of it comes back in module 10.</a:t>
            </a:r>
            <a:endParaRPr lang="en-US" sz="1450" dirty="0"/>
          </a:p>
        </p:txBody>
      </p:sp>
      <p:sp>
        <p:nvSpPr>
          <p:cNvPr id="35" name="Shape 27"/>
          <p:cNvSpPr/>
          <p:nvPr/>
        </p:nvSpPr>
        <p:spPr>
          <a:xfrm>
            <a:off x="566928" y="5230368"/>
            <a:ext cx="11057839" cy="786384"/>
          </a:xfrm>
          <a:prstGeom prst="roundRect">
            <a:avLst>
              <a:gd name="adj" fmla="val 10465"/>
            </a:avLst>
          </a:prstGeom>
          <a:solidFill>
            <a:srgbClr val="FFF4E0"/>
          </a:solidFill>
          <a:ln w="12700">
            <a:solidFill>
              <a:srgbClr val="F3DCB0"/>
            </a:solidFill>
            <a:prstDash val="solid"/>
          </a:ln>
        </p:spPr>
      </p:sp>
      <p:sp>
        <p:nvSpPr>
          <p:cNvPr id="36" name="Shape 28"/>
          <p:cNvSpPr/>
          <p:nvPr/>
        </p:nvSpPr>
        <p:spPr>
          <a:xfrm>
            <a:off x="841248" y="5431536"/>
            <a:ext cx="384048" cy="384048"/>
          </a:xfrm>
          <a:prstGeom prst="ellipse">
            <a:avLst/>
          </a:prstGeom>
          <a:solidFill>
            <a:srgbClr val="F5A524"/>
          </a:solidFill>
          <a:ln w="12700">
            <a:solidFill>
              <a:srgbClr val="F5A524"/>
            </a:solidFill>
            <a:prstDash val="solid"/>
          </a:ln>
        </p:spPr>
      </p:sp>
      <p:pic>
        <p:nvPicPr>
          <p:cNvPr id="37" name="Image 6" descr="preencoded.png">    </p:cNvPr>
          <p:cNvPicPr>
            <a:picLocks noChangeAspect="1"/>
          </p:cNvPicPr>
          <p:nvPr/>
        </p:nvPicPr>
        <p:blipFill>
          <a:blip r:embed="rId7"/>
          <a:stretch>
            <a:fillRect/>
          </a:stretch>
        </p:blipFill>
        <p:spPr>
          <a:xfrm>
            <a:off x="937260" y="5527548"/>
            <a:ext cx="192024" cy="192024"/>
          </a:xfrm>
          <a:prstGeom prst="rect">
            <a:avLst/>
          </a:prstGeom>
        </p:spPr>
      </p:pic>
      <p:sp>
        <p:nvSpPr>
          <p:cNvPr id="38" name="Text 29"/>
          <p:cNvSpPr/>
          <p:nvPr/>
        </p:nvSpPr>
        <p:spPr>
          <a:xfrm>
            <a:off x="1371600" y="5285232"/>
            <a:ext cx="9960559" cy="676656"/>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Same loop as this morning. The only new idea is that two of the five tools can change something — and that is exactly where the rules start to matter.</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04 · CODING AGENT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Three ways this fails, two of them on purpose</a:t>
            </a:r>
            <a:endParaRPr lang="en-US" sz="3000" dirty="0"/>
          </a:p>
        </p:txBody>
      </p:sp>
      <p:sp>
        <p:nvSpPr>
          <p:cNvPr id="4" name="Shape 2"/>
          <p:cNvSpPr/>
          <p:nvPr/>
        </p:nvSpPr>
        <p:spPr>
          <a:xfrm>
            <a:off x="566928" y="1883664"/>
            <a:ext cx="3527450" cy="2432304"/>
          </a:xfrm>
          <a:prstGeom prst="roundRect">
            <a:avLst>
              <a:gd name="adj" fmla="val 3383"/>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103120"/>
            <a:ext cx="365760" cy="365760"/>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896112" y="2194560"/>
            <a:ext cx="182880" cy="182880"/>
          </a:xfrm>
          <a:prstGeom prst="rect">
            <a:avLst/>
          </a:prstGeom>
        </p:spPr>
      </p:pic>
      <p:sp>
        <p:nvSpPr>
          <p:cNvPr id="7" name="Text 4"/>
          <p:cNvSpPr/>
          <p:nvPr/>
        </p:nvSpPr>
        <p:spPr>
          <a:xfrm>
            <a:off x="1298448" y="2093976"/>
            <a:ext cx="2558186"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FAILURE A</a:t>
            </a:r>
            <a:endParaRPr lang="en-US" sz="850" dirty="0"/>
          </a:p>
        </p:txBody>
      </p:sp>
      <p:sp>
        <p:nvSpPr>
          <p:cNvPr id="8" name="Text 5"/>
          <p:cNvSpPr/>
          <p:nvPr/>
        </p:nvSpPr>
        <p:spPr>
          <a:xfrm>
            <a:off x="1298448" y="2313432"/>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Remove the turn cap</a:t>
            </a:r>
            <a:endParaRPr lang="en-US" sz="1500" dirty="0"/>
          </a:p>
        </p:txBody>
      </p:sp>
      <p:sp>
        <p:nvSpPr>
          <p:cNvPr id="9" name="Text 6"/>
          <p:cNvSpPr/>
          <p:nvPr/>
        </p:nvSpPr>
        <p:spPr>
          <a:xfrm>
            <a:off x="1298448" y="2669134"/>
            <a:ext cx="2558186" cy="1463954"/>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Watch it thrash: read, grep, read the same file again, propose the same patch. It is not confused about the code — it has no reason to stop and nothing telling it that it already tried this.</a:t>
            </a:r>
            <a:endParaRPr lang="en-US" sz="1150" dirty="0"/>
          </a:p>
        </p:txBody>
      </p:sp>
      <p:sp>
        <p:nvSpPr>
          <p:cNvPr id="10" name="Shape 7"/>
          <p:cNvSpPr/>
          <p:nvPr/>
        </p:nvSpPr>
        <p:spPr>
          <a:xfrm>
            <a:off x="4332122" y="1883664"/>
            <a:ext cx="3527450" cy="2432304"/>
          </a:xfrm>
          <a:prstGeom prst="roundRect">
            <a:avLst>
              <a:gd name="adj" fmla="val 3383"/>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103120"/>
            <a:ext cx="365760" cy="365760"/>
          </a:xfrm>
          <a:prstGeom prst="ellipse">
            <a:avLst/>
          </a:prstGeom>
          <a:solidFill>
            <a:srgbClr val="D93A3F"/>
          </a:solidFill>
          <a:ln w="12700">
            <a:solidFill>
              <a:srgbClr val="D93A3F"/>
            </a:solidFill>
            <a:prstDash val="solid"/>
          </a:ln>
        </p:spPr>
      </p:sp>
      <p:pic>
        <p:nvPicPr>
          <p:cNvPr id="12" name="Image 1" descr="preencoded.png">    </p:cNvPr>
          <p:cNvPicPr>
            <a:picLocks noChangeAspect="1"/>
          </p:cNvPicPr>
          <p:nvPr/>
        </p:nvPicPr>
        <p:blipFill>
          <a:blip r:embed="rId2"/>
          <a:stretch>
            <a:fillRect/>
          </a:stretch>
        </p:blipFill>
        <p:spPr>
          <a:xfrm>
            <a:off x="4661306" y="2194560"/>
            <a:ext cx="182880" cy="182880"/>
          </a:xfrm>
          <a:prstGeom prst="rect">
            <a:avLst/>
          </a:prstGeom>
        </p:spPr>
      </p:pic>
      <p:sp>
        <p:nvSpPr>
          <p:cNvPr id="13" name="Text 9"/>
          <p:cNvSpPr/>
          <p:nvPr/>
        </p:nvSpPr>
        <p:spPr>
          <a:xfrm>
            <a:off x="5063642" y="2093976"/>
            <a:ext cx="2558186"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FAILURE B</a:t>
            </a:r>
            <a:endParaRPr lang="en-US" sz="850" dirty="0"/>
          </a:p>
        </p:txBody>
      </p:sp>
      <p:sp>
        <p:nvSpPr>
          <p:cNvPr id="14" name="Text 10"/>
          <p:cNvSpPr/>
          <p:nvPr/>
        </p:nvSpPr>
        <p:spPr>
          <a:xfrm>
            <a:off x="5063642" y="2313432"/>
            <a:ext cx="2558186" cy="638251"/>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Give two tools similar descriptions</a:t>
            </a:r>
            <a:endParaRPr lang="en-US" sz="1500" dirty="0"/>
          </a:p>
        </p:txBody>
      </p:sp>
      <p:sp>
        <p:nvSpPr>
          <p:cNvPr id="15" name="Text 11"/>
          <p:cNvSpPr/>
          <p:nvPr/>
        </p:nvSpPr>
        <p:spPr>
          <a:xfrm>
            <a:off x="5063642" y="2960827"/>
            <a:ext cx="2558186" cy="1172261"/>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agent reaches for the wrong one, confidently. The description IS the interface. Vague or overlapping descriptions are the single most common cause of an agent 'being stupid'.</a:t>
            </a:r>
            <a:endParaRPr lang="en-US" sz="1150" dirty="0"/>
          </a:p>
        </p:txBody>
      </p:sp>
      <p:sp>
        <p:nvSpPr>
          <p:cNvPr id="16" name="Shape 12"/>
          <p:cNvSpPr/>
          <p:nvPr/>
        </p:nvSpPr>
        <p:spPr>
          <a:xfrm>
            <a:off x="8097317" y="1883664"/>
            <a:ext cx="3527450" cy="2432304"/>
          </a:xfrm>
          <a:prstGeom prst="roundRect">
            <a:avLst>
              <a:gd name="adj" fmla="val 3383"/>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103120"/>
            <a:ext cx="365760" cy="365760"/>
          </a:xfrm>
          <a:prstGeom prst="ellipse">
            <a:avLst/>
          </a:prstGeom>
          <a:solidFill>
            <a:srgbClr val="D93A3F"/>
          </a:solidFill>
          <a:ln w="12700">
            <a:solidFill>
              <a:srgbClr val="D93A3F"/>
            </a:solidFill>
            <a:prstDash val="solid"/>
          </a:ln>
        </p:spPr>
      </p:sp>
      <p:pic>
        <p:nvPicPr>
          <p:cNvPr id="18" name="Image 2" descr="preencoded.png">    </p:cNvPr>
          <p:cNvPicPr>
            <a:picLocks noChangeAspect="1"/>
          </p:cNvPicPr>
          <p:nvPr/>
        </p:nvPicPr>
        <p:blipFill>
          <a:blip r:embed="rId3"/>
          <a:stretch>
            <a:fillRect/>
          </a:stretch>
        </p:blipFill>
        <p:spPr>
          <a:xfrm>
            <a:off x="8426501" y="2194560"/>
            <a:ext cx="182880" cy="182880"/>
          </a:xfrm>
          <a:prstGeom prst="rect">
            <a:avLst/>
          </a:prstGeom>
        </p:spPr>
      </p:pic>
      <p:sp>
        <p:nvSpPr>
          <p:cNvPr id="19" name="Text 14"/>
          <p:cNvSpPr/>
          <p:nvPr/>
        </p:nvSpPr>
        <p:spPr>
          <a:xfrm>
            <a:off x="8828837" y="2093976"/>
            <a:ext cx="2558186"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FAILURE C</a:t>
            </a:r>
            <a:endParaRPr lang="en-US" sz="850" dirty="0"/>
          </a:p>
        </p:txBody>
      </p:sp>
      <p:sp>
        <p:nvSpPr>
          <p:cNvPr id="20" name="Text 15"/>
          <p:cNvSpPr/>
          <p:nvPr/>
        </p:nvSpPr>
        <p:spPr>
          <a:xfrm>
            <a:off x="8828837" y="2313432"/>
            <a:ext cx="2558186" cy="638251"/>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It writes against the API it was trained on</a:t>
            </a:r>
            <a:endParaRPr lang="en-US" sz="1500" dirty="0"/>
          </a:p>
        </p:txBody>
      </p:sp>
      <p:sp>
        <p:nvSpPr>
          <p:cNvPr id="21" name="Text 16"/>
          <p:cNvSpPr/>
          <p:nvPr/>
        </p:nvSpPr>
        <p:spPr>
          <a:xfrm>
            <a:off x="8828837" y="2960827"/>
            <a:ext cx="2558186" cy="1172261"/>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This ecosystem renames things every few months. A coding agent will confidently produce code for last year's library and defend it. Give it the current docs, or demand evidence it ran.</a:t>
            </a:r>
            <a:endParaRPr lang="en-US" sz="1150" dirty="0"/>
          </a:p>
        </p:txBody>
      </p:sp>
      <p:sp>
        <p:nvSpPr>
          <p:cNvPr id="22" name="Shape 17"/>
          <p:cNvSpPr/>
          <p:nvPr/>
        </p:nvSpPr>
        <p:spPr>
          <a:xfrm>
            <a:off x="566928" y="4480560"/>
            <a:ext cx="5410048" cy="859536"/>
          </a:xfrm>
          <a:prstGeom prst="roundRect">
            <a:avLst>
              <a:gd name="adj" fmla="val 9574"/>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23" name="Shape 18"/>
          <p:cNvSpPr/>
          <p:nvPr/>
        </p:nvSpPr>
        <p:spPr>
          <a:xfrm>
            <a:off x="804672" y="4700016"/>
            <a:ext cx="365760" cy="365760"/>
          </a:xfrm>
          <a:prstGeom prst="ellipse">
            <a:avLst/>
          </a:prstGeom>
          <a:solidFill>
            <a:srgbClr val="0E9F6E"/>
          </a:solidFill>
          <a:ln w="12700">
            <a:solidFill>
              <a:srgbClr val="0E9F6E"/>
            </a:solidFill>
            <a:prstDash val="solid"/>
          </a:ln>
        </p:spPr>
      </p:sp>
      <p:pic>
        <p:nvPicPr>
          <p:cNvPr id="24" name="Image 3" descr="preencoded.png">    </p:cNvPr>
          <p:cNvPicPr>
            <a:picLocks noChangeAspect="1"/>
          </p:cNvPicPr>
          <p:nvPr/>
        </p:nvPicPr>
        <p:blipFill>
          <a:blip r:embed="rId4"/>
          <a:stretch>
            <a:fillRect/>
          </a:stretch>
        </p:blipFill>
        <p:spPr>
          <a:xfrm>
            <a:off x="896112" y="4791456"/>
            <a:ext cx="182880" cy="182880"/>
          </a:xfrm>
          <a:prstGeom prst="rect">
            <a:avLst/>
          </a:prstGeom>
        </p:spPr>
      </p:pic>
      <p:sp>
        <p:nvSpPr>
          <p:cNvPr id="25" name="Text 19"/>
          <p:cNvSpPr/>
          <p:nvPr/>
        </p:nvSpPr>
        <p:spPr>
          <a:xfrm>
            <a:off x="1298448" y="4718304"/>
            <a:ext cx="4440784" cy="306324"/>
          </a:xfrm>
          <a:prstGeom prst="rect">
            <a:avLst/>
          </a:prstGeom>
          <a:noFill/>
          <a:ln/>
        </p:spPr>
        <p:txBody>
          <a:bodyPr wrap="square" lIns="0" tIns="0" rIns="0" bIns="0" rtlCol="0" anchor="t"/>
          <a:lstStyle/>
          <a:p>
            <a:pPr indent="0" marL="0">
              <a:lnSpc>
                <a:spcPct val="105000"/>
              </a:lnSpc>
              <a:buNone/>
            </a:pPr>
            <a:r>
              <a:rPr lang="en-US" sz="1250" b="1" dirty="0">
                <a:solidFill>
                  <a:srgbClr val="141235"/>
                </a:solidFill>
                <a:latin typeface="Calibri" pitchFamily="34" charset="0"/>
                <a:ea typeface="Calibri" pitchFamily="34" charset="-122"/>
                <a:cs typeface="Calibri" pitchFamily="34" charset="-120"/>
              </a:rPr>
              <a:t>Failure A returns in module 14 as “runaway loops”</a:t>
            </a:r>
            <a:endParaRPr lang="en-US" sz="1250" dirty="0"/>
          </a:p>
        </p:txBody>
      </p:sp>
      <p:sp>
        <p:nvSpPr>
          <p:cNvPr id="26" name="Shape 20"/>
          <p:cNvSpPr/>
          <p:nvPr/>
        </p:nvSpPr>
        <p:spPr>
          <a:xfrm>
            <a:off x="6214720" y="4480560"/>
            <a:ext cx="5410048" cy="859536"/>
          </a:xfrm>
          <a:prstGeom prst="roundRect">
            <a:avLst>
              <a:gd name="adj" fmla="val 9574"/>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27" name="Shape 21"/>
          <p:cNvSpPr/>
          <p:nvPr/>
        </p:nvSpPr>
        <p:spPr>
          <a:xfrm>
            <a:off x="6452464" y="4700016"/>
            <a:ext cx="365760" cy="365760"/>
          </a:xfrm>
          <a:prstGeom prst="ellipse">
            <a:avLst/>
          </a:prstGeom>
          <a:solidFill>
            <a:srgbClr val="0E9F6E"/>
          </a:solidFill>
          <a:ln w="12700">
            <a:solidFill>
              <a:srgbClr val="0E9F6E"/>
            </a:solidFill>
            <a:prstDash val="solid"/>
          </a:ln>
        </p:spPr>
      </p:sp>
      <p:pic>
        <p:nvPicPr>
          <p:cNvPr id="28" name="Image 4" descr="preencoded.png">    </p:cNvPr>
          <p:cNvPicPr>
            <a:picLocks noChangeAspect="1"/>
          </p:cNvPicPr>
          <p:nvPr/>
        </p:nvPicPr>
        <p:blipFill>
          <a:blip r:embed="rId5"/>
          <a:stretch>
            <a:fillRect/>
          </a:stretch>
        </p:blipFill>
        <p:spPr>
          <a:xfrm>
            <a:off x="6543904" y="4791456"/>
            <a:ext cx="182880" cy="182880"/>
          </a:xfrm>
          <a:prstGeom prst="rect">
            <a:avLst/>
          </a:prstGeom>
        </p:spPr>
      </p:pic>
      <p:sp>
        <p:nvSpPr>
          <p:cNvPr id="29" name="Text 22"/>
          <p:cNvSpPr/>
          <p:nvPr/>
        </p:nvSpPr>
        <p:spPr>
          <a:xfrm>
            <a:off x="6946240" y="4718304"/>
            <a:ext cx="4440784" cy="557784"/>
          </a:xfrm>
          <a:prstGeom prst="rect">
            <a:avLst/>
          </a:prstGeom>
          <a:noFill/>
          <a:ln/>
        </p:spPr>
        <p:txBody>
          <a:bodyPr wrap="square" lIns="0" tIns="0" rIns="0" bIns="0" rtlCol="0" anchor="t"/>
          <a:lstStyle/>
          <a:p>
            <a:pPr indent="0" marL="0">
              <a:lnSpc>
                <a:spcPct val="105000"/>
              </a:lnSpc>
              <a:buNone/>
            </a:pPr>
            <a:r>
              <a:rPr lang="en-US" sz="1250" b="1" dirty="0">
                <a:solidFill>
                  <a:srgbClr val="141235"/>
                </a:solidFill>
                <a:latin typeface="Calibri" pitchFamily="34" charset="0"/>
                <a:ea typeface="Calibri" pitchFamily="34" charset="-122"/>
                <a:cs typeface="Calibri" pitchFamily="34" charset="-120"/>
              </a:rPr>
              <a:t>Failure B returns in module 13 as a misrouting supervisor</a:t>
            </a:r>
            <a:endParaRPr lang="en-US" sz="1250" dirty="0"/>
          </a:p>
        </p:txBody>
      </p:sp>
      <p:sp>
        <p:nvSpPr>
          <p:cNvPr id="30"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31" name="Shape 24"/>
          <p:cNvSpPr/>
          <p:nvPr/>
        </p:nvSpPr>
        <p:spPr>
          <a:xfrm>
            <a:off x="841248" y="5760720"/>
            <a:ext cx="384048" cy="384048"/>
          </a:xfrm>
          <a:prstGeom prst="ellipse">
            <a:avLst/>
          </a:prstGeom>
          <a:solidFill>
            <a:srgbClr val="F5A524"/>
          </a:solidFill>
          <a:ln w="12700">
            <a:solidFill>
              <a:srgbClr val="F5A524"/>
            </a:solidFill>
            <a:prstDash val="solid"/>
          </a:ln>
        </p:spPr>
      </p:sp>
      <p:pic>
        <p:nvPicPr>
          <p:cNvPr id="32" name="Image 5" descr="preencoded.png">    </p:cNvPr>
          <p:cNvPicPr>
            <a:picLocks noChangeAspect="1"/>
          </p:cNvPicPr>
          <p:nvPr/>
        </p:nvPicPr>
        <p:blipFill>
          <a:blip r:embed="rId6"/>
          <a:stretch>
            <a:fillRect/>
          </a:stretch>
        </p:blipFill>
        <p:spPr>
          <a:xfrm>
            <a:off x="937260" y="5856732"/>
            <a:ext cx="192024" cy="192024"/>
          </a:xfrm>
          <a:prstGeom prst="rect">
            <a:avLst/>
          </a:prstGeom>
        </p:spPr>
      </p:pic>
      <p:sp>
        <p:nvSpPr>
          <p:cNvPr id="33" name="Text 25"/>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You will have watched the first two happen before we give them names. That is deliberate — a failure you saw is a failure you remember.</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05</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05</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Context engineering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What you feed the model matters more than how clever the loop is.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05 · CONTEXT 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Context is seven things, not one prompt</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Everything below is re-sent on every single turn. Each later module is an intervention on exactly one of these rows.</a:t>
            </a:r>
            <a:endParaRPr lang="en-US" sz="1400" dirty="0"/>
          </a:p>
        </p:txBody>
      </p:sp>
      <p:sp>
        <p:nvSpPr>
          <p:cNvPr id="5" name="Shape 3"/>
          <p:cNvSpPr/>
          <p:nvPr/>
        </p:nvSpPr>
        <p:spPr>
          <a:xfrm>
            <a:off x="566928" y="2152680"/>
            <a:ext cx="2586152" cy="1413480"/>
          </a:xfrm>
          <a:prstGeom prst="roundRect">
            <a:avLst>
              <a:gd name="adj" fmla="val 582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372136"/>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463576"/>
            <a:ext cx="182880" cy="182880"/>
          </a:xfrm>
          <a:prstGeom prst="rect">
            <a:avLst/>
          </a:prstGeom>
        </p:spPr>
      </p:pic>
      <p:sp>
        <p:nvSpPr>
          <p:cNvPr id="8" name="Text 5"/>
          <p:cNvSpPr/>
          <p:nvPr/>
        </p:nvSpPr>
        <p:spPr>
          <a:xfrm>
            <a:off x="1298448" y="2390424"/>
            <a:ext cx="1616888"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Instructions</a:t>
            </a:r>
            <a:endParaRPr lang="en-US" sz="1350" dirty="0"/>
          </a:p>
        </p:txBody>
      </p:sp>
      <p:sp>
        <p:nvSpPr>
          <p:cNvPr id="9" name="Text 6"/>
          <p:cNvSpPr/>
          <p:nvPr/>
        </p:nvSpPr>
        <p:spPr>
          <a:xfrm>
            <a:off x="1298448" y="2721986"/>
            <a:ext cx="1616888" cy="661294"/>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Behaviour and rules</a:t>
            </a:r>
            <a:endParaRPr lang="en-US" sz="1050" dirty="0"/>
          </a:p>
        </p:txBody>
      </p:sp>
      <p:sp>
        <p:nvSpPr>
          <p:cNvPr id="10" name="Shape 7"/>
          <p:cNvSpPr/>
          <p:nvPr/>
        </p:nvSpPr>
        <p:spPr>
          <a:xfrm>
            <a:off x="3390824" y="2152680"/>
            <a:ext cx="2586152" cy="1413480"/>
          </a:xfrm>
          <a:prstGeom prst="roundRect">
            <a:avLst>
              <a:gd name="adj" fmla="val 582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3628568" y="2372136"/>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3720008" y="2463576"/>
            <a:ext cx="182880" cy="182880"/>
          </a:xfrm>
          <a:prstGeom prst="rect">
            <a:avLst/>
          </a:prstGeom>
        </p:spPr>
      </p:pic>
      <p:sp>
        <p:nvSpPr>
          <p:cNvPr id="13" name="Text 9"/>
          <p:cNvSpPr/>
          <p:nvPr/>
        </p:nvSpPr>
        <p:spPr>
          <a:xfrm>
            <a:off x="4122344" y="2390424"/>
            <a:ext cx="1616888"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User prompt</a:t>
            </a:r>
            <a:endParaRPr lang="en-US" sz="1350" dirty="0"/>
          </a:p>
        </p:txBody>
      </p:sp>
      <p:sp>
        <p:nvSpPr>
          <p:cNvPr id="14" name="Text 10"/>
          <p:cNvSpPr/>
          <p:nvPr/>
        </p:nvSpPr>
        <p:spPr>
          <a:xfrm>
            <a:off x="4122344" y="2721986"/>
            <a:ext cx="1616888" cy="661294"/>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The immediate request</a:t>
            </a:r>
            <a:endParaRPr lang="en-US" sz="1050" dirty="0"/>
          </a:p>
        </p:txBody>
      </p:sp>
      <p:sp>
        <p:nvSpPr>
          <p:cNvPr id="15" name="Shape 11"/>
          <p:cNvSpPr/>
          <p:nvPr/>
        </p:nvSpPr>
        <p:spPr>
          <a:xfrm>
            <a:off x="6214720" y="2152680"/>
            <a:ext cx="2586152" cy="1413480"/>
          </a:xfrm>
          <a:prstGeom prst="roundRect">
            <a:avLst>
              <a:gd name="adj" fmla="val 582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6" name="Shape 12"/>
          <p:cNvSpPr/>
          <p:nvPr/>
        </p:nvSpPr>
        <p:spPr>
          <a:xfrm>
            <a:off x="6452464" y="2372136"/>
            <a:ext cx="365760" cy="365760"/>
          </a:xfrm>
          <a:prstGeom prst="ellipse">
            <a:avLst/>
          </a:prstGeom>
          <a:solidFill>
            <a:srgbClr val="5B4BE8"/>
          </a:solidFill>
          <a:ln w="12700">
            <a:solidFill>
              <a:srgbClr val="5B4BE8"/>
            </a:solidFill>
            <a:prstDash val="solid"/>
          </a:ln>
        </p:spPr>
      </p:sp>
      <p:pic>
        <p:nvPicPr>
          <p:cNvPr id="17" name="Image 2" descr="preencoded.png">    </p:cNvPr>
          <p:cNvPicPr>
            <a:picLocks noChangeAspect="1"/>
          </p:cNvPicPr>
          <p:nvPr/>
        </p:nvPicPr>
        <p:blipFill>
          <a:blip r:embed="rId3"/>
          <a:stretch>
            <a:fillRect/>
          </a:stretch>
        </p:blipFill>
        <p:spPr>
          <a:xfrm>
            <a:off x="6543904" y="2463576"/>
            <a:ext cx="182880" cy="182880"/>
          </a:xfrm>
          <a:prstGeom prst="rect">
            <a:avLst/>
          </a:prstGeom>
        </p:spPr>
      </p:pic>
      <p:sp>
        <p:nvSpPr>
          <p:cNvPr id="18" name="Text 13"/>
          <p:cNvSpPr/>
          <p:nvPr/>
        </p:nvSpPr>
        <p:spPr>
          <a:xfrm>
            <a:off x="6946240" y="2390424"/>
            <a:ext cx="1616888"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Available tools</a:t>
            </a:r>
            <a:endParaRPr lang="en-US" sz="1350" dirty="0"/>
          </a:p>
        </p:txBody>
      </p:sp>
      <p:sp>
        <p:nvSpPr>
          <p:cNvPr id="19" name="Text 14"/>
          <p:cNvSpPr/>
          <p:nvPr/>
        </p:nvSpPr>
        <p:spPr>
          <a:xfrm>
            <a:off x="6946240" y="2721986"/>
            <a:ext cx="1616888" cy="661294"/>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Every schema, every turn</a:t>
            </a:r>
            <a:endParaRPr lang="en-US" sz="1050" dirty="0"/>
          </a:p>
        </p:txBody>
      </p:sp>
      <p:sp>
        <p:nvSpPr>
          <p:cNvPr id="20" name="Shape 15"/>
          <p:cNvSpPr/>
          <p:nvPr/>
        </p:nvSpPr>
        <p:spPr>
          <a:xfrm>
            <a:off x="9038615" y="2152680"/>
            <a:ext cx="2586152" cy="1413480"/>
          </a:xfrm>
          <a:prstGeom prst="roundRect">
            <a:avLst>
              <a:gd name="adj" fmla="val 582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1" name="Shape 16"/>
          <p:cNvSpPr/>
          <p:nvPr/>
        </p:nvSpPr>
        <p:spPr>
          <a:xfrm>
            <a:off x="9276359" y="2372136"/>
            <a:ext cx="365760" cy="365760"/>
          </a:xfrm>
          <a:prstGeom prst="ellipse">
            <a:avLst/>
          </a:prstGeom>
          <a:solidFill>
            <a:srgbClr val="5B4BE8"/>
          </a:solidFill>
          <a:ln w="12700">
            <a:solidFill>
              <a:srgbClr val="5B4BE8"/>
            </a:solidFill>
            <a:prstDash val="solid"/>
          </a:ln>
        </p:spPr>
      </p:sp>
      <p:pic>
        <p:nvPicPr>
          <p:cNvPr id="22" name="Image 3" descr="preencoded.png">    </p:cNvPr>
          <p:cNvPicPr>
            <a:picLocks noChangeAspect="1"/>
          </p:cNvPicPr>
          <p:nvPr/>
        </p:nvPicPr>
        <p:blipFill>
          <a:blip r:embed="rId4"/>
          <a:stretch>
            <a:fillRect/>
          </a:stretch>
        </p:blipFill>
        <p:spPr>
          <a:xfrm>
            <a:off x="9367799" y="2463576"/>
            <a:ext cx="182880" cy="182880"/>
          </a:xfrm>
          <a:prstGeom prst="rect">
            <a:avLst/>
          </a:prstGeom>
        </p:spPr>
      </p:pic>
      <p:sp>
        <p:nvSpPr>
          <p:cNvPr id="23" name="Text 17"/>
          <p:cNvSpPr/>
          <p:nvPr/>
        </p:nvSpPr>
        <p:spPr>
          <a:xfrm>
            <a:off x="9770135" y="2390424"/>
            <a:ext cx="1616888"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Structured output</a:t>
            </a:r>
            <a:endParaRPr lang="en-US" sz="1350" dirty="0"/>
          </a:p>
        </p:txBody>
      </p:sp>
      <p:sp>
        <p:nvSpPr>
          <p:cNvPr id="24" name="Text 18"/>
          <p:cNvSpPr/>
          <p:nvPr/>
        </p:nvSpPr>
        <p:spPr>
          <a:xfrm>
            <a:off x="9770135" y="2989539"/>
            <a:ext cx="1616888" cy="393741"/>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The shape you require back</a:t>
            </a:r>
            <a:endParaRPr lang="en-US" sz="1050" dirty="0"/>
          </a:p>
        </p:txBody>
      </p:sp>
      <p:sp>
        <p:nvSpPr>
          <p:cNvPr id="25" name="Shape 19"/>
          <p:cNvSpPr/>
          <p:nvPr/>
        </p:nvSpPr>
        <p:spPr>
          <a:xfrm>
            <a:off x="566928" y="3803904"/>
            <a:ext cx="2586152" cy="1413480"/>
          </a:xfrm>
          <a:prstGeom prst="roundRect">
            <a:avLst>
              <a:gd name="adj" fmla="val 582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6" name="Shape 20"/>
          <p:cNvSpPr/>
          <p:nvPr/>
        </p:nvSpPr>
        <p:spPr>
          <a:xfrm>
            <a:off x="804672" y="4023360"/>
            <a:ext cx="365760" cy="365760"/>
          </a:xfrm>
          <a:prstGeom prst="ellipse">
            <a:avLst/>
          </a:prstGeom>
          <a:solidFill>
            <a:srgbClr val="5B4BE8"/>
          </a:solidFill>
          <a:ln w="12700">
            <a:solidFill>
              <a:srgbClr val="5B4BE8"/>
            </a:solidFill>
            <a:prstDash val="solid"/>
          </a:ln>
        </p:spPr>
      </p:sp>
      <p:pic>
        <p:nvPicPr>
          <p:cNvPr id="27" name="Image 4" descr="preencoded.png">    </p:cNvPr>
          <p:cNvPicPr>
            <a:picLocks noChangeAspect="1"/>
          </p:cNvPicPr>
          <p:nvPr/>
        </p:nvPicPr>
        <p:blipFill>
          <a:blip r:embed="rId5"/>
          <a:stretch>
            <a:fillRect/>
          </a:stretch>
        </p:blipFill>
        <p:spPr>
          <a:xfrm>
            <a:off x="896112" y="4114800"/>
            <a:ext cx="182880" cy="182880"/>
          </a:xfrm>
          <a:prstGeom prst="rect">
            <a:avLst/>
          </a:prstGeom>
        </p:spPr>
      </p:pic>
      <p:sp>
        <p:nvSpPr>
          <p:cNvPr id="28" name="Text 21"/>
          <p:cNvSpPr/>
          <p:nvPr/>
        </p:nvSpPr>
        <p:spPr>
          <a:xfrm>
            <a:off x="1298448" y="4041648"/>
            <a:ext cx="1616888"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State and history</a:t>
            </a:r>
            <a:endParaRPr lang="en-US" sz="1350" dirty="0"/>
          </a:p>
        </p:txBody>
      </p:sp>
      <p:sp>
        <p:nvSpPr>
          <p:cNvPr id="29" name="Text 22"/>
          <p:cNvSpPr/>
          <p:nvPr/>
        </p:nvSpPr>
        <p:spPr>
          <a:xfrm>
            <a:off x="1298448" y="4640763"/>
            <a:ext cx="1616888" cy="393741"/>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This conversation, so far</a:t>
            </a:r>
            <a:endParaRPr lang="en-US" sz="1050" dirty="0"/>
          </a:p>
        </p:txBody>
      </p:sp>
      <p:sp>
        <p:nvSpPr>
          <p:cNvPr id="30" name="Shape 23"/>
          <p:cNvSpPr/>
          <p:nvPr/>
        </p:nvSpPr>
        <p:spPr>
          <a:xfrm>
            <a:off x="3390824" y="3803904"/>
            <a:ext cx="2586152" cy="1413480"/>
          </a:xfrm>
          <a:prstGeom prst="roundRect">
            <a:avLst>
              <a:gd name="adj" fmla="val 582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31" name="Shape 24"/>
          <p:cNvSpPr/>
          <p:nvPr/>
        </p:nvSpPr>
        <p:spPr>
          <a:xfrm>
            <a:off x="3628568" y="4023360"/>
            <a:ext cx="365760" cy="365760"/>
          </a:xfrm>
          <a:prstGeom prst="ellipse">
            <a:avLst/>
          </a:prstGeom>
          <a:solidFill>
            <a:srgbClr val="5B4BE8"/>
          </a:solidFill>
          <a:ln w="12700">
            <a:solidFill>
              <a:srgbClr val="5B4BE8"/>
            </a:solidFill>
            <a:prstDash val="solid"/>
          </a:ln>
        </p:spPr>
      </p:sp>
      <p:pic>
        <p:nvPicPr>
          <p:cNvPr id="32" name="Image 5" descr="preencoded.png">    </p:cNvPr>
          <p:cNvPicPr>
            <a:picLocks noChangeAspect="1"/>
          </p:cNvPicPr>
          <p:nvPr/>
        </p:nvPicPr>
        <p:blipFill>
          <a:blip r:embed="rId6"/>
          <a:stretch>
            <a:fillRect/>
          </a:stretch>
        </p:blipFill>
        <p:spPr>
          <a:xfrm>
            <a:off x="3720008" y="4114800"/>
            <a:ext cx="182880" cy="182880"/>
          </a:xfrm>
          <a:prstGeom prst="rect">
            <a:avLst/>
          </a:prstGeom>
        </p:spPr>
      </p:pic>
      <p:sp>
        <p:nvSpPr>
          <p:cNvPr id="33" name="Text 25"/>
          <p:cNvSpPr/>
          <p:nvPr/>
        </p:nvSpPr>
        <p:spPr>
          <a:xfrm>
            <a:off x="4122344" y="4041648"/>
            <a:ext cx="1616888"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Long-term memory</a:t>
            </a:r>
            <a:endParaRPr lang="en-US" sz="1350" dirty="0"/>
          </a:p>
        </p:txBody>
      </p:sp>
      <p:sp>
        <p:nvSpPr>
          <p:cNvPr id="34" name="Text 26"/>
          <p:cNvSpPr/>
          <p:nvPr/>
        </p:nvSpPr>
        <p:spPr>
          <a:xfrm>
            <a:off x="4122344" y="4373209"/>
            <a:ext cx="1616888" cy="661294"/>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What survives across sessions</a:t>
            </a:r>
            <a:endParaRPr lang="en-US" sz="1050" dirty="0"/>
          </a:p>
        </p:txBody>
      </p:sp>
      <p:sp>
        <p:nvSpPr>
          <p:cNvPr id="35" name="Shape 27"/>
          <p:cNvSpPr/>
          <p:nvPr/>
        </p:nvSpPr>
        <p:spPr>
          <a:xfrm>
            <a:off x="6214720" y="3803904"/>
            <a:ext cx="2586152" cy="1413480"/>
          </a:xfrm>
          <a:prstGeom prst="roundRect">
            <a:avLst>
              <a:gd name="adj" fmla="val 582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36" name="Shape 28"/>
          <p:cNvSpPr/>
          <p:nvPr/>
        </p:nvSpPr>
        <p:spPr>
          <a:xfrm>
            <a:off x="6452464" y="4023360"/>
            <a:ext cx="365760" cy="365760"/>
          </a:xfrm>
          <a:prstGeom prst="ellipse">
            <a:avLst/>
          </a:prstGeom>
          <a:solidFill>
            <a:srgbClr val="5B4BE8"/>
          </a:solidFill>
          <a:ln w="12700">
            <a:solidFill>
              <a:srgbClr val="5B4BE8"/>
            </a:solidFill>
            <a:prstDash val="solid"/>
          </a:ln>
        </p:spPr>
      </p:sp>
      <p:pic>
        <p:nvPicPr>
          <p:cNvPr id="37" name="Image 6" descr="preencoded.png">    </p:cNvPr>
          <p:cNvPicPr>
            <a:picLocks noChangeAspect="1"/>
          </p:cNvPicPr>
          <p:nvPr/>
        </p:nvPicPr>
        <p:blipFill>
          <a:blip r:embed="rId7"/>
          <a:stretch>
            <a:fillRect/>
          </a:stretch>
        </p:blipFill>
        <p:spPr>
          <a:xfrm>
            <a:off x="6543904" y="4114800"/>
            <a:ext cx="182880" cy="182880"/>
          </a:xfrm>
          <a:prstGeom prst="rect">
            <a:avLst/>
          </a:prstGeom>
        </p:spPr>
      </p:pic>
      <p:sp>
        <p:nvSpPr>
          <p:cNvPr id="38" name="Text 29"/>
          <p:cNvSpPr/>
          <p:nvPr/>
        </p:nvSpPr>
        <p:spPr>
          <a:xfrm>
            <a:off x="6946240" y="4041648"/>
            <a:ext cx="1616888"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Retrieved information</a:t>
            </a:r>
            <a:endParaRPr lang="en-US" sz="1350" dirty="0"/>
          </a:p>
        </p:txBody>
      </p:sp>
      <p:sp>
        <p:nvSpPr>
          <p:cNvPr id="39" name="Text 30"/>
          <p:cNvSpPr/>
          <p:nvPr/>
        </p:nvSpPr>
        <p:spPr>
          <a:xfrm>
            <a:off x="6946240" y="4640763"/>
            <a:ext cx="1616888" cy="393741"/>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Documents, databases, APIs — modules 11 and 12</a:t>
            </a:r>
            <a:endParaRPr lang="en-US" sz="1050" dirty="0"/>
          </a:p>
        </p:txBody>
      </p:sp>
      <p:sp>
        <p:nvSpPr>
          <p:cNvPr id="40" name="Shape 31"/>
          <p:cNvSpPr/>
          <p:nvPr/>
        </p:nvSpPr>
        <p:spPr>
          <a:xfrm>
            <a:off x="9038615" y="3803904"/>
            <a:ext cx="2586152" cy="1413480"/>
          </a:xfrm>
          <a:prstGeom prst="roundRect">
            <a:avLst>
              <a:gd name="adj" fmla="val 5822"/>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41" name="Shape 32"/>
          <p:cNvSpPr/>
          <p:nvPr/>
        </p:nvSpPr>
        <p:spPr>
          <a:xfrm>
            <a:off x="9276359" y="4023360"/>
            <a:ext cx="365760" cy="365760"/>
          </a:xfrm>
          <a:prstGeom prst="ellipse">
            <a:avLst/>
          </a:prstGeom>
          <a:solidFill>
            <a:srgbClr val="F5A524"/>
          </a:solidFill>
          <a:ln w="12700">
            <a:solidFill>
              <a:srgbClr val="F5A524"/>
            </a:solidFill>
            <a:prstDash val="solid"/>
          </a:ln>
        </p:spPr>
      </p:sp>
      <p:pic>
        <p:nvPicPr>
          <p:cNvPr id="42" name="Image 7" descr="preencoded.png">    </p:cNvPr>
          <p:cNvPicPr>
            <a:picLocks noChangeAspect="1"/>
          </p:cNvPicPr>
          <p:nvPr/>
        </p:nvPicPr>
        <p:blipFill>
          <a:blip r:embed="rId8"/>
          <a:stretch>
            <a:fillRect/>
          </a:stretch>
        </p:blipFill>
        <p:spPr>
          <a:xfrm>
            <a:off x="9367799" y="4114800"/>
            <a:ext cx="182880" cy="182880"/>
          </a:xfrm>
          <a:prstGeom prst="rect">
            <a:avLst/>
          </a:prstGeom>
        </p:spPr>
      </p:pic>
      <p:sp>
        <p:nvSpPr>
          <p:cNvPr id="43" name="Text 33"/>
          <p:cNvSpPr/>
          <p:nvPr/>
        </p:nvSpPr>
        <p:spPr>
          <a:xfrm>
            <a:off x="9770135" y="4041648"/>
            <a:ext cx="1616888"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…and all of it is billed</a:t>
            </a:r>
            <a:endParaRPr lang="en-US" sz="1350" dirty="0"/>
          </a:p>
        </p:txBody>
      </p:sp>
      <p:sp>
        <p:nvSpPr>
          <p:cNvPr id="44" name="Text 34"/>
          <p:cNvSpPr/>
          <p:nvPr/>
        </p:nvSpPr>
        <p:spPr>
          <a:xfrm>
            <a:off x="9770135" y="4640763"/>
            <a:ext cx="1616888" cy="393741"/>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Every turn. That is the whole problem.</a:t>
            </a:r>
            <a:endParaRPr lang="en-US" sz="1050" dirty="0"/>
          </a:p>
        </p:txBody>
      </p:sp>
      <p:sp>
        <p:nvSpPr>
          <p:cNvPr id="45" name="Shape 35"/>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46" name="Shape 36"/>
          <p:cNvSpPr/>
          <p:nvPr/>
        </p:nvSpPr>
        <p:spPr>
          <a:xfrm>
            <a:off x="841248" y="5760720"/>
            <a:ext cx="384048" cy="384048"/>
          </a:xfrm>
          <a:prstGeom prst="ellipse">
            <a:avLst/>
          </a:prstGeom>
          <a:solidFill>
            <a:srgbClr val="F5A524"/>
          </a:solidFill>
          <a:ln w="12700">
            <a:solidFill>
              <a:srgbClr val="F5A524"/>
            </a:solidFill>
            <a:prstDash val="solid"/>
          </a:ln>
        </p:spPr>
      </p:sp>
      <p:pic>
        <p:nvPicPr>
          <p:cNvPr id="47" name="Image 8" descr="preencoded.png">    </p:cNvPr>
          <p:cNvPicPr>
            <a:picLocks noChangeAspect="1"/>
          </p:cNvPicPr>
          <p:nvPr/>
        </p:nvPicPr>
        <p:blipFill>
          <a:blip r:embed="rId9"/>
          <a:stretch>
            <a:fillRect/>
          </a:stretch>
        </p:blipFill>
        <p:spPr>
          <a:xfrm>
            <a:off x="937260" y="5856732"/>
            <a:ext cx="192024" cy="192024"/>
          </a:xfrm>
          <a:prstGeom prst="rect">
            <a:avLst/>
          </a:prstGeom>
        </p:spPr>
      </p:pic>
      <p:sp>
        <p:nvSpPr>
          <p:cNvPr id="48" name="Text 37"/>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“Prompt engineering” is one of these eight boxes. Context engineering is deciding what goes in all of them, and what you are willing to pay for.</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05 · CONTEXT 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Load a capability when it's needed, not before</a:t>
            </a:r>
            <a:endParaRPr lang="en-US" sz="3000" dirty="0"/>
          </a:p>
        </p:txBody>
      </p:sp>
      <p:sp>
        <p:nvSpPr>
          <p:cNvPr id="4" name="Shape 2"/>
          <p:cNvSpPr/>
          <p:nvPr/>
        </p:nvSpPr>
        <p:spPr>
          <a:xfrm>
            <a:off x="566928" y="2420783"/>
            <a:ext cx="5410048" cy="1924995"/>
          </a:xfrm>
          <a:prstGeom prst="roundRect">
            <a:avLst>
              <a:gd name="adj" fmla="val 4275"/>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640239"/>
            <a:ext cx="365760" cy="365760"/>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896112" y="2731679"/>
            <a:ext cx="182880" cy="182880"/>
          </a:xfrm>
          <a:prstGeom prst="rect">
            <a:avLst/>
          </a:prstGeom>
        </p:spPr>
      </p:pic>
      <p:sp>
        <p:nvSpPr>
          <p:cNvPr id="7" name="Text 4"/>
          <p:cNvSpPr/>
          <p:nvPr/>
        </p:nvSpPr>
        <p:spPr>
          <a:xfrm>
            <a:off x="1298448" y="2631095"/>
            <a:ext cx="4440784"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FAT CONTEXT — EVERY PLAYBOOK LOADED</a:t>
            </a:r>
            <a:endParaRPr lang="en-US" sz="850" dirty="0"/>
          </a:p>
        </p:txBody>
      </p:sp>
      <p:sp>
        <p:nvSpPr>
          <p:cNvPr id="8" name="Text 5"/>
          <p:cNvSpPr/>
          <p:nvPr/>
        </p:nvSpPr>
        <p:spPr>
          <a:xfrm>
            <a:off x="1298448" y="2850551"/>
            <a:ext cx="4440784" cy="354604"/>
          </a:xfrm>
          <a:prstGeom prst="rect">
            <a:avLst/>
          </a:prstGeom>
          <a:noFill/>
          <a:ln/>
        </p:spPr>
        <p:txBody>
          <a:bodyPr wrap="square" lIns="0" tIns="0" rIns="0" bIns="0" rtlCol="0" anchor="t"/>
          <a:lstStyle/>
          <a:p>
            <a:pPr indent="0" marL="0">
              <a:lnSpc>
                <a:spcPct val="105000"/>
              </a:lnSpc>
              <a:buNone/>
            </a:pPr>
            <a:r>
              <a:rPr lang="en-US" sz="1550" b="1" dirty="0">
                <a:solidFill>
                  <a:srgbClr val="141235"/>
                </a:solidFill>
                <a:latin typeface="Calibri" pitchFamily="34" charset="0"/>
                <a:ea typeface="Calibri" pitchFamily="34" charset="-122"/>
                <a:cs typeface="Calibri" pitchFamily="34" charset="-120"/>
              </a:rPr>
              <a:t>518 prompt tokens, and it behaved worse</a:t>
            </a:r>
            <a:endParaRPr lang="en-US" sz="1550" dirty="0"/>
          </a:p>
        </p:txBody>
      </p:sp>
      <p:sp>
        <p:nvSpPr>
          <p:cNvPr id="9" name="Text 6"/>
          <p:cNvSpPr/>
          <p:nvPr/>
        </p:nvSpPr>
        <p:spPr>
          <a:xfrm>
            <a:off x="1298448" y="3214299"/>
            <a:ext cx="4440784" cy="948599"/>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Carrying every playbook up front, the model asked to go and read a playbook it was already holding. More context did not make it better informed. It made it less decisive.</a:t>
            </a:r>
            <a:endParaRPr lang="en-US" sz="1200" dirty="0"/>
          </a:p>
        </p:txBody>
      </p:sp>
      <p:sp>
        <p:nvSpPr>
          <p:cNvPr id="10" name="Shape 7"/>
          <p:cNvSpPr/>
          <p:nvPr/>
        </p:nvSpPr>
        <p:spPr>
          <a:xfrm>
            <a:off x="6214720" y="2420783"/>
            <a:ext cx="5410048" cy="1924995"/>
          </a:xfrm>
          <a:prstGeom prst="roundRect">
            <a:avLst>
              <a:gd name="adj" fmla="val 4275"/>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6452464" y="2640239"/>
            <a:ext cx="365760" cy="365760"/>
          </a:xfrm>
          <a:prstGeom prst="ellipse">
            <a:avLst/>
          </a:prstGeom>
          <a:solidFill>
            <a:srgbClr val="0E9F6E"/>
          </a:solidFill>
          <a:ln w="12700">
            <a:solidFill>
              <a:srgbClr val="0E9F6E"/>
            </a:solidFill>
            <a:prstDash val="solid"/>
          </a:ln>
        </p:spPr>
      </p:sp>
      <p:pic>
        <p:nvPicPr>
          <p:cNvPr id="12" name="Image 1" descr="preencoded.png">    </p:cNvPr>
          <p:cNvPicPr>
            <a:picLocks noChangeAspect="1"/>
          </p:cNvPicPr>
          <p:nvPr/>
        </p:nvPicPr>
        <p:blipFill>
          <a:blip r:embed="rId2"/>
          <a:stretch>
            <a:fillRect/>
          </a:stretch>
        </p:blipFill>
        <p:spPr>
          <a:xfrm>
            <a:off x="6543904" y="2731679"/>
            <a:ext cx="182880" cy="182880"/>
          </a:xfrm>
          <a:prstGeom prst="rect">
            <a:avLst/>
          </a:prstGeom>
        </p:spPr>
      </p:pic>
      <p:sp>
        <p:nvSpPr>
          <p:cNvPr id="13" name="Text 9"/>
          <p:cNvSpPr/>
          <p:nvPr/>
        </p:nvSpPr>
        <p:spPr>
          <a:xfrm>
            <a:off x="6946240" y="2631095"/>
            <a:ext cx="4440784"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THIN CONTEXT — A CATALOGUE, THEN DETAIL ON REQUEST</a:t>
            </a:r>
            <a:endParaRPr lang="en-US" sz="850" dirty="0"/>
          </a:p>
        </p:txBody>
      </p:sp>
      <p:sp>
        <p:nvSpPr>
          <p:cNvPr id="14" name="Text 10"/>
          <p:cNvSpPr/>
          <p:nvPr/>
        </p:nvSpPr>
        <p:spPr>
          <a:xfrm>
            <a:off x="6946240" y="2850551"/>
            <a:ext cx="4440784" cy="654345"/>
          </a:xfrm>
          <a:prstGeom prst="rect">
            <a:avLst/>
          </a:prstGeom>
          <a:noFill/>
          <a:ln/>
        </p:spPr>
        <p:txBody>
          <a:bodyPr wrap="square" lIns="0" tIns="0" rIns="0" bIns="0" rtlCol="0" anchor="t"/>
          <a:lstStyle/>
          <a:p>
            <a:pPr indent="0" marL="0">
              <a:lnSpc>
                <a:spcPct val="105000"/>
              </a:lnSpc>
              <a:buNone/>
            </a:pPr>
            <a:r>
              <a:rPr lang="en-US" sz="1550" b="1" dirty="0">
                <a:solidFill>
                  <a:srgbClr val="141235"/>
                </a:solidFill>
                <a:latin typeface="Calibri" pitchFamily="34" charset="0"/>
                <a:ea typeface="Calibri" pitchFamily="34" charset="-122"/>
                <a:cs typeface="Calibri" pitchFamily="34" charset="-120"/>
              </a:rPr>
              <a:t>355 prompt tokens, and it went straight to the answer</a:t>
            </a:r>
            <a:endParaRPr lang="en-US" sz="1550" dirty="0"/>
          </a:p>
        </p:txBody>
      </p:sp>
      <p:sp>
        <p:nvSpPr>
          <p:cNvPr id="15" name="Text 11"/>
          <p:cNvSpPr/>
          <p:nvPr/>
        </p:nvSpPr>
        <p:spPr>
          <a:xfrm>
            <a:off x="6946240" y="3514039"/>
            <a:ext cx="4440784" cy="648858"/>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A short list of what exists, plus one tool that fetches the full text when it is actually wanted. 31% cheaper on this question — and it chose the right tool first time.</a:t>
            </a:r>
            <a:endParaRPr lang="en-US" sz="1200" dirty="0"/>
          </a:p>
        </p:txBody>
      </p:sp>
      <p:sp>
        <p:nvSpPr>
          <p:cNvPr id="16" name="Text 12"/>
          <p:cNvSpPr/>
          <p:nvPr/>
        </p:nvSpPr>
        <p:spPr>
          <a:xfrm>
            <a:off x="566928" y="4974336"/>
            <a:ext cx="11057839" cy="310896"/>
          </a:xfrm>
          <a:prstGeom prst="rect">
            <a:avLst/>
          </a:prstGeom>
          <a:noFill/>
          <a:ln/>
        </p:spPr>
        <p:txBody>
          <a:bodyPr wrap="square" lIns="0" tIns="0" rIns="0" bIns="0" rtlCol="0" anchor="ctr"/>
          <a:lstStyle/>
          <a:p>
            <a:pPr indent="0" marL="0">
              <a:buNone/>
            </a:pPr>
            <a:r>
              <a:rPr lang="en-US" sz="1350" i="1" dirty="0">
                <a:solidFill>
                  <a:srgbClr val="3B3760"/>
                </a:solidFill>
                <a:latin typeface="Calibri" pitchFamily="34" charset="0"/>
                <a:ea typeface="Calibri" pitchFamily="34" charset="-122"/>
                <a:cs typeface="Calibri" pitchFamily="34" charset="-120"/>
              </a:rPr>
              <a:t>The saving is the smaller half of the story. The behaviour change is the lesson: a crowded context makes a worse chooser.</a:t>
            </a:r>
            <a:endParaRPr lang="en-US" sz="1350" dirty="0"/>
          </a:p>
        </p:txBody>
      </p:sp>
      <p:sp>
        <p:nvSpPr>
          <p:cNvPr id="17" name="Text 13"/>
          <p:cNvSpPr/>
          <p:nvPr/>
        </p:nvSpPr>
        <p:spPr>
          <a:xfrm>
            <a:off x="566928" y="5358384"/>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Measured on this course's own module 05 notebook, three runs out of three. Re-run it live — the numbers are the point.</a:t>
            </a:r>
            <a:endParaRPr lang="en-US" sz="950" dirty="0"/>
          </a:p>
        </p:txBody>
      </p:sp>
      <p:sp>
        <p:nvSpPr>
          <p:cNvPr id="18" name="Shape 14"/>
          <p:cNvSpPr/>
          <p:nvPr/>
        </p:nvSpPr>
        <p:spPr>
          <a:xfrm>
            <a:off x="566928" y="5669280"/>
            <a:ext cx="11057839" cy="713232"/>
          </a:xfrm>
          <a:prstGeom prst="roundRect">
            <a:avLst>
              <a:gd name="adj" fmla="val 11538"/>
            </a:avLst>
          </a:prstGeom>
          <a:solidFill>
            <a:srgbClr val="FFF4E0"/>
          </a:solidFill>
          <a:ln w="12700">
            <a:solidFill>
              <a:srgbClr val="F3DCB0"/>
            </a:solidFill>
            <a:prstDash val="solid"/>
          </a:ln>
        </p:spPr>
      </p:sp>
      <p:sp>
        <p:nvSpPr>
          <p:cNvPr id="19" name="Shape 15"/>
          <p:cNvSpPr/>
          <p:nvPr/>
        </p:nvSpPr>
        <p:spPr>
          <a:xfrm>
            <a:off x="841248" y="5833872"/>
            <a:ext cx="384048" cy="384048"/>
          </a:xfrm>
          <a:prstGeom prst="ellipse">
            <a:avLst/>
          </a:prstGeom>
          <a:solidFill>
            <a:srgbClr val="F5A524"/>
          </a:solidFill>
          <a:ln w="12700">
            <a:solidFill>
              <a:srgbClr val="F5A524"/>
            </a:solidFill>
            <a:prstDash val="solid"/>
          </a:ln>
        </p:spPr>
      </p:sp>
      <p:pic>
        <p:nvPicPr>
          <p:cNvPr id="20" name="Image 2" descr="preencoded.png">    </p:cNvPr>
          <p:cNvPicPr>
            <a:picLocks noChangeAspect="1"/>
          </p:cNvPicPr>
          <p:nvPr/>
        </p:nvPicPr>
        <p:blipFill>
          <a:blip r:embed="rId3"/>
          <a:stretch>
            <a:fillRect/>
          </a:stretch>
        </p:blipFill>
        <p:spPr>
          <a:xfrm>
            <a:off x="937260" y="5929884"/>
            <a:ext cx="192024" cy="192024"/>
          </a:xfrm>
          <a:prstGeom prst="rect">
            <a:avLst/>
          </a:prstGeom>
        </p:spPr>
      </p:pic>
      <p:sp>
        <p:nvSpPr>
          <p:cNvPr id="21" name="Text 16"/>
          <p:cNvSpPr/>
          <p:nvPr/>
        </p:nvSpPr>
        <p:spPr>
          <a:xfrm>
            <a:off x="1371600" y="5724144"/>
            <a:ext cx="9960559" cy="603504"/>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Give someone a table of contents and let them ask for the chapter, rather than posting them the whole manual before every question.</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05 · CONTEXT 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Without compaction, every turn re-sends everything before it</a:t>
            </a:r>
            <a:endParaRPr lang="en-US" sz="2600" dirty="0"/>
          </a:p>
        </p:txBody>
      </p:sp>
      <p:sp>
        <p:nvSpPr>
          <p:cNvPr id="4" name="Shape 2"/>
          <p:cNvSpPr/>
          <p:nvPr/>
        </p:nvSpPr>
        <p:spPr>
          <a:xfrm>
            <a:off x="1042416" y="5065776"/>
            <a:ext cx="6382512" cy="0"/>
          </a:xfrm>
          <a:prstGeom prst="line">
            <a:avLst/>
          </a:prstGeom>
          <a:noFill/>
          <a:ln w="12700">
            <a:solidFill>
              <a:srgbClr val="E3E4F2"/>
            </a:solidFill>
            <a:prstDash val="solid"/>
          </a:ln>
        </p:spPr>
      </p:sp>
      <p:sp>
        <p:nvSpPr>
          <p:cNvPr id="5" name="Text 3"/>
          <p:cNvSpPr/>
          <p:nvPr/>
        </p:nvSpPr>
        <p:spPr>
          <a:xfrm>
            <a:off x="530352" y="4965192"/>
            <a:ext cx="402336" cy="201168"/>
          </a:xfrm>
          <a:prstGeom prst="rect">
            <a:avLst/>
          </a:prstGeom>
          <a:noFill/>
          <a:ln/>
        </p:spPr>
        <p:txBody>
          <a:bodyPr wrap="square" lIns="0" tIns="0" rIns="0" bIns="0" rtlCol="0" anchor="ctr"/>
          <a:lstStyle/>
          <a:p>
            <a:pPr algn="r" indent="0" marL="0">
              <a:buNone/>
            </a:pPr>
            <a:r>
              <a:rPr lang="en-US" sz="850" dirty="0">
                <a:solidFill>
                  <a:srgbClr val="9B98B4"/>
                </a:solidFill>
                <a:latin typeface="Calibri" pitchFamily="34" charset="0"/>
                <a:ea typeface="Calibri" pitchFamily="34" charset="-122"/>
                <a:cs typeface="Calibri" pitchFamily="34" charset="-120"/>
              </a:rPr>
              <a:t>0</a:t>
            </a:r>
            <a:endParaRPr lang="en-US" sz="850" dirty="0"/>
          </a:p>
        </p:txBody>
      </p:sp>
      <p:sp>
        <p:nvSpPr>
          <p:cNvPr id="6" name="Shape 4"/>
          <p:cNvSpPr/>
          <p:nvPr/>
        </p:nvSpPr>
        <p:spPr>
          <a:xfrm>
            <a:off x="1042416" y="4311396"/>
            <a:ext cx="6382512" cy="0"/>
          </a:xfrm>
          <a:prstGeom prst="line">
            <a:avLst/>
          </a:prstGeom>
          <a:noFill/>
          <a:ln w="12700">
            <a:solidFill>
              <a:srgbClr val="F0F1F8"/>
            </a:solidFill>
            <a:prstDash val="solid"/>
          </a:ln>
        </p:spPr>
      </p:sp>
      <p:sp>
        <p:nvSpPr>
          <p:cNvPr id="7" name="Text 5"/>
          <p:cNvSpPr/>
          <p:nvPr/>
        </p:nvSpPr>
        <p:spPr>
          <a:xfrm>
            <a:off x="530352" y="4210812"/>
            <a:ext cx="402336" cy="201168"/>
          </a:xfrm>
          <a:prstGeom prst="rect">
            <a:avLst/>
          </a:prstGeom>
          <a:noFill/>
          <a:ln/>
        </p:spPr>
        <p:txBody>
          <a:bodyPr wrap="square" lIns="0" tIns="0" rIns="0" bIns="0" rtlCol="0" anchor="ctr"/>
          <a:lstStyle/>
          <a:p>
            <a:pPr algn="r" indent="0" marL="0">
              <a:buNone/>
            </a:pPr>
            <a:r>
              <a:rPr lang="en-US" sz="850" dirty="0">
                <a:solidFill>
                  <a:srgbClr val="9B98B4"/>
                </a:solidFill>
                <a:latin typeface="Calibri" pitchFamily="34" charset="0"/>
                <a:ea typeface="Calibri" pitchFamily="34" charset="-122"/>
                <a:cs typeface="Calibri" pitchFamily="34" charset="-120"/>
              </a:rPr>
              <a:t>3k</a:t>
            </a:r>
            <a:endParaRPr lang="en-US" sz="850" dirty="0"/>
          </a:p>
        </p:txBody>
      </p:sp>
      <p:sp>
        <p:nvSpPr>
          <p:cNvPr id="8" name="Shape 6"/>
          <p:cNvSpPr/>
          <p:nvPr/>
        </p:nvSpPr>
        <p:spPr>
          <a:xfrm>
            <a:off x="1042416" y="3557016"/>
            <a:ext cx="6382512" cy="0"/>
          </a:xfrm>
          <a:prstGeom prst="line">
            <a:avLst/>
          </a:prstGeom>
          <a:noFill/>
          <a:ln w="12700">
            <a:solidFill>
              <a:srgbClr val="F0F1F8"/>
            </a:solidFill>
            <a:prstDash val="solid"/>
          </a:ln>
        </p:spPr>
      </p:sp>
      <p:sp>
        <p:nvSpPr>
          <p:cNvPr id="9" name="Text 7"/>
          <p:cNvSpPr/>
          <p:nvPr/>
        </p:nvSpPr>
        <p:spPr>
          <a:xfrm>
            <a:off x="530352" y="3456432"/>
            <a:ext cx="402336" cy="201168"/>
          </a:xfrm>
          <a:prstGeom prst="rect">
            <a:avLst/>
          </a:prstGeom>
          <a:noFill/>
          <a:ln/>
        </p:spPr>
        <p:txBody>
          <a:bodyPr wrap="square" lIns="0" tIns="0" rIns="0" bIns="0" rtlCol="0" anchor="ctr"/>
          <a:lstStyle/>
          <a:p>
            <a:pPr algn="r" indent="0" marL="0">
              <a:buNone/>
            </a:pPr>
            <a:r>
              <a:rPr lang="en-US" sz="850" dirty="0">
                <a:solidFill>
                  <a:srgbClr val="9B98B4"/>
                </a:solidFill>
                <a:latin typeface="Calibri" pitchFamily="34" charset="0"/>
                <a:ea typeface="Calibri" pitchFamily="34" charset="-122"/>
                <a:cs typeface="Calibri" pitchFamily="34" charset="-120"/>
              </a:rPr>
              <a:t>6k</a:t>
            </a:r>
            <a:endParaRPr lang="en-US" sz="850" dirty="0"/>
          </a:p>
        </p:txBody>
      </p:sp>
      <p:sp>
        <p:nvSpPr>
          <p:cNvPr id="10" name="Shape 8"/>
          <p:cNvSpPr/>
          <p:nvPr/>
        </p:nvSpPr>
        <p:spPr>
          <a:xfrm>
            <a:off x="1042416" y="2802636"/>
            <a:ext cx="6382512" cy="0"/>
          </a:xfrm>
          <a:prstGeom prst="line">
            <a:avLst/>
          </a:prstGeom>
          <a:noFill/>
          <a:ln w="12700">
            <a:solidFill>
              <a:srgbClr val="F0F1F8"/>
            </a:solidFill>
            <a:prstDash val="solid"/>
          </a:ln>
        </p:spPr>
      </p:sp>
      <p:sp>
        <p:nvSpPr>
          <p:cNvPr id="11" name="Text 9"/>
          <p:cNvSpPr/>
          <p:nvPr/>
        </p:nvSpPr>
        <p:spPr>
          <a:xfrm>
            <a:off x="530352" y="2702052"/>
            <a:ext cx="402336" cy="201168"/>
          </a:xfrm>
          <a:prstGeom prst="rect">
            <a:avLst/>
          </a:prstGeom>
          <a:noFill/>
          <a:ln/>
        </p:spPr>
        <p:txBody>
          <a:bodyPr wrap="square" lIns="0" tIns="0" rIns="0" bIns="0" rtlCol="0" anchor="ctr"/>
          <a:lstStyle/>
          <a:p>
            <a:pPr algn="r" indent="0" marL="0">
              <a:buNone/>
            </a:pPr>
            <a:r>
              <a:rPr lang="en-US" sz="850" dirty="0">
                <a:solidFill>
                  <a:srgbClr val="9B98B4"/>
                </a:solidFill>
                <a:latin typeface="Calibri" pitchFamily="34" charset="0"/>
                <a:ea typeface="Calibri" pitchFamily="34" charset="-122"/>
                <a:cs typeface="Calibri" pitchFamily="34" charset="-120"/>
              </a:rPr>
              <a:t>9k</a:t>
            </a:r>
            <a:endParaRPr lang="en-US" sz="850" dirty="0"/>
          </a:p>
        </p:txBody>
      </p:sp>
      <p:sp>
        <p:nvSpPr>
          <p:cNvPr id="12" name="Shape 10"/>
          <p:cNvSpPr/>
          <p:nvPr/>
        </p:nvSpPr>
        <p:spPr>
          <a:xfrm>
            <a:off x="1042416" y="2048256"/>
            <a:ext cx="6382512" cy="0"/>
          </a:xfrm>
          <a:prstGeom prst="line">
            <a:avLst/>
          </a:prstGeom>
          <a:noFill/>
          <a:ln w="12700">
            <a:solidFill>
              <a:srgbClr val="F0F1F8"/>
            </a:solidFill>
            <a:prstDash val="solid"/>
          </a:ln>
        </p:spPr>
      </p:sp>
      <p:sp>
        <p:nvSpPr>
          <p:cNvPr id="13" name="Text 11"/>
          <p:cNvSpPr/>
          <p:nvPr/>
        </p:nvSpPr>
        <p:spPr>
          <a:xfrm>
            <a:off x="530352" y="1947672"/>
            <a:ext cx="402336" cy="201168"/>
          </a:xfrm>
          <a:prstGeom prst="rect">
            <a:avLst/>
          </a:prstGeom>
          <a:noFill/>
          <a:ln/>
        </p:spPr>
        <p:txBody>
          <a:bodyPr wrap="square" lIns="0" tIns="0" rIns="0" bIns="0" rtlCol="0" anchor="ctr"/>
          <a:lstStyle/>
          <a:p>
            <a:pPr algn="r" indent="0" marL="0">
              <a:buNone/>
            </a:pPr>
            <a:r>
              <a:rPr lang="en-US" sz="850" dirty="0">
                <a:solidFill>
                  <a:srgbClr val="9B98B4"/>
                </a:solidFill>
                <a:latin typeface="Calibri" pitchFamily="34" charset="0"/>
                <a:ea typeface="Calibri" pitchFamily="34" charset="-122"/>
                <a:cs typeface="Calibri" pitchFamily="34" charset="-120"/>
              </a:rPr>
              <a:t>12k</a:t>
            </a:r>
            <a:endParaRPr lang="en-US" sz="850" dirty="0"/>
          </a:p>
        </p:txBody>
      </p:sp>
      <p:sp>
        <p:nvSpPr>
          <p:cNvPr id="14" name="Shape 12"/>
          <p:cNvSpPr/>
          <p:nvPr/>
        </p:nvSpPr>
        <p:spPr>
          <a:xfrm>
            <a:off x="1297716" y="4764024"/>
            <a:ext cx="553151" cy="301752"/>
          </a:xfrm>
          <a:prstGeom prst="roundRect">
            <a:avLst>
              <a:gd name="adj" fmla="val 15152"/>
            </a:avLst>
          </a:prstGeom>
          <a:solidFill>
            <a:srgbClr val="C7C2F7"/>
          </a:solidFill>
          <a:ln w="12700">
            <a:solidFill>
              <a:srgbClr val="C7C2F7"/>
            </a:solidFill>
            <a:prstDash val="solid"/>
          </a:ln>
        </p:spPr>
      </p:sp>
      <p:sp>
        <p:nvSpPr>
          <p:cNvPr id="15" name="Text 13"/>
          <p:cNvSpPr/>
          <p:nvPr/>
        </p:nvSpPr>
        <p:spPr>
          <a:xfrm>
            <a:off x="1042416" y="4489704"/>
            <a:ext cx="1063752" cy="256032"/>
          </a:xfrm>
          <a:prstGeom prst="rect">
            <a:avLst/>
          </a:prstGeom>
          <a:noFill/>
          <a:ln/>
        </p:spPr>
        <p:txBody>
          <a:bodyPr wrap="square" lIns="0" tIns="0" rIns="0" bIns="0" rtlCol="0" anchor="b"/>
          <a:lstStyle/>
          <a:p>
            <a:pPr algn="ctr" indent="0" marL="0">
              <a:buNone/>
            </a:pPr>
            <a:r>
              <a:rPr lang="en-US" sz="1050" b="1" dirty="0">
                <a:solidFill>
                  <a:srgbClr val="3B3760"/>
                </a:solidFill>
                <a:latin typeface="Calibri" pitchFamily="34" charset="0"/>
                <a:ea typeface="Calibri" pitchFamily="34" charset="-122"/>
                <a:cs typeface="Calibri" pitchFamily="34" charset="-120"/>
              </a:rPr>
              <a:t>1,200</a:t>
            </a:r>
            <a:endParaRPr lang="en-US" sz="1050" dirty="0"/>
          </a:p>
        </p:txBody>
      </p:sp>
      <p:sp>
        <p:nvSpPr>
          <p:cNvPr id="16" name="Text 14"/>
          <p:cNvSpPr/>
          <p:nvPr/>
        </p:nvSpPr>
        <p:spPr>
          <a:xfrm>
            <a:off x="1042416" y="5120640"/>
            <a:ext cx="1063752" cy="310896"/>
          </a:xfrm>
          <a:prstGeom prst="rect">
            <a:avLst/>
          </a:prstGeom>
          <a:noFill/>
          <a:ln/>
        </p:spPr>
        <p:txBody>
          <a:bodyPr wrap="square" lIns="0" tIns="0" rIns="0" bIns="0" rtlCol="0" anchor="t"/>
          <a:lstStyle/>
          <a:p>
            <a:pPr algn="ctr" indent="0" marL="0">
              <a:lnSpc>
                <a:spcPct val="100000"/>
              </a:lnSpc>
              <a:buNone/>
            </a:pPr>
            <a:r>
              <a:rPr lang="en-US" sz="1000" dirty="0">
                <a:solidFill>
                  <a:srgbClr val="6E6B8A"/>
                </a:solidFill>
                <a:latin typeface="Calibri" pitchFamily="34" charset="0"/>
                <a:ea typeface="Calibri" pitchFamily="34" charset="-122"/>
                <a:cs typeface="Calibri" pitchFamily="34" charset="-120"/>
              </a:rPr>
              <a:t>Turn 1</a:t>
            </a:r>
            <a:endParaRPr lang="en-US" sz="1000" dirty="0"/>
          </a:p>
        </p:txBody>
      </p:sp>
      <p:sp>
        <p:nvSpPr>
          <p:cNvPr id="17" name="Shape 15"/>
          <p:cNvSpPr/>
          <p:nvPr/>
        </p:nvSpPr>
        <p:spPr>
          <a:xfrm>
            <a:off x="2361468" y="4411980"/>
            <a:ext cx="553151" cy="653796"/>
          </a:xfrm>
          <a:prstGeom prst="roundRect">
            <a:avLst>
              <a:gd name="adj" fmla="val 8265"/>
            </a:avLst>
          </a:prstGeom>
          <a:solidFill>
            <a:srgbClr val="A79EF2"/>
          </a:solidFill>
          <a:ln w="12700">
            <a:solidFill>
              <a:srgbClr val="A79EF2"/>
            </a:solidFill>
            <a:prstDash val="solid"/>
          </a:ln>
        </p:spPr>
      </p:sp>
      <p:sp>
        <p:nvSpPr>
          <p:cNvPr id="18" name="Text 16"/>
          <p:cNvSpPr/>
          <p:nvPr/>
        </p:nvSpPr>
        <p:spPr>
          <a:xfrm>
            <a:off x="2106168" y="4137660"/>
            <a:ext cx="1063752" cy="256032"/>
          </a:xfrm>
          <a:prstGeom prst="rect">
            <a:avLst/>
          </a:prstGeom>
          <a:noFill/>
          <a:ln/>
        </p:spPr>
        <p:txBody>
          <a:bodyPr wrap="square" lIns="0" tIns="0" rIns="0" bIns="0" rtlCol="0" anchor="b"/>
          <a:lstStyle/>
          <a:p>
            <a:pPr algn="ctr" indent="0" marL="0">
              <a:buNone/>
            </a:pPr>
            <a:r>
              <a:rPr lang="en-US" sz="1050" b="1" dirty="0">
                <a:solidFill>
                  <a:srgbClr val="3B3760"/>
                </a:solidFill>
                <a:latin typeface="Calibri" pitchFamily="34" charset="0"/>
                <a:ea typeface="Calibri" pitchFamily="34" charset="-122"/>
                <a:cs typeface="Calibri" pitchFamily="34" charset="-120"/>
              </a:rPr>
              <a:t>2,600</a:t>
            </a:r>
            <a:endParaRPr lang="en-US" sz="1050" dirty="0"/>
          </a:p>
        </p:txBody>
      </p:sp>
      <p:sp>
        <p:nvSpPr>
          <p:cNvPr id="19" name="Text 17"/>
          <p:cNvSpPr/>
          <p:nvPr/>
        </p:nvSpPr>
        <p:spPr>
          <a:xfrm>
            <a:off x="2106168" y="5120640"/>
            <a:ext cx="1063752" cy="310896"/>
          </a:xfrm>
          <a:prstGeom prst="rect">
            <a:avLst/>
          </a:prstGeom>
          <a:noFill/>
          <a:ln/>
        </p:spPr>
        <p:txBody>
          <a:bodyPr wrap="square" lIns="0" tIns="0" rIns="0" bIns="0" rtlCol="0" anchor="t"/>
          <a:lstStyle/>
          <a:p>
            <a:pPr algn="ctr" indent="0" marL="0">
              <a:lnSpc>
                <a:spcPct val="100000"/>
              </a:lnSpc>
              <a:buNone/>
            </a:pPr>
            <a:r>
              <a:rPr lang="en-US" sz="1000" dirty="0">
                <a:solidFill>
                  <a:srgbClr val="6E6B8A"/>
                </a:solidFill>
                <a:latin typeface="Calibri" pitchFamily="34" charset="0"/>
                <a:ea typeface="Calibri" pitchFamily="34" charset="-122"/>
                <a:cs typeface="Calibri" pitchFamily="34" charset="-120"/>
              </a:rPr>
              <a:t>Turn 2</a:t>
            </a:r>
            <a:endParaRPr lang="en-US" sz="1000" dirty="0"/>
          </a:p>
        </p:txBody>
      </p:sp>
      <p:sp>
        <p:nvSpPr>
          <p:cNvPr id="20" name="Shape 18"/>
          <p:cNvSpPr/>
          <p:nvPr/>
        </p:nvSpPr>
        <p:spPr>
          <a:xfrm>
            <a:off x="3425220" y="3959352"/>
            <a:ext cx="553151" cy="1106424"/>
          </a:xfrm>
          <a:prstGeom prst="roundRect">
            <a:avLst>
              <a:gd name="adj" fmla="val 8265"/>
            </a:avLst>
          </a:prstGeom>
          <a:solidFill>
            <a:srgbClr val="8E82F5"/>
          </a:solidFill>
          <a:ln w="12700">
            <a:solidFill>
              <a:srgbClr val="8E82F5"/>
            </a:solidFill>
            <a:prstDash val="solid"/>
          </a:ln>
        </p:spPr>
      </p:sp>
      <p:sp>
        <p:nvSpPr>
          <p:cNvPr id="21" name="Text 19"/>
          <p:cNvSpPr/>
          <p:nvPr/>
        </p:nvSpPr>
        <p:spPr>
          <a:xfrm>
            <a:off x="3169920" y="3685032"/>
            <a:ext cx="1063752" cy="256032"/>
          </a:xfrm>
          <a:prstGeom prst="rect">
            <a:avLst/>
          </a:prstGeom>
          <a:noFill/>
          <a:ln/>
        </p:spPr>
        <p:txBody>
          <a:bodyPr wrap="square" lIns="0" tIns="0" rIns="0" bIns="0" rtlCol="0" anchor="b"/>
          <a:lstStyle/>
          <a:p>
            <a:pPr algn="ctr" indent="0" marL="0">
              <a:buNone/>
            </a:pPr>
            <a:r>
              <a:rPr lang="en-US" sz="1050" b="1" dirty="0">
                <a:solidFill>
                  <a:srgbClr val="3B3760"/>
                </a:solidFill>
                <a:latin typeface="Calibri" pitchFamily="34" charset="0"/>
                <a:ea typeface="Calibri" pitchFamily="34" charset="-122"/>
                <a:cs typeface="Calibri" pitchFamily="34" charset="-120"/>
              </a:rPr>
              <a:t>4,400</a:t>
            </a:r>
            <a:endParaRPr lang="en-US" sz="1050" dirty="0"/>
          </a:p>
        </p:txBody>
      </p:sp>
      <p:sp>
        <p:nvSpPr>
          <p:cNvPr id="22" name="Text 20"/>
          <p:cNvSpPr/>
          <p:nvPr/>
        </p:nvSpPr>
        <p:spPr>
          <a:xfrm>
            <a:off x="3169920" y="5120640"/>
            <a:ext cx="1063752" cy="310896"/>
          </a:xfrm>
          <a:prstGeom prst="rect">
            <a:avLst/>
          </a:prstGeom>
          <a:noFill/>
          <a:ln/>
        </p:spPr>
        <p:txBody>
          <a:bodyPr wrap="square" lIns="0" tIns="0" rIns="0" bIns="0" rtlCol="0" anchor="t"/>
          <a:lstStyle/>
          <a:p>
            <a:pPr algn="ctr" indent="0" marL="0">
              <a:lnSpc>
                <a:spcPct val="100000"/>
              </a:lnSpc>
              <a:buNone/>
            </a:pPr>
            <a:r>
              <a:rPr lang="en-US" sz="1000" dirty="0">
                <a:solidFill>
                  <a:srgbClr val="6E6B8A"/>
                </a:solidFill>
                <a:latin typeface="Calibri" pitchFamily="34" charset="0"/>
                <a:ea typeface="Calibri" pitchFamily="34" charset="-122"/>
                <a:cs typeface="Calibri" pitchFamily="34" charset="-120"/>
              </a:rPr>
              <a:t>Turn 3</a:t>
            </a:r>
            <a:endParaRPr lang="en-US" sz="1000" dirty="0"/>
          </a:p>
        </p:txBody>
      </p:sp>
      <p:sp>
        <p:nvSpPr>
          <p:cNvPr id="23" name="Shape 21"/>
          <p:cNvSpPr/>
          <p:nvPr/>
        </p:nvSpPr>
        <p:spPr>
          <a:xfrm>
            <a:off x="4488972" y="3330702"/>
            <a:ext cx="553151" cy="1735074"/>
          </a:xfrm>
          <a:prstGeom prst="roundRect">
            <a:avLst>
              <a:gd name="adj" fmla="val 8265"/>
            </a:avLst>
          </a:prstGeom>
          <a:solidFill>
            <a:srgbClr val="6E5FE8"/>
          </a:solidFill>
          <a:ln w="12700">
            <a:solidFill>
              <a:srgbClr val="6E5FE8"/>
            </a:solidFill>
            <a:prstDash val="solid"/>
          </a:ln>
        </p:spPr>
      </p:sp>
      <p:sp>
        <p:nvSpPr>
          <p:cNvPr id="24" name="Text 22"/>
          <p:cNvSpPr/>
          <p:nvPr/>
        </p:nvSpPr>
        <p:spPr>
          <a:xfrm>
            <a:off x="4233672" y="3056382"/>
            <a:ext cx="1063752" cy="256032"/>
          </a:xfrm>
          <a:prstGeom prst="rect">
            <a:avLst/>
          </a:prstGeom>
          <a:noFill/>
          <a:ln/>
        </p:spPr>
        <p:txBody>
          <a:bodyPr wrap="square" lIns="0" tIns="0" rIns="0" bIns="0" rtlCol="0" anchor="b"/>
          <a:lstStyle/>
          <a:p>
            <a:pPr algn="ctr" indent="0" marL="0">
              <a:buNone/>
            </a:pPr>
            <a:r>
              <a:rPr lang="en-US" sz="1050" b="1" dirty="0">
                <a:solidFill>
                  <a:srgbClr val="3B3760"/>
                </a:solidFill>
                <a:latin typeface="Calibri" pitchFamily="34" charset="0"/>
                <a:ea typeface="Calibri" pitchFamily="34" charset="-122"/>
                <a:cs typeface="Calibri" pitchFamily="34" charset="-120"/>
              </a:rPr>
              <a:t>6,900</a:t>
            </a:r>
            <a:endParaRPr lang="en-US" sz="1050" dirty="0"/>
          </a:p>
        </p:txBody>
      </p:sp>
      <p:sp>
        <p:nvSpPr>
          <p:cNvPr id="25" name="Text 23"/>
          <p:cNvSpPr/>
          <p:nvPr/>
        </p:nvSpPr>
        <p:spPr>
          <a:xfrm>
            <a:off x="4233672" y="5120640"/>
            <a:ext cx="1063752" cy="310896"/>
          </a:xfrm>
          <a:prstGeom prst="rect">
            <a:avLst/>
          </a:prstGeom>
          <a:noFill/>
          <a:ln/>
        </p:spPr>
        <p:txBody>
          <a:bodyPr wrap="square" lIns="0" tIns="0" rIns="0" bIns="0" rtlCol="0" anchor="t"/>
          <a:lstStyle/>
          <a:p>
            <a:pPr algn="ctr" indent="0" marL="0">
              <a:lnSpc>
                <a:spcPct val="100000"/>
              </a:lnSpc>
              <a:buNone/>
            </a:pPr>
            <a:r>
              <a:rPr lang="en-US" sz="1000" dirty="0">
                <a:solidFill>
                  <a:srgbClr val="6E6B8A"/>
                </a:solidFill>
                <a:latin typeface="Calibri" pitchFamily="34" charset="0"/>
                <a:ea typeface="Calibri" pitchFamily="34" charset="-122"/>
                <a:cs typeface="Calibri" pitchFamily="34" charset="-120"/>
              </a:rPr>
              <a:t>Turn 4</a:t>
            </a:r>
            <a:endParaRPr lang="en-US" sz="1000" dirty="0"/>
          </a:p>
        </p:txBody>
      </p:sp>
      <p:sp>
        <p:nvSpPr>
          <p:cNvPr id="26" name="Shape 24"/>
          <p:cNvSpPr/>
          <p:nvPr/>
        </p:nvSpPr>
        <p:spPr>
          <a:xfrm>
            <a:off x="5552724" y="2500884"/>
            <a:ext cx="553151" cy="2564892"/>
          </a:xfrm>
          <a:prstGeom prst="roundRect">
            <a:avLst>
              <a:gd name="adj" fmla="val 8265"/>
            </a:avLst>
          </a:prstGeom>
          <a:solidFill>
            <a:srgbClr val="4A38D9"/>
          </a:solidFill>
          <a:ln w="12700">
            <a:solidFill>
              <a:srgbClr val="4A38D9"/>
            </a:solidFill>
            <a:prstDash val="solid"/>
          </a:ln>
        </p:spPr>
      </p:sp>
      <p:sp>
        <p:nvSpPr>
          <p:cNvPr id="27" name="Text 25"/>
          <p:cNvSpPr/>
          <p:nvPr/>
        </p:nvSpPr>
        <p:spPr>
          <a:xfrm>
            <a:off x="5297424" y="2226564"/>
            <a:ext cx="1063752" cy="256032"/>
          </a:xfrm>
          <a:prstGeom prst="rect">
            <a:avLst/>
          </a:prstGeom>
          <a:noFill/>
          <a:ln/>
        </p:spPr>
        <p:txBody>
          <a:bodyPr wrap="square" lIns="0" tIns="0" rIns="0" bIns="0" rtlCol="0" anchor="b"/>
          <a:lstStyle/>
          <a:p>
            <a:pPr algn="ctr" indent="0" marL="0">
              <a:buNone/>
            </a:pPr>
            <a:r>
              <a:rPr lang="en-US" sz="1050" b="1" dirty="0">
                <a:solidFill>
                  <a:srgbClr val="3B3760"/>
                </a:solidFill>
                <a:latin typeface="Calibri" pitchFamily="34" charset="0"/>
                <a:ea typeface="Calibri" pitchFamily="34" charset="-122"/>
                <a:cs typeface="Calibri" pitchFamily="34" charset="-120"/>
              </a:rPr>
              <a:t>10,200</a:t>
            </a:r>
            <a:endParaRPr lang="en-US" sz="1050" dirty="0"/>
          </a:p>
        </p:txBody>
      </p:sp>
      <p:sp>
        <p:nvSpPr>
          <p:cNvPr id="28" name="Text 26"/>
          <p:cNvSpPr/>
          <p:nvPr/>
        </p:nvSpPr>
        <p:spPr>
          <a:xfrm>
            <a:off x="5297424" y="5120640"/>
            <a:ext cx="1063752" cy="310896"/>
          </a:xfrm>
          <a:prstGeom prst="rect">
            <a:avLst/>
          </a:prstGeom>
          <a:noFill/>
          <a:ln/>
        </p:spPr>
        <p:txBody>
          <a:bodyPr wrap="square" lIns="0" tIns="0" rIns="0" bIns="0" rtlCol="0" anchor="t"/>
          <a:lstStyle/>
          <a:p>
            <a:pPr algn="ctr" indent="0" marL="0">
              <a:lnSpc>
                <a:spcPct val="100000"/>
              </a:lnSpc>
              <a:buNone/>
            </a:pPr>
            <a:r>
              <a:rPr lang="en-US" sz="1000" dirty="0">
                <a:solidFill>
                  <a:srgbClr val="6E6B8A"/>
                </a:solidFill>
                <a:latin typeface="Calibri" pitchFamily="34" charset="0"/>
                <a:ea typeface="Calibri" pitchFamily="34" charset="-122"/>
                <a:cs typeface="Calibri" pitchFamily="34" charset="-120"/>
              </a:rPr>
              <a:t>Turn 5</a:t>
            </a:r>
            <a:endParaRPr lang="en-US" sz="1000" dirty="0"/>
          </a:p>
        </p:txBody>
      </p:sp>
      <p:sp>
        <p:nvSpPr>
          <p:cNvPr id="29" name="Shape 27"/>
          <p:cNvSpPr/>
          <p:nvPr/>
        </p:nvSpPr>
        <p:spPr>
          <a:xfrm>
            <a:off x="6616476" y="4286250"/>
            <a:ext cx="553151" cy="779526"/>
          </a:xfrm>
          <a:prstGeom prst="roundRect">
            <a:avLst>
              <a:gd name="adj" fmla="val 8265"/>
            </a:avLst>
          </a:prstGeom>
          <a:solidFill>
            <a:srgbClr val="E08700"/>
          </a:solidFill>
          <a:ln w="12700">
            <a:solidFill>
              <a:srgbClr val="E08700"/>
            </a:solidFill>
            <a:prstDash val="solid"/>
          </a:ln>
        </p:spPr>
      </p:sp>
      <p:sp>
        <p:nvSpPr>
          <p:cNvPr id="30" name="Text 28"/>
          <p:cNvSpPr/>
          <p:nvPr/>
        </p:nvSpPr>
        <p:spPr>
          <a:xfrm>
            <a:off x="6361176" y="4011930"/>
            <a:ext cx="1063752" cy="256032"/>
          </a:xfrm>
          <a:prstGeom prst="rect">
            <a:avLst/>
          </a:prstGeom>
          <a:noFill/>
          <a:ln/>
        </p:spPr>
        <p:txBody>
          <a:bodyPr wrap="square" lIns="0" tIns="0" rIns="0" bIns="0" rtlCol="0" anchor="b"/>
          <a:lstStyle/>
          <a:p>
            <a:pPr algn="ctr" indent="0" marL="0">
              <a:buNone/>
            </a:pPr>
            <a:r>
              <a:rPr lang="en-US" sz="1050" b="1" dirty="0">
                <a:solidFill>
                  <a:srgbClr val="E08700"/>
                </a:solidFill>
                <a:latin typeface="Calibri" pitchFamily="34" charset="0"/>
                <a:ea typeface="Calibri" pitchFamily="34" charset="-122"/>
                <a:cs typeface="Calibri" pitchFamily="34" charset="-120"/>
              </a:rPr>
              <a:t>3,100</a:t>
            </a:r>
            <a:endParaRPr lang="en-US" sz="1050" dirty="0"/>
          </a:p>
        </p:txBody>
      </p:sp>
      <p:sp>
        <p:nvSpPr>
          <p:cNvPr id="31" name="Text 29"/>
          <p:cNvSpPr/>
          <p:nvPr/>
        </p:nvSpPr>
        <p:spPr>
          <a:xfrm>
            <a:off x="6361176" y="5120640"/>
            <a:ext cx="1063752" cy="310896"/>
          </a:xfrm>
          <a:prstGeom prst="rect">
            <a:avLst/>
          </a:prstGeom>
          <a:noFill/>
          <a:ln/>
        </p:spPr>
        <p:txBody>
          <a:bodyPr wrap="square" lIns="0" tIns="0" rIns="0" bIns="0" rtlCol="0" anchor="t"/>
          <a:lstStyle/>
          <a:p>
            <a:pPr algn="ctr" indent="0" marL="0">
              <a:lnSpc>
                <a:spcPct val="100000"/>
              </a:lnSpc>
              <a:buNone/>
            </a:pPr>
            <a:r>
              <a:rPr lang="en-US" sz="1000" dirty="0">
                <a:solidFill>
                  <a:srgbClr val="E08700"/>
                </a:solidFill>
                <a:latin typeface="Calibri" pitchFamily="34" charset="0"/>
                <a:ea typeface="Calibri" pitchFamily="34" charset="-122"/>
                <a:cs typeface="Calibri" pitchFamily="34" charset="-120"/>
              </a:rPr>
              <a:t>Turn 5</a:t>
            </a:r>
            <a:endParaRPr lang="en-US" sz="1000" dirty="0"/>
          </a:p>
          <a:p>
            <a:pPr algn="ctr" indent="0" marL="0">
              <a:lnSpc>
                <a:spcPct val="100000"/>
              </a:lnSpc>
              <a:buNone/>
            </a:pPr>
            <a:r>
              <a:rPr lang="en-US" sz="1000" dirty="0">
                <a:solidFill>
                  <a:srgbClr val="E08700"/>
                </a:solidFill>
                <a:latin typeface="Calibri" pitchFamily="34" charset="0"/>
                <a:ea typeface="Calibri" pitchFamily="34" charset="-122"/>
                <a:cs typeface="Calibri" pitchFamily="34" charset="-120"/>
              </a:rPr>
              <a:t>compacted</a:t>
            </a:r>
            <a:endParaRPr lang="en-US" sz="1000" dirty="0"/>
          </a:p>
        </p:txBody>
      </p:sp>
      <p:sp>
        <p:nvSpPr>
          <p:cNvPr id="32" name="Shape 30"/>
          <p:cNvSpPr/>
          <p:nvPr/>
        </p:nvSpPr>
        <p:spPr>
          <a:xfrm>
            <a:off x="7680960" y="1828800"/>
            <a:ext cx="3943807" cy="1225296"/>
          </a:xfrm>
          <a:prstGeom prst="roundRect">
            <a:avLst>
              <a:gd name="adj" fmla="val 6716"/>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33" name="Shape 31"/>
          <p:cNvSpPr/>
          <p:nvPr/>
        </p:nvSpPr>
        <p:spPr>
          <a:xfrm>
            <a:off x="7918704" y="2048256"/>
            <a:ext cx="365760" cy="365760"/>
          </a:xfrm>
          <a:prstGeom prst="ellipse">
            <a:avLst/>
          </a:prstGeom>
          <a:solidFill>
            <a:srgbClr val="D93A3F"/>
          </a:solidFill>
          <a:ln w="12700">
            <a:solidFill>
              <a:srgbClr val="D93A3F"/>
            </a:solidFill>
            <a:prstDash val="solid"/>
          </a:ln>
        </p:spPr>
      </p:sp>
      <p:pic>
        <p:nvPicPr>
          <p:cNvPr id="34" name="Image 0" descr="preencoded.png">    </p:cNvPr>
          <p:cNvPicPr>
            <a:picLocks noChangeAspect="1"/>
          </p:cNvPicPr>
          <p:nvPr/>
        </p:nvPicPr>
        <p:blipFill>
          <a:blip r:embed="rId1"/>
          <a:stretch>
            <a:fillRect/>
          </a:stretch>
        </p:blipFill>
        <p:spPr>
          <a:xfrm>
            <a:off x="8010144" y="2139696"/>
            <a:ext cx="182880" cy="182880"/>
          </a:xfrm>
          <a:prstGeom prst="rect">
            <a:avLst/>
          </a:prstGeom>
        </p:spPr>
      </p:pic>
      <p:sp>
        <p:nvSpPr>
          <p:cNvPr id="35" name="Text 32"/>
          <p:cNvSpPr/>
          <p:nvPr/>
        </p:nvSpPr>
        <p:spPr>
          <a:xfrm>
            <a:off x="8412480" y="2066544"/>
            <a:ext cx="2974543"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Cost climbs with turns, not questions</a:t>
            </a:r>
            <a:endParaRPr lang="en-US" sz="1350" dirty="0"/>
          </a:p>
        </p:txBody>
      </p:sp>
      <p:sp>
        <p:nvSpPr>
          <p:cNvPr id="36" name="Text 33"/>
          <p:cNvSpPr/>
          <p:nvPr/>
        </p:nvSpPr>
        <p:spPr>
          <a:xfrm>
            <a:off x="8412480" y="2665659"/>
            <a:ext cx="2974543" cy="20555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One question over five turns costs far more than five one-turn questions. No budget model assumes this.</a:t>
            </a:r>
            <a:endParaRPr lang="en-US" sz="1100" dirty="0"/>
          </a:p>
        </p:txBody>
      </p:sp>
      <p:sp>
        <p:nvSpPr>
          <p:cNvPr id="37" name="Shape 34"/>
          <p:cNvSpPr/>
          <p:nvPr/>
        </p:nvSpPr>
        <p:spPr>
          <a:xfrm>
            <a:off x="7680960" y="3145536"/>
            <a:ext cx="3943807" cy="1225296"/>
          </a:xfrm>
          <a:prstGeom prst="roundRect">
            <a:avLst>
              <a:gd name="adj" fmla="val 6716"/>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38" name="Shape 35"/>
          <p:cNvSpPr/>
          <p:nvPr/>
        </p:nvSpPr>
        <p:spPr>
          <a:xfrm>
            <a:off x="7918704" y="3364992"/>
            <a:ext cx="365760" cy="365760"/>
          </a:xfrm>
          <a:prstGeom prst="ellipse">
            <a:avLst/>
          </a:prstGeom>
          <a:solidFill>
            <a:srgbClr val="5B4BE8"/>
          </a:solidFill>
          <a:ln w="12700">
            <a:solidFill>
              <a:srgbClr val="5B4BE8"/>
            </a:solidFill>
            <a:prstDash val="solid"/>
          </a:ln>
        </p:spPr>
      </p:sp>
      <p:pic>
        <p:nvPicPr>
          <p:cNvPr id="39" name="Image 1" descr="preencoded.png">    </p:cNvPr>
          <p:cNvPicPr>
            <a:picLocks noChangeAspect="1"/>
          </p:cNvPicPr>
          <p:nvPr/>
        </p:nvPicPr>
        <p:blipFill>
          <a:blip r:embed="rId2"/>
          <a:stretch>
            <a:fillRect/>
          </a:stretch>
        </p:blipFill>
        <p:spPr>
          <a:xfrm>
            <a:off x="8010144" y="3456432"/>
            <a:ext cx="182880" cy="182880"/>
          </a:xfrm>
          <a:prstGeom prst="rect">
            <a:avLst/>
          </a:prstGeom>
        </p:spPr>
      </p:pic>
      <p:sp>
        <p:nvSpPr>
          <p:cNvPr id="40" name="Text 36"/>
          <p:cNvSpPr/>
          <p:nvPr/>
        </p:nvSpPr>
        <p:spPr>
          <a:xfrm>
            <a:off x="8412480" y="3383280"/>
            <a:ext cx="2974543"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Compaction</a:t>
            </a:r>
            <a:endParaRPr lang="en-US" sz="1350" dirty="0"/>
          </a:p>
        </p:txBody>
      </p:sp>
      <p:sp>
        <p:nvSpPr>
          <p:cNvPr id="41" name="Text 37"/>
          <p:cNvSpPr/>
          <p:nvPr/>
        </p:nvSpPr>
        <p:spPr>
          <a:xfrm>
            <a:off x="8412480" y="3714841"/>
            <a:ext cx="2974543" cy="473111"/>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Summarise the history under a schema you control, then continue from the summary. The curve flattens instead of compounding.</a:t>
            </a:r>
            <a:endParaRPr lang="en-US" sz="1100" dirty="0"/>
          </a:p>
        </p:txBody>
      </p:sp>
      <p:sp>
        <p:nvSpPr>
          <p:cNvPr id="42" name="Shape 38"/>
          <p:cNvSpPr/>
          <p:nvPr/>
        </p:nvSpPr>
        <p:spPr>
          <a:xfrm>
            <a:off x="7680960" y="4462272"/>
            <a:ext cx="3943807" cy="1097280"/>
          </a:xfrm>
          <a:prstGeom prst="roundRect">
            <a:avLst>
              <a:gd name="adj" fmla="val 750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43" name="Shape 39"/>
          <p:cNvSpPr/>
          <p:nvPr/>
        </p:nvSpPr>
        <p:spPr>
          <a:xfrm>
            <a:off x="7918704" y="4681728"/>
            <a:ext cx="365760" cy="365760"/>
          </a:xfrm>
          <a:prstGeom prst="ellipse">
            <a:avLst/>
          </a:prstGeom>
          <a:solidFill>
            <a:srgbClr val="F5A524"/>
          </a:solidFill>
          <a:ln w="12700">
            <a:solidFill>
              <a:srgbClr val="F5A524"/>
            </a:solidFill>
            <a:prstDash val="solid"/>
          </a:ln>
        </p:spPr>
      </p:sp>
      <p:pic>
        <p:nvPicPr>
          <p:cNvPr id="44" name="Image 2" descr="preencoded.png">    </p:cNvPr>
          <p:cNvPicPr>
            <a:picLocks noChangeAspect="1"/>
          </p:cNvPicPr>
          <p:nvPr/>
        </p:nvPicPr>
        <p:blipFill>
          <a:blip r:embed="rId3"/>
          <a:stretch>
            <a:fillRect/>
          </a:stretch>
        </p:blipFill>
        <p:spPr>
          <a:xfrm>
            <a:off x="8010144" y="4773168"/>
            <a:ext cx="182880" cy="182880"/>
          </a:xfrm>
          <a:prstGeom prst="rect">
            <a:avLst/>
          </a:prstGeom>
        </p:spPr>
      </p:pic>
      <p:sp>
        <p:nvSpPr>
          <p:cNvPr id="45" name="Text 40"/>
          <p:cNvSpPr/>
          <p:nvPr/>
        </p:nvSpPr>
        <p:spPr>
          <a:xfrm>
            <a:off x="8412480" y="4700016"/>
            <a:ext cx="2974543"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Summarise on purpose</a:t>
            </a:r>
            <a:endParaRPr lang="en-US" sz="1350" dirty="0"/>
          </a:p>
        </p:txBody>
      </p:sp>
      <p:sp>
        <p:nvSpPr>
          <p:cNvPr id="46" name="Text 41"/>
          <p:cNvSpPr/>
          <p:nvPr/>
        </p:nvSpPr>
        <p:spPr>
          <a:xfrm>
            <a:off x="8412480" y="5031577"/>
            <a:ext cx="2974543" cy="345095"/>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An uncontrolled summary drops the one fact the next turn needed. Decide what must always survive.</a:t>
            </a:r>
            <a:endParaRPr lang="en-US" sz="1100" dirty="0"/>
          </a:p>
        </p:txBody>
      </p:sp>
      <p:sp>
        <p:nvSpPr>
          <p:cNvPr id="47" name="Text 42"/>
          <p:cNvSpPr/>
          <p:nvPr/>
        </p:nvSpPr>
        <p:spPr>
          <a:xfrm>
            <a:off x="566928" y="5504688"/>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Illustrative token counts — run the notebook's own counter live and use the real numbers from the room's session.</a:t>
            </a:r>
            <a:endParaRPr lang="en-US" sz="950" dirty="0"/>
          </a:p>
        </p:txBody>
      </p:sp>
      <p:sp>
        <p:nvSpPr>
          <p:cNvPr id="48" name="Shape 43"/>
          <p:cNvSpPr/>
          <p:nvPr/>
        </p:nvSpPr>
        <p:spPr>
          <a:xfrm>
            <a:off x="566928" y="5797296"/>
            <a:ext cx="11057839" cy="713232"/>
          </a:xfrm>
          <a:prstGeom prst="roundRect">
            <a:avLst>
              <a:gd name="adj" fmla="val 11538"/>
            </a:avLst>
          </a:prstGeom>
          <a:solidFill>
            <a:srgbClr val="FFF4E0"/>
          </a:solidFill>
          <a:ln w="12700">
            <a:solidFill>
              <a:srgbClr val="F3DCB0"/>
            </a:solidFill>
            <a:prstDash val="solid"/>
          </a:ln>
        </p:spPr>
      </p:sp>
      <p:sp>
        <p:nvSpPr>
          <p:cNvPr id="49" name="Shape 44"/>
          <p:cNvSpPr/>
          <p:nvPr/>
        </p:nvSpPr>
        <p:spPr>
          <a:xfrm>
            <a:off x="841248" y="5961888"/>
            <a:ext cx="384048" cy="384048"/>
          </a:xfrm>
          <a:prstGeom prst="ellipse">
            <a:avLst/>
          </a:prstGeom>
          <a:solidFill>
            <a:srgbClr val="F5A524"/>
          </a:solidFill>
          <a:ln w="12700">
            <a:solidFill>
              <a:srgbClr val="F5A524"/>
            </a:solidFill>
            <a:prstDash val="solid"/>
          </a:ln>
        </p:spPr>
      </p:sp>
      <p:pic>
        <p:nvPicPr>
          <p:cNvPr id="50" name="Image 3" descr="preencoded.png">    </p:cNvPr>
          <p:cNvPicPr>
            <a:picLocks noChangeAspect="1"/>
          </p:cNvPicPr>
          <p:nvPr/>
        </p:nvPicPr>
        <p:blipFill>
          <a:blip r:embed="rId4"/>
          <a:stretch>
            <a:fillRect/>
          </a:stretch>
        </p:blipFill>
        <p:spPr>
          <a:xfrm>
            <a:off x="937260" y="6057900"/>
            <a:ext cx="192024" cy="192024"/>
          </a:xfrm>
          <a:prstGeom prst="rect">
            <a:avLst/>
          </a:prstGeom>
        </p:spPr>
      </p:pic>
      <p:sp>
        <p:nvSpPr>
          <p:cNvPr id="51" name="Text 45"/>
          <p:cNvSpPr/>
          <p:nvPr/>
        </p:nvSpPr>
        <p:spPr>
          <a:xfrm>
            <a:off x="1371600" y="5852160"/>
            <a:ext cx="9960559" cy="603504"/>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 conversation is a snowball. Compaction is deciding, deliberately, what to keep when you re-pack it.</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A22"/>
        </a:solidFill>
      </p:bgPr>
    </p:bg>
    <p:spTree>
      <p:nvGrpSpPr>
        <p:cNvPr id="1" name=""/>
        <p:cNvGrpSpPr/>
        <p:nvPr/>
      </p:nvGrpSpPr>
      <p:grpSpPr>
        <a:xfrm>
          <a:off x="0" y="0"/>
          <a:ext cx="0" cy="0"/>
          <a:chOff x="0" y="0"/>
          <a:chExt cx="0" cy="0"/>
        </a:xfrm>
      </p:grpSpPr>
      <p:pic>
        <p:nvPicPr>
          <p:cNvPr id="2" name="Image 0" descr="bg quo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05 · CONTEXT ENGINEERING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indent="0" marL="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indent="0" marL="0">
              <a:lnSpc>
                <a:spcPct val="116000"/>
              </a:lnSpc>
              <a:buNone/>
            </a:pPr>
            <a:r>
              <a:rPr lang="en-US" sz="3400" b="1" dirty="0">
                <a:solidFill>
                  <a:srgbClr val="FFFFFF"/>
                </a:solidFill>
                <a:latin typeface="Cambria" pitchFamily="34" charset="0"/>
                <a:ea typeface="Cambria" pitchFamily="34" charset="-122"/>
                <a:cs typeface="Cambria" pitchFamily="34" charset="-120"/>
              </a:rPr>
              <a:t>Context filling up quietly ends</a:t>
            </a:r>
            <a:endParaRPr lang="en-US" sz="3400" dirty="0"/>
          </a:p>
          <a:p>
            <a:pPr indent="0" marL="0">
              <a:lnSpc>
                <a:spcPct val="116000"/>
              </a:lnSpc>
              <a:buNone/>
            </a:pPr>
            <a:r>
              <a:rPr lang="en-US" sz="3400" b="1" dirty="0">
                <a:solidFill>
                  <a:srgbClr val="FFFFFF"/>
                </a:solidFill>
                <a:latin typeface="Cambria" pitchFamily="34" charset="0"/>
                <a:ea typeface="Cambria" pitchFamily="34" charset="-122"/>
                <a:cs typeface="Cambria" pitchFamily="34" charset="-120"/>
              </a:rPr>
              <a:t>more pilots than any dramatic</a:t>
            </a:r>
            <a:endParaRPr lang="en-US" sz="3400" dirty="0"/>
          </a:p>
          <a:p>
            <a:pPr indent="0" marL="0">
              <a:lnSpc>
                <a:spcPct val="116000"/>
              </a:lnSpc>
              <a:buNone/>
            </a:pPr>
            <a:r>
              <a:rPr lang="en-US" sz="3400" b="1" dirty="0">
                <a:solidFill>
                  <a:srgbClr val="FFFFFF"/>
                </a:solidFill>
                <a:latin typeface="Cambria" pitchFamily="34" charset="0"/>
                <a:ea typeface="Cambria" pitchFamily="34" charset="-122"/>
                <a:cs typeface="Cambria" pitchFamily="34" charset="-120"/>
              </a:rPr>
              <a:t>failure does.</a:t>
            </a:r>
            <a:endParaRPr lang="en-US" sz="34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indent="0" marL="0">
              <a:lnSpc>
                <a:spcPct val="120000"/>
              </a:lnSpc>
              <a:buNone/>
            </a:pPr>
            <a:r>
              <a:rPr lang="en-US" sz="1450" dirty="0">
                <a:solidFill>
                  <a:srgbClr val="B9B4E0"/>
                </a:solidFill>
                <a:latin typeface="Calibri" pitchFamily="34" charset="0"/>
                <a:ea typeface="Calibri" pitchFamily="34" charset="-122"/>
                <a:cs typeface="Calibri" pitchFamily="34" charset="-120"/>
              </a:rPr>
              <a:t>Nobody writes a post-mortem about it. The agent just gets slower, more expensive and less accurate until somebody quietly turns it off.</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06</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06</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Why MCP exists</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A standard boundary, so a tool written once works with any agent.</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The problem is combinatorial, not technical</a:t>
            </a:r>
            <a:endParaRPr lang="en-US" sz="3000" dirty="0"/>
          </a:p>
        </p:txBody>
      </p:sp>
      <p:sp>
        <p:nvSpPr>
          <p:cNvPr id="4" name="Shape 2"/>
          <p:cNvSpPr/>
          <p:nvPr/>
        </p:nvSpPr>
        <p:spPr>
          <a:xfrm>
            <a:off x="566928" y="1773936"/>
            <a:ext cx="5230368" cy="3200400"/>
          </a:xfrm>
          <a:prstGeom prst="roundRect">
            <a:avLst>
              <a:gd name="adj" fmla="val 2857"/>
            </a:avLst>
          </a:prstGeom>
          <a:solidFill>
            <a:srgbClr val="FDECEC"/>
          </a:solidFill>
          <a:ln w="12700">
            <a:solidFill>
              <a:srgbClr val="F1C9C9"/>
            </a:solidFill>
            <a:prstDash val="solid"/>
          </a:ln>
        </p:spPr>
      </p:sp>
      <p:sp>
        <p:nvSpPr>
          <p:cNvPr id="5" name="Text 3"/>
          <p:cNvSpPr/>
          <p:nvPr/>
        </p:nvSpPr>
        <p:spPr>
          <a:xfrm>
            <a:off x="822960" y="1920240"/>
            <a:ext cx="3657600" cy="237744"/>
          </a:xfrm>
          <a:prstGeom prst="rect">
            <a:avLst/>
          </a:prstGeom>
          <a:noFill/>
          <a:ln/>
        </p:spPr>
        <p:txBody>
          <a:bodyPr wrap="square" lIns="0" tIns="0" rIns="0" bIns="0" rtlCol="0" anchor="ctr"/>
          <a:lstStyle/>
          <a:p>
            <a:pPr indent="0" marL="0">
              <a:buNone/>
            </a:pPr>
            <a:r>
              <a:rPr lang="en-US" sz="950" b="1" spc="180" kern="0" dirty="0">
                <a:solidFill>
                  <a:srgbClr val="D93A3F"/>
                </a:solidFill>
                <a:latin typeface="Calibri" pitchFamily="34" charset="0"/>
                <a:ea typeface="Calibri" pitchFamily="34" charset="-122"/>
                <a:cs typeface="Calibri" pitchFamily="34" charset="-120"/>
              </a:rPr>
              <a:t>WITHOUT A STANDARD</a:t>
            </a:r>
            <a:endParaRPr lang="en-US" sz="950" dirty="0"/>
          </a:p>
        </p:txBody>
      </p:sp>
      <p:sp>
        <p:nvSpPr>
          <p:cNvPr id="6" name="Shape 4"/>
          <p:cNvSpPr/>
          <p:nvPr/>
        </p:nvSpPr>
        <p:spPr>
          <a:xfrm>
            <a:off x="877824" y="2286000"/>
            <a:ext cx="1463040" cy="512064"/>
          </a:xfrm>
          <a:prstGeom prst="roundRect">
            <a:avLst>
              <a:gd name="adj" fmla="val 14286"/>
            </a:avLst>
          </a:prstGeom>
          <a:solidFill>
            <a:srgbClr val="FFFFFF"/>
          </a:solidFill>
          <a:ln w="19050">
            <a:solidFill>
              <a:srgbClr val="E3E4F2"/>
            </a:solidFill>
            <a:prstDash val="solid"/>
          </a:ln>
        </p:spPr>
      </p:sp>
      <p:sp>
        <p:nvSpPr>
          <p:cNvPr id="7" name="Text 5"/>
          <p:cNvSpPr/>
          <p:nvPr/>
        </p:nvSpPr>
        <p:spPr>
          <a:xfrm>
            <a:off x="877824" y="2286000"/>
            <a:ext cx="1463040" cy="512064"/>
          </a:xfrm>
          <a:prstGeom prst="rect">
            <a:avLst/>
          </a:prstGeom>
          <a:noFill/>
          <a:ln/>
        </p:spPr>
        <p:txBody>
          <a:bodyPr wrap="square" lIns="635" tIns="635" rIns="635" bIns="635" rtlCol="0" anchor="ctr"/>
          <a:lstStyle/>
          <a:p>
            <a:pPr algn="ctr" indent="0" marL="0">
              <a:lnSpc>
                <a:spcPct val="110000"/>
              </a:lnSpc>
              <a:buNone/>
            </a:pPr>
            <a:r>
              <a:rPr lang="en-US" sz="1100" b="1" dirty="0">
                <a:solidFill>
                  <a:srgbClr val="141235"/>
                </a:solidFill>
                <a:latin typeface="Calibri" pitchFamily="34" charset="0"/>
                <a:ea typeface="Calibri" pitchFamily="34" charset="-122"/>
                <a:cs typeface="Calibri" pitchFamily="34" charset="-120"/>
              </a:rPr>
              <a:t>Agent A</a:t>
            </a:r>
            <a:endParaRPr lang="en-US" sz="1100" dirty="0"/>
          </a:p>
        </p:txBody>
      </p:sp>
      <p:sp>
        <p:nvSpPr>
          <p:cNvPr id="8" name="Shape 6"/>
          <p:cNvSpPr/>
          <p:nvPr/>
        </p:nvSpPr>
        <p:spPr>
          <a:xfrm>
            <a:off x="877824" y="3035808"/>
            <a:ext cx="1463040" cy="512064"/>
          </a:xfrm>
          <a:prstGeom prst="roundRect">
            <a:avLst>
              <a:gd name="adj" fmla="val 14286"/>
            </a:avLst>
          </a:prstGeom>
          <a:solidFill>
            <a:srgbClr val="FFFFFF"/>
          </a:solidFill>
          <a:ln w="19050">
            <a:solidFill>
              <a:srgbClr val="E3E4F2"/>
            </a:solidFill>
            <a:prstDash val="solid"/>
          </a:ln>
        </p:spPr>
      </p:sp>
      <p:sp>
        <p:nvSpPr>
          <p:cNvPr id="9" name="Text 7"/>
          <p:cNvSpPr/>
          <p:nvPr/>
        </p:nvSpPr>
        <p:spPr>
          <a:xfrm>
            <a:off x="877824" y="3035808"/>
            <a:ext cx="1463040" cy="512064"/>
          </a:xfrm>
          <a:prstGeom prst="rect">
            <a:avLst/>
          </a:prstGeom>
          <a:noFill/>
          <a:ln/>
        </p:spPr>
        <p:txBody>
          <a:bodyPr wrap="square" lIns="635" tIns="635" rIns="635" bIns="635" rtlCol="0" anchor="ctr"/>
          <a:lstStyle/>
          <a:p>
            <a:pPr algn="ctr" indent="0" marL="0">
              <a:lnSpc>
                <a:spcPct val="110000"/>
              </a:lnSpc>
              <a:buNone/>
            </a:pPr>
            <a:r>
              <a:rPr lang="en-US" sz="1100" b="1" dirty="0">
                <a:solidFill>
                  <a:srgbClr val="141235"/>
                </a:solidFill>
                <a:latin typeface="Calibri" pitchFamily="34" charset="0"/>
                <a:ea typeface="Calibri" pitchFamily="34" charset="-122"/>
                <a:cs typeface="Calibri" pitchFamily="34" charset="-120"/>
              </a:rPr>
              <a:t>Agent B</a:t>
            </a:r>
            <a:endParaRPr lang="en-US" sz="1100" dirty="0"/>
          </a:p>
        </p:txBody>
      </p:sp>
      <p:sp>
        <p:nvSpPr>
          <p:cNvPr id="10" name="Shape 8"/>
          <p:cNvSpPr/>
          <p:nvPr/>
        </p:nvSpPr>
        <p:spPr>
          <a:xfrm>
            <a:off x="877824" y="3785616"/>
            <a:ext cx="1463040" cy="512064"/>
          </a:xfrm>
          <a:prstGeom prst="roundRect">
            <a:avLst>
              <a:gd name="adj" fmla="val 14286"/>
            </a:avLst>
          </a:prstGeom>
          <a:solidFill>
            <a:srgbClr val="FFFFFF"/>
          </a:solidFill>
          <a:ln w="19050">
            <a:solidFill>
              <a:srgbClr val="E3E4F2"/>
            </a:solidFill>
            <a:prstDash val="solid"/>
          </a:ln>
        </p:spPr>
      </p:sp>
      <p:sp>
        <p:nvSpPr>
          <p:cNvPr id="11" name="Text 9"/>
          <p:cNvSpPr/>
          <p:nvPr/>
        </p:nvSpPr>
        <p:spPr>
          <a:xfrm>
            <a:off x="877824" y="3785616"/>
            <a:ext cx="1463040" cy="512064"/>
          </a:xfrm>
          <a:prstGeom prst="rect">
            <a:avLst/>
          </a:prstGeom>
          <a:noFill/>
          <a:ln/>
        </p:spPr>
        <p:txBody>
          <a:bodyPr wrap="square" lIns="635" tIns="635" rIns="635" bIns="635" rtlCol="0" anchor="ctr"/>
          <a:lstStyle/>
          <a:p>
            <a:pPr algn="ctr" indent="0" marL="0">
              <a:lnSpc>
                <a:spcPct val="110000"/>
              </a:lnSpc>
              <a:buNone/>
            </a:pPr>
            <a:r>
              <a:rPr lang="en-US" sz="1100" b="1" dirty="0">
                <a:solidFill>
                  <a:srgbClr val="141235"/>
                </a:solidFill>
                <a:latin typeface="Calibri" pitchFamily="34" charset="0"/>
                <a:ea typeface="Calibri" pitchFamily="34" charset="-122"/>
                <a:cs typeface="Calibri" pitchFamily="34" charset="-120"/>
              </a:rPr>
              <a:t>Agent C</a:t>
            </a:r>
            <a:endParaRPr lang="en-US" sz="1100" dirty="0"/>
          </a:p>
        </p:txBody>
      </p:sp>
      <p:sp>
        <p:nvSpPr>
          <p:cNvPr id="12" name="Shape 10"/>
          <p:cNvSpPr/>
          <p:nvPr/>
        </p:nvSpPr>
        <p:spPr>
          <a:xfrm>
            <a:off x="3968496" y="2231136"/>
            <a:ext cx="1463040" cy="420624"/>
          </a:xfrm>
          <a:prstGeom prst="roundRect">
            <a:avLst>
              <a:gd name="adj" fmla="val 17391"/>
            </a:avLst>
          </a:prstGeom>
          <a:solidFill>
            <a:srgbClr val="FFFFFF"/>
          </a:solidFill>
          <a:ln w="19050">
            <a:solidFill>
              <a:srgbClr val="E3E4F2"/>
            </a:solidFill>
            <a:prstDash val="solid"/>
          </a:ln>
        </p:spPr>
      </p:sp>
      <p:sp>
        <p:nvSpPr>
          <p:cNvPr id="13" name="Text 11"/>
          <p:cNvSpPr/>
          <p:nvPr/>
        </p:nvSpPr>
        <p:spPr>
          <a:xfrm>
            <a:off x="3968496" y="2231136"/>
            <a:ext cx="1463040" cy="420624"/>
          </a:xfrm>
          <a:prstGeom prst="rect">
            <a:avLst/>
          </a:prstGeom>
          <a:noFill/>
          <a:ln/>
        </p:spPr>
        <p:txBody>
          <a:bodyPr wrap="square" lIns="635" tIns="635" rIns="635" bIns="635" rtlCol="0" anchor="ctr"/>
          <a:lstStyle/>
          <a:p>
            <a:pPr algn="ctr" indent="0" marL="0">
              <a:lnSpc>
                <a:spcPct val="110000"/>
              </a:lnSpc>
              <a:buNone/>
            </a:pPr>
            <a:r>
              <a:rPr lang="en-US" sz="1050" b="1" dirty="0">
                <a:solidFill>
                  <a:srgbClr val="141235"/>
                </a:solidFill>
                <a:latin typeface="Calibri" pitchFamily="34" charset="0"/>
                <a:ea typeface="Calibri" pitchFamily="34" charset="-122"/>
                <a:cs typeface="Calibri" pitchFamily="34" charset="-120"/>
              </a:rPr>
              <a:t>CRM</a:t>
            </a:r>
            <a:endParaRPr lang="en-US" sz="1050" dirty="0"/>
          </a:p>
        </p:txBody>
      </p:sp>
      <p:sp>
        <p:nvSpPr>
          <p:cNvPr id="14" name="Shape 12"/>
          <p:cNvSpPr/>
          <p:nvPr/>
        </p:nvSpPr>
        <p:spPr>
          <a:xfrm>
            <a:off x="3968496" y="2798064"/>
            <a:ext cx="1463040" cy="420624"/>
          </a:xfrm>
          <a:prstGeom prst="roundRect">
            <a:avLst>
              <a:gd name="adj" fmla="val 17391"/>
            </a:avLst>
          </a:prstGeom>
          <a:solidFill>
            <a:srgbClr val="FFFFFF"/>
          </a:solidFill>
          <a:ln w="19050">
            <a:solidFill>
              <a:srgbClr val="E3E4F2"/>
            </a:solidFill>
            <a:prstDash val="solid"/>
          </a:ln>
        </p:spPr>
      </p:sp>
      <p:sp>
        <p:nvSpPr>
          <p:cNvPr id="15" name="Text 13"/>
          <p:cNvSpPr/>
          <p:nvPr/>
        </p:nvSpPr>
        <p:spPr>
          <a:xfrm>
            <a:off x="3968496" y="2798064"/>
            <a:ext cx="1463040" cy="420624"/>
          </a:xfrm>
          <a:prstGeom prst="rect">
            <a:avLst/>
          </a:prstGeom>
          <a:noFill/>
          <a:ln/>
        </p:spPr>
        <p:txBody>
          <a:bodyPr wrap="square" lIns="635" tIns="635" rIns="635" bIns="635" rtlCol="0" anchor="ctr"/>
          <a:lstStyle/>
          <a:p>
            <a:pPr algn="ctr" indent="0" marL="0">
              <a:lnSpc>
                <a:spcPct val="110000"/>
              </a:lnSpc>
              <a:buNone/>
            </a:pPr>
            <a:r>
              <a:rPr lang="en-US" sz="1050" b="1" dirty="0">
                <a:solidFill>
                  <a:srgbClr val="141235"/>
                </a:solidFill>
                <a:latin typeface="Calibri" pitchFamily="34" charset="0"/>
                <a:ea typeface="Calibri" pitchFamily="34" charset="-122"/>
                <a:cs typeface="Calibri" pitchFamily="34" charset="-120"/>
              </a:rPr>
              <a:t>Jira</a:t>
            </a:r>
            <a:endParaRPr lang="en-US" sz="1050" dirty="0"/>
          </a:p>
        </p:txBody>
      </p:sp>
      <p:sp>
        <p:nvSpPr>
          <p:cNvPr id="16" name="Shape 14"/>
          <p:cNvSpPr/>
          <p:nvPr/>
        </p:nvSpPr>
        <p:spPr>
          <a:xfrm>
            <a:off x="3968496" y="3364992"/>
            <a:ext cx="1463040" cy="420624"/>
          </a:xfrm>
          <a:prstGeom prst="roundRect">
            <a:avLst>
              <a:gd name="adj" fmla="val 17391"/>
            </a:avLst>
          </a:prstGeom>
          <a:solidFill>
            <a:srgbClr val="FFFFFF"/>
          </a:solidFill>
          <a:ln w="19050">
            <a:solidFill>
              <a:srgbClr val="E3E4F2"/>
            </a:solidFill>
            <a:prstDash val="solid"/>
          </a:ln>
        </p:spPr>
      </p:sp>
      <p:sp>
        <p:nvSpPr>
          <p:cNvPr id="17" name="Text 15"/>
          <p:cNvSpPr/>
          <p:nvPr/>
        </p:nvSpPr>
        <p:spPr>
          <a:xfrm>
            <a:off x="3968496" y="3364992"/>
            <a:ext cx="1463040" cy="420624"/>
          </a:xfrm>
          <a:prstGeom prst="rect">
            <a:avLst/>
          </a:prstGeom>
          <a:noFill/>
          <a:ln/>
        </p:spPr>
        <p:txBody>
          <a:bodyPr wrap="square" lIns="635" tIns="635" rIns="635" bIns="635" rtlCol="0" anchor="ctr"/>
          <a:lstStyle/>
          <a:p>
            <a:pPr algn="ctr" indent="0" marL="0">
              <a:lnSpc>
                <a:spcPct val="110000"/>
              </a:lnSpc>
              <a:buNone/>
            </a:pPr>
            <a:r>
              <a:rPr lang="en-US" sz="1050" b="1" dirty="0">
                <a:solidFill>
                  <a:srgbClr val="141235"/>
                </a:solidFill>
                <a:latin typeface="Calibri" pitchFamily="34" charset="0"/>
                <a:ea typeface="Calibri" pitchFamily="34" charset="-122"/>
                <a:cs typeface="Calibri" pitchFamily="34" charset="-120"/>
              </a:rPr>
              <a:t>Files</a:t>
            </a:r>
            <a:endParaRPr lang="en-US" sz="1050" dirty="0"/>
          </a:p>
        </p:txBody>
      </p:sp>
      <p:sp>
        <p:nvSpPr>
          <p:cNvPr id="18" name="Shape 16"/>
          <p:cNvSpPr/>
          <p:nvPr/>
        </p:nvSpPr>
        <p:spPr>
          <a:xfrm>
            <a:off x="3968496" y="3931920"/>
            <a:ext cx="1463040" cy="420624"/>
          </a:xfrm>
          <a:prstGeom prst="roundRect">
            <a:avLst>
              <a:gd name="adj" fmla="val 17391"/>
            </a:avLst>
          </a:prstGeom>
          <a:solidFill>
            <a:srgbClr val="FFFFFF"/>
          </a:solidFill>
          <a:ln w="19050">
            <a:solidFill>
              <a:srgbClr val="E3E4F2"/>
            </a:solidFill>
            <a:prstDash val="solid"/>
          </a:ln>
        </p:spPr>
      </p:sp>
      <p:sp>
        <p:nvSpPr>
          <p:cNvPr id="19" name="Text 17"/>
          <p:cNvSpPr/>
          <p:nvPr/>
        </p:nvSpPr>
        <p:spPr>
          <a:xfrm>
            <a:off x="3968496" y="3931920"/>
            <a:ext cx="1463040" cy="420624"/>
          </a:xfrm>
          <a:prstGeom prst="rect">
            <a:avLst/>
          </a:prstGeom>
          <a:noFill/>
          <a:ln/>
        </p:spPr>
        <p:txBody>
          <a:bodyPr wrap="square" lIns="635" tIns="635" rIns="635" bIns="635" rtlCol="0" anchor="ctr"/>
          <a:lstStyle/>
          <a:p>
            <a:pPr algn="ctr" indent="0" marL="0">
              <a:lnSpc>
                <a:spcPct val="110000"/>
              </a:lnSpc>
              <a:buNone/>
            </a:pPr>
            <a:r>
              <a:rPr lang="en-US" sz="1050" b="1" dirty="0">
                <a:solidFill>
                  <a:srgbClr val="141235"/>
                </a:solidFill>
                <a:latin typeface="Calibri" pitchFamily="34" charset="0"/>
                <a:ea typeface="Calibri" pitchFamily="34" charset="-122"/>
                <a:cs typeface="Calibri" pitchFamily="34" charset="-120"/>
              </a:rPr>
              <a:t>SQL</a:t>
            </a:r>
            <a:endParaRPr lang="en-US" sz="1050" dirty="0"/>
          </a:p>
        </p:txBody>
      </p:sp>
      <p:sp>
        <p:nvSpPr>
          <p:cNvPr id="20" name="Shape 18"/>
          <p:cNvSpPr/>
          <p:nvPr/>
        </p:nvSpPr>
        <p:spPr>
          <a:xfrm>
            <a:off x="2377440" y="2542032"/>
            <a:ext cx="1554480" cy="-100584"/>
          </a:xfrm>
          <a:prstGeom prst="line">
            <a:avLst/>
          </a:prstGeom>
          <a:noFill/>
          <a:ln w="9525">
            <a:solidFill>
              <a:srgbClr val="E08A8A"/>
            </a:solidFill>
            <a:prstDash val="solid"/>
          </a:ln>
        </p:spPr>
      </p:sp>
      <p:sp>
        <p:nvSpPr>
          <p:cNvPr id="21" name="Shape 19"/>
          <p:cNvSpPr/>
          <p:nvPr/>
        </p:nvSpPr>
        <p:spPr>
          <a:xfrm>
            <a:off x="2377440" y="2542032"/>
            <a:ext cx="1554480" cy="466344"/>
          </a:xfrm>
          <a:prstGeom prst="line">
            <a:avLst/>
          </a:prstGeom>
          <a:noFill/>
          <a:ln w="9525">
            <a:solidFill>
              <a:srgbClr val="E08A8A"/>
            </a:solidFill>
            <a:prstDash val="solid"/>
          </a:ln>
        </p:spPr>
      </p:sp>
      <p:sp>
        <p:nvSpPr>
          <p:cNvPr id="22" name="Shape 20"/>
          <p:cNvSpPr/>
          <p:nvPr/>
        </p:nvSpPr>
        <p:spPr>
          <a:xfrm>
            <a:off x="2377440" y="2542032"/>
            <a:ext cx="1554480" cy="1033272"/>
          </a:xfrm>
          <a:prstGeom prst="line">
            <a:avLst/>
          </a:prstGeom>
          <a:noFill/>
          <a:ln w="9525">
            <a:solidFill>
              <a:srgbClr val="E08A8A"/>
            </a:solidFill>
            <a:prstDash val="solid"/>
          </a:ln>
        </p:spPr>
      </p:sp>
      <p:sp>
        <p:nvSpPr>
          <p:cNvPr id="23" name="Shape 21"/>
          <p:cNvSpPr/>
          <p:nvPr/>
        </p:nvSpPr>
        <p:spPr>
          <a:xfrm>
            <a:off x="2377440" y="2542032"/>
            <a:ext cx="1554480" cy="1600200"/>
          </a:xfrm>
          <a:prstGeom prst="line">
            <a:avLst/>
          </a:prstGeom>
          <a:noFill/>
          <a:ln w="9525">
            <a:solidFill>
              <a:srgbClr val="E08A8A"/>
            </a:solidFill>
            <a:prstDash val="solid"/>
          </a:ln>
        </p:spPr>
      </p:sp>
      <p:sp>
        <p:nvSpPr>
          <p:cNvPr id="24" name="Shape 22"/>
          <p:cNvSpPr/>
          <p:nvPr/>
        </p:nvSpPr>
        <p:spPr>
          <a:xfrm>
            <a:off x="2377440" y="3291840"/>
            <a:ext cx="1554480" cy="-850392"/>
          </a:xfrm>
          <a:prstGeom prst="line">
            <a:avLst/>
          </a:prstGeom>
          <a:noFill/>
          <a:ln w="9525">
            <a:solidFill>
              <a:srgbClr val="E08A8A"/>
            </a:solidFill>
            <a:prstDash val="solid"/>
          </a:ln>
        </p:spPr>
      </p:sp>
      <p:sp>
        <p:nvSpPr>
          <p:cNvPr id="25" name="Shape 23"/>
          <p:cNvSpPr/>
          <p:nvPr/>
        </p:nvSpPr>
        <p:spPr>
          <a:xfrm>
            <a:off x="2377440" y="3291840"/>
            <a:ext cx="1554480" cy="-283464"/>
          </a:xfrm>
          <a:prstGeom prst="line">
            <a:avLst/>
          </a:prstGeom>
          <a:noFill/>
          <a:ln w="9525">
            <a:solidFill>
              <a:srgbClr val="E08A8A"/>
            </a:solidFill>
            <a:prstDash val="solid"/>
          </a:ln>
        </p:spPr>
      </p:sp>
      <p:sp>
        <p:nvSpPr>
          <p:cNvPr id="26" name="Shape 24"/>
          <p:cNvSpPr/>
          <p:nvPr/>
        </p:nvSpPr>
        <p:spPr>
          <a:xfrm>
            <a:off x="2377440" y="3291840"/>
            <a:ext cx="1554480" cy="283464"/>
          </a:xfrm>
          <a:prstGeom prst="line">
            <a:avLst/>
          </a:prstGeom>
          <a:noFill/>
          <a:ln w="9525">
            <a:solidFill>
              <a:srgbClr val="E08A8A"/>
            </a:solidFill>
            <a:prstDash val="solid"/>
          </a:ln>
        </p:spPr>
      </p:sp>
      <p:sp>
        <p:nvSpPr>
          <p:cNvPr id="27" name="Shape 25"/>
          <p:cNvSpPr/>
          <p:nvPr/>
        </p:nvSpPr>
        <p:spPr>
          <a:xfrm>
            <a:off x="2377440" y="3291840"/>
            <a:ext cx="1554480" cy="850392"/>
          </a:xfrm>
          <a:prstGeom prst="line">
            <a:avLst/>
          </a:prstGeom>
          <a:noFill/>
          <a:ln w="9525">
            <a:solidFill>
              <a:srgbClr val="E08A8A"/>
            </a:solidFill>
            <a:prstDash val="solid"/>
          </a:ln>
        </p:spPr>
      </p:sp>
      <p:sp>
        <p:nvSpPr>
          <p:cNvPr id="28" name="Shape 26"/>
          <p:cNvSpPr/>
          <p:nvPr/>
        </p:nvSpPr>
        <p:spPr>
          <a:xfrm>
            <a:off x="2377440" y="4041648"/>
            <a:ext cx="1554480" cy="-1600200"/>
          </a:xfrm>
          <a:prstGeom prst="line">
            <a:avLst/>
          </a:prstGeom>
          <a:noFill/>
          <a:ln w="9525">
            <a:solidFill>
              <a:srgbClr val="E08A8A"/>
            </a:solidFill>
            <a:prstDash val="solid"/>
          </a:ln>
        </p:spPr>
      </p:sp>
      <p:sp>
        <p:nvSpPr>
          <p:cNvPr id="29" name="Shape 27"/>
          <p:cNvSpPr/>
          <p:nvPr/>
        </p:nvSpPr>
        <p:spPr>
          <a:xfrm>
            <a:off x="2377440" y="4041648"/>
            <a:ext cx="1554480" cy="-1033272"/>
          </a:xfrm>
          <a:prstGeom prst="line">
            <a:avLst/>
          </a:prstGeom>
          <a:noFill/>
          <a:ln w="9525">
            <a:solidFill>
              <a:srgbClr val="E08A8A"/>
            </a:solidFill>
            <a:prstDash val="solid"/>
          </a:ln>
        </p:spPr>
      </p:sp>
      <p:sp>
        <p:nvSpPr>
          <p:cNvPr id="30" name="Shape 28"/>
          <p:cNvSpPr/>
          <p:nvPr/>
        </p:nvSpPr>
        <p:spPr>
          <a:xfrm>
            <a:off x="2377440" y="4041648"/>
            <a:ext cx="1554480" cy="-466344"/>
          </a:xfrm>
          <a:prstGeom prst="line">
            <a:avLst/>
          </a:prstGeom>
          <a:noFill/>
          <a:ln w="9525">
            <a:solidFill>
              <a:srgbClr val="E08A8A"/>
            </a:solidFill>
            <a:prstDash val="solid"/>
          </a:ln>
        </p:spPr>
      </p:sp>
      <p:sp>
        <p:nvSpPr>
          <p:cNvPr id="31" name="Shape 29"/>
          <p:cNvSpPr/>
          <p:nvPr/>
        </p:nvSpPr>
        <p:spPr>
          <a:xfrm>
            <a:off x="2377440" y="4041648"/>
            <a:ext cx="1554480" cy="100584"/>
          </a:xfrm>
          <a:prstGeom prst="line">
            <a:avLst/>
          </a:prstGeom>
          <a:noFill/>
          <a:ln w="9525">
            <a:solidFill>
              <a:srgbClr val="E08A8A"/>
            </a:solidFill>
            <a:prstDash val="solid"/>
          </a:ln>
        </p:spPr>
      </p:sp>
      <p:sp>
        <p:nvSpPr>
          <p:cNvPr id="32" name="Text 30"/>
          <p:cNvSpPr/>
          <p:nvPr/>
        </p:nvSpPr>
        <p:spPr>
          <a:xfrm>
            <a:off x="841248" y="4517136"/>
            <a:ext cx="4663440" cy="365760"/>
          </a:xfrm>
          <a:prstGeom prst="rect">
            <a:avLst/>
          </a:prstGeom>
          <a:noFill/>
          <a:ln/>
        </p:spPr>
        <p:txBody>
          <a:bodyPr wrap="square" lIns="0" tIns="0" rIns="0" bIns="0" rtlCol="0" anchor="ctr"/>
          <a:lstStyle/>
          <a:p>
            <a:pPr indent="0" marL="0">
              <a:buNone/>
            </a:pPr>
            <a:r>
              <a:rPr lang="en-US" sz="1100" i="1" dirty="0">
                <a:solidFill>
                  <a:srgbClr val="D93A3F"/>
                </a:solidFill>
                <a:latin typeface="Calibri" pitchFamily="34" charset="0"/>
                <a:ea typeface="Calibri" pitchFamily="34" charset="-122"/>
                <a:cs typeface="Calibri" pitchFamily="34" charset="-120"/>
              </a:rPr>
              <a:t>12 integrations. Each written twice, tested twice, broken separately.</a:t>
            </a:r>
            <a:endParaRPr lang="en-US" sz="1100" dirty="0"/>
          </a:p>
        </p:txBody>
      </p:sp>
      <p:sp>
        <p:nvSpPr>
          <p:cNvPr id="33" name="Shape 31"/>
          <p:cNvSpPr/>
          <p:nvPr/>
        </p:nvSpPr>
        <p:spPr>
          <a:xfrm>
            <a:off x="6035040" y="1773936"/>
            <a:ext cx="5589727" cy="3200400"/>
          </a:xfrm>
          <a:prstGeom prst="roundRect">
            <a:avLst>
              <a:gd name="adj" fmla="val 2857"/>
            </a:avLst>
          </a:prstGeom>
          <a:solidFill>
            <a:srgbClr val="E7F7F1"/>
          </a:solidFill>
          <a:ln w="12700">
            <a:solidFill>
              <a:srgbClr val="C2E6D7"/>
            </a:solidFill>
            <a:prstDash val="solid"/>
          </a:ln>
        </p:spPr>
      </p:sp>
      <p:sp>
        <p:nvSpPr>
          <p:cNvPr id="34" name="Text 32"/>
          <p:cNvSpPr/>
          <p:nvPr/>
        </p:nvSpPr>
        <p:spPr>
          <a:xfrm>
            <a:off x="6291072" y="1920240"/>
            <a:ext cx="3657600" cy="237744"/>
          </a:xfrm>
          <a:prstGeom prst="rect">
            <a:avLst/>
          </a:prstGeom>
          <a:noFill/>
          <a:ln/>
        </p:spPr>
        <p:txBody>
          <a:bodyPr wrap="square" lIns="0" tIns="0" rIns="0" bIns="0" rtlCol="0" anchor="ctr"/>
          <a:lstStyle/>
          <a:p>
            <a:pPr indent="0" marL="0">
              <a:buNone/>
            </a:pPr>
            <a:r>
              <a:rPr lang="en-US" sz="950" b="1" spc="180" kern="0" dirty="0">
                <a:solidFill>
                  <a:srgbClr val="0E9F6E"/>
                </a:solidFill>
                <a:latin typeface="Calibri" pitchFamily="34" charset="0"/>
                <a:ea typeface="Calibri" pitchFamily="34" charset="-122"/>
                <a:cs typeface="Calibri" pitchFamily="34" charset="-120"/>
              </a:rPr>
              <a:t>WITH ONE PROTOCOL</a:t>
            </a:r>
            <a:endParaRPr lang="en-US" sz="950" dirty="0"/>
          </a:p>
        </p:txBody>
      </p:sp>
      <p:sp>
        <p:nvSpPr>
          <p:cNvPr id="35" name="Shape 33"/>
          <p:cNvSpPr/>
          <p:nvPr/>
        </p:nvSpPr>
        <p:spPr>
          <a:xfrm>
            <a:off x="6345936" y="2286000"/>
            <a:ext cx="1371600" cy="512064"/>
          </a:xfrm>
          <a:prstGeom prst="roundRect">
            <a:avLst>
              <a:gd name="adj" fmla="val 14286"/>
            </a:avLst>
          </a:prstGeom>
          <a:solidFill>
            <a:srgbClr val="FFFFFF"/>
          </a:solidFill>
          <a:ln w="19050">
            <a:solidFill>
              <a:srgbClr val="E3E4F2"/>
            </a:solidFill>
            <a:prstDash val="solid"/>
          </a:ln>
        </p:spPr>
      </p:sp>
      <p:sp>
        <p:nvSpPr>
          <p:cNvPr id="36" name="Text 34"/>
          <p:cNvSpPr/>
          <p:nvPr/>
        </p:nvSpPr>
        <p:spPr>
          <a:xfrm>
            <a:off x="6345936" y="2286000"/>
            <a:ext cx="1371600" cy="512064"/>
          </a:xfrm>
          <a:prstGeom prst="rect">
            <a:avLst/>
          </a:prstGeom>
          <a:noFill/>
          <a:ln/>
        </p:spPr>
        <p:txBody>
          <a:bodyPr wrap="square" lIns="635" tIns="635" rIns="635" bIns="635" rtlCol="0" anchor="ctr"/>
          <a:lstStyle/>
          <a:p>
            <a:pPr algn="ctr" indent="0" marL="0">
              <a:lnSpc>
                <a:spcPct val="110000"/>
              </a:lnSpc>
              <a:buNone/>
            </a:pPr>
            <a:r>
              <a:rPr lang="en-US" sz="1100" b="1" dirty="0">
                <a:solidFill>
                  <a:srgbClr val="141235"/>
                </a:solidFill>
                <a:latin typeface="Calibri" pitchFamily="34" charset="0"/>
                <a:ea typeface="Calibri" pitchFamily="34" charset="-122"/>
                <a:cs typeface="Calibri" pitchFamily="34" charset="-120"/>
              </a:rPr>
              <a:t>Agent A</a:t>
            </a:r>
            <a:endParaRPr lang="en-US" sz="1100" dirty="0"/>
          </a:p>
        </p:txBody>
      </p:sp>
      <p:sp>
        <p:nvSpPr>
          <p:cNvPr id="37" name="Shape 35"/>
          <p:cNvSpPr/>
          <p:nvPr/>
        </p:nvSpPr>
        <p:spPr>
          <a:xfrm>
            <a:off x="6345936" y="3035808"/>
            <a:ext cx="1371600" cy="512064"/>
          </a:xfrm>
          <a:prstGeom prst="roundRect">
            <a:avLst>
              <a:gd name="adj" fmla="val 14286"/>
            </a:avLst>
          </a:prstGeom>
          <a:solidFill>
            <a:srgbClr val="FFFFFF"/>
          </a:solidFill>
          <a:ln w="19050">
            <a:solidFill>
              <a:srgbClr val="E3E4F2"/>
            </a:solidFill>
            <a:prstDash val="solid"/>
          </a:ln>
        </p:spPr>
      </p:sp>
      <p:sp>
        <p:nvSpPr>
          <p:cNvPr id="38" name="Text 36"/>
          <p:cNvSpPr/>
          <p:nvPr/>
        </p:nvSpPr>
        <p:spPr>
          <a:xfrm>
            <a:off x="6345936" y="3035808"/>
            <a:ext cx="1371600" cy="512064"/>
          </a:xfrm>
          <a:prstGeom prst="rect">
            <a:avLst/>
          </a:prstGeom>
          <a:noFill/>
          <a:ln/>
        </p:spPr>
        <p:txBody>
          <a:bodyPr wrap="square" lIns="635" tIns="635" rIns="635" bIns="635" rtlCol="0" anchor="ctr"/>
          <a:lstStyle/>
          <a:p>
            <a:pPr algn="ctr" indent="0" marL="0">
              <a:lnSpc>
                <a:spcPct val="110000"/>
              </a:lnSpc>
              <a:buNone/>
            </a:pPr>
            <a:r>
              <a:rPr lang="en-US" sz="1100" b="1" dirty="0">
                <a:solidFill>
                  <a:srgbClr val="141235"/>
                </a:solidFill>
                <a:latin typeface="Calibri" pitchFamily="34" charset="0"/>
                <a:ea typeface="Calibri" pitchFamily="34" charset="-122"/>
                <a:cs typeface="Calibri" pitchFamily="34" charset="-120"/>
              </a:rPr>
              <a:t>Agent B</a:t>
            </a:r>
            <a:endParaRPr lang="en-US" sz="1100" dirty="0"/>
          </a:p>
        </p:txBody>
      </p:sp>
      <p:sp>
        <p:nvSpPr>
          <p:cNvPr id="39" name="Shape 37"/>
          <p:cNvSpPr/>
          <p:nvPr/>
        </p:nvSpPr>
        <p:spPr>
          <a:xfrm>
            <a:off x="6345936" y="3785616"/>
            <a:ext cx="1371600" cy="512064"/>
          </a:xfrm>
          <a:prstGeom prst="roundRect">
            <a:avLst>
              <a:gd name="adj" fmla="val 14286"/>
            </a:avLst>
          </a:prstGeom>
          <a:solidFill>
            <a:srgbClr val="FFFFFF"/>
          </a:solidFill>
          <a:ln w="19050">
            <a:solidFill>
              <a:srgbClr val="E3E4F2"/>
            </a:solidFill>
            <a:prstDash val="solid"/>
          </a:ln>
        </p:spPr>
      </p:sp>
      <p:sp>
        <p:nvSpPr>
          <p:cNvPr id="40" name="Text 38"/>
          <p:cNvSpPr/>
          <p:nvPr/>
        </p:nvSpPr>
        <p:spPr>
          <a:xfrm>
            <a:off x="6345936" y="3785616"/>
            <a:ext cx="1371600" cy="512064"/>
          </a:xfrm>
          <a:prstGeom prst="rect">
            <a:avLst/>
          </a:prstGeom>
          <a:noFill/>
          <a:ln/>
        </p:spPr>
        <p:txBody>
          <a:bodyPr wrap="square" lIns="635" tIns="635" rIns="635" bIns="635" rtlCol="0" anchor="ctr"/>
          <a:lstStyle/>
          <a:p>
            <a:pPr algn="ctr" indent="0" marL="0">
              <a:lnSpc>
                <a:spcPct val="110000"/>
              </a:lnSpc>
              <a:buNone/>
            </a:pPr>
            <a:r>
              <a:rPr lang="en-US" sz="1100" b="1" dirty="0">
                <a:solidFill>
                  <a:srgbClr val="141235"/>
                </a:solidFill>
                <a:latin typeface="Calibri" pitchFamily="34" charset="0"/>
                <a:ea typeface="Calibri" pitchFamily="34" charset="-122"/>
                <a:cs typeface="Calibri" pitchFamily="34" charset="-120"/>
              </a:rPr>
              <a:t>Agent C</a:t>
            </a:r>
            <a:endParaRPr lang="en-US" sz="1100" dirty="0"/>
          </a:p>
        </p:txBody>
      </p:sp>
      <p:sp>
        <p:nvSpPr>
          <p:cNvPr id="41" name="Shape 39"/>
          <p:cNvSpPr/>
          <p:nvPr/>
        </p:nvSpPr>
        <p:spPr>
          <a:xfrm>
            <a:off x="8101584" y="2395728"/>
            <a:ext cx="1097280" cy="1956816"/>
          </a:xfrm>
          <a:prstGeom prst="roundRect">
            <a:avLst>
              <a:gd name="adj" fmla="val 6667"/>
            </a:avLst>
          </a:prstGeom>
          <a:solidFill>
            <a:srgbClr val="5B4BE8"/>
          </a:solidFill>
          <a:ln w="19050">
            <a:solidFill>
              <a:srgbClr val="5B4BE8"/>
            </a:solidFill>
            <a:prstDash val="solid"/>
          </a:ln>
        </p:spPr>
      </p:sp>
      <p:sp>
        <p:nvSpPr>
          <p:cNvPr id="42" name="Text 40"/>
          <p:cNvSpPr/>
          <p:nvPr/>
        </p:nvSpPr>
        <p:spPr>
          <a:xfrm>
            <a:off x="8101584" y="2395728"/>
            <a:ext cx="1097280" cy="1956816"/>
          </a:xfrm>
          <a:prstGeom prst="rect">
            <a:avLst/>
          </a:prstGeom>
          <a:noFill/>
          <a:ln/>
        </p:spPr>
        <p:txBody>
          <a:bodyPr wrap="square" lIns="635" tIns="635" rIns="635" bIns="635" rtlCol="0" anchor="ctr"/>
          <a:lstStyle/>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MCP</a:t>
            </a:r>
            <a:endParaRPr lang="en-US" sz="1300" dirty="0"/>
          </a:p>
        </p:txBody>
      </p:sp>
      <p:sp>
        <p:nvSpPr>
          <p:cNvPr id="43" name="Shape 41"/>
          <p:cNvSpPr/>
          <p:nvPr/>
        </p:nvSpPr>
        <p:spPr>
          <a:xfrm>
            <a:off x="9582912" y="2231136"/>
            <a:ext cx="1371600" cy="420624"/>
          </a:xfrm>
          <a:prstGeom prst="roundRect">
            <a:avLst>
              <a:gd name="adj" fmla="val 17391"/>
            </a:avLst>
          </a:prstGeom>
          <a:solidFill>
            <a:srgbClr val="FFFFFF"/>
          </a:solidFill>
          <a:ln w="19050">
            <a:solidFill>
              <a:srgbClr val="0E9F6E"/>
            </a:solidFill>
            <a:prstDash val="solid"/>
          </a:ln>
        </p:spPr>
      </p:sp>
      <p:sp>
        <p:nvSpPr>
          <p:cNvPr id="44" name="Text 42"/>
          <p:cNvSpPr/>
          <p:nvPr/>
        </p:nvSpPr>
        <p:spPr>
          <a:xfrm>
            <a:off x="9582912" y="2231136"/>
            <a:ext cx="1371600" cy="420624"/>
          </a:xfrm>
          <a:prstGeom prst="rect">
            <a:avLst/>
          </a:prstGeom>
          <a:noFill/>
          <a:ln/>
        </p:spPr>
        <p:txBody>
          <a:bodyPr wrap="square" lIns="635" tIns="635" rIns="635" bIns="635" rtlCol="0" anchor="ctr"/>
          <a:lstStyle/>
          <a:p>
            <a:pPr algn="ctr" indent="0" marL="0">
              <a:lnSpc>
                <a:spcPct val="110000"/>
              </a:lnSpc>
              <a:buNone/>
            </a:pPr>
            <a:r>
              <a:rPr lang="en-US" sz="1050" b="1" dirty="0">
                <a:solidFill>
                  <a:srgbClr val="141235"/>
                </a:solidFill>
                <a:latin typeface="Calibri" pitchFamily="34" charset="0"/>
                <a:ea typeface="Calibri" pitchFamily="34" charset="-122"/>
                <a:cs typeface="Calibri" pitchFamily="34" charset="-120"/>
              </a:rPr>
              <a:t>CRM</a:t>
            </a:r>
            <a:endParaRPr lang="en-US" sz="1050" dirty="0"/>
          </a:p>
        </p:txBody>
      </p:sp>
      <p:sp>
        <p:nvSpPr>
          <p:cNvPr id="45" name="Shape 43"/>
          <p:cNvSpPr/>
          <p:nvPr/>
        </p:nvSpPr>
        <p:spPr>
          <a:xfrm>
            <a:off x="9582912" y="2798064"/>
            <a:ext cx="1371600" cy="420624"/>
          </a:xfrm>
          <a:prstGeom prst="roundRect">
            <a:avLst>
              <a:gd name="adj" fmla="val 17391"/>
            </a:avLst>
          </a:prstGeom>
          <a:solidFill>
            <a:srgbClr val="FFFFFF"/>
          </a:solidFill>
          <a:ln w="19050">
            <a:solidFill>
              <a:srgbClr val="0E9F6E"/>
            </a:solidFill>
            <a:prstDash val="solid"/>
          </a:ln>
        </p:spPr>
      </p:sp>
      <p:sp>
        <p:nvSpPr>
          <p:cNvPr id="46" name="Text 44"/>
          <p:cNvSpPr/>
          <p:nvPr/>
        </p:nvSpPr>
        <p:spPr>
          <a:xfrm>
            <a:off x="9582912" y="2798064"/>
            <a:ext cx="1371600" cy="420624"/>
          </a:xfrm>
          <a:prstGeom prst="rect">
            <a:avLst/>
          </a:prstGeom>
          <a:noFill/>
          <a:ln/>
        </p:spPr>
        <p:txBody>
          <a:bodyPr wrap="square" lIns="635" tIns="635" rIns="635" bIns="635" rtlCol="0" anchor="ctr"/>
          <a:lstStyle/>
          <a:p>
            <a:pPr algn="ctr" indent="0" marL="0">
              <a:lnSpc>
                <a:spcPct val="110000"/>
              </a:lnSpc>
              <a:buNone/>
            </a:pPr>
            <a:r>
              <a:rPr lang="en-US" sz="1050" b="1" dirty="0">
                <a:solidFill>
                  <a:srgbClr val="141235"/>
                </a:solidFill>
                <a:latin typeface="Calibri" pitchFamily="34" charset="0"/>
                <a:ea typeface="Calibri" pitchFamily="34" charset="-122"/>
                <a:cs typeface="Calibri" pitchFamily="34" charset="-120"/>
              </a:rPr>
              <a:t>Jira</a:t>
            </a:r>
            <a:endParaRPr lang="en-US" sz="1050" dirty="0"/>
          </a:p>
        </p:txBody>
      </p:sp>
      <p:sp>
        <p:nvSpPr>
          <p:cNvPr id="47" name="Shape 45"/>
          <p:cNvSpPr/>
          <p:nvPr/>
        </p:nvSpPr>
        <p:spPr>
          <a:xfrm>
            <a:off x="9582912" y="3364992"/>
            <a:ext cx="1371600" cy="420624"/>
          </a:xfrm>
          <a:prstGeom prst="roundRect">
            <a:avLst>
              <a:gd name="adj" fmla="val 17391"/>
            </a:avLst>
          </a:prstGeom>
          <a:solidFill>
            <a:srgbClr val="FFFFFF"/>
          </a:solidFill>
          <a:ln w="19050">
            <a:solidFill>
              <a:srgbClr val="0E9F6E"/>
            </a:solidFill>
            <a:prstDash val="solid"/>
          </a:ln>
        </p:spPr>
      </p:sp>
      <p:sp>
        <p:nvSpPr>
          <p:cNvPr id="48" name="Text 46"/>
          <p:cNvSpPr/>
          <p:nvPr/>
        </p:nvSpPr>
        <p:spPr>
          <a:xfrm>
            <a:off x="9582912" y="3364992"/>
            <a:ext cx="1371600" cy="420624"/>
          </a:xfrm>
          <a:prstGeom prst="rect">
            <a:avLst/>
          </a:prstGeom>
          <a:noFill/>
          <a:ln/>
        </p:spPr>
        <p:txBody>
          <a:bodyPr wrap="square" lIns="635" tIns="635" rIns="635" bIns="635" rtlCol="0" anchor="ctr"/>
          <a:lstStyle/>
          <a:p>
            <a:pPr algn="ctr" indent="0" marL="0">
              <a:lnSpc>
                <a:spcPct val="110000"/>
              </a:lnSpc>
              <a:buNone/>
            </a:pPr>
            <a:r>
              <a:rPr lang="en-US" sz="1050" b="1" dirty="0">
                <a:solidFill>
                  <a:srgbClr val="141235"/>
                </a:solidFill>
                <a:latin typeface="Calibri" pitchFamily="34" charset="0"/>
                <a:ea typeface="Calibri" pitchFamily="34" charset="-122"/>
                <a:cs typeface="Calibri" pitchFamily="34" charset="-120"/>
              </a:rPr>
              <a:t>Files</a:t>
            </a:r>
            <a:endParaRPr lang="en-US" sz="1050" dirty="0"/>
          </a:p>
        </p:txBody>
      </p:sp>
      <p:sp>
        <p:nvSpPr>
          <p:cNvPr id="49" name="Shape 47"/>
          <p:cNvSpPr/>
          <p:nvPr/>
        </p:nvSpPr>
        <p:spPr>
          <a:xfrm>
            <a:off x="9582912" y="3931920"/>
            <a:ext cx="1371600" cy="420624"/>
          </a:xfrm>
          <a:prstGeom prst="roundRect">
            <a:avLst>
              <a:gd name="adj" fmla="val 17391"/>
            </a:avLst>
          </a:prstGeom>
          <a:solidFill>
            <a:srgbClr val="FFFFFF"/>
          </a:solidFill>
          <a:ln w="19050">
            <a:solidFill>
              <a:srgbClr val="0E9F6E"/>
            </a:solidFill>
            <a:prstDash val="solid"/>
          </a:ln>
        </p:spPr>
      </p:sp>
      <p:sp>
        <p:nvSpPr>
          <p:cNvPr id="50" name="Text 48"/>
          <p:cNvSpPr/>
          <p:nvPr/>
        </p:nvSpPr>
        <p:spPr>
          <a:xfrm>
            <a:off x="9582912" y="3931920"/>
            <a:ext cx="1371600" cy="420624"/>
          </a:xfrm>
          <a:prstGeom prst="rect">
            <a:avLst/>
          </a:prstGeom>
          <a:noFill/>
          <a:ln/>
        </p:spPr>
        <p:txBody>
          <a:bodyPr wrap="square" lIns="635" tIns="635" rIns="635" bIns="635" rtlCol="0" anchor="ctr"/>
          <a:lstStyle/>
          <a:p>
            <a:pPr algn="ctr" indent="0" marL="0">
              <a:lnSpc>
                <a:spcPct val="110000"/>
              </a:lnSpc>
              <a:buNone/>
            </a:pPr>
            <a:r>
              <a:rPr lang="en-US" sz="1050" b="1" dirty="0">
                <a:solidFill>
                  <a:srgbClr val="141235"/>
                </a:solidFill>
                <a:latin typeface="Calibri" pitchFamily="34" charset="0"/>
                <a:ea typeface="Calibri" pitchFamily="34" charset="-122"/>
                <a:cs typeface="Calibri" pitchFamily="34" charset="-120"/>
              </a:rPr>
              <a:t>SQL</a:t>
            </a:r>
            <a:endParaRPr lang="en-US" sz="1050" dirty="0"/>
          </a:p>
        </p:txBody>
      </p:sp>
      <p:sp>
        <p:nvSpPr>
          <p:cNvPr id="51" name="Shape 49"/>
          <p:cNvSpPr/>
          <p:nvPr/>
        </p:nvSpPr>
        <p:spPr>
          <a:xfrm>
            <a:off x="7754112" y="2542032"/>
            <a:ext cx="310896" cy="832104"/>
          </a:xfrm>
          <a:prstGeom prst="line">
            <a:avLst/>
          </a:prstGeom>
          <a:noFill/>
          <a:ln w="13970">
            <a:solidFill>
              <a:srgbClr val="6E5FE8"/>
            </a:solidFill>
            <a:prstDash val="solid"/>
          </a:ln>
        </p:spPr>
      </p:sp>
      <p:sp>
        <p:nvSpPr>
          <p:cNvPr id="52" name="Shape 50"/>
          <p:cNvSpPr/>
          <p:nvPr/>
        </p:nvSpPr>
        <p:spPr>
          <a:xfrm>
            <a:off x="7754112" y="3291840"/>
            <a:ext cx="310896" cy="82296"/>
          </a:xfrm>
          <a:prstGeom prst="line">
            <a:avLst/>
          </a:prstGeom>
          <a:noFill/>
          <a:ln w="13970">
            <a:solidFill>
              <a:srgbClr val="6E5FE8"/>
            </a:solidFill>
            <a:prstDash val="solid"/>
          </a:ln>
        </p:spPr>
      </p:sp>
      <p:sp>
        <p:nvSpPr>
          <p:cNvPr id="53" name="Shape 51"/>
          <p:cNvSpPr/>
          <p:nvPr/>
        </p:nvSpPr>
        <p:spPr>
          <a:xfrm>
            <a:off x="7754112" y="4041648"/>
            <a:ext cx="310896" cy="-667512"/>
          </a:xfrm>
          <a:prstGeom prst="line">
            <a:avLst/>
          </a:prstGeom>
          <a:noFill/>
          <a:ln w="13970">
            <a:solidFill>
              <a:srgbClr val="6E5FE8"/>
            </a:solidFill>
            <a:prstDash val="solid"/>
          </a:ln>
        </p:spPr>
      </p:sp>
      <p:sp>
        <p:nvSpPr>
          <p:cNvPr id="54" name="Shape 52"/>
          <p:cNvSpPr/>
          <p:nvPr/>
        </p:nvSpPr>
        <p:spPr>
          <a:xfrm>
            <a:off x="9235440" y="3374136"/>
            <a:ext cx="310896" cy="-932688"/>
          </a:xfrm>
          <a:prstGeom prst="line">
            <a:avLst/>
          </a:prstGeom>
          <a:noFill/>
          <a:ln w="13970">
            <a:solidFill>
              <a:srgbClr val="3FA98A"/>
            </a:solidFill>
            <a:prstDash val="solid"/>
          </a:ln>
        </p:spPr>
      </p:sp>
      <p:sp>
        <p:nvSpPr>
          <p:cNvPr id="55" name="Shape 53"/>
          <p:cNvSpPr/>
          <p:nvPr/>
        </p:nvSpPr>
        <p:spPr>
          <a:xfrm>
            <a:off x="9235440" y="3374136"/>
            <a:ext cx="310896" cy="-365760"/>
          </a:xfrm>
          <a:prstGeom prst="line">
            <a:avLst/>
          </a:prstGeom>
          <a:noFill/>
          <a:ln w="13970">
            <a:solidFill>
              <a:srgbClr val="3FA98A"/>
            </a:solidFill>
            <a:prstDash val="solid"/>
          </a:ln>
        </p:spPr>
      </p:sp>
      <p:sp>
        <p:nvSpPr>
          <p:cNvPr id="56" name="Shape 54"/>
          <p:cNvSpPr/>
          <p:nvPr/>
        </p:nvSpPr>
        <p:spPr>
          <a:xfrm>
            <a:off x="9235440" y="3374136"/>
            <a:ext cx="310896" cy="201168"/>
          </a:xfrm>
          <a:prstGeom prst="line">
            <a:avLst/>
          </a:prstGeom>
          <a:noFill/>
          <a:ln w="13970">
            <a:solidFill>
              <a:srgbClr val="3FA98A"/>
            </a:solidFill>
            <a:prstDash val="solid"/>
          </a:ln>
        </p:spPr>
      </p:sp>
      <p:sp>
        <p:nvSpPr>
          <p:cNvPr id="57" name="Shape 55"/>
          <p:cNvSpPr/>
          <p:nvPr/>
        </p:nvSpPr>
        <p:spPr>
          <a:xfrm>
            <a:off x="9235440" y="3374136"/>
            <a:ext cx="310896" cy="768096"/>
          </a:xfrm>
          <a:prstGeom prst="line">
            <a:avLst/>
          </a:prstGeom>
          <a:noFill/>
          <a:ln w="13970">
            <a:solidFill>
              <a:srgbClr val="3FA98A"/>
            </a:solidFill>
            <a:prstDash val="solid"/>
          </a:ln>
        </p:spPr>
      </p:sp>
      <p:sp>
        <p:nvSpPr>
          <p:cNvPr id="58" name="Text 56"/>
          <p:cNvSpPr/>
          <p:nvPr/>
        </p:nvSpPr>
        <p:spPr>
          <a:xfrm>
            <a:off x="6309360" y="4517136"/>
            <a:ext cx="4937760" cy="365760"/>
          </a:xfrm>
          <a:prstGeom prst="rect">
            <a:avLst/>
          </a:prstGeom>
          <a:noFill/>
          <a:ln/>
        </p:spPr>
        <p:txBody>
          <a:bodyPr wrap="square" lIns="0" tIns="0" rIns="0" bIns="0" rtlCol="0" anchor="ctr"/>
          <a:lstStyle/>
          <a:p>
            <a:pPr indent="0" marL="0">
              <a:buNone/>
            </a:pPr>
            <a:r>
              <a:rPr lang="en-US" sz="1100" i="1" dirty="0">
                <a:solidFill>
                  <a:srgbClr val="0E9F6E"/>
                </a:solidFill>
                <a:latin typeface="Calibri" pitchFamily="34" charset="0"/>
                <a:ea typeface="Calibri" pitchFamily="34" charset="-122"/>
                <a:cs typeface="Calibri" pitchFamily="34" charset="-120"/>
              </a:rPr>
              <a:t>7 integrations. Write the tool once; any client that speaks the protocol can use it.</a:t>
            </a:r>
            <a:endParaRPr lang="en-US" sz="1100" dirty="0"/>
          </a:p>
        </p:txBody>
      </p:sp>
      <p:sp>
        <p:nvSpPr>
          <p:cNvPr id="59" name="Shape 57"/>
          <p:cNvSpPr/>
          <p:nvPr/>
        </p:nvSpPr>
        <p:spPr>
          <a:xfrm>
            <a:off x="566928" y="5102352"/>
            <a:ext cx="11057839" cy="786384"/>
          </a:xfrm>
          <a:prstGeom prst="roundRect">
            <a:avLst>
              <a:gd name="adj" fmla="val 10465"/>
            </a:avLst>
          </a:prstGeom>
          <a:solidFill>
            <a:srgbClr val="FFF4E0"/>
          </a:solidFill>
          <a:ln w="12700">
            <a:solidFill>
              <a:srgbClr val="F3DCB0"/>
            </a:solidFill>
            <a:prstDash val="solid"/>
          </a:ln>
        </p:spPr>
      </p:sp>
      <p:sp>
        <p:nvSpPr>
          <p:cNvPr id="60" name="Shape 58"/>
          <p:cNvSpPr/>
          <p:nvPr/>
        </p:nvSpPr>
        <p:spPr>
          <a:xfrm>
            <a:off x="841248" y="5303520"/>
            <a:ext cx="384048" cy="384048"/>
          </a:xfrm>
          <a:prstGeom prst="ellipse">
            <a:avLst/>
          </a:prstGeom>
          <a:solidFill>
            <a:srgbClr val="F5A524"/>
          </a:solidFill>
          <a:ln w="12700">
            <a:solidFill>
              <a:srgbClr val="F5A524"/>
            </a:solidFill>
            <a:prstDash val="solid"/>
          </a:ln>
        </p:spPr>
      </p:sp>
      <p:pic>
        <p:nvPicPr>
          <p:cNvPr id="61" name="Image 0" descr="preencoded.png">    </p:cNvPr>
          <p:cNvPicPr>
            <a:picLocks noChangeAspect="1"/>
          </p:cNvPicPr>
          <p:nvPr/>
        </p:nvPicPr>
        <p:blipFill>
          <a:blip r:embed="rId1"/>
          <a:stretch>
            <a:fillRect/>
          </a:stretch>
        </p:blipFill>
        <p:spPr>
          <a:xfrm>
            <a:off x="937260" y="5399532"/>
            <a:ext cx="192024" cy="192024"/>
          </a:xfrm>
          <a:prstGeom prst="rect">
            <a:avLst/>
          </a:prstGeom>
        </p:spPr>
      </p:pic>
      <p:sp>
        <p:nvSpPr>
          <p:cNvPr id="62" name="Text 59"/>
          <p:cNvSpPr/>
          <p:nvPr/>
        </p:nvSpPr>
        <p:spPr>
          <a:xfrm>
            <a:off x="1371600" y="5157216"/>
            <a:ext cx="9960559" cy="676656"/>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MCP is a power socket. Before it, every appliance came with its own wall wiring. Nothing about the appliance got smarter — it just plugs in now.</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One boundary, three roles</a:t>
            </a:r>
            <a:endParaRPr lang="en-US" sz="3000" dirty="0"/>
          </a:p>
        </p:txBody>
      </p:sp>
      <p:sp>
        <p:nvSpPr>
          <p:cNvPr id="4" name="Shape 2"/>
          <p:cNvSpPr/>
          <p:nvPr/>
        </p:nvSpPr>
        <p:spPr>
          <a:xfrm>
            <a:off x="566928" y="1956816"/>
            <a:ext cx="3200400" cy="2286000"/>
          </a:xfrm>
          <a:prstGeom prst="roundRect">
            <a:avLst>
              <a:gd name="adj" fmla="val 4000"/>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5" name="Shape 3"/>
          <p:cNvSpPr/>
          <p:nvPr/>
        </p:nvSpPr>
        <p:spPr>
          <a:xfrm>
            <a:off x="822960" y="2176272"/>
            <a:ext cx="402336" cy="402336"/>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923544" y="2276856"/>
            <a:ext cx="201168" cy="201168"/>
          </a:xfrm>
          <a:prstGeom prst="rect">
            <a:avLst/>
          </a:prstGeom>
        </p:spPr>
      </p:pic>
      <p:sp>
        <p:nvSpPr>
          <p:cNvPr id="7" name="Text 4"/>
          <p:cNvSpPr/>
          <p:nvPr/>
        </p:nvSpPr>
        <p:spPr>
          <a:xfrm>
            <a:off x="1353312" y="2176272"/>
            <a:ext cx="2194560" cy="274320"/>
          </a:xfrm>
          <a:prstGeom prst="rect">
            <a:avLst/>
          </a:prstGeom>
          <a:noFill/>
          <a:ln/>
        </p:spPr>
        <p:txBody>
          <a:bodyPr wrap="square" lIns="0" tIns="0" rIns="0" bIns="0" rtlCol="0" anchor="ctr"/>
          <a:lstStyle/>
          <a:p>
            <a:pPr indent="0" marL="0">
              <a:buNone/>
            </a:pPr>
            <a:r>
              <a:rPr lang="en-US" sz="1600" b="1" dirty="0">
                <a:solidFill>
                  <a:srgbClr val="141235"/>
                </a:solidFill>
                <a:latin typeface="Calibri" pitchFamily="34" charset="0"/>
                <a:ea typeface="Calibri" pitchFamily="34" charset="-122"/>
                <a:cs typeface="Calibri" pitchFamily="34" charset="-120"/>
              </a:rPr>
              <a:t>Host</a:t>
            </a:r>
            <a:endParaRPr lang="en-US" sz="1600" dirty="0"/>
          </a:p>
        </p:txBody>
      </p:sp>
      <p:sp>
        <p:nvSpPr>
          <p:cNvPr id="8" name="Text 5"/>
          <p:cNvSpPr/>
          <p:nvPr/>
        </p:nvSpPr>
        <p:spPr>
          <a:xfrm>
            <a:off x="1353312" y="2450592"/>
            <a:ext cx="2194560" cy="237744"/>
          </a:xfrm>
          <a:prstGeom prst="rect">
            <a:avLst/>
          </a:prstGeom>
          <a:noFill/>
          <a:ln/>
        </p:spPr>
        <p:txBody>
          <a:bodyPr wrap="square" lIns="0" tIns="0" rIns="0" bIns="0" rtlCol="0" anchor="ctr"/>
          <a:lstStyle/>
          <a:p>
            <a:pPr indent="0" marL="0">
              <a:buNone/>
            </a:pPr>
            <a:r>
              <a:rPr lang="en-US" sz="1050" i="1" dirty="0">
                <a:solidFill>
                  <a:srgbClr val="E08700"/>
                </a:solidFill>
                <a:latin typeface="Calibri" pitchFamily="34" charset="0"/>
                <a:ea typeface="Calibri" pitchFamily="34" charset="-122"/>
                <a:cs typeface="Calibri" pitchFamily="34" charset="-120"/>
              </a:rPr>
              <a:t>Your application</a:t>
            </a:r>
            <a:endParaRPr lang="en-US" sz="1050" dirty="0"/>
          </a:p>
        </p:txBody>
      </p:sp>
      <p:sp>
        <p:nvSpPr>
          <p:cNvPr id="9" name="Text 6"/>
          <p:cNvSpPr/>
          <p:nvPr/>
        </p:nvSpPr>
        <p:spPr>
          <a:xfrm>
            <a:off x="822960" y="2852928"/>
            <a:ext cx="2688336" cy="1188720"/>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The thing the user talks to. Owns the model, the loop, and the decision to run anything.</a:t>
            </a:r>
            <a:endParaRPr lang="en-US" sz="1150" dirty="0"/>
          </a:p>
        </p:txBody>
      </p:sp>
      <p:sp>
        <p:nvSpPr>
          <p:cNvPr id="10" name="Shape 7"/>
          <p:cNvSpPr/>
          <p:nvPr/>
        </p:nvSpPr>
        <p:spPr>
          <a:xfrm>
            <a:off x="3858768" y="2962656"/>
            <a:ext cx="475488" cy="0"/>
          </a:xfrm>
          <a:prstGeom prst="line">
            <a:avLst/>
          </a:prstGeom>
          <a:noFill/>
          <a:ln w="25400">
            <a:solidFill>
              <a:srgbClr val="8E82F5"/>
            </a:solidFill>
            <a:prstDash val="solid"/>
            <a:headEnd type="none"/>
            <a:tailEnd type="triangle"/>
          </a:ln>
        </p:spPr>
      </p:sp>
      <p:sp>
        <p:nvSpPr>
          <p:cNvPr id="11" name="Shape 8"/>
          <p:cNvSpPr/>
          <p:nvPr/>
        </p:nvSpPr>
        <p:spPr>
          <a:xfrm>
            <a:off x="4334256" y="3255264"/>
            <a:ext cx="-475488" cy="0"/>
          </a:xfrm>
          <a:prstGeom prst="line">
            <a:avLst/>
          </a:prstGeom>
          <a:noFill/>
          <a:ln w="25400">
            <a:solidFill>
              <a:srgbClr val="E08700"/>
            </a:solidFill>
            <a:prstDash val="solid"/>
            <a:headEnd type="none"/>
            <a:tailEnd type="triangle"/>
          </a:ln>
        </p:spPr>
      </p:sp>
      <p:sp>
        <p:nvSpPr>
          <p:cNvPr id="12" name="Shape 9"/>
          <p:cNvSpPr/>
          <p:nvPr/>
        </p:nvSpPr>
        <p:spPr>
          <a:xfrm>
            <a:off x="4425696" y="1956816"/>
            <a:ext cx="3200400" cy="2286000"/>
          </a:xfrm>
          <a:prstGeom prst="roundRect">
            <a:avLst>
              <a:gd name="adj" fmla="val 4000"/>
            </a:avLst>
          </a:prstGeom>
          <a:solidFill>
            <a:srgbClr val="EEEDFE"/>
          </a:solidFill>
          <a:ln w="12700">
            <a:solidFill>
              <a:srgbClr val="8E82F5"/>
            </a:solidFill>
            <a:prstDash val="solid"/>
          </a:ln>
          <a:effectLst>
            <a:outerShdw sx="100000" sy="100000" kx="0" ky="0" algn="bl" rotWithShape="0" blurRad="101600" dist="508" dir="5400000">
              <a:srgbClr val="1B1A4A">
                <a:alpha val="7000"/>
              </a:srgbClr>
            </a:outerShdw>
          </a:effectLst>
        </p:spPr>
      </p:sp>
      <p:sp>
        <p:nvSpPr>
          <p:cNvPr id="13" name="Shape 10"/>
          <p:cNvSpPr/>
          <p:nvPr/>
        </p:nvSpPr>
        <p:spPr>
          <a:xfrm>
            <a:off x="4681728" y="2176272"/>
            <a:ext cx="402336" cy="402336"/>
          </a:xfrm>
          <a:prstGeom prst="ellipse">
            <a:avLst/>
          </a:prstGeom>
          <a:solidFill>
            <a:srgbClr val="5B4BE8"/>
          </a:solidFill>
          <a:ln w="12700">
            <a:solidFill>
              <a:srgbClr val="5B4BE8"/>
            </a:solidFill>
            <a:prstDash val="solid"/>
          </a:ln>
        </p:spPr>
      </p:sp>
      <p:pic>
        <p:nvPicPr>
          <p:cNvPr id="14" name="Image 1" descr="preencoded.png">    </p:cNvPr>
          <p:cNvPicPr>
            <a:picLocks noChangeAspect="1"/>
          </p:cNvPicPr>
          <p:nvPr/>
        </p:nvPicPr>
        <p:blipFill>
          <a:blip r:embed="rId2"/>
          <a:stretch>
            <a:fillRect/>
          </a:stretch>
        </p:blipFill>
        <p:spPr>
          <a:xfrm>
            <a:off x="4782312" y="2276856"/>
            <a:ext cx="201168" cy="201168"/>
          </a:xfrm>
          <a:prstGeom prst="rect">
            <a:avLst/>
          </a:prstGeom>
        </p:spPr>
      </p:pic>
      <p:sp>
        <p:nvSpPr>
          <p:cNvPr id="15" name="Text 11"/>
          <p:cNvSpPr/>
          <p:nvPr/>
        </p:nvSpPr>
        <p:spPr>
          <a:xfrm>
            <a:off x="5212080" y="2176272"/>
            <a:ext cx="2194560" cy="274320"/>
          </a:xfrm>
          <a:prstGeom prst="rect">
            <a:avLst/>
          </a:prstGeom>
          <a:noFill/>
          <a:ln/>
        </p:spPr>
        <p:txBody>
          <a:bodyPr wrap="square" lIns="0" tIns="0" rIns="0" bIns="0" rtlCol="0" anchor="ctr"/>
          <a:lstStyle/>
          <a:p>
            <a:pPr indent="0" marL="0">
              <a:buNone/>
            </a:pPr>
            <a:r>
              <a:rPr lang="en-US" sz="1600" b="1" dirty="0">
                <a:solidFill>
                  <a:srgbClr val="141235"/>
                </a:solidFill>
                <a:latin typeface="Calibri" pitchFamily="34" charset="0"/>
                <a:ea typeface="Calibri" pitchFamily="34" charset="-122"/>
                <a:cs typeface="Calibri" pitchFamily="34" charset="-120"/>
              </a:rPr>
              <a:t>Client</a:t>
            </a:r>
            <a:endParaRPr lang="en-US" sz="1600" dirty="0"/>
          </a:p>
        </p:txBody>
      </p:sp>
      <p:sp>
        <p:nvSpPr>
          <p:cNvPr id="16" name="Text 12"/>
          <p:cNvSpPr/>
          <p:nvPr/>
        </p:nvSpPr>
        <p:spPr>
          <a:xfrm>
            <a:off x="5212080" y="2450592"/>
            <a:ext cx="2194560" cy="237744"/>
          </a:xfrm>
          <a:prstGeom prst="rect">
            <a:avLst/>
          </a:prstGeom>
          <a:noFill/>
          <a:ln/>
        </p:spPr>
        <p:txBody>
          <a:bodyPr wrap="square" lIns="0" tIns="0" rIns="0" bIns="0" rtlCol="0" anchor="ctr"/>
          <a:lstStyle/>
          <a:p>
            <a:pPr indent="0" marL="0">
              <a:buNone/>
            </a:pPr>
            <a:r>
              <a:rPr lang="en-US" sz="1050" i="1" dirty="0">
                <a:solidFill>
                  <a:srgbClr val="E08700"/>
                </a:solidFill>
                <a:latin typeface="Calibri" pitchFamily="34" charset="0"/>
                <a:ea typeface="Calibri" pitchFamily="34" charset="-122"/>
                <a:cs typeface="Calibri" pitchFamily="34" charset="-120"/>
              </a:rPr>
              <a:t>Speaks the protocol</a:t>
            </a:r>
            <a:endParaRPr lang="en-US" sz="1050" dirty="0"/>
          </a:p>
        </p:txBody>
      </p:sp>
      <p:sp>
        <p:nvSpPr>
          <p:cNvPr id="17" name="Text 13"/>
          <p:cNvSpPr/>
          <p:nvPr/>
        </p:nvSpPr>
        <p:spPr>
          <a:xfrm>
            <a:off x="4681728" y="2852928"/>
            <a:ext cx="2688336" cy="1188720"/>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One per server connection. Handles the handshake, the message format, and the plumbing.</a:t>
            </a:r>
            <a:endParaRPr lang="en-US" sz="1150" dirty="0"/>
          </a:p>
        </p:txBody>
      </p:sp>
      <p:sp>
        <p:nvSpPr>
          <p:cNvPr id="18" name="Shape 14"/>
          <p:cNvSpPr/>
          <p:nvPr/>
        </p:nvSpPr>
        <p:spPr>
          <a:xfrm>
            <a:off x="7717536" y="2962656"/>
            <a:ext cx="475488" cy="0"/>
          </a:xfrm>
          <a:prstGeom prst="line">
            <a:avLst/>
          </a:prstGeom>
          <a:noFill/>
          <a:ln w="25400">
            <a:solidFill>
              <a:srgbClr val="8E82F5"/>
            </a:solidFill>
            <a:prstDash val="solid"/>
            <a:headEnd type="none"/>
            <a:tailEnd type="triangle"/>
          </a:ln>
        </p:spPr>
      </p:sp>
      <p:sp>
        <p:nvSpPr>
          <p:cNvPr id="19" name="Shape 15"/>
          <p:cNvSpPr/>
          <p:nvPr/>
        </p:nvSpPr>
        <p:spPr>
          <a:xfrm>
            <a:off x="8193024" y="3255264"/>
            <a:ext cx="-475488" cy="0"/>
          </a:xfrm>
          <a:prstGeom prst="line">
            <a:avLst/>
          </a:prstGeom>
          <a:noFill/>
          <a:ln w="25400">
            <a:solidFill>
              <a:srgbClr val="E08700"/>
            </a:solidFill>
            <a:prstDash val="solid"/>
            <a:headEnd type="none"/>
            <a:tailEnd type="triangle"/>
          </a:ln>
        </p:spPr>
      </p:sp>
      <p:sp>
        <p:nvSpPr>
          <p:cNvPr id="20" name="Shape 16"/>
          <p:cNvSpPr/>
          <p:nvPr/>
        </p:nvSpPr>
        <p:spPr>
          <a:xfrm>
            <a:off x="8284464" y="1956816"/>
            <a:ext cx="3200400" cy="2286000"/>
          </a:xfrm>
          <a:prstGeom prst="roundRect">
            <a:avLst>
              <a:gd name="adj" fmla="val 4000"/>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21" name="Shape 17"/>
          <p:cNvSpPr/>
          <p:nvPr/>
        </p:nvSpPr>
        <p:spPr>
          <a:xfrm>
            <a:off x="8540496" y="2176272"/>
            <a:ext cx="402336" cy="402336"/>
          </a:xfrm>
          <a:prstGeom prst="ellipse">
            <a:avLst/>
          </a:prstGeom>
          <a:solidFill>
            <a:srgbClr val="5B4BE8"/>
          </a:solidFill>
          <a:ln w="12700">
            <a:solidFill>
              <a:srgbClr val="5B4BE8"/>
            </a:solidFill>
            <a:prstDash val="solid"/>
          </a:ln>
        </p:spPr>
      </p:sp>
      <p:pic>
        <p:nvPicPr>
          <p:cNvPr id="22" name="Image 2" descr="preencoded.png">    </p:cNvPr>
          <p:cNvPicPr>
            <a:picLocks noChangeAspect="1"/>
          </p:cNvPicPr>
          <p:nvPr/>
        </p:nvPicPr>
        <p:blipFill>
          <a:blip r:embed="rId3"/>
          <a:stretch>
            <a:fillRect/>
          </a:stretch>
        </p:blipFill>
        <p:spPr>
          <a:xfrm>
            <a:off x="8641080" y="2276856"/>
            <a:ext cx="201168" cy="201168"/>
          </a:xfrm>
          <a:prstGeom prst="rect">
            <a:avLst/>
          </a:prstGeom>
        </p:spPr>
      </p:pic>
      <p:sp>
        <p:nvSpPr>
          <p:cNvPr id="23" name="Text 18"/>
          <p:cNvSpPr/>
          <p:nvPr/>
        </p:nvSpPr>
        <p:spPr>
          <a:xfrm>
            <a:off x="9070848" y="2176272"/>
            <a:ext cx="2194560" cy="274320"/>
          </a:xfrm>
          <a:prstGeom prst="rect">
            <a:avLst/>
          </a:prstGeom>
          <a:noFill/>
          <a:ln/>
        </p:spPr>
        <p:txBody>
          <a:bodyPr wrap="square" lIns="0" tIns="0" rIns="0" bIns="0" rtlCol="0" anchor="ctr"/>
          <a:lstStyle/>
          <a:p>
            <a:pPr indent="0" marL="0">
              <a:buNone/>
            </a:pPr>
            <a:r>
              <a:rPr lang="en-US" sz="1600" b="1" dirty="0">
                <a:solidFill>
                  <a:srgbClr val="141235"/>
                </a:solidFill>
                <a:latin typeface="Calibri" pitchFamily="34" charset="0"/>
                <a:ea typeface="Calibri" pitchFamily="34" charset="-122"/>
                <a:cs typeface="Calibri" pitchFamily="34" charset="-120"/>
              </a:rPr>
              <a:t>Server</a:t>
            </a:r>
            <a:endParaRPr lang="en-US" sz="1600" dirty="0"/>
          </a:p>
        </p:txBody>
      </p:sp>
      <p:sp>
        <p:nvSpPr>
          <p:cNvPr id="24" name="Text 19"/>
          <p:cNvSpPr/>
          <p:nvPr/>
        </p:nvSpPr>
        <p:spPr>
          <a:xfrm>
            <a:off x="9070848" y="2450592"/>
            <a:ext cx="2194560" cy="237744"/>
          </a:xfrm>
          <a:prstGeom prst="rect">
            <a:avLst/>
          </a:prstGeom>
          <a:noFill/>
          <a:ln/>
        </p:spPr>
        <p:txBody>
          <a:bodyPr wrap="square" lIns="0" tIns="0" rIns="0" bIns="0" rtlCol="0" anchor="ctr"/>
          <a:lstStyle/>
          <a:p>
            <a:pPr indent="0" marL="0">
              <a:buNone/>
            </a:pPr>
            <a:r>
              <a:rPr lang="en-US" sz="1050" i="1" dirty="0">
                <a:solidFill>
                  <a:srgbClr val="E08700"/>
                </a:solidFill>
                <a:latin typeface="Calibri" pitchFamily="34" charset="0"/>
                <a:ea typeface="Calibri" pitchFamily="34" charset="-122"/>
                <a:cs typeface="Calibri" pitchFamily="34" charset="-120"/>
              </a:rPr>
              <a:t>Exposes the capability</a:t>
            </a:r>
            <a:endParaRPr lang="en-US" sz="1050" dirty="0"/>
          </a:p>
        </p:txBody>
      </p:sp>
      <p:sp>
        <p:nvSpPr>
          <p:cNvPr id="25" name="Text 20"/>
          <p:cNvSpPr/>
          <p:nvPr/>
        </p:nvSpPr>
        <p:spPr>
          <a:xfrm>
            <a:off x="8540496" y="2852928"/>
            <a:ext cx="2688336" cy="1188720"/>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Wraps a real system. Advertises what it offers and does the work when asked.</a:t>
            </a:r>
            <a:endParaRPr lang="en-US" sz="1150" dirty="0"/>
          </a:p>
        </p:txBody>
      </p:sp>
      <p:sp>
        <p:nvSpPr>
          <p:cNvPr id="26" name="Shape 21"/>
          <p:cNvSpPr/>
          <p:nvPr/>
        </p:nvSpPr>
        <p:spPr>
          <a:xfrm>
            <a:off x="566928" y="4425696"/>
            <a:ext cx="11057839" cy="932688"/>
          </a:xfrm>
          <a:prstGeom prst="roundRect">
            <a:avLst>
              <a:gd name="adj" fmla="val 8824"/>
            </a:avLst>
          </a:prstGeom>
          <a:solidFill>
            <a:srgbClr val="F7F8FD"/>
          </a:solidFill>
          <a:ln w="12700">
            <a:solidFill>
              <a:srgbClr val="E3E4F2"/>
            </a:solidFill>
            <a:prstDash val="solid"/>
          </a:ln>
        </p:spPr>
      </p:sp>
      <p:sp>
        <p:nvSpPr>
          <p:cNvPr id="27" name="Shape 22"/>
          <p:cNvSpPr/>
          <p:nvPr/>
        </p:nvSpPr>
        <p:spPr>
          <a:xfrm>
            <a:off x="841248" y="4626864"/>
            <a:ext cx="384048" cy="384048"/>
          </a:xfrm>
          <a:prstGeom prst="ellipse">
            <a:avLst/>
          </a:prstGeom>
          <a:solidFill>
            <a:srgbClr val="5B4BE8"/>
          </a:solidFill>
          <a:ln w="12700">
            <a:solidFill>
              <a:srgbClr val="5B4BE8"/>
            </a:solidFill>
            <a:prstDash val="solid"/>
          </a:ln>
        </p:spPr>
      </p:sp>
      <p:pic>
        <p:nvPicPr>
          <p:cNvPr id="28" name="Image 3" descr="preencoded.png">    </p:cNvPr>
          <p:cNvPicPr>
            <a:picLocks noChangeAspect="1"/>
          </p:cNvPicPr>
          <p:nvPr/>
        </p:nvPicPr>
        <p:blipFill>
          <a:blip r:embed="rId4"/>
          <a:stretch>
            <a:fillRect/>
          </a:stretch>
        </p:blipFill>
        <p:spPr>
          <a:xfrm>
            <a:off x="937260" y="4722876"/>
            <a:ext cx="192024" cy="192024"/>
          </a:xfrm>
          <a:prstGeom prst="rect">
            <a:avLst/>
          </a:prstGeom>
        </p:spPr>
      </p:pic>
      <p:sp>
        <p:nvSpPr>
          <p:cNvPr id="29" name="Text 23"/>
          <p:cNvSpPr/>
          <p:nvPr/>
        </p:nvSpPr>
        <p:spPr>
          <a:xfrm>
            <a:off x="1389888" y="4480560"/>
            <a:ext cx="9960559" cy="822960"/>
          </a:xfrm>
          <a:prstGeom prst="rect">
            <a:avLst/>
          </a:prstGeom>
          <a:noFill/>
          <a:ln/>
        </p:spPr>
        <p:txBody>
          <a:bodyPr wrap="square" lIns="0" tIns="0" rIns="0" bIns="0" rtlCol="0" anchor="ctr"/>
          <a:lstStyle/>
          <a:p>
            <a:pPr indent="0" marL="0">
              <a:buNone/>
            </a:pPr>
            <a:r>
              <a:rPr lang="en-US" sz="1250" b="1" dirty="0">
                <a:solidFill>
                  <a:srgbClr val="141235"/>
                </a:solidFill>
                <a:latin typeface="Calibri" pitchFamily="34" charset="0"/>
                <a:ea typeface="Calibri" pitchFamily="34" charset="-122"/>
                <a:cs typeface="Calibri" pitchFamily="34" charset="-120"/>
              </a:rPr>
              <a:t>You never write the client.  </a:t>
            </a:r>
            <a:pPr indent="0" marL="0">
              <a:buNone/>
            </a:pPr>
            <a:r>
              <a:rPr lang="en-US" sz="1200" dirty="0">
                <a:solidFill>
                  <a:srgbClr val="6E6B8A"/>
                </a:solidFill>
                <a:latin typeface="Calibri" pitchFamily="34" charset="0"/>
                <a:ea typeface="Calibri" pitchFamily="34" charset="-122"/>
                <a:cs typeface="Calibri" pitchFamily="34" charset="-120"/>
              </a:rPr>
              <a:t>Your framework creates it; you name the servers you want. And the server never knows which client is calling — which is the point, and also why authorisation has to be explicit. Two slides from now.</a:t>
            </a:r>
            <a:endParaRPr lang="en-US" sz="1250" dirty="0"/>
          </a:p>
        </p:txBody>
      </p:sp>
      <p:sp>
        <p:nvSpPr>
          <p:cNvPr id="30" name="Shape 24"/>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31" name="Shape 25"/>
          <p:cNvSpPr/>
          <p:nvPr/>
        </p:nvSpPr>
        <p:spPr>
          <a:xfrm>
            <a:off x="841248" y="5760720"/>
            <a:ext cx="384048" cy="384048"/>
          </a:xfrm>
          <a:prstGeom prst="ellipse">
            <a:avLst/>
          </a:prstGeom>
          <a:solidFill>
            <a:srgbClr val="F5A524"/>
          </a:solidFill>
          <a:ln w="12700">
            <a:solidFill>
              <a:srgbClr val="F5A524"/>
            </a:solidFill>
            <a:prstDash val="solid"/>
          </a:ln>
        </p:spPr>
      </p:sp>
      <p:pic>
        <p:nvPicPr>
          <p:cNvPr id="32" name="Image 4" descr="preencoded.png">    </p:cNvPr>
          <p:cNvPicPr>
            <a:picLocks noChangeAspect="1"/>
          </p:cNvPicPr>
          <p:nvPr/>
        </p:nvPicPr>
        <p:blipFill>
          <a:blip r:embed="rId5"/>
          <a:stretch>
            <a:fillRect/>
          </a:stretch>
        </p:blipFill>
        <p:spPr>
          <a:xfrm>
            <a:off x="937260" y="5856732"/>
            <a:ext cx="192024" cy="192024"/>
          </a:xfrm>
          <a:prstGeom prst="rect">
            <a:avLst/>
          </a:prstGeom>
        </p:spPr>
      </p:pic>
      <p:sp>
        <p:nvSpPr>
          <p:cNvPr id="33" name="Text 26"/>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Host is the app, client is the adapter, server is the thing being plugged in. Your organisation will care most about the third one, because that is where its data lives.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Underneath, it is JSON-RPC 2.0 — and that is the whole trick</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There is no new science here. MCP is a small, published vocabulary of request and response messages in a format that has existed since 2010.</a:t>
            </a:r>
            <a:endParaRPr lang="en-US" sz="1400" dirty="0"/>
          </a:p>
        </p:txBody>
      </p:sp>
      <p:sp>
        <p:nvSpPr>
          <p:cNvPr id="5" name="Shape 3"/>
          <p:cNvSpPr/>
          <p:nvPr/>
        </p:nvSpPr>
        <p:spPr>
          <a:xfrm>
            <a:off x="566928" y="2011680"/>
            <a:ext cx="6035040" cy="3200400"/>
          </a:xfrm>
          <a:prstGeom prst="roundRect">
            <a:avLst>
              <a:gd name="adj" fmla="val 2571"/>
            </a:avLst>
          </a:prstGeom>
          <a:solidFill>
            <a:srgbClr val="F7F8FD"/>
          </a:solidFill>
          <a:ln w="12700">
            <a:solidFill>
              <a:srgbClr val="E3E4F2"/>
            </a:solidFill>
            <a:prstDash val="solid"/>
          </a:ln>
        </p:spPr>
      </p:sp>
      <p:sp>
        <p:nvSpPr>
          <p:cNvPr id="6" name="Text 4"/>
          <p:cNvSpPr/>
          <p:nvPr/>
        </p:nvSpPr>
        <p:spPr>
          <a:xfrm>
            <a:off x="822960" y="2157984"/>
            <a:ext cx="4572000" cy="237744"/>
          </a:xfrm>
          <a:prstGeom prst="rect">
            <a:avLst/>
          </a:prstGeom>
          <a:noFill/>
          <a:ln/>
        </p:spPr>
        <p:txBody>
          <a:bodyPr wrap="square" lIns="0" tIns="0" rIns="0" bIns="0" rtlCol="0" anchor="ctr"/>
          <a:lstStyle/>
          <a:p>
            <a:pPr indent="0" marL="0">
              <a:buNone/>
            </a:pPr>
            <a:r>
              <a:rPr lang="en-US" sz="900" b="1" spc="180" kern="0" dirty="0">
                <a:solidFill>
                  <a:srgbClr val="9B98B4"/>
                </a:solidFill>
                <a:latin typeface="Calibri" pitchFamily="34" charset="0"/>
                <a:ea typeface="Calibri" pitchFamily="34" charset="-122"/>
                <a:cs typeface="Calibri" pitchFamily="34" charset="-120"/>
              </a:rPr>
              <a:t>ONE REQUEST, ON THE WIRE</a:t>
            </a:r>
            <a:endParaRPr lang="en-US" sz="900" dirty="0"/>
          </a:p>
        </p:txBody>
      </p:sp>
      <p:sp>
        <p:nvSpPr>
          <p:cNvPr id="7" name="Text 5"/>
          <p:cNvSpPr/>
          <p:nvPr/>
        </p:nvSpPr>
        <p:spPr>
          <a:xfrm>
            <a:off x="841248" y="2450592"/>
            <a:ext cx="5577840" cy="256032"/>
          </a:xfrm>
          <a:prstGeom prst="rect">
            <a:avLst/>
          </a:prstGeom>
          <a:noFill/>
          <a:ln/>
        </p:spPr>
        <p:txBody>
          <a:bodyPr wrap="square" lIns="0" tIns="0" rIns="0" bIns="0" rtlCol="0" anchor="ctr"/>
          <a:lstStyle/>
          <a:p>
            <a:pPr indent="0" marL="0">
              <a:buNone/>
            </a:pPr>
            <a:r>
              <a:rPr lang="en-US" sz="1150" dirty="0">
                <a:solidFill>
                  <a:srgbClr val="6E6B8A"/>
                </a:solidFill>
                <a:latin typeface="Courier New" pitchFamily="34" charset="0"/>
                <a:ea typeface="Courier New" pitchFamily="34" charset="-122"/>
                <a:cs typeface="Courier New" pitchFamily="34" charset="-120"/>
              </a:rPr>
              <a:t>{</a:t>
            </a:r>
            <a:endParaRPr lang="en-US" sz="1150" dirty="0"/>
          </a:p>
        </p:txBody>
      </p:sp>
      <p:sp>
        <p:nvSpPr>
          <p:cNvPr id="8" name="Text 6"/>
          <p:cNvSpPr/>
          <p:nvPr/>
        </p:nvSpPr>
        <p:spPr>
          <a:xfrm>
            <a:off x="841248" y="2724912"/>
            <a:ext cx="5577840" cy="256032"/>
          </a:xfrm>
          <a:prstGeom prst="rect">
            <a:avLst/>
          </a:prstGeom>
          <a:noFill/>
          <a:ln/>
        </p:spPr>
        <p:txBody>
          <a:bodyPr wrap="square" lIns="0" tIns="0" rIns="0" bIns="0" rtlCol="0" anchor="ctr"/>
          <a:lstStyle/>
          <a:p>
            <a:pPr indent="0" marL="0">
              <a:buNone/>
            </a:pPr>
            <a:r>
              <a:rPr lang="en-US" sz="1150" b="1" dirty="0">
                <a:solidFill>
                  <a:srgbClr val="E08700"/>
                </a:solidFill>
                <a:latin typeface="Courier New" pitchFamily="34" charset="0"/>
                <a:ea typeface="Courier New" pitchFamily="34" charset="-122"/>
                <a:cs typeface="Courier New" pitchFamily="34" charset="-120"/>
              </a:rPr>
              <a:t>  "jsonrpc": "2.0",</a:t>
            </a:r>
            <a:endParaRPr lang="en-US" sz="1150" dirty="0"/>
          </a:p>
        </p:txBody>
      </p:sp>
      <p:sp>
        <p:nvSpPr>
          <p:cNvPr id="9" name="Text 7"/>
          <p:cNvSpPr/>
          <p:nvPr/>
        </p:nvSpPr>
        <p:spPr>
          <a:xfrm>
            <a:off x="841248" y="2999232"/>
            <a:ext cx="5577840" cy="256032"/>
          </a:xfrm>
          <a:prstGeom prst="rect">
            <a:avLst/>
          </a:prstGeom>
          <a:noFill/>
          <a:ln/>
        </p:spPr>
        <p:txBody>
          <a:bodyPr wrap="square" lIns="0" tIns="0" rIns="0" bIns="0" rtlCol="0" anchor="ctr"/>
          <a:lstStyle/>
          <a:p>
            <a:pPr indent="0" marL="0">
              <a:buNone/>
            </a:pPr>
            <a:r>
              <a:rPr lang="en-US" sz="1150" dirty="0">
                <a:solidFill>
                  <a:srgbClr val="3B3760"/>
                </a:solidFill>
                <a:latin typeface="Courier New" pitchFamily="34" charset="0"/>
                <a:ea typeface="Courier New" pitchFamily="34" charset="-122"/>
                <a:cs typeface="Courier New" pitchFamily="34" charset="-120"/>
              </a:rPr>
              <a:t>  "id": 1,</a:t>
            </a:r>
            <a:endParaRPr lang="en-US" sz="1150" dirty="0"/>
          </a:p>
        </p:txBody>
      </p:sp>
      <p:sp>
        <p:nvSpPr>
          <p:cNvPr id="10" name="Text 8"/>
          <p:cNvSpPr/>
          <p:nvPr/>
        </p:nvSpPr>
        <p:spPr>
          <a:xfrm>
            <a:off x="841248" y="3273552"/>
            <a:ext cx="5577840" cy="256032"/>
          </a:xfrm>
          <a:prstGeom prst="rect">
            <a:avLst/>
          </a:prstGeom>
          <a:noFill/>
          <a:ln/>
        </p:spPr>
        <p:txBody>
          <a:bodyPr wrap="square" lIns="0" tIns="0" rIns="0" bIns="0" rtlCol="0" anchor="ctr"/>
          <a:lstStyle/>
          <a:p>
            <a:pPr indent="0" marL="0">
              <a:buNone/>
            </a:pPr>
            <a:r>
              <a:rPr lang="en-US" sz="1150" b="1" dirty="0">
                <a:solidFill>
                  <a:srgbClr val="3B2EB8"/>
                </a:solidFill>
                <a:latin typeface="Courier New" pitchFamily="34" charset="0"/>
                <a:ea typeface="Courier New" pitchFamily="34" charset="-122"/>
                <a:cs typeface="Courier New" pitchFamily="34" charset="-120"/>
              </a:rPr>
              <a:t>  "method": "tools/call",</a:t>
            </a:r>
            <a:endParaRPr lang="en-US" sz="1150" dirty="0"/>
          </a:p>
        </p:txBody>
      </p:sp>
      <p:sp>
        <p:nvSpPr>
          <p:cNvPr id="11" name="Text 9"/>
          <p:cNvSpPr/>
          <p:nvPr/>
        </p:nvSpPr>
        <p:spPr>
          <a:xfrm>
            <a:off x="841248" y="3547872"/>
            <a:ext cx="5577840" cy="256032"/>
          </a:xfrm>
          <a:prstGeom prst="rect">
            <a:avLst/>
          </a:prstGeom>
          <a:noFill/>
          <a:ln/>
        </p:spPr>
        <p:txBody>
          <a:bodyPr wrap="square" lIns="0" tIns="0" rIns="0" bIns="0" rtlCol="0" anchor="ctr"/>
          <a:lstStyle/>
          <a:p>
            <a:pPr indent="0" marL="0">
              <a:buNone/>
            </a:pPr>
            <a:r>
              <a:rPr lang="en-US" sz="1150" dirty="0">
                <a:solidFill>
                  <a:srgbClr val="3B3760"/>
                </a:solidFill>
                <a:latin typeface="Courier New" pitchFamily="34" charset="0"/>
                <a:ea typeface="Courier New" pitchFamily="34" charset="-122"/>
                <a:cs typeface="Courier New" pitchFamily="34" charset="-120"/>
              </a:rPr>
              <a:t>  "params": {</a:t>
            </a:r>
            <a:endParaRPr lang="en-US" sz="1150" dirty="0"/>
          </a:p>
        </p:txBody>
      </p:sp>
      <p:sp>
        <p:nvSpPr>
          <p:cNvPr id="12" name="Text 10"/>
          <p:cNvSpPr/>
          <p:nvPr/>
        </p:nvSpPr>
        <p:spPr>
          <a:xfrm>
            <a:off x="841248" y="3822192"/>
            <a:ext cx="5577840" cy="256032"/>
          </a:xfrm>
          <a:prstGeom prst="rect">
            <a:avLst/>
          </a:prstGeom>
          <a:noFill/>
          <a:ln/>
        </p:spPr>
        <p:txBody>
          <a:bodyPr wrap="square" lIns="0" tIns="0" rIns="0" bIns="0" rtlCol="0" anchor="ctr"/>
          <a:lstStyle/>
          <a:p>
            <a:pPr indent="0" marL="0">
              <a:buNone/>
            </a:pPr>
            <a:r>
              <a:rPr lang="en-US" sz="1150" dirty="0">
                <a:solidFill>
                  <a:srgbClr val="3B3760"/>
                </a:solidFill>
                <a:latin typeface="Courier New" pitchFamily="34" charset="0"/>
                <a:ea typeface="Courier New" pitchFamily="34" charset="-122"/>
                <a:cs typeface="Courier New" pitchFamily="34" charset="-120"/>
              </a:rPr>
              <a:t>    "name": "get_weather",</a:t>
            </a:r>
            <a:endParaRPr lang="en-US" sz="1150" dirty="0"/>
          </a:p>
        </p:txBody>
      </p:sp>
      <p:sp>
        <p:nvSpPr>
          <p:cNvPr id="13" name="Text 11"/>
          <p:cNvSpPr/>
          <p:nvPr/>
        </p:nvSpPr>
        <p:spPr>
          <a:xfrm>
            <a:off x="841248" y="4096512"/>
            <a:ext cx="5577840" cy="256032"/>
          </a:xfrm>
          <a:prstGeom prst="rect">
            <a:avLst/>
          </a:prstGeom>
          <a:noFill/>
          <a:ln/>
        </p:spPr>
        <p:txBody>
          <a:bodyPr wrap="square" lIns="0" tIns="0" rIns="0" bIns="0" rtlCol="0" anchor="ctr"/>
          <a:lstStyle/>
          <a:p>
            <a:pPr indent="0" marL="0">
              <a:buNone/>
            </a:pPr>
            <a:r>
              <a:rPr lang="en-US" sz="1150" dirty="0">
                <a:solidFill>
                  <a:srgbClr val="3B3760"/>
                </a:solidFill>
                <a:latin typeface="Courier New" pitchFamily="34" charset="0"/>
                <a:ea typeface="Courier New" pitchFamily="34" charset="-122"/>
                <a:cs typeface="Courier New" pitchFamily="34" charset="-120"/>
              </a:rPr>
              <a:t>    "arguments": { "location": "Amman" }</a:t>
            </a:r>
            <a:endParaRPr lang="en-US" sz="1150" dirty="0"/>
          </a:p>
        </p:txBody>
      </p:sp>
      <p:sp>
        <p:nvSpPr>
          <p:cNvPr id="14" name="Text 12"/>
          <p:cNvSpPr/>
          <p:nvPr/>
        </p:nvSpPr>
        <p:spPr>
          <a:xfrm>
            <a:off x="841248" y="4370832"/>
            <a:ext cx="5577840" cy="256032"/>
          </a:xfrm>
          <a:prstGeom prst="rect">
            <a:avLst/>
          </a:prstGeom>
          <a:noFill/>
          <a:ln/>
        </p:spPr>
        <p:txBody>
          <a:bodyPr wrap="square" lIns="0" tIns="0" rIns="0" bIns="0" rtlCol="0" anchor="ctr"/>
          <a:lstStyle/>
          <a:p>
            <a:pPr indent="0" marL="0">
              <a:buNone/>
            </a:pPr>
            <a:r>
              <a:rPr lang="en-US" sz="1150" dirty="0">
                <a:solidFill>
                  <a:srgbClr val="3B3760"/>
                </a:solidFill>
                <a:latin typeface="Courier New" pitchFamily="34" charset="0"/>
                <a:ea typeface="Courier New" pitchFamily="34" charset="-122"/>
                <a:cs typeface="Courier New" pitchFamily="34" charset="-120"/>
              </a:rPr>
              <a:t>  }</a:t>
            </a:r>
            <a:endParaRPr lang="en-US" sz="1150" dirty="0"/>
          </a:p>
        </p:txBody>
      </p:sp>
      <p:sp>
        <p:nvSpPr>
          <p:cNvPr id="15" name="Text 13"/>
          <p:cNvSpPr/>
          <p:nvPr/>
        </p:nvSpPr>
        <p:spPr>
          <a:xfrm>
            <a:off x="841248" y="4645152"/>
            <a:ext cx="5577840" cy="256032"/>
          </a:xfrm>
          <a:prstGeom prst="rect">
            <a:avLst/>
          </a:prstGeom>
          <a:noFill/>
          <a:ln/>
        </p:spPr>
        <p:txBody>
          <a:bodyPr wrap="square" lIns="0" tIns="0" rIns="0" bIns="0" rtlCol="0" anchor="ctr"/>
          <a:lstStyle/>
          <a:p>
            <a:pPr indent="0" marL="0">
              <a:buNone/>
            </a:pPr>
            <a:r>
              <a:rPr lang="en-US" sz="1150" dirty="0">
                <a:solidFill>
                  <a:srgbClr val="6E6B8A"/>
                </a:solidFill>
                <a:latin typeface="Courier New" pitchFamily="34" charset="0"/>
                <a:ea typeface="Courier New" pitchFamily="34" charset="-122"/>
                <a:cs typeface="Courier New" pitchFamily="34" charset="-120"/>
              </a:rPr>
              <a:t>}</a:t>
            </a:r>
            <a:endParaRPr lang="en-US" sz="1150" dirty="0"/>
          </a:p>
        </p:txBody>
      </p:sp>
      <p:sp>
        <p:nvSpPr>
          <p:cNvPr id="16" name="Text 14"/>
          <p:cNvSpPr/>
          <p:nvPr/>
        </p:nvSpPr>
        <p:spPr>
          <a:xfrm>
            <a:off x="841248" y="4901184"/>
            <a:ext cx="5486400" cy="256032"/>
          </a:xfrm>
          <a:prstGeom prst="rect">
            <a:avLst/>
          </a:prstGeom>
          <a:noFill/>
          <a:ln/>
        </p:spPr>
        <p:txBody>
          <a:bodyPr wrap="square" lIns="0" tIns="0" rIns="0" bIns="0" rtlCol="0" anchor="ctr"/>
          <a:lstStyle/>
          <a:p>
            <a:pPr indent="0" marL="0">
              <a:buNone/>
            </a:pPr>
            <a:r>
              <a:rPr lang="en-US" sz="1050" i="1" dirty="0">
                <a:solidFill>
                  <a:srgbClr val="6E6B8A"/>
                </a:solidFill>
                <a:latin typeface="Calibri" pitchFamily="34" charset="0"/>
                <a:ea typeface="Calibri" pitchFamily="34" charset="-122"/>
                <a:cs typeface="Calibri" pitchFamily="34" charset="-120"/>
              </a:rPr>
              <a:t>The server answers with the same id and either a result or an error.</a:t>
            </a:r>
            <a:endParaRPr lang="en-US" sz="1050" dirty="0"/>
          </a:p>
        </p:txBody>
      </p:sp>
      <p:sp>
        <p:nvSpPr>
          <p:cNvPr id="17" name="Shape 15"/>
          <p:cNvSpPr/>
          <p:nvPr/>
        </p:nvSpPr>
        <p:spPr>
          <a:xfrm>
            <a:off x="6858000" y="2011680"/>
            <a:ext cx="4766767" cy="1005840"/>
          </a:xfrm>
          <a:prstGeom prst="roundRect">
            <a:avLst>
              <a:gd name="adj" fmla="val 8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6"/>
          <p:cNvSpPr/>
          <p:nvPr/>
        </p:nvSpPr>
        <p:spPr>
          <a:xfrm>
            <a:off x="7095744" y="2231136"/>
            <a:ext cx="365760" cy="365760"/>
          </a:xfrm>
          <a:prstGeom prst="ellipse">
            <a:avLst/>
          </a:prstGeom>
          <a:solidFill>
            <a:srgbClr val="5B4BE8"/>
          </a:solidFill>
          <a:ln w="12700">
            <a:solidFill>
              <a:srgbClr val="5B4BE8"/>
            </a:solidFill>
            <a:prstDash val="solid"/>
          </a:ln>
        </p:spPr>
      </p:sp>
      <p:pic>
        <p:nvPicPr>
          <p:cNvPr id="19" name="Image 0" descr="preencoded.png">    </p:cNvPr>
          <p:cNvPicPr>
            <a:picLocks noChangeAspect="1"/>
          </p:cNvPicPr>
          <p:nvPr/>
        </p:nvPicPr>
        <p:blipFill>
          <a:blip r:embed="rId1"/>
          <a:stretch>
            <a:fillRect/>
          </a:stretch>
        </p:blipFill>
        <p:spPr>
          <a:xfrm>
            <a:off x="7187184" y="2322576"/>
            <a:ext cx="182880" cy="182880"/>
          </a:xfrm>
          <a:prstGeom prst="rect">
            <a:avLst/>
          </a:prstGeom>
        </p:spPr>
      </p:pic>
      <p:sp>
        <p:nvSpPr>
          <p:cNvPr id="20" name="Text 17"/>
          <p:cNvSpPr/>
          <p:nvPr/>
        </p:nvSpPr>
        <p:spPr>
          <a:xfrm>
            <a:off x="7589520" y="2249424"/>
            <a:ext cx="3797503" cy="314371"/>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jsonrpc, id, method, params</a:t>
            </a:r>
            <a:endParaRPr lang="en-US" sz="1300" dirty="0"/>
          </a:p>
        </p:txBody>
      </p:sp>
      <p:sp>
        <p:nvSpPr>
          <p:cNvPr id="21" name="Text 18"/>
          <p:cNvSpPr/>
          <p:nvPr/>
        </p:nvSpPr>
        <p:spPr>
          <a:xfrm>
            <a:off x="7589520" y="2572939"/>
            <a:ext cx="3797503" cy="261701"/>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Four fields. Nothing agent-specific about the envelope at all — it is the same shape a 2010 web service used.</a:t>
            </a:r>
            <a:endParaRPr lang="en-US" sz="1050" dirty="0"/>
          </a:p>
        </p:txBody>
      </p:sp>
      <p:sp>
        <p:nvSpPr>
          <p:cNvPr id="22" name="Shape 19"/>
          <p:cNvSpPr/>
          <p:nvPr/>
        </p:nvSpPr>
        <p:spPr>
          <a:xfrm>
            <a:off x="6858000" y="3090672"/>
            <a:ext cx="4766767" cy="1005840"/>
          </a:xfrm>
          <a:prstGeom prst="roundRect">
            <a:avLst>
              <a:gd name="adj" fmla="val 8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3" name="Shape 20"/>
          <p:cNvSpPr/>
          <p:nvPr/>
        </p:nvSpPr>
        <p:spPr>
          <a:xfrm>
            <a:off x="7095744" y="3310128"/>
            <a:ext cx="365760" cy="365760"/>
          </a:xfrm>
          <a:prstGeom prst="ellipse">
            <a:avLst/>
          </a:prstGeom>
          <a:solidFill>
            <a:srgbClr val="5B4BE8"/>
          </a:solidFill>
          <a:ln w="12700">
            <a:solidFill>
              <a:srgbClr val="5B4BE8"/>
            </a:solidFill>
            <a:prstDash val="solid"/>
          </a:ln>
        </p:spPr>
      </p:sp>
      <p:pic>
        <p:nvPicPr>
          <p:cNvPr id="24" name="Image 1" descr="preencoded.png">    </p:cNvPr>
          <p:cNvPicPr>
            <a:picLocks noChangeAspect="1"/>
          </p:cNvPicPr>
          <p:nvPr/>
        </p:nvPicPr>
        <p:blipFill>
          <a:blip r:embed="rId2"/>
          <a:stretch>
            <a:fillRect/>
          </a:stretch>
        </p:blipFill>
        <p:spPr>
          <a:xfrm>
            <a:off x="7187184" y="3401568"/>
            <a:ext cx="182880" cy="182880"/>
          </a:xfrm>
          <a:prstGeom prst="rect">
            <a:avLst/>
          </a:prstGeom>
        </p:spPr>
      </p:pic>
      <p:sp>
        <p:nvSpPr>
          <p:cNvPr id="25" name="Text 21"/>
          <p:cNvSpPr/>
          <p:nvPr/>
        </p:nvSpPr>
        <p:spPr>
          <a:xfrm>
            <a:off x="7589520" y="3328416"/>
            <a:ext cx="3797503" cy="314371"/>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The method names are the spec</a:t>
            </a:r>
            <a:endParaRPr lang="en-US" sz="1300" dirty="0"/>
          </a:p>
        </p:txBody>
      </p:sp>
      <p:sp>
        <p:nvSpPr>
          <p:cNvPr id="26" name="Text 22"/>
          <p:cNvSpPr/>
          <p:nvPr/>
        </p:nvSpPr>
        <p:spPr>
          <a:xfrm>
            <a:off x="7589520" y="3651931"/>
            <a:ext cx="3797503" cy="261701"/>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tools/list, tools/call, resources/read, prompts/get. Learning MCP is mostly learning this short list of verbs.</a:t>
            </a:r>
            <a:endParaRPr lang="en-US" sz="1050" dirty="0"/>
          </a:p>
        </p:txBody>
      </p:sp>
      <p:sp>
        <p:nvSpPr>
          <p:cNvPr id="27" name="Shape 23"/>
          <p:cNvSpPr/>
          <p:nvPr/>
        </p:nvSpPr>
        <p:spPr>
          <a:xfrm>
            <a:off x="6858000" y="4169664"/>
            <a:ext cx="4766767" cy="1042416"/>
          </a:xfrm>
          <a:prstGeom prst="roundRect">
            <a:avLst>
              <a:gd name="adj" fmla="val 7895"/>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8" name="Shape 24"/>
          <p:cNvSpPr/>
          <p:nvPr/>
        </p:nvSpPr>
        <p:spPr>
          <a:xfrm>
            <a:off x="7095744" y="4389120"/>
            <a:ext cx="365760" cy="365760"/>
          </a:xfrm>
          <a:prstGeom prst="ellipse">
            <a:avLst/>
          </a:prstGeom>
          <a:solidFill>
            <a:srgbClr val="F5A524"/>
          </a:solidFill>
          <a:ln w="12700">
            <a:solidFill>
              <a:srgbClr val="F5A524"/>
            </a:solidFill>
            <a:prstDash val="solid"/>
          </a:ln>
        </p:spPr>
      </p:sp>
      <p:pic>
        <p:nvPicPr>
          <p:cNvPr id="29" name="Image 2" descr="preencoded.png">    </p:cNvPr>
          <p:cNvPicPr>
            <a:picLocks noChangeAspect="1"/>
          </p:cNvPicPr>
          <p:nvPr/>
        </p:nvPicPr>
        <p:blipFill>
          <a:blip r:embed="rId3"/>
          <a:stretch>
            <a:fillRect/>
          </a:stretch>
        </p:blipFill>
        <p:spPr>
          <a:xfrm>
            <a:off x="7187184" y="4480560"/>
            <a:ext cx="182880" cy="182880"/>
          </a:xfrm>
          <a:prstGeom prst="rect">
            <a:avLst/>
          </a:prstGeom>
        </p:spPr>
      </p:pic>
      <p:sp>
        <p:nvSpPr>
          <p:cNvPr id="30" name="Text 25"/>
          <p:cNvSpPr/>
          <p:nvPr/>
        </p:nvSpPr>
        <p:spPr>
          <a:xfrm>
            <a:off x="7589520" y="4407408"/>
            <a:ext cx="3797503" cy="314371"/>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Which means you can watch it</a:t>
            </a:r>
            <a:endParaRPr lang="en-US" sz="1300" dirty="0"/>
          </a:p>
        </p:txBody>
      </p:sp>
      <p:sp>
        <p:nvSpPr>
          <p:cNvPr id="31" name="Text 26"/>
          <p:cNvSpPr/>
          <p:nvPr/>
        </p:nvSpPr>
        <p:spPr>
          <a:xfrm>
            <a:off x="7589520" y="4730923"/>
            <a:ext cx="3797503" cy="298277"/>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Turn on the traffic log and read every message. An agent that felt like a black box becomes a request log you can review like any API.</a:t>
            </a:r>
            <a:endParaRPr lang="en-US" sz="1050" dirty="0"/>
          </a:p>
        </p:txBody>
      </p:sp>
      <p:sp>
        <p:nvSpPr>
          <p:cNvPr id="32" name="Shape 27"/>
          <p:cNvSpPr/>
          <p:nvPr/>
        </p:nvSpPr>
        <p:spPr>
          <a:xfrm>
            <a:off x="566928" y="5376672"/>
            <a:ext cx="11057839" cy="822960"/>
          </a:xfrm>
          <a:prstGeom prst="roundRect">
            <a:avLst>
              <a:gd name="adj" fmla="val 10000"/>
            </a:avLst>
          </a:prstGeom>
          <a:solidFill>
            <a:srgbClr val="FFF4E0"/>
          </a:solidFill>
          <a:ln w="12700">
            <a:solidFill>
              <a:srgbClr val="F3DCB0"/>
            </a:solidFill>
            <a:prstDash val="solid"/>
          </a:ln>
        </p:spPr>
      </p:sp>
      <p:sp>
        <p:nvSpPr>
          <p:cNvPr id="33" name="Shape 28"/>
          <p:cNvSpPr/>
          <p:nvPr/>
        </p:nvSpPr>
        <p:spPr>
          <a:xfrm>
            <a:off x="841248" y="5596128"/>
            <a:ext cx="384048" cy="384048"/>
          </a:xfrm>
          <a:prstGeom prst="ellipse">
            <a:avLst/>
          </a:prstGeom>
          <a:solidFill>
            <a:srgbClr val="F5A524"/>
          </a:solidFill>
          <a:ln w="12700">
            <a:solidFill>
              <a:srgbClr val="F5A524"/>
            </a:solidFill>
            <a:prstDash val="solid"/>
          </a:ln>
        </p:spPr>
      </p:sp>
      <p:pic>
        <p:nvPicPr>
          <p:cNvPr id="34" name="Image 3" descr="preencoded.png">    </p:cNvPr>
          <p:cNvPicPr>
            <a:picLocks noChangeAspect="1"/>
          </p:cNvPicPr>
          <p:nvPr/>
        </p:nvPicPr>
        <p:blipFill>
          <a:blip r:embed="rId4"/>
          <a:stretch>
            <a:fillRect/>
          </a:stretch>
        </p:blipFill>
        <p:spPr>
          <a:xfrm>
            <a:off x="937260" y="5692140"/>
            <a:ext cx="192024" cy="192024"/>
          </a:xfrm>
          <a:prstGeom prst="rect">
            <a:avLst/>
          </a:prstGeom>
        </p:spPr>
      </p:pic>
      <p:sp>
        <p:nvSpPr>
          <p:cNvPr id="35" name="Text 29"/>
          <p:cNvSpPr/>
          <p:nvPr/>
        </p:nvSpPr>
        <p:spPr>
          <a:xfrm>
            <a:off x="1371600" y="5431536"/>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It is a shared vocabulary for “what can you do?” and “please do this”. Written down, versioned, and boring on purpose — which is exactly what you want from a standard.</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Two transports, and one big change in the 2026 spec</a:t>
            </a:r>
            <a:endParaRPr lang="en-US" sz="2800" dirty="0"/>
          </a:p>
        </p:txBody>
      </p:sp>
      <p:sp>
        <p:nvSpPr>
          <p:cNvPr id="4" name="Shape 2"/>
          <p:cNvSpPr/>
          <p:nvPr/>
        </p:nvSpPr>
        <p:spPr>
          <a:xfrm>
            <a:off x="566928" y="2255139"/>
            <a:ext cx="3527450" cy="2366010"/>
          </a:xfrm>
          <a:prstGeom prst="roundRect">
            <a:avLst>
              <a:gd name="adj" fmla="val 347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474595"/>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566035"/>
            <a:ext cx="182880" cy="182880"/>
          </a:xfrm>
          <a:prstGeom prst="rect">
            <a:avLst/>
          </a:prstGeom>
        </p:spPr>
      </p:pic>
      <p:sp>
        <p:nvSpPr>
          <p:cNvPr id="7" name="Text 4"/>
          <p:cNvSpPr/>
          <p:nvPr/>
        </p:nvSpPr>
        <p:spPr>
          <a:xfrm>
            <a:off x="1298448" y="2465451"/>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TRANSPORT 1</a:t>
            </a:r>
            <a:endParaRPr lang="en-US" sz="850" dirty="0"/>
          </a:p>
        </p:txBody>
      </p:sp>
      <p:sp>
        <p:nvSpPr>
          <p:cNvPr id="8" name="Text 5"/>
          <p:cNvSpPr/>
          <p:nvPr/>
        </p:nvSpPr>
        <p:spPr>
          <a:xfrm>
            <a:off x="1298448" y="2684907"/>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stdio</a:t>
            </a:r>
            <a:endParaRPr lang="en-US" sz="1450" dirty="0"/>
          </a:p>
        </p:txBody>
      </p:sp>
      <p:sp>
        <p:nvSpPr>
          <p:cNvPr id="9" name="Text 6"/>
          <p:cNvSpPr/>
          <p:nvPr/>
        </p:nvSpPr>
        <p:spPr>
          <a:xfrm>
            <a:off x="1298448" y="3032562"/>
            <a:ext cx="2558186" cy="140570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server is a local process. Messages go over its standard input and output. No ports, no network, no auth story needed — the operating system is the boundary. This is what most desktop and developer tooling uses.</a:t>
            </a:r>
            <a:endParaRPr lang="en-US" sz="1150" dirty="0"/>
          </a:p>
        </p:txBody>
      </p:sp>
      <p:sp>
        <p:nvSpPr>
          <p:cNvPr id="10" name="Shape 7"/>
          <p:cNvSpPr/>
          <p:nvPr/>
        </p:nvSpPr>
        <p:spPr>
          <a:xfrm>
            <a:off x="4332122" y="2255139"/>
            <a:ext cx="3527450" cy="2366010"/>
          </a:xfrm>
          <a:prstGeom prst="roundRect">
            <a:avLst>
              <a:gd name="adj" fmla="val 347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474595"/>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4661306" y="2566035"/>
            <a:ext cx="182880" cy="182880"/>
          </a:xfrm>
          <a:prstGeom prst="rect">
            <a:avLst/>
          </a:prstGeom>
        </p:spPr>
      </p:pic>
      <p:sp>
        <p:nvSpPr>
          <p:cNvPr id="13" name="Text 9"/>
          <p:cNvSpPr/>
          <p:nvPr/>
        </p:nvSpPr>
        <p:spPr>
          <a:xfrm>
            <a:off x="5063642" y="2465451"/>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TRANSPORT 2</a:t>
            </a:r>
            <a:endParaRPr lang="en-US" sz="850" dirty="0"/>
          </a:p>
        </p:txBody>
      </p:sp>
      <p:sp>
        <p:nvSpPr>
          <p:cNvPr id="14" name="Text 10"/>
          <p:cNvSpPr/>
          <p:nvPr/>
        </p:nvSpPr>
        <p:spPr>
          <a:xfrm>
            <a:off x="5063642" y="2684907"/>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Streamable HTTP</a:t>
            </a:r>
            <a:endParaRPr lang="en-US" sz="1450" dirty="0"/>
          </a:p>
        </p:txBody>
      </p:sp>
      <p:sp>
        <p:nvSpPr>
          <p:cNvPr id="15" name="Text 11"/>
          <p:cNvSpPr/>
          <p:nvPr/>
        </p:nvSpPr>
        <p:spPr>
          <a:xfrm>
            <a:off x="5063642" y="3032562"/>
            <a:ext cx="2558186" cy="140570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server is a remote service behind one HTTP endpoint. Each message is a POST; the reply is either JSON or a stream. This is what an enterprise deployment actually looks like.</a:t>
            </a:r>
            <a:endParaRPr lang="en-US" sz="1150" dirty="0"/>
          </a:p>
        </p:txBody>
      </p:sp>
      <p:sp>
        <p:nvSpPr>
          <p:cNvPr id="16" name="Shape 12"/>
          <p:cNvSpPr/>
          <p:nvPr/>
        </p:nvSpPr>
        <p:spPr>
          <a:xfrm>
            <a:off x="8097317" y="2255139"/>
            <a:ext cx="3527450" cy="2366010"/>
          </a:xfrm>
          <a:prstGeom prst="roundRect">
            <a:avLst>
              <a:gd name="adj" fmla="val 3478"/>
            </a:avLst>
          </a:prstGeom>
          <a:solidFill>
            <a:srgbClr val="EEEDFE"/>
          </a:solidFill>
          <a:ln w="12700">
            <a:solidFill>
              <a:srgbClr val="8E82F5"/>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474595"/>
            <a:ext cx="365760" cy="365760"/>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8426501" y="2566035"/>
            <a:ext cx="182880" cy="182880"/>
          </a:xfrm>
          <a:prstGeom prst="rect">
            <a:avLst/>
          </a:prstGeom>
        </p:spPr>
      </p:pic>
      <p:sp>
        <p:nvSpPr>
          <p:cNvPr id="19" name="Text 14"/>
          <p:cNvSpPr/>
          <p:nvPr/>
        </p:nvSpPr>
        <p:spPr>
          <a:xfrm>
            <a:off x="8828837" y="2465451"/>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WHAT CHANGED</a:t>
            </a:r>
            <a:endParaRPr lang="en-US" sz="850" dirty="0"/>
          </a:p>
        </p:txBody>
      </p:sp>
      <p:sp>
        <p:nvSpPr>
          <p:cNvPr id="20" name="Text 15"/>
          <p:cNvSpPr/>
          <p:nvPr/>
        </p:nvSpPr>
        <p:spPr>
          <a:xfrm>
            <a:off x="8828837" y="2684907"/>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It went stateless</a:t>
            </a:r>
            <a:endParaRPr lang="en-US" sz="1450" dirty="0"/>
          </a:p>
        </p:txBody>
      </p:sp>
      <p:sp>
        <p:nvSpPr>
          <p:cNvPr id="21" name="Text 16"/>
          <p:cNvSpPr/>
          <p:nvPr/>
        </p:nvSpPr>
        <p:spPr>
          <a:xfrm>
            <a:off x="8828837" y="3032562"/>
            <a:ext cx="2558186" cy="140570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2026 revision removed protocol-level sessions and the standing GET stream. A remote server that used to need sticky sessions and a shared session store can now sit behind a plain round-robin load balancer.</a:t>
            </a:r>
            <a:endParaRPr lang="en-US" sz="1150" dirty="0"/>
          </a:p>
        </p:txBody>
      </p:sp>
      <p:sp>
        <p:nvSpPr>
          <p:cNvPr id="22" name="Text 17"/>
          <p:cNvSpPr/>
          <p:nvPr/>
        </p:nvSpPr>
        <p:spPr>
          <a:xfrm>
            <a:off x="566928" y="5047488"/>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The older HTTP+SSE transport has been deprecated since the 2025-03-26 revision. New work should not adopt it. Source: modelcontextprotocol.io specification.</a:t>
            </a:r>
            <a:endParaRPr lang="en-US" sz="950" dirty="0"/>
          </a:p>
        </p:txBody>
      </p:sp>
      <p:sp>
        <p:nvSpPr>
          <p:cNvPr id="23" name="Shape 18"/>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24" name="Shape 19"/>
          <p:cNvSpPr/>
          <p:nvPr/>
        </p:nvSpPr>
        <p:spPr>
          <a:xfrm>
            <a:off x="841248" y="5650992"/>
            <a:ext cx="384048" cy="384048"/>
          </a:xfrm>
          <a:prstGeom prst="ellipse">
            <a:avLst/>
          </a:prstGeom>
          <a:solidFill>
            <a:srgbClr val="F5A524"/>
          </a:solidFill>
          <a:ln w="12700">
            <a:solidFill>
              <a:srgbClr val="F5A524"/>
            </a:solidFill>
            <a:prstDash val="solid"/>
          </a:ln>
        </p:spPr>
      </p:sp>
      <p:pic>
        <p:nvPicPr>
          <p:cNvPr id="25" name="Image 3" descr="preencoded.png">    </p:cNvPr>
          <p:cNvPicPr>
            <a:picLocks noChangeAspect="1"/>
          </p:cNvPicPr>
          <p:nvPr/>
        </p:nvPicPr>
        <p:blipFill>
          <a:blip r:embed="rId4"/>
          <a:stretch>
            <a:fillRect/>
          </a:stretch>
        </p:blipFill>
        <p:spPr>
          <a:xfrm>
            <a:off x="937260" y="5747004"/>
            <a:ext cx="192024" cy="192024"/>
          </a:xfrm>
          <a:prstGeom prst="rect">
            <a:avLst/>
          </a:prstGeom>
        </p:spPr>
      </p:pic>
      <p:sp>
        <p:nvSpPr>
          <p:cNvPr id="26" name="Text 20"/>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Local tools run as a program on your machine. Remote tools are an ordinary web service — which means your existing rules about web services already apply to them.</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What a server can offer, and who is in charge of each</a:t>
            </a:r>
            <a:endParaRPr lang="en-US" sz="2800" dirty="0"/>
          </a:p>
        </p:txBody>
      </p:sp>
      <p:sp>
        <p:nvSpPr>
          <p:cNvPr id="4" name="Shape 2"/>
          <p:cNvSpPr/>
          <p:nvPr/>
        </p:nvSpPr>
        <p:spPr>
          <a:xfrm>
            <a:off x="566928" y="2173072"/>
            <a:ext cx="2586152" cy="2493569"/>
          </a:xfrm>
          <a:prstGeom prst="roundRect">
            <a:avLst>
              <a:gd name="adj" fmla="val 330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392528"/>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483968"/>
            <a:ext cx="182880" cy="182880"/>
          </a:xfrm>
          <a:prstGeom prst="rect">
            <a:avLst/>
          </a:prstGeom>
        </p:spPr>
      </p:pic>
      <p:sp>
        <p:nvSpPr>
          <p:cNvPr id="7" name="Text 4"/>
          <p:cNvSpPr/>
          <p:nvPr/>
        </p:nvSpPr>
        <p:spPr>
          <a:xfrm>
            <a:off x="1298448" y="238338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MODEL-CONTROLLED</a:t>
            </a:r>
            <a:endParaRPr lang="en-US" sz="850" dirty="0"/>
          </a:p>
        </p:txBody>
      </p:sp>
      <p:sp>
        <p:nvSpPr>
          <p:cNvPr id="8" name="Text 5"/>
          <p:cNvSpPr/>
          <p:nvPr/>
        </p:nvSpPr>
        <p:spPr>
          <a:xfrm>
            <a:off x="1298448" y="2602840"/>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Tools</a:t>
            </a:r>
            <a:endParaRPr lang="en-US" sz="1450" dirty="0"/>
          </a:p>
        </p:txBody>
      </p:sp>
      <p:sp>
        <p:nvSpPr>
          <p:cNvPr id="9" name="Text 6"/>
          <p:cNvSpPr/>
          <p:nvPr/>
        </p:nvSpPr>
        <p:spPr>
          <a:xfrm>
            <a:off x="1298448" y="2950494"/>
            <a:ext cx="1616888" cy="1533266"/>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Actions the model may request. Each ships a name, a description and a typed schema — the same shape you wrote by hand in module 02. Tool schemas now take full JSON Schema.</a:t>
            </a:r>
            <a:endParaRPr lang="en-US" sz="1100" dirty="0"/>
          </a:p>
        </p:txBody>
      </p:sp>
      <p:sp>
        <p:nvSpPr>
          <p:cNvPr id="10" name="Shape 7"/>
          <p:cNvSpPr/>
          <p:nvPr/>
        </p:nvSpPr>
        <p:spPr>
          <a:xfrm>
            <a:off x="3390824" y="2173072"/>
            <a:ext cx="2586152" cy="2493569"/>
          </a:xfrm>
          <a:prstGeom prst="roundRect">
            <a:avLst>
              <a:gd name="adj" fmla="val 330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3628568" y="2392528"/>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3720008" y="2483968"/>
            <a:ext cx="182880" cy="182880"/>
          </a:xfrm>
          <a:prstGeom prst="rect">
            <a:avLst/>
          </a:prstGeom>
        </p:spPr>
      </p:pic>
      <p:sp>
        <p:nvSpPr>
          <p:cNvPr id="13" name="Text 9"/>
          <p:cNvSpPr/>
          <p:nvPr/>
        </p:nvSpPr>
        <p:spPr>
          <a:xfrm>
            <a:off x="4122344" y="238338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APP-CONTROLLED</a:t>
            </a:r>
            <a:endParaRPr lang="en-US" sz="850" dirty="0"/>
          </a:p>
        </p:txBody>
      </p:sp>
      <p:sp>
        <p:nvSpPr>
          <p:cNvPr id="14" name="Text 10"/>
          <p:cNvSpPr/>
          <p:nvPr/>
        </p:nvSpPr>
        <p:spPr>
          <a:xfrm>
            <a:off x="4122344" y="2602840"/>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Resources</a:t>
            </a:r>
            <a:endParaRPr lang="en-US" sz="1450" dirty="0"/>
          </a:p>
        </p:txBody>
      </p:sp>
      <p:sp>
        <p:nvSpPr>
          <p:cNvPr id="15" name="Text 11"/>
          <p:cNvSpPr/>
          <p:nvPr/>
        </p:nvSpPr>
        <p:spPr>
          <a:xfrm>
            <a:off x="4122344" y="2950494"/>
            <a:ext cx="1616888" cy="1533266"/>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Readable context the host can attach: a file, a record, a query result. The application decides what goes in, not the model.</a:t>
            </a:r>
            <a:endParaRPr lang="en-US" sz="1100" dirty="0"/>
          </a:p>
        </p:txBody>
      </p:sp>
      <p:sp>
        <p:nvSpPr>
          <p:cNvPr id="16" name="Shape 12"/>
          <p:cNvSpPr/>
          <p:nvPr/>
        </p:nvSpPr>
        <p:spPr>
          <a:xfrm>
            <a:off x="6214720" y="2173072"/>
            <a:ext cx="2586152" cy="2493569"/>
          </a:xfrm>
          <a:prstGeom prst="roundRect">
            <a:avLst>
              <a:gd name="adj" fmla="val 330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6452464" y="2392528"/>
            <a:ext cx="365760" cy="365760"/>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6543904" y="2483968"/>
            <a:ext cx="182880" cy="182880"/>
          </a:xfrm>
          <a:prstGeom prst="rect">
            <a:avLst/>
          </a:prstGeom>
        </p:spPr>
      </p:pic>
      <p:sp>
        <p:nvSpPr>
          <p:cNvPr id="19" name="Text 14"/>
          <p:cNvSpPr/>
          <p:nvPr/>
        </p:nvSpPr>
        <p:spPr>
          <a:xfrm>
            <a:off x="6946240" y="238338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USER-CONTROLLED</a:t>
            </a:r>
            <a:endParaRPr lang="en-US" sz="850" dirty="0"/>
          </a:p>
        </p:txBody>
      </p:sp>
      <p:sp>
        <p:nvSpPr>
          <p:cNvPr id="20" name="Text 15"/>
          <p:cNvSpPr/>
          <p:nvPr/>
        </p:nvSpPr>
        <p:spPr>
          <a:xfrm>
            <a:off x="6946240" y="2602840"/>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Prompts</a:t>
            </a:r>
            <a:endParaRPr lang="en-US" sz="1450" dirty="0"/>
          </a:p>
        </p:txBody>
      </p:sp>
      <p:sp>
        <p:nvSpPr>
          <p:cNvPr id="21" name="Text 16"/>
          <p:cNvSpPr/>
          <p:nvPr/>
        </p:nvSpPr>
        <p:spPr>
          <a:xfrm>
            <a:off x="6946240" y="2950494"/>
            <a:ext cx="1616888" cy="1533266"/>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Named, parameterised templates the user picks deliberately — the slash-command surface. Discoverable, versioned, reviewable.</a:t>
            </a:r>
            <a:endParaRPr lang="en-US" sz="1100" dirty="0"/>
          </a:p>
        </p:txBody>
      </p:sp>
      <p:sp>
        <p:nvSpPr>
          <p:cNvPr id="22" name="Shape 17"/>
          <p:cNvSpPr/>
          <p:nvPr/>
        </p:nvSpPr>
        <p:spPr>
          <a:xfrm>
            <a:off x="9038615" y="2173072"/>
            <a:ext cx="2586152" cy="2493569"/>
          </a:xfrm>
          <a:prstGeom prst="roundRect">
            <a:avLst>
              <a:gd name="adj" fmla="val 3300"/>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23" name="Shape 18"/>
          <p:cNvSpPr/>
          <p:nvPr/>
        </p:nvSpPr>
        <p:spPr>
          <a:xfrm>
            <a:off x="9276359" y="2392528"/>
            <a:ext cx="365760" cy="365760"/>
          </a:xfrm>
          <a:prstGeom prst="ellipse">
            <a:avLst/>
          </a:prstGeom>
          <a:solidFill>
            <a:srgbClr val="F5A524"/>
          </a:solidFill>
          <a:ln w="12700">
            <a:solidFill>
              <a:srgbClr val="F5A524"/>
            </a:solidFill>
            <a:prstDash val="solid"/>
          </a:ln>
        </p:spPr>
      </p:sp>
      <p:pic>
        <p:nvPicPr>
          <p:cNvPr id="24" name="Image 3" descr="preencoded.png">    </p:cNvPr>
          <p:cNvPicPr>
            <a:picLocks noChangeAspect="1"/>
          </p:cNvPicPr>
          <p:nvPr/>
        </p:nvPicPr>
        <p:blipFill>
          <a:blip r:embed="rId4"/>
          <a:stretch>
            <a:fillRect/>
          </a:stretch>
        </p:blipFill>
        <p:spPr>
          <a:xfrm>
            <a:off x="9367799" y="2483968"/>
            <a:ext cx="182880" cy="182880"/>
          </a:xfrm>
          <a:prstGeom prst="rect">
            <a:avLst/>
          </a:prstGeom>
        </p:spPr>
      </p:pic>
      <p:sp>
        <p:nvSpPr>
          <p:cNvPr id="25" name="Text 19"/>
          <p:cNvSpPr/>
          <p:nvPr/>
        </p:nvSpPr>
        <p:spPr>
          <a:xfrm>
            <a:off x="9770135" y="238338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SERVER ASKS YOU</a:t>
            </a:r>
            <a:endParaRPr lang="en-US" sz="850" dirty="0"/>
          </a:p>
        </p:txBody>
      </p:sp>
      <p:sp>
        <p:nvSpPr>
          <p:cNvPr id="26" name="Text 20"/>
          <p:cNvSpPr/>
          <p:nvPr/>
        </p:nvSpPr>
        <p:spPr>
          <a:xfrm>
            <a:off x="9770135" y="2602840"/>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Elicitation</a:t>
            </a:r>
            <a:endParaRPr lang="en-US" sz="1450" dirty="0"/>
          </a:p>
        </p:txBody>
      </p:sp>
      <p:sp>
        <p:nvSpPr>
          <p:cNvPr id="27" name="Text 21"/>
          <p:cNvSpPr/>
          <p:nvPr/>
        </p:nvSpPr>
        <p:spPr>
          <a:xfrm>
            <a:off x="9770135" y="2950494"/>
            <a:ext cx="1616888" cy="1533266"/>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Mid-task, the server can come back asking for input — a missing parameter, a confirmation. This is human-in-the-loop as a protocol feature, not a bolt-on.</a:t>
            </a:r>
            <a:endParaRPr lang="en-US" sz="1100" dirty="0"/>
          </a:p>
        </p:txBody>
      </p:sp>
      <p:sp>
        <p:nvSpPr>
          <p:cNvPr id="28" name="Text 22"/>
          <p:cNvSpPr/>
          <p:nvPr/>
        </p:nvSpPr>
        <p:spPr>
          <a:xfrm>
            <a:off x="566928" y="5047488"/>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Note for anyone reading older material: MCP's own sampling and logging features are now deprecated, in favour of calling the model provider directly and using OpenTelemetry for traces.</a:t>
            </a:r>
            <a:endParaRPr lang="en-US" sz="950" dirty="0"/>
          </a:p>
        </p:txBody>
      </p:sp>
      <p:sp>
        <p:nvSpPr>
          <p:cNvPr id="29" name="Shape 23"/>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30" name="Shape 24"/>
          <p:cNvSpPr/>
          <p:nvPr/>
        </p:nvSpPr>
        <p:spPr>
          <a:xfrm>
            <a:off x="841248" y="5650992"/>
            <a:ext cx="384048" cy="384048"/>
          </a:xfrm>
          <a:prstGeom prst="ellipse">
            <a:avLst/>
          </a:prstGeom>
          <a:solidFill>
            <a:srgbClr val="F5A524"/>
          </a:solidFill>
          <a:ln w="12700">
            <a:solidFill>
              <a:srgbClr val="F5A524"/>
            </a:solidFill>
            <a:prstDash val="solid"/>
          </a:ln>
        </p:spPr>
      </p:sp>
      <p:pic>
        <p:nvPicPr>
          <p:cNvPr id="31" name="Image 4" descr="preencoded.png">    </p:cNvPr>
          <p:cNvPicPr>
            <a:picLocks noChangeAspect="1"/>
          </p:cNvPicPr>
          <p:nvPr/>
        </p:nvPicPr>
        <p:blipFill>
          <a:blip r:embed="rId5"/>
          <a:stretch>
            <a:fillRect/>
          </a:stretch>
        </p:blipFill>
        <p:spPr>
          <a:xfrm>
            <a:off x="937260" y="5747004"/>
            <a:ext cx="192024" cy="192024"/>
          </a:xfrm>
          <a:prstGeom prst="rect">
            <a:avLst/>
          </a:prstGeom>
        </p:spPr>
      </p:pic>
      <p:sp>
        <p:nvSpPr>
          <p:cNvPr id="32" name="Text 25"/>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Three different people are in charge of three different things — the model, the app, and the user. Confusing them is how a tool ends up doing something nobody approved.</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The first question your security team will ask</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“If this server is on the network and my agent can call it — who is it acting as, and who said that was allowed?”</a:t>
            </a:r>
            <a:endParaRPr lang="en-US" sz="1400" dirty="0"/>
          </a:p>
        </p:txBody>
      </p:sp>
      <p:sp>
        <p:nvSpPr>
          <p:cNvPr id="5" name="Shape 3"/>
          <p:cNvSpPr/>
          <p:nvPr/>
        </p:nvSpPr>
        <p:spPr>
          <a:xfrm>
            <a:off x="566928" y="2275119"/>
            <a:ext cx="3527450" cy="2454067"/>
          </a:xfrm>
          <a:prstGeom prst="roundRect">
            <a:avLst>
              <a:gd name="adj" fmla="val 335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494575"/>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586015"/>
            <a:ext cx="182880" cy="182880"/>
          </a:xfrm>
          <a:prstGeom prst="rect">
            <a:avLst/>
          </a:prstGeom>
        </p:spPr>
      </p:pic>
      <p:sp>
        <p:nvSpPr>
          <p:cNvPr id="8" name="Text 5"/>
          <p:cNvSpPr/>
          <p:nvPr/>
        </p:nvSpPr>
        <p:spPr>
          <a:xfrm>
            <a:off x="1298448" y="2485431"/>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ANSWER</a:t>
            </a:r>
            <a:endParaRPr lang="en-US" sz="850" dirty="0"/>
          </a:p>
        </p:txBody>
      </p:sp>
      <p:sp>
        <p:nvSpPr>
          <p:cNvPr id="9" name="Text 6"/>
          <p:cNvSpPr/>
          <p:nvPr/>
        </p:nvSpPr>
        <p:spPr>
          <a:xfrm>
            <a:off x="1298448" y="2704887"/>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OAuth 2.0 and OpenID Connect</a:t>
            </a:r>
            <a:endParaRPr lang="en-US" sz="1450" dirty="0"/>
          </a:p>
        </p:txBody>
      </p:sp>
      <p:sp>
        <p:nvSpPr>
          <p:cNvPr id="10" name="Text 7"/>
          <p:cNvSpPr/>
          <p:nvPr/>
        </p:nvSpPr>
        <p:spPr>
          <a:xfrm>
            <a:off x="1298448" y="3336188"/>
            <a:ext cx="2558186" cy="121011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Remote MCP servers authorise as OAuth resource servers. Standard tokens, standard issuers, standard revocation. Your identity team has done this before — it is not a new trust model.</a:t>
            </a:r>
            <a:endParaRPr lang="en-US" sz="1150" dirty="0"/>
          </a:p>
        </p:txBody>
      </p:sp>
      <p:sp>
        <p:nvSpPr>
          <p:cNvPr id="11" name="Shape 8"/>
          <p:cNvSpPr/>
          <p:nvPr/>
        </p:nvSpPr>
        <p:spPr>
          <a:xfrm>
            <a:off x="4332122" y="2275119"/>
            <a:ext cx="3527450" cy="2454067"/>
          </a:xfrm>
          <a:prstGeom prst="roundRect">
            <a:avLst>
              <a:gd name="adj" fmla="val 335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4569866" y="2494575"/>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4661306" y="2586015"/>
            <a:ext cx="182880" cy="182880"/>
          </a:xfrm>
          <a:prstGeom prst="rect">
            <a:avLst/>
          </a:prstGeom>
        </p:spPr>
      </p:pic>
      <p:sp>
        <p:nvSpPr>
          <p:cNvPr id="14" name="Text 10"/>
          <p:cNvSpPr/>
          <p:nvPr/>
        </p:nvSpPr>
        <p:spPr>
          <a:xfrm>
            <a:off x="5063642" y="2485431"/>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HARD PART</a:t>
            </a:r>
            <a:endParaRPr lang="en-US" sz="850" dirty="0"/>
          </a:p>
        </p:txBody>
      </p:sp>
      <p:sp>
        <p:nvSpPr>
          <p:cNvPr id="15" name="Text 11"/>
          <p:cNvSpPr/>
          <p:nvPr/>
        </p:nvSpPr>
        <p:spPr>
          <a:xfrm>
            <a:off x="5063642" y="2704887"/>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Whose identity is it?</a:t>
            </a:r>
            <a:endParaRPr lang="en-US" sz="1450" dirty="0"/>
          </a:p>
        </p:txBody>
      </p:sp>
      <p:sp>
        <p:nvSpPr>
          <p:cNvPr id="16" name="Text 12"/>
          <p:cNvSpPr/>
          <p:nvPr/>
        </p:nvSpPr>
        <p:spPr>
          <a:xfrm>
            <a:off x="5063642" y="3052542"/>
            <a:ext cx="2558186" cy="1493764"/>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user's, delegated to the agent? Or the agent's own? Both are defensible. Only one of them tells you, six months later, who actually deleted the record.</a:t>
            </a:r>
            <a:endParaRPr lang="en-US" sz="1150" dirty="0"/>
          </a:p>
        </p:txBody>
      </p:sp>
      <p:sp>
        <p:nvSpPr>
          <p:cNvPr id="17" name="Shape 13"/>
          <p:cNvSpPr/>
          <p:nvPr/>
        </p:nvSpPr>
        <p:spPr>
          <a:xfrm>
            <a:off x="8097317" y="2275119"/>
            <a:ext cx="3527450" cy="2454067"/>
          </a:xfrm>
          <a:prstGeom prst="roundRect">
            <a:avLst>
              <a:gd name="adj" fmla="val 335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8335061" y="2494575"/>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8426501" y="2586015"/>
            <a:ext cx="182880" cy="182880"/>
          </a:xfrm>
          <a:prstGeom prst="rect">
            <a:avLst/>
          </a:prstGeom>
        </p:spPr>
      </p:pic>
      <p:sp>
        <p:nvSpPr>
          <p:cNvPr id="20" name="Text 15"/>
          <p:cNvSpPr/>
          <p:nvPr/>
        </p:nvSpPr>
        <p:spPr>
          <a:xfrm>
            <a:off x="8828837" y="2485431"/>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PRACTICAL RULE</a:t>
            </a:r>
            <a:endParaRPr lang="en-US" sz="850" dirty="0"/>
          </a:p>
        </p:txBody>
      </p:sp>
      <p:sp>
        <p:nvSpPr>
          <p:cNvPr id="21" name="Text 16"/>
          <p:cNvSpPr/>
          <p:nvPr/>
        </p:nvSpPr>
        <p:spPr>
          <a:xfrm>
            <a:off x="8828837" y="2704887"/>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Scope per server, not per platform</a:t>
            </a:r>
            <a:endParaRPr lang="en-US" sz="1450" dirty="0"/>
          </a:p>
        </p:txBody>
      </p:sp>
      <p:sp>
        <p:nvSpPr>
          <p:cNvPr id="22" name="Text 17"/>
          <p:cNvSpPr/>
          <p:nvPr/>
        </p:nvSpPr>
        <p:spPr>
          <a:xfrm>
            <a:off x="8828837" y="3336188"/>
            <a:ext cx="2558186" cy="121011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One over-broad token shared across every tool is how a low-risk agent quietly acquires the ability to do something high-risk. Least privilege applies here exactly as everywhere else.</a:t>
            </a:r>
            <a:endParaRPr lang="en-US" sz="1150" dirty="0"/>
          </a:p>
        </p:txBody>
      </p:sp>
      <p:sp>
        <p:nvSpPr>
          <p:cNvPr id="23" name="Text 18"/>
          <p:cNvSpPr/>
          <p:nvPr/>
        </p:nvSpPr>
        <p:spPr>
          <a:xfrm>
            <a:off x="566928" y="5065776"/>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Local stdio servers side-step this entirely — there is no network boundary. Which is exactly why the first remote deployment is where teams get surprised.</a:t>
            </a:r>
            <a:endParaRPr lang="en-US" sz="950" dirty="0"/>
          </a:p>
        </p:txBody>
      </p:sp>
      <p:sp>
        <p:nvSpPr>
          <p:cNvPr id="24"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25" name="Shape 20"/>
          <p:cNvSpPr/>
          <p:nvPr/>
        </p:nvSpPr>
        <p:spPr>
          <a:xfrm>
            <a:off x="841248" y="5650992"/>
            <a:ext cx="384048" cy="384048"/>
          </a:xfrm>
          <a:prstGeom prst="ellipse">
            <a:avLst/>
          </a:prstGeom>
          <a:solidFill>
            <a:srgbClr val="F5A524"/>
          </a:solidFill>
          <a:ln w="12700">
            <a:solidFill>
              <a:srgbClr val="F5A524"/>
            </a:solidFill>
            <a:prstDash val="solid"/>
          </a:ln>
        </p:spPr>
      </p:sp>
      <p:pic>
        <p:nvPicPr>
          <p:cNvPr id="26" name="Image 3" descr="preencoded.png">    </p:cNvPr>
          <p:cNvPicPr>
            <a:picLocks noChangeAspect="1"/>
          </p:cNvPicPr>
          <p:nvPr/>
        </p:nvPicPr>
        <p:blipFill>
          <a:blip r:embed="rId4"/>
          <a:stretch>
            <a:fillRect/>
          </a:stretch>
        </p:blipFill>
        <p:spPr>
          <a:xfrm>
            <a:off x="937260" y="5747004"/>
            <a:ext cx="192024" cy="192024"/>
          </a:xfrm>
          <a:prstGeom prst="rect">
            <a:avLst/>
          </a:prstGeom>
        </p:spPr>
      </p:pic>
      <p:sp>
        <p:nvSpPr>
          <p:cNvPr id="27" name="Text 21"/>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A tool on the network is just an API. It needs a login, a permission list, and an audit trail — the same as every other API you already run.</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A wider door needs a better lock</a:t>
            </a:r>
            <a:endParaRPr lang="en-US" sz="3000" dirty="0"/>
          </a:p>
        </p:txBody>
      </p:sp>
      <p:sp>
        <p:nvSpPr>
          <p:cNvPr id="4" name="Shape 2"/>
          <p:cNvSpPr/>
          <p:nvPr/>
        </p:nvSpPr>
        <p:spPr>
          <a:xfrm>
            <a:off x="566928" y="2371314"/>
            <a:ext cx="2586152" cy="2023933"/>
          </a:xfrm>
          <a:prstGeom prst="roundRect">
            <a:avLst>
              <a:gd name="adj" fmla="val 4066"/>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590770"/>
            <a:ext cx="365760" cy="365760"/>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896112" y="2682210"/>
            <a:ext cx="182880" cy="182880"/>
          </a:xfrm>
          <a:prstGeom prst="rect">
            <a:avLst/>
          </a:prstGeom>
        </p:spPr>
      </p:pic>
      <p:sp>
        <p:nvSpPr>
          <p:cNvPr id="7" name="Text 4"/>
          <p:cNvSpPr/>
          <p:nvPr/>
        </p:nvSpPr>
        <p:spPr>
          <a:xfrm>
            <a:off x="1298448" y="2609058"/>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Tool poisoning</a:t>
            </a:r>
            <a:endParaRPr lang="en-US" sz="1450" dirty="0"/>
          </a:p>
        </p:txBody>
      </p:sp>
      <p:sp>
        <p:nvSpPr>
          <p:cNvPr id="8" name="Text 5"/>
          <p:cNvSpPr/>
          <p:nvPr/>
        </p:nvSpPr>
        <p:spPr>
          <a:xfrm>
            <a:off x="1298448" y="2956712"/>
            <a:ext cx="1616888" cy="1255654"/>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 malicious server, described convincingly, installed because it looked useful. The description is the attack surface.</a:t>
            </a:r>
            <a:endParaRPr lang="en-US" sz="1100" dirty="0"/>
          </a:p>
        </p:txBody>
      </p:sp>
      <p:sp>
        <p:nvSpPr>
          <p:cNvPr id="9" name="Shape 6"/>
          <p:cNvSpPr/>
          <p:nvPr/>
        </p:nvSpPr>
        <p:spPr>
          <a:xfrm>
            <a:off x="3390824" y="2371314"/>
            <a:ext cx="2586152" cy="2023933"/>
          </a:xfrm>
          <a:prstGeom prst="roundRect">
            <a:avLst>
              <a:gd name="adj" fmla="val 4066"/>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10" name="Shape 7"/>
          <p:cNvSpPr/>
          <p:nvPr/>
        </p:nvSpPr>
        <p:spPr>
          <a:xfrm>
            <a:off x="3628568" y="2590770"/>
            <a:ext cx="365760" cy="365760"/>
          </a:xfrm>
          <a:prstGeom prst="ellipse">
            <a:avLst/>
          </a:prstGeom>
          <a:solidFill>
            <a:srgbClr val="D93A3F"/>
          </a:solidFill>
          <a:ln w="12700">
            <a:solidFill>
              <a:srgbClr val="D93A3F"/>
            </a:solidFill>
            <a:prstDash val="solid"/>
          </a:ln>
        </p:spPr>
      </p:sp>
      <p:pic>
        <p:nvPicPr>
          <p:cNvPr id="11" name="Image 1" descr="preencoded.png">    </p:cNvPr>
          <p:cNvPicPr>
            <a:picLocks noChangeAspect="1"/>
          </p:cNvPicPr>
          <p:nvPr/>
        </p:nvPicPr>
        <p:blipFill>
          <a:blip r:embed="rId2"/>
          <a:stretch>
            <a:fillRect/>
          </a:stretch>
        </p:blipFill>
        <p:spPr>
          <a:xfrm>
            <a:off x="3720008" y="2682210"/>
            <a:ext cx="182880" cy="182880"/>
          </a:xfrm>
          <a:prstGeom prst="rect">
            <a:avLst/>
          </a:prstGeom>
        </p:spPr>
      </p:pic>
      <p:sp>
        <p:nvSpPr>
          <p:cNvPr id="12" name="Text 8"/>
          <p:cNvSpPr/>
          <p:nvPr/>
        </p:nvSpPr>
        <p:spPr>
          <a:xfrm>
            <a:off x="4122344" y="2609058"/>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Prompt injection</a:t>
            </a:r>
            <a:endParaRPr lang="en-US" sz="1450" dirty="0"/>
          </a:p>
        </p:txBody>
      </p:sp>
      <p:sp>
        <p:nvSpPr>
          <p:cNvPr id="13" name="Text 9"/>
          <p:cNvSpPr/>
          <p:nvPr/>
        </p:nvSpPr>
        <p:spPr>
          <a:xfrm>
            <a:off x="4122344" y="3240359"/>
            <a:ext cx="1616888" cy="97200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Instructions hidden inside a tool's own description or its returned data. The model reads them as guidance.</a:t>
            </a:r>
            <a:endParaRPr lang="en-US" sz="1100" dirty="0"/>
          </a:p>
        </p:txBody>
      </p:sp>
      <p:sp>
        <p:nvSpPr>
          <p:cNvPr id="14" name="Shape 10"/>
          <p:cNvSpPr/>
          <p:nvPr/>
        </p:nvSpPr>
        <p:spPr>
          <a:xfrm>
            <a:off x="6214720" y="2371314"/>
            <a:ext cx="2586152" cy="2023933"/>
          </a:xfrm>
          <a:prstGeom prst="roundRect">
            <a:avLst>
              <a:gd name="adj" fmla="val 4066"/>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15" name="Shape 11"/>
          <p:cNvSpPr/>
          <p:nvPr/>
        </p:nvSpPr>
        <p:spPr>
          <a:xfrm>
            <a:off x="6452464" y="2590770"/>
            <a:ext cx="365760" cy="365760"/>
          </a:xfrm>
          <a:prstGeom prst="ellipse">
            <a:avLst/>
          </a:prstGeom>
          <a:solidFill>
            <a:srgbClr val="D93A3F"/>
          </a:solidFill>
          <a:ln w="12700">
            <a:solidFill>
              <a:srgbClr val="D93A3F"/>
            </a:solidFill>
            <a:prstDash val="solid"/>
          </a:ln>
        </p:spPr>
      </p:sp>
      <p:pic>
        <p:nvPicPr>
          <p:cNvPr id="16" name="Image 2" descr="preencoded.png">    </p:cNvPr>
          <p:cNvPicPr>
            <a:picLocks noChangeAspect="1"/>
          </p:cNvPicPr>
          <p:nvPr/>
        </p:nvPicPr>
        <p:blipFill>
          <a:blip r:embed="rId3"/>
          <a:stretch>
            <a:fillRect/>
          </a:stretch>
        </p:blipFill>
        <p:spPr>
          <a:xfrm>
            <a:off x="6543904" y="2682210"/>
            <a:ext cx="182880" cy="182880"/>
          </a:xfrm>
          <a:prstGeom prst="rect">
            <a:avLst/>
          </a:prstGeom>
        </p:spPr>
      </p:pic>
      <p:sp>
        <p:nvSpPr>
          <p:cNvPr id="17" name="Text 12"/>
          <p:cNvSpPr/>
          <p:nvPr/>
        </p:nvSpPr>
        <p:spPr>
          <a:xfrm>
            <a:off x="6946240" y="2609058"/>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Over-broad scope</a:t>
            </a:r>
            <a:endParaRPr lang="en-US" sz="1450" dirty="0"/>
          </a:p>
        </p:txBody>
      </p:sp>
      <p:sp>
        <p:nvSpPr>
          <p:cNvPr id="18" name="Text 13"/>
          <p:cNvSpPr/>
          <p:nvPr/>
        </p:nvSpPr>
        <p:spPr>
          <a:xfrm>
            <a:off x="6946240" y="3240359"/>
            <a:ext cx="1616888" cy="97200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 tool granted far more reach than the task ever needed, because scoping it narrowly was more work.</a:t>
            </a:r>
            <a:endParaRPr lang="en-US" sz="1100" dirty="0"/>
          </a:p>
        </p:txBody>
      </p:sp>
      <p:sp>
        <p:nvSpPr>
          <p:cNvPr id="19" name="Shape 14"/>
          <p:cNvSpPr/>
          <p:nvPr/>
        </p:nvSpPr>
        <p:spPr>
          <a:xfrm>
            <a:off x="9038615" y="2371314"/>
            <a:ext cx="2586152" cy="2023933"/>
          </a:xfrm>
          <a:prstGeom prst="roundRect">
            <a:avLst>
              <a:gd name="adj" fmla="val 4066"/>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20" name="Shape 15"/>
          <p:cNvSpPr/>
          <p:nvPr/>
        </p:nvSpPr>
        <p:spPr>
          <a:xfrm>
            <a:off x="9276359" y="2590770"/>
            <a:ext cx="365760" cy="365760"/>
          </a:xfrm>
          <a:prstGeom prst="ellipse">
            <a:avLst/>
          </a:prstGeom>
          <a:solidFill>
            <a:srgbClr val="D93A3F"/>
          </a:solidFill>
          <a:ln w="12700">
            <a:solidFill>
              <a:srgbClr val="D93A3F"/>
            </a:solidFill>
            <a:prstDash val="solid"/>
          </a:ln>
        </p:spPr>
      </p:sp>
      <p:pic>
        <p:nvPicPr>
          <p:cNvPr id="21" name="Image 3" descr="preencoded.png">    </p:cNvPr>
          <p:cNvPicPr>
            <a:picLocks noChangeAspect="1"/>
          </p:cNvPicPr>
          <p:nvPr/>
        </p:nvPicPr>
        <p:blipFill>
          <a:blip r:embed="rId4"/>
          <a:stretch>
            <a:fillRect/>
          </a:stretch>
        </p:blipFill>
        <p:spPr>
          <a:xfrm>
            <a:off x="9367799" y="2682210"/>
            <a:ext cx="182880" cy="182880"/>
          </a:xfrm>
          <a:prstGeom prst="rect">
            <a:avLst/>
          </a:prstGeom>
        </p:spPr>
      </p:pic>
      <p:sp>
        <p:nvSpPr>
          <p:cNvPr id="22" name="Text 16"/>
          <p:cNvSpPr/>
          <p:nvPr/>
        </p:nvSpPr>
        <p:spPr>
          <a:xfrm>
            <a:off x="9770135" y="2609058"/>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Silent supply chain</a:t>
            </a:r>
            <a:endParaRPr lang="en-US" sz="1450" dirty="0"/>
          </a:p>
        </p:txBody>
      </p:sp>
      <p:sp>
        <p:nvSpPr>
          <p:cNvPr id="23" name="Text 17"/>
          <p:cNvSpPr/>
          <p:nvPr/>
        </p:nvSpPr>
        <p:spPr>
          <a:xfrm>
            <a:off x="9770135" y="3240359"/>
            <a:ext cx="1616888" cy="97200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 server that updates itself. What you reviewed on Monday is not necessarily what runs on Friday.</a:t>
            </a:r>
            <a:endParaRPr lang="en-US" sz="1100" dirty="0"/>
          </a:p>
        </p:txBody>
      </p:sp>
      <p:sp>
        <p:nvSpPr>
          <p:cNvPr id="24" name="Text 18"/>
          <p:cNvSpPr/>
          <p:nvPr/>
        </p:nvSpPr>
        <p:spPr>
          <a:xfrm>
            <a:off x="566928" y="4992624"/>
            <a:ext cx="11057839" cy="310896"/>
          </a:xfrm>
          <a:prstGeom prst="rect">
            <a:avLst/>
          </a:prstGeom>
          <a:noFill/>
          <a:ln/>
        </p:spPr>
        <p:txBody>
          <a:bodyPr wrap="square" lIns="0" tIns="0" rIns="0" bIns="0" rtlCol="0" anchor="ctr"/>
          <a:lstStyle/>
          <a:p>
            <a:pPr indent="0" marL="0">
              <a:buNone/>
            </a:pPr>
            <a:r>
              <a:rPr lang="en-US" sz="1300" i="1" dirty="0">
                <a:solidFill>
                  <a:srgbClr val="3B3760"/>
                </a:solidFill>
                <a:latin typeface="Calibri" pitchFamily="34" charset="0"/>
                <a:ea typeface="Calibri" pitchFamily="34" charset="-122"/>
                <a:cs typeface="Calibri" pitchFamily="34" charset="-120"/>
              </a:rPr>
              <a:t>Preview only. In module 14 you will run these attacks against the agent you built yourself.</a:t>
            </a:r>
            <a:endParaRPr lang="en-US" sz="1300" dirty="0"/>
          </a:p>
        </p:txBody>
      </p:sp>
      <p:sp>
        <p:nvSpPr>
          <p:cNvPr id="25"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26" name="Shape 20"/>
          <p:cNvSpPr/>
          <p:nvPr/>
        </p:nvSpPr>
        <p:spPr>
          <a:xfrm>
            <a:off x="841248" y="5650992"/>
            <a:ext cx="384048" cy="384048"/>
          </a:xfrm>
          <a:prstGeom prst="ellipse">
            <a:avLst/>
          </a:prstGeom>
          <a:solidFill>
            <a:srgbClr val="F5A524"/>
          </a:solidFill>
          <a:ln w="12700">
            <a:solidFill>
              <a:srgbClr val="F5A524"/>
            </a:solidFill>
            <a:prstDash val="solid"/>
          </a:ln>
        </p:spPr>
      </p:sp>
      <p:pic>
        <p:nvPicPr>
          <p:cNvPr id="27" name="Image 4" descr="preencoded.png">    </p:cNvPr>
          <p:cNvPicPr>
            <a:picLocks noChangeAspect="1"/>
          </p:cNvPicPr>
          <p:nvPr/>
        </p:nvPicPr>
        <p:blipFill>
          <a:blip r:embed="rId5"/>
          <a:stretch>
            <a:fillRect/>
          </a:stretch>
        </p:blipFill>
        <p:spPr>
          <a:xfrm>
            <a:off x="937260" y="5747004"/>
            <a:ext cx="192024" cy="192024"/>
          </a:xfrm>
          <a:prstGeom prst="rect">
            <a:avLst/>
          </a:prstGeom>
        </p:spPr>
      </p:pic>
      <p:sp>
        <p:nvSpPr>
          <p:cNvPr id="28" name="Text 21"/>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Every one of these is a supply-chain problem in a new costume. You are installing software that can act on your behalf — review it like software.</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Two open standards, pointing in different directions</a:t>
            </a:r>
            <a:endParaRPr lang="en-US" sz="2800" dirty="0"/>
          </a:p>
        </p:txBody>
      </p:sp>
      <p:sp>
        <p:nvSpPr>
          <p:cNvPr id="4" name="Shape 2"/>
          <p:cNvSpPr/>
          <p:nvPr/>
        </p:nvSpPr>
        <p:spPr>
          <a:xfrm>
            <a:off x="566928" y="1828800"/>
            <a:ext cx="5391760" cy="3072384"/>
          </a:xfrm>
          <a:prstGeom prst="roundRect">
            <a:avLst>
              <a:gd name="adj" fmla="val 2976"/>
            </a:avLst>
          </a:prstGeom>
          <a:solidFill>
            <a:srgbClr val="EEEDFE"/>
          </a:solidFill>
          <a:ln w="12700">
            <a:solidFill>
              <a:srgbClr val="8E82F5"/>
            </a:solidFill>
            <a:prstDash val="solid"/>
          </a:ln>
        </p:spPr>
      </p:sp>
      <p:sp>
        <p:nvSpPr>
          <p:cNvPr id="5" name="Shape 3"/>
          <p:cNvSpPr/>
          <p:nvPr/>
        </p:nvSpPr>
        <p:spPr>
          <a:xfrm>
            <a:off x="841248" y="2048256"/>
            <a:ext cx="457200" cy="45720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955548" y="2162556"/>
            <a:ext cx="228600" cy="228600"/>
          </a:xfrm>
          <a:prstGeom prst="rect">
            <a:avLst/>
          </a:prstGeom>
        </p:spPr>
      </p:pic>
      <p:sp>
        <p:nvSpPr>
          <p:cNvPr id="7" name="Text 4"/>
          <p:cNvSpPr/>
          <p:nvPr/>
        </p:nvSpPr>
        <p:spPr>
          <a:xfrm>
            <a:off x="1444752" y="2048256"/>
            <a:ext cx="2743200" cy="365760"/>
          </a:xfrm>
          <a:prstGeom prst="rect">
            <a:avLst/>
          </a:prstGeom>
          <a:noFill/>
          <a:ln/>
        </p:spPr>
        <p:txBody>
          <a:bodyPr wrap="square" lIns="0" tIns="0" rIns="0" bIns="0" rtlCol="0" anchor="ctr"/>
          <a:lstStyle/>
          <a:p>
            <a:pPr indent="0" marL="0">
              <a:buNone/>
            </a:pPr>
            <a:r>
              <a:rPr lang="en-US" sz="2600" b="1" dirty="0">
                <a:solidFill>
                  <a:srgbClr val="5B4BE8"/>
                </a:solidFill>
                <a:latin typeface="Cambria" pitchFamily="34" charset="0"/>
                <a:ea typeface="Cambria" pitchFamily="34" charset="-122"/>
                <a:cs typeface="Cambria" pitchFamily="34" charset="-120"/>
              </a:rPr>
              <a:t>MCP</a:t>
            </a:r>
            <a:endParaRPr lang="en-US" sz="2600" dirty="0"/>
          </a:p>
        </p:txBody>
      </p:sp>
      <p:sp>
        <p:nvSpPr>
          <p:cNvPr id="8" name="Text 5"/>
          <p:cNvSpPr/>
          <p:nvPr/>
        </p:nvSpPr>
        <p:spPr>
          <a:xfrm>
            <a:off x="1444752" y="2432304"/>
            <a:ext cx="3657600" cy="256032"/>
          </a:xfrm>
          <a:prstGeom prst="rect">
            <a:avLst/>
          </a:prstGeom>
          <a:noFill/>
          <a:ln/>
        </p:spPr>
        <p:txBody>
          <a:bodyPr wrap="square" lIns="0" tIns="0" rIns="0" bIns="0" rtlCol="0" anchor="ctr"/>
          <a:lstStyle/>
          <a:p>
            <a:pPr indent="0" marL="0">
              <a:buNone/>
            </a:pPr>
            <a:r>
              <a:rPr lang="en-US" sz="1250" b="1" dirty="0">
                <a:solidFill>
                  <a:srgbClr val="3B3760"/>
                </a:solidFill>
                <a:latin typeface="Calibri" pitchFamily="34" charset="0"/>
                <a:ea typeface="Calibri" pitchFamily="34" charset="-122"/>
                <a:cs typeface="Calibri" pitchFamily="34" charset="-120"/>
              </a:rPr>
              <a:t>Agent → tool</a:t>
            </a:r>
            <a:endParaRPr lang="en-US" sz="1250" dirty="0"/>
          </a:p>
        </p:txBody>
      </p:sp>
      <p:sp>
        <p:nvSpPr>
          <p:cNvPr id="9" name="Text 6"/>
          <p:cNvSpPr/>
          <p:nvPr/>
        </p:nvSpPr>
        <p:spPr>
          <a:xfrm>
            <a:off x="841248" y="2889504"/>
            <a:ext cx="4843120" cy="548640"/>
          </a:xfrm>
          <a:prstGeom prst="rect">
            <a:avLst/>
          </a:prstGeom>
          <a:noFill/>
          <a:ln/>
        </p:spPr>
        <p:txBody>
          <a:bodyPr wrap="square" lIns="0" tIns="0" rIns="0" bIns="0" rtlCol="0" anchor="t"/>
          <a:lstStyle/>
          <a:p>
            <a:pPr indent="0" marL="0">
              <a:lnSpc>
                <a:spcPct val="114000"/>
              </a:lnSpc>
              <a:buNone/>
            </a:pPr>
            <a:r>
              <a:rPr lang="en-US" sz="1250" dirty="0">
                <a:solidFill>
                  <a:srgbClr val="141235"/>
                </a:solidFill>
                <a:latin typeface="Calibri" pitchFamily="34" charset="0"/>
                <a:ea typeface="Calibri" pitchFamily="34" charset="-122"/>
                <a:cs typeface="Calibri" pitchFamily="34" charset="-120"/>
              </a:rPr>
              <a:t>Standardises how an agent discovers and calls a capability.</a:t>
            </a:r>
            <a:endParaRPr lang="en-US" sz="1250" dirty="0"/>
          </a:p>
        </p:txBody>
      </p:sp>
      <p:sp>
        <p:nvSpPr>
          <p:cNvPr id="10" name="Text 7"/>
          <p:cNvSpPr/>
          <p:nvPr/>
        </p:nvSpPr>
        <p:spPr>
          <a:xfrm>
            <a:off x="841248" y="3584448"/>
            <a:ext cx="4843120" cy="822960"/>
          </a:xfrm>
          <a:prstGeom prst="rect">
            <a:avLst/>
          </a:prstGeom>
          <a:noFill/>
          <a:ln/>
        </p:spPr>
        <p:txBody>
          <a:bodyPr wrap="square" lIns="0" tIns="0" rIns="0" bIns="0" rtlCol="0" anchor="t"/>
          <a:lstStyle/>
          <a:p>
            <a:pPr indent="0" marL="0">
              <a:lnSpc>
                <a:spcPct val="114000"/>
              </a:lnSpc>
              <a:buNone/>
            </a:pPr>
            <a:r>
              <a:rPr lang="en-US" sz="900" b="1" spc="160" kern="0" dirty="0">
                <a:solidFill>
                  <a:srgbClr val="9B98B4"/>
                </a:solidFill>
                <a:latin typeface="Calibri" pitchFamily="34" charset="0"/>
                <a:ea typeface="Calibri" pitchFamily="34" charset="-122"/>
                <a:cs typeface="Calibri" pitchFamily="34" charset="-120"/>
              </a:rPr>
              <a:t>GOVERNANCE</a:t>
            </a:r>
            <a:endParaRPr lang="en-US" sz="900" dirty="0"/>
          </a:p>
          <a:p>
            <a:pPr indent="0" marL="0">
              <a:lnSpc>
                <a:spcPct val="114000"/>
              </a:lnSpc>
              <a:buNone/>
            </a:pPr>
            <a:r>
              <a:rPr lang="en-US" sz="1100" dirty="0">
                <a:solidFill>
                  <a:srgbClr val="6E6B8A"/>
                </a:solidFill>
                <a:latin typeface="Calibri" pitchFamily="34" charset="0"/>
                <a:ea typeface="Calibri" pitchFamily="34" charset="-122"/>
                <a:cs typeface="Calibri" pitchFamily="34" charset="-120"/>
              </a:rPr>
              <a:t>Open specification, spec-governed with a public revision history</a:t>
            </a:r>
            <a:endParaRPr lang="en-US" sz="900" dirty="0"/>
          </a:p>
        </p:txBody>
      </p:sp>
      <p:sp>
        <p:nvSpPr>
          <p:cNvPr id="11" name="Shape 8"/>
          <p:cNvSpPr/>
          <p:nvPr/>
        </p:nvSpPr>
        <p:spPr>
          <a:xfrm>
            <a:off x="6233008" y="1828800"/>
            <a:ext cx="5391760" cy="3072384"/>
          </a:xfrm>
          <a:prstGeom prst="roundRect">
            <a:avLst>
              <a:gd name="adj" fmla="val 2976"/>
            </a:avLst>
          </a:prstGeom>
          <a:solidFill>
            <a:srgbClr val="E4F4F6"/>
          </a:solidFill>
          <a:ln w="12700">
            <a:solidFill>
              <a:srgbClr val="A9DCE3"/>
            </a:solidFill>
            <a:prstDash val="solid"/>
          </a:ln>
        </p:spPr>
      </p:sp>
      <p:sp>
        <p:nvSpPr>
          <p:cNvPr id="12" name="Shape 9"/>
          <p:cNvSpPr/>
          <p:nvPr/>
        </p:nvSpPr>
        <p:spPr>
          <a:xfrm>
            <a:off x="6507328" y="2048256"/>
            <a:ext cx="457200" cy="457200"/>
          </a:xfrm>
          <a:prstGeom prst="ellipse">
            <a:avLst/>
          </a:prstGeom>
          <a:solidFill>
            <a:srgbClr val="0E8C9E"/>
          </a:solidFill>
          <a:ln w="12700">
            <a:solidFill>
              <a:srgbClr val="0E8C9E"/>
            </a:solidFill>
            <a:prstDash val="solid"/>
          </a:ln>
        </p:spPr>
      </p:sp>
      <p:pic>
        <p:nvPicPr>
          <p:cNvPr id="13" name="Image 1" descr="preencoded.png">    </p:cNvPr>
          <p:cNvPicPr>
            <a:picLocks noChangeAspect="1"/>
          </p:cNvPicPr>
          <p:nvPr/>
        </p:nvPicPr>
        <p:blipFill>
          <a:blip r:embed="rId2"/>
          <a:stretch>
            <a:fillRect/>
          </a:stretch>
        </p:blipFill>
        <p:spPr>
          <a:xfrm>
            <a:off x="6621628" y="2162556"/>
            <a:ext cx="228600" cy="228600"/>
          </a:xfrm>
          <a:prstGeom prst="rect">
            <a:avLst/>
          </a:prstGeom>
        </p:spPr>
      </p:pic>
      <p:sp>
        <p:nvSpPr>
          <p:cNvPr id="14" name="Text 10"/>
          <p:cNvSpPr/>
          <p:nvPr/>
        </p:nvSpPr>
        <p:spPr>
          <a:xfrm>
            <a:off x="7110832" y="2048256"/>
            <a:ext cx="2743200" cy="365760"/>
          </a:xfrm>
          <a:prstGeom prst="rect">
            <a:avLst/>
          </a:prstGeom>
          <a:noFill/>
          <a:ln/>
        </p:spPr>
        <p:txBody>
          <a:bodyPr wrap="square" lIns="0" tIns="0" rIns="0" bIns="0" rtlCol="0" anchor="ctr"/>
          <a:lstStyle/>
          <a:p>
            <a:pPr indent="0" marL="0">
              <a:buNone/>
            </a:pPr>
            <a:r>
              <a:rPr lang="en-US" sz="2600" b="1" dirty="0">
                <a:solidFill>
                  <a:srgbClr val="0E8C9E"/>
                </a:solidFill>
                <a:latin typeface="Cambria" pitchFamily="34" charset="0"/>
                <a:ea typeface="Cambria" pitchFamily="34" charset="-122"/>
                <a:cs typeface="Cambria" pitchFamily="34" charset="-120"/>
              </a:rPr>
              <a:t>A2A</a:t>
            </a:r>
            <a:endParaRPr lang="en-US" sz="2600" dirty="0"/>
          </a:p>
        </p:txBody>
      </p:sp>
      <p:sp>
        <p:nvSpPr>
          <p:cNvPr id="15" name="Text 11"/>
          <p:cNvSpPr/>
          <p:nvPr/>
        </p:nvSpPr>
        <p:spPr>
          <a:xfrm>
            <a:off x="7110832" y="2432304"/>
            <a:ext cx="3657600" cy="256032"/>
          </a:xfrm>
          <a:prstGeom prst="rect">
            <a:avLst/>
          </a:prstGeom>
          <a:noFill/>
          <a:ln/>
        </p:spPr>
        <p:txBody>
          <a:bodyPr wrap="square" lIns="0" tIns="0" rIns="0" bIns="0" rtlCol="0" anchor="ctr"/>
          <a:lstStyle/>
          <a:p>
            <a:pPr indent="0" marL="0">
              <a:buNone/>
            </a:pPr>
            <a:r>
              <a:rPr lang="en-US" sz="1250" b="1" dirty="0">
                <a:solidFill>
                  <a:srgbClr val="3B3760"/>
                </a:solidFill>
                <a:latin typeface="Calibri" pitchFamily="34" charset="0"/>
                <a:ea typeface="Calibri" pitchFamily="34" charset="-122"/>
                <a:cs typeface="Calibri" pitchFamily="34" charset="-120"/>
              </a:rPr>
              <a:t>Agent → agent</a:t>
            </a:r>
            <a:endParaRPr lang="en-US" sz="1250" dirty="0"/>
          </a:p>
        </p:txBody>
      </p:sp>
      <p:sp>
        <p:nvSpPr>
          <p:cNvPr id="16" name="Text 12"/>
          <p:cNvSpPr/>
          <p:nvPr/>
        </p:nvSpPr>
        <p:spPr>
          <a:xfrm>
            <a:off x="6507328" y="2889504"/>
            <a:ext cx="4843120" cy="548640"/>
          </a:xfrm>
          <a:prstGeom prst="rect">
            <a:avLst/>
          </a:prstGeom>
          <a:noFill/>
          <a:ln/>
        </p:spPr>
        <p:txBody>
          <a:bodyPr wrap="square" lIns="0" tIns="0" rIns="0" bIns="0" rtlCol="0" anchor="t"/>
          <a:lstStyle/>
          <a:p>
            <a:pPr indent="0" marL="0">
              <a:lnSpc>
                <a:spcPct val="114000"/>
              </a:lnSpc>
              <a:buNone/>
            </a:pPr>
            <a:r>
              <a:rPr lang="en-US" sz="1250" dirty="0">
                <a:solidFill>
                  <a:srgbClr val="141235"/>
                </a:solidFill>
                <a:latin typeface="Calibri" pitchFamily="34" charset="0"/>
                <a:ea typeface="Calibri" pitchFamily="34" charset="-122"/>
                <a:cs typeface="Calibri" pitchFamily="34" charset="-120"/>
              </a:rPr>
              <a:t>Standardises how one agent advertises itself and hands work to another.</a:t>
            </a:r>
            <a:endParaRPr lang="en-US" sz="1250" dirty="0"/>
          </a:p>
        </p:txBody>
      </p:sp>
      <p:sp>
        <p:nvSpPr>
          <p:cNvPr id="17" name="Text 13"/>
          <p:cNvSpPr/>
          <p:nvPr/>
        </p:nvSpPr>
        <p:spPr>
          <a:xfrm>
            <a:off x="6507328" y="3584448"/>
            <a:ext cx="4843120" cy="822960"/>
          </a:xfrm>
          <a:prstGeom prst="rect">
            <a:avLst/>
          </a:prstGeom>
          <a:noFill/>
          <a:ln/>
        </p:spPr>
        <p:txBody>
          <a:bodyPr wrap="square" lIns="0" tIns="0" rIns="0" bIns="0" rtlCol="0" anchor="t"/>
          <a:lstStyle/>
          <a:p>
            <a:pPr indent="0" marL="0">
              <a:lnSpc>
                <a:spcPct val="114000"/>
              </a:lnSpc>
              <a:buNone/>
            </a:pPr>
            <a:r>
              <a:rPr lang="en-US" sz="900" b="1" spc="160" kern="0" dirty="0">
                <a:solidFill>
                  <a:srgbClr val="9B98B4"/>
                </a:solidFill>
                <a:latin typeface="Calibri" pitchFamily="34" charset="0"/>
                <a:ea typeface="Calibri" pitchFamily="34" charset="-122"/>
                <a:cs typeface="Calibri" pitchFamily="34" charset="-120"/>
              </a:rPr>
              <a:t>GOVERNANCE</a:t>
            </a:r>
            <a:endParaRPr lang="en-US" sz="900" dirty="0"/>
          </a:p>
          <a:p>
            <a:pPr indent="0" marL="0">
              <a:lnSpc>
                <a:spcPct val="114000"/>
              </a:lnSpc>
              <a:buNone/>
            </a:pPr>
            <a:r>
              <a:rPr lang="en-US" sz="1100" dirty="0">
                <a:solidFill>
                  <a:srgbClr val="6E6B8A"/>
                </a:solidFill>
                <a:latin typeface="Calibri" pitchFamily="34" charset="0"/>
                <a:ea typeface="Calibri" pitchFamily="34" charset="-122"/>
                <a:cs typeface="Calibri" pitchFamily="34" charset="-120"/>
              </a:rPr>
              <a:t>Linux Foundation project; 150+ participating organisations in its first year</a:t>
            </a:r>
            <a:endParaRPr lang="en-US" sz="900" dirty="0"/>
          </a:p>
        </p:txBody>
      </p:sp>
      <p:sp>
        <p:nvSpPr>
          <p:cNvPr id="18" name="Text 14"/>
          <p:cNvSpPr/>
          <p:nvPr/>
        </p:nvSpPr>
        <p:spPr>
          <a:xfrm>
            <a:off x="566928" y="5010912"/>
            <a:ext cx="11057839" cy="329184"/>
          </a:xfrm>
          <a:prstGeom prst="rect">
            <a:avLst/>
          </a:prstGeom>
          <a:noFill/>
          <a:ln/>
        </p:spPr>
        <p:txBody>
          <a:bodyPr wrap="square" lIns="0" tIns="0" rIns="0" bIns="0" rtlCol="0" anchor="ctr"/>
          <a:lstStyle/>
          <a:p>
            <a:pPr indent="0" marL="0">
              <a:buNone/>
            </a:pPr>
            <a:r>
              <a:rPr lang="en-US" sz="1350" i="1" dirty="0">
                <a:solidFill>
                  <a:srgbClr val="3B3760"/>
                </a:solidFill>
                <a:latin typeface="Calibri" pitchFamily="34" charset="0"/>
                <a:ea typeface="Calibri" pitchFamily="34" charset="-122"/>
                <a:cs typeface="Calibri" pitchFamily="34" charset="-120"/>
              </a:rPr>
              <a:t>Both are open. Everything sold on top of them is a vendor's implementation of a pattern you could build yourself.</a:t>
            </a:r>
            <a:endParaRPr lang="en-US" sz="1350" dirty="0"/>
          </a:p>
        </p:txBody>
      </p:sp>
      <p:sp>
        <p:nvSpPr>
          <p:cNvPr id="19" name="Shape 15"/>
          <p:cNvSpPr/>
          <p:nvPr/>
        </p:nvSpPr>
        <p:spPr>
          <a:xfrm>
            <a:off x="566928" y="5468112"/>
            <a:ext cx="11057839" cy="822960"/>
          </a:xfrm>
          <a:prstGeom prst="roundRect">
            <a:avLst>
              <a:gd name="adj" fmla="val 10000"/>
            </a:avLst>
          </a:prstGeom>
          <a:solidFill>
            <a:srgbClr val="FFF4E0"/>
          </a:solidFill>
          <a:ln w="12700">
            <a:solidFill>
              <a:srgbClr val="F3DCB0"/>
            </a:solidFill>
            <a:prstDash val="solid"/>
          </a:ln>
        </p:spPr>
      </p:sp>
      <p:sp>
        <p:nvSpPr>
          <p:cNvPr id="20" name="Shape 16"/>
          <p:cNvSpPr/>
          <p:nvPr/>
        </p:nvSpPr>
        <p:spPr>
          <a:xfrm>
            <a:off x="841248" y="5687568"/>
            <a:ext cx="384048" cy="384048"/>
          </a:xfrm>
          <a:prstGeom prst="ellipse">
            <a:avLst/>
          </a:prstGeom>
          <a:solidFill>
            <a:srgbClr val="F5A524"/>
          </a:solidFill>
          <a:ln w="12700">
            <a:solidFill>
              <a:srgbClr val="F5A524"/>
            </a:solidFill>
            <a:prstDash val="solid"/>
          </a:ln>
        </p:spPr>
      </p:sp>
      <p:pic>
        <p:nvPicPr>
          <p:cNvPr id="21" name="Image 2" descr="preencoded.png">    </p:cNvPr>
          <p:cNvPicPr>
            <a:picLocks noChangeAspect="1"/>
          </p:cNvPicPr>
          <p:nvPr/>
        </p:nvPicPr>
        <p:blipFill>
          <a:blip r:embed="rId3"/>
          <a:stretch>
            <a:fillRect/>
          </a:stretch>
        </p:blipFill>
        <p:spPr>
          <a:xfrm>
            <a:off x="937260" y="5783580"/>
            <a:ext cx="192024" cy="192024"/>
          </a:xfrm>
          <a:prstGeom prst="rect">
            <a:avLst/>
          </a:prstGeom>
        </p:spPr>
      </p:pic>
      <p:sp>
        <p:nvSpPr>
          <p:cNvPr id="22" name="Text 17"/>
          <p:cNvSpPr/>
          <p:nvPr/>
        </p:nvSpPr>
        <p:spPr>
          <a:xfrm>
            <a:off x="1371600" y="5522976"/>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One is how an agent uses a tool. The other is how two agents talk to each other. Attendees mix these up constantly — they solve completely different problems.</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07</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07</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Async and concurrency</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Agent workloads wait. They do not compute — and that changes the fix.</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07 · ASYNC AND CONCURRENCY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Three independent tool calls, waited on two ways</a:t>
            </a:r>
            <a:endParaRPr lang="en-US" sz="3000" dirty="0"/>
          </a:p>
        </p:txBody>
      </p:sp>
      <p:sp>
        <p:nvSpPr>
          <p:cNvPr id="4" name="Shape 2"/>
          <p:cNvSpPr/>
          <p:nvPr/>
        </p:nvSpPr>
        <p:spPr>
          <a:xfrm>
            <a:off x="1042416" y="4901184"/>
            <a:ext cx="5193792" cy="0"/>
          </a:xfrm>
          <a:prstGeom prst="line">
            <a:avLst/>
          </a:prstGeom>
          <a:noFill/>
          <a:ln w="12700">
            <a:solidFill>
              <a:srgbClr val="E3E4F2"/>
            </a:solidFill>
            <a:prstDash val="solid"/>
          </a:ln>
        </p:spPr>
      </p:sp>
      <p:sp>
        <p:nvSpPr>
          <p:cNvPr id="5" name="Text 3"/>
          <p:cNvSpPr/>
          <p:nvPr/>
        </p:nvSpPr>
        <p:spPr>
          <a:xfrm>
            <a:off x="530352" y="4800600"/>
            <a:ext cx="402336" cy="201168"/>
          </a:xfrm>
          <a:prstGeom prst="rect">
            <a:avLst/>
          </a:prstGeom>
          <a:noFill/>
          <a:ln/>
        </p:spPr>
        <p:txBody>
          <a:bodyPr wrap="square" lIns="0" tIns="0" rIns="0" bIns="0" rtlCol="0" anchor="ctr"/>
          <a:lstStyle/>
          <a:p>
            <a:pPr algn="r" indent="0" marL="0">
              <a:buNone/>
            </a:pPr>
            <a:r>
              <a:rPr lang="en-US" sz="850" dirty="0">
                <a:solidFill>
                  <a:srgbClr val="9B98B4"/>
                </a:solidFill>
                <a:latin typeface="Calibri" pitchFamily="34" charset="0"/>
                <a:ea typeface="Calibri" pitchFamily="34" charset="-122"/>
                <a:cs typeface="Calibri" pitchFamily="34" charset="-120"/>
              </a:rPr>
              <a:t>0.0s</a:t>
            </a:r>
            <a:endParaRPr lang="en-US" sz="850" dirty="0"/>
          </a:p>
        </p:txBody>
      </p:sp>
      <p:sp>
        <p:nvSpPr>
          <p:cNvPr id="6" name="Shape 4"/>
          <p:cNvSpPr/>
          <p:nvPr/>
        </p:nvSpPr>
        <p:spPr>
          <a:xfrm>
            <a:off x="1042416" y="3956304"/>
            <a:ext cx="5193792" cy="0"/>
          </a:xfrm>
          <a:prstGeom prst="line">
            <a:avLst/>
          </a:prstGeom>
          <a:noFill/>
          <a:ln w="12700">
            <a:solidFill>
              <a:srgbClr val="F0F1F8"/>
            </a:solidFill>
            <a:prstDash val="solid"/>
          </a:ln>
        </p:spPr>
      </p:sp>
      <p:sp>
        <p:nvSpPr>
          <p:cNvPr id="7" name="Text 5"/>
          <p:cNvSpPr/>
          <p:nvPr/>
        </p:nvSpPr>
        <p:spPr>
          <a:xfrm>
            <a:off x="530352" y="3855720"/>
            <a:ext cx="402336" cy="201168"/>
          </a:xfrm>
          <a:prstGeom prst="rect">
            <a:avLst/>
          </a:prstGeom>
          <a:noFill/>
          <a:ln/>
        </p:spPr>
        <p:txBody>
          <a:bodyPr wrap="square" lIns="0" tIns="0" rIns="0" bIns="0" rtlCol="0" anchor="ctr"/>
          <a:lstStyle/>
          <a:p>
            <a:pPr algn="r" indent="0" marL="0">
              <a:buNone/>
            </a:pPr>
            <a:r>
              <a:rPr lang="en-US" sz="850" dirty="0">
                <a:solidFill>
                  <a:srgbClr val="9B98B4"/>
                </a:solidFill>
                <a:latin typeface="Calibri" pitchFamily="34" charset="0"/>
                <a:ea typeface="Calibri" pitchFamily="34" charset="-122"/>
                <a:cs typeface="Calibri" pitchFamily="34" charset="-120"/>
              </a:rPr>
              <a:t>1.2s</a:t>
            </a:r>
            <a:endParaRPr lang="en-US" sz="850" dirty="0"/>
          </a:p>
        </p:txBody>
      </p:sp>
      <p:sp>
        <p:nvSpPr>
          <p:cNvPr id="8" name="Shape 6"/>
          <p:cNvSpPr/>
          <p:nvPr/>
        </p:nvSpPr>
        <p:spPr>
          <a:xfrm>
            <a:off x="1042416" y="3011424"/>
            <a:ext cx="5193792" cy="0"/>
          </a:xfrm>
          <a:prstGeom prst="line">
            <a:avLst/>
          </a:prstGeom>
          <a:noFill/>
          <a:ln w="12700">
            <a:solidFill>
              <a:srgbClr val="F0F1F8"/>
            </a:solidFill>
            <a:prstDash val="solid"/>
          </a:ln>
        </p:spPr>
      </p:sp>
      <p:sp>
        <p:nvSpPr>
          <p:cNvPr id="9" name="Text 7"/>
          <p:cNvSpPr/>
          <p:nvPr/>
        </p:nvSpPr>
        <p:spPr>
          <a:xfrm>
            <a:off x="530352" y="2910840"/>
            <a:ext cx="402336" cy="201168"/>
          </a:xfrm>
          <a:prstGeom prst="rect">
            <a:avLst/>
          </a:prstGeom>
          <a:noFill/>
          <a:ln/>
        </p:spPr>
        <p:txBody>
          <a:bodyPr wrap="square" lIns="0" tIns="0" rIns="0" bIns="0" rtlCol="0" anchor="ctr"/>
          <a:lstStyle/>
          <a:p>
            <a:pPr algn="r" indent="0" marL="0">
              <a:buNone/>
            </a:pPr>
            <a:r>
              <a:rPr lang="en-US" sz="850" dirty="0">
                <a:solidFill>
                  <a:srgbClr val="9B98B4"/>
                </a:solidFill>
                <a:latin typeface="Calibri" pitchFamily="34" charset="0"/>
                <a:ea typeface="Calibri" pitchFamily="34" charset="-122"/>
                <a:cs typeface="Calibri" pitchFamily="34" charset="-120"/>
              </a:rPr>
              <a:t>2.4s</a:t>
            </a:r>
            <a:endParaRPr lang="en-US" sz="850" dirty="0"/>
          </a:p>
        </p:txBody>
      </p:sp>
      <p:sp>
        <p:nvSpPr>
          <p:cNvPr id="10" name="Shape 8"/>
          <p:cNvSpPr/>
          <p:nvPr/>
        </p:nvSpPr>
        <p:spPr>
          <a:xfrm>
            <a:off x="1042416" y="2066544"/>
            <a:ext cx="5193792" cy="0"/>
          </a:xfrm>
          <a:prstGeom prst="line">
            <a:avLst/>
          </a:prstGeom>
          <a:noFill/>
          <a:ln w="12700">
            <a:solidFill>
              <a:srgbClr val="F0F1F8"/>
            </a:solidFill>
            <a:prstDash val="solid"/>
          </a:ln>
        </p:spPr>
      </p:sp>
      <p:sp>
        <p:nvSpPr>
          <p:cNvPr id="11" name="Text 9"/>
          <p:cNvSpPr/>
          <p:nvPr/>
        </p:nvSpPr>
        <p:spPr>
          <a:xfrm>
            <a:off x="530352" y="1965960"/>
            <a:ext cx="402336" cy="201168"/>
          </a:xfrm>
          <a:prstGeom prst="rect">
            <a:avLst/>
          </a:prstGeom>
          <a:noFill/>
          <a:ln/>
        </p:spPr>
        <p:txBody>
          <a:bodyPr wrap="square" lIns="0" tIns="0" rIns="0" bIns="0" rtlCol="0" anchor="ctr"/>
          <a:lstStyle/>
          <a:p>
            <a:pPr algn="r" indent="0" marL="0">
              <a:buNone/>
            </a:pPr>
            <a:r>
              <a:rPr lang="en-US" sz="850" dirty="0">
                <a:solidFill>
                  <a:srgbClr val="9B98B4"/>
                </a:solidFill>
                <a:latin typeface="Calibri" pitchFamily="34" charset="0"/>
                <a:ea typeface="Calibri" pitchFamily="34" charset="-122"/>
                <a:cs typeface="Calibri" pitchFamily="34" charset="-120"/>
              </a:rPr>
              <a:t>3.6s</a:t>
            </a:r>
            <a:endParaRPr lang="en-US" sz="850" dirty="0"/>
          </a:p>
        </p:txBody>
      </p:sp>
      <p:sp>
        <p:nvSpPr>
          <p:cNvPr id="12" name="Shape 10"/>
          <p:cNvSpPr/>
          <p:nvPr/>
        </p:nvSpPr>
        <p:spPr>
          <a:xfrm>
            <a:off x="1795516" y="2538984"/>
            <a:ext cx="1090696" cy="2362200"/>
          </a:xfrm>
          <a:prstGeom prst="roundRect">
            <a:avLst>
              <a:gd name="adj" fmla="val 4192"/>
            </a:avLst>
          </a:prstGeom>
          <a:solidFill>
            <a:srgbClr val="C7C2F7"/>
          </a:solidFill>
          <a:ln w="12700">
            <a:solidFill>
              <a:srgbClr val="C7C2F7"/>
            </a:solidFill>
            <a:prstDash val="solid"/>
          </a:ln>
        </p:spPr>
      </p:sp>
      <p:sp>
        <p:nvSpPr>
          <p:cNvPr id="13" name="Text 11"/>
          <p:cNvSpPr/>
          <p:nvPr/>
        </p:nvSpPr>
        <p:spPr>
          <a:xfrm>
            <a:off x="1172261" y="2264664"/>
            <a:ext cx="2337206" cy="256032"/>
          </a:xfrm>
          <a:prstGeom prst="rect">
            <a:avLst/>
          </a:prstGeom>
          <a:noFill/>
          <a:ln/>
        </p:spPr>
        <p:txBody>
          <a:bodyPr wrap="square" lIns="0" tIns="0" rIns="0" bIns="0" rtlCol="0" anchor="b"/>
          <a:lstStyle/>
          <a:p>
            <a:pPr algn="ctr" indent="0" marL="0">
              <a:buNone/>
            </a:pPr>
            <a:r>
              <a:rPr lang="en-US" sz="1500" b="1" dirty="0">
                <a:solidFill>
                  <a:srgbClr val="3B3760"/>
                </a:solidFill>
                <a:latin typeface="Calibri" pitchFamily="34" charset="0"/>
                <a:ea typeface="Calibri" pitchFamily="34" charset="-122"/>
                <a:cs typeface="Calibri" pitchFamily="34" charset="-120"/>
              </a:rPr>
              <a:t>3.0s</a:t>
            </a:r>
            <a:endParaRPr lang="en-US" sz="1500" dirty="0"/>
          </a:p>
        </p:txBody>
      </p:sp>
      <p:sp>
        <p:nvSpPr>
          <p:cNvPr id="14" name="Text 12"/>
          <p:cNvSpPr/>
          <p:nvPr/>
        </p:nvSpPr>
        <p:spPr>
          <a:xfrm>
            <a:off x="1172261" y="4956048"/>
            <a:ext cx="2337206" cy="310896"/>
          </a:xfrm>
          <a:prstGeom prst="rect">
            <a:avLst/>
          </a:prstGeom>
          <a:noFill/>
          <a:ln/>
        </p:spPr>
        <p:txBody>
          <a:bodyPr wrap="square" lIns="0" tIns="0" rIns="0" bIns="0" rtlCol="0" anchor="t"/>
          <a:lstStyle/>
          <a:p>
            <a:pPr algn="ctr" indent="0" marL="0">
              <a:lnSpc>
                <a:spcPct val="100000"/>
              </a:lnSpc>
              <a:buNone/>
            </a:pPr>
            <a:r>
              <a:rPr lang="en-US" sz="1250" dirty="0">
                <a:solidFill>
                  <a:srgbClr val="6E6B8A"/>
                </a:solidFill>
                <a:latin typeface="Calibri" pitchFamily="34" charset="0"/>
                <a:ea typeface="Calibri" pitchFamily="34" charset="-122"/>
                <a:cs typeface="Calibri" pitchFamily="34" charset="-120"/>
              </a:rPr>
              <a:t>Sequential</a:t>
            </a:r>
            <a:endParaRPr lang="en-US" sz="1250" dirty="0"/>
          </a:p>
        </p:txBody>
      </p:sp>
      <p:sp>
        <p:nvSpPr>
          <p:cNvPr id="15" name="Shape 13"/>
          <p:cNvSpPr/>
          <p:nvPr/>
        </p:nvSpPr>
        <p:spPr>
          <a:xfrm>
            <a:off x="4392412" y="4035044"/>
            <a:ext cx="1090696" cy="866140"/>
          </a:xfrm>
          <a:prstGeom prst="roundRect">
            <a:avLst>
              <a:gd name="adj" fmla="val 5279"/>
            </a:avLst>
          </a:prstGeom>
          <a:solidFill>
            <a:srgbClr val="4A38D9"/>
          </a:solidFill>
          <a:ln w="12700">
            <a:solidFill>
              <a:srgbClr val="4A38D9"/>
            </a:solidFill>
            <a:prstDash val="solid"/>
          </a:ln>
        </p:spPr>
      </p:sp>
      <p:sp>
        <p:nvSpPr>
          <p:cNvPr id="16" name="Text 14"/>
          <p:cNvSpPr/>
          <p:nvPr/>
        </p:nvSpPr>
        <p:spPr>
          <a:xfrm>
            <a:off x="3769157" y="3760724"/>
            <a:ext cx="2337206" cy="256032"/>
          </a:xfrm>
          <a:prstGeom prst="rect">
            <a:avLst/>
          </a:prstGeom>
          <a:noFill/>
          <a:ln/>
        </p:spPr>
        <p:txBody>
          <a:bodyPr wrap="square" lIns="0" tIns="0" rIns="0" bIns="0" rtlCol="0" anchor="b"/>
          <a:lstStyle/>
          <a:p>
            <a:pPr algn="ctr" indent="0" marL="0">
              <a:buNone/>
            </a:pPr>
            <a:r>
              <a:rPr lang="en-US" sz="1500" b="1" dirty="0">
                <a:solidFill>
                  <a:srgbClr val="3B2EB8"/>
                </a:solidFill>
                <a:latin typeface="Calibri" pitchFamily="34" charset="0"/>
                <a:ea typeface="Calibri" pitchFamily="34" charset="-122"/>
                <a:cs typeface="Calibri" pitchFamily="34" charset="-120"/>
              </a:rPr>
              <a:t>1.1s</a:t>
            </a:r>
            <a:endParaRPr lang="en-US" sz="1500" dirty="0"/>
          </a:p>
        </p:txBody>
      </p:sp>
      <p:sp>
        <p:nvSpPr>
          <p:cNvPr id="17" name="Text 15"/>
          <p:cNvSpPr/>
          <p:nvPr/>
        </p:nvSpPr>
        <p:spPr>
          <a:xfrm>
            <a:off x="3769157" y="4956048"/>
            <a:ext cx="2337206" cy="310896"/>
          </a:xfrm>
          <a:prstGeom prst="rect">
            <a:avLst/>
          </a:prstGeom>
          <a:noFill/>
          <a:ln/>
        </p:spPr>
        <p:txBody>
          <a:bodyPr wrap="square" lIns="0" tIns="0" rIns="0" bIns="0" rtlCol="0" anchor="t"/>
          <a:lstStyle/>
          <a:p>
            <a:pPr algn="ctr" indent="0" marL="0">
              <a:lnSpc>
                <a:spcPct val="100000"/>
              </a:lnSpc>
              <a:buNone/>
            </a:pPr>
            <a:r>
              <a:rPr lang="en-US" sz="1250" dirty="0">
                <a:solidFill>
                  <a:srgbClr val="6E6B8A"/>
                </a:solidFill>
                <a:latin typeface="Calibri" pitchFamily="34" charset="0"/>
                <a:ea typeface="Calibri" pitchFamily="34" charset="-122"/>
                <a:cs typeface="Calibri" pitchFamily="34" charset="-120"/>
              </a:rPr>
              <a:t>Concurrent</a:t>
            </a:r>
            <a:endParaRPr lang="en-US" sz="1250" dirty="0"/>
          </a:p>
        </p:txBody>
      </p:sp>
      <p:sp>
        <p:nvSpPr>
          <p:cNvPr id="18" name="Shape 16"/>
          <p:cNvSpPr/>
          <p:nvPr/>
        </p:nvSpPr>
        <p:spPr>
          <a:xfrm>
            <a:off x="6510528" y="1828800"/>
            <a:ext cx="5114239" cy="1060704"/>
          </a:xfrm>
          <a:prstGeom prst="roundRect">
            <a:avLst>
              <a:gd name="adj" fmla="val 7759"/>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9" name="Shape 17"/>
          <p:cNvSpPr/>
          <p:nvPr/>
        </p:nvSpPr>
        <p:spPr>
          <a:xfrm>
            <a:off x="6748272" y="2048256"/>
            <a:ext cx="365760" cy="365760"/>
          </a:xfrm>
          <a:prstGeom prst="ellipse">
            <a:avLst/>
          </a:prstGeom>
          <a:solidFill>
            <a:srgbClr val="5B4BE8"/>
          </a:solidFill>
          <a:ln w="12700">
            <a:solidFill>
              <a:srgbClr val="5B4BE8"/>
            </a:solidFill>
            <a:prstDash val="solid"/>
          </a:ln>
        </p:spPr>
      </p:sp>
      <p:pic>
        <p:nvPicPr>
          <p:cNvPr id="20" name="Image 0" descr="preencoded.png">    </p:cNvPr>
          <p:cNvPicPr>
            <a:picLocks noChangeAspect="1"/>
          </p:cNvPicPr>
          <p:nvPr/>
        </p:nvPicPr>
        <p:blipFill>
          <a:blip r:embed="rId1"/>
          <a:stretch>
            <a:fillRect/>
          </a:stretch>
        </p:blipFill>
        <p:spPr>
          <a:xfrm>
            <a:off x="6839712" y="2139696"/>
            <a:ext cx="182880" cy="182880"/>
          </a:xfrm>
          <a:prstGeom prst="rect">
            <a:avLst/>
          </a:prstGeom>
        </p:spPr>
      </p:pic>
      <p:sp>
        <p:nvSpPr>
          <p:cNvPr id="21" name="Text 18"/>
          <p:cNvSpPr/>
          <p:nvPr/>
        </p:nvSpPr>
        <p:spPr>
          <a:xfrm>
            <a:off x="7242048" y="2066544"/>
            <a:ext cx="4144975"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Nothing got faster</a:t>
            </a:r>
            <a:endParaRPr lang="en-US" sz="1350" dirty="0"/>
          </a:p>
        </p:txBody>
      </p:sp>
      <p:sp>
        <p:nvSpPr>
          <p:cNvPr id="22" name="Text 19"/>
          <p:cNvSpPr/>
          <p:nvPr/>
        </p:nvSpPr>
        <p:spPr>
          <a:xfrm>
            <a:off x="7242048" y="2398105"/>
            <a:ext cx="4144975" cy="308519"/>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The same three calls took the same time each. You simply stopped standing in the queue three times.</a:t>
            </a:r>
            <a:endParaRPr lang="en-US" sz="1100" dirty="0"/>
          </a:p>
        </p:txBody>
      </p:sp>
      <p:sp>
        <p:nvSpPr>
          <p:cNvPr id="23" name="Shape 20"/>
          <p:cNvSpPr/>
          <p:nvPr/>
        </p:nvSpPr>
        <p:spPr>
          <a:xfrm>
            <a:off x="6510528" y="2980944"/>
            <a:ext cx="5114239" cy="1060704"/>
          </a:xfrm>
          <a:prstGeom prst="roundRect">
            <a:avLst>
              <a:gd name="adj" fmla="val 7759"/>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4" name="Shape 21"/>
          <p:cNvSpPr/>
          <p:nvPr/>
        </p:nvSpPr>
        <p:spPr>
          <a:xfrm>
            <a:off x="6748272" y="3200400"/>
            <a:ext cx="365760" cy="365760"/>
          </a:xfrm>
          <a:prstGeom prst="ellipse">
            <a:avLst/>
          </a:prstGeom>
          <a:solidFill>
            <a:srgbClr val="5B4BE8"/>
          </a:solidFill>
          <a:ln w="12700">
            <a:solidFill>
              <a:srgbClr val="5B4BE8"/>
            </a:solidFill>
            <a:prstDash val="solid"/>
          </a:ln>
        </p:spPr>
      </p:sp>
      <p:pic>
        <p:nvPicPr>
          <p:cNvPr id="25" name="Image 1" descr="preencoded.png">    </p:cNvPr>
          <p:cNvPicPr>
            <a:picLocks noChangeAspect="1"/>
          </p:cNvPicPr>
          <p:nvPr/>
        </p:nvPicPr>
        <p:blipFill>
          <a:blip r:embed="rId2"/>
          <a:stretch>
            <a:fillRect/>
          </a:stretch>
        </p:blipFill>
        <p:spPr>
          <a:xfrm>
            <a:off x="6839712" y="3291840"/>
            <a:ext cx="182880" cy="182880"/>
          </a:xfrm>
          <a:prstGeom prst="rect">
            <a:avLst/>
          </a:prstGeom>
        </p:spPr>
      </p:pic>
      <p:sp>
        <p:nvSpPr>
          <p:cNvPr id="26" name="Text 22"/>
          <p:cNvSpPr/>
          <p:nvPr/>
        </p:nvSpPr>
        <p:spPr>
          <a:xfrm>
            <a:off x="7242048" y="3218688"/>
            <a:ext cx="4144975"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Only when they are independent</a:t>
            </a:r>
            <a:endParaRPr lang="en-US" sz="1350" dirty="0"/>
          </a:p>
        </p:txBody>
      </p:sp>
      <p:sp>
        <p:nvSpPr>
          <p:cNvPr id="27" name="Text 23"/>
          <p:cNvSpPr/>
          <p:nvPr/>
        </p:nvSpPr>
        <p:spPr>
          <a:xfrm>
            <a:off x="7242048" y="3550249"/>
            <a:ext cx="4144975" cy="308519"/>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If tool two needs tool one's answer, concurrency cannot help. That sequencing constraint is what module 03 was demonstrating.</a:t>
            </a:r>
            <a:endParaRPr lang="en-US" sz="1100" dirty="0"/>
          </a:p>
        </p:txBody>
      </p:sp>
      <p:sp>
        <p:nvSpPr>
          <p:cNvPr id="28" name="Shape 24"/>
          <p:cNvSpPr/>
          <p:nvPr/>
        </p:nvSpPr>
        <p:spPr>
          <a:xfrm>
            <a:off x="6510528" y="4133088"/>
            <a:ext cx="5114239" cy="1078992"/>
          </a:xfrm>
          <a:prstGeom prst="roundRect">
            <a:avLst>
              <a:gd name="adj" fmla="val 762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9" name="Shape 25"/>
          <p:cNvSpPr/>
          <p:nvPr/>
        </p:nvSpPr>
        <p:spPr>
          <a:xfrm>
            <a:off x="6748272" y="4352544"/>
            <a:ext cx="365760" cy="365760"/>
          </a:xfrm>
          <a:prstGeom prst="ellipse">
            <a:avLst/>
          </a:prstGeom>
          <a:solidFill>
            <a:srgbClr val="5B4BE8"/>
          </a:solidFill>
          <a:ln w="12700">
            <a:solidFill>
              <a:srgbClr val="5B4BE8"/>
            </a:solidFill>
            <a:prstDash val="solid"/>
          </a:ln>
        </p:spPr>
      </p:sp>
      <p:pic>
        <p:nvPicPr>
          <p:cNvPr id="30" name="Image 2" descr="preencoded.png">    </p:cNvPr>
          <p:cNvPicPr>
            <a:picLocks noChangeAspect="1"/>
          </p:cNvPicPr>
          <p:nvPr/>
        </p:nvPicPr>
        <p:blipFill>
          <a:blip r:embed="rId3"/>
          <a:stretch>
            <a:fillRect/>
          </a:stretch>
        </p:blipFill>
        <p:spPr>
          <a:xfrm>
            <a:off x="6839712" y="4443984"/>
            <a:ext cx="182880" cy="182880"/>
          </a:xfrm>
          <a:prstGeom prst="rect">
            <a:avLst/>
          </a:prstGeom>
        </p:spPr>
      </p:pic>
      <p:sp>
        <p:nvSpPr>
          <p:cNvPr id="31" name="Text 26"/>
          <p:cNvSpPr/>
          <p:nvPr/>
        </p:nvSpPr>
        <p:spPr>
          <a:xfrm>
            <a:off x="7242048" y="4370832"/>
            <a:ext cx="4144975"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It compounds across users</a:t>
            </a:r>
            <a:endParaRPr lang="en-US" sz="1350" dirty="0"/>
          </a:p>
        </p:txBody>
      </p:sp>
      <p:sp>
        <p:nvSpPr>
          <p:cNvPr id="32" name="Text 27"/>
          <p:cNvSpPr/>
          <p:nvPr/>
        </p:nvSpPr>
        <p:spPr>
          <a:xfrm>
            <a:off x="7242048" y="4702393"/>
            <a:ext cx="4144975" cy="32680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Latency is per user; capacity is across all of them. This is the difference between a demo and a service.</a:t>
            </a:r>
            <a:endParaRPr lang="en-US" sz="1100" dirty="0"/>
          </a:p>
        </p:txBody>
      </p:sp>
      <p:sp>
        <p:nvSpPr>
          <p:cNvPr id="33" name="Text 28"/>
          <p:cNvSpPr/>
          <p:nvPr/>
        </p:nvSpPr>
        <p:spPr>
          <a:xfrm>
            <a:off x="566928" y="5321808"/>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Illustrative timings — run it live. Three tools with a realistic delay, sequential then concurrent, makes the argument in ninety seconds.</a:t>
            </a:r>
            <a:endParaRPr lang="en-US" sz="950" dirty="0"/>
          </a:p>
        </p:txBody>
      </p:sp>
      <p:sp>
        <p:nvSpPr>
          <p:cNvPr id="34" name="Shape 29"/>
          <p:cNvSpPr/>
          <p:nvPr/>
        </p:nvSpPr>
        <p:spPr>
          <a:xfrm>
            <a:off x="566928" y="5614416"/>
            <a:ext cx="11057839" cy="749808"/>
          </a:xfrm>
          <a:prstGeom prst="roundRect">
            <a:avLst>
              <a:gd name="adj" fmla="val 10976"/>
            </a:avLst>
          </a:prstGeom>
          <a:solidFill>
            <a:srgbClr val="FFF4E0"/>
          </a:solidFill>
          <a:ln w="12700">
            <a:solidFill>
              <a:srgbClr val="F3DCB0"/>
            </a:solidFill>
            <a:prstDash val="solid"/>
          </a:ln>
        </p:spPr>
      </p:sp>
      <p:sp>
        <p:nvSpPr>
          <p:cNvPr id="35" name="Shape 30"/>
          <p:cNvSpPr/>
          <p:nvPr/>
        </p:nvSpPr>
        <p:spPr>
          <a:xfrm>
            <a:off x="841248" y="5797296"/>
            <a:ext cx="384048" cy="384048"/>
          </a:xfrm>
          <a:prstGeom prst="ellipse">
            <a:avLst/>
          </a:prstGeom>
          <a:solidFill>
            <a:srgbClr val="F5A524"/>
          </a:solidFill>
          <a:ln w="12700">
            <a:solidFill>
              <a:srgbClr val="F5A524"/>
            </a:solidFill>
            <a:prstDash val="solid"/>
          </a:ln>
        </p:spPr>
      </p:sp>
      <p:pic>
        <p:nvPicPr>
          <p:cNvPr id="36" name="Image 3" descr="preencoded.png">    </p:cNvPr>
          <p:cNvPicPr>
            <a:picLocks noChangeAspect="1"/>
          </p:cNvPicPr>
          <p:nvPr/>
        </p:nvPicPr>
        <p:blipFill>
          <a:blip r:embed="rId4"/>
          <a:stretch>
            <a:fillRect/>
          </a:stretch>
        </p:blipFill>
        <p:spPr>
          <a:xfrm>
            <a:off x="937260" y="5893308"/>
            <a:ext cx="192024" cy="192024"/>
          </a:xfrm>
          <a:prstGeom prst="rect">
            <a:avLst/>
          </a:prstGeom>
        </p:spPr>
      </p:pic>
      <p:sp>
        <p:nvSpPr>
          <p:cNvPr id="37" name="Text 31"/>
          <p:cNvSpPr/>
          <p:nvPr/>
        </p:nvSpPr>
        <p:spPr>
          <a:xfrm>
            <a:off x="1371600" y="5669280"/>
            <a:ext cx="9960559" cy="640080"/>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Your program spends almost all its time waiting for someone else's server to answer. Concurrency means waiting for all of them at once.</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07 · ASYNC AND CONCURRENCY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Waiting and computing need different tools</a:t>
            </a:r>
            <a:endParaRPr lang="en-US" sz="3000" dirty="0"/>
          </a:p>
        </p:txBody>
      </p:sp>
      <p:sp>
        <p:nvSpPr>
          <p:cNvPr id="4" name="Text 2"/>
          <p:cNvSpPr/>
          <p:nvPr/>
        </p:nvSpPr>
        <p:spPr>
          <a:xfrm>
            <a:off x="841248" y="1975104"/>
            <a:ext cx="4206240" cy="256032"/>
          </a:xfrm>
          <a:prstGeom prst="rect">
            <a:avLst/>
          </a:prstGeom>
          <a:noFill/>
          <a:ln/>
        </p:spPr>
        <p:txBody>
          <a:bodyPr wrap="square" lIns="0" tIns="0" rIns="0" bIns="0" rtlCol="0" anchor="ctr"/>
          <a:lstStyle/>
          <a:p>
            <a:pPr indent="0" marL="0">
              <a:buNone/>
            </a:pPr>
            <a:r>
              <a:rPr lang="en-US" sz="950" b="1" spc="180" kern="0" dirty="0">
                <a:solidFill>
                  <a:srgbClr val="9B98B4"/>
                </a:solidFill>
                <a:latin typeface="Calibri" pitchFamily="34" charset="0"/>
                <a:ea typeface="Calibri" pitchFamily="34" charset="-122"/>
                <a:cs typeface="Calibri" pitchFamily="34" charset="-120"/>
              </a:rPr>
              <a:t>WORKLOAD</a:t>
            </a:r>
            <a:endParaRPr lang="en-US" sz="950" dirty="0"/>
          </a:p>
        </p:txBody>
      </p:sp>
      <p:sp>
        <p:nvSpPr>
          <p:cNvPr id="5" name="Text 3"/>
          <p:cNvSpPr/>
          <p:nvPr/>
        </p:nvSpPr>
        <p:spPr>
          <a:xfrm>
            <a:off x="5138928" y="1975104"/>
            <a:ext cx="3657600" cy="256032"/>
          </a:xfrm>
          <a:prstGeom prst="rect">
            <a:avLst/>
          </a:prstGeom>
          <a:noFill/>
          <a:ln/>
        </p:spPr>
        <p:txBody>
          <a:bodyPr wrap="square" lIns="0" tIns="0" rIns="0" bIns="0" rtlCol="0" anchor="ctr"/>
          <a:lstStyle/>
          <a:p>
            <a:pPr indent="0" marL="0">
              <a:buNone/>
            </a:pPr>
            <a:r>
              <a:rPr lang="en-US" sz="950" b="1" spc="180" kern="0" dirty="0">
                <a:solidFill>
                  <a:srgbClr val="9B98B4"/>
                </a:solidFill>
                <a:latin typeface="Calibri" pitchFamily="34" charset="0"/>
                <a:ea typeface="Calibri" pitchFamily="34" charset="-122"/>
                <a:cs typeface="Calibri" pitchFamily="34" charset="-120"/>
              </a:rPr>
              <a:t>WHAT IT IS ACTUALLY DOING</a:t>
            </a:r>
            <a:endParaRPr lang="en-US" sz="950" dirty="0"/>
          </a:p>
        </p:txBody>
      </p:sp>
      <p:sp>
        <p:nvSpPr>
          <p:cNvPr id="6" name="Text 4"/>
          <p:cNvSpPr/>
          <p:nvPr/>
        </p:nvSpPr>
        <p:spPr>
          <a:xfrm>
            <a:off x="8887968" y="1975104"/>
            <a:ext cx="2651760" cy="256032"/>
          </a:xfrm>
          <a:prstGeom prst="rect">
            <a:avLst/>
          </a:prstGeom>
          <a:noFill/>
          <a:ln/>
        </p:spPr>
        <p:txBody>
          <a:bodyPr wrap="square" lIns="0" tIns="0" rIns="0" bIns="0" rtlCol="0" anchor="ctr"/>
          <a:lstStyle/>
          <a:p>
            <a:pPr indent="0" marL="0">
              <a:buNone/>
            </a:pPr>
            <a:r>
              <a:rPr lang="en-US" sz="950" b="1" spc="180" kern="0" dirty="0">
                <a:solidFill>
                  <a:srgbClr val="9B98B4"/>
                </a:solidFill>
                <a:latin typeface="Calibri" pitchFamily="34" charset="0"/>
                <a:ea typeface="Calibri" pitchFamily="34" charset="-122"/>
                <a:cs typeface="Calibri" pitchFamily="34" charset="-120"/>
              </a:rPr>
              <a:t>RIGHT TOOL</a:t>
            </a:r>
            <a:endParaRPr lang="en-US" sz="950" dirty="0"/>
          </a:p>
        </p:txBody>
      </p:sp>
      <p:sp>
        <p:nvSpPr>
          <p:cNvPr id="7" name="Shape 5"/>
          <p:cNvSpPr/>
          <p:nvPr/>
        </p:nvSpPr>
        <p:spPr>
          <a:xfrm>
            <a:off x="566928" y="2322576"/>
            <a:ext cx="11057839" cy="676656"/>
          </a:xfrm>
          <a:prstGeom prst="roundRect">
            <a:avLst>
              <a:gd name="adj" fmla="val 9459"/>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8" name="Text 6"/>
          <p:cNvSpPr/>
          <p:nvPr/>
        </p:nvSpPr>
        <p:spPr>
          <a:xfrm>
            <a:off x="841248" y="2322576"/>
            <a:ext cx="4206240" cy="676656"/>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Model calls, tool calls, API fetches</a:t>
            </a:r>
            <a:endParaRPr lang="en-US" sz="1300" dirty="0"/>
          </a:p>
        </p:txBody>
      </p:sp>
      <p:sp>
        <p:nvSpPr>
          <p:cNvPr id="9" name="Text 7"/>
          <p:cNvSpPr/>
          <p:nvPr/>
        </p:nvSpPr>
        <p:spPr>
          <a:xfrm>
            <a:off x="5138928" y="2322576"/>
            <a:ext cx="3657600" cy="676656"/>
          </a:xfrm>
          <a:prstGeom prst="rect">
            <a:avLst/>
          </a:prstGeom>
          <a:noFill/>
          <a:ln/>
        </p:spPr>
        <p:txBody>
          <a:bodyPr wrap="square" lIns="0" tIns="0" rIns="0" bIns="0" rtlCol="0" anchor="ctr"/>
          <a:lstStyle/>
          <a:p>
            <a:pPr indent="0" marL="0">
              <a:buNone/>
            </a:pPr>
            <a:r>
              <a:rPr lang="en-US" sz="1200" dirty="0">
                <a:solidFill>
                  <a:srgbClr val="6E6B8A"/>
                </a:solidFill>
                <a:latin typeface="Calibri" pitchFamily="34" charset="0"/>
                <a:ea typeface="Calibri" pitchFamily="34" charset="-122"/>
                <a:cs typeface="Calibri" pitchFamily="34" charset="-120"/>
              </a:rPr>
              <a:t>Waiting on a socket</a:t>
            </a:r>
            <a:endParaRPr lang="en-US" sz="1200" dirty="0"/>
          </a:p>
        </p:txBody>
      </p:sp>
      <p:sp>
        <p:nvSpPr>
          <p:cNvPr id="10" name="Text 8"/>
          <p:cNvSpPr/>
          <p:nvPr/>
        </p:nvSpPr>
        <p:spPr>
          <a:xfrm>
            <a:off x="8887968" y="2322576"/>
            <a:ext cx="2651760" cy="676656"/>
          </a:xfrm>
          <a:prstGeom prst="rect">
            <a:avLst/>
          </a:prstGeom>
          <a:noFill/>
          <a:ln/>
        </p:spPr>
        <p:txBody>
          <a:bodyPr wrap="square" lIns="0" tIns="0" rIns="0" bIns="0" rtlCol="0" anchor="ctr"/>
          <a:lstStyle/>
          <a:p>
            <a:pPr indent="0" marL="0">
              <a:buNone/>
            </a:pPr>
            <a:r>
              <a:rPr lang="en-US" sz="1300" b="1" dirty="0">
                <a:solidFill>
                  <a:srgbClr val="5B4BE8"/>
                </a:solidFill>
                <a:latin typeface="Courier New" pitchFamily="34" charset="0"/>
                <a:ea typeface="Courier New" pitchFamily="34" charset="-122"/>
                <a:cs typeface="Courier New" pitchFamily="34" charset="-120"/>
              </a:rPr>
              <a:t>asyncio</a:t>
            </a:r>
            <a:endParaRPr lang="en-US" sz="1300" dirty="0"/>
          </a:p>
        </p:txBody>
      </p:sp>
      <p:sp>
        <p:nvSpPr>
          <p:cNvPr id="11" name="Shape 9"/>
          <p:cNvSpPr/>
          <p:nvPr/>
        </p:nvSpPr>
        <p:spPr>
          <a:xfrm>
            <a:off x="566928" y="3108960"/>
            <a:ext cx="11057839" cy="676656"/>
          </a:xfrm>
          <a:prstGeom prst="roundRect">
            <a:avLst>
              <a:gd name="adj" fmla="val 9459"/>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12" name="Text 10"/>
          <p:cNvSpPr/>
          <p:nvPr/>
        </p:nvSpPr>
        <p:spPr>
          <a:xfrm>
            <a:off x="841248" y="3108960"/>
            <a:ext cx="4206240" cy="676656"/>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Local embeddings, vector maths</a:t>
            </a:r>
            <a:endParaRPr lang="en-US" sz="1300" dirty="0"/>
          </a:p>
        </p:txBody>
      </p:sp>
      <p:sp>
        <p:nvSpPr>
          <p:cNvPr id="13" name="Text 11"/>
          <p:cNvSpPr/>
          <p:nvPr/>
        </p:nvSpPr>
        <p:spPr>
          <a:xfrm>
            <a:off x="5138928" y="3108960"/>
            <a:ext cx="3657600" cy="676656"/>
          </a:xfrm>
          <a:prstGeom prst="rect">
            <a:avLst/>
          </a:prstGeom>
          <a:noFill/>
          <a:ln/>
        </p:spPr>
        <p:txBody>
          <a:bodyPr wrap="square" lIns="0" tIns="0" rIns="0" bIns="0" rtlCol="0" anchor="ctr"/>
          <a:lstStyle/>
          <a:p>
            <a:pPr indent="0" marL="0">
              <a:buNone/>
            </a:pPr>
            <a:r>
              <a:rPr lang="en-US" sz="1200" dirty="0">
                <a:solidFill>
                  <a:srgbClr val="6E6B8A"/>
                </a:solidFill>
                <a:latin typeface="Calibri" pitchFamily="34" charset="0"/>
                <a:ea typeface="Calibri" pitchFamily="34" charset="-122"/>
                <a:cs typeface="Calibri" pitchFamily="34" charset="-120"/>
              </a:rPr>
              <a:t>Maxing out a CPU core</a:t>
            </a:r>
            <a:endParaRPr lang="en-US" sz="1200" dirty="0"/>
          </a:p>
        </p:txBody>
      </p:sp>
      <p:sp>
        <p:nvSpPr>
          <p:cNvPr id="14" name="Text 12"/>
          <p:cNvSpPr/>
          <p:nvPr/>
        </p:nvSpPr>
        <p:spPr>
          <a:xfrm>
            <a:off x="8887968" y="3108960"/>
            <a:ext cx="2651760" cy="676656"/>
          </a:xfrm>
          <a:prstGeom prst="rect">
            <a:avLst/>
          </a:prstGeom>
          <a:noFill/>
          <a:ln/>
        </p:spPr>
        <p:txBody>
          <a:bodyPr wrap="square" lIns="0" tIns="0" rIns="0" bIns="0" rtlCol="0" anchor="ctr"/>
          <a:lstStyle/>
          <a:p>
            <a:pPr indent="0" marL="0">
              <a:buNone/>
            </a:pPr>
            <a:r>
              <a:rPr lang="en-US" sz="1300" b="1" dirty="0">
                <a:solidFill>
                  <a:srgbClr val="E08700"/>
                </a:solidFill>
                <a:latin typeface="Courier New" pitchFamily="34" charset="0"/>
                <a:ea typeface="Courier New" pitchFamily="34" charset="-122"/>
                <a:cs typeface="Courier New" pitchFamily="34" charset="-120"/>
              </a:rPr>
              <a:t>multiprocessing</a:t>
            </a:r>
            <a:endParaRPr lang="en-US" sz="1300" dirty="0"/>
          </a:p>
        </p:txBody>
      </p:sp>
      <p:sp>
        <p:nvSpPr>
          <p:cNvPr id="15" name="Shape 13"/>
          <p:cNvSpPr/>
          <p:nvPr/>
        </p:nvSpPr>
        <p:spPr>
          <a:xfrm>
            <a:off x="566928" y="3895344"/>
            <a:ext cx="11057839" cy="676656"/>
          </a:xfrm>
          <a:prstGeom prst="roundRect">
            <a:avLst>
              <a:gd name="adj" fmla="val 9459"/>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16" name="Text 14"/>
          <p:cNvSpPr/>
          <p:nvPr/>
        </p:nvSpPr>
        <p:spPr>
          <a:xfrm>
            <a:off x="841248" y="3895344"/>
            <a:ext cx="4206240" cy="676656"/>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File operations, logging</a:t>
            </a:r>
            <a:endParaRPr lang="en-US" sz="1300" dirty="0"/>
          </a:p>
        </p:txBody>
      </p:sp>
      <p:sp>
        <p:nvSpPr>
          <p:cNvPr id="17" name="Text 15"/>
          <p:cNvSpPr/>
          <p:nvPr/>
        </p:nvSpPr>
        <p:spPr>
          <a:xfrm>
            <a:off x="5138928" y="3895344"/>
            <a:ext cx="3657600" cy="676656"/>
          </a:xfrm>
          <a:prstGeom prst="rect">
            <a:avLst/>
          </a:prstGeom>
          <a:noFill/>
          <a:ln/>
        </p:spPr>
        <p:txBody>
          <a:bodyPr wrap="square" lIns="0" tIns="0" rIns="0" bIns="0" rtlCol="0" anchor="ctr"/>
          <a:lstStyle/>
          <a:p>
            <a:pPr indent="0" marL="0">
              <a:buNone/>
            </a:pPr>
            <a:r>
              <a:rPr lang="en-US" sz="1200" dirty="0">
                <a:solidFill>
                  <a:srgbClr val="6E6B8A"/>
                </a:solidFill>
                <a:latin typeface="Calibri" pitchFamily="34" charset="0"/>
                <a:ea typeface="Calibri" pitchFamily="34" charset="-122"/>
                <a:cs typeface="Calibri" pitchFamily="34" charset="-120"/>
              </a:rPr>
              <a:t>Mostly waiting, sometimes not</a:t>
            </a:r>
            <a:endParaRPr lang="en-US" sz="1200" dirty="0"/>
          </a:p>
        </p:txBody>
      </p:sp>
      <p:sp>
        <p:nvSpPr>
          <p:cNvPr id="18" name="Text 16"/>
          <p:cNvSpPr/>
          <p:nvPr/>
        </p:nvSpPr>
        <p:spPr>
          <a:xfrm>
            <a:off x="8887968" y="3895344"/>
            <a:ext cx="2651760" cy="676656"/>
          </a:xfrm>
          <a:prstGeom prst="rect">
            <a:avLst/>
          </a:prstGeom>
          <a:noFill/>
          <a:ln/>
        </p:spPr>
        <p:txBody>
          <a:bodyPr wrap="square" lIns="0" tIns="0" rIns="0" bIns="0" rtlCol="0" anchor="ctr"/>
          <a:lstStyle/>
          <a:p>
            <a:pPr indent="0" marL="0">
              <a:buNone/>
            </a:pPr>
            <a:r>
              <a:rPr lang="en-US" sz="1300" b="1" dirty="0">
                <a:solidFill>
                  <a:srgbClr val="0E8C9E"/>
                </a:solidFill>
                <a:latin typeface="Courier New" pitchFamily="34" charset="0"/>
                <a:ea typeface="Courier New" pitchFamily="34" charset="-122"/>
                <a:cs typeface="Courier New" pitchFamily="34" charset="-120"/>
              </a:rPr>
              <a:t>threading or asyncio</a:t>
            </a:r>
            <a:endParaRPr lang="en-US" sz="1300" dirty="0"/>
          </a:p>
        </p:txBody>
      </p:sp>
      <p:sp>
        <p:nvSpPr>
          <p:cNvPr id="19" name="Shape 17"/>
          <p:cNvSpPr/>
          <p:nvPr/>
        </p:nvSpPr>
        <p:spPr>
          <a:xfrm>
            <a:off x="566928" y="4754880"/>
            <a:ext cx="11057839" cy="676656"/>
          </a:xfrm>
          <a:prstGeom prst="roundRect">
            <a:avLst>
              <a:gd name="adj" fmla="val 9459"/>
            </a:avLst>
          </a:prstGeom>
          <a:solidFill>
            <a:srgbClr val="EEEDFE"/>
          </a:solidFill>
          <a:ln w="12700">
            <a:solidFill>
              <a:srgbClr val="8E82F5"/>
            </a:solidFill>
            <a:prstDash val="solid"/>
          </a:ln>
        </p:spPr>
      </p:sp>
      <p:sp>
        <p:nvSpPr>
          <p:cNvPr id="20" name="Text 18"/>
          <p:cNvSpPr/>
          <p:nvPr/>
        </p:nvSpPr>
        <p:spPr>
          <a:xfrm>
            <a:off x="841248" y="4754880"/>
            <a:ext cx="10509199" cy="676656"/>
          </a:xfrm>
          <a:prstGeom prst="rect">
            <a:avLst/>
          </a:prstGeom>
          <a:noFill/>
          <a:ln/>
        </p:spPr>
        <p:txBody>
          <a:bodyPr wrap="square" lIns="0" tIns="0" rIns="0" bIns="0" rtlCol="0" anchor="ctr"/>
          <a:lstStyle/>
          <a:p>
            <a:pPr indent="0" marL="0">
              <a:buNone/>
            </a:pPr>
            <a:r>
              <a:rPr lang="en-US" sz="1250" dirty="0">
                <a:solidFill>
                  <a:srgbClr val="3B2EB8"/>
                </a:solidFill>
                <a:latin typeface="Calibri" pitchFamily="34" charset="0"/>
                <a:ea typeface="Calibri" pitchFamily="34" charset="-122"/>
                <a:cs typeface="Calibri" pitchFamily="34" charset="-120"/>
              </a:rPr>
              <a:t>Rule of thumb:  95% waiting on a socket → asyncio.   95% maxing a core → multiprocessing.   Almost all agent work is the first one.</a:t>
            </a:r>
            <a:endParaRPr lang="en-US" sz="1250" dirty="0"/>
          </a:p>
        </p:txBody>
      </p:sp>
      <p:sp>
        <p:nvSpPr>
          <p:cNvPr id="21" name="Shape 19"/>
          <p:cNvSpPr/>
          <p:nvPr/>
        </p:nvSpPr>
        <p:spPr>
          <a:xfrm>
            <a:off x="566928" y="5577840"/>
            <a:ext cx="11057839" cy="749808"/>
          </a:xfrm>
          <a:prstGeom prst="roundRect">
            <a:avLst>
              <a:gd name="adj" fmla="val 10976"/>
            </a:avLst>
          </a:prstGeom>
          <a:solidFill>
            <a:srgbClr val="FFF4E0"/>
          </a:solidFill>
          <a:ln w="12700">
            <a:solidFill>
              <a:srgbClr val="F3DCB0"/>
            </a:solidFill>
            <a:prstDash val="solid"/>
          </a:ln>
        </p:spPr>
      </p:sp>
      <p:sp>
        <p:nvSpPr>
          <p:cNvPr id="22" name="Shape 20"/>
          <p:cNvSpPr/>
          <p:nvPr/>
        </p:nvSpPr>
        <p:spPr>
          <a:xfrm>
            <a:off x="841248" y="5760720"/>
            <a:ext cx="384048" cy="384048"/>
          </a:xfrm>
          <a:prstGeom prst="ellipse">
            <a:avLst/>
          </a:prstGeom>
          <a:solidFill>
            <a:srgbClr val="F5A524"/>
          </a:solidFill>
          <a:ln w="12700">
            <a:solidFill>
              <a:srgbClr val="F5A524"/>
            </a:solidFill>
            <a:prstDash val="solid"/>
          </a:ln>
        </p:spPr>
      </p:sp>
      <p:pic>
        <p:nvPicPr>
          <p:cNvPr id="23" name="Image 0" descr="preencoded.png">    </p:cNvPr>
          <p:cNvPicPr>
            <a:picLocks noChangeAspect="1"/>
          </p:cNvPicPr>
          <p:nvPr/>
        </p:nvPicPr>
        <p:blipFill>
          <a:blip r:embed="rId1"/>
          <a:stretch>
            <a:fillRect/>
          </a:stretch>
        </p:blipFill>
        <p:spPr>
          <a:xfrm>
            <a:off x="937260" y="5856732"/>
            <a:ext cx="192024" cy="192024"/>
          </a:xfrm>
          <a:prstGeom prst="rect">
            <a:avLst/>
          </a:prstGeom>
        </p:spPr>
      </p:pic>
      <p:sp>
        <p:nvSpPr>
          <p:cNvPr id="24" name="Text 21"/>
          <p:cNvSpPr/>
          <p:nvPr/>
        </p:nvSpPr>
        <p:spPr>
          <a:xfrm>
            <a:off x="1371600" y="5632704"/>
            <a:ext cx="9960559" cy="640080"/>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If the bottleneck is somebody else's server, buying a bigger machine changes nothing.</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07 · ASYNC AND CONCURRENCY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Two ways concurrency bites back</a:t>
            </a:r>
            <a:endParaRPr lang="en-US" sz="3000" dirty="0"/>
          </a:p>
        </p:txBody>
      </p:sp>
      <p:sp>
        <p:nvSpPr>
          <p:cNvPr id="4" name="Shape 2"/>
          <p:cNvSpPr/>
          <p:nvPr/>
        </p:nvSpPr>
        <p:spPr>
          <a:xfrm>
            <a:off x="566928" y="2745303"/>
            <a:ext cx="5410048" cy="1879458"/>
          </a:xfrm>
          <a:prstGeom prst="roundRect">
            <a:avLst>
              <a:gd name="adj" fmla="val 4379"/>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964759"/>
            <a:ext cx="365760" cy="365760"/>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896112" y="3056199"/>
            <a:ext cx="182880" cy="182880"/>
          </a:xfrm>
          <a:prstGeom prst="rect">
            <a:avLst/>
          </a:prstGeom>
        </p:spPr>
      </p:pic>
      <p:sp>
        <p:nvSpPr>
          <p:cNvPr id="7" name="Text 4"/>
          <p:cNvSpPr/>
          <p:nvPr/>
        </p:nvSpPr>
        <p:spPr>
          <a:xfrm>
            <a:off x="1298448" y="2955615"/>
            <a:ext cx="4440784"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BITE 1</a:t>
            </a:r>
            <a:endParaRPr lang="en-US" sz="850" dirty="0"/>
          </a:p>
        </p:txBody>
      </p:sp>
      <p:sp>
        <p:nvSpPr>
          <p:cNvPr id="8" name="Text 5"/>
          <p:cNvSpPr/>
          <p:nvPr/>
        </p:nvSpPr>
        <p:spPr>
          <a:xfrm>
            <a:off x="1298448" y="3175071"/>
            <a:ext cx="4440784" cy="370698"/>
          </a:xfrm>
          <a:prstGeom prst="rect">
            <a:avLst/>
          </a:prstGeom>
          <a:noFill/>
          <a:ln/>
        </p:spPr>
        <p:txBody>
          <a:bodyPr wrap="square" lIns="0" tIns="0" rIns="0" bIns="0" rtlCol="0" anchor="t"/>
          <a:lstStyle/>
          <a:p>
            <a:pPr indent="0" marL="0">
              <a:lnSpc>
                <a:spcPct val="105000"/>
              </a:lnSpc>
              <a:buNone/>
            </a:pPr>
            <a:r>
              <a:rPr lang="en-US" sz="1650" b="1" dirty="0">
                <a:solidFill>
                  <a:srgbClr val="141235"/>
                </a:solidFill>
                <a:latin typeface="Calibri" pitchFamily="34" charset="0"/>
                <a:ea typeface="Calibri" pitchFamily="34" charset="-122"/>
                <a:cs typeface="Calibri" pitchFamily="34" charset="-120"/>
              </a:rPr>
              <a:t>The domino error</a:t>
            </a:r>
            <a:endParaRPr lang="en-US" sz="1650" dirty="0"/>
          </a:p>
        </p:txBody>
      </p:sp>
      <p:sp>
        <p:nvSpPr>
          <p:cNvPr id="9" name="Text 6"/>
          <p:cNvSpPr/>
          <p:nvPr/>
        </p:nvSpPr>
        <p:spPr>
          <a:xfrm>
            <a:off x="1298448" y="3554913"/>
            <a:ext cx="4440784" cy="886968"/>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One unhandled failure takes down access to every other result — including the ones that succeeded and that you already paid for. Gather with return_exceptions and handle each result on its own merits.</a:t>
            </a:r>
            <a:endParaRPr lang="en-US" sz="1250" dirty="0"/>
          </a:p>
        </p:txBody>
      </p:sp>
      <p:sp>
        <p:nvSpPr>
          <p:cNvPr id="10" name="Shape 7"/>
          <p:cNvSpPr/>
          <p:nvPr/>
        </p:nvSpPr>
        <p:spPr>
          <a:xfrm>
            <a:off x="6214720" y="2745303"/>
            <a:ext cx="5410048" cy="1879458"/>
          </a:xfrm>
          <a:prstGeom prst="roundRect">
            <a:avLst>
              <a:gd name="adj" fmla="val 4379"/>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6452464" y="2964759"/>
            <a:ext cx="365760" cy="365760"/>
          </a:xfrm>
          <a:prstGeom prst="ellipse">
            <a:avLst/>
          </a:prstGeom>
          <a:solidFill>
            <a:srgbClr val="D93A3F"/>
          </a:solidFill>
          <a:ln w="12700">
            <a:solidFill>
              <a:srgbClr val="D93A3F"/>
            </a:solidFill>
            <a:prstDash val="solid"/>
          </a:ln>
        </p:spPr>
      </p:sp>
      <p:pic>
        <p:nvPicPr>
          <p:cNvPr id="12" name="Image 1" descr="preencoded.png">    </p:cNvPr>
          <p:cNvPicPr>
            <a:picLocks noChangeAspect="1"/>
          </p:cNvPicPr>
          <p:nvPr/>
        </p:nvPicPr>
        <p:blipFill>
          <a:blip r:embed="rId2"/>
          <a:stretch>
            <a:fillRect/>
          </a:stretch>
        </p:blipFill>
        <p:spPr>
          <a:xfrm>
            <a:off x="6543904" y="3056199"/>
            <a:ext cx="182880" cy="182880"/>
          </a:xfrm>
          <a:prstGeom prst="rect">
            <a:avLst/>
          </a:prstGeom>
        </p:spPr>
      </p:pic>
      <p:sp>
        <p:nvSpPr>
          <p:cNvPr id="13" name="Text 9"/>
          <p:cNvSpPr/>
          <p:nvPr/>
        </p:nvSpPr>
        <p:spPr>
          <a:xfrm>
            <a:off x="6946240" y="2955615"/>
            <a:ext cx="4440784" cy="182880"/>
          </a:xfrm>
          <a:prstGeom prst="rect">
            <a:avLst/>
          </a:prstGeom>
          <a:noFill/>
          <a:ln/>
        </p:spPr>
        <p:txBody>
          <a:bodyPr wrap="square" lIns="0" tIns="0" rIns="0" bIns="0" rtlCol="0" anchor="ctr"/>
          <a:lstStyle/>
          <a:p>
            <a:pPr indent="0" marL="0">
              <a:buNone/>
            </a:pPr>
            <a:r>
              <a:rPr lang="en-US" sz="850" b="1" spc="160" kern="0" dirty="0">
                <a:solidFill>
                  <a:srgbClr val="D93A3F"/>
                </a:solidFill>
                <a:latin typeface="Calibri" pitchFamily="34" charset="0"/>
                <a:ea typeface="Calibri" pitchFamily="34" charset="-122"/>
                <a:cs typeface="Calibri" pitchFamily="34" charset="-120"/>
              </a:rPr>
              <a:t>BITE 2</a:t>
            </a:r>
            <a:endParaRPr lang="en-US" sz="850" dirty="0"/>
          </a:p>
        </p:txBody>
      </p:sp>
      <p:sp>
        <p:nvSpPr>
          <p:cNvPr id="14" name="Text 10"/>
          <p:cNvSpPr/>
          <p:nvPr/>
        </p:nvSpPr>
        <p:spPr>
          <a:xfrm>
            <a:off x="6946240" y="3175071"/>
            <a:ext cx="4440784" cy="370698"/>
          </a:xfrm>
          <a:prstGeom prst="rect">
            <a:avLst/>
          </a:prstGeom>
          <a:noFill/>
          <a:ln/>
        </p:spPr>
        <p:txBody>
          <a:bodyPr wrap="square" lIns="0" tIns="0" rIns="0" bIns="0" rtlCol="0" anchor="t"/>
          <a:lstStyle/>
          <a:p>
            <a:pPr indent="0" marL="0">
              <a:lnSpc>
                <a:spcPct val="105000"/>
              </a:lnSpc>
              <a:buNone/>
            </a:pPr>
            <a:r>
              <a:rPr lang="en-US" sz="1650" b="1" dirty="0">
                <a:solidFill>
                  <a:srgbClr val="141235"/>
                </a:solidFill>
                <a:latin typeface="Calibri" pitchFamily="34" charset="0"/>
                <a:ea typeface="Calibri" pitchFamily="34" charset="-122"/>
                <a:cs typeface="Calibri" pitchFamily="34" charset="-120"/>
              </a:rPr>
              <a:t>Rate limiting</a:t>
            </a:r>
            <a:endParaRPr lang="en-US" sz="1650" dirty="0"/>
          </a:p>
        </p:txBody>
      </p:sp>
      <p:sp>
        <p:nvSpPr>
          <p:cNvPr id="15" name="Text 11"/>
          <p:cNvSpPr/>
          <p:nvPr/>
        </p:nvSpPr>
        <p:spPr>
          <a:xfrm>
            <a:off x="6946240" y="3554913"/>
            <a:ext cx="4440784" cy="886968"/>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Fire a hundred calls at once and you earn a wall of rejections, then a retry storm on top of it. Bound the concurrency with a semaphore. Faster is not the same as more at once.</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sp>
      <p:pic>
        <p:nvPicPr>
          <p:cNvPr id="18" name="Image 2" descr="preencoded.png">    </p:cNvPr>
          <p:cNvPicPr>
            <a:picLocks noChangeAspect="1"/>
          </p:cNvPicPr>
          <p:nvPr/>
        </p:nvPicPr>
        <p:blipFill>
          <a:blip r:embed="rId3"/>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Doing everything at once is not free. One thing failing should not lose you the nine that worked, and nobody's API will let you sprint indefinitely.</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08</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08</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The same loop, wrapped</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A modern SDK over a real support desk — and three ways to wire two specialists together.</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08 · AGENTS SDK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No framework, or a framework — the honest trade</a:t>
            </a:r>
            <a:endParaRPr lang="en-US" sz="3000" dirty="0"/>
          </a:p>
        </p:txBody>
      </p:sp>
      <p:sp>
        <p:nvSpPr>
          <p:cNvPr id="4" name="Shape 2"/>
          <p:cNvSpPr/>
          <p:nvPr/>
        </p:nvSpPr>
        <p:spPr>
          <a:xfrm>
            <a:off x="566928" y="1810512"/>
            <a:ext cx="5391760" cy="3950208"/>
          </a:xfrm>
          <a:prstGeom prst="roundRect">
            <a:avLst>
              <a:gd name="adj" fmla="val 2315"/>
            </a:avLst>
          </a:prstGeom>
          <a:solidFill>
            <a:srgbClr val="FFFFFF"/>
          </a:solidFill>
          <a:ln w="17780">
            <a:solidFill>
              <a:srgbClr val="8E82F5"/>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22960" y="1975104"/>
            <a:ext cx="402336" cy="402336"/>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923544" y="2075688"/>
            <a:ext cx="201168" cy="201168"/>
          </a:xfrm>
          <a:prstGeom prst="rect">
            <a:avLst/>
          </a:prstGeom>
        </p:spPr>
      </p:pic>
      <p:sp>
        <p:nvSpPr>
          <p:cNvPr id="7" name="Text 4"/>
          <p:cNvSpPr/>
          <p:nvPr/>
        </p:nvSpPr>
        <p:spPr>
          <a:xfrm>
            <a:off x="1353312" y="1975104"/>
            <a:ext cx="4385920" cy="274320"/>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No framework</a:t>
            </a:r>
            <a:endParaRPr lang="en-US" sz="1700" dirty="0"/>
          </a:p>
        </p:txBody>
      </p:sp>
      <p:sp>
        <p:nvSpPr>
          <p:cNvPr id="8" name="Text 5"/>
          <p:cNvSpPr/>
          <p:nvPr/>
        </p:nvSpPr>
        <p:spPr>
          <a:xfrm>
            <a:off x="1353312" y="2249424"/>
            <a:ext cx="4385920" cy="237744"/>
          </a:xfrm>
          <a:prstGeom prst="rect">
            <a:avLst/>
          </a:prstGeom>
          <a:noFill/>
          <a:ln/>
        </p:spPr>
        <p:txBody>
          <a:bodyPr wrap="square" lIns="0" tIns="0" rIns="0" bIns="0" rtlCol="0" anchor="ctr"/>
          <a:lstStyle/>
          <a:p>
            <a:pPr indent="0" marL="0">
              <a:buNone/>
            </a:pPr>
            <a:r>
              <a:rPr lang="en-US" sz="1050" i="1" dirty="0">
                <a:solidFill>
                  <a:srgbClr val="5B4BE8"/>
                </a:solidFill>
                <a:latin typeface="Calibri" pitchFamily="34" charset="0"/>
                <a:ea typeface="Calibri" pitchFamily="34" charset="-122"/>
                <a:cs typeface="Calibri" pitchFamily="34" charset="-120"/>
              </a:rPr>
              <a:t>the loop you wrote in module 03</a:t>
            </a:r>
            <a:endParaRPr lang="en-US" sz="1050" dirty="0"/>
          </a:p>
        </p:txBody>
      </p:sp>
      <p:sp>
        <p:nvSpPr>
          <p:cNvPr id="9" name="Text 6"/>
          <p:cNvSpPr/>
          <p:nvPr/>
        </p:nvSpPr>
        <p:spPr>
          <a:xfrm>
            <a:off x="822960" y="2578608"/>
            <a:ext cx="4879696" cy="219456"/>
          </a:xfrm>
          <a:prstGeom prst="rect">
            <a:avLst/>
          </a:prstGeom>
          <a:noFill/>
          <a:ln/>
        </p:spPr>
        <p:txBody>
          <a:bodyPr wrap="square" lIns="0" tIns="0" rIns="0" bIns="0" rtlCol="0" anchor="ctr"/>
          <a:lstStyle/>
          <a:p>
            <a:pPr indent="0" marL="0">
              <a:buNone/>
            </a:pPr>
            <a:r>
              <a:rPr lang="en-US" sz="900" b="1" spc="150" kern="0" dirty="0">
                <a:solidFill>
                  <a:srgbClr val="0E9F6E"/>
                </a:solidFill>
                <a:latin typeface="Calibri" pitchFamily="34" charset="0"/>
                <a:ea typeface="Calibri" pitchFamily="34" charset="-122"/>
                <a:cs typeface="Calibri" pitchFamily="34" charset="-120"/>
              </a:rPr>
              <a:t>WHAT YOU GET</a:t>
            </a:r>
            <a:endParaRPr lang="en-US" sz="900" dirty="0"/>
          </a:p>
        </p:txBody>
      </p:sp>
      <p:sp>
        <p:nvSpPr>
          <p:cNvPr id="10" name="Text 7"/>
          <p:cNvSpPr/>
          <p:nvPr/>
        </p:nvSpPr>
        <p:spPr>
          <a:xfrm>
            <a:off x="859536" y="2798064"/>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You can read every line, so you can debug it at 2am</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 version churn, no breaking release notes</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Nothing between you and the provider's API</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Trivial to review — it is thirty lines of Python</a:t>
            </a:r>
            <a:endParaRPr lang="en-US" sz="1050" dirty="0"/>
          </a:p>
        </p:txBody>
      </p:sp>
      <p:sp>
        <p:nvSpPr>
          <p:cNvPr id="11" name="Text 8"/>
          <p:cNvSpPr/>
          <p:nvPr/>
        </p:nvSpPr>
        <p:spPr>
          <a:xfrm>
            <a:off x="822960" y="3785616"/>
            <a:ext cx="4879696" cy="219456"/>
          </a:xfrm>
          <a:prstGeom prst="rect">
            <a:avLst/>
          </a:prstGeom>
          <a:noFill/>
          <a:ln/>
        </p:spPr>
        <p:txBody>
          <a:bodyPr wrap="square" lIns="0" tIns="0" rIns="0" bIns="0" rtlCol="0" anchor="ctr"/>
          <a:lstStyle/>
          <a:p>
            <a:pPr indent="0" marL="0">
              <a:buNone/>
            </a:pPr>
            <a:r>
              <a:rPr lang="en-US" sz="900" b="1" spc="150" kern="0" dirty="0">
                <a:solidFill>
                  <a:srgbClr val="D93A3F"/>
                </a:solidFill>
                <a:latin typeface="Calibri" pitchFamily="34" charset="0"/>
                <a:ea typeface="Calibri" pitchFamily="34" charset="-122"/>
                <a:cs typeface="Calibri" pitchFamily="34" charset="-120"/>
              </a:rPr>
              <a:t>WHAT IT COSTS</a:t>
            </a:r>
            <a:endParaRPr lang="en-US" sz="900" dirty="0"/>
          </a:p>
        </p:txBody>
      </p:sp>
      <p:sp>
        <p:nvSpPr>
          <p:cNvPr id="12" name="Text 9"/>
          <p:cNvSpPr/>
          <p:nvPr/>
        </p:nvSpPr>
        <p:spPr>
          <a:xfrm>
            <a:off x="859536" y="4005072"/>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You write state, retries and dispatch yourself</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 checkpointing or resumability unless you build it</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 ecosystem of ready-made integrations</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Every team reinvents the same helpers</a:t>
            </a:r>
            <a:endParaRPr lang="en-US" sz="1050" dirty="0"/>
          </a:p>
        </p:txBody>
      </p:sp>
      <p:sp>
        <p:nvSpPr>
          <p:cNvPr id="13" name="Shape 10"/>
          <p:cNvSpPr/>
          <p:nvPr/>
        </p:nvSpPr>
        <p:spPr>
          <a:xfrm>
            <a:off x="786384" y="4992624"/>
            <a:ext cx="4952848" cy="621792"/>
          </a:xfrm>
          <a:prstGeom prst="roundRect">
            <a:avLst>
              <a:gd name="adj" fmla="val 10294"/>
            </a:avLst>
          </a:prstGeom>
          <a:solidFill>
            <a:srgbClr val="EEEDFE"/>
          </a:solidFill>
          <a:ln w="12700">
            <a:solidFill>
              <a:srgbClr val="8E82F5"/>
            </a:solidFill>
            <a:prstDash val="solid"/>
          </a:ln>
        </p:spPr>
      </p:sp>
      <p:sp>
        <p:nvSpPr>
          <p:cNvPr id="14" name="Text 11"/>
          <p:cNvSpPr/>
          <p:nvPr/>
        </p:nvSpPr>
        <p:spPr>
          <a:xfrm>
            <a:off x="896112" y="4992624"/>
            <a:ext cx="4733392" cy="621792"/>
          </a:xfrm>
          <a:prstGeom prst="rect">
            <a:avLst/>
          </a:prstGeom>
          <a:noFill/>
          <a:ln/>
        </p:spPr>
        <p:txBody>
          <a:bodyPr wrap="square" lIns="0" tIns="0" rIns="0" bIns="0" rtlCol="0" anchor="ctr"/>
          <a:lstStyle/>
          <a:p>
            <a:pPr indent="0" marL="0">
              <a:lnSpc>
                <a:spcPct val="108000"/>
              </a:lnSpc>
              <a:buNone/>
            </a:pPr>
            <a:r>
              <a:rPr lang="en-US" sz="1050" b="1" dirty="0">
                <a:solidFill>
                  <a:srgbClr val="5B4BE8"/>
                </a:solidFill>
                <a:latin typeface="Calibri" pitchFamily="34" charset="0"/>
                <a:ea typeface="Calibri" pitchFamily="34" charset="-122"/>
                <a:cs typeface="Calibri" pitchFamily="34" charset="-120"/>
              </a:rPr>
              <a:t>Reach for it when:  </a:t>
            </a:r>
            <a:pPr indent="0" marL="0">
              <a:lnSpc>
                <a:spcPct val="108000"/>
              </a:lnSpc>
              <a:buNone/>
            </a:pPr>
            <a:r>
              <a:rPr lang="en-US" sz="1050" dirty="0">
                <a:solidFill>
                  <a:srgbClr val="3B3760"/>
                </a:solidFill>
                <a:latin typeface="Calibri" pitchFamily="34" charset="0"/>
                <a:ea typeface="Calibri" pitchFamily="34" charset="-122"/>
                <a:cs typeface="Calibri" pitchFamily="34" charset="-120"/>
              </a:rPr>
              <a:t>One or two agents, a small tool set, a team that will own it long-term. Also: any time you are still learning what the problem is.</a:t>
            </a:r>
            <a:endParaRPr lang="en-US" sz="1050" dirty="0"/>
          </a:p>
        </p:txBody>
      </p:sp>
      <p:sp>
        <p:nvSpPr>
          <p:cNvPr id="15" name="Shape 12"/>
          <p:cNvSpPr/>
          <p:nvPr/>
        </p:nvSpPr>
        <p:spPr>
          <a:xfrm>
            <a:off x="6233008" y="1810512"/>
            <a:ext cx="5391760" cy="3950208"/>
          </a:xfrm>
          <a:prstGeom prst="roundRect">
            <a:avLst>
              <a:gd name="adj" fmla="val 2315"/>
            </a:avLst>
          </a:prstGeom>
          <a:solidFill>
            <a:srgbClr val="FFFFFF"/>
          </a:solidFill>
          <a:ln w="17780">
            <a:solidFill>
              <a:srgbClr val="F0D5A6"/>
            </a:solidFill>
            <a:prstDash val="solid"/>
          </a:ln>
          <a:effectLst>
            <a:outerShdw sx="100000" sy="100000" kx="0" ky="0" algn="bl" rotWithShape="0" blurRad="114300" dist="572" dir="5400000">
              <a:srgbClr val="1B1A4A">
                <a:alpha val="7000"/>
              </a:srgbClr>
            </a:outerShdw>
          </a:effectLst>
        </p:spPr>
      </p:sp>
      <p:sp>
        <p:nvSpPr>
          <p:cNvPr id="16" name="Shape 13"/>
          <p:cNvSpPr/>
          <p:nvPr/>
        </p:nvSpPr>
        <p:spPr>
          <a:xfrm>
            <a:off x="6489040" y="1975104"/>
            <a:ext cx="402336" cy="402336"/>
          </a:xfrm>
          <a:prstGeom prst="ellipse">
            <a:avLst/>
          </a:prstGeom>
          <a:solidFill>
            <a:srgbClr val="E08700"/>
          </a:solidFill>
          <a:ln w="12700">
            <a:solidFill>
              <a:srgbClr val="E08700"/>
            </a:solidFill>
            <a:prstDash val="solid"/>
          </a:ln>
        </p:spPr>
      </p:sp>
      <p:pic>
        <p:nvPicPr>
          <p:cNvPr id="17" name="Image 1" descr="preencoded.png">    </p:cNvPr>
          <p:cNvPicPr>
            <a:picLocks noChangeAspect="1"/>
          </p:cNvPicPr>
          <p:nvPr/>
        </p:nvPicPr>
        <p:blipFill>
          <a:blip r:embed="rId2"/>
          <a:stretch>
            <a:fillRect/>
          </a:stretch>
        </p:blipFill>
        <p:spPr>
          <a:xfrm>
            <a:off x="6589624" y="2075688"/>
            <a:ext cx="201168" cy="201168"/>
          </a:xfrm>
          <a:prstGeom prst="rect">
            <a:avLst/>
          </a:prstGeom>
        </p:spPr>
      </p:pic>
      <p:sp>
        <p:nvSpPr>
          <p:cNvPr id="18" name="Text 14"/>
          <p:cNvSpPr/>
          <p:nvPr/>
        </p:nvSpPr>
        <p:spPr>
          <a:xfrm>
            <a:off x="7019392" y="1975104"/>
            <a:ext cx="4385920" cy="274320"/>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A framework</a:t>
            </a:r>
            <a:endParaRPr lang="en-US" sz="1700" dirty="0"/>
          </a:p>
        </p:txBody>
      </p:sp>
      <p:sp>
        <p:nvSpPr>
          <p:cNvPr id="19" name="Text 15"/>
          <p:cNvSpPr/>
          <p:nvPr/>
        </p:nvSpPr>
        <p:spPr>
          <a:xfrm>
            <a:off x="7019392" y="2249424"/>
            <a:ext cx="4385920" cy="237744"/>
          </a:xfrm>
          <a:prstGeom prst="rect">
            <a:avLst/>
          </a:prstGeom>
          <a:noFill/>
          <a:ln/>
        </p:spPr>
        <p:txBody>
          <a:bodyPr wrap="square" lIns="0" tIns="0" rIns="0" bIns="0" rtlCol="0" anchor="ctr"/>
          <a:lstStyle/>
          <a:p>
            <a:pPr indent="0" marL="0">
              <a:buNone/>
            </a:pPr>
            <a:r>
              <a:rPr lang="en-US" sz="1050" i="1" dirty="0">
                <a:solidFill>
                  <a:srgbClr val="E08700"/>
                </a:solidFill>
                <a:latin typeface="Calibri" pitchFamily="34" charset="0"/>
                <a:ea typeface="Calibri" pitchFamily="34" charset="-122"/>
                <a:cs typeface="Calibri" pitchFamily="34" charset="-120"/>
              </a:rPr>
              <a:t>tiers 1 to 3</a:t>
            </a:r>
            <a:endParaRPr lang="en-US" sz="1050" dirty="0"/>
          </a:p>
        </p:txBody>
      </p:sp>
      <p:sp>
        <p:nvSpPr>
          <p:cNvPr id="20" name="Text 16"/>
          <p:cNvSpPr/>
          <p:nvPr/>
        </p:nvSpPr>
        <p:spPr>
          <a:xfrm>
            <a:off x="6489040" y="2578608"/>
            <a:ext cx="4879696" cy="219456"/>
          </a:xfrm>
          <a:prstGeom prst="rect">
            <a:avLst/>
          </a:prstGeom>
          <a:noFill/>
          <a:ln/>
        </p:spPr>
        <p:txBody>
          <a:bodyPr wrap="square" lIns="0" tIns="0" rIns="0" bIns="0" rtlCol="0" anchor="ctr"/>
          <a:lstStyle/>
          <a:p>
            <a:pPr indent="0" marL="0">
              <a:buNone/>
            </a:pPr>
            <a:r>
              <a:rPr lang="en-US" sz="900" b="1" spc="150" kern="0" dirty="0">
                <a:solidFill>
                  <a:srgbClr val="0E9F6E"/>
                </a:solidFill>
                <a:latin typeface="Calibri" pitchFamily="34" charset="0"/>
                <a:ea typeface="Calibri" pitchFamily="34" charset="-122"/>
                <a:cs typeface="Calibri" pitchFamily="34" charset="-120"/>
              </a:rPr>
              <a:t>WHAT YOU GET</a:t>
            </a:r>
            <a:endParaRPr lang="en-US" sz="900" dirty="0"/>
          </a:p>
        </p:txBody>
      </p:sp>
      <p:sp>
        <p:nvSpPr>
          <p:cNvPr id="21" name="Text 17"/>
          <p:cNvSpPr/>
          <p:nvPr/>
        </p:nvSpPr>
        <p:spPr>
          <a:xfrm>
            <a:off x="6525616" y="2798064"/>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Checkpointing, resumability, streaming, tracing — free</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Human-in-the-loop pauses are already solved</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Shared vocabulary when someone new joins</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Integrations and patterns you do not have to write</a:t>
            </a:r>
            <a:endParaRPr lang="en-US" sz="1050" dirty="0"/>
          </a:p>
        </p:txBody>
      </p:sp>
      <p:sp>
        <p:nvSpPr>
          <p:cNvPr id="22" name="Text 18"/>
          <p:cNvSpPr/>
          <p:nvPr/>
        </p:nvSpPr>
        <p:spPr>
          <a:xfrm>
            <a:off x="6489040" y="3785616"/>
            <a:ext cx="4879696" cy="219456"/>
          </a:xfrm>
          <a:prstGeom prst="rect">
            <a:avLst/>
          </a:prstGeom>
          <a:noFill/>
          <a:ln/>
        </p:spPr>
        <p:txBody>
          <a:bodyPr wrap="square" lIns="0" tIns="0" rIns="0" bIns="0" rtlCol="0" anchor="ctr"/>
          <a:lstStyle/>
          <a:p>
            <a:pPr indent="0" marL="0">
              <a:buNone/>
            </a:pPr>
            <a:r>
              <a:rPr lang="en-US" sz="900" b="1" spc="150" kern="0" dirty="0">
                <a:solidFill>
                  <a:srgbClr val="D93A3F"/>
                </a:solidFill>
                <a:latin typeface="Calibri" pitchFamily="34" charset="0"/>
                <a:ea typeface="Calibri" pitchFamily="34" charset="-122"/>
                <a:cs typeface="Calibri" pitchFamily="34" charset="-120"/>
              </a:rPr>
              <a:t>WHAT IT COSTS</a:t>
            </a:r>
            <a:endParaRPr lang="en-US" sz="900" dirty="0"/>
          </a:p>
        </p:txBody>
      </p:sp>
      <p:sp>
        <p:nvSpPr>
          <p:cNvPr id="23" name="Text 19"/>
          <p:cNvSpPr/>
          <p:nvPr/>
        </p:nvSpPr>
        <p:spPr>
          <a:xfrm>
            <a:off x="6525616" y="4005072"/>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An abstraction to learn on top of the concept</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Breaking changes on somebody else's schedule</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Failures happen inside code you did not write</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Easy to adopt tier 3 for a tier 1 problem</a:t>
            </a:r>
            <a:endParaRPr lang="en-US" sz="1050" dirty="0"/>
          </a:p>
        </p:txBody>
      </p:sp>
      <p:sp>
        <p:nvSpPr>
          <p:cNvPr id="24" name="Shape 20"/>
          <p:cNvSpPr/>
          <p:nvPr/>
        </p:nvSpPr>
        <p:spPr>
          <a:xfrm>
            <a:off x="6452464" y="4992624"/>
            <a:ext cx="4952848" cy="621792"/>
          </a:xfrm>
          <a:prstGeom prst="roundRect">
            <a:avLst>
              <a:gd name="adj" fmla="val 10294"/>
            </a:avLst>
          </a:prstGeom>
          <a:solidFill>
            <a:srgbClr val="FFF4E0"/>
          </a:solidFill>
          <a:ln w="12700">
            <a:solidFill>
              <a:srgbClr val="F0D5A6"/>
            </a:solidFill>
            <a:prstDash val="solid"/>
          </a:ln>
        </p:spPr>
      </p:sp>
      <p:sp>
        <p:nvSpPr>
          <p:cNvPr id="25" name="Text 21"/>
          <p:cNvSpPr/>
          <p:nvPr/>
        </p:nvSpPr>
        <p:spPr>
          <a:xfrm>
            <a:off x="6562192" y="4992624"/>
            <a:ext cx="4733392" cy="621792"/>
          </a:xfrm>
          <a:prstGeom prst="rect">
            <a:avLst/>
          </a:prstGeom>
          <a:noFill/>
          <a:ln/>
        </p:spPr>
        <p:txBody>
          <a:bodyPr wrap="square" lIns="0" tIns="0" rIns="0" bIns="0" rtlCol="0" anchor="ctr"/>
          <a:lstStyle/>
          <a:p>
            <a:pPr indent="0" marL="0">
              <a:lnSpc>
                <a:spcPct val="108000"/>
              </a:lnSpc>
              <a:buNone/>
            </a:pPr>
            <a:r>
              <a:rPr lang="en-US" sz="1050" b="1" dirty="0">
                <a:solidFill>
                  <a:srgbClr val="E08700"/>
                </a:solidFill>
                <a:latin typeface="Calibri" pitchFamily="34" charset="0"/>
                <a:ea typeface="Calibri" pitchFamily="34" charset="-122"/>
                <a:cs typeface="Calibri" pitchFamily="34" charset="-120"/>
              </a:rPr>
              <a:t>Reach for it when:  </a:t>
            </a:r>
            <a:pPr indent="0" marL="0">
              <a:lnSpc>
                <a:spcPct val="108000"/>
              </a:lnSpc>
              <a:buNone/>
            </a:pPr>
            <a:r>
              <a:rPr lang="en-US" sz="1050" dirty="0">
                <a:solidFill>
                  <a:srgbClr val="3B3760"/>
                </a:solidFill>
                <a:latin typeface="Calibri" pitchFamily="34" charset="0"/>
                <a:ea typeface="Calibri" pitchFamily="34" charset="-122"/>
                <a:cs typeface="Calibri" pitchFamily="34" charset="-120"/>
              </a:rPr>
              <a:t>Long-running work, approval gates, many tools, several people maintaining it, or anything that must survive a restart.</a:t>
            </a:r>
            <a:endParaRPr lang="en-US" sz="1050" dirty="0"/>
          </a:p>
        </p:txBody>
      </p:sp>
      <p:sp>
        <p:nvSpPr>
          <p:cNvPr id="26" name="Shape 22"/>
          <p:cNvSpPr/>
          <p:nvPr/>
        </p:nvSpPr>
        <p:spPr>
          <a:xfrm>
            <a:off x="566928" y="5870448"/>
            <a:ext cx="11057839" cy="658368"/>
          </a:xfrm>
          <a:prstGeom prst="roundRect">
            <a:avLst>
              <a:gd name="adj" fmla="val 12500"/>
            </a:avLst>
          </a:prstGeom>
          <a:solidFill>
            <a:srgbClr val="FFF4E0"/>
          </a:solidFill>
          <a:ln w="12700">
            <a:solidFill>
              <a:srgbClr val="F3DCB0"/>
            </a:solidFill>
            <a:prstDash val="solid"/>
          </a:ln>
        </p:spPr>
      </p:sp>
      <p:sp>
        <p:nvSpPr>
          <p:cNvPr id="27" name="Shape 23"/>
          <p:cNvSpPr/>
          <p:nvPr/>
        </p:nvSpPr>
        <p:spPr>
          <a:xfrm>
            <a:off x="841248" y="6007608"/>
            <a:ext cx="384048" cy="384048"/>
          </a:xfrm>
          <a:prstGeom prst="ellipse">
            <a:avLst/>
          </a:prstGeom>
          <a:solidFill>
            <a:srgbClr val="F5A524"/>
          </a:solidFill>
          <a:ln w="12700">
            <a:solidFill>
              <a:srgbClr val="F5A524"/>
            </a:solidFill>
            <a:prstDash val="solid"/>
          </a:ln>
        </p:spPr>
      </p:sp>
      <p:pic>
        <p:nvPicPr>
          <p:cNvPr id="28" name="Image 2" descr="preencoded.png">    </p:cNvPr>
          <p:cNvPicPr>
            <a:picLocks noChangeAspect="1"/>
          </p:cNvPicPr>
          <p:nvPr/>
        </p:nvPicPr>
        <p:blipFill>
          <a:blip r:embed="rId3"/>
          <a:stretch>
            <a:fillRect/>
          </a:stretch>
        </p:blipFill>
        <p:spPr>
          <a:xfrm>
            <a:off x="937260" y="6103620"/>
            <a:ext cx="192024" cy="192024"/>
          </a:xfrm>
          <a:prstGeom prst="rect">
            <a:avLst/>
          </a:prstGeom>
        </p:spPr>
      </p:pic>
      <p:sp>
        <p:nvSpPr>
          <p:cNvPr id="29" name="Text 24"/>
          <p:cNvSpPr/>
          <p:nvPr/>
        </p:nvSpPr>
        <p:spPr>
          <a:xfrm>
            <a:off x="1371600" y="5925312"/>
            <a:ext cx="9960559" cy="548640"/>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Write it yourself first. You will then know exactly which of the framework's features you actually needed — and you will be able to tell when it is lying to you.</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08 · AGENTS SDK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Same task, same tools, five levels of control</a:t>
            </a:r>
            <a:endParaRPr lang="en-US" sz="3000" dirty="0"/>
          </a:p>
        </p:txBody>
      </p:sp>
      <p:sp>
        <p:nvSpPr>
          <p:cNvPr id="4" name="Text 2"/>
          <p:cNvSpPr/>
          <p:nvPr/>
        </p:nvSpPr>
        <p:spPr>
          <a:xfrm>
            <a:off x="768096" y="1828800"/>
            <a:ext cx="146304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TIER</a:t>
            </a:r>
            <a:endParaRPr lang="en-US" sz="950" dirty="0"/>
          </a:p>
        </p:txBody>
      </p:sp>
      <p:sp>
        <p:nvSpPr>
          <p:cNvPr id="5" name="Text 3"/>
          <p:cNvSpPr/>
          <p:nvPr/>
        </p:nvSpPr>
        <p:spPr>
          <a:xfrm>
            <a:off x="2505456" y="1828800"/>
            <a:ext cx="219456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WHAT IT IS</a:t>
            </a:r>
            <a:endParaRPr lang="en-US" sz="950" dirty="0"/>
          </a:p>
        </p:txBody>
      </p:sp>
      <p:sp>
        <p:nvSpPr>
          <p:cNvPr id="6" name="Text 4"/>
          <p:cNvSpPr/>
          <p:nvPr/>
        </p:nvSpPr>
        <p:spPr>
          <a:xfrm>
            <a:off x="4974336" y="1828800"/>
            <a:ext cx="237744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YOU WRITE</a:t>
            </a:r>
            <a:endParaRPr lang="en-US" sz="950" dirty="0"/>
          </a:p>
        </p:txBody>
      </p:sp>
      <p:sp>
        <p:nvSpPr>
          <p:cNvPr id="7" name="Text 5"/>
          <p:cNvSpPr/>
          <p:nvPr/>
        </p:nvSpPr>
        <p:spPr>
          <a:xfrm>
            <a:off x="7626096" y="1828800"/>
            <a:ext cx="219456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YOU GIVE UP</a:t>
            </a:r>
            <a:endParaRPr lang="en-US" sz="950" dirty="0"/>
          </a:p>
        </p:txBody>
      </p:sp>
      <p:sp>
        <p:nvSpPr>
          <p:cNvPr id="8" name="Text 6"/>
          <p:cNvSpPr/>
          <p:nvPr/>
        </p:nvSpPr>
        <p:spPr>
          <a:xfrm>
            <a:off x="10094976" y="1828800"/>
            <a:ext cx="146304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PORTABLE?</a:t>
            </a:r>
            <a:endParaRPr lang="en-US" sz="950" dirty="0"/>
          </a:p>
        </p:txBody>
      </p:sp>
      <p:sp>
        <p:nvSpPr>
          <p:cNvPr id="9" name="Shape 7"/>
          <p:cNvSpPr/>
          <p:nvPr/>
        </p:nvSpPr>
        <p:spPr>
          <a:xfrm>
            <a:off x="566928" y="2157984"/>
            <a:ext cx="11057839" cy="585216"/>
          </a:xfrm>
          <a:prstGeom prst="roundRect">
            <a:avLst>
              <a:gd name="adj" fmla="val 10938"/>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10" name="Text 8"/>
          <p:cNvSpPr/>
          <p:nvPr/>
        </p:nvSpPr>
        <p:spPr>
          <a:xfrm>
            <a:off x="768096" y="2157984"/>
            <a:ext cx="1463040" cy="585216"/>
          </a:xfrm>
          <a:prstGeom prst="rect">
            <a:avLst/>
          </a:prstGeom>
          <a:noFill/>
          <a:ln/>
        </p:spPr>
        <p:txBody>
          <a:bodyPr wrap="square" lIns="0" tIns="0" rIns="0" bIns="0" rtlCol="0" anchor="ctr"/>
          <a:lstStyle/>
          <a:p>
            <a:pPr indent="0" marL="0">
              <a:buNone/>
            </a:pPr>
            <a:r>
              <a:rPr lang="en-US" sz="1200" b="1" dirty="0">
                <a:solidFill>
                  <a:srgbClr val="5B4BE8"/>
                </a:solidFill>
                <a:latin typeface="Calibri" pitchFamily="34" charset="0"/>
                <a:ea typeface="Calibri" pitchFamily="34" charset="-122"/>
                <a:cs typeface="Calibri" pitchFamily="34" charset="-120"/>
              </a:rPr>
              <a:t>0 · No framework</a:t>
            </a:r>
            <a:endParaRPr lang="en-US" sz="1200" dirty="0"/>
          </a:p>
        </p:txBody>
      </p:sp>
      <p:sp>
        <p:nvSpPr>
          <p:cNvPr id="11" name="Text 9"/>
          <p:cNvSpPr/>
          <p:nvPr/>
        </p:nvSpPr>
        <p:spPr>
          <a:xfrm>
            <a:off x="2505456" y="2157984"/>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Your own loop</a:t>
            </a:r>
            <a:endParaRPr lang="en-US" sz="1150" dirty="0"/>
          </a:p>
        </p:txBody>
      </p:sp>
      <p:sp>
        <p:nvSpPr>
          <p:cNvPr id="12" name="Text 10"/>
          <p:cNvSpPr/>
          <p:nvPr/>
        </p:nvSpPr>
        <p:spPr>
          <a:xfrm>
            <a:off x="4974336" y="2157984"/>
            <a:ext cx="237744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State, retries, dispatch</a:t>
            </a:r>
            <a:endParaRPr lang="en-US" sz="1150" dirty="0"/>
          </a:p>
        </p:txBody>
      </p:sp>
      <p:sp>
        <p:nvSpPr>
          <p:cNvPr id="13" name="Text 11"/>
          <p:cNvSpPr/>
          <p:nvPr/>
        </p:nvSpPr>
        <p:spPr>
          <a:xfrm>
            <a:off x="7626096" y="2157984"/>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Nothing — you own every failure</a:t>
            </a:r>
            <a:endParaRPr lang="en-US" sz="1150" dirty="0"/>
          </a:p>
        </p:txBody>
      </p:sp>
      <p:sp>
        <p:nvSpPr>
          <p:cNvPr id="14" name="Text 12"/>
          <p:cNvSpPr/>
          <p:nvPr/>
        </p:nvSpPr>
        <p:spPr>
          <a:xfrm>
            <a:off x="10094976" y="2157984"/>
            <a:ext cx="1463040" cy="585216"/>
          </a:xfrm>
          <a:prstGeom prst="rect">
            <a:avLst/>
          </a:prstGeom>
          <a:noFill/>
          <a:ln/>
        </p:spPr>
        <p:txBody>
          <a:bodyPr wrap="square" lIns="0" tIns="0" rIns="0" bIns="0" rtlCol="0" anchor="ctr"/>
          <a:lstStyle/>
          <a:p>
            <a:pPr indent="0" marL="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15" name="Shape 13"/>
          <p:cNvSpPr/>
          <p:nvPr/>
        </p:nvSpPr>
        <p:spPr>
          <a:xfrm>
            <a:off x="566928" y="2816352"/>
            <a:ext cx="11057839" cy="585216"/>
          </a:xfrm>
          <a:prstGeom prst="roundRect">
            <a:avLst>
              <a:gd name="adj" fmla="val 10938"/>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16" name="Text 14"/>
          <p:cNvSpPr/>
          <p:nvPr/>
        </p:nvSpPr>
        <p:spPr>
          <a:xfrm>
            <a:off x="768096" y="2816352"/>
            <a:ext cx="1463040" cy="585216"/>
          </a:xfrm>
          <a:prstGeom prst="rect">
            <a:avLst/>
          </a:prstGeom>
          <a:noFill/>
          <a:ln/>
        </p:spPr>
        <p:txBody>
          <a:bodyPr wrap="square" lIns="0" tIns="0" rIns="0" bIns="0" rtlCol="0" anchor="ctr"/>
          <a:lstStyle/>
          <a:p>
            <a:pPr indent="0" marL="0">
              <a:buNone/>
            </a:pPr>
            <a:r>
              <a:rPr lang="en-US" sz="1200" b="1" dirty="0">
                <a:solidFill>
                  <a:srgbClr val="5B4BE8"/>
                </a:solidFill>
                <a:latin typeface="Calibri" pitchFamily="34" charset="0"/>
                <a:ea typeface="Calibri" pitchFamily="34" charset="-122"/>
                <a:cs typeface="Calibri" pitchFamily="34" charset="-120"/>
              </a:rPr>
              <a:t>1 · Thin SDK</a:t>
            </a:r>
            <a:endParaRPr lang="en-US" sz="1200" dirty="0"/>
          </a:p>
        </p:txBody>
      </p:sp>
      <p:sp>
        <p:nvSpPr>
          <p:cNvPr id="17" name="Text 15"/>
          <p:cNvSpPr/>
          <p:nvPr/>
        </p:nvSpPr>
        <p:spPr>
          <a:xfrm>
            <a:off x="2505456" y="2816352"/>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The loop, wrapped</a:t>
            </a:r>
            <a:endParaRPr lang="en-US" sz="1150" dirty="0"/>
          </a:p>
        </p:txBody>
      </p:sp>
      <p:sp>
        <p:nvSpPr>
          <p:cNvPr id="18" name="Text 16"/>
          <p:cNvSpPr/>
          <p:nvPr/>
        </p:nvSpPr>
        <p:spPr>
          <a:xfrm>
            <a:off x="4974336" y="2816352"/>
            <a:ext cx="237744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Tools and instructions</a:t>
            </a:r>
            <a:endParaRPr lang="en-US" sz="1150" dirty="0"/>
          </a:p>
        </p:txBody>
      </p:sp>
      <p:sp>
        <p:nvSpPr>
          <p:cNvPr id="19" name="Text 17"/>
          <p:cNvSpPr/>
          <p:nvPr/>
        </p:nvSpPr>
        <p:spPr>
          <a:xfrm>
            <a:off x="7626096" y="2816352"/>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The loop's internals</a:t>
            </a:r>
            <a:endParaRPr lang="en-US" sz="1150" dirty="0"/>
          </a:p>
        </p:txBody>
      </p:sp>
      <p:sp>
        <p:nvSpPr>
          <p:cNvPr id="20" name="Text 18"/>
          <p:cNvSpPr/>
          <p:nvPr/>
        </p:nvSpPr>
        <p:spPr>
          <a:xfrm>
            <a:off x="10094976" y="2816352"/>
            <a:ext cx="1463040" cy="585216"/>
          </a:xfrm>
          <a:prstGeom prst="rect">
            <a:avLst/>
          </a:prstGeom>
          <a:noFill/>
          <a:ln/>
        </p:spPr>
        <p:txBody>
          <a:bodyPr wrap="square" lIns="0" tIns="0" rIns="0" bIns="0" rtlCol="0" anchor="ctr"/>
          <a:lstStyle/>
          <a:p>
            <a:pPr indent="0" marL="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21" name="Shape 19"/>
          <p:cNvSpPr/>
          <p:nvPr/>
        </p:nvSpPr>
        <p:spPr>
          <a:xfrm>
            <a:off x="566928" y="3474720"/>
            <a:ext cx="11057839" cy="585216"/>
          </a:xfrm>
          <a:prstGeom prst="roundRect">
            <a:avLst>
              <a:gd name="adj" fmla="val 10938"/>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22" name="Text 20"/>
          <p:cNvSpPr/>
          <p:nvPr/>
        </p:nvSpPr>
        <p:spPr>
          <a:xfrm>
            <a:off x="768096" y="3474720"/>
            <a:ext cx="1463040" cy="585216"/>
          </a:xfrm>
          <a:prstGeom prst="rect">
            <a:avLst/>
          </a:prstGeom>
          <a:noFill/>
          <a:ln/>
        </p:spPr>
        <p:txBody>
          <a:bodyPr wrap="square" lIns="0" tIns="0" rIns="0" bIns="0" rtlCol="0" anchor="ctr"/>
          <a:lstStyle/>
          <a:p>
            <a:pPr indent="0" marL="0">
              <a:buNone/>
            </a:pPr>
            <a:r>
              <a:rPr lang="en-US" sz="1200" b="1" dirty="0">
                <a:solidFill>
                  <a:srgbClr val="5B4BE8"/>
                </a:solidFill>
                <a:latin typeface="Calibri" pitchFamily="34" charset="0"/>
                <a:ea typeface="Calibri" pitchFamily="34" charset="-122"/>
                <a:cs typeface="Calibri" pitchFamily="34" charset="-120"/>
              </a:rPr>
              <a:t>2 · Graph and state</a:t>
            </a:r>
            <a:endParaRPr lang="en-US" sz="1200" dirty="0"/>
          </a:p>
        </p:txBody>
      </p:sp>
      <p:sp>
        <p:nvSpPr>
          <p:cNvPr id="23" name="Text 21"/>
          <p:cNvSpPr/>
          <p:nvPr/>
        </p:nvSpPr>
        <p:spPr>
          <a:xfrm>
            <a:off x="2505456" y="3474720"/>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Explicit control flow</a:t>
            </a:r>
            <a:endParaRPr lang="en-US" sz="1150" dirty="0"/>
          </a:p>
        </p:txBody>
      </p:sp>
      <p:sp>
        <p:nvSpPr>
          <p:cNvPr id="24" name="Text 22"/>
          <p:cNvSpPr/>
          <p:nvPr/>
        </p:nvSpPr>
        <p:spPr>
          <a:xfrm>
            <a:off x="4974336" y="3474720"/>
            <a:ext cx="237744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Nodes, edges, a state schema</a:t>
            </a:r>
            <a:endParaRPr lang="en-US" sz="1150" dirty="0"/>
          </a:p>
        </p:txBody>
      </p:sp>
      <p:sp>
        <p:nvSpPr>
          <p:cNvPr id="25" name="Text 23"/>
          <p:cNvSpPr/>
          <p:nvPr/>
        </p:nvSpPr>
        <p:spPr>
          <a:xfrm>
            <a:off x="7626096" y="3474720"/>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Simplicity, in exchange for checkpointing</a:t>
            </a:r>
            <a:endParaRPr lang="en-US" sz="1150" dirty="0"/>
          </a:p>
        </p:txBody>
      </p:sp>
      <p:sp>
        <p:nvSpPr>
          <p:cNvPr id="26" name="Text 24"/>
          <p:cNvSpPr/>
          <p:nvPr/>
        </p:nvSpPr>
        <p:spPr>
          <a:xfrm>
            <a:off x="10094976" y="3474720"/>
            <a:ext cx="1463040" cy="585216"/>
          </a:xfrm>
          <a:prstGeom prst="rect">
            <a:avLst/>
          </a:prstGeom>
          <a:noFill/>
          <a:ln/>
        </p:spPr>
        <p:txBody>
          <a:bodyPr wrap="square" lIns="0" tIns="0" rIns="0" bIns="0" rtlCol="0" anchor="ctr"/>
          <a:lstStyle/>
          <a:p>
            <a:pPr indent="0" marL="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27" name="Shape 25"/>
          <p:cNvSpPr/>
          <p:nvPr/>
        </p:nvSpPr>
        <p:spPr>
          <a:xfrm>
            <a:off x="566928" y="4133088"/>
            <a:ext cx="11057839" cy="585216"/>
          </a:xfrm>
          <a:prstGeom prst="roundRect">
            <a:avLst>
              <a:gd name="adj" fmla="val 10938"/>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28" name="Text 26"/>
          <p:cNvSpPr/>
          <p:nvPr/>
        </p:nvSpPr>
        <p:spPr>
          <a:xfrm>
            <a:off x="768096" y="4133088"/>
            <a:ext cx="1463040" cy="585216"/>
          </a:xfrm>
          <a:prstGeom prst="rect">
            <a:avLst/>
          </a:prstGeom>
          <a:noFill/>
          <a:ln/>
        </p:spPr>
        <p:txBody>
          <a:bodyPr wrap="square" lIns="0" tIns="0" rIns="0" bIns="0" rtlCol="0" anchor="ctr"/>
          <a:lstStyle/>
          <a:p>
            <a:pPr indent="0" marL="0">
              <a:buNone/>
            </a:pPr>
            <a:r>
              <a:rPr lang="en-US" sz="1200" b="1" dirty="0">
                <a:solidFill>
                  <a:srgbClr val="5B4BE8"/>
                </a:solidFill>
                <a:latin typeface="Calibri" pitchFamily="34" charset="0"/>
                <a:ea typeface="Calibri" pitchFamily="34" charset="-122"/>
                <a:cs typeface="Calibri" pitchFamily="34" charset="-120"/>
              </a:rPr>
              <a:t>3 · Roles and teams</a:t>
            </a:r>
            <a:endParaRPr lang="en-US" sz="1200" dirty="0"/>
          </a:p>
        </p:txBody>
      </p:sp>
      <p:sp>
        <p:nvSpPr>
          <p:cNvPr id="29" name="Text 27"/>
          <p:cNvSpPr/>
          <p:nvPr/>
        </p:nvSpPr>
        <p:spPr>
          <a:xfrm>
            <a:off x="2505456" y="4133088"/>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An org-chart metaphor</a:t>
            </a:r>
            <a:endParaRPr lang="en-US" sz="1150" dirty="0"/>
          </a:p>
        </p:txBody>
      </p:sp>
      <p:sp>
        <p:nvSpPr>
          <p:cNvPr id="30" name="Text 28"/>
          <p:cNvSpPr/>
          <p:nvPr/>
        </p:nvSpPr>
        <p:spPr>
          <a:xfrm>
            <a:off x="4974336" y="4133088"/>
            <a:ext cx="237744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Agent roles, a task graph</a:t>
            </a:r>
            <a:endParaRPr lang="en-US" sz="1150" dirty="0"/>
          </a:p>
        </p:txBody>
      </p:sp>
      <p:sp>
        <p:nvSpPr>
          <p:cNvPr id="31" name="Text 29"/>
          <p:cNvSpPr/>
          <p:nvPr/>
        </p:nvSpPr>
        <p:spPr>
          <a:xfrm>
            <a:off x="7626096" y="4133088"/>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Determinism and debuggability</a:t>
            </a:r>
            <a:endParaRPr lang="en-US" sz="1150" dirty="0"/>
          </a:p>
        </p:txBody>
      </p:sp>
      <p:sp>
        <p:nvSpPr>
          <p:cNvPr id="32" name="Text 30"/>
          <p:cNvSpPr/>
          <p:nvPr/>
        </p:nvSpPr>
        <p:spPr>
          <a:xfrm>
            <a:off x="10094976" y="4133088"/>
            <a:ext cx="1463040" cy="585216"/>
          </a:xfrm>
          <a:prstGeom prst="rect">
            <a:avLst/>
          </a:prstGeom>
          <a:noFill/>
          <a:ln/>
        </p:spPr>
        <p:txBody>
          <a:bodyPr wrap="square" lIns="0" tIns="0" rIns="0" bIns="0" rtlCol="0" anchor="ctr"/>
          <a:lstStyle/>
          <a:p>
            <a:pPr indent="0" marL="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33" name="Shape 31"/>
          <p:cNvSpPr/>
          <p:nvPr/>
        </p:nvSpPr>
        <p:spPr>
          <a:xfrm>
            <a:off x="566928" y="4791456"/>
            <a:ext cx="11057839" cy="585216"/>
          </a:xfrm>
          <a:prstGeom prst="roundRect">
            <a:avLst>
              <a:gd name="adj" fmla="val 10938"/>
            </a:avLst>
          </a:prstGeom>
          <a:solidFill>
            <a:srgbClr val="FFF4E0"/>
          </a:solidFill>
          <a:ln w="12700">
            <a:solidFill>
              <a:srgbClr val="F0D5A6"/>
            </a:solidFill>
            <a:prstDash val="solid"/>
          </a:ln>
          <a:effectLst>
            <a:outerShdw sx="100000" sy="100000" kx="0" ky="0" algn="bl" rotWithShape="0" blurRad="88900" dist="445" dir="5400000">
              <a:srgbClr val="1B1A4A">
                <a:alpha val="6000"/>
              </a:srgbClr>
            </a:outerShdw>
          </a:effectLst>
        </p:spPr>
      </p:sp>
      <p:sp>
        <p:nvSpPr>
          <p:cNvPr id="34" name="Text 32"/>
          <p:cNvSpPr/>
          <p:nvPr/>
        </p:nvSpPr>
        <p:spPr>
          <a:xfrm>
            <a:off x="768096" y="4791456"/>
            <a:ext cx="1463040" cy="585216"/>
          </a:xfrm>
          <a:prstGeom prst="rect">
            <a:avLst/>
          </a:prstGeom>
          <a:noFill/>
          <a:ln/>
        </p:spPr>
        <p:txBody>
          <a:bodyPr wrap="square" lIns="0" tIns="0" rIns="0" bIns="0" rtlCol="0" anchor="ctr"/>
          <a:lstStyle/>
          <a:p>
            <a:pPr indent="0" marL="0">
              <a:buNone/>
            </a:pPr>
            <a:r>
              <a:rPr lang="en-US" sz="1200" b="1" dirty="0">
                <a:solidFill>
                  <a:srgbClr val="E08700"/>
                </a:solidFill>
                <a:latin typeface="Calibri" pitchFamily="34" charset="0"/>
                <a:ea typeface="Calibri" pitchFamily="34" charset="-122"/>
                <a:cs typeface="Calibri" pitchFamily="34" charset="-120"/>
              </a:rPr>
              <a:t>4 · Managed runtime</a:t>
            </a:r>
            <a:endParaRPr lang="en-US" sz="1200" dirty="0"/>
          </a:p>
        </p:txBody>
      </p:sp>
      <p:sp>
        <p:nvSpPr>
          <p:cNvPr id="35" name="Text 33"/>
          <p:cNvSpPr/>
          <p:nvPr/>
        </p:nvSpPr>
        <p:spPr>
          <a:xfrm>
            <a:off x="2505456" y="4791456"/>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You don't run the loop</a:t>
            </a:r>
            <a:endParaRPr lang="en-US" sz="1150" dirty="0"/>
          </a:p>
        </p:txBody>
      </p:sp>
      <p:sp>
        <p:nvSpPr>
          <p:cNvPr id="36" name="Text 34"/>
          <p:cNvSpPr/>
          <p:nvPr/>
        </p:nvSpPr>
        <p:spPr>
          <a:xfrm>
            <a:off x="4974336" y="4791456"/>
            <a:ext cx="237744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Configuration</a:t>
            </a:r>
            <a:endParaRPr lang="en-US" sz="1150" dirty="0"/>
          </a:p>
        </p:txBody>
      </p:sp>
      <p:sp>
        <p:nvSpPr>
          <p:cNvPr id="37" name="Text 35"/>
          <p:cNvSpPr/>
          <p:nvPr/>
        </p:nvSpPr>
        <p:spPr>
          <a:xfrm>
            <a:off x="7626096" y="4791456"/>
            <a:ext cx="2194560" cy="585216"/>
          </a:xfrm>
          <a:prstGeom prst="rect">
            <a:avLst/>
          </a:prstGeom>
          <a:noFill/>
          <a:ln/>
        </p:spPr>
        <p:txBody>
          <a:bodyPr wrap="square" lIns="0" tIns="0" rIns="0" bIns="0" rtlCol="0" anchor="ctr"/>
          <a:lstStyle/>
          <a:p>
            <a:pPr indent="0" marL="0">
              <a:buNone/>
            </a:pPr>
            <a:r>
              <a:rPr lang="en-US" sz="1150" dirty="0">
                <a:solidFill>
                  <a:srgbClr val="141235"/>
                </a:solidFill>
                <a:latin typeface="Calibri" pitchFamily="34" charset="0"/>
                <a:ea typeface="Calibri" pitchFamily="34" charset="-122"/>
                <a:cs typeface="Calibri" pitchFamily="34" charset="-120"/>
              </a:rPr>
              <a:t>Portability</a:t>
            </a:r>
            <a:endParaRPr lang="en-US" sz="1150" dirty="0"/>
          </a:p>
        </p:txBody>
      </p:sp>
      <p:sp>
        <p:nvSpPr>
          <p:cNvPr id="38" name="Text 36"/>
          <p:cNvSpPr/>
          <p:nvPr/>
        </p:nvSpPr>
        <p:spPr>
          <a:xfrm>
            <a:off x="10094976" y="4791456"/>
            <a:ext cx="1463040" cy="585216"/>
          </a:xfrm>
          <a:prstGeom prst="rect">
            <a:avLst/>
          </a:prstGeom>
          <a:noFill/>
          <a:ln/>
        </p:spPr>
        <p:txBody>
          <a:bodyPr wrap="square" lIns="0" tIns="0" rIns="0" bIns="0" rtlCol="0" anchor="ctr"/>
          <a:lstStyle/>
          <a:p>
            <a:pPr indent="0" marL="0">
              <a:buNone/>
            </a:pPr>
            <a:r>
              <a:rPr lang="en-US" sz="1150" b="1" dirty="0">
                <a:solidFill>
                  <a:srgbClr val="D93A3F"/>
                </a:solidFill>
                <a:latin typeface="Calibri" pitchFamily="34" charset="0"/>
                <a:ea typeface="Calibri" pitchFamily="34" charset="-122"/>
                <a:cs typeface="Calibri" pitchFamily="34" charset="-120"/>
              </a:rPr>
              <a:t>No</a:t>
            </a:r>
            <a:endParaRPr lang="en-US" sz="1150" dirty="0"/>
          </a:p>
        </p:txBody>
      </p:sp>
      <p:sp>
        <p:nvSpPr>
          <p:cNvPr id="39" name="Text 37"/>
          <p:cNvSpPr/>
          <p:nvPr/>
        </p:nvSpPr>
        <p:spPr>
          <a:xfrm>
            <a:off x="566928" y="5541264"/>
            <a:ext cx="11057839" cy="310896"/>
          </a:xfrm>
          <a:prstGeom prst="rect">
            <a:avLst/>
          </a:prstGeom>
          <a:noFill/>
          <a:ln/>
        </p:spPr>
        <p:txBody>
          <a:bodyPr wrap="square" lIns="0" tIns="0" rIns="0" bIns="0" rtlCol="0" anchor="ctr"/>
          <a:lstStyle/>
          <a:p>
            <a:pPr indent="0" marL="0">
              <a:buNone/>
            </a:pPr>
            <a:r>
              <a:rPr lang="en-US" sz="1350" i="1" dirty="0">
                <a:solidFill>
                  <a:srgbClr val="3B3760"/>
                </a:solidFill>
                <a:latin typeface="Calibri" pitchFamily="34" charset="0"/>
                <a:ea typeface="Calibri" pitchFamily="34" charset="-122"/>
                <a:cs typeface="Calibri" pitchFamily="34" charset="-120"/>
              </a:rPr>
              <a:t>Every tier up trades control for leverage. MCP and A2A are the two things that survive the entire climb.</a:t>
            </a:r>
            <a:endParaRPr lang="en-US" sz="1350" dirty="0"/>
          </a:p>
        </p:txBody>
      </p:sp>
      <p:sp>
        <p:nvSpPr>
          <p:cNvPr id="40" name="Text 38"/>
          <p:cNvSpPr/>
          <p:nvPr/>
        </p:nvSpPr>
        <p:spPr>
          <a:xfrm>
            <a:off x="566928" y="5925312"/>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Measure the same task at each tier: lines of code, tokens spent, and whether it can pause and resume. Then decide — do not pick from the diagram.</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08 · AGENTS SDK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The same loop, now pointed at a real business</a:t>
            </a:r>
            <a:endParaRPr lang="en-US" sz="3000" dirty="0"/>
          </a:p>
        </p:txBody>
      </p:sp>
      <p:sp>
        <p:nvSpPr>
          <p:cNvPr id="4" name="Shape 2"/>
          <p:cNvSpPr/>
          <p:nvPr/>
        </p:nvSpPr>
        <p:spPr>
          <a:xfrm>
            <a:off x="566928" y="2022104"/>
            <a:ext cx="2586152" cy="2777216"/>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241560"/>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333000"/>
            <a:ext cx="182880" cy="182880"/>
          </a:xfrm>
          <a:prstGeom prst="rect">
            <a:avLst/>
          </a:prstGeom>
        </p:spPr>
      </p:pic>
      <p:sp>
        <p:nvSpPr>
          <p:cNvPr id="7" name="Text 4"/>
          <p:cNvSpPr/>
          <p:nvPr/>
        </p:nvSpPr>
        <p:spPr>
          <a:xfrm>
            <a:off x="1298448" y="2232416"/>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TOOL 1</a:t>
            </a:r>
            <a:endParaRPr lang="en-US" sz="850" dirty="0"/>
          </a:p>
        </p:txBody>
      </p:sp>
      <p:sp>
        <p:nvSpPr>
          <p:cNvPr id="8" name="Text 5"/>
          <p:cNvSpPr/>
          <p:nvPr/>
        </p:nvSpPr>
        <p:spPr>
          <a:xfrm>
            <a:off x="1298448" y="2451872"/>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Look a customer up</a:t>
            </a:r>
            <a:endParaRPr lang="en-US" sz="1450" dirty="0"/>
          </a:p>
        </p:txBody>
      </p:sp>
      <p:sp>
        <p:nvSpPr>
          <p:cNvPr id="9" name="Text 6"/>
          <p:cNvSpPr/>
          <p:nvPr/>
        </p:nvSpPr>
        <p:spPr>
          <a:xfrm>
            <a:off x="1298448" y="3083174"/>
            <a:ext cx="1616888" cy="1533266"/>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By name or email. Returns one record, or an honest nothing — which the agent must handle rather than invent around.</a:t>
            </a:r>
            <a:endParaRPr lang="en-US" sz="1100" dirty="0"/>
          </a:p>
        </p:txBody>
      </p:sp>
      <p:sp>
        <p:nvSpPr>
          <p:cNvPr id="10" name="Shape 7"/>
          <p:cNvSpPr/>
          <p:nvPr/>
        </p:nvSpPr>
        <p:spPr>
          <a:xfrm>
            <a:off x="3390824" y="2022104"/>
            <a:ext cx="2586152" cy="2777216"/>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3628568" y="2241560"/>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3720008" y="2333000"/>
            <a:ext cx="182880" cy="182880"/>
          </a:xfrm>
          <a:prstGeom prst="rect">
            <a:avLst/>
          </a:prstGeom>
        </p:spPr>
      </p:pic>
      <p:sp>
        <p:nvSpPr>
          <p:cNvPr id="13" name="Text 9"/>
          <p:cNvSpPr/>
          <p:nvPr/>
        </p:nvSpPr>
        <p:spPr>
          <a:xfrm>
            <a:off x="4122344" y="2232416"/>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TOOL 2</a:t>
            </a:r>
            <a:endParaRPr lang="en-US" sz="850" dirty="0"/>
          </a:p>
        </p:txBody>
      </p:sp>
      <p:sp>
        <p:nvSpPr>
          <p:cNvPr id="14" name="Text 10"/>
          <p:cNvSpPr/>
          <p:nvPr/>
        </p:nvSpPr>
        <p:spPr>
          <a:xfrm>
            <a:off x="4122344" y="2451872"/>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Read their invoices</a:t>
            </a:r>
            <a:endParaRPr lang="en-US" sz="1450" dirty="0"/>
          </a:p>
        </p:txBody>
      </p:sp>
      <p:sp>
        <p:nvSpPr>
          <p:cNvPr id="15" name="Text 11"/>
          <p:cNvSpPr/>
          <p:nvPr/>
        </p:nvSpPr>
        <p:spPr>
          <a:xfrm>
            <a:off x="4122344" y="3083174"/>
            <a:ext cx="1616888" cy="1533266"/>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Scoped to that customer. A tool that could read anyone's invoices is a different risk conversation entirely.</a:t>
            </a:r>
            <a:endParaRPr lang="en-US" sz="1100" dirty="0"/>
          </a:p>
        </p:txBody>
      </p:sp>
      <p:sp>
        <p:nvSpPr>
          <p:cNvPr id="16" name="Shape 12"/>
          <p:cNvSpPr/>
          <p:nvPr/>
        </p:nvSpPr>
        <p:spPr>
          <a:xfrm>
            <a:off x="6214720" y="2022104"/>
            <a:ext cx="2586152" cy="2777216"/>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6452464" y="2241560"/>
            <a:ext cx="365760" cy="365760"/>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6543904" y="2333000"/>
            <a:ext cx="182880" cy="182880"/>
          </a:xfrm>
          <a:prstGeom prst="rect">
            <a:avLst/>
          </a:prstGeom>
        </p:spPr>
      </p:pic>
      <p:sp>
        <p:nvSpPr>
          <p:cNvPr id="19" name="Text 14"/>
          <p:cNvSpPr/>
          <p:nvPr/>
        </p:nvSpPr>
        <p:spPr>
          <a:xfrm>
            <a:off x="6946240" y="2232416"/>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TOOL 3</a:t>
            </a:r>
            <a:endParaRPr lang="en-US" sz="850" dirty="0"/>
          </a:p>
        </p:txBody>
      </p:sp>
      <p:sp>
        <p:nvSpPr>
          <p:cNvPr id="20" name="Text 15"/>
          <p:cNvSpPr/>
          <p:nvPr/>
        </p:nvSpPr>
        <p:spPr>
          <a:xfrm>
            <a:off x="6946240" y="2451872"/>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Find their support rep</a:t>
            </a:r>
            <a:endParaRPr lang="en-US" sz="1450" dirty="0"/>
          </a:p>
        </p:txBody>
      </p:sp>
      <p:sp>
        <p:nvSpPr>
          <p:cNvPr id="21" name="Text 16"/>
          <p:cNvSpPr/>
          <p:nvPr/>
        </p:nvSpPr>
        <p:spPr>
          <a:xfrm>
            <a:off x="6946240" y="3083174"/>
            <a:ext cx="1616888" cy="1533266"/>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The join a human would do in their head, written down once so it is done the same way every time.</a:t>
            </a:r>
            <a:endParaRPr lang="en-US" sz="1100" dirty="0"/>
          </a:p>
        </p:txBody>
      </p:sp>
      <p:sp>
        <p:nvSpPr>
          <p:cNvPr id="22" name="Shape 17"/>
          <p:cNvSpPr/>
          <p:nvPr/>
        </p:nvSpPr>
        <p:spPr>
          <a:xfrm>
            <a:off x="9038615" y="2022104"/>
            <a:ext cx="2586152" cy="2777216"/>
          </a:xfrm>
          <a:prstGeom prst="roundRect">
            <a:avLst>
              <a:gd name="adj" fmla="val 3182"/>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23" name="Shape 18"/>
          <p:cNvSpPr/>
          <p:nvPr/>
        </p:nvSpPr>
        <p:spPr>
          <a:xfrm>
            <a:off x="9276359" y="2241560"/>
            <a:ext cx="365760" cy="365760"/>
          </a:xfrm>
          <a:prstGeom prst="ellipse">
            <a:avLst/>
          </a:prstGeom>
          <a:solidFill>
            <a:srgbClr val="F5A524"/>
          </a:solidFill>
          <a:ln w="12700">
            <a:solidFill>
              <a:srgbClr val="F5A524"/>
            </a:solidFill>
            <a:prstDash val="solid"/>
          </a:ln>
        </p:spPr>
      </p:sp>
      <p:pic>
        <p:nvPicPr>
          <p:cNvPr id="24" name="Image 3" descr="preencoded.png">    </p:cNvPr>
          <p:cNvPicPr>
            <a:picLocks noChangeAspect="1"/>
          </p:cNvPicPr>
          <p:nvPr/>
        </p:nvPicPr>
        <p:blipFill>
          <a:blip r:embed="rId4"/>
          <a:stretch>
            <a:fillRect/>
          </a:stretch>
        </p:blipFill>
        <p:spPr>
          <a:xfrm>
            <a:off x="9367799" y="2333000"/>
            <a:ext cx="182880" cy="182880"/>
          </a:xfrm>
          <a:prstGeom prst="rect">
            <a:avLst/>
          </a:prstGeom>
        </p:spPr>
      </p:pic>
      <p:sp>
        <p:nvSpPr>
          <p:cNvPr id="25" name="Text 19"/>
          <p:cNvSpPr/>
          <p:nvPr/>
        </p:nvSpPr>
        <p:spPr>
          <a:xfrm>
            <a:off x="9770135" y="2232416"/>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CONSTRAINT</a:t>
            </a:r>
            <a:endParaRPr lang="en-US" sz="850" dirty="0"/>
          </a:p>
        </p:txBody>
      </p:sp>
      <p:sp>
        <p:nvSpPr>
          <p:cNvPr id="26" name="Text 20"/>
          <p:cNvSpPr/>
          <p:nvPr/>
        </p:nvSpPr>
        <p:spPr>
          <a:xfrm>
            <a:off x="9770135" y="2451872"/>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Read-only, and no free SQL</a:t>
            </a:r>
            <a:endParaRPr lang="en-US" sz="1450" dirty="0"/>
          </a:p>
        </p:txBody>
      </p:sp>
      <p:sp>
        <p:nvSpPr>
          <p:cNvPr id="27" name="Text 21"/>
          <p:cNvSpPr/>
          <p:nvPr/>
        </p:nvSpPr>
        <p:spPr>
          <a:xfrm>
            <a:off x="9770135" y="3083174"/>
            <a:ext cx="1616888" cy="1533266"/>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The model never gets a database handle. Each tool is one reviewed query. Adding a write turns a helpful assistant into an approval-gate design problem — module 14.</a:t>
            </a:r>
            <a:endParaRPr lang="en-US" sz="1100" dirty="0"/>
          </a:p>
        </p:txBody>
      </p:sp>
      <p:sp>
        <p:nvSpPr>
          <p:cNvPr id="28" name="Text 22"/>
          <p:cNvSpPr/>
          <p:nvPr/>
        </p:nvSpPr>
        <p:spPr>
          <a:xfrm>
            <a:off x="566928" y="5029200"/>
            <a:ext cx="11057839" cy="310896"/>
          </a:xfrm>
          <a:prstGeom prst="rect">
            <a:avLst/>
          </a:prstGeom>
          <a:noFill/>
          <a:ln/>
        </p:spPr>
        <p:txBody>
          <a:bodyPr wrap="square" lIns="0" tIns="0" rIns="0" bIns="0" rtlCol="0" anchor="ctr"/>
          <a:lstStyle/>
          <a:p>
            <a:pPr indent="0" marL="0">
              <a:buNone/>
            </a:pPr>
            <a:r>
              <a:rPr lang="en-US" sz="1300" i="1" dirty="0">
                <a:solidFill>
                  <a:srgbClr val="3B3760"/>
                </a:solidFill>
                <a:latin typeface="Calibri" pitchFamily="34" charset="0"/>
                <a:ea typeface="Calibri" pitchFamily="34" charset="-122"/>
                <a:cs typeface="Calibri" pitchFamily="34" charset="-120"/>
              </a:rPr>
              <a:t>Note what is NOT here: the model is never handed a SQL prompt and told to be careful. Each tool is a specific, reviewed query.</a:t>
            </a:r>
            <a:endParaRPr lang="en-US" sz="1300" dirty="0"/>
          </a:p>
        </p:txBody>
      </p:sp>
      <p:sp>
        <p:nvSpPr>
          <p:cNvPr id="29" name="Shape 23"/>
          <p:cNvSpPr/>
          <p:nvPr/>
        </p:nvSpPr>
        <p:spPr>
          <a:xfrm>
            <a:off x="566928" y="5449824"/>
            <a:ext cx="11057839" cy="822960"/>
          </a:xfrm>
          <a:prstGeom prst="roundRect">
            <a:avLst>
              <a:gd name="adj" fmla="val 10000"/>
            </a:avLst>
          </a:prstGeom>
          <a:solidFill>
            <a:srgbClr val="FFF4E0"/>
          </a:solidFill>
          <a:ln w="12700">
            <a:solidFill>
              <a:srgbClr val="F3DCB0"/>
            </a:solidFill>
            <a:prstDash val="solid"/>
          </a:ln>
        </p:spPr>
      </p:sp>
      <p:sp>
        <p:nvSpPr>
          <p:cNvPr id="30" name="Shape 24"/>
          <p:cNvSpPr/>
          <p:nvPr/>
        </p:nvSpPr>
        <p:spPr>
          <a:xfrm>
            <a:off x="841248" y="5669280"/>
            <a:ext cx="384048" cy="384048"/>
          </a:xfrm>
          <a:prstGeom prst="ellipse">
            <a:avLst/>
          </a:prstGeom>
          <a:solidFill>
            <a:srgbClr val="F5A524"/>
          </a:solidFill>
          <a:ln w="12700">
            <a:solidFill>
              <a:srgbClr val="F5A524"/>
            </a:solidFill>
            <a:prstDash val="solid"/>
          </a:ln>
        </p:spPr>
      </p:sp>
      <p:pic>
        <p:nvPicPr>
          <p:cNvPr id="31" name="Image 4" descr="preencoded.png">    </p:cNvPr>
          <p:cNvPicPr>
            <a:picLocks noChangeAspect="1"/>
          </p:cNvPicPr>
          <p:nvPr/>
        </p:nvPicPr>
        <p:blipFill>
          <a:blip r:embed="rId5"/>
          <a:stretch>
            <a:fillRect/>
          </a:stretch>
        </p:blipFill>
        <p:spPr>
          <a:xfrm>
            <a:off x="937260" y="5765292"/>
            <a:ext cx="192024" cy="192024"/>
          </a:xfrm>
          <a:prstGeom prst="rect">
            <a:avLst/>
          </a:prstGeom>
        </p:spPr>
      </p:pic>
      <p:sp>
        <p:nvSpPr>
          <p:cNvPr id="32" name="Text 25"/>
          <p:cNvSpPr/>
          <p:nvPr/>
        </p:nvSpPr>
        <p:spPr>
          <a:xfrm>
            <a:off x="1371600" y="550468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 safest agent tools are boring ones: narrow questions with reviewed answers, not a general-purpose key to the database.</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08 · AGENTS SDK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Two specialists, three ways to wire them</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Same question, same tools, same two agents. What changes is who decides the order — and whether control ever comes back.</a:t>
            </a:r>
            <a:endParaRPr lang="en-US" sz="1400" dirty="0"/>
          </a:p>
        </p:txBody>
      </p:sp>
      <p:sp>
        <p:nvSpPr>
          <p:cNvPr id="5" name="Shape 3"/>
          <p:cNvSpPr/>
          <p:nvPr/>
        </p:nvSpPr>
        <p:spPr>
          <a:xfrm>
            <a:off x="566928" y="1938528"/>
            <a:ext cx="3515258" cy="3200400"/>
          </a:xfrm>
          <a:prstGeom prst="roundRect">
            <a:avLst>
              <a:gd name="adj" fmla="val 285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121408"/>
            <a:ext cx="402336" cy="402336"/>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905256" y="2221992"/>
            <a:ext cx="201168" cy="201168"/>
          </a:xfrm>
          <a:prstGeom prst="rect">
            <a:avLst/>
          </a:prstGeom>
        </p:spPr>
      </p:pic>
      <p:sp>
        <p:nvSpPr>
          <p:cNvPr id="8" name="Text 5"/>
          <p:cNvSpPr/>
          <p:nvPr/>
        </p:nvSpPr>
        <p:spPr>
          <a:xfrm>
            <a:off x="1335024" y="2139696"/>
            <a:ext cx="2509418" cy="274320"/>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Code orchestrates</a:t>
            </a:r>
            <a:endParaRPr lang="en-US" sz="1550" dirty="0"/>
          </a:p>
        </p:txBody>
      </p:sp>
      <p:sp>
        <p:nvSpPr>
          <p:cNvPr id="9" name="Text 6"/>
          <p:cNvSpPr/>
          <p:nvPr/>
        </p:nvSpPr>
        <p:spPr>
          <a:xfrm>
            <a:off x="1335024" y="2414016"/>
            <a:ext cx="2509418" cy="219456"/>
          </a:xfrm>
          <a:prstGeom prst="rect">
            <a:avLst/>
          </a:prstGeom>
          <a:noFill/>
          <a:ln/>
        </p:spPr>
        <p:txBody>
          <a:bodyPr wrap="square" lIns="0" tIns="0" rIns="0" bIns="0" rtlCol="0" anchor="ctr"/>
          <a:lstStyle/>
          <a:p>
            <a:pPr indent="0" marL="0">
              <a:buNone/>
            </a:pPr>
            <a:r>
              <a:rPr lang="en-US" sz="850" b="1" spc="140" kern="0" dirty="0">
                <a:solidFill>
                  <a:srgbClr val="5B4BE8"/>
                </a:solidFill>
                <a:latin typeface="Calibri" pitchFamily="34" charset="0"/>
                <a:ea typeface="Calibri" pitchFamily="34" charset="-122"/>
                <a:cs typeface="Calibri" pitchFamily="34" charset="-120"/>
              </a:rPr>
              <a:t>YOU DECIDE</a:t>
            </a:r>
            <a:endParaRPr lang="en-US" sz="850" dirty="0"/>
          </a:p>
        </p:txBody>
      </p:sp>
      <p:sp>
        <p:nvSpPr>
          <p:cNvPr id="10" name="Shape 7"/>
          <p:cNvSpPr/>
          <p:nvPr/>
        </p:nvSpPr>
        <p:spPr>
          <a:xfrm>
            <a:off x="1181557" y="2798064"/>
            <a:ext cx="914400" cy="402336"/>
          </a:xfrm>
          <a:prstGeom prst="roundRect">
            <a:avLst>
              <a:gd name="adj" fmla="val 18182"/>
            </a:avLst>
          </a:prstGeom>
          <a:solidFill>
            <a:srgbClr val="FFFFFF"/>
          </a:solidFill>
          <a:ln w="19050">
            <a:solidFill>
              <a:srgbClr val="5B4BE8"/>
            </a:solidFill>
            <a:prstDash val="solid"/>
          </a:ln>
        </p:spPr>
      </p:sp>
      <p:sp>
        <p:nvSpPr>
          <p:cNvPr id="11" name="Text 8"/>
          <p:cNvSpPr/>
          <p:nvPr/>
        </p:nvSpPr>
        <p:spPr>
          <a:xfrm>
            <a:off x="1181557" y="2798064"/>
            <a:ext cx="914400" cy="402336"/>
          </a:xfrm>
          <a:prstGeom prst="rect">
            <a:avLst/>
          </a:prstGeom>
          <a:noFill/>
          <a:ln/>
        </p:spPr>
        <p:txBody>
          <a:bodyPr wrap="square" lIns="635" tIns="635" rIns="635" bIns="635" rtlCol="0" anchor="ctr"/>
          <a:lstStyle/>
          <a:p>
            <a:pPr algn="ctr" indent="0" marL="0">
              <a:lnSpc>
                <a:spcPct val="110000"/>
              </a:lnSpc>
              <a:buNone/>
            </a:pPr>
            <a:r>
              <a:rPr lang="en-US" sz="950" b="1" dirty="0">
                <a:solidFill>
                  <a:srgbClr val="141235"/>
                </a:solidFill>
                <a:latin typeface="Calibri" pitchFamily="34" charset="0"/>
                <a:ea typeface="Calibri" pitchFamily="34" charset="-122"/>
                <a:cs typeface="Calibri" pitchFamily="34" charset="-120"/>
              </a:rPr>
              <a:t>your code</a:t>
            </a:r>
            <a:endParaRPr lang="en-US" sz="950" dirty="0"/>
          </a:p>
        </p:txBody>
      </p:sp>
      <p:sp>
        <p:nvSpPr>
          <p:cNvPr id="12" name="Shape 9"/>
          <p:cNvSpPr/>
          <p:nvPr/>
        </p:nvSpPr>
        <p:spPr>
          <a:xfrm>
            <a:off x="2553157" y="2578608"/>
            <a:ext cx="914400" cy="365760"/>
          </a:xfrm>
          <a:prstGeom prst="roundRect">
            <a:avLst>
              <a:gd name="adj" fmla="val 20000"/>
            </a:avLst>
          </a:prstGeom>
          <a:solidFill>
            <a:srgbClr val="FFFFFF"/>
          </a:solidFill>
          <a:ln w="19050">
            <a:solidFill>
              <a:srgbClr val="E3E4F2"/>
            </a:solidFill>
            <a:prstDash val="solid"/>
          </a:ln>
        </p:spPr>
      </p:sp>
      <p:sp>
        <p:nvSpPr>
          <p:cNvPr id="13" name="Text 10"/>
          <p:cNvSpPr/>
          <p:nvPr/>
        </p:nvSpPr>
        <p:spPr>
          <a:xfrm>
            <a:off x="2553157" y="2578608"/>
            <a:ext cx="914400" cy="365760"/>
          </a:xfrm>
          <a:prstGeom prst="rect">
            <a:avLst/>
          </a:prstGeom>
          <a:noFill/>
          <a:ln/>
        </p:spPr>
        <p:txBody>
          <a:bodyPr wrap="square" lIns="635" tIns="635" rIns="635" bIns="635" rtlCol="0" anchor="ctr"/>
          <a:lstStyle/>
          <a:p>
            <a:pPr algn="ctr" indent="0" marL="0">
              <a:lnSpc>
                <a:spcPct val="110000"/>
              </a:lnSpc>
              <a:buNone/>
            </a:pPr>
            <a:r>
              <a:rPr lang="en-US" sz="900" b="1" dirty="0">
                <a:solidFill>
                  <a:srgbClr val="141235"/>
                </a:solidFill>
                <a:latin typeface="Calibri" pitchFamily="34" charset="0"/>
                <a:ea typeface="Calibri" pitchFamily="34" charset="-122"/>
                <a:cs typeface="Calibri" pitchFamily="34" charset="-120"/>
              </a:rPr>
              <a:t>invoices</a:t>
            </a:r>
            <a:endParaRPr lang="en-US" sz="900" dirty="0"/>
          </a:p>
        </p:txBody>
      </p:sp>
      <p:sp>
        <p:nvSpPr>
          <p:cNvPr id="14" name="Shape 11"/>
          <p:cNvSpPr/>
          <p:nvPr/>
        </p:nvSpPr>
        <p:spPr>
          <a:xfrm>
            <a:off x="2553157" y="3108960"/>
            <a:ext cx="914400" cy="365760"/>
          </a:xfrm>
          <a:prstGeom prst="roundRect">
            <a:avLst>
              <a:gd name="adj" fmla="val 20000"/>
            </a:avLst>
          </a:prstGeom>
          <a:solidFill>
            <a:srgbClr val="FFFFFF"/>
          </a:solidFill>
          <a:ln w="19050">
            <a:solidFill>
              <a:srgbClr val="E3E4F2"/>
            </a:solidFill>
            <a:prstDash val="solid"/>
          </a:ln>
        </p:spPr>
      </p:sp>
      <p:sp>
        <p:nvSpPr>
          <p:cNvPr id="15" name="Text 12"/>
          <p:cNvSpPr/>
          <p:nvPr/>
        </p:nvSpPr>
        <p:spPr>
          <a:xfrm>
            <a:off x="2553157" y="3108960"/>
            <a:ext cx="914400" cy="365760"/>
          </a:xfrm>
          <a:prstGeom prst="rect">
            <a:avLst/>
          </a:prstGeom>
          <a:noFill/>
          <a:ln/>
        </p:spPr>
        <p:txBody>
          <a:bodyPr wrap="square" lIns="635" tIns="635" rIns="635" bIns="635" rtlCol="0" anchor="ctr"/>
          <a:lstStyle/>
          <a:p>
            <a:pPr algn="ctr" indent="0" marL="0">
              <a:lnSpc>
                <a:spcPct val="110000"/>
              </a:lnSpc>
              <a:buNone/>
            </a:pPr>
            <a:r>
              <a:rPr lang="en-US" sz="900" b="1" dirty="0">
                <a:solidFill>
                  <a:srgbClr val="141235"/>
                </a:solidFill>
                <a:latin typeface="Calibri" pitchFamily="34" charset="0"/>
                <a:ea typeface="Calibri" pitchFamily="34" charset="-122"/>
                <a:cs typeface="Calibri" pitchFamily="34" charset="-120"/>
              </a:rPr>
              <a:t>people</a:t>
            </a:r>
            <a:endParaRPr lang="en-US" sz="900" dirty="0"/>
          </a:p>
        </p:txBody>
      </p:sp>
      <p:sp>
        <p:nvSpPr>
          <p:cNvPr id="16" name="Shape 13"/>
          <p:cNvSpPr/>
          <p:nvPr/>
        </p:nvSpPr>
        <p:spPr>
          <a:xfrm>
            <a:off x="2150821" y="2962656"/>
            <a:ext cx="347472" cy="-128016"/>
          </a:xfrm>
          <a:prstGeom prst="line">
            <a:avLst/>
          </a:prstGeom>
          <a:noFill/>
          <a:ln w="17780">
            <a:solidFill>
              <a:srgbClr val="5B4BE8"/>
            </a:solidFill>
            <a:prstDash val="solid"/>
            <a:headEnd type="none"/>
            <a:tailEnd type="triangle"/>
          </a:ln>
        </p:spPr>
      </p:sp>
      <p:sp>
        <p:nvSpPr>
          <p:cNvPr id="17" name="Shape 14"/>
          <p:cNvSpPr/>
          <p:nvPr/>
        </p:nvSpPr>
        <p:spPr>
          <a:xfrm>
            <a:off x="2150821" y="3072384"/>
            <a:ext cx="347472" cy="201168"/>
          </a:xfrm>
          <a:prstGeom prst="line">
            <a:avLst/>
          </a:prstGeom>
          <a:noFill/>
          <a:ln w="17780">
            <a:solidFill>
              <a:srgbClr val="5B4BE8"/>
            </a:solidFill>
            <a:prstDash val="solid"/>
            <a:headEnd type="none"/>
            <a:tailEnd type="triangle"/>
          </a:ln>
        </p:spPr>
      </p:sp>
      <p:sp>
        <p:nvSpPr>
          <p:cNvPr id="18" name="Shape 15"/>
          <p:cNvSpPr/>
          <p:nvPr/>
        </p:nvSpPr>
        <p:spPr>
          <a:xfrm>
            <a:off x="2498293" y="2816352"/>
            <a:ext cx="-347472" cy="128016"/>
          </a:xfrm>
          <a:prstGeom prst="line">
            <a:avLst/>
          </a:prstGeom>
          <a:noFill/>
          <a:ln w="15240">
            <a:solidFill>
              <a:srgbClr val="9B98B4"/>
            </a:solidFill>
            <a:prstDash val="dash"/>
            <a:headEnd type="none"/>
            <a:tailEnd type="triangle"/>
          </a:ln>
        </p:spPr>
      </p:sp>
      <p:sp>
        <p:nvSpPr>
          <p:cNvPr id="19" name="Shape 16"/>
          <p:cNvSpPr/>
          <p:nvPr/>
        </p:nvSpPr>
        <p:spPr>
          <a:xfrm>
            <a:off x="2498293" y="3346704"/>
            <a:ext cx="-347472" cy="-201168"/>
          </a:xfrm>
          <a:prstGeom prst="line">
            <a:avLst/>
          </a:prstGeom>
          <a:noFill/>
          <a:ln w="15240">
            <a:solidFill>
              <a:srgbClr val="9B98B4"/>
            </a:solidFill>
            <a:prstDash val="dash"/>
            <a:headEnd type="none"/>
            <a:tailEnd type="triangle"/>
          </a:ln>
        </p:spPr>
      </p:sp>
      <p:sp>
        <p:nvSpPr>
          <p:cNvPr id="20" name="Text 17"/>
          <p:cNvSpPr/>
          <p:nvPr/>
        </p:nvSpPr>
        <p:spPr>
          <a:xfrm>
            <a:off x="804672" y="3621024"/>
            <a:ext cx="3039770" cy="603504"/>
          </a:xfrm>
          <a:prstGeom prst="rect">
            <a:avLst/>
          </a:prstGeom>
          <a:noFill/>
          <a:ln/>
        </p:spPr>
        <p:txBody>
          <a:bodyPr wrap="square" lIns="0" tIns="0" rIns="0" bIns="0" rtlCol="0" anchor="t"/>
          <a:lstStyle/>
          <a:p>
            <a:pPr indent="0" marL="0">
              <a:lnSpc>
                <a:spcPct val="112000"/>
              </a:lnSpc>
              <a:buNone/>
            </a:pPr>
            <a:r>
              <a:rPr lang="en-US" sz="1100" dirty="0">
                <a:solidFill>
                  <a:srgbClr val="6E6B8A"/>
                </a:solidFill>
                <a:latin typeface="Calibri" pitchFamily="34" charset="0"/>
                <a:ea typeface="Calibri" pitchFamily="34" charset="-122"/>
                <a:cs typeface="Calibri" pitchFamily="34" charset="-120"/>
              </a:rPr>
              <a:t>Your program calls both specialists and combines the answers. Concurrently, because module 07.</a:t>
            </a:r>
            <a:endParaRPr lang="en-US" sz="1100" dirty="0"/>
          </a:p>
        </p:txBody>
      </p:sp>
      <p:sp>
        <p:nvSpPr>
          <p:cNvPr id="21" name="Text 18"/>
          <p:cNvSpPr/>
          <p:nvPr/>
        </p:nvSpPr>
        <p:spPr>
          <a:xfrm>
            <a:off x="804672" y="4261104"/>
            <a:ext cx="3039770" cy="512064"/>
          </a:xfrm>
          <a:prstGeom prst="rect">
            <a:avLst/>
          </a:prstGeom>
          <a:noFill/>
          <a:ln/>
        </p:spPr>
        <p:txBody>
          <a:bodyPr wrap="square" lIns="0" tIns="0" rIns="0" bIns="0" rtlCol="0" anchor="t"/>
          <a:lstStyle/>
          <a:p>
            <a:pPr indent="0" marL="0">
              <a:lnSpc>
                <a:spcPct val="112000"/>
              </a:lnSpc>
              <a:buNone/>
            </a:pPr>
            <a:r>
              <a:rPr lang="en-US" sz="1100" b="1" dirty="0">
                <a:solidFill>
                  <a:srgbClr val="141235"/>
                </a:solidFill>
                <a:latin typeface="Calibri" pitchFamily="34" charset="0"/>
                <a:ea typeface="Calibri" pitchFamily="34" charset="-122"/>
                <a:cs typeface="Calibri" pitchFamily="34" charset="-120"/>
              </a:rPr>
              <a:t>Control never leaves your code. You are the graph.</a:t>
            </a:r>
            <a:endParaRPr lang="en-US" sz="1100" dirty="0"/>
          </a:p>
        </p:txBody>
      </p:sp>
      <p:sp>
        <p:nvSpPr>
          <p:cNvPr id="22" name="Text 19"/>
          <p:cNvSpPr/>
          <p:nvPr/>
        </p:nvSpPr>
        <p:spPr>
          <a:xfrm>
            <a:off x="804672" y="4791456"/>
            <a:ext cx="3039770" cy="292608"/>
          </a:xfrm>
          <a:prstGeom prst="rect">
            <a:avLst/>
          </a:prstGeom>
          <a:noFill/>
          <a:ln/>
        </p:spPr>
        <p:txBody>
          <a:bodyPr wrap="square" lIns="0" tIns="0" rIns="0" bIns="0" rtlCol="0" anchor="t"/>
          <a:lstStyle/>
          <a:p>
            <a:pPr indent="0" marL="0">
              <a:buNone/>
            </a:pPr>
            <a:r>
              <a:rPr lang="en-US" sz="1050" i="1" dirty="0">
                <a:solidFill>
                  <a:srgbClr val="5B4BE8"/>
                </a:solidFill>
                <a:latin typeface="Calibri" pitchFamily="34" charset="0"/>
                <a:ea typeface="Calibri" pitchFamily="34" charset="-122"/>
                <a:cs typeface="Calibri" pitchFamily="34" charset="-120"/>
              </a:rPr>
              <a:t>Most predictable. Least flexible.</a:t>
            </a:r>
            <a:endParaRPr lang="en-US" sz="1050" dirty="0"/>
          </a:p>
        </p:txBody>
      </p:sp>
      <p:sp>
        <p:nvSpPr>
          <p:cNvPr id="23" name="Shape 20"/>
          <p:cNvSpPr/>
          <p:nvPr/>
        </p:nvSpPr>
        <p:spPr>
          <a:xfrm>
            <a:off x="4338218" y="1938528"/>
            <a:ext cx="3515258" cy="3200400"/>
          </a:xfrm>
          <a:prstGeom prst="roundRect">
            <a:avLst>
              <a:gd name="adj" fmla="val 2857"/>
            </a:avLst>
          </a:prstGeom>
          <a:solidFill>
            <a:srgbClr val="FFF4E0"/>
          </a:solidFill>
          <a:ln w="19050">
            <a:solidFill>
              <a:srgbClr val="F0D5A6"/>
            </a:solidFill>
            <a:prstDash val="solid"/>
          </a:ln>
          <a:effectLst>
            <a:outerShdw sx="100000" sy="100000" kx="0" ky="0" algn="bl" rotWithShape="0" blurRad="114300" dist="572" dir="5400000">
              <a:srgbClr val="1B1A4A">
                <a:alpha val="7000"/>
              </a:srgbClr>
            </a:outerShdw>
          </a:effectLst>
        </p:spPr>
      </p:sp>
      <p:sp>
        <p:nvSpPr>
          <p:cNvPr id="24" name="Shape 21"/>
          <p:cNvSpPr/>
          <p:nvPr/>
        </p:nvSpPr>
        <p:spPr>
          <a:xfrm>
            <a:off x="4575962" y="2121408"/>
            <a:ext cx="402336" cy="402336"/>
          </a:xfrm>
          <a:prstGeom prst="ellipse">
            <a:avLst/>
          </a:prstGeom>
          <a:solidFill>
            <a:srgbClr val="F5A524"/>
          </a:solidFill>
          <a:ln w="12700">
            <a:solidFill>
              <a:srgbClr val="F5A524"/>
            </a:solidFill>
            <a:prstDash val="solid"/>
          </a:ln>
        </p:spPr>
      </p:sp>
      <p:pic>
        <p:nvPicPr>
          <p:cNvPr id="25" name="Image 1" descr="preencoded.png">    </p:cNvPr>
          <p:cNvPicPr>
            <a:picLocks noChangeAspect="1"/>
          </p:cNvPicPr>
          <p:nvPr/>
        </p:nvPicPr>
        <p:blipFill>
          <a:blip r:embed="rId2"/>
          <a:stretch>
            <a:fillRect/>
          </a:stretch>
        </p:blipFill>
        <p:spPr>
          <a:xfrm>
            <a:off x="4676546" y="2221992"/>
            <a:ext cx="201168" cy="201168"/>
          </a:xfrm>
          <a:prstGeom prst="rect">
            <a:avLst/>
          </a:prstGeom>
        </p:spPr>
      </p:pic>
      <p:sp>
        <p:nvSpPr>
          <p:cNvPr id="26" name="Text 22"/>
          <p:cNvSpPr/>
          <p:nvPr/>
        </p:nvSpPr>
        <p:spPr>
          <a:xfrm>
            <a:off x="5106314" y="2139696"/>
            <a:ext cx="2509418" cy="274320"/>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Agents as tools</a:t>
            </a:r>
            <a:endParaRPr lang="en-US" sz="1550" dirty="0"/>
          </a:p>
        </p:txBody>
      </p:sp>
      <p:sp>
        <p:nvSpPr>
          <p:cNvPr id="27" name="Text 23"/>
          <p:cNvSpPr/>
          <p:nvPr/>
        </p:nvSpPr>
        <p:spPr>
          <a:xfrm>
            <a:off x="5106314" y="2414016"/>
            <a:ext cx="2509418" cy="219456"/>
          </a:xfrm>
          <a:prstGeom prst="rect">
            <a:avLst/>
          </a:prstGeom>
          <a:noFill/>
          <a:ln/>
        </p:spPr>
        <p:txBody>
          <a:bodyPr wrap="square" lIns="0" tIns="0" rIns="0" bIns="0" rtlCol="0" anchor="ctr"/>
          <a:lstStyle/>
          <a:p>
            <a:pPr indent="0" marL="0">
              <a:buNone/>
            </a:pPr>
            <a:r>
              <a:rPr lang="en-US" sz="850" b="1" spc="140" kern="0" dirty="0">
                <a:solidFill>
                  <a:srgbClr val="F5A524"/>
                </a:solidFill>
                <a:latin typeface="Calibri" pitchFamily="34" charset="0"/>
                <a:ea typeface="Calibri" pitchFamily="34" charset="-122"/>
                <a:cs typeface="Calibri" pitchFamily="34" charset="-120"/>
              </a:rPr>
              <a:t>THE MODEL DECIDES</a:t>
            </a:r>
            <a:endParaRPr lang="en-US" sz="850" dirty="0"/>
          </a:p>
        </p:txBody>
      </p:sp>
      <p:sp>
        <p:nvSpPr>
          <p:cNvPr id="28" name="Shape 24"/>
          <p:cNvSpPr/>
          <p:nvPr/>
        </p:nvSpPr>
        <p:spPr>
          <a:xfrm>
            <a:off x="4952848" y="2798064"/>
            <a:ext cx="914400" cy="402336"/>
          </a:xfrm>
          <a:prstGeom prst="roundRect">
            <a:avLst>
              <a:gd name="adj" fmla="val 18182"/>
            </a:avLst>
          </a:prstGeom>
          <a:solidFill>
            <a:srgbClr val="FFFFFF"/>
          </a:solidFill>
          <a:ln w="19050">
            <a:solidFill>
              <a:srgbClr val="F5A524"/>
            </a:solidFill>
            <a:prstDash val="solid"/>
          </a:ln>
        </p:spPr>
      </p:sp>
      <p:sp>
        <p:nvSpPr>
          <p:cNvPr id="29" name="Text 25"/>
          <p:cNvSpPr/>
          <p:nvPr/>
        </p:nvSpPr>
        <p:spPr>
          <a:xfrm>
            <a:off x="4952848" y="2798064"/>
            <a:ext cx="914400" cy="402336"/>
          </a:xfrm>
          <a:prstGeom prst="rect">
            <a:avLst/>
          </a:prstGeom>
          <a:noFill/>
          <a:ln/>
        </p:spPr>
        <p:txBody>
          <a:bodyPr wrap="square" lIns="635" tIns="635" rIns="635" bIns="635" rtlCol="0" anchor="ctr"/>
          <a:lstStyle/>
          <a:p>
            <a:pPr algn="ctr" indent="0" marL="0">
              <a:lnSpc>
                <a:spcPct val="110000"/>
              </a:lnSpc>
              <a:buNone/>
            </a:pPr>
            <a:r>
              <a:rPr lang="en-US" sz="950" b="1" dirty="0">
                <a:solidFill>
                  <a:srgbClr val="141235"/>
                </a:solidFill>
                <a:latin typeface="Calibri" pitchFamily="34" charset="0"/>
                <a:ea typeface="Calibri" pitchFamily="34" charset="-122"/>
                <a:cs typeface="Calibri" pitchFamily="34" charset="-120"/>
              </a:rPr>
              <a:t>lead agent</a:t>
            </a:r>
            <a:endParaRPr lang="en-US" sz="950" dirty="0"/>
          </a:p>
        </p:txBody>
      </p:sp>
      <p:sp>
        <p:nvSpPr>
          <p:cNvPr id="30" name="Shape 26"/>
          <p:cNvSpPr/>
          <p:nvPr/>
        </p:nvSpPr>
        <p:spPr>
          <a:xfrm>
            <a:off x="6324448" y="2578608"/>
            <a:ext cx="914400" cy="365760"/>
          </a:xfrm>
          <a:prstGeom prst="roundRect">
            <a:avLst>
              <a:gd name="adj" fmla="val 20000"/>
            </a:avLst>
          </a:prstGeom>
          <a:solidFill>
            <a:srgbClr val="FFFFFF"/>
          </a:solidFill>
          <a:ln w="19050">
            <a:solidFill>
              <a:srgbClr val="E3E4F2"/>
            </a:solidFill>
            <a:prstDash val="solid"/>
          </a:ln>
        </p:spPr>
      </p:sp>
      <p:sp>
        <p:nvSpPr>
          <p:cNvPr id="31" name="Text 27"/>
          <p:cNvSpPr/>
          <p:nvPr/>
        </p:nvSpPr>
        <p:spPr>
          <a:xfrm>
            <a:off x="6324448" y="2578608"/>
            <a:ext cx="914400" cy="365760"/>
          </a:xfrm>
          <a:prstGeom prst="rect">
            <a:avLst/>
          </a:prstGeom>
          <a:noFill/>
          <a:ln/>
        </p:spPr>
        <p:txBody>
          <a:bodyPr wrap="square" lIns="635" tIns="635" rIns="635" bIns="635" rtlCol="0" anchor="ctr"/>
          <a:lstStyle/>
          <a:p>
            <a:pPr algn="ctr" indent="0" marL="0">
              <a:lnSpc>
                <a:spcPct val="110000"/>
              </a:lnSpc>
              <a:buNone/>
            </a:pPr>
            <a:r>
              <a:rPr lang="en-US" sz="900" b="1" dirty="0">
                <a:solidFill>
                  <a:srgbClr val="141235"/>
                </a:solidFill>
                <a:latin typeface="Calibri" pitchFamily="34" charset="0"/>
                <a:ea typeface="Calibri" pitchFamily="34" charset="-122"/>
                <a:cs typeface="Calibri" pitchFamily="34" charset="-120"/>
              </a:rPr>
              <a:t>invoices</a:t>
            </a:r>
            <a:endParaRPr lang="en-US" sz="900" dirty="0"/>
          </a:p>
        </p:txBody>
      </p:sp>
      <p:sp>
        <p:nvSpPr>
          <p:cNvPr id="32" name="Shape 28"/>
          <p:cNvSpPr/>
          <p:nvPr/>
        </p:nvSpPr>
        <p:spPr>
          <a:xfrm>
            <a:off x="6324448" y="3108960"/>
            <a:ext cx="914400" cy="365760"/>
          </a:xfrm>
          <a:prstGeom prst="roundRect">
            <a:avLst>
              <a:gd name="adj" fmla="val 20000"/>
            </a:avLst>
          </a:prstGeom>
          <a:solidFill>
            <a:srgbClr val="FFFFFF"/>
          </a:solidFill>
          <a:ln w="19050">
            <a:solidFill>
              <a:srgbClr val="E3E4F2"/>
            </a:solidFill>
            <a:prstDash val="solid"/>
          </a:ln>
        </p:spPr>
      </p:sp>
      <p:sp>
        <p:nvSpPr>
          <p:cNvPr id="33" name="Text 29"/>
          <p:cNvSpPr/>
          <p:nvPr/>
        </p:nvSpPr>
        <p:spPr>
          <a:xfrm>
            <a:off x="6324448" y="3108960"/>
            <a:ext cx="914400" cy="365760"/>
          </a:xfrm>
          <a:prstGeom prst="rect">
            <a:avLst/>
          </a:prstGeom>
          <a:noFill/>
          <a:ln/>
        </p:spPr>
        <p:txBody>
          <a:bodyPr wrap="square" lIns="635" tIns="635" rIns="635" bIns="635" rtlCol="0" anchor="ctr"/>
          <a:lstStyle/>
          <a:p>
            <a:pPr algn="ctr" indent="0" marL="0">
              <a:lnSpc>
                <a:spcPct val="110000"/>
              </a:lnSpc>
              <a:buNone/>
            </a:pPr>
            <a:r>
              <a:rPr lang="en-US" sz="900" b="1" dirty="0">
                <a:solidFill>
                  <a:srgbClr val="141235"/>
                </a:solidFill>
                <a:latin typeface="Calibri" pitchFamily="34" charset="0"/>
                <a:ea typeface="Calibri" pitchFamily="34" charset="-122"/>
                <a:cs typeface="Calibri" pitchFamily="34" charset="-120"/>
              </a:rPr>
              <a:t>people</a:t>
            </a:r>
            <a:endParaRPr lang="en-US" sz="900" dirty="0"/>
          </a:p>
        </p:txBody>
      </p:sp>
      <p:sp>
        <p:nvSpPr>
          <p:cNvPr id="34" name="Shape 30"/>
          <p:cNvSpPr/>
          <p:nvPr/>
        </p:nvSpPr>
        <p:spPr>
          <a:xfrm>
            <a:off x="5922112" y="2962656"/>
            <a:ext cx="347472" cy="-128016"/>
          </a:xfrm>
          <a:prstGeom prst="line">
            <a:avLst/>
          </a:prstGeom>
          <a:noFill/>
          <a:ln w="17780">
            <a:solidFill>
              <a:srgbClr val="F5A524"/>
            </a:solidFill>
            <a:prstDash val="solid"/>
            <a:headEnd type="none"/>
            <a:tailEnd type="triangle"/>
          </a:ln>
        </p:spPr>
      </p:sp>
      <p:sp>
        <p:nvSpPr>
          <p:cNvPr id="35" name="Shape 31"/>
          <p:cNvSpPr/>
          <p:nvPr/>
        </p:nvSpPr>
        <p:spPr>
          <a:xfrm>
            <a:off x="5922112" y="3072384"/>
            <a:ext cx="347472" cy="201168"/>
          </a:xfrm>
          <a:prstGeom prst="line">
            <a:avLst/>
          </a:prstGeom>
          <a:noFill/>
          <a:ln w="17780">
            <a:solidFill>
              <a:srgbClr val="F5A524"/>
            </a:solidFill>
            <a:prstDash val="solid"/>
            <a:headEnd type="none"/>
            <a:tailEnd type="triangle"/>
          </a:ln>
        </p:spPr>
      </p:sp>
      <p:sp>
        <p:nvSpPr>
          <p:cNvPr id="36" name="Shape 32"/>
          <p:cNvSpPr/>
          <p:nvPr/>
        </p:nvSpPr>
        <p:spPr>
          <a:xfrm>
            <a:off x="6269584" y="2816352"/>
            <a:ext cx="-347472" cy="128016"/>
          </a:xfrm>
          <a:prstGeom prst="line">
            <a:avLst/>
          </a:prstGeom>
          <a:noFill/>
          <a:ln w="15240">
            <a:solidFill>
              <a:srgbClr val="9B98B4"/>
            </a:solidFill>
            <a:prstDash val="dash"/>
            <a:headEnd type="none"/>
            <a:tailEnd type="triangle"/>
          </a:ln>
        </p:spPr>
      </p:sp>
      <p:sp>
        <p:nvSpPr>
          <p:cNvPr id="37" name="Shape 33"/>
          <p:cNvSpPr/>
          <p:nvPr/>
        </p:nvSpPr>
        <p:spPr>
          <a:xfrm>
            <a:off x="6269584" y="3346704"/>
            <a:ext cx="-347472" cy="-201168"/>
          </a:xfrm>
          <a:prstGeom prst="line">
            <a:avLst/>
          </a:prstGeom>
          <a:noFill/>
          <a:ln w="15240">
            <a:solidFill>
              <a:srgbClr val="9B98B4"/>
            </a:solidFill>
            <a:prstDash val="dash"/>
            <a:headEnd type="none"/>
            <a:tailEnd type="triangle"/>
          </a:ln>
        </p:spPr>
      </p:sp>
      <p:sp>
        <p:nvSpPr>
          <p:cNvPr id="38" name="Text 34"/>
          <p:cNvSpPr/>
          <p:nvPr/>
        </p:nvSpPr>
        <p:spPr>
          <a:xfrm>
            <a:off x="4575962" y="3621024"/>
            <a:ext cx="3039770" cy="603504"/>
          </a:xfrm>
          <a:prstGeom prst="rect">
            <a:avLst/>
          </a:prstGeom>
          <a:noFill/>
          <a:ln/>
        </p:spPr>
        <p:txBody>
          <a:bodyPr wrap="square" lIns="0" tIns="0" rIns="0" bIns="0" rtlCol="0" anchor="t"/>
          <a:lstStyle/>
          <a:p>
            <a:pPr indent="0" marL="0">
              <a:lnSpc>
                <a:spcPct val="112000"/>
              </a:lnSpc>
              <a:buNone/>
            </a:pPr>
            <a:r>
              <a:rPr lang="en-US" sz="1100" dirty="0">
                <a:solidFill>
                  <a:srgbClr val="6E6B8A"/>
                </a:solidFill>
                <a:latin typeface="Calibri" pitchFamily="34" charset="0"/>
                <a:ea typeface="Calibri" pitchFamily="34" charset="-122"/>
                <a:cs typeface="Calibri" pitchFamily="34" charset="-120"/>
              </a:rPr>
              <a:t>Each specialist is exposed to a lead agent as a callable tool.</a:t>
            </a:r>
            <a:endParaRPr lang="en-US" sz="1100" dirty="0"/>
          </a:p>
        </p:txBody>
      </p:sp>
      <p:sp>
        <p:nvSpPr>
          <p:cNvPr id="39" name="Text 35"/>
          <p:cNvSpPr/>
          <p:nvPr/>
        </p:nvSpPr>
        <p:spPr>
          <a:xfrm>
            <a:off x="4575962" y="4261104"/>
            <a:ext cx="3039770" cy="512064"/>
          </a:xfrm>
          <a:prstGeom prst="rect">
            <a:avLst/>
          </a:prstGeom>
          <a:noFill/>
          <a:ln/>
        </p:spPr>
        <p:txBody>
          <a:bodyPr wrap="square" lIns="0" tIns="0" rIns="0" bIns="0" rtlCol="0" anchor="t"/>
          <a:lstStyle/>
          <a:p>
            <a:pPr indent="0" marL="0">
              <a:lnSpc>
                <a:spcPct val="112000"/>
              </a:lnSpc>
              <a:buNone/>
            </a:pPr>
            <a:r>
              <a:rPr lang="en-US" sz="1100" b="1" dirty="0">
                <a:solidFill>
                  <a:srgbClr val="141235"/>
                </a:solidFill>
                <a:latin typeface="Calibri" pitchFamily="34" charset="0"/>
                <a:ea typeface="Calibri" pitchFamily="34" charset="-122"/>
                <a:cs typeface="Calibri" pitchFamily="34" charset="-120"/>
              </a:rPr>
              <a:t>Control comes back. The lead agent gets the result and carries on.</a:t>
            </a:r>
            <a:endParaRPr lang="en-US" sz="1100" dirty="0"/>
          </a:p>
        </p:txBody>
      </p:sp>
      <p:sp>
        <p:nvSpPr>
          <p:cNvPr id="40" name="Text 36"/>
          <p:cNvSpPr/>
          <p:nvPr/>
        </p:nvSpPr>
        <p:spPr>
          <a:xfrm>
            <a:off x="4575962" y="4791456"/>
            <a:ext cx="3039770" cy="292608"/>
          </a:xfrm>
          <a:prstGeom prst="rect">
            <a:avLst/>
          </a:prstGeom>
          <a:noFill/>
          <a:ln/>
        </p:spPr>
        <p:txBody>
          <a:bodyPr wrap="square" lIns="0" tIns="0" rIns="0" bIns="0" rtlCol="0" anchor="t"/>
          <a:lstStyle/>
          <a:p>
            <a:pPr indent="0" marL="0">
              <a:buNone/>
            </a:pPr>
            <a:r>
              <a:rPr lang="en-US" sz="1050" i="1" dirty="0">
                <a:solidFill>
                  <a:srgbClr val="F5A524"/>
                </a:solidFill>
                <a:latin typeface="Calibri" pitchFamily="34" charset="0"/>
                <a:ea typeface="Calibri" pitchFamily="34" charset="-122"/>
                <a:cs typeface="Calibri" pitchFamily="34" charset="-120"/>
              </a:rPr>
              <a:t>The usual default, and the easiest to reason about.</a:t>
            </a:r>
            <a:endParaRPr lang="en-US" sz="1050" dirty="0"/>
          </a:p>
        </p:txBody>
      </p:sp>
      <p:sp>
        <p:nvSpPr>
          <p:cNvPr id="41" name="Shape 37"/>
          <p:cNvSpPr/>
          <p:nvPr/>
        </p:nvSpPr>
        <p:spPr>
          <a:xfrm>
            <a:off x="8109509" y="1938528"/>
            <a:ext cx="3515258" cy="3200400"/>
          </a:xfrm>
          <a:prstGeom prst="roundRect">
            <a:avLst>
              <a:gd name="adj" fmla="val 285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42" name="Shape 38"/>
          <p:cNvSpPr/>
          <p:nvPr/>
        </p:nvSpPr>
        <p:spPr>
          <a:xfrm>
            <a:off x="8347253" y="2121408"/>
            <a:ext cx="402336" cy="402336"/>
          </a:xfrm>
          <a:prstGeom prst="ellipse">
            <a:avLst/>
          </a:prstGeom>
          <a:solidFill>
            <a:srgbClr val="0E8C9E"/>
          </a:solidFill>
          <a:ln w="12700">
            <a:solidFill>
              <a:srgbClr val="0E8C9E"/>
            </a:solidFill>
            <a:prstDash val="solid"/>
          </a:ln>
        </p:spPr>
      </p:sp>
      <p:pic>
        <p:nvPicPr>
          <p:cNvPr id="43" name="Image 2" descr="preencoded.png">    </p:cNvPr>
          <p:cNvPicPr>
            <a:picLocks noChangeAspect="1"/>
          </p:cNvPicPr>
          <p:nvPr/>
        </p:nvPicPr>
        <p:blipFill>
          <a:blip r:embed="rId3"/>
          <a:stretch>
            <a:fillRect/>
          </a:stretch>
        </p:blipFill>
        <p:spPr>
          <a:xfrm>
            <a:off x="8447837" y="2221992"/>
            <a:ext cx="201168" cy="201168"/>
          </a:xfrm>
          <a:prstGeom prst="rect">
            <a:avLst/>
          </a:prstGeom>
        </p:spPr>
      </p:pic>
      <p:sp>
        <p:nvSpPr>
          <p:cNvPr id="44" name="Text 39"/>
          <p:cNvSpPr/>
          <p:nvPr/>
        </p:nvSpPr>
        <p:spPr>
          <a:xfrm>
            <a:off x="8877605" y="2139696"/>
            <a:ext cx="2509418" cy="274320"/>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Hand-offs</a:t>
            </a:r>
            <a:endParaRPr lang="en-US" sz="1550" dirty="0"/>
          </a:p>
        </p:txBody>
      </p:sp>
      <p:sp>
        <p:nvSpPr>
          <p:cNvPr id="45" name="Text 40"/>
          <p:cNvSpPr/>
          <p:nvPr/>
        </p:nvSpPr>
        <p:spPr>
          <a:xfrm>
            <a:off x="8877605" y="2414016"/>
            <a:ext cx="2509418" cy="219456"/>
          </a:xfrm>
          <a:prstGeom prst="rect">
            <a:avLst/>
          </a:prstGeom>
          <a:noFill/>
          <a:ln/>
        </p:spPr>
        <p:txBody>
          <a:bodyPr wrap="square" lIns="0" tIns="0" rIns="0" bIns="0" rtlCol="0" anchor="ctr"/>
          <a:lstStyle/>
          <a:p>
            <a:pPr indent="0" marL="0">
              <a:buNone/>
            </a:pPr>
            <a:r>
              <a:rPr lang="en-US" sz="850" b="1" spc="140" kern="0" dirty="0">
                <a:solidFill>
                  <a:srgbClr val="0E8C9E"/>
                </a:solidFill>
                <a:latin typeface="Calibri" pitchFamily="34" charset="0"/>
                <a:ea typeface="Calibri" pitchFamily="34" charset="-122"/>
                <a:cs typeface="Calibri" pitchFamily="34" charset="-120"/>
              </a:rPr>
              <a:t>THE MODEL DECIDES</a:t>
            </a:r>
            <a:endParaRPr lang="en-US" sz="850" dirty="0"/>
          </a:p>
        </p:txBody>
      </p:sp>
      <p:sp>
        <p:nvSpPr>
          <p:cNvPr id="46" name="Shape 41"/>
          <p:cNvSpPr/>
          <p:nvPr/>
        </p:nvSpPr>
        <p:spPr>
          <a:xfrm>
            <a:off x="8724138" y="2798064"/>
            <a:ext cx="914400" cy="402336"/>
          </a:xfrm>
          <a:prstGeom prst="roundRect">
            <a:avLst>
              <a:gd name="adj" fmla="val 18182"/>
            </a:avLst>
          </a:prstGeom>
          <a:solidFill>
            <a:srgbClr val="FFFFFF"/>
          </a:solidFill>
          <a:ln w="19050">
            <a:solidFill>
              <a:srgbClr val="0E8C9E"/>
            </a:solidFill>
            <a:prstDash val="solid"/>
          </a:ln>
        </p:spPr>
      </p:sp>
      <p:sp>
        <p:nvSpPr>
          <p:cNvPr id="47" name="Text 42"/>
          <p:cNvSpPr/>
          <p:nvPr/>
        </p:nvSpPr>
        <p:spPr>
          <a:xfrm>
            <a:off x="8724138" y="2798064"/>
            <a:ext cx="914400" cy="402336"/>
          </a:xfrm>
          <a:prstGeom prst="rect">
            <a:avLst/>
          </a:prstGeom>
          <a:noFill/>
          <a:ln/>
        </p:spPr>
        <p:txBody>
          <a:bodyPr wrap="square" lIns="635" tIns="635" rIns="635" bIns="635" rtlCol="0" anchor="ctr"/>
          <a:lstStyle/>
          <a:p>
            <a:pPr algn="ctr" indent="0" marL="0">
              <a:lnSpc>
                <a:spcPct val="110000"/>
              </a:lnSpc>
              <a:buNone/>
            </a:pPr>
            <a:r>
              <a:rPr lang="en-US" sz="950" b="1" dirty="0">
                <a:solidFill>
                  <a:srgbClr val="141235"/>
                </a:solidFill>
                <a:latin typeface="Calibri" pitchFamily="34" charset="0"/>
                <a:ea typeface="Calibri" pitchFamily="34" charset="-122"/>
                <a:cs typeface="Calibri" pitchFamily="34" charset="-120"/>
              </a:rPr>
              <a:t>lead agent</a:t>
            </a:r>
            <a:endParaRPr lang="en-US" sz="950" dirty="0"/>
          </a:p>
        </p:txBody>
      </p:sp>
      <p:sp>
        <p:nvSpPr>
          <p:cNvPr id="48" name="Shape 43"/>
          <p:cNvSpPr/>
          <p:nvPr/>
        </p:nvSpPr>
        <p:spPr>
          <a:xfrm>
            <a:off x="10095738" y="2578608"/>
            <a:ext cx="914400" cy="365760"/>
          </a:xfrm>
          <a:prstGeom prst="roundRect">
            <a:avLst>
              <a:gd name="adj" fmla="val 20000"/>
            </a:avLst>
          </a:prstGeom>
          <a:solidFill>
            <a:srgbClr val="FFFFFF"/>
          </a:solidFill>
          <a:ln w="19050">
            <a:solidFill>
              <a:srgbClr val="E3E4F2"/>
            </a:solidFill>
            <a:prstDash val="solid"/>
          </a:ln>
        </p:spPr>
      </p:sp>
      <p:sp>
        <p:nvSpPr>
          <p:cNvPr id="49" name="Text 44"/>
          <p:cNvSpPr/>
          <p:nvPr/>
        </p:nvSpPr>
        <p:spPr>
          <a:xfrm>
            <a:off x="10095738" y="2578608"/>
            <a:ext cx="914400" cy="365760"/>
          </a:xfrm>
          <a:prstGeom prst="rect">
            <a:avLst/>
          </a:prstGeom>
          <a:noFill/>
          <a:ln/>
        </p:spPr>
        <p:txBody>
          <a:bodyPr wrap="square" lIns="635" tIns="635" rIns="635" bIns="635" rtlCol="0" anchor="ctr"/>
          <a:lstStyle/>
          <a:p>
            <a:pPr algn="ctr" indent="0" marL="0">
              <a:lnSpc>
                <a:spcPct val="110000"/>
              </a:lnSpc>
              <a:buNone/>
            </a:pPr>
            <a:r>
              <a:rPr lang="en-US" sz="900" b="1" dirty="0">
                <a:solidFill>
                  <a:srgbClr val="141235"/>
                </a:solidFill>
                <a:latin typeface="Calibri" pitchFamily="34" charset="0"/>
                <a:ea typeface="Calibri" pitchFamily="34" charset="-122"/>
                <a:cs typeface="Calibri" pitchFamily="34" charset="-120"/>
              </a:rPr>
              <a:t>invoices</a:t>
            </a:r>
            <a:endParaRPr lang="en-US" sz="900" dirty="0"/>
          </a:p>
        </p:txBody>
      </p:sp>
      <p:sp>
        <p:nvSpPr>
          <p:cNvPr id="50" name="Shape 45"/>
          <p:cNvSpPr/>
          <p:nvPr/>
        </p:nvSpPr>
        <p:spPr>
          <a:xfrm>
            <a:off x="10095738" y="3108960"/>
            <a:ext cx="914400" cy="365760"/>
          </a:xfrm>
          <a:prstGeom prst="roundRect">
            <a:avLst>
              <a:gd name="adj" fmla="val 20000"/>
            </a:avLst>
          </a:prstGeom>
          <a:solidFill>
            <a:srgbClr val="FFFFFF"/>
          </a:solidFill>
          <a:ln w="19050">
            <a:solidFill>
              <a:srgbClr val="E3E4F2"/>
            </a:solidFill>
            <a:prstDash val="solid"/>
          </a:ln>
        </p:spPr>
      </p:sp>
      <p:sp>
        <p:nvSpPr>
          <p:cNvPr id="51" name="Text 46"/>
          <p:cNvSpPr/>
          <p:nvPr/>
        </p:nvSpPr>
        <p:spPr>
          <a:xfrm>
            <a:off x="10095738" y="3108960"/>
            <a:ext cx="914400" cy="365760"/>
          </a:xfrm>
          <a:prstGeom prst="rect">
            <a:avLst/>
          </a:prstGeom>
          <a:noFill/>
          <a:ln/>
        </p:spPr>
        <p:txBody>
          <a:bodyPr wrap="square" lIns="635" tIns="635" rIns="635" bIns="635" rtlCol="0" anchor="ctr"/>
          <a:lstStyle/>
          <a:p>
            <a:pPr algn="ctr" indent="0" marL="0">
              <a:lnSpc>
                <a:spcPct val="110000"/>
              </a:lnSpc>
              <a:buNone/>
            </a:pPr>
            <a:r>
              <a:rPr lang="en-US" sz="900" b="1" dirty="0">
                <a:solidFill>
                  <a:srgbClr val="141235"/>
                </a:solidFill>
                <a:latin typeface="Calibri" pitchFamily="34" charset="0"/>
                <a:ea typeface="Calibri" pitchFamily="34" charset="-122"/>
                <a:cs typeface="Calibri" pitchFamily="34" charset="-120"/>
              </a:rPr>
              <a:t>people</a:t>
            </a:r>
            <a:endParaRPr lang="en-US" sz="900" dirty="0"/>
          </a:p>
        </p:txBody>
      </p:sp>
      <p:sp>
        <p:nvSpPr>
          <p:cNvPr id="52" name="Shape 47"/>
          <p:cNvSpPr/>
          <p:nvPr/>
        </p:nvSpPr>
        <p:spPr>
          <a:xfrm>
            <a:off x="9693402" y="2962656"/>
            <a:ext cx="347472" cy="-128016"/>
          </a:xfrm>
          <a:prstGeom prst="line">
            <a:avLst/>
          </a:prstGeom>
          <a:noFill/>
          <a:ln w="17780">
            <a:solidFill>
              <a:srgbClr val="0E8C9E"/>
            </a:solidFill>
            <a:prstDash val="solid"/>
            <a:headEnd type="none"/>
            <a:tailEnd type="triangle"/>
          </a:ln>
        </p:spPr>
      </p:sp>
      <p:sp>
        <p:nvSpPr>
          <p:cNvPr id="53" name="Shape 48"/>
          <p:cNvSpPr/>
          <p:nvPr/>
        </p:nvSpPr>
        <p:spPr>
          <a:xfrm>
            <a:off x="9693402" y="3072384"/>
            <a:ext cx="347472" cy="201168"/>
          </a:xfrm>
          <a:prstGeom prst="line">
            <a:avLst/>
          </a:prstGeom>
          <a:noFill/>
          <a:ln w="17780">
            <a:solidFill>
              <a:srgbClr val="0E8C9E"/>
            </a:solidFill>
            <a:prstDash val="solid"/>
            <a:headEnd type="none"/>
            <a:tailEnd type="triangle"/>
          </a:ln>
        </p:spPr>
      </p:sp>
      <p:sp>
        <p:nvSpPr>
          <p:cNvPr id="54" name="Text 49"/>
          <p:cNvSpPr/>
          <p:nvPr/>
        </p:nvSpPr>
        <p:spPr>
          <a:xfrm>
            <a:off x="8347253" y="3621024"/>
            <a:ext cx="3039770" cy="603504"/>
          </a:xfrm>
          <a:prstGeom prst="rect">
            <a:avLst/>
          </a:prstGeom>
          <a:noFill/>
          <a:ln/>
        </p:spPr>
        <p:txBody>
          <a:bodyPr wrap="square" lIns="0" tIns="0" rIns="0" bIns="0" rtlCol="0" anchor="t"/>
          <a:lstStyle/>
          <a:p>
            <a:pPr indent="0" marL="0">
              <a:lnSpc>
                <a:spcPct val="112000"/>
              </a:lnSpc>
              <a:buNone/>
            </a:pPr>
            <a:r>
              <a:rPr lang="en-US" sz="1100" dirty="0">
                <a:solidFill>
                  <a:srgbClr val="6E6B8A"/>
                </a:solidFill>
                <a:latin typeface="Calibri" pitchFamily="34" charset="0"/>
                <a:ea typeface="Calibri" pitchFamily="34" charset="-122"/>
                <a:cs typeface="Calibri" pitchFamily="34" charset="-120"/>
              </a:rPr>
              <a:t>The lead agent transfers the conversation to a specialist.</a:t>
            </a:r>
            <a:endParaRPr lang="en-US" sz="1100" dirty="0"/>
          </a:p>
        </p:txBody>
      </p:sp>
      <p:sp>
        <p:nvSpPr>
          <p:cNvPr id="55" name="Text 50"/>
          <p:cNvSpPr/>
          <p:nvPr/>
        </p:nvSpPr>
        <p:spPr>
          <a:xfrm>
            <a:off x="8347253" y="4261104"/>
            <a:ext cx="3039770" cy="512064"/>
          </a:xfrm>
          <a:prstGeom prst="rect">
            <a:avLst/>
          </a:prstGeom>
          <a:noFill/>
          <a:ln/>
        </p:spPr>
        <p:txBody>
          <a:bodyPr wrap="square" lIns="0" tIns="0" rIns="0" bIns="0" rtlCol="0" anchor="t"/>
          <a:lstStyle/>
          <a:p>
            <a:pPr indent="0" marL="0">
              <a:lnSpc>
                <a:spcPct val="112000"/>
              </a:lnSpc>
              <a:buNone/>
            </a:pPr>
            <a:r>
              <a:rPr lang="en-US" sz="1100" b="1" dirty="0">
                <a:solidFill>
                  <a:srgbClr val="141235"/>
                </a:solidFill>
                <a:latin typeface="Calibri" pitchFamily="34" charset="0"/>
                <a:ea typeface="Calibri" pitchFamily="34" charset="-122"/>
                <a:cs typeface="Calibri" pitchFamily="34" charset="-120"/>
              </a:rPr>
              <a:t>Control does NOT come back. Whoever holds it, finishes.</a:t>
            </a:r>
            <a:endParaRPr lang="en-US" sz="1100" dirty="0"/>
          </a:p>
        </p:txBody>
      </p:sp>
      <p:sp>
        <p:nvSpPr>
          <p:cNvPr id="56" name="Text 51"/>
          <p:cNvSpPr/>
          <p:nvPr/>
        </p:nvSpPr>
        <p:spPr>
          <a:xfrm>
            <a:off x="8347253" y="4791456"/>
            <a:ext cx="3039770" cy="292608"/>
          </a:xfrm>
          <a:prstGeom prst="rect">
            <a:avLst/>
          </a:prstGeom>
          <a:noFill/>
          <a:ln/>
        </p:spPr>
        <p:txBody>
          <a:bodyPr wrap="square" lIns="0" tIns="0" rIns="0" bIns="0" rtlCol="0" anchor="t"/>
          <a:lstStyle/>
          <a:p>
            <a:pPr indent="0" marL="0">
              <a:buNone/>
            </a:pPr>
            <a:r>
              <a:rPr lang="en-US" sz="1050" i="1" dirty="0">
                <a:solidFill>
                  <a:srgbClr val="0E8C9E"/>
                </a:solidFill>
                <a:latin typeface="Calibri" pitchFamily="34" charset="0"/>
                <a:ea typeface="Calibri" pitchFamily="34" charset="-122"/>
                <a:cs typeface="Calibri" pitchFamily="34" charset="-120"/>
              </a:rPr>
              <a:t>Watch a two-part question come back half-answered.</a:t>
            </a:r>
            <a:endParaRPr lang="en-US" sz="1050" dirty="0"/>
          </a:p>
        </p:txBody>
      </p:sp>
      <p:sp>
        <p:nvSpPr>
          <p:cNvPr id="57" name="Shape 52"/>
          <p:cNvSpPr/>
          <p:nvPr/>
        </p:nvSpPr>
        <p:spPr>
          <a:xfrm>
            <a:off x="566928" y="5285232"/>
            <a:ext cx="11057839" cy="786384"/>
          </a:xfrm>
          <a:prstGeom prst="roundRect">
            <a:avLst>
              <a:gd name="adj" fmla="val 10465"/>
            </a:avLst>
          </a:prstGeom>
          <a:solidFill>
            <a:srgbClr val="FFF4E0"/>
          </a:solidFill>
          <a:ln w="12700">
            <a:solidFill>
              <a:srgbClr val="F3DCB0"/>
            </a:solidFill>
            <a:prstDash val="solid"/>
          </a:ln>
        </p:spPr>
      </p:sp>
      <p:sp>
        <p:nvSpPr>
          <p:cNvPr id="58" name="Shape 53"/>
          <p:cNvSpPr/>
          <p:nvPr/>
        </p:nvSpPr>
        <p:spPr>
          <a:xfrm>
            <a:off x="841248" y="5486400"/>
            <a:ext cx="384048" cy="384048"/>
          </a:xfrm>
          <a:prstGeom prst="ellipse">
            <a:avLst/>
          </a:prstGeom>
          <a:solidFill>
            <a:srgbClr val="F5A524"/>
          </a:solidFill>
          <a:ln w="12700">
            <a:solidFill>
              <a:srgbClr val="F5A524"/>
            </a:solidFill>
            <a:prstDash val="solid"/>
          </a:ln>
        </p:spPr>
      </p:sp>
      <p:pic>
        <p:nvPicPr>
          <p:cNvPr id="59" name="Image 3" descr="preencoded.png">    </p:cNvPr>
          <p:cNvPicPr>
            <a:picLocks noChangeAspect="1"/>
          </p:cNvPicPr>
          <p:nvPr/>
        </p:nvPicPr>
        <p:blipFill>
          <a:blip r:embed="rId4"/>
          <a:stretch>
            <a:fillRect/>
          </a:stretch>
        </p:blipFill>
        <p:spPr>
          <a:xfrm>
            <a:off x="937260" y="5582412"/>
            <a:ext cx="192024" cy="192024"/>
          </a:xfrm>
          <a:prstGeom prst="rect">
            <a:avLst/>
          </a:prstGeom>
        </p:spPr>
      </p:pic>
      <p:sp>
        <p:nvSpPr>
          <p:cNvPr id="60" name="Text 54"/>
          <p:cNvSpPr/>
          <p:nvPr/>
        </p:nvSpPr>
        <p:spPr>
          <a:xfrm>
            <a:off x="1371600" y="5340096"/>
            <a:ext cx="9960559" cy="676656"/>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A tool is a colleague you ask a question and who answers you. A hand-off is passing the customer to another desk — you are not part of that conversation any more.</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09</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09</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LangGraph, or the arrows made explicit</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Module 08 hid the control flow. Here you draw it — and get pause and resume in exchange.</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Five patterns that are not agents, and cover most production work</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Before the loop chooses anything, these five shapes solve most of what people bring to us. You wrote the steps in all of them.</a:t>
            </a:r>
            <a:endParaRPr lang="en-US" sz="1400" dirty="0"/>
          </a:p>
        </p:txBody>
      </p:sp>
      <p:sp>
        <p:nvSpPr>
          <p:cNvPr id="5" name="Shape 3"/>
          <p:cNvSpPr/>
          <p:nvPr/>
        </p:nvSpPr>
        <p:spPr>
          <a:xfrm>
            <a:off x="566928" y="1975104"/>
            <a:ext cx="2065264" cy="3054096"/>
          </a:xfrm>
          <a:prstGeom prst="roundRect">
            <a:avLst>
              <a:gd name="adj" fmla="val 4428"/>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6" name="Text 4"/>
          <p:cNvSpPr/>
          <p:nvPr/>
        </p:nvSpPr>
        <p:spPr>
          <a:xfrm>
            <a:off x="768096" y="2084832"/>
            <a:ext cx="365760" cy="310896"/>
          </a:xfrm>
          <a:prstGeom prst="rect">
            <a:avLst/>
          </a:prstGeom>
          <a:noFill/>
          <a:ln/>
        </p:spPr>
        <p:txBody>
          <a:bodyPr wrap="square" lIns="0" tIns="0" rIns="0" bIns="0" rtlCol="0" anchor="ctr"/>
          <a:lstStyle/>
          <a:p>
            <a:pPr indent="0" marL="0">
              <a:buNone/>
            </a:pPr>
            <a:r>
              <a:rPr lang="en-US" sz="2000" b="1" dirty="0">
                <a:solidFill>
                  <a:srgbClr val="8E82F5"/>
                </a:solidFill>
                <a:latin typeface="Cambria" pitchFamily="34" charset="0"/>
                <a:ea typeface="Cambria" pitchFamily="34" charset="-122"/>
                <a:cs typeface="Cambria" pitchFamily="34" charset="-120"/>
              </a:rPr>
              <a:t>1</a:t>
            </a:r>
            <a:endParaRPr lang="en-US" sz="2000" dirty="0"/>
          </a:p>
        </p:txBody>
      </p:sp>
      <p:sp>
        <p:nvSpPr>
          <p:cNvPr id="7" name="Shape 5"/>
          <p:cNvSpPr/>
          <p:nvPr/>
        </p:nvSpPr>
        <p:spPr>
          <a:xfrm>
            <a:off x="749808" y="2852928"/>
            <a:ext cx="274320" cy="237744"/>
          </a:xfrm>
          <a:prstGeom prst="roundRect">
            <a:avLst>
              <a:gd name="adj" fmla="val 19231"/>
            </a:avLst>
          </a:prstGeom>
          <a:solidFill>
            <a:srgbClr val="8E82F5"/>
          </a:solidFill>
          <a:ln w="12700">
            <a:solidFill>
              <a:srgbClr val="8E82F5"/>
            </a:solidFill>
            <a:prstDash val="solid"/>
          </a:ln>
        </p:spPr>
      </p:sp>
      <p:sp>
        <p:nvSpPr>
          <p:cNvPr id="8" name="Shape 6"/>
          <p:cNvSpPr/>
          <p:nvPr/>
        </p:nvSpPr>
        <p:spPr>
          <a:xfrm>
            <a:off x="1024128" y="2971800"/>
            <a:ext cx="109728" cy="0"/>
          </a:xfrm>
          <a:prstGeom prst="line">
            <a:avLst/>
          </a:prstGeom>
          <a:noFill/>
          <a:ln w="15240">
            <a:solidFill>
              <a:srgbClr val="9B98B4"/>
            </a:solidFill>
            <a:prstDash val="solid"/>
            <a:tailEnd type="triangle"/>
          </a:ln>
        </p:spPr>
      </p:sp>
      <p:sp>
        <p:nvSpPr>
          <p:cNvPr id="9" name="Shape 7"/>
          <p:cNvSpPr/>
          <p:nvPr/>
        </p:nvSpPr>
        <p:spPr>
          <a:xfrm>
            <a:off x="1133856" y="2852928"/>
            <a:ext cx="274320" cy="237744"/>
          </a:xfrm>
          <a:prstGeom prst="roundRect">
            <a:avLst>
              <a:gd name="adj" fmla="val 19231"/>
            </a:avLst>
          </a:prstGeom>
          <a:solidFill>
            <a:srgbClr val="F5A524"/>
          </a:solidFill>
          <a:ln w="12700">
            <a:solidFill>
              <a:srgbClr val="F5A524"/>
            </a:solidFill>
            <a:prstDash val="solid"/>
          </a:ln>
        </p:spPr>
      </p:sp>
      <p:sp>
        <p:nvSpPr>
          <p:cNvPr id="10" name="Shape 8"/>
          <p:cNvSpPr/>
          <p:nvPr/>
        </p:nvSpPr>
        <p:spPr>
          <a:xfrm>
            <a:off x="1408176" y="2971800"/>
            <a:ext cx="109728" cy="0"/>
          </a:xfrm>
          <a:prstGeom prst="line">
            <a:avLst/>
          </a:prstGeom>
          <a:noFill/>
          <a:ln w="15240">
            <a:solidFill>
              <a:srgbClr val="9B98B4"/>
            </a:solidFill>
            <a:prstDash val="solid"/>
            <a:tailEnd type="triangle"/>
          </a:ln>
        </p:spPr>
      </p:sp>
      <p:sp>
        <p:nvSpPr>
          <p:cNvPr id="11" name="Shape 9"/>
          <p:cNvSpPr/>
          <p:nvPr/>
        </p:nvSpPr>
        <p:spPr>
          <a:xfrm>
            <a:off x="1517904" y="2852928"/>
            <a:ext cx="274320" cy="237744"/>
          </a:xfrm>
          <a:prstGeom prst="roundRect">
            <a:avLst>
              <a:gd name="adj" fmla="val 19231"/>
            </a:avLst>
          </a:prstGeom>
          <a:solidFill>
            <a:srgbClr val="8E82F5"/>
          </a:solidFill>
          <a:ln w="12700">
            <a:solidFill>
              <a:srgbClr val="8E82F5"/>
            </a:solidFill>
            <a:prstDash val="solid"/>
          </a:ln>
        </p:spPr>
      </p:sp>
      <p:sp>
        <p:nvSpPr>
          <p:cNvPr id="12" name="Shape 10"/>
          <p:cNvSpPr/>
          <p:nvPr/>
        </p:nvSpPr>
        <p:spPr>
          <a:xfrm>
            <a:off x="1792224" y="2971800"/>
            <a:ext cx="109728" cy="0"/>
          </a:xfrm>
          <a:prstGeom prst="line">
            <a:avLst/>
          </a:prstGeom>
          <a:noFill/>
          <a:ln w="15240">
            <a:solidFill>
              <a:srgbClr val="9B98B4"/>
            </a:solidFill>
            <a:prstDash val="solid"/>
            <a:tailEnd type="triangle"/>
          </a:ln>
        </p:spPr>
      </p:sp>
      <p:sp>
        <p:nvSpPr>
          <p:cNvPr id="13" name="Shape 11"/>
          <p:cNvSpPr/>
          <p:nvPr/>
        </p:nvSpPr>
        <p:spPr>
          <a:xfrm>
            <a:off x="1901952" y="2852928"/>
            <a:ext cx="274320" cy="237744"/>
          </a:xfrm>
          <a:prstGeom prst="roundRect">
            <a:avLst>
              <a:gd name="adj" fmla="val 19231"/>
            </a:avLst>
          </a:prstGeom>
          <a:solidFill>
            <a:srgbClr val="8E82F5"/>
          </a:solidFill>
          <a:ln w="12700">
            <a:solidFill>
              <a:srgbClr val="8E82F5"/>
            </a:solidFill>
            <a:prstDash val="solid"/>
          </a:ln>
        </p:spPr>
      </p:sp>
      <p:sp>
        <p:nvSpPr>
          <p:cNvPr id="14" name="Text 12"/>
          <p:cNvSpPr/>
          <p:nvPr/>
        </p:nvSpPr>
        <p:spPr>
          <a:xfrm>
            <a:off x="749808" y="3785616"/>
            <a:ext cx="1699504" cy="512064"/>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Prompt chaining</a:t>
            </a:r>
            <a:endParaRPr lang="en-US" sz="1300" dirty="0"/>
          </a:p>
        </p:txBody>
      </p:sp>
      <p:sp>
        <p:nvSpPr>
          <p:cNvPr id="15" name="Text 13"/>
          <p:cNvSpPr/>
          <p:nvPr/>
        </p:nvSpPr>
        <p:spPr>
          <a:xfrm>
            <a:off x="749808" y="4297680"/>
            <a:ext cx="1699504" cy="548640"/>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Fixed sub-tasks in order, with a check between them.</a:t>
            </a:r>
            <a:endParaRPr lang="en-US" sz="1050" dirty="0"/>
          </a:p>
        </p:txBody>
      </p:sp>
      <p:sp>
        <p:nvSpPr>
          <p:cNvPr id="16" name="Text 14"/>
          <p:cNvSpPr/>
          <p:nvPr/>
        </p:nvSpPr>
        <p:spPr>
          <a:xfrm>
            <a:off x="749808" y="4718304"/>
            <a:ext cx="1699504" cy="274320"/>
          </a:xfrm>
          <a:prstGeom prst="rect">
            <a:avLst/>
          </a:prstGeom>
          <a:noFill/>
          <a:ln/>
        </p:spPr>
        <p:txBody>
          <a:bodyPr wrap="square" lIns="0" tIns="0" rIns="0" bIns="0" rtlCol="0" anchor="t"/>
          <a:lstStyle/>
          <a:p>
            <a:pPr indent="0" marL="0">
              <a:buNone/>
            </a:pPr>
            <a:r>
              <a:rPr lang="en-US" sz="1000" i="1" dirty="0">
                <a:solidFill>
                  <a:srgbClr val="5B4BE8"/>
                </a:solidFill>
                <a:latin typeface="Calibri" pitchFamily="34" charset="0"/>
                <a:ea typeface="Calibri" pitchFamily="34" charset="-122"/>
                <a:cs typeface="Calibri" pitchFamily="34" charset="-120"/>
              </a:rPr>
              <a:t>Draft, then check, then format.</a:t>
            </a:r>
            <a:endParaRPr lang="en-US" sz="1000" dirty="0"/>
          </a:p>
        </p:txBody>
      </p:sp>
      <p:sp>
        <p:nvSpPr>
          <p:cNvPr id="17" name="Shape 15"/>
          <p:cNvSpPr/>
          <p:nvPr/>
        </p:nvSpPr>
        <p:spPr>
          <a:xfrm>
            <a:off x="2815072" y="1975104"/>
            <a:ext cx="2065264" cy="3054096"/>
          </a:xfrm>
          <a:prstGeom prst="roundRect">
            <a:avLst>
              <a:gd name="adj" fmla="val 4428"/>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8" name="Text 16"/>
          <p:cNvSpPr/>
          <p:nvPr/>
        </p:nvSpPr>
        <p:spPr>
          <a:xfrm>
            <a:off x="3016240" y="2084832"/>
            <a:ext cx="365760" cy="310896"/>
          </a:xfrm>
          <a:prstGeom prst="rect">
            <a:avLst/>
          </a:prstGeom>
          <a:noFill/>
          <a:ln/>
        </p:spPr>
        <p:txBody>
          <a:bodyPr wrap="square" lIns="0" tIns="0" rIns="0" bIns="0" rtlCol="0" anchor="ctr"/>
          <a:lstStyle/>
          <a:p>
            <a:pPr indent="0" marL="0">
              <a:buNone/>
            </a:pPr>
            <a:r>
              <a:rPr lang="en-US" sz="2000" b="1" dirty="0">
                <a:solidFill>
                  <a:srgbClr val="8E82F5"/>
                </a:solidFill>
                <a:latin typeface="Cambria" pitchFamily="34" charset="0"/>
                <a:ea typeface="Cambria" pitchFamily="34" charset="-122"/>
                <a:cs typeface="Cambria" pitchFamily="34" charset="-120"/>
              </a:rPr>
              <a:t>2</a:t>
            </a:r>
            <a:endParaRPr lang="en-US" sz="2000" dirty="0"/>
          </a:p>
        </p:txBody>
      </p:sp>
      <p:sp>
        <p:nvSpPr>
          <p:cNvPr id="19" name="Shape 17"/>
          <p:cNvSpPr/>
          <p:nvPr/>
        </p:nvSpPr>
        <p:spPr>
          <a:xfrm>
            <a:off x="2997952" y="2852928"/>
            <a:ext cx="274320" cy="237744"/>
          </a:xfrm>
          <a:prstGeom prst="roundRect">
            <a:avLst>
              <a:gd name="adj" fmla="val 19231"/>
            </a:avLst>
          </a:prstGeom>
          <a:solidFill>
            <a:srgbClr val="5B4BE8"/>
          </a:solidFill>
          <a:ln w="12700">
            <a:solidFill>
              <a:srgbClr val="5B4BE8"/>
            </a:solidFill>
            <a:prstDash val="solid"/>
          </a:ln>
        </p:spPr>
      </p:sp>
      <p:sp>
        <p:nvSpPr>
          <p:cNvPr id="20" name="Shape 18"/>
          <p:cNvSpPr/>
          <p:nvPr/>
        </p:nvSpPr>
        <p:spPr>
          <a:xfrm>
            <a:off x="3784336" y="2542032"/>
            <a:ext cx="274320" cy="237744"/>
          </a:xfrm>
          <a:prstGeom prst="roundRect">
            <a:avLst>
              <a:gd name="adj" fmla="val 19231"/>
            </a:avLst>
          </a:prstGeom>
          <a:solidFill>
            <a:srgbClr val="8E82F5"/>
          </a:solidFill>
          <a:ln w="12700">
            <a:solidFill>
              <a:srgbClr val="8E82F5"/>
            </a:solidFill>
            <a:prstDash val="solid"/>
          </a:ln>
        </p:spPr>
      </p:sp>
      <p:sp>
        <p:nvSpPr>
          <p:cNvPr id="21" name="Shape 19"/>
          <p:cNvSpPr/>
          <p:nvPr/>
        </p:nvSpPr>
        <p:spPr>
          <a:xfrm>
            <a:off x="3272272" y="2971800"/>
            <a:ext cx="512064" cy="-310896"/>
          </a:xfrm>
          <a:prstGeom prst="line">
            <a:avLst/>
          </a:prstGeom>
          <a:noFill/>
          <a:ln w="15240">
            <a:solidFill>
              <a:srgbClr val="9B98B4"/>
            </a:solidFill>
            <a:prstDash val="solid"/>
            <a:tailEnd type="triangle"/>
          </a:ln>
        </p:spPr>
      </p:sp>
      <p:sp>
        <p:nvSpPr>
          <p:cNvPr id="22" name="Shape 20"/>
          <p:cNvSpPr/>
          <p:nvPr/>
        </p:nvSpPr>
        <p:spPr>
          <a:xfrm>
            <a:off x="3784336" y="2834640"/>
            <a:ext cx="274320" cy="237744"/>
          </a:xfrm>
          <a:prstGeom prst="roundRect">
            <a:avLst>
              <a:gd name="adj" fmla="val 19231"/>
            </a:avLst>
          </a:prstGeom>
          <a:solidFill>
            <a:srgbClr val="8E82F5"/>
          </a:solidFill>
          <a:ln w="12700">
            <a:solidFill>
              <a:srgbClr val="8E82F5"/>
            </a:solidFill>
            <a:prstDash val="solid"/>
          </a:ln>
        </p:spPr>
      </p:sp>
      <p:sp>
        <p:nvSpPr>
          <p:cNvPr id="23" name="Shape 21"/>
          <p:cNvSpPr/>
          <p:nvPr/>
        </p:nvSpPr>
        <p:spPr>
          <a:xfrm>
            <a:off x="3272272" y="2971800"/>
            <a:ext cx="512064" cy="-18288"/>
          </a:xfrm>
          <a:prstGeom prst="line">
            <a:avLst/>
          </a:prstGeom>
          <a:noFill/>
          <a:ln w="15240">
            <a:solidFill>
              <a:srgbClr val="9B98B4"/>
            </a:solidFill>
            <a:prstDash val="solid"/>
            <a:tailEnd type="triangle"/>
          </a:ln>
        </p:spPr>
      </p:sp>
      <p:sp>
        <p:nvSpPr>
          <p:cNvPr id="24" name="Shape 22"/>
          <p:cNvSpPr/>
          <p:nvPr/>
        </p:nvSpPr>
        <p:spPr>
          <a:xfrm>
            <a:off x="3784336" y="3127248"/>
            <a:ext cx="274320" cy="237744"/>
          </a:xfrm>
          <a:prstGeom prst="roundRect">
            <a:avLst>
              <a:gd name="adj" fmla="val 19231"/>
            </a:avLst>
          </a:prstGeom>
          <a:solidFill>
            <a:srgbClr val="8E82F5"/>
          </a:solidFill>
          <a:ln w="12700">
            <a:solidFill>
              <a:srgbClr val="8E82F5"/>
            </a:solidFill>
            <a:prstDash val="solid"/>
          </a:ln>
        </p:spPr>
      </p:sp>
      <p:sp>
        <p:nvSpPr>
          <p:cNvPr id="25" name="Shape 23"/>
          <p:cNvSpPr/>
          <p:nvPr/>
        </p:nvSpPr>
        <p:spPr>
          <a:xfrm>
            <a:off x="3272272" y="2971800"/>
            <a:ext cx="512064" cy="274320"/>
          </a:xfrm>
          <a:prstGeom prst="line">
            <a:avLst/>
          </a:prstGeom>
          <a:noFill/>
          <a:ln w="15240">
            <a:solidFill>
              <a:srgbClr val="9B98B4"/>
            </a:solidFill>
            <a:prstDash val="solid"/>
            <a:tailEnd type="triangle"/>
          </a:ln>
        </p:spPr>
      </p:sp>
      <p:sp>
        <p:nvSpPr>
          <p:cNvPr id="26" name="Text 24"/>
          <p:cNvSpPr/>
          <p:nvPr/>
        </p:nvSpPr>
        <p:spPr>
          <a:xfrm>
            <a:off x="2997952" y="3785616"/>
            <a:ext cx="1699504" cy="512064"/>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Routing</a:t>
            </a:r>
            <a:endParaRPr lang="en-US" sz="1300" dirty="0"/>
          </a:p>
        </p:txBody>
      </p:sp>
      <p:sp>
        <p:nvSpPr>
          <p:cNvPr id="27" name="Text 25"/>
          <p:cNvSpPr/>
          <p:nvPr/>
        </p:nvSpPr>
        <p:spPr>
          <a:xfrm>
            <a:off x="2997952" y="4297680"/>
            <a:ext cx="1699504" cy="548640"/>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Classify the input, then send it to a specialist path.</a:t>
            </a:r>
            <a:endParaRPr lang="en-US" sz="1050" dirty="0"/>
          </a:p>
        </p:txBody>
      </p:sp>
      <p:sp>
        <p:nvSpPr>
          <p:cNvPr id="28" name="Text 26"/>
          <p:cNvSpPr/>
          <p:nvPr/>
        </p:nvSpPr>
        <p:spPr>
          <a:xfrm>
            <a:off x="2997952" y="4718304"/>
            <a:ext cx="1699504" cy="274320"/>
          </a:xfrm>
          <a:prstGeom prst="rect">
            <a:avLst/>
          </a:prstGeom>
          <a:noFill/>
          <a:ln/>
        </p:spPr>
        <p:txBody>
          <a:bodyPr wrap="square" lIns="0" tIns="0" rIns="0" bIns="0" rtlCol="0" anchor="t"/>
          <a:lstStyle/>
          <a:p>
            <a:pPr indent="0" marL="0">
              <a:buNone/>
            </a:pPr>
            <a:r>
              <a:rPr lang="en-US" sz="1000" i="1" dirty="0">
                <a:solidFill>
                  <a:srgbClr val="5B4BE8"/>
                </a:solidFill>
                <a:latin typeface="Calibri" pitchFamily="34" charset="0"/>
                <a:ea typeface="Calibri" pitchFamily="34" charset="-122"/>
                <a:cs typeface="Calibri" pitchFamily="34" charset="-120"/>
              </a:rPr>
              <a:t>Billing, shipping, or product.</a:t>
            </a:r>
            <a:endParaRPr lang="en-US" sz="1000" dirty="0"/>
          </a:p>
        </p:txBody>
      </p:sp>
      <p:sp>
        <p:nvSpPr>
          <p:cNvPr id="29" name="Shape 27"/>
          <p:cNvSpPr/>
          <p:nvPr/>
        </p:nvSpPr>
        <p:spPr>
          <a:xfrm>
            <a:off x="5063216" y="1975104"/>
            <a:ext cx="2065264" cy="3054096"/>
          </a:xfrm>
          <a:prstGeom prst="roundRect">
            <a:avLst>
              <a:gd name="adj" fmla="val 4428"/>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30" name="Text 28"/>
          <p:cNvSpPr/>
          <p:nvPr/>
        </p:nvSpPr>
        <p:spPr>
          <a:xfrm>
            <a:off x="5264384" y="2084832"/>
            <a:ext cx="365760" cy="310896"/>
          </a:xfrm>
          <a:prstGeom prst="rect">
            <a:avLst/>
          </a:prstGeom>
          <a:noFill/>
          <a:ln/>
        </p:spPr>
        <p:txBody>
          <a:bodyPr wrap="square" lIns="0" tIns="0" rIns="0" bIns="0" rtlCol="0" anchor="ctr"/>
          <a:lstStyle/>
          <a:p>
            <a:pPr indent="0" marL="0">
              <a:buNone/>
            </a:pPr>
            <a:r>
              <a:rPr lang="en-US" sz="2000" b="1" dirty="0">
                <a:solidFill>
                  <a:srgbClr val="8E82F5"/>
                </a:solidFill>
                <a:latin typeface="Cambria" pitchFamily="34" charset="0"/>
                <a:ea typeface="Cambria" pitchFamily="34" charset="-122"/>
                <a:cs typeface="Cambria" pitchFamily="34" charset="-120"/>
              </a:rPr>
              <a:t>3</a:t>
            </a:r>
            <a:endParaRPr lang="en-US" sz="2000" dirty="0"/>
          </a:p>
        </p:txBody>
      </p:sp>
      <p:sp>
        <p:nvSpPr>
          <p:cNvPr id="31" name="Shape 29"/>
          <p:cNvSpPr/>
          <p:nvPr/>
        </p:nvSpPr>
        <p:spPr>
          <a:xfrm>
            <a:off x="5246096" y="2852928"/>
            <a:ext cx="274320" cy="237744"/>
          </a:xfrm>
          <a:prstGeom prst="roundRect">
            <a:avLst>
              <a:gd name="adj" fmla="val 19231"/>
            </a:avLst>
          </a:prstGeom>
          <a:solidFill>
            <a:srgbClr val="5B4BE8"/>
          </a:solidFill>
          <a:ln w="12700">
            <a:solidFill>
              <a:srgbClr val="5B4BE8"/>
            </a:solidFill>
            <a:prstDash val="solid"/>
          </a:ln>
        </p:spPr>
      </p:sp>
      <p:sp>
        <p:nvSpPr>
          <p:cNvPr id="32" name="Shape 30"/>
          <p:cNvSpPr/>
          <p:nvPr/>
        </p:nvSpPr>
        <p:spPr>
          <a:xfrm>
            <a:off x="5813024" y="2542032"/>
            <a:ext cx="219456" cy="237744"/>
          </a:xfrm>
          <a:prstGeom prst="roundRect">
            <a:avLst>
              <a:gd name="adj" fmla="val 20833"/>
            </a:avLst>
          </a:prstGeom>
          <a:solidFill>
            <a:srgbClr val="8E82F5"/>
          </a:solidFill>
          <a:ln w="12700">
            <a:solidFill>
              <a:srgbClr val="8E82F5"/>
            </a:solidFill>
            <a:prstDash val="solid"/>
          </a:ln>
        </p:spPr>
      </p:sp>
      <p:sp>
        <p:nvSpPr>
          <p:cNvPr id="33" name="Shape 31"/>
          <p:cNvSpPr/>
          <p:nvPr/>
        </p:nvSpPr>
        <p:spPr>
          <a:xfrm>
            <a:off x="5813024" y="2834640"/>
            <a:ext cx="219456" cy="237744"/>
          </a:xfrm>
          <a:prstGeom prst="roundRect">
            <a:avLst>
              <a:gd name="adj" fmla="val 20833"/>
            </a:avLst>
          </a:prstGeom>
          <a:solidFill>
            <a:srgbClr val="8E82F5"/>
          </a:solidFill>
          <a:ln w="12700">
            <a:solidFill>
              <a:srgbClr val="8E82F5"/>
            </a:solidFill>
            <a:prstDash val="solid"/>
          </a:ln>
        </p:spPr>
      </p:sp>
      <p:sp>
        <p:nvSpPr>
          <p:cNvPr id="34" name="Shape 32"/>
          <p:cNvSpPr/>
          <p:nvPr/>
        </p:nvSpPr>
        <p:spPr>
          <a:xfrm>
            <a:off x="5813024" y="3127248"/>
            <a:ext cx="219456" cy="237744"/>
          </a:xfrm>
          <a:prstGeom prst="roundRect">
            <a:avLst>
              <a:gd name="adj" fmla="val 20833"/>
            </a:avLst>
          </a:prstGeom>
          <a:solidFill>
            <a:srgbClr val="8E82F5"/>
          </a:solidFill>
          <a:ln w="12700">
            <a:solidFill>
              <a:srgbClr val="8E82F5"/>
            </a:solidFill>
            <a:prstDash val="solid"/>
          </a:ln>
        </p:spPr>
      </p:sp>
      <p:sp>
        <p:nvSpPr>
          <p:cNvPr id="35" name="Shape 33"/>
          <p:cNvSpPr/>
          <p:nvPr/>
        </p:nvSpPr>
        <p:spPr>
          <a:xfrm>
            <a:off x="6343376" y="2852928"/>
            <a:ext cx="274320" cy="237744"/>
          </a:xfrm>
          <a:prstGeom prst="roundRect">
            <a:avLst>
              <a:gd name="adj" fmla="val 19231"/>
            </a:avLst>
          </a:prstGeom>
          <a:solidFill>
            <a:srgbClr val="5B4BE8"/>
          </a:solidFill>
          <a:ln w="12700">
            <a:solidFill>
              <a:srgbClr val="5B4BE8"/>
            </a:solidFill>
            <a:prstDash val="solid"/>
          </a:ln>
        </p:spPr>
      </p:sp>
      <p:sp>
        <p:nvSpPr>
          <p:cNvPr id="36" name="Shape 34"/>
          <p:cNvSpPr/>
          <p:nvPr/>
        </p:nvSpPr>
        <p:spPr>
          <a:xfrm>
            <a:off x="5520416" y="2971800"/>
            <a:ext cx="292608" cy="-310896"/>
          </a:xfrm>
          <a:prstGeom prst="line">
            <a:avLst/>
          </a:prstGeom>
          <a:noFill/>
          <a:ln w="15240">
            <a:solidFill>
              <a:srgbClr val="9B98B4"/>
            </a:solidFill>
            <a:prstDash val="solid"/>
            <a:tailEnd type="triangle"/>
          </a:ln>
        </p:spPr>
      </p:sp>
      <p:sp>
        <p:nvSpPr>
          <p:cNvPr id="37" name="Shape 35"/>
          <p:cNvSpPr/>
          <p:nvPr/>
        </p:nvSpPr>
        <p:spPr>
          <a:xfrm>
            <a:off x="6032480" y="2660904"/>
            <a:ext cx="310896" cy="310896"/>
          </a:xfrm>
          <a:prstGeom prst="line">
            <a:avLst/>
          </a:prstGeom>
          <a:noFill/>
          <a:ln w="15240">
            <a:solidFill>
              <a:srgbClr val="9B98B4"/>
            </a:solidFill>
            <a:prstDash val="solid"/>
            <a:tailEnd type="triangle"/>
          </a:ln>
        </p:spPr>
      </p:sp>
      <p:sp>
        <p:nvSpPr>
          <p:cNvPr id="38" name="Shape 36"/>
          <p:cNvSpPr/>
          <p:nvPr/>
        </p:nvSpPr>
        <p:spPr>
          <a:xfrm>
            <a:off x="5520416" y="2971800"/>
            <a:ext cx="292608" cy="-18288"/>
          </a:xfrm>
          <a:prstGeom prst="line">
            <a:avLst/>
          </a:prstGeom>
          <a:noFill/>
          <a:ln w="15240">
            <a:solidFill>
              <a:srgbClr val="9B98B4"/>
            </a:solidFill>
            <a:prstDash val="solid"/>
            <a:tailEnd type="triangle"/>
          </a:ln>
        </p:spPr>
      </p:sp>
      <p:sp>
        <p:nvSpPr>
          <p:cNvPr id="39" name="Shape 37"/>
          <p:cNvSpPr/>
          <p:nvPr/>
        </p:nvSpPr>
        <p:spPr>
          <a:xfrm>
            <a:off x="6032480" y="2953512"/>
            <a:ext cx="310896" cy="18288"/>
          </a:xfrm>
          <a:prstGeom prst="line">
            <a:avLst/>
          </a:prstGeom>
          <a:noFill/>
          <a:ln w="15240">
            <a:solidFill>
              <a:srgbClr val="9B98B4"/>
            </a:solidFill>
            <a:prstDash val="solid"/>
            <a:tailEnd type="triangle"/>
          </a:ln>
        </p:spPr>
      </p:sp>
      <p:sp>
        <p:nvSpPr>
          <p:cNvPr id="40" name="Shape 38"/>
          <p:cNvSpPr/>
          <p:nvPr/>
        </p:nvSpPr>
        <p:spPr>
          <a:xfrm>
            <a:off x="5520416" y="2971800"/>
            <a:ext cx="292608" cy="274320"/>
          </a:xfrm>
          <a:prstGeom prst="line">
            <a:avLst/>
          </a:prstGeom>
          <a:noFill/>
          <a:ln w="15240">
            <a:solidFill>
              <a:srgbClr val="9B98B4"/>
            </a:solidFill>
            <a:prstDash val="solid"/>
            <a:tailEnd type="triangle"/>
          </a:ln>
        </p:spPr>
      </p:sp>
      <p:sp>
        <p:nvSpPr>
          <p:cNvPr id="41" name="Shape 39"/>
          <p:cNvSpPr/>
          <p:nvPr/>
        </p:nvSpPr>
        <p:spPr>
          <a:xfrm>
            <a:off x="6032480" y="3246120"/>
            <a:ext cx="310896" cy="-274320"/>
          </a:xfrm>
          <a:prstGeom prst="line">
            <a:avLst/>
          </a:prstGeom>
          <a:noFill/>
          <a:ln w="15240">
            <a:solidFill>
              <a:srgbClr val="9B98B4"/>
            </a:solidFill>
            <a:prstDash val="solid"/>
            <a:tailEnd type="triangle"/>
          </a:ln>
        </p:spPr>
      </p:sp>
      <p:sp>
        <p:nvSpPr>
          <p:cNvPr id="42" name="Text 40"/>
          <p:cNvSpPr/>
          <p:nvPr/>
        </p:nvSpPr>
        <p:spPr>
          <a:xfrm>
            <a:off x="5246096" y="3785616"/>
            <a:ext cx="1699504" cy="512064"/>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Parallelisation</a:t>
            </a:r>
            <a:endParaRPr lang="en-US" sz="1300" dirty="0"/>
          </a:p>
        </p:txBody>
      </p:sp>
      <p:sp>
        <p:nvSpPr>
          <p:cNvPr id="43" name="Text 41"/>
          <p:cNvSpPr/>
          <p:nvPr/>
        </p:nvSpPr>
        <p:spPr>
          <a:xfrm>
            <a:off x="5246096" y="4297680"/>
            <a:ext cx="1699504" cy="548640"/>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Fan the same job out, then combine the answers.</a:t>
            </a:r>
            <a:endParaRPr lang="en-US" sz="1050" dirty="0"/>
          </a:p>
        </p:txBody>
      </p:sp>
      <p:sp>
        <p:nvSpPr>
          <p:cNvPr id="44" name="Text 42"/>
          <p:cNvSpPr/>
          <p:nvPr/>
        </p:nvSpPr>
        <p:spPr>
          <a:xfrm>
            <a:off x="5246096" y="4718304"/>
            <a:ext cx="1699504" cy="274320"/>
          </a:xfrm>
          <a:prstGeom prst="rect">
            <a:avLst/>
          </a:prstGeom>
          <a:noFill/>
          <a:ln/>
        </p:spPr>
        <p:txBody>
          <a:bodyPr wrap="square" lIns="0" tIns="0" rIns="0" bIns="0" rtlCol="0" anchor="t"/>
          <a:lstStyle/>
          <a:p>
            <a:pPr indent="0" marL="0">
              <a:buNone/>
            </a:pPr>
            <a:r>
              <a:rPr lang="en-US" sz="1000" i="1" dirty="0">
                <a:solidFill>
                  <a:srgbClr val="5B4BE8"/>
                </a:solidFill>
                <a:latin typeface="Calibri" pitchFamily="34" charset="0"/>
                <a:ea typeface="Calibri" pitchFamily="34" charset="-122"/>
                <a:cs typeface="Calibri" pitchFamily="34" charset="-120"/>
              </a:rPr>
              <a:t>Score one document five ways.</a:t>
            </a:r>
            <a:endParaRPr lang="en-US" sz="1000" dirty="0"/>
          </a:p>
        </p:txBody>
      </p:sp>
      <p:sp>
        <p:nvSpPr>
          <p:cNvPr id="45" name="Shape 43"/>
          <p:cNvSpPr/>
          <p:nvPr/>
        </p:nvSpPr>
        <p:spPr>
          <a:xfrm>
            <a:off x="7311360" y="1975104"/>
            <a:ext cx="2065264" cy="3054096"/>
          </a:xfrm>
          <a:prstGeom prst="roundRect">
            <a:avLst>
              <a:gd name="adj" fmla="val 4428"/>
            </a:avLst>
          </a:prstGeom>
          <a:solidFill>
            <a:srgbClr val="FFF4E0"/>
          </a:solidFill>
          <a:ln w="12700">
            <a:solidFill>
              <a:srgbClr val="F0D5A6"/>
            </a:solidFill>
            <a:prstDash val="solid"/>
          </a:ln>
          <a:effectLst>
            <a:outerShdw sx="100000" sy="100000" kx="0" ky="0" algn="bl" rotWithShape="0" blurRad="101600" dist="508" dir="5400000">
              <a:srgbClr val="1B1A4A">
                <a:alpha val="7000"/>
              </a:srgbClr>
            </a:outerShdw>
          </a:effectLst>
        </p:spPr>
      </p:sp>
      <p:sp>
        <p:nvSpPr>
          <p:cNvPr id="46" name="Text 44"/>
          <p:cNvSpPr/>
          <p:nvPr/>
        </p:nvSpPr>
        <p:spPr>
          <a:xfrm>
            <a:off x="7512528" y="2084832"/>
            <a:ext cx="365760" cy="310896"/>
          </a:xfrm>
          <a:prstGeom prst="rect">
            <a:avLst/>
          </a:prstGeom>
          <a:noFill/>
          <a:ln/>
        </p:spPr>
        <p:txBody>
          <a:bodyPr wrap="square" lIns="0" tIns="0" rIns="0" bIns="0" rtlCol="0" anchor="ctr"/>
          <a:lstStyle/>
          <a:p>
            <a:pPr indent="0" marL="0">
              <a:buNone/>
            </a:pPr>
            <a:r>
              <a:rPr lang="en-US" sz="2000" b="1" dirty="0">
                <a:solidFill>
                  <a:srgbClr val="E08700"/>
                </a:solidFill>
                <a:latin typeface="Cambria" pitchFamily="34" charset="0"/>
                <a:ea typeface="Cambria" pitchFamily="34" charset="-122"/>
                <a:cs typeface="Cambria" pitchFamily="34" charset="-120"/>
              </a:rPr>
              <a:t>4</a:t>
            </a:r>
            <a:endParaRPr lang="en-US" sz="2000" dirty="0"/>
          </a:p>
        </p:txBody>
      </p:sp>
      <p:sp>
        <p:nvSpPr>
          <p:cNvPr id="47" name="Shape 45"/>
          <p:cNvSpPr/>
          <p:nvPr/>
        </p:nvSpPr>
        <p:spPr>
          <a:xfrm>
            <a:off x="7494240" y="2852928"/>
            <a:ext cx="274320" cy="237744"/>
          </a:xfrm>
          <a:prstGeom prst="roundRect">
            <a:avLst>
              <a:gd name="adj" fmla="val 19231"/>
            </a:avLst>
          </a:prstGeom>
          <a:solidFill>
            <a:srgbClr val="F5A524"/>
          </a:solidFill>
          <a:ln w="12700">
            <a:solidFill>
              <a:srgbClr val="F5A524"/>
            </a:solidFill>
            <a:prstDash val="solid"/>
          </a:ln>
        </p:spPr>
      </p:sp>
      <p:sp>
        <p:nvSpPr>
          <p:cNvPr id="48" name="Shape 46"/>
          <p:cNvSpPr/>
          <p:nvPr/>
        </p:nvSpPr>
        <p:spPr>
          <a:xfrm>
            <a:off x="8061168" y="2542032"/>
            <a:ext cx="219456" cy="237744"/>
          </a:xfrm>
          <a:prstGeom prst="roundRect">
            <a:avLst>
              <a:gd name="adj" fmla="val 20833"/>
            </a:avLst>
          </a:prstGeom>
          <a:solidFill>
            <a:srgbClr val="8E82F5"/>
          </a:solidFill>
          <a:ln w="12700">
            <a:solidFill>
              <a:srgbClr val="8E82F5"/>
            </a:solidFill>
            <a:prstDash val="solid"/>
          </a:ln>
        </p:spPr>
      </p:sp>
      <p:sp>
        <p:nvSpPr>
          <p:cNvPr id="49" name="Shape 47"/>
          <p:cNvSpPr/>
          <p:nvPr/>
        </p:nvSpPr>
        <p:spPr>
          <a:xfrm>
            <a:off x="8061168" y="2834640"/>
            <a:ext cx="219456" cy="237744"/>
          </a:xfrm>
          <a:prstGeom prst="roundRect">
            <a:avLst>
              <a:gd name="adj" fmla="val 20833"/>
            </a:avLst>
          </a:prstGeom>
          <a:solidFill>
            <a:srgbClr val="8E82F5"/>
          </a:solidFill>
          <a:ln w="12700">
            <a:solidFill>
              <a:srgbClr val="8E82F5"/>
            </a:solidFill>
            <a:prstDash val="solid"/>
          </a:ln>
        </p:spPr>
      </p:sp>
      <p:sp>
        <p:nvSpPr>
          <p:cNvPr id="50" name="Shape 48"/>
          <p:cNvSpPr/>
          <p:nvPr/>
        </p:nvSpPr>
        <p:spPr>
          <a:xfrm>
            <a:off x="8061168" y="3127248"/>
            <a:ext cx="219456" cy="237744"/>
          </a:xfrm>
          <a:prstGeom prst="roundRect">
            <a:avLst>
              <a:gd name="adj" fmla="val 20833"/>
            </a:avLst>
          </a:prstGeom>
          <a:solidFill>
            <a:srgbClr val="8E82F5"/>
          </a:solidFill>
          <a:ln w="12700">
            <a:solidFill>
              <a:srgbClr val="8E82F5"/>
            </a:solidFill>
            <a:prstDash val="solid"/>
          </a:ln>
        </p:spPr>
      </p:sp>
      <p:sp>
        <p:nvSpPr>
          <p:cNvPr id="51" name="Shape 49"/>
          <p:cNvSpPr/>
          <p:nvPr/>
        </p:nvSpPr>
        <p:spPr>
          <a:xfrm>
            <a:off x="8591520" y="2852928"/>
            <a:ext cx="274320" cy="237744"/>
          </a:xfrm>
          <a:prstGeom prst="roundRect">
            <a:avLst>
              <a:gd name="adj" fmla="val 19231"/>
            </a:avLst>
          </a:prstGeom>
          <a:solidFill>
            <a:srgbClr val="F5A524"/>
          </a:solidFill>
          <a:ln w="12700">
            <a:solidFill>
              <a:srgbClr val="F5A524"/>
            </a:solidFill>
            <a:prstDash val="solid"/>
          </a:ln>
        </p:spPr>
      </p:sp>
      <p:sp>
        <p:nvSpPr>
          <p:cNvPr id="52" name="Shape 50"/>
          <p:cNvSpPr/>
          <p:nvPr/>
        </p:nvSpPr>
        <p:spPr>
          <a:xfrm>
            <a:off x="7768560" y="2971800"/>
            <a:ext cx="292608" cy="-310896"/>
          </a:xfrm>
          <a:prstGeom prst="line">
            <a:avLst/>
          </a:prstGeom>
          <a:noFill/>
          <a:ln w="15240">
            <a:solidFill>
              <a:srgbClr val="E08700"/>
            </a:solidFill>
            <a:prstDash val="solid"/>
            <a:tailEnd type="triangle"/>
          </a:ln>
        </p:spPr>
      </p:sp>
      <p:sp>
        <p:nvSpPr>
          <p:cNvPr id="53" name="Shape 51"/>
          <p:cNvSpPr/>
          <p:nvPr/>
        </p:nvSpPr>
        <p:spPr>
          <a:xfrm>
            <a:off x="8280624" y="2660904"/>
            <a:ext cx="310896" cy="310896"/>
          </a:xfrm>
          <a:prstGeom prst="line">
            <a:avLst/>
          </a:prstGeom>
          <a:noFill/>
          <a:ln w="15240">
            <a:solidFill>
              <a:srgbClr val="E08700"/>
            </a:solidFill>
            <a:prstDash val="solid"/>
            <a:tailEnd type="triangle"/>
          </a:ln>
        </p:spPr>
      </p:sp>
      <p:sp>
        <p:nvSpPr>
          <p:cNvPr id="54" name="Shape 52"/>
          <p:cNvSpPr/>
          <p:nvPr/>
        </p:nvSpPr>
        <p:spPr>
          <a:xfrm>
            <a:off x="7768560" y="2971800"/>
            <a:ext cx="292608" cy="-18288"/>
          </a:xfrm>
          <a:prstGeom prst="line">
            <a:avLst/>
          </a:prstGeom>
          <a:noFill/>
          <a:ln w="15240">
            <a:solidFill>
              <a:srgbClr val="E08700"/>
            </a:solidFill>
            <a:prstDash val="solid"/>
            <a:tailEnd type="triangle"/>
          </a:ln>
        </p:spPr>
      </p:sp>
      <p:sp>
        <p:nvSpPr>
          <p:cNvPr id="55" name="Shape 53"/>
          <p:cNvSpPr/>
          <p:nvPr/>
        </p:nvSpPr>
        <p:spPr>
          <a:xfrm>
            <a:off x="8280624" y="2953512"/>
            <a:ext cx="310896" cy="18288"/>
          </a:xfrm>
          <a:prstGeom prst="line">
            <a:avLst/>
          </a:prstGeom>
          <a:noFill/>
          <a:ln w="15240">
            <a:solidFill>
              <a:srgbClr val="E08700"/>
            </a:solidFill>
            <a:prstDash val="solid"/>
            <a:tailEnd type="triangle"/>
          </a:ln>
        </p:spPr>
      </p:sp>
      <p:sp>
        <p:nvSpPr>
          <p:cNvPr id="56" name="Shape 54"/>
          <p:cNvSpPr/>
          <p:nvPr/>
        </p:nvSpPr>
        <p:spPr>
          <a:xfrm>
            <a:off x="7768560" y="2971800"/>
            <a:ext cx="292608" cy="274320"/>
          </a:xfrm>
          <a:prstGeom prst="line">
            <a:avLst/>
          </a:prstGeom>
          <a:noFill/>
          <a:ln w="15240">
            <a:solidFill>
              <a:srgbClr val="E08700"/>
            </a:solidFill>
            <a:prstDash val="solid"/>
            <a:tailEnd type="triangle"/>
          </a:ln>
        </p:spPr>
      </p:sp>
      <p:sp>
        <p:nvSpPr>
          <p:cNvPr id="57" name="Shape 55"/>
          <p:cNvSpPr/>
          <p:nvPr/>
        </p:nvSpPr>
        <p:spPr>
          <a:xfrm>
            <a:off x="8280624" y="3246120"/>
            <a:ext cx="310896" cy="-274320"/>
          </a:xfrm>
          <a:prstGeom prst="line">
            <a:avLst/>
          </a:prstGeom>
          <a:noFill/>
          <a:ln w="15240">
            <a:solidFill>
              <a:srgbClr val="E08700"/>
            </a:solidFill>
            <a:prstDash val="solid"/>
            <a:tailEnd type="triangle"/>
          </a:ln>
        </p:spPr>
      </p:sp>
      <p:sp>
        <p:nvSpPr>
          <p:cNvPr id="58" name="Text 56"/>
          <p:cNvSpPr/>
          <p:nvPr/>
        </p:nvSpPr>
        <p:spPr>
          <a:xfrm>
            <a:off x="7494240" y="3785616"/>
            <a:ext cx="1699504" cy="512064"/>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Orchestrator–worker</a:t>
            </a:r>
            <a:endParaRPr lang="en-US" sz="1300" dirty="0"/>
          </a:p>
        </p:txBody>
      </p:sp>
      <p:sp>
        <p:nvSpPr>
          <p:cNvPr id="59" name="Text 57"/>
          <p:cNvSpPr/>
          <p:nvPr/>
        </p:nvSpPr>
        <p:spPr>
          <a:xfrm>
            <a:off x="7494240" y="4297680"/>
            <a:ext cx="1699504" cy="548640"/>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Sub-tasks decided at run time, then synthesised.</a:t>
            </a:r>
            <a:endParaRPr lang="en-US" sz="1050" dirty="0"/>
          </a:p>
        </p:txBody>
      </p:sp>
      <p:sp>
        <p:nvSpPr>
          <p:cNvPr id="60" name="Text 58"/>
          <p:cNvSpPr/>
          <p:nvPr/>
        </p:nvSpPr>
        <p:spPr>
          <a:xfrm>
            <a:off x="7494240" y="4718304"/>
            <a:ext cx="1699504" cy="274320"/>
          </a:xfrm>
          <a:prstGeom prst="rect">
            <a:avLst/>
          </a:prstGeom>
          <a:noFill/>
          <a:ln/>
        </p:spPr>
        <p:txBody>
          <a:bodyPr wrap="square" lIns="0" tIns="0" rIns="0" bIns="0" rtlCol="0" anchor="t"/>
          <a:lstStyle/>
          <a:p>
            <a:pPr indent="0" marL="0">
              <a:buNone/>
            </a:pPr>
            <a:r>
              <a:rPr lang="en-US" sz="1000" i="1" dirty="0">
                <a:solidFill>
                  <a:srgbClr val="E08700"/>
                </a:solidFill>
                <a:latin typeface="Calibri" pitchFamily="34" charset="0"/>
                <a:ea typeface="Calibri" pitchFamily="34" charset="-122"/>
                <a:cs typeface="Calibri" pitchFamily="34" charset="-120"/>
              </a:rPr>
              <a:t>The first genuinely dynamic one.</a:t>
            </a:r>
            <a:endParaRPr lang="en-US" sz="1000" dirty="0"/>
          </a:p>
        </p:txBody>
      </p:sp>
      <p:sp>
        <p:nvSpPr>
          <p:cNvPr id="61" name="Shape 59"/>
          <p:cNvSpPr/>
          <p:nvPr/>
        </p:nvSpPr>
        <p:spPr>
          <a:xfrm>
            <a:off x="9559503" y="1975104"/>
            <a:ext cx="2065264" cy="3054096"/>
          </a:xfrm>
          <a:prstGeom prst="roundRect">
            <a:avLst>
              <a:gd name="adj" fmla="val 4428"/>
            </a:avLst>
          </a:prstGeom>
          <a:solidFill>
            <a:srgbClr val="FFF4E0"/>
          </a:solidFill>
          <a:ln w="12700">
            <a:solidFill>
              <a:srgbClr val="F0D5A6"/>
            </a:solidFill>
            <a:prstDash val="solid"/>
          </a:ln>
          <a:effectLst>
            <a:outerShdw sx="100000" sy="100000" kx="0" ky="0" algn="bl" rotWithShape="0" blurRad="101600" dist="508" dir="5400000">
              <a:srgbClr val="1B1A4A">
                <a:alpha val="7000"/>
              </a:srgbClr>
            </a:outerShdw>
          </a:effectLst>
        </p:spPr>
      </p:sp>
      <p:sp>
        <p:nvSpPr>
          <p:cNvPr id="62" name="Text 60"/>
          <p:cNvSpPr/>
          <p:nvPr/>
        </p:nvSpPr>
        <p:spPr>
          <a:xfrm>
            <a:off x="9760671" y="2084832"/>
            <a:ext cx="365760" cy="310896"/>
          </a:xfrm>
          <a:prstGeom prst="rect">
            <a:avLst/>
          </a:prstGeom>
          <a:noFill/>
          <a:ln/>
        </p:spPr>
        <p:txBody>
          <a:bodyPr wrap="square" lIns="0" tIns="0" rIns="0" bIns="0" rtlCol="0" anchor="ctr"/>
          <a:lstStyle/>
          <a:p>
            <a:pPr indent="0" marL="0">
              <a:buNone/>
            </a:pPr>
            <a:r>
              <a:rPr lang="en-US" sz="2000" b="1" dirty="0">
                <a:solidFill>
                  <a:srgbClr val="E08700"/>
                </a:solidFill>
                <a:latin typeface="Cambria" pitchFamily="34" charset="0"/>
                <a:ea typeface="Cambria" pitchFamily="34" charset="-122"/>
                <a:cs typeface="Cambria" pitchFamily="34" charset="-120"/>
              </a:rPr>
              <a:t>5</a:t>
            </a:r>
            <a:endParaRPr lang="en-US" sz="2000" dirty="0"/>
          </a:p>
        </p:txBody>
      </p:sp>
      <p:sp>
        <p:nvSpPr>
          <p:cNvPr id="63" name="Shape 61"/>
          <p:cNvSpPr/>
          <p:nvPr/>
        </p:nvSpPr>
        <p:spPr>
          <a:xfrm>
            <a:off x="9833823" y="2633472"/>
            <a:ext cx="457200" cy="237744"/>
          </a:xfrm>
          <a:prstGeom prst="roundRect">
            <a:avLst>
              <a:gd name="adj" fmla="val 19231"/>
            </a:avLst>
          </a:prstGeom>
          <a:solidFill>
            <a:srgbClr val="5B4BE8"/>
          </a:solidFill>
          <a:ln w="12700">
            <a:solidFill>
              <a:srgbClr val="5B4BE8"/>
            </a:solidFill>
            <a:prstDash val="solid"/>
          </a:ln>
        </p:spPr>
      </p:sp>
      <p:sp>
        <p:nvSpPr>
          <p:cNvPr id="64" name="Shape 62"/>
          <p:cNvSpPr/>
          <p:nvPr/>
        </p:nvSpPr>
        <p:spPr>
          <a:xfrm>
            <a:off x="9833823" y="3108960"/>
            <a:ext cx="457200" cy="237744"/>
          </a:xfrm>
          <a:prstGeom prst="roundRect">
            <a:avLst>
              <a:gd name="adj" fmla="val 19231"/>
            </a:avLst>
          </a:prstGeom>
          <a:solidFill>
            <a:srgbClr val="F5A524"/>
          </a:solidFill>
          <a:ln w="12700">
            <a:solidFill>
              <a:srgbClr val="F5A524"/>
            </a:solidFill>
            <a:prstDash val="solid"/>
          </a:ln>
        </p:spPr>
      </p:sp>
      <p:sp>
        <p:nvSpPr>
          <p:cNvPr id="65" name="Shape 63"/>
          <p:cNvSpPr/>
          <p:nvPr/>
        </p:nvSpPr>
        <p:spPr>
          <a:xfrm>
            <a:off x="10345887" y="2743200"/>
            <a:ext cx="274320" cy="365760"/>
          </a:xfrm>
          <a:prstGeom prst="line">
            <a:avLst/>
          </a:prstGeom>
          <a:noFill/>
          <a:ln w="15240">
            <a:solidFill>
              <a:srgbClr val="9B98B4"/>
            </a:solidFill>
            <a:prstDash val="solid"/>
            <a:tailEnd type="triangle"/>
          </a:ln>
        </p:spPr>
      </p:sp>
      <p:sp>
        <p:nvSpPr>
          <p:cNvPr id="66" name="Shape 64"/>
          <p:cNvSpPr/>
          <p:nvPr/>
        </p:nvSpPr>
        <p:spPr>
          <a:xfrm>
            <a:off x="10620207" y="3218688"/>
            <a:ext cx="-274320" cy="-365760"/>
          </a:xfrm>
          <a:prstGeom prst="line">
            <a:avLst/>
          </a:prstGeom>
          <a:noFill/>
          <a:ln w="15240">
            <a:solidFill>
              <a:srgbClr val="E08700"/>
            </a:solidFill>
            <a:prstDash val="solid"/>
            <a:tailEnd type="triangle"/>
          </a:ln>
        </p:spPr>
      </p:sp>
      <p:sp>
        <p:nvSpPr>
          <p:cNvPr id="67" name="Text 65"/>
          <p:cNvSpPr/>
          <p:nvPr/>
        </p:nvSpPr>
        <p:spPr>
          <a:xfrm>
            <a:off x="10583631" y="2871216"/>
            <a:ext cx="640080" cy="201168"/>
          </a:xfrm>
          <a:prstGeom prst="rect">
            <a:avLst/>
          </a:prstGeom>
          <a:noFill/>
          <a:ln/>
        </p:spPr>
        <p:txBody>
          <a:bodyPr wrap="square" lIns="0" tIns="0" rIns="0" bIns="0" rtlCol="0" anchor="ctr"/>
          <a:lstStyle/>
          <a:p>
            <a:pPr indent="0" marL="0">
              <a:buNone/>
            </a:pPr>
            <a:r>
              <a:rPr lang="en-US" sz="800" i="1" dirty="0">
                <a:solidFill>
                  <a:srgbClr val="E08700"/>
                </a:solidFill>
                <a:latin typeface="Calibri" pitchFamily="34" charset="0"/>
                <a:ea typeface="Calibri" pitchFamily="34" charset="-122"/>
                <a:cs typeface="Calibri" pitchFamily="34" charset="-120"/>
              </a:rPr>
              <a:t>retry</a:t>
            </a:r>
            <a:endParaRPr lang="en-US" sz="800" dirty="0"/>
          </a:p>
        </p:txBody>
      </p:sp>
      <p:sp>
        <p:nvSpPr>
          <p:cNvPr id="68" name="Text 66"/>
          <p:cNvSpPr/>
          <p:nvPr/>
        </p:nvSpPr>
        <p:spPr>
          <a:xfrm>
            <a:off x="9742383" y="3785616"/>
            <a:ext cx="1699504" cy="512064"/>
          </a:xfrm>
          <a:prstGeom prst="rect">
            <a:avLst/>
          </a:prstGeom>
          <a:noFill/>
          <a:ln/>
        </p:spPr>
        <p:txBody>
          <a:bodyPr wrap="square" lIns="0" tIns="0" rIns="0" bIns="0" rtlCol="0" anchor="t"/>
          <a:lstStyle/>
          <a:p>
            <a:pPr indent="0" marL="0">
              <a:lnSpc>
                <a:spcPct val="105000"/>
              </a:lnSpc>
              <a:buNone/>
            </a:pPr>
            <a:r>
              <a:rPr lang="en-US" sz="1300" b="1" dirty="0">
                <a:solidFill>
                  <a:srgbClr val="141235"/>
                </a:solidFill>
                <a:latin typeface="Calibri" pitchFamily="34" charset="0"/>
                <a:ea typeface="Calibri" pitchFamily="34" charset="-122"/>
                <a:cs typeface="Calibri" pitchFamily="34" charset="-120"/>
              </a:rPr>
              <a:t>Evaluator–optimiser</a:t>
            </a:r>
            <a:endParaRPr lang="en-US" sz="1300" dirty="0"/>
          </a:p>
        </p:txBody>
      </p:sp>
      <p:sp>
        <p:nvSpPr>
          <p:cNvPr id="69" name="Text 67"/>
          <p:cNvSpPr/>
          <p:nvPr/>
        </p:nvSpPr>
        <p:spPr>
          <a:xfrm>
            <a:off x="9742383" y="4297680"/>
            <a:ext cx="1699504" cy="548640"/>
          </a:xfrm>
          <a:prstGeom prst="rect">
            <a:avLst/>
          </a:prstGeom>
          <a:noFill/>
          <a:ln/>
        </p:spPr>
        <p:txBody>
          <a:bodyPr wrap="square" lIns="0" tIns="0" rIns="0" bIns="0" rtlCol="0" anchor="t"/>
          <a:lstStyle/>
          <a:p>
            <a:pPr indent="0" marL="0">
              <a:lnSpc>
                <a:spcPct val="110000"/>
              </a:lnSpc>
              <a:buNone/>
            </a:pPr>
            <a:r>
              <a:rPr lang="en-US" sz="1050" dirty="0">
                <a:solidFill>
                  <a:srgbClr val="6E6B8A"/>
                </a:solidFill>
                <a:latin typeface="Calibri" pitchFamily="34" charset="0"/>
                <a:ea typeface="Calibri" pitchFamily="34" charset="-122"/>
                <a:cs typeface="Calibri" pitchFamily="34" charset="-120"/>
              </a:rPr>
              <a:t>One pass generates, another judges and sends it back.</a:t>
            </a:r>
            <a:endParaRPr lang="en-US" sz="1050" dirty="0"/>
          </a:p>
        </p:txBody>
      </p:sp>
      <p:sp>
        <p:nvSpPr>
          <p:cNvPr id="70" name="Text 68"/>
          <p:cNvSpPr/>
          <p:nvPr/>
        </p:nvSpPr>
        <p:spPr>
          <a:xfrm>
            <a:off x="9742383" y="4718304"/>
            <a:ext cx="1699504" cy="274320"/>
          </a:xfrm>
          <a:prstGeom prst="rect">
            <a:avLst/>
          </a:prstGeom>
          <a:noFill/>
          <a:ln/>
        </p:spPr>
        <p:txBody>
          <a:bodyPr wrap="square" lIns="0" tIns="0" rIns="0" bIns="0" rtlCol="0" anchor="t"/>
          <a:lstStyle/>
          <a:p>
            <a:pPr indent="0" marL="0">
              <a:buNone/>
            </a:pPr>
            <a:r>
              <a:rPr lang="en-US" sz="1000" i="1" dirty="0">
                <a:solidFill>
                  <a:srgbClr val="E08700"/>
                </a:solidFill>
                <a:latin typeface="Calibri" pitchFamily="34" charset="0"/>
                <a:ea typeface="Calibri" pitchFamily="34" charset="-122"/>
                <a:cs typeface="Calibri" pitchFamily="34" charset="-120"/>
              </a:rPr>
              <a:t>Where quality beats latency.</a:t>
            </a:r>
            <a:endParaRPr lang="en-US" sz="1000" dirty="0"/>
          </a:p>
        </p:txBody>
      </p:sp>
      <p:sp>
        <p:nvSpPr>
          <p:cNvPr id="71" name="Text 69"/>
          <p:cNvSpPr/>
          <p:nvPr/>
        </p:nvSpPr>
        <p:spPr>
          <a:xfrm>
            <a:off x="566928" y="5120640"/>
            <a:ext cx="11057839" cy="292608"/>
          </a:xfrm>
          <a:prstGeom prst="rect">
            <a:avLst/>
          </a:prstGeom>
          <a:noFill/>
          <a:ln/>
        </p:spPr>
        <p:txBody>
          <a:bodyPr wrap="square" lIns="0" tIns="0" rIns="0" bIns="0" rtlCol="0" anchor="ctr"/>
          <a:lstStyle/>
          <a:p>
            <a:pPr indent="0" marL="0">
              <a:buNone/>
            </a:pPr>
            <a:r>
              <a:rPr lang="en-US" sz="1300" i="1" dirty="0">
                <a:solidFill>
                  <a:srgbClr val="3B3760"/>
                </a:solidFill>
                <a:latin typeface="Calibri" pitchFamily="34" charset="0"/>
                <a:ea typeface="Calibri" pitchFamily="34" charset="-122"/>
                <a:cs typeface="Calibri" pitchFamily="34" charset="-120"/>
              </a:rPr>
              <a:t>Patterns 1 to 3 have a fixed path. Only 4 and 5 decide anything at run time — and even they are not yet agents.</a:t>
            </a:r>
            <a:endParaRPr lang="en-US" sz="1300" dirty="0"/>
          </a:p>
        </p:txBody>
      </p:sp>
      <p:sp>
        <p:nvSpPr>
          <p:cNvPr id="72" name="Shape 70"/>
          <p:cNvSpPr/>
          <p:nvPr/>
        </p:nvSpPr>
        <p:spPr>
          <a:xfrm>
            <a:off x="566928" y="5486400"/>
            <a:ext cx="11057839" cy="768096"/>
          </a:xfrm>
          <a:prstGeom prst="roundRect">
            <a:avLst>
              <a:gd name="adj" fmla="val 10714"/>
            </a:avLst>
          </a:prstGeom>
          <a:solidFill>
            <a:srgbClr val="FFF4E0"/>
          </a:solidFill>
          <a:ln w="12700">
            <a:solidFill>
              <a:srgbClr val="F3DCB0"/>
            </a:solidFill>
            <a:prstDash val="solid"/>
          </a:ln>
        </p:spPr>
      </p:sp>
      <p:sp>
        <p:nvSpPr>
          <p:cNvPr id="73" name="Shape 71"/>
          <p:cNvSpPr/>
          <p:nvPr/>
        </p:nvSpPr>
        <p:spPr>
          <a:xfrm>
            <a:off x="841248" y="5678424"/>
            <a:ext cx="384048" cy="384048"/>
          </a:xfrm>
          <a:prstGeom prst="ellipse">
            <a:avLst/>
          </a:prstGeom>
          <a:solidFill>
            <a:srgbClr val="F5A524"/>
          </a:solidFill>
          <a:ln w="12700">
            <a:solidFill>
              <a:srgbClr val="F5A524"/>
            </a:solidFill>
            <a:prstDash val="solid"/>
          </a:ln>
        </p:spPr>
      </p:sp>
      <p:pic>
        <p:nvPicPr>
          <p:cNvPr id="74" name="Image 0" descr="preencoded.png">    </p:cNvPr>
          <p:cNvPicPr>
            <a:picLocks noChangeAspect="1"/>
          </p:cNvPicPr>
          <p:nvPr/>
        </p:nvPicPr>
        <p:blipFill>
          <a:blip r:embed="rId1"/>
          <a:stretch>
            <a:fillRect/>
          </a:stretch>
        </p:blipFill>
        <p:spPr>
          <a:xfrm>
            <a:off x="937260" y="5774436"/>
            <a:ext cx="192024" cy="192024"/>
          </a:xfrm>
          <a:prstGeom prst="rect">
            <a:avLst/>
          </a:prstGeom>
        </p:spPr>
      </p:pic>
      <p:sp>
        <p:nvSpPr>
          <p:cNvPr id="75" name="Text 72"/>
          <p:cNvSpPr/>
          <p:nvPr/>
        </p:nvSpPr>
        <p:spPr>
          <a:xfrm>
            <a:off x="1371600" y="5541264"/>
            <a:ext cx="9960559" cy="658368"/>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Most things sold to you as “an AI agent” are one of these five. That is not a criticism — it is usually the right answer, and it is far easier to test.</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Three words, and the loop becomes a picture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You already wrote this loop by hand in module 03. A graph framework asks you to name its parts instead of hiding them.</a:t>
            </a:r>
            <a:endParaRPr lang="en-US" sz="1400" dirty="0"/>
          </a:p>
        </p:txBody>
      </p:sp>
      <p:sp>
        <p:nvSpPr>
          <p:cNvPr id="5" name="Shape 3"/>
          <p:cNvSpPr/>
          <p:nvPr/>
        </p:nvSpPr>
        <p:spPr>
          <a:xfrm>
            <a:off x="566928" y="2469017"/>
            <a:ext cx="3527450" cy="1974830"/>
          </a:xfrm>
          <a:prstGeom prst="roundRect">
            <a:avLst>
              <a:gd name="adj" fmla="val 416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688473"/>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779913"/>
            <a:ext cx="182880" cy="182880"/>
          </a:xfrm>
          <a:prstGeom prst="rect">
            <a:avLst/>
          </a:prstGeom>
        </p:spPr>
      </p:pic>
      <p:sp>
        <p:nvSpPr>
          <p:cNvPr id="8" name="Text 5"/>
          <p:cNvSpPr/>
          <p:nvPr/>
        </p:nvSpPr>
        <p:spPr>
          <a:xfrm>
            <a:off x="1298448" y="2679329"/>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STATE</a:t>
            </a:r>
            <a:endParaRPr lang="en-US" sz="850" dirty="0"/>
          </a:p>
        </p:txBody>
      </p:sp>
      <p:sp>
        <p:nvSpPr>
          <p:cNvPr id="9" name="Text 6"/>
          <p:cNvSpPr/>
          <p:nvPr/>
        </p:nvSpPr>
        <p:spPr>
          <a:xfrm>
            <a:off x="1298448" y="2898785"/>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The thing that travels</a:t>
            </a:r>
            <a:endParaRPr lang="en-US" sz="1450" dirty="0"/>
          </a:p>
        </p:txBody>
      </p:sp>
      <p:sp>
        <p:nvSpPr>
          <p:cNvPr id="10" name="Text 7"/>
          <p:cNvSpPr/>
          <p:nvPr/>
        </p:nvSpPr>
        <p:spPr>
          <a:xfrm>
            <a:off x="1298448" y="3246440"/>
            <a:ext cx="2558186" cy="101452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One typed object passed from step to step — the message list, plus whatever else your process needs. Declaring it is what makes the run serialisable.</a:t>
            </a:r>
            <a:endParaRPr lang="en-US" sz="1150" dirty="0"/>
          </a:p>
        </p:txBody>
      </p:sp>
      <p:sp>
        <p:nvSpPr>
          <p:cNvPr id="11" name="Shape 8"/>
          <p:cNvSpPr/>
          <p:nvPr/>
        </p:nvSpPr>
        <p:spPr>
          <a:xfrm>
            <a:off x="4332122" y="2469017"/>
            <a:ext cx="3527450" cy="1974830"/>
          </a:xfrm>
          <a:prstGeom prst="roundRect">
            <a:avLst>
              <a:gd name="adj" fmla="val 416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4569866" y="2688473"/>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4661306" y="2779913"/>
            <a:ext cx="182880" cy="182880"/>
          </a:xfrm>
          <a:prstGeom prst="rect">
            <a:avLst/>
          </a:prstGeom>
        </p:spPr>
      </p:pic>
      <p:sp>
        <p:nvSpPr>
          <p:cNvPr id="14" name="Text 10"/>
          <p:cNvSpPr/>
          <p:nvPr/>
        </p:nvSpPr>
        <p:spPr>
          <a:xfrm>
            <a:off x="5063642" y="2679329"/>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NODE</a:t>
            </a:r>
            <a:endParaRPr lang="en-US" sz="850" dirty="0"/>
          </a:p>
        </p:txBody>
      </p:sp>
      <p:sp>
        <p:nvSpPr>
          <p:cNvPr id="15" name="Text 11"/>
          <p:cNvSpPr/>
          <p:nvPr/>
        </p:nvSpPr>
        <p:spPr>
          <a:xfrm>
            <a:off x="5063642" y="2898785"/>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A step that does work</a:t>
            </a:r>
            <a:endParaRPr lang="en-US" sz="1450" dirty="0"/>
          </a:p>
        </p:txBody>
      </p:sp>
      <p:sp>
        <p:nvSpPr>
          <p:cNvPr id="16" name="Text 12"/>
          <p:cNvSpPr/>
          <p:nvPr/>
        </p:nvSpPr>
        <p:spPr>
          <a:xfrm>
            <a:off x="5063642" y="3246440"/>
            <a:ext cx="2558186" cy="101452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Call the model. Run the tools. Ask a human. A node is an ordinary function that takes the state and returns an update to it.</a:t>
            </a:r>
            <a:endParaRPr lang="en-US" sz="1150" dirty="0"/>
          </a:p>
        </p:txBody>
      </p:sp>
      <p:sp>
        <p:nvSpPr>
          <p:cNvPr id="17" name="Shape 13"/>
          <p:cNvSpPr/>
          <p:nvPr/>
        </p:nvSpPr>
        <p:spPr>
          <a:xfrm>
            <a:off x="8097317" y="2469017"/>
            <a:ext cx="3527450" cy="1974830"/>
          </a:xfrm>
          <a:prstGeom prst="roundRect">
            <a:avLst>
              <a:gd name="adj" fmla="val 416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8335061" y="2688473"/>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8426501" y="2779913"/>
            <a:ext cx="182880" cy="182880"/>
          </a:xfrm>
          <a:prstGeom prst="rect">
            <a:avLst/>
          </a:prstGeom>
        </p:spPr>
      </p:pic>
      <p:sp>
        <p:nvSpPr>
          <p:cNvPr id="20" name="Text 15"/>
          <p:cNvSpPr/>
          <p:nvPr/>
        </p:nvSpPr>
        <p:spPr>
          <a:xfrm>
            <a:off x="8828837" y="2679329"/>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EDGE</a:t>
            </a:r>
            <a:endParaRPr lang="en-US" sz="850" dirty="0"/>
          </a:p>
        </p:txBody>
      </p:sp>
      <p:sp>
        <p:nvSpPr>
          <p:cNvPr id="21" name="Text 16"/>
          <p:cNvSpPr/>
          <p:nvPr/>
        </p:nvSpPr>
        <p:spPr>
          <a:xfrm>
            <a:off x="8828837" y="2898785"/>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What happens next</a:t>
            </a:r>
            <a:endParaRPr lang="en-US" sz="1450" dirty="0"/>
          </a:p>
        </p:txBody>
      </p:sp>
      <p:sp>
        <p:nvSpPr>
          <p:cNvPr id="22" name="Text 17"/>
          <p:cNvSpPr/>
          <p:nvPr/>
        </p:nvSpPr>
        <p:spPr>
          <a:xfrm>
            <a:off x="8828837" y="3246440"/>
            <a:ext cx="2558186" cy="101452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Fixed, or conditional. The condition that routes back to the tools is ordinary code reading a field — not another model call. Worth saying out loud.</a:t>
            </a:r>
            <a:endParaRPr lang="en-US" sz="1150" dirty="0"/>
          </a:p>
        </p:txBody>
      </p:sp>
      <p:sp>
        <p:nvSpPr>
          <p:cNvPr id="23" name="Text 18"/>
          <p:cNvSpPr/>
          <p:nvPr/>
        </p:nvSpPr>
        <p:spPr>
          <a:xfrm>
            <a:off x="566928" y="5029200"/>
            <a:ext cx="11057839" cy="292608"/>
          </a:xfrm>
          <a:prstGeom prst="rect">
            <a:avLst/>
          </a:prstGeom>
          <a:noFill/>
          <a:ln/>
        </p:spPr>
        <p:txBody>
          <a:bodyPr wrap="square" lIns="0" tIns="0" rIns="0" bIns="0" rtlCol="0" anchor="ctr"/>
          <a:lstStyle/>
          <a:p>
            <a:pPr indent="0" marL="0">
              <a:buNone/>
            </a:pPr>
            <a:r>
              <a:rPr lang="en-US" sz="1350" i="1" dirty="0">
                <a:solidFill>
                  <a:srgbClr val="3B3760"/>
                </a:solidFill>
                <a:latin typeface="Calibri" pitchFamily="34" charset="0"/>
                <a:ea typeface="Calibri" pitchFamily="34" charset="-122"/>
                <a:cs typeface="Calibri" pitchFamily="34" charset="-120"/>
              </a:rPr>
              <a:t>The whole official loop from module 03 is two nodes and one conditional edge that points backwards.</a:t>
            </a:r>
            <a:endParaRPr lang="en-US" sz="1350" dirty="0"/>
          </a:p>
        </p:txBody>
      </p:sp>
      <p:sp>
        <p:nvSpPr>
          <p:cNvPr id="24"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25" name="Shape 20"/>
          <p:cNvSpPr/>
          <p:nvPr/>
        </p:nvSpPr>
        <p:spPr>
          <a:xfrm>
            <a:off x="841248" y="5650992"/>
            <a:ext cx="384048" cy="384048"/>
          </a:xfrm>
          <a:prstGeom prst="ellipse">
            <a:avLst/>
          </a:prstGeom>
          <a:solidFill>
            <a:srgbClr val="F5A524"/>
          </a:solidFill>
          <a:ln w="12700">
            <a:solidFill>
              <a:srgbClr val="F5A524"/>
            </a:solidFill>
            <a:prstDash val="solid"/>
          </a:ln>
        </p:spPr>
      </p:sp>
      <p:pic>
        <p:nvPicPr>
          <p:cNvPr id="26" name="Image 3" descr="preencoded.png">    </p:cNvPr>
          <p:cNvPicPr>
            <a:picLocks noChangeAspect="1"/>
          </p:cNvPicPr>
          <p:nvPr/>
        </p:nvPicPr>
        <p:blipFill>
          <a:blip r:embed="rId4"/>
          <a:stretch>
            <a:fillRect/>
          </a:stretch>
        </p:blipFill>
        <p:spPr>
          <a:xfrm>
            <a:off x="937260" y="5747004"/>
            <a:ext cx="192024" cy="192024"/>
          </a:xfrm>
          <a:prstGeom prst="rect">
            <a:avLst/>
          </a:prstGeom>
        </p:spPr>
      </p:pic>
      <p:sp>
        <p:nvSpPr>
          <p:cNvPr id="27" name="Text 21"/>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A flowchart you can actually run. The value is not that it is prettier — it is that a named, typed shape can be saved, resumed and audited.</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The real reason to climb this rung: it can stop</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Everything else a graph gives you, you could hand-write. This is the part that is genuinely hard to build yourself.</a:t>
            </a:r>
            <a:endParaRPr lang="en-US" sz="1400" dirty="0"/>
          </a:p>
        </p:txBody>
      </p:sp>
      <p:sp>
        <p:nvSpPr>
          <p:cNvPr id="5" name="Shape 3"/>
          <p:cNvSpPr/>
          <p:nvPr/>
        </p:nvSpPr>
        <p:spPr>
          <a:xfrm>
            <a:off x="566928" y="2011680"/>
            <a:ext cx="2599868" cy="2231136"/>
          </a:xfrm>
          <a:prstGeom prst="roundRect">
            <a:avLst>
              <a:gd name="adj" fmla="val 4098"/>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6" name="Text 4"/>
          <p:cNvSpPr/>
          <p:nvPr/>
        </p:nvSpPr>
        <p:spPr>
          <a:xfrm>
            <a:off x="786384" y="2139696"/>
            <a:ext cx="365760" cy="365760"/>
          </a:xfrm>
          <a:prstGeom prst="rect">
            <a:avLst/>
          </a:prstGeom>
          <a:noFill/>
          <a:ln/>
        </p:spPr>
        <p:txBody>
          <a:bodyPr wrap="square" lIns="0" tIns="0" rIns="0" bIns="0" rtlCol="0" anchor="ctr"/>
          <a:lstStyle/>
          <a:p>
            <a:pPr indent="0" marL="0">
              <a:buNone/>
            </a:pPr>
            <a:r>
              <a:rPr lang="en-US" sz="2200" b="1" dirty="0">
                <a:solidFill>
                  <a:srgbClr val="F5A524"/>
                </a:solidFill>
                <a:latin typeface="Cambria" pitchFamily="34" charset="0"/>
                <a:ea typeface="Cambria" pitchFamily="34" charset="-122"/>
                <a:cs typeface="Cambria" pitchFamily="34" charset="-120"/>
              </a:rPr>
              <a:t>1</a:t>
            </a:r>
            <a:endParaRPr lang="en-US" sz="2200" dirty="0"/>
          </a:p>
        </p:txBody>
      </p:sp>
      <p:sp>
        <p:nvSpPr>
          <p:cNvPr id="7" name="Shape 5"/>
          <p:cNvSpPr/>
          <p:nvPr/>
        </p:nvSpPr>
        <p:spPr>
          <a:xfrm>
            <a:off x="2545004" y="2157984"/>
            <a:ext cx="384048" cy="384048"/>
          </a:xfrm>
          <a:prstGeom prst="ellipse">
            <a:avLst/>
          </a:prstGeom>
          <a:solidFill>
            <a:srgbClr val="F5A524"/>
          </a:solidFill>
          <a:ln w="12700">
            <a:solidFill>
              <a:srgbClr val="F5A524"/>
            </a:solidFill>
            <a:prstDash val="solid"/>
          </a:ln>
        </p:spPr>
      </p:sp>
      <p:pic>
        <p:nvPicPr>
          <p:cNvPr id="8" name="Image 0" descr="preencoded.png">    </p:cNvPr>
          <p:cNvPicPr>
            <a:picLocks noChangeAspect="1"/>
          </p:cNvPicPr>
          <p:nvPr/>
        </p:nvPicPr>
        <p:blipFill>
          <a:blip r:embed="rId1"/>
          <a:stretch>
            <a:fillRect/>
          </a:stretch>
        </p:blipFill>
        <p:spPr>
          <a:xfrm>
            <a:off x="2641016" y="2253996"/>
            <a:ext cx="192024" cy="192024"/>
          </a:xfrm>
          <a:prstGeom prst="rect">
            <a:avLst/>
          </a:prstGeom>
        </p:spPr>
      </p:pic>
      <p:sp>
        <p:nvSpPr>
          <p:cNvPr id="9" name="Text 6"/>
          <p:cNvSpPr/>
          <p:nvPr/>
        </p:nvSpPr>
        <p:spPr>
          <a:xfrm>
            <a:off x="786384" y="2651760"/>
            <a:ext cx="2160956" cy="310896"/>
          </a:xfrm>
          <a:prstGeom prst="rect">
            <a:avLst/>
          </a:prstGeom>
          <a:noFill/>
          <a:ln/>
        </p:spPr>
        <p:txBody>
          <a:bodyPr wrap="square" lIns="0" tIns="0" rIns="0" bIns="0" rtlCol="0" anchor="ctr"/>
          <a:lstStyle/>
          <a:p>
            <a:pPr indent="0" marL="0">
              <a:buNone/>
            </a:pPr>
            <a:r>
              <a:rPr lang="en-US" sz="1400" b="1" dirty="0">
                <a:solidFill>
                  <a:srgbClr val="141235"/>
                </a:solidFill>
                <a:latin typeface="Calibri" pitchFamily="34" charset="0"/>
                <a:ea typeface="Calibri" pitchFamily="34" charset="-122"/>
                <a:cs typeface="Calibri" pitchFamily="34" charset="-120"/>
              </a:rPr>
              <a:t>It hits a gate</a:t>
            </a:r>
            <a:endParaRPr lang="en-US" sz="1400" dirty="0"/>
          </a:p>
        </p:txBody>
      </p:sp>
      <p:sp>
        <p:nvSpPr>
          <p:cNvPr id="10" name="Text 7"/>
          <p:cNvSpPr/>
          <p:nvPr/>
        </p:nvSpPr>
        <p:spPr>
          <a:xfrm>
            <a:off x="786384" y="2999232"/>
            <a:ext cx="2160956" cy="1097280"/>
          </a:xfrm>
          <a:prstGeom prst="rect">
            <a:avLst/>
          </a:prstGeom>
          <a:noFill/>
          <a:ln/>
        </p:spPr>
        <p:txBody>
          <a:bodyPr wrap="square" lIns="0" tIns="0" rIns="0" bIns="0" rtlCol="0" anchor="t"/>
          <a:lstStyle/>
          <a:p>
            <a:pPr indent="0" marL="0">
              <a:lnSpc>
                <a:spcPct val="112000"/>
              </a:lnSpc>
              <a:buNone/>
            </a:pPr>
            <a:r>
              <a:rPr lang="en-US" sz="1100" dirty="0">
                <a:solidFill>
                  <a:srgbClr val="6E6B8A"/>
                </a:solidFill>
                <a:latin typeface="Calibri" pitchFamily="34" charset="0"/>
                <a:ea typeface="Calibri" pitchFamily="34" charset="-122"/>
                <a:cs typeface="Calibri" pitchFamily="34" charset="-120"/>
              </a:rPr>
              <a:t>A node deliberately interrupts before an action you said needs approval.</a:t>
            </a:r>
            <a:endParaRPr lang="en-US" sz="1100" dirty="0"/>
          </a:p>
        </p:txBody>
      </p:sp>
      <p:sp>
        <p:nvSpPr>
          <p:cNvPr id="11" name="Shape 8"/>
          <p:cNvSpPr/>
          <p:nvPr/>
        </p:nvSpPr>
        <p:spPr>
          <a:xfrm>
            <a:off x="3194228" y="3108960"/>
            <a:ext cx="164592" cy="0"/>
          </a:xfrm>
          <a:prstGeom prst="line">
            <a:avLst/>
          </a:prstGeom>
          <a:noFill/>
          <a:ln w="25400">
            <a:solidFill>
              <a:srgbClr val="8E82F5"/>
            </a:solidFill>
            <a:prstDash val="solid"/>
            <a:headEnd type="none"/>
            <a:tailEnd type="triangle"/>
          </a:ln>
        </p:spPr>
      </p:sp>
      <p:sp>
        <p:nvSpPr>
          <p:cNvPr id="12" name="Shape 9"/>
          <p:cNvSpPr/>
          <p:nvPr/>
        </p:nvSpPr>
        <p:spPr>
          <a:xfrm>
            <a:off x="3386252" y="2011680"/>
            <a:ext cx="2599868" cy="2231136"/>
          </a:xfrm>
          <a:prstGeom prst="roundRect">
            <a:avLst>
              <a:gd name="adj" fmla="val 4098"/>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3" name="Text 10"/>
          <p:cNvSpPr/>
          <p:nvPr/>
        </p:nvSpPr>
        <p:spPr>
          <a:xfrm>
            <a:off x="3605708" y="2139696"/>
            <a:ext cx="365760" cy="365760"/>
          </a:xfrm>
          <a:prstGeom prst="rect">
            <a:avLst/>
          </a:prstGeom>
          <a:noFill/>
          <a:ln/>
        </p:spPr>
        <p:txBody>
          <a:bodyPr wrap="square" lIns="0" tIns="0" rIns="0" bIns="0" rtlCol="0" anchor="ctr"/>
          <a:lstStyle/>
          <a:p>
            <a:pPr indent="0" marL="0">
              <a:buNone/>
            </a:pPr>
            <a:r>
              <a:rPr lang="en-US" sz="2200" b="1" dirty="0">
                <a:solidFill>
                  <a:srgbClr val="5B4BE8"/>
                </a:solidFill>
                <a:latin typeface="Cambria" pitchFamily="34" charset="0"/>
                <a:ea typeface="Cambria" pitchFamily="34" charset="-122"/>
                <a:cs typeface="Cambria" pitchFamily="34" charset="-120"/>
              </a:rPr>
              <a:t>2</a:t>
            </a:r>
            <a:endParaRPr lang="en-US" sz="2200" dirty="0"/>
          </a:p>
        </p:txBody>
      </p:sp>
      <p:sp>
        <p:nvSpPr>
          <p:cNvPr id="14" name="Shape 11"/>
          <p:cNvSpPr/>
          <p:nvPr/>
        </p:nvSpPr>
        <p:spPr>
          <a:xfrm>
            <a:off x="5364328" y="2157984"/>
            <a:ext cx="384048" cy="384048"/>
          </a:xfrm>
          <a:prstGeom prst="ellipse">
            <a:avLst/>
          </a:prstGeom>
          <a:solidFill>
            <a:srgbClr val="5B4BE8"/>
          </a:solidFill>
          <a:ln w="12700">
            <a:solidFill>
              <a:srgbClr val="5B4BE8"/>
            </a:solidFill>
            <a:prstDash val="solid"/>
          </a:ln>
        </p:spPr>
      </p:sp>
      <p:pic>
        <p:nvPicPr>
          <p:cNvPr id="15" name="Image 1" descr="preencoded.png">    </p:cNvPr>
          <p:cNvPicPr>
            <a:picLocks noChangeAspect="1"/>
          </p:cNvPicPr>
          <p:nvPr/>
        </p:nvPicPr>
        <p:blipFill>
          <a:blip r:embed="rId2"/>
          <a:stretch>
            <a:fillRect/>
          </a:stretch>
        </p:blipFill>
        <p:spPr>
          <a:xfrm>
            <a:off x="5460340" y="2253996"/>
            <a:ext cx="192024" cy="192024"/>
          </a:xfrm>
          <a:prstGeom prst="rect">
            <a:avLst/>
          </a:prstGeom>
        </p:spPr>
      </p:pic>
      <p:sp>
        <p:nvSpPr>
          <p:cNvPr id="16" name="Text 12"/>
          <p:cNvSpPr/>
          <p:nvPr/>
        </p:nvSpPr>
        <p:spPr>
          <a:xfrm>
            <a:off x="3605708" y="2651760"/>
            <a:ext cx="2160956" cy="310896"/>
          </a:xfrm>
          <a:prstGeom prst="rect">
            <a:avLst/>
          </a:prstGeom>
          <a:noFill/>
          <a:ln/>
        </p:spPr>
        <p:txBody>
          <a:bodyPr wrap="square" lIns="0" tIns="0" rIns="0" bIns="0" rtlCol="0" anchor="ctr"/>
          <a:lstStyle/>
          <a:p>
            <a:pPr indent="0" marL="0">
              <a:buNone/>
            </a:pPr>
            <a:r>
              <a:rPr lang="en-US" sz="1400" b="1" dirty="0">
                <a:solidFill>
                  <a:srgbClr val="141235"/>
                </a:solidFill>
                <a:latin typeface="Calibri" pitchFamily="34" charset="0"/>
                <a:ea typeface="Calibri" pitchFamily="34" charset="-122"/>
                <a:cs typeface="Calibri" pitchFamily="34" charset="-120"/>
              </a:rPr>
              <a:t>The run is saved</a:t>
            </a:r>
            <a:endParaRPr lang="en-US" sz="1400" dirty="0"/>
          </a:p>
        </p:txBody>
      </p:sp>
      <p:sp>
        <p:nvSpPr>
          <p:cNvPr id="17" name="Text 13"/>
          <p:cNvSpPr/>
          <p:nvPr/>
        </p:nvSpPr>
        <p:spPr>
          <a:xfrm>
            <a:off x="3605708" y="2999232"/>
            <a:ext cx="2160956" cy="1097280"/>
          </a:xfrm>
          <a:prstGeom prst="rect">
            <a:avLst/>
          </a:prstGeom>
          <a:noFill/>
          <a:ln/>
        </p:spPr>
        <p:txBody>
          <a:bodyPr wrap="square" lIns="0" tIns="0" rIns="0" bIns="0" rtlCol="0" anchor="t"/>
          <a:lstStyle/>
          <a:p>
            <a:pPr indent="0" marL="0">
              <a:lnSpc>
                <a:spcPct val="112000"/>
              </a:lnSpc>
              <a:buNone/>
            </a:pPr>
            <a:r>
              <a:rPr lang="en-US" sz="1100" dirty="0">
                <a:solidFill>
                  <a:srgbClr val="6E6B8A"/>
                </a:solidFill>
                <a:latin typeface="Calibri" pitchFamily="34" charset="0"/>
                <a:ea typeface="Calibri" pitchFamily="34" charset="-122"/>
                <a:cs typeface="Calibri" pitchFamily="34" charset="-120"/>
              </a:rPr>
              <a:t>State is checkpointed against a thread id. The process can now die.</a:t>
            </a:r>
            <a:endParaRPr lang="en-US" sz="1100" dirty="0"/>
          </a:p>
        </p:txBody>
      </p:sp>
      <p:sp>
        <p:nvSpPr>
          <p:cNvPr id="18" name="Shape 14"/>
          <p:cNvSpPr/>
          <p:nvPr/>
        </p:nvSpPr>
        <p:spPr>
          <a:xfrm>
            <a:off x="6013552" y="3108960"/>
            <a:ext cx="164592" cy="0"/>
          </a:xfrm>
          <a:prstGeom prst="line">
            <a:avLst/>
          </a:prstGeom>
          <a:noFill/>
          <a:ln w="25400">
            <a:solidFill>
              <a:srgbClr val="8E82F5"/>
            </a:solidFill>
            <a:prstDash val="solid"/>
            <a:headEnd type="none"/>
            <a:tailEnd type="triangle"/>
          </a:ln>
        </p:spPr>
      </p:sp>
      <p:sp>
        <p:nvSpPr>
          <p:cNvPr id="19" name="Shape 15"/>
          <p:cNvSpPr/>
          <p:nvPr/>
        </p:nvSpPr>
        <p:spPr>
          <a:xfrm>
            <a:off x="6205576" y="2011680"/>
            <a:ext cx="2599868" cy="2231136"/>
          </a:xfrm>
          <a:prstGeom prst="roundRect">
            <a:avLst>
              <a:gd name="adj" fmla="val 4098"/>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20" name="Text 16"/>
          <p:cNvSpPr/>
          <p:nvPr/>
        </p:nvSpPr>
        <p:spPr>
          <a:xfrm>
            <a:off x="6425032" y="2139696"/>
            <a:ext cx="365760" cy="365760"/>
          </a:xfrm>
          <a:prstGeom prst="rect">
            <a:avLst/>
          </a:prstGeom>
          <a:noFill/>
          <a:ln/>
        </p:spPr>
        <p:txBody>
          <a:bodyPr wrap="square" lIns="0" tIns="0" rIns="0" bIns="0" rtlCol="0" anchor="ctr"/>
          <a:lstStyle/>
          <a:p>
            <a:pPr indent="0" marL="0">
              <a:buNone/>
            </a:pPr>
            <a:r>
              <a:rPr lang="en-US" sz="2200" b="1" dirty="0">
                <a:solidFill>
                  <a:srgbClr val="5B4BE8"/>
                </a:solidFill>
                <a:latin typeface="Cambria" pitchFamily="34" charset="0"/>
                <a:ea typeface="Cambria" pitchFamily="34" charset="-122"/>
                <a:cs typeface="Cambria" pitchFamily="34" charset="-120"/>
              </a:rPr>
              <a:t>3</a:t>
            </a:r>
            <a:endParaRPr lang="en-US" sz="2200" dirty="0"/>
          </a:p>
        </p:txBody>
      </p:sp>
      <p:sp>
        <p:nvSpPr>
          <p:cNvPr id="21" name="Shape 17"/>
          <p:cNvSpPr/>
          <p:nvPr/>
        </p:nvSpPr>
        <p:spPr>
          <a:xfrm>
            <a:off x="8183651" y="2157984"/>
            <a:ext cx="384048" cy="384048"/>
          </a:xfrm>
          <a:prstGeom prst="ellipse">
            <a:avLst/>
          </a:prstGeom>
          <a:solidFill>
            <a:srgbClr val="5B4BE8"/>
          </a:solidFill>
          <a:ln w="12700">
            <a:solidFill>
              <a:srgbClr val="5B4BE8"/>
            </a:solidFill>
            <a:prstDash val="solid"/>
          </a:ln>
        </p:spPr>
      </p:sp>
      <p:pic>
        <p:nvPicPr>
          <p:cNvPr id="22" name="Image 2" descr="preencoded.png">    </p:cNvPr>
          <p:cNvPicPr>
            <a:picLocks noChangeAspect="1"/>
          </p:cNvPicPr>
          <p:nvPr/>
        </p:nvPicPr>
        <p:blipFill>
          <a:blip r:embed="rId3"/>
          <a:stretch>
            <a:fillRect/>
          </a:stretch>
        </p:blipFill>
        <p:spPr>
          <a:xfrm>
            <a:off x="8279663" y="2253996"/>
            <a:ext cx="192024" cy="192024"/>
          </a:xfrm>
          <a:prstGeom prst="rect">
            <a:avLst/>
          </a:prstGeom>
        </p:spPr>
      </p:pic>
      <p:sp>
        <p:nvSpPr>
          <p:cNvPr id="23" name="Text 18"/>
          <p:cNvSpPr/>
          <p:nvPr/>
        </p:nvSpPr>
        <p:spPr>
          <a:xfrm>
            <a:off x="6425032" y="2651760"/>
            <a:ext cx="2160956" cy="310896"/>
          </a:xfrm>
          <a:prstGeom prst="rect">
            <a:avLst/>
          </a:prstGeom>
          <a:noFill/>
          <a:ln/>
        </p:spPr>
        <p:txBody>
          <a:bodyPr wrap="square" lIns="0" tIns="0" rIns="0" bIns="0" rtlCol="0" anchor="ctr"/>
          <a:lstStyle/>
          <a:p>
            <a:pPr indent="0" marL="0">
              <a:buNone/>
            </a:pPr>
            <a:r>
              <a:rPr lang="en-US" sz="1400" b="1" dirty="0">
                <a:solidFill>
                  <a:srgbClr val="141235"/>
                </a:solidFill>
                <a:latin typeface="Calibri" pitchFamily="34" charset="0"/>
                <a:ea typeface="Calibri" pitchFamily="34" charset="-122"/>
                <a:cs typeface="Calibri" pitchFamily="34" charset="-120"/>
              </a:rPr>
              <a:t>A human decides</a:t>
            </a:r>
            <a:endParaRPr lang="en-US" sz="1400" dirty="0"/>
          </a:p>
        </p:txBody>
      </p:sp>
      <p:sp>
        <p:nvSpPr>
          <p:cNvPr id="24" name="Text 19"/>
          <p:cNvSpPr/>
          <p:nvPr/>
        </p:nvSpPr>
        <p:spPr>
          <a:xfrm>
            <a:off x="6425032" y="2999232"/>
            <a:ext cx="2160956" cy="1097280"/>
          </a:xfrm>
          <a:prstGeom prst="rect">
            <a:avLst/>
          </a:prstGeom>
          <a:noFill/>
          <a:ln/>
        </p:spPr>
        <p:txBody>
          <a:bodyPr wrap="square" lIns="0" tIns="0" rIns="0" bIns="0" rtlCol="0" anchor="t"/>
          <a:lstStyle/>
          <a:p>
            <a:pPr indent="0" marL="0">
              <a:lnSpc>
                <a:spcPct val="112000"/>
              </a:lnSpc>
              <a:buNone/>
            </a:pPr>
            <a:r>
              <a:rPr lang="en-US" sz="1100" dirty="0">
                <a:solidFill>
                  <a:srgbClr val="6E6B8A"/>
                </a:solidFill>
                <a:latin typeface="Calibri" pitchFamily="34" charset="0"/>
                <a:ea typeface="Calibri" pitchFamily="34" charset="-122"/>
                <a:cs typeface="Calibri" pitchFamily="34" charset="-120"/>
              </a:rPr>
              <a:t>Minutes or days later. In a queue, an inbox, a ticket — wherever your people already work.</a:t>
            </a:r>
            <a:endParaRPr lang="en-US" sz="1100" dirty="0"/>
          </a:p>
        </p:txBody>
      </p:sp>
      <p:sp>
        <p:nvSpPr>
          <p:cNvPr id="25" name="Shape 20"/>
          <p:cNvSpPr/>
          <p:nvPr/>
        </p:nvSpPr>
        <p:spPr>
          <a:xfrm>
            <a:off x="8832875" y="3108960"/>
            <a:ext cx="164592" cy="0"/>
          </a:xfrm>
          <a:prstGeom prst="line">
            <a:avLst/>
          </a:prstGeom>
          <a:noFill/>
          <a:ln w="25400">
            <a:solidFill>
              <a:srgbClr val="8E82F5"/>
            </a:solidFill>
            <a:prstDash val="solid"/>
            <a:headEnd type="none"/>
            <a:tailEnd type="triangle"/>
          </a:ln>
        </p:spPr>
      </p:sp>
      <p:sp>
        <p:nvSpPr>
          <p:cNvPr id="26" name="Shape 21"/>
          <p:cNvSpPr/>
          <p:nvPr/>
        </p:nvSpPr>
        <p:spPr>
          <a:xfrm>
            <a:off x="9024899" y="2011680"/>
            <a:ext cx="2599868" cy="2231136"/>
          </a:xfrm>
          <a:prstGeom prst="roundRect">
            <a:avLst>
              <a:gd name="adj" fmla="val 4098"/>
            </a:avLst>
          </a:prstGeom>
          <a:solidFill>
            <a:srgbClr val="E7F7F1"/>
          </a:solidFill>
          <a:ln w="12700">
            <a:solidFill>
              <a:srgbClr val="C2E6D7"/>
            </a:solidFill>
            <a:prstDash val="solid"/>
          </a:ln>
          <a:effectLst>
            <a:outerShdw sx="100000" sy="100000" kx="0" ky="0" algn="bl" rotWithShape="0" blurRad="101600" dist="508" dir="5400000">
              <a:srgbClr val="1B1A4A">
                <a:alpha val="7000"/>
              </a:srgbClr>
            </a:outerShdw>
          </a:effectLst>
        </p:spPr>
      </p:sp>
      <p:sp>
        <p:nvSpPr>
          <p:cNvPr id="27" name="Text 22"/>
          <p:cNvSpPr/>
          <p:nvPr/>
        </p:nvSpPr>
        <p:spPr>
          <a:xfrm>
            <a:off x="9244355" y="2139696"/>
            <a:ext cx="365760" cy="365760"/>
          </a:xfrm>
          <a:prstGeom prst="rect">
            <a:avLst/>
          </a:prstGeom>
          <a:noFill/>
          <a:ln/>
        </p:spPr>
        <p:txBody>
          <a:bodyPr wrap="square" lIns="0" tIns="0" rIns="0" bIns="0" rtlCol="0" anchor="ctr"/>
          <a:lstStyle/>
          <a:p>
            <a:pPr indent="0" marL="0">
              <a:buNone/>
            </a:pPr>
            <a:r>
              <a:rPr lang="en-US" sz="2200" b="1" dirty="0">
                <a:solidFill>
                  <a:srgbClr val="0E9F6E"/>
                </a:solidFill>
                <a:latin typeface="Cambria" pitchFamily="34" charset="0"/>
                <a:ea typeface="Cambria" pitchFamily="34" charset="-122"/>
                <a:cs typeface="Cambria" pitchFamily="34" charset="-120"/>
              </a:rPr>
              <a:t>4</a:t>
            </a:r>
            <a:endParaRPr lang="en-US" sz="2200" dirty="0"/>
          </a:p>
        </p:txBody>
      </p:sp>
      <p:sp>
        <p:nvSpPr>
          <p:cNvPr id="28" name="Shape 23"/>
          <p:cNvSpPr/>
          <p:nvPr/>
        </p:nvSpPr>
        <p:spPr>
          <a:xfrm>
            <a:off x="11002975" y="2157984"/>
            <a:ext cx="384048" cy="384048"/>
          </a:xfrm>
          <a:prstGeom prst="ellipse">
            <a:avLst/>
          </a:prstGeom>
          <a:solidFill>
            <a:srgbClr val="0E9F6E"/>
          </a:solidFill>
          <a:ln w="12700">
            <a:solidFill>
              <a:srgbClr val="0E9F6E"/>
            </a:solidFill>
            <a:prstDash val="solid"/>
          </a:ln>
        </p:spPr>
      </p:sp>
      <p:pic>
        <p:nvPicPr>
          <p:cNvPr id="29" name="Image 3" descr="preencoded.png">    </p:cNvPr>
          <p:cNvPicPr>
            <a:picLocks noChangeAspect="1"/>
          </p:cNvPicPr>
          <p:nvPr/>
        </p:nvPicPr>
        <p:blipFill>
          <a:blip r:embed="rId4"/>
          <a:stretch>
            <a:fillRect/>
          </a:stretch>
        </p:blipFill>
        <p:spPr>
          <a:xfrm>
            <a:off x="11098987" y="2253996"/>
            <a:ext cx="192024" cy="192024"/>
          </a:xfrm>
          <a:prstGeom prst="rect">
            <a:avLst/>
          </a:prstGeom>
        </p:spPr>
      </p:pic>
      <p:sp>
        <p:nvSpPr>
          <p:cNvPr id="30" name="Text 24"/>
          <p:cNvSpPr/>
          <p:nvPr/>
        </p:nvSpPr>
        <p:spPr>
          <a:xfrm>
            <a:off x="9244355" y="2651760"/>
            <a:ext cx="2160956" cy="310896"/>
          </a:xfrm>
          <a:prstGeom prst="rect">
            <a:avLst/>
          </a:prstGeom>
          <a:noFill/>
          <a:ln/>
        </p:spPr>
        <p:txBody>
          <a:bodyPr wrap="square" lIns="0" tIns="0" rIns="0" bIns="0" rtlCol="0" anchor="ctr"/>
          <a:lstStyle/>
          <a:p>
            <a:pPr indent="0" marL="0">
              <a:buNone/>
            </a:pPr>
            <a:r>
              <a:rPr lang="en-US" sz="1400" b="1" dirty="0">
                <a:solidFill>
                  <a:srgbClr val="141235"/>
                </a:solidFill>
                <a:latin typeface="Calibri" pitchFamily="34" charset="0"/>
                <a:ea typeface="Calibri" pitchFamily="34" charset="-122"/>
                <a:cs typeface="Calibri" pitchFamily="34" charset="-120"/>
              </a:rPr>
              <a:t>It resumes</a:t>
            </a:r>
            <a:endParaRPr lang="en-US" sz="1400" dirty="0"/>
          </a:p>
        </p:txBody>
      </p:sp>
      <p:sp>
        <p:nvSpPr>
          <p:cNvPr id="31" name="Text 25"/>
          <p:cNvSpPr/>
          <p:nvPr/>
        </p:nvSpPr>
        <p:spPr>
          <a:xfrm>
            <a:off x="9244355" y="2999232"/>
            <a:ext cx="2160956" cy="1097280"/>
          </a:xfrm>
          <a:prstGeom prst="rect">
            <a:avLst/>
          </a:prstGeom>
          <a:noFill/>
          <a:ln/>
        </p:spPr>
        <p:txBody>
          <a:bodyPr wrap="square" lIns="0" tIns="0" rIns="0" bIns="0" rtlCol="0" anchor="t"/>
          <a:lstStyle/>
          <a:p>
            <a:pPr indent="0" marL="0">
              <a:lnSpc>
                <a:spcPct val="112000"/>
              </a:lnSpc>
              <a:buNone/>
            </a:pPr>
            <a:r>
              <a:rPr lang="en-US" sz="1100" dirty="0">
                <a:solidFill>
                  <a:srgbClr val="6E6B8A"/>
                </a:solidFill>
                <a:latin typeface="Calibri" pitchFamily="34" charset="0"/>
                <a:ea typeface="Calibri" pitchFamily="34" charset="-122"/>
                <a:cs typeface="Calibri" pitchFamily="34" charset="-120"/>
              </a:rPr>
              <a:t>From the same point, with the same state, carrying the answer. Nothing is re-run and nothing is re-paid for.</a:t>
            </a:r>
            <a:endParaRPr lang="en-US" sz="1100" dirty="0"/>
          </a:p>
        </p:txBody>
      </p:sp>
      <p:sp>
        <p:nvSpPr>
          <p:cNvPr id="32" name="Text 26"/>
          <p:cNvSpPr/>
          <p:nvPr/>
        </p:nvSpPr>
        <p:spPr>
          <a:xfrm>
            <a:off x="566928" y="4370832"/>
            <a:ext cx="11057839" cy="310896"/>
          </a:xfrm>
          <a:prstGeom prst="rect">
            <a:avLst/>
          </a:prstGeom>
          <a:noFill/>
          <a:ln/>
        </p:spPr>
        <p:txBody>
          <a:bodyPr wrap="square" lIns="0" tIns="0" rIns="0" bIns="0" rtlCol="0" anchor="ctr"/>
          <a:lstStyle/>
          <a:p>
            <a:pPr indent="0" marL="0">
              <a:buNone/>
            </a:pPr>
            <a:r>
              <a:rPr lang="en-US" sz="1350" i="1" dirty="0">
                <a:solidFill>
                  <a:srgbClr val="3B3760"/>
                </a:solidFill>
                <a:latin typeface="Calibri" pitchFamily="34" charset="0"/>
                <a:ea typeface="Calibri" pitchFamily="34" charset="-122"/>
                <a:cs typeface="Calibri" pitchFamily="34" charset="-120"/>
              </a:rPr>
              <a:t>This is the machinery behind the “draft” tier from module 01, and behind every approval gate in module 14. A promise to have a human review it is only as real as this.</a:t>
            </a:r>
            <a:endParaRPr lang="en-US" sz="1350" dirty="0"/>
          </a:p>
        </p:txBody>
      </p:sp>
      <p:sp>
        <p:nvSpPr>
          <p:cNvPr id="33" name="Shape 27"/>
          <p:cNvSpPr/>
          <p:nvPr/>
        </p:nvSpPr>
        <p:spPr>
          <a:xfrm>
            <a:off x="566928" y="4809744"/>
            <a:ext cx="11057839" cy="822960"/>
          </a:xfrm>
          <a:prstGeom prst="roundRect">
            <a:avLst>
              <a:gd name="adj" fmla="val 10000"/>
            </a:avLst>
          </a:prstGeom>
          <a:solidFill>
            <a:srgbClr val="FFF4E0"/>
          </a:solidFill>
          <a:ln w="12700">
            <a:solidFill>
              <a:srgbClr val="F3DCB0"/>
            </a:solidFill>
            <a:prstDash val="solid"/>
          </a:ln>
        </p:spPr>
      </p:sp>
      <p:sp>
        <p:nvSpPr>
          <p:cNvPr id="34" name="Shape 28"/>
          <p:cNvSpPr/>
          <p:nvPr/>
        </p:nvSpPr>
        <p:spPr>
          <a:xfrm>
            <a:off x="841248" y="5029200"/>
            <a:ext cx="384048" cy="384048"/>
          </a:xfrm>
          <a:prstGeom prst="ellipse">
            <a:avLst/>
          </a:prstGeom>
          <a:solidFill>
            <a:srgbClr val="F5A524"/>
          </a:solidFill>
          <a:ln w="12700">
            <a:solidFill>
              <a:srgbClr val="F5A524"/>
            </a:solidFill>
            <a:prstDash val="solid"/>
          </a:ln>
        </p:spPr>
      </p:sp>
      <p:pic>
        <p:nvPicPr>
          <p:cNvPr id="35" name="Image 4" descr="preencoded.png">    </p:cNvPr>
          <p:cNvPicPr>
            <a:picLocks noChangeAspect="1"/>
          </p:cNvPicPr>
          <p:nvPr/>
        </p:nvPicPr>
        <p:blipFill>
          <a:blip r:embed="rId5"/>
          <a:stretch>
            <a:fillRect/>
          </a:stretch>
        </p:blipFill>
        <p:spPr>
          <a:xfrm>
            <a:off x="937260" y="5125212"/>
            <a:ext cx="192024" cy="192024"/>
          </a:xfrm>
          <a:prstGeom prst="rect">
            <a:avLst/>
          </a:prstGeom>
        </p:spPr>
      </p:pic>
      <p:sp>
        <p:nvSpPr>
          <p:cNvPr id="36" name="Text 29"/>
          <p:cNvSpPr/>
          <p:nvPr/>
        </p:nvSpPr>
        <p:spPr>
          <a:xfrm>
            <a:off x="1371600" y="486460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 agent can go to sleep mid-task and wake up where it left off. Without that, “a human will approve it” means a human has thirty seconds while the process waits.</a:t>
            </a:r>
            <a:endParaRPr lang="en-US" sz="1050" dirty="0"/>
          </a:p>
        </p:txBody>
      </p:sp>
      <p:sp>
        <p:nvSpPr>
          <p:cNvPr id="37" name="Text 30"/>
          <p:cNvSpPr/>
          <p:nvPr/>
        </p:nvSpPr>
        <p:spPr>
          <a:xfrm>
            <a:off x="566928" y="5760720"/>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Natural end of Day 1: they have written the loop by hand, wrapped it in an SDK, and drawn it as a graph.</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The names you keep hearing, placed on that ladder</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Not a recommendation list. The point is that most of these are selling the same abstraction, and you can tell which by the tier they sit on.</a:t>
            </a:r>
            <a:endParaRPr lang="en-US" sz="1400" dirty="0"/>
          </a:p>
        </p:txBody>
      </p:sp>
      <p:sp>
        <p:nvSpPr>
          <p:cNvPr id="5" name="Shape 3"/>
          <p:cNvSpPr/>
          <p:nvPr/>
        </p:nvSpPr>
        <p:spPr>
          <a:xfrm>
            <a:off x="566928" y="1993392"/>
            <a:ext cx="11057839" cy="1042416"/>
          </a:xfrm>
          <a:prstGeom prst="roundRect">
            <a:avLst>
              <a:gd name="adj" fmla="val 7895"/>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6" name="Text 4"/>
          <p:cNvSpPr/>
          <p:nvPr/>
        </p:nvSpPr>
        <p:spPr>
          <a:xfrm>
            <a:off x="804672" y="2139696"/>
            <a:ext cx="1371600" cy="256032"/>
          </a:xfrm>
          <a:prstGeom prst="rect">
            <a:avLst/>
          </a:prstGeom>
          <a:noFill/>
          <a:ln/>
        </p:spPr>
        <p:txBody>
          <a:bodyPr wrap="square" lIns="0" tIns="0" rIns="0" bIns="0" rtlCol="0" anchor="ctr"/>
          <a:lstStyle/>
          <a:p>
            <a:pPr indent="0" marL="0">
              <a:buNone/>
            </a:pPr>
            <a:r>
              <a:rPr lang="en-US" sz="1000" b="1" spc="160" kern="0" dirty="0">
                <a:solidFill>
                  <a:srgbClr val="5B4BE8"/>
                </a:solidFill>
                <a:latin typeface="Calibri" pitchFamily="34" charset="0"/>
                <a:ea typeface="Calibri" pitchFamily="34" charset="-122"/>
                <a:cs typeface="Calibri" pitchFamily="34" charset="-120"/>
              </a:rPr>
              <a:t>Tier 1</a:t>
            </a:r>
            <a:endParaRPr lang="en-US" sz="1000" dirty="0"/>
          </a:p>
        </p:txBody>
      </p:sp>
      <p:sp>
        <p:nvSpPr>
          <p:cNvPr id="7" name="Text 5"/>
          <p:cNvSpPr/>
          <p:nvPr/>
        </p:nvSpPr>
        <p:spPr>
          <a:xfrm>
            <a:off x="804672" y="2377440"/>
            <a:ext cx="2103120" cy="274320"/>
          </a:xfrm>
          <a:prstGeom prst="rect">
            <a:avLst/>
          </a:prstGeom>
          <a:noFill/>
          <a:ln/>
        </p:spPr>
        <p:txBody>
          <a:bodyPr wrap="square" lIns="0" tIns="0" rIns="0" bIns="0" rtlCol="0" anchor="ctr"/>
          <a:lstStyle/>
          <a:p>
            <a:pPr indent="0" marL="0">
              <a:buNone/>
            </a:pPr>
            <a:r>
              <a:rPr lang="en-US" sz="1500" b="1" dirty="0">
                <a:solidFill>
                  <a:srgbClr val="141235"/>
                </a:solidFill>
                <a:latin typeface="Calibri" pitchFamily="34" charset="0"/>
                <a:ea typeface="Calibri" pitchFamily="34" charset="-122"/>
                <a:cs typeface="Calibri" pitchFamily="34" charset="-120"/>
              </a:rPr>
              <a:t>Thin SDK</a:t>
            </a:r>
            <a:endParaRPr lang="en-US" sz="1500" dirty="0"/>
          </a:p>
        </p:txBody>
      </p:sp>
      <p:sp>
        <p:nvSpPr>
          <p:cNvPr id="8" name="Text 6"/>
          <p:cNvSpPr/>
          <p:nvPr/>
        </p:nvSpPr>
        <p:spPr>
          <a:xfrm>
            <a:off x="804672" y="2633472"/>
            <a:ext cx="2286000" cy="384048"/>
          </a:xfrm>
          <a:prstGeom prst="rect">
            <a:avLst/>
          </a:prstGeom>
          <a:noFill/>
          <a:ln/>
        </p:spPr>
        <p:txBody>
          <a:bodyPr wrap="square" lIns="0" tIns="0" rIns="0" bIns="0" rtlCol="0" anchor="t"/>
          <a:lstStyle/>
          <a:p>
            <a:pPr indent="0" marL="0">
              <a:lnSpc>
                <a:spcPct val="110000"/>
              </a:lnSpc>
              <a:buNone/>
            </a:pPr>
            <a:r>
              <a:rPr lang="en-US" sz="1000" dirty="0">
                <a:solidFill>
                  <a:srgbClr val="6E6B8A"/>
                </a:solidFill>
                <a:latin typeface="Calibri" pitchFamily="34" charset="0"/>
                <a:ea typeface="Calibri" pitchFamily="34" charset="-122"/>
                <a:cs typeface="Calibri" pitchFamily="34" charset="-120"/>
              </a:rPr>
              <a:t>A loop, wrapped. You bring tools and instructions.</a:t>
            </a:r>
            <a:endParaRPr lang="en-US" sz="1000" dirty="0"/>
          </a:p>
        </p:txBody>
      </p:sp>
      <p:sp>
        <p:nvSpPr>
          <p:cNvPr id="9" name="Shape 7"/>
          <p:cNvSpPr/>
          <p:nvPr/>
        </p:nvSpPr>
        <p:spPr>
          <a:xfrm>
            <a:off x="3273552" y="2130552"/>
            <a:ext cx="2619146" cy="768096"/>
          </a:xfrm>
          <a:prstGeom prst="roundRect">
            <a:avLst>
              <a:gd name="adj" fmla="val 8333"/>
            </a:avLst>
          </a:prstGeom>
          <a:solidFill>
            <a:srgbClr val="EEEDFE"/>
          </a:solidFill>
          <a:ln w="12700">
            <a:solidFill>
              <a:srgbClr val="8E82F5"/>
            </a:solidFill>
            <a:prstDash val="solid"/>
          </a:ln>
        </p:spPr>
      </p:sp>
      <p:sp>
        <p:nvSpPr>
          <p:cNvPr id="10" name="Text 8"/>
          <p:cNvSpPr/>
          <p:nvPr/>
        </p:nvSpPr>
        <p:spPr>
          <a:xfrm>
            <a:off x="3364992" y="2185416"/>
            <a:ext cx="2436266"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OpenAI Agents SDK</a:t>
            </a:r>
            <a:endParaRPr lang="en-US" sz="1150" dirty="0"/>
          </a:p>
        </p:txBody>
      </p:sp>
      <p:sp>
        <p:nvSpPr>
          <p:cNvPr id="11" name="Text 9"/>
          <p:cNvSpPr/>
          <p:nvPr/>
        </p:nvSpPr>
        <p:spPr>
          <a:xfrm>
            <a:off x="3364992" y="2496312"/>
            <a:ext cx="2436266"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provider-agnostic despite the name</a:t>
            </a:r>
            <a:endParaRPr lang="en-US" sz="850" dirty="0"/>
          </a:p>
        </p:txBody>
      </p:sp>
      <p:sp>
        <p:nvSpPr>
          <p:cNvPr id="12" name="Shape 10"/>
          <p:cNvSpPr/>
          <p:nvPr/>
        </p:nvSpPr>
        <p:spPr>
          <a:xfrm>
            <a:off x="6020714" y="2130552"/>
            <a:ext cx="2619146" cy="768096"/>
          </a:xfrm>
          <a:prstGeom prst="roundRect">
            <a:avLst>
              <a:gd name="adj" fmla="val 8333"/>
            </a:avLst>
          </a:prstGeom>
          <a:solidFill>
            <a:srgbClr val="EEEDFE"/>
          </a:solidFill>
          <a:ln w="12700">
            <a:solidFill>
              <a:srgbClr val="8E82F5"/>
            </a:solidFill>
            <a:prstDash val="solid"/>
          </a:ln>
        </p:spPr>
      </p:sp>
      <p:sp>
        <p:nvSpPr>
          <p:cNvPr id="13" name="Text 11"/>
          <p:cNvSpPr/>
          <p:nvPr/>
        </p:nvSpPr>
        <p:spPr>
          <a:xfrm>
            <a:off x="6112154" y="2185416"/>
            <a:ext cx="2436266"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Pydantic AI</a:t>
            </a:r>
            <a:endParaRPr lang="en-US" sz="1150" dirty="0"/>
          </a:p>
        </p:txBody>
      </p:sp>
      <p:sp>
        <p:nvSpPr>
          <p:cNvPr id="14" name="Text 12"/>
          <p:cNvSpPr/>
          <p:nvPr/>
        </p:nvSpPr>
        <p:spPr>
          <a:xfrm>
            <a:off x="6112154" y="2496312"/>
            <a:ext cx="2436266"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types and structured output first</a:t>
            </a:r>
            <a:endParaRPr lang="en-US" sz="850" dirty="0"/>
          </a:p>
        </p:txBody>
      </p:sp>
      <p:sp>
        <p:nvSpPr>
          <p:cNvPr id="15" name="Shape 13"/>
          <p:cNvSpPr/>
          <p:nvPr/>
        </p:nvSpPr>
        <p:spPr>
          <a:xfrm>
            <a:off x="8767877" y="2130552"/>
            <a:ext cx="2619146" cy="768096"/>
          </a:xfrm>
          <a:prstGeom prst="roundRect">
            <a:avLst>
              <a:gd name="adj" fmla="val 8333"/>
            </a:avLst>
          </a:prstGeom>
          <a:solidFill>
            <a:srgbClr val="EEEDFE"/>
          </a:solidFill>
          <a:ln w="12700">
            <a:solidFill>
              <a:srgbClr val="8E82F5"/>
            </a:solidFill>
            <a:prstDash val="solid"/>
          </a:ln>
        </p:spPr>
      </p:sp>
      <p:sp>
        <p:nvSpPr>
          <p:cNvPr id="16" name="Text 14"/>
          <p:cNvSpPr/>
          <p:nvPr/>
        </p:nvSpPr>
        <p:spPr>
          <a:xfrm>
            <a:off x="8859317" y="2185416"/>
            <a:ext cx="2436266"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Strands Agents</a:t>
            </a:r>
            <a:endParaRPr lang="en-US" sz="1150" dirty="0"/>
          </a:p>
        </p:txBody>
      </p:sp>
      <p:sp>
        <p:nvSpPr>
          <p:cNvPr id="17" name="Text 15"/>
          <p:cNvSpPr/>
          <p:nvPr/>
        </p:nvSpPr>
        <p:spPr>
          <a:xfrm>
            <a:off x="8859317" y="2496312"/>
            <a:ext cx="2436266"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minimal, model-driven, from AWS</a:t>
            </a:r>
            <a:endParaRPr lang="en-US" sz="850" dirty="0"/>
          </a:p>
        </p:txBody>
      </p:sp>
      <p:sp>
        <p:nvSpPr>
          <p:cNvPr id="18" name="Shape 16"/>
          <p:cNvSpPr/>
          <p:nvPr/>
        </p:nvSpPr>
        <p:spPr>
          <a:xfrm>
            <a:off x="566928" y="3145536"/>
            <a:ext cx="11057839" cy="1042416"/>
          </a:xfrm>
          <a:prstGeom prst="roundRect">
            <a:avLst>
              <a:gd name="adj" fmla="val 7895"/>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9" name="Text 17"/>
          <p:cNvSpPr/>
          <p:nvPr/>
        </p:nvSpPr>
        <p:spPr>
          <a:xfrm>
            <a:off x="804672" y="3291840"/>
            <a:ext cx="1371600" cy="256032"/>
          </a:xfrm>
          <a:prstGeom prst="rect">
            <a:avLst/>
          </a:prstGeom>
          <a:noFill/>
          <a:ln/>
        </p:spPr>
        <p:txBody>
          <a:bodyPr wrap="square" lIns="0" tIns="0" rIns="0" bIns="0" rtlCol="0" anchor="ctr"/>
          <a:lstStyle/>
          <a:p>
            <a:pPr indent="0" marL="0">
              <a:buNone/>
            </a:pPr>
            <a:r>
              <a:rPr lang="en-US" sz="1000" b="1" spc="160" kern="0" dirty="0">
                <a:solidFill>
                  <a:srgbClr val="5B4BE8"/>
                </a:solidFill>
                <a:latin typeface="Calibri" pitchFamily="34" charset="0"/>
                <a:ea typeface="Calibri" pitchFamily="34" charset="-122"/>
                <a:cs typeface="Calibri" pitchFamily="34" charset="-120"/>
              </a:rPr>
              <a:t>Tier 2</a:t>
            </a:r>
            <a:endParaRPr lang="en-US" sz="1000" dirty="0"/>
          </a:p>
        </p:txBody>
      </p:sp>
      <p:sp>
        <p:nvSpPr>
          <p:cNvPr id="20" name="Text 18"/>
          <p:cNvSpPr/>
          <p:nvPr/>
        </p:nvSpPr>
        <p:spPr>
          <a:xfrm>
            <a:off x="804672" y="3529584"/>
            <a:ext cx="2103120" cy="274320"/>
          </a:xfrm>
          <a:prstGeom prst="rect">
            <a:avLst/>
          </a:prstGeom>
          <a:noFill/>
          <a:ln/>
        </p:spPr>
        <p:txBody>
          <a:bodyPr wrap="square" lIns="0" tIns="0" rIns="0" bIns="0" rtlCol="0" anchor="ctr"/>
          <a:lstStyle/>
          <a:p>
            <a:pPr indent="0" marL="0">
              <a:buNone/>
            </a:pPr>
            <a:r>
              <a:rPr lang="en-US" sz="1500" b="1" dirty="0">
                <a:solidFill>
                  <a:srgbClr val="141235"/>
                </a:solidFill>
                <a:latin typeface="Calibri" pitchFamily="34" charset="0"/>
                <a:ea typeface="Calibri" pitchFamily="34" charset="-122"/>
                <a:cs typeface="Calibri" pitchFamily="34" charset="-120"/>
              </a:rPr>
              <a:t>Graph and state</a:t>
            </a:r>
            <a:endParaRPr lang="en-US" sz="1500" dirty="0"/>
          </a:p>
        </p:txBody>
      </p:sp>
      <p:sp>
        <p:nvSpPr>
          <p:cNvPr id="21" name="Text 19"/>
          <p:cNvSpPr/>
          <p:nvPr/>
        </p:nvSpPr>
        <p:spPr>
          <a:xfrm>
            <a:off x="804672" y="3785616"/>
            <a:ext cx="2286000" cy="384048"/>
          </a:xfrm>
          <a:prstGeom prst="rect">
            <a:avLst/>
          </a:prstGeom>
          <a:noFill/>
          <a:ln/>
        </p:spPr>
        <p:txBody>
          <a:bodyPr wrap="square" lIns="0" tIns="0" rIns="0" bIns="0" rtlCol="0" anchor="t"/>
          <a:lstStyle/>
          <a:p>
            <a:pPr indent="0" marL="0">
              <a:lnSpc>
                <a:spcPct val="110000"/>
              </a:lnSpc>
              <a:buNone/>
            </a:pPr>
            <a:r>
              <a:rPr lang="en-US" sz="1000" dirty="0">
                <a:solidFill>
                  <a:srgbClr val="6E6B8A"/>
                </a:solidFill>
                <a:latin typeface="Calibri" pitchFamily="34" charset="0"/>
                <a:ea typeface="Calibri" pitchFamily="34" charset="-122"/>
                <a:cs typeface="Calibri" pitchFamily="34" charset="-120"/>
              </a:rPr>
              <a:t>Explicit control flow, checkpointing, resumability.</a:t>
            </a:r>
            <a:endParaRPr lang="en-US" sz="1000" dirty="0"/>
          </a:p>
        </p:txBody>
      </p:sp>
      <p:sp>
        <p:nvSpPr>
          <p:cNvPr id="22" name="Shape 20"/>
          <p:cNvSpPr/>
          <p:nvPr/>
        </p:nvSpPr>
        <p:spPr>
          <a:xfrm>
            <a:off x="3273552" y="3282696"/>
            <a:ext cx="3992728" cy="768096"/>
          </a:xfrm>
          <a:prstGeom prst="roundRect">
            <a:avLst>
              <a:gd name="adj" fmla="val 8333"/>
            </a:avLst>
          </a:prstGeom>
          <a:solidFill>
            <a:srgbClr val="EEEDFE"/>
          </a:solidFill>
          <a:ln w="12700">
            <a:solidFill>
              <a:srgbClr val="8E82F5"/>
            </a:solidFill>
            <a:prstDash val="solid"/>
          </a:ln>
        </p:spPr>
      </p:sp>
      <p:sp>
        <p:nvSpPr>
          <p:cNvPr id="23" name="Text 21"/>
          <p:cNvSpPr/>
          <p:nvPr/>
        </p:nvSpPr>
        <p:spPr>
          <a:xfrm>
            <a:off x="3364992" y="3337560"/>
            <a:ext cx="3809848"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LangGraph</a:t>
            </a:r>
            <a:endParaRPr lang="en-US" sz="1150" dirty="0"/>
          </a:p>
        </p:txBody>
      </p:sp>
      <p:sp>
        <p:nvSpPr>
          <p:cNvPr id="24" name="Text 22"/>
          <p:cNvSpPr/>
          <p:nvPr/>
        </p:nvSpPr>
        <p:spPr>
          <a:xfrm>
            <a:off x="3364992" y="3648456"/>
            <a:ext cx="3809848"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nodes, edges, an explicit state schema</a:t>
            </a:r>
            <a:endParaRPr lang="en-US" sz="850" dirty="0"/>
          </a:p>
        </p:txBody>
      </p:sp>
      <p:sp>
        <p:nvSpPr>
          <p:cNvPr id="25" name="Shape 23"/>
          <p:cNvSpPr/>
          <p:nvPr/>
        </p:nvSpPr>
        <p:spPr>
          <a:xfrm>
            <a:off x="7394296" y="3282696"/>
            <a:ext cx="3992728" cy="768096"/>
          </a:xfrm>
          <a:prstGeom prst="roundRect">
            <a:avLst>
              <a:gd name="adj" fmla="val 8333"/>
            </a:avLst>
          </a:prstGeom>
          <a:solidFill>
            <a:srgbClr val="EEEDFE"/>
          </a:solidFill>
          <a:ln w="12700">
            <a:solidFill>
              <a:srgbClr val="8E82F5"/>
            </a:solidFill>
            <a:prstDash val="solid"/>
          </a:ln>
        </p:spPr>
      </p:sp>
      <p:sp>
        <p:nvSpPr>
          <p:cNvPr id="26" name="Text 24"/>
          <p:cNvSpPr/>
          <p:nvPr/>
        </p:nvSpPr>
        <p:spPr>
          <a:xfrm>
            <a:off x="7485736" y="3337560"/>
            <a:ext cx="3809848"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Mastra</a:t>
            </a:r>
            <a:endParaRPr lang="en-US" sz="1150" dirty="0"/>
          </a:p>
        </p:txBody>
      </p:sp>
      <p:sp>
        <p:nvSpPr>
          <p:cNvPr id="27" name="Text 25"/>
          <p:cNvSpPr/>
          <p:nvPr/>
        </p:nvSpPr>
        <p:spPr>
          <a:xfrm>
            <a:off x="7485736" y="3648456"/>
            <a:ext cx="3809848"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the same idea, TypeScript-first</a:t>
            </a:r>
            <a:endParaRPr lang="en-US" sz="850" dirty="0"/>
          </a:p>
        </p:txBody>
      </p:sp>
      <p:sp>
        <p:nvSpPr>
          <p:cNvPr id="28" name="Shape 26"/>
          <p:cNvSpPr/>
          <p:nvPr/>
        </p:nvSpPr>
        <p:spPr>
          <a:xfrm>
            <a:off x="566928" y="4297680"/>
            <a:ext cx="11057839" cy="1042416"/>
          </a:xfrm>
          <a:prstGeom prst="roundRect">
            <a:avLst>
              <a:gd name="adj" fmla="val 7895"/>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29" name="Text 27"/>
          <p:cNvSpPr/>
          <p:nvPr/>
        </p:nvSpPr>
        <p:spPr>
          <a:xfrm>
            <a:off x="804672" y="4443984"/>
            <a:ext cx="1371600" cy="256032"/>
          </a:xfrm>
          <a:prstGeom prst="rect">
            <a:avLst/>
          </a:prstGeom>
          <a:noFill/>
          <a:ln/>
        </p:spPr>
        <p:txBody>
          <a:bodyPr wrap="square" lIns="0" tIns="0" rIns="0" bIns="0" rtlCol="0" anchor="ctr"/>
          <a:lstStyle/>
          <a:p>
            <a:pPr indent="0" marL="0">
              <a:buNone/>
            </a:pPr>
            <a:r>
              <a:rPr lang="en-US" sz="1000" b="1" spc="160" kern="0" dirty="0">
                <a:solidFill>
                  <a:srgbClr val="E08700"/>
                </a:solidFill>
                <a:latin typeface="Calibri" pitchFamily="34" charset="0"/>
                <a:ea typeface="Calibri" pitchFamily="34" charset="-122"/>
                <a:cs typeface="Calibri" pitchFamily="34" charset="-120"/>
              </a:rPr>
              <a:t>Tier 3</a:t>
            </a:r>
            <a:endParaRPr lang="en-US" sz="1000" dirty="0"/>
          </a:p>
        </p:txBody>
      </p:sp>
      <p:sp>
        <p:nvSpPr>
          <p:cNvPr id="30" name="Text 28"/>
          <p:cNvSpPr/>
          <p:nvPr/>
        </p:nvSpPr>
        <p:spPr>
          <a:xfrm>
            <a:off x="804672" y="4681728"/>
            <a:ext cx="2103120" cy="274320"/>
          </a:xfrm>
          <a:prstGeom prst="rect">
            <a:avLst/>
          </a:prstGeom>
          <a:noFill/>
          <a:ln/>
        </p:spPr>
        <p:txBody>
          <a:bodyPr wrap="square" lIns="0" tIns="0" rIns="0" bIns="0" rtlCol="0" anchor="ctr"/>
          <a:lstStyle/>
          <a:p>
            <a:pPr indent="0" marL="0">
              <a:buNone/>
            </a:pPr>
            <a:r>
              <a:rPr lang="en-US" sz="1500" b="1" dirty="0">
                <a:solidFill>
                  <a:srgbClr val="141235"/>
                </a:solidFill>
                <a:latin typeface="Calibri" pitchFamily="34" charset="0"/>
                <a:ea typeface="Calibri" pitchFamily="34" charset="-122"/>
                <a:cs typeface="Calibri" pitchFamily="34" charset="-120"/>
              </a:rPr>
              <a:t>Roles and teams</a:t>
            </a:r>
            <a:endParaRPr lang="en-US" sz="1500" dirty="0"/>
          </a:p>
        </p:txBody>
      </p:sp>
      <p:sp>
        <p:nvSpPr>
          <p:cNvPr id="31" name="Text 29"/>
          <p:cNvSpPr/>
          <p:nvPr/>
        </p:nvSpPr>
        <p:spPr>
          <a:xfrm>
            <a:off x="804672" y="4937760"/>
            <a:ext cx="2286000" cy="384048"/>
          </a:xfrm>
          <a:prstGeom prst="rect">
            <a:avLst/>
          </a:prstGeom>
          <a:noFill/>
          <a:ln/>
        </p:spPr>
        <p:txBody>
          <a:bodyPr wrap="square" lIns="0" tIns="0" rIns="0" bIns="0" rtlCol="0" anchor="t"/>
          <a:lstStyle/>
          <a:p>
            <a:pPr indent="0" marL="0">
              <a:lnSpc>
                <a:spcPct val="110000"/>
              </a:lnSpc>
              <a:buNone/>
            </a:pPr>
            <a:r>
              <a:rPr lang="en-US" sz="1000" dirty="0">
                <a:solidFill>
                  <a:srgbClr val="6E6B8A"/>
                </a:solidFill>
                <a:latin typeface="Calibri" pitchFamily="34" charset="0"/>
                <a:ea typeface="Calibri" pitchFamily="34" charset="-122"/>
                <a:cs typeface="Calibri" pitchFamily="34" charset="-120"/>
              </a:rPr>
              <a:t>An org-chart metaphor over the same loop.</a:t>
            </a:r>
            <a:endParaRPr lang="en-US" sz="1000" dirty="0"/>
          </a:p>
        </p:txBody>
      </p:sp>
      <p:sp>
        <p:nvSpPr>
          <p:cNvPr id="32" name="Shape 30"/>
          <p:cNvSpPr/>
          <p:nvPr/>
        </p:nvSpPr>
        <p:spPr>
          <a:xfrm>
            <a:off x="3273552" y="4434840"/>
            <a:ext cx="1520281" cy="768096"/>
          </a:xfrm>
          <a:prstGeom prst="roundRect">
            <a:avLst>
              <a:gd name="adj" fmla="val 8333"/>
            </a:avLst>
          </a:prstGeom>
          <a:solidFill>
            <a:srgbClr val="FFF4E0"/>
          </a:solidFill>
          <a:ln w="12700">
            <a:solidFill>
              <a:srgbClr val="F0D5A6"/>
            </a:solidFill>
            <a:prstDash val="solid"/>
          </a:ln>
        </p:spPr>
      </p:sp>
      <p:sp>
        <p:nvSpPr>
          <p:cNvPr id="33" name="Text 31"/>
          <p:cNvSpPr/>
          <p:nvPr/>
        </p:nvSpPr>
        <p:spPr>
          <a:xfrm>
            <a:off x="3364992" y="4489704"/>
            <a:ext cx="1337401"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CrewAI</a:t>
            </a:r>
            <a:endParaRPr lang="en-US" sz="1150" dirty="0"/>
          </a:p>
        </p:txBody>
      </p:sp>
      <p:sp>
        <p:nvSpPr>
          <p:cNvPr id="34" name="Text 32"/>
          <p:cNvSpPr/>
          <p:nvPr/>
        </p:nvSpPr>
        <p:spPr>
          <a:xfrm>
            <a:off x="3364992" y="4800600"/>
            <a:ext cx="1337401"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roles and tasks</a:t>
            </a:r>
            <a:endParaRPr lang="en-US" sz="850" dirty="0"/>
          </a:p>
        </p:txBody>
      </p:sp>
      <p:sp>
        <p:nvSpPr>
          <p:cNvPr id="35" name="Shape 33"/>
          <p:cNvSpPr/>
          <p:nvPr/>
        </p:nvSpPr>
        <p:spPr>
          <a:xfrm>
            <a:off x="4921849" y="4434840"/>
            <a:ext cx="1520281" cy="768096"/>
          </a:xfrm>
          <a:prstGeom prst="roundRect">
            <a:avLst>
              <a:gd name="adj" fmla="val 8333"/>
            </a:avLst>
          </a:prstGeom>
          <a:solidFill>
            <a:srgbClr val="FFF4E0"/>
          </a:solidFill>
          <a:ln w="12700">
            <a:solidFill>
              <a:srgbClr val="F0D5A6"/>
            </a:solidFill>
            <a:prstDash val="solid"/>
          </a:ln>
        </p:spPr>
      </p:sp>
      <p:sp>
        <p:nvSpPr>
          <p:cNvPr id="36" name="Text 34"/>
          <p:cNvSpPr/>
          <p:nvPr/>
        </p:nvSpPr>
        <p:spPr>
          <a:xfrm>
            <a:off x="5013289" y="4489704"/>
            <a:ext cx="1337401"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AutoGen</a:t>
            </a:r>
            <a:endParaRPr lang="en-US" sz="1150" dirty="0"/>
          </a:p>
        </p:txBody>
      </p:sp>
      <p:sp>
        <p:nvSpPr>
          <p:cNvPr id="37" name="Text 35"/>
          <p:cNvSpPr/>
          <p:nvPr/>
        </p:nvSpPr>
        <p:spPr>
          <a:xfrm>
            <a:off x="5013289" y="4800600"/>
            <a:ext cx="1337401"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conversational multi-agent</a:t>
            </a:r>
            <a:endParaRPr lang="en-US" sz="850" dirty="0"/>
          </a:p>
        </p:txBody>
      </p:sp>
      <p:sp>
        <p:nvSpPr>
          <p:cNvPr id="38" name="Shape 36"/>
          <p:cNvSpPr/>
          <p:nvPr/>
        </p:nvSpPr>
        <p:spPr>
          <a:xfrm>
            <a:off x="6570147" y="4434840"/>
            <a:ext cx="1520281" cy="768096"/>
          </a:xfrm>
          <a:prstGeom prst="roundRect">
            <a:avLst>
              <a:gd name="adj" fmla="val 8333"/>
            </a:avLst>
          </a:prstGeom>
          <a:solidFill>
            <a:srgbClr val="FFF4E0"/>
          </a:solidFill>
          <a:ln w="12700">
            <a:solidFill>
              <a:srgbClr val="F0D5A6"/>
            </a:solidFill>
            <a:prstDash val="solid"/>
          </a:ln>
        </p:spPr>
      </p:sp>
      <p:sp>
        <p:nvSpPr>
          <p:cNvPr id="39" name="Text 37"/>
          <p:cNvSpPr/>
          <p:nvPr/>
        </p:nvSpPr>
        <p:spPr>
          <a:xfrm>
            <a:off x="6661587" y="4489704"/>
            <a:ext cx="1337401"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Agno</a:t>
            </a:r>
            <a:endParaRPr lang="en-US" sz="1150" dirty="0"/>
          </a:p>
        </p:txBody>
      </p:sp>
      <p:sp>
        <p:nvSpPr>
          <p:cNvPr id="40" name="Text 38"/>
          <p:cNvSpPr/>
          <p:nvPr/>
        </p:nvSpPr>
        <p:spPr>
          <a:xfrm>
            <a:off x="6661587" y="4800600"/>
            <a:ext cx="1337401"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batteries included</a:t>
            </a:r>
            <a:endParaRPr lang="en-US" sz="850" dirty="0"/>
          </a:p>
        </p:txBody>
      </p:sp>
      <p:sp>
        <p:nvSpPr>
          <p:cNvPr id="41" name="Shape 39"/>
          <p:cNvSpPr/>
          <p:nvPr/>
        </p:nvSpPr>
        <p:spPr>
          <a:xfrm>
            <a:off x="8218444" y="4434840"/>
            <a:ext cx="1520281" cy="768096"/>
          </a:xfrm>
          <a:prstGeom prst="roundRect">
            <a:avLst>
              <a:gd name="adj" fmla="val 8333"/>
            </a:avLst>
          </a:prstGeom>
          <a:solidFill>
            <a:srgbClr val="FFF4E0"/>
          </a:solidFill>
          <a:ln w="12700">
            <a:solidFill>
              <a:srgbClr val="F0D5A6"/>
            </a:solidFill>
            <a:prstDash val="solid"/>
          </a:ln>
        </p:spPr>
      </p:sp>
      <p:sp>
        <p:nvSpPr>
          <p:cNvPr id="42" name="Text 40"/>
          <p:cNvSpPr/>
          <p:nvPr/>
        </p:nvSpPr>
        <p:spPr>
          <a:xfrm>
            <a:off x="8309884" y="4489704"/>
            <a:ext cx="1337401"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Google ADK</a:t>
            </a:r>
            <a:endParaRPr lang="en-US" sz="1150" dirty="0"/>
          </a:p>
        </p:txBody>
      </p:sp>
      <p:sp>
        <p:nvSpPr>
          <p:cNvPr id="43" name="Text 41"/>
          <p:cNvSpPr/>
          <p:nvPr/>
        </p:nvSpPr>
        <p:spPr>
          <a:xfrm>
            <a:off x="8309884" y="4800600"/>
            <a:ext cx="1337401"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hierarchical, Google ecosystem</a:t>
            </a:r>
            <a:endParaRPr lang="en-US" sz="850" dirty="0"/>
          </a:p>
        </p:txBody>
      </p:sp>
      <p:sp>
        <p:nvSpPr>
          <p:cNvPr id="44" name="Shape 42"/>
          <p:cNvSpPr/>
          <p:nvPr/>
        </p:nvSpPr>
        <p:spPr>
          <a:xfrm>
            <a:off x="9866742" y="4434840"/>
            <a:ext cx="1520281" cy="768096"/>
          </a:xfrm>
          <a:prstGeom prst="roundRect">
            <a:avLst>
              <a:gd name="adj" fmla="val 8333"/>
            </a:avLst>
          </a:prstGeom>
          <a:solidFill>
            <a:srgbClr val="FFF4E0"/>
          </a:solidFill>
          <a:ln w="12700">
            <a:solidFill>
              <a:srgbClr val="F0D5A6"/>
            </a:solidFill>
            <a:prstDash val="solid"/>
          </a:ln>
        </p:spPr>
      </p:sp>
      <p:sp>
        <p:nvSpPr>
          <p:cNvPr id="45" name="Text 43"/>
          <p:cNvSpPr/>
          <p:nvPr/>
        </p:nvSpPr>
        <p:spPr>
          <a:xfrm>
            <a:off x="9958182" y="4489704"/>
            <a:ext cx="1337401" cy="292608"/>
          </a:xfrm>
          <a:prstGeom prst="rect">
            <a:avLst/>
          </a:prstGeom>
          <a:noFill/>
          <a:ln/>
        </p:spPr>
        <p:txBody>
          <a:bodyPr wrap="square" lIns="0" tIns="0" rIns="0" bIns="0" rtlCol="0" anchor="t"/>
          <a:lstStyle/>
          <a:p>
            <a:pPr algn="ctr" indent="0" marL="0">
              <a:lnSpc>
                <a:spcPct val="100000"/>
              </a:lnSpc>
              <a:buNone/>
            </a:pPr>
            <a:r>
              <a:rPr lang="en-US" sz="1150" b="1" dirty="0">
                <a:solidFill>
                  <a:srgbClr val="141235"/>
                </a:solidFill>
                <a:latin typeface="Calibri" pitchFamily="34" charset="0"/>
                <a:ea typeface="Calibri" pitchFamily="34" charset="-122"/>
                <a:cs typeface="Calibri" pitchFamily="34" charset="-120"/>
              </a:rPr>
              <a:t>Microsoft Agent Framework</a:t>
            </a:r>
            <a:endParaRPr lang="en-US" sz="1150" dirty="0"/>
          </a:p>
        </p:txBody>
      </p:sp>
      <p:sp>
        <p:nvSpPr>
          <p:cNvPr id="46" name="Text 44"/>
          <p:cNvSpPr/>
          <p:nvPr/>
        </p:nvSpPr>
        <p:spPr>
          <a:xfrm>
            <a:off x="9958182" y="4800600"/>
            <a:ext cx="1337401" cy="384048"/>
          </a:xfrm>
          <a:prstGeom prst="rect">
            <a:avLst/>
          </a:prstGeom>
          <a:noFill/>
          <a:ln/>
        </p:spPr>
        <p:txBody>
          <a:bodyPr wrap="square" lIns="0" tIns="0" rIns="0" bIns="0" rtlCol="0" anchor="t"/>
          <a:lstStyle/>
          <a:p>
            <a:pPr algn="ctr" indent="0" marL="0">
              <a:lnSpc>
                <a:spcPct val="105000"/>
              </a:lnSpc>
              <a:buNone/>
            </a:pPr>
            <a:r>
              <a:rPr lang="en-US" sz="850" i="1" dirty="0">
                <a:solidFill>
                  <a:srgbClr val="6E6B8A"/>
                </a:solidFill>
                <a:latin typeface="Calibri" pitchFamily="34" charset="0"/>
                <a:ea typeface="Calibri" pitchFamily="34" charset="-122"/>
                <a:cs typeface="Calibri" pitchFamily="34" charset="-120"/>
              </a:rPr>
              <a:t>the Semantic Kernel and AutoGen convergence</a:t>
            </a:r>
            <a:endParaRPr lang="en-US" sz="850" dirty="0"/>
          </a:p>
        </p:txBody>
      </p:sp>
      <p:sp>
        <p:nvSpPr>
          <p:cNvPr id="47" name="Text 45"/>
          <p:cNvSpPr/>
          <p:nvPr/>
        </p:nvSpPr>
        <p:spPr>
          <a:xfrm>
            <a:off x="566928" y="5394960"/>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Tier 0 is the loop you wrote in module 03. Tier 4 is a managed runtime on a cloud — module 16. This landscape moves quickly; the tiers do not.</a:t>
            </a:r>
            <a:endParaRPr lang="en-US" sz="950" dirty="0"/>
          </a:p>
        </p:txBody>
      </p:sp>
      <p:sp>
        <p:nvSpPr>
          <p:cNvPr id="48" name="Shape 46"/>
          <p:cNvSpPr/>
          <p:nvPr/>
        </p:nvSpPr>
        <p:spPr>
          <a:xfrm>
            <a:off x="566928" y="5687568"/>
            <a:ext cx="11057839" cy="694944"/>
          </a:xfrm>
          <a:prstGeom prst="roundRect">
            <a:avLst>
              <a:gd name="adj" fmla="val 11842"/>
            </a:avLst>
          </a:prstGeom>
          <a:solidFill>
            <a:srgbClr val="FFF4E0"/>
          </a:solidFill>
          <a:ln w="12700">
            <a:solidFill>
              <a:srgbClr val="F3DCB0"/>
            </a:solidFill>
            <a:prstDash val="solid"/>
          </a:ln>
        </p:spPr>
      </p:sp>
      <p:sp>
        <p:nvSpPr>
          <p:cNvPr id="49" name="Shape 47"/>
          <p:cNvSpPr/>
          <p:nvPr/>
        </p:nvSpPr>
        <p:spPr>
          <a:xfrm>
            <a:off x="841248" y="5843016"/>
            <a:ext cx="384048" cy="384048"/>
          </a:xfrm>
          <a:prstGeom prst="ellipse">
            <a:avLst/>
          </a:prstGeom>
          <a:solidFill>
            <a:srgbClr val="F5A524"/>
          </a:solidFill>
          <a:ln w="12700">
            <a:solidFill>
              <a:srgbClr val="F5A524"/>
            </a:solidFill>
            <a:prstDash val="solid"/>
          </a:ln>
        </p:spPr>
      </p:sp>
      <p:pic>
        <p:nvPicPr>
          <p:cNvPr id="50" name="Image 0" descr="preencoded.png">    </p:cNvPr>
          <p:cNvPicPr>
            <a:picLocks noChangeAspect="1"/>
          </p:cNvPicPr>
          <p:nvPr/>
        </p:nvPicPr>
        <p:blipFill>
          <a:blip r:embed="rId1"/>
          <a:stretch>
            <a:fillRect/>
          </a:stretch>
        </p:blipFill>
        <p:spPr>
          <a:xfrm>
            <a:off x="937260" y="5939028"/>
            <a:ext cx="192024" cy="192024"/>
          </a:xfrm>
          <a:prstGeom prst="rect">
            <a:avLst/>
          </a:prstGeom>
        </p:spPr>
      </p:pic>
      <p:sp>
        <p:nvSpPr>
          <p:cNvPr id="51" name="Text 48"/>
          <p:cNvSpPr/>
          <p:nvPr/>
        </p:nvSpPr>
        <p:spPr>
          <a:xfrm>
            <a:off x="1371600" y="5742432"/>
            <a:ext cx="9960559" cy="585216"/>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Nine names, three ideas. Learn to ask which tier a tool sits on and the marketing largely answers itself.</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Five questions that choose the tier for you</a:t>
            </a:r>
            <a:endParaRPr lang="en-US" sz="3000" dirty="0"/>
          </a:p>
        </p:txBody>
      </p:sp>
      <p:sp>
        <p:nvSpPr>
          <p:cNvPr id="4" name="Shape 2"/>
          <p:cNvSpPr/>
          <p:nvPr/>
        </p:nvSpPr>
        <p:spPr>
          <a:xfrm>
            <a:off x="566928" y="188366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103120"/>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194560"/>
            <a:ext cx="182880" cy="182880"/>
          </a:xfrm>
          <a:prstGeom prst="rect">
            <a:avLst/>
          </a:prstGeom>
        </p:spPr>
      </p:pic>
      <p:sp>
        <p:nvSpPr>
          <p:cNvPr id="7" name="Text 4"/>
          <p:cNvSpPr/>
          <p:nvPr/>
        </p:nvSpPr>
        <p:spPr>
          <a:xfrm>
            <a:off x="1298448" y="209397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QUESTION 1</a:t>
            </a:r>
            <a:endParaRPr lang="en-US" sz="850" dirty="0"/>
          </a:p>
        </p:txBody>
      </p:sp>
      <p:sp>
        <p:nvSpPr>
          <p:cNvPr id="8" name="Text 5"/>
          <p:cNvSpPr/>
          <p:nvPr/>
        </p:nvSpPr>
        <p:spPr>
          <a:xfrm>
            <a:off x="1298448" y="2313432"/>
            <a:ext cx="2558186"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Does a run last longer than one request?</a:t>
            </a:r>
            <a:endParaRPr lang="en-US" sz="1350" dirty="0"/>
          </a:p>
        </p:txBody>
      </p:sp>
      <p:sp>
        <p:nvSpPr>
          <p:cNvPr id="9" name="Text 6"/>
          <p:cNvSpPr/>
          <p:nvPr/>
        </p:nvSpPr>
        <p:spPr>
          <a:xfrm>
            <a:off x="1298448" y="2912547"/>
            <a:ext cx="2558186" cy="425013"/>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If it can pause for a human, or run for an hour, you need checkpointing and resumability. That is tier 2 — or a lot of work at tier 0.</a:t>
            </a:r>
            <a:endParaRPr lang="en-US" sz="1100" dirty="0"/>
          </a:p>
        </p:txBody>
      </p:sp>
      <p:sp>
        <p:nvSpPr>
          <p:cNvPr id="10" name="Shape 7"/>
          <p:cNvSpPr/>
          <p:nvPr/>
        </p:nvSpPr>
        <p:spPr>
          <a:xfrm>
            <a:off x="4332122" y="188366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103120"/>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4661306" y="2194560"/>
            <a:ext cx="182880" cy="182880"/>
          </a:xfrm>
          <a:prstGeom prst="rect">
            <a:avLst/>
          </a:prstGeom>
        </p:spPr>
      </p:pic>
      <p:sp>
        <p:nvSpPr>
          <p:cNvPr id="13" name="Text 9"/>
          <p:cNvSpPr/>
          <p:nvPr/>
        </p:nvSpPr>
        <p:spPr>
          <a:xfrm>
            <a:off x="5063642" y="209397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QUESTION 2</a:t>
            </a:r>
            <a:endParaRPr lang="en-US" sz="850" dirty="0"/>
          </a:p>
        </p:txBody>
      </p:sp>
      <p:sp>
        <p:nvSpPr>
          <p:cNvPr id="14" name="Text 10"/>
          <p:cNvSpPr/>
          <p:nvPr/>
        </p:nvSpPr>
        <p:spPr>
          <a:xfrm>
            <a:off x="5063642" y="2313432"/>
            <a:ext cx="2558186"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How many people will maintain this?</a:t>
            </a:r>
            <a:endParaRPr lang="en-US" sz="1350" dirty="0"/>
          </a:p>
        </p:txBody>
      </p:sp>
      <p:sp>
        <p:nvSpPr>
          <p:cNvPr id="15" name="Text 11"/>
          <p:cNvSpPr/>
          <p:nvPr/>
        </p:nvSpPr>
        <p:spPr>
          <a:xfrm>
            <a:off x="5063642" y="2912547"/>
            <a:ext cx="2558186" cy="425013"/>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One person can carry a hand-written loop indefinitely. Five people need a shared vocabulary, and that is most of what a framework sells.</a:t>
            </a:r>
            <a:endParaRPr lang="en-US" sz="1100" dirty="0"/>
          </a:p>
        </p:txBody>
      </p:sp>
      <p:sp>
        <p:nvSpPr>
          <p:cNvPr id="16" name="Shape 12"/>
          <p:cNvSpPr/>
          <p:nvPr/>
        </p:nvSpPr>
        <p:spPr>
          <a:xfrm>
            <a:off x="8097317" y="188366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103120"/>
            <a:ext cx="365760" cy="365760"/>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8426501" y="2194560"/>
            <a:ext cx="182880" cy="182880"/>
          </a:xfrm>
          <a:prstGeom prst="rect">
            <a:avLst/>
          </a:prstGeom>
        </p:spPr>
      </p:pic>
      <p:sp>
        <p:nvSpPr>
          <p:cNvPr id="19" name="Text 14"/>
          <p:cNvSpPr/>
          <p:nvPr/>
        </p:nvSpPr>
        <p:spPr>
          <a:xfrm>
            <a:off x="8828837" y="209397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QUESTION 3</a:t>
            </a:r>
            <a:endParaRPr lang="en-US" sz="850" dirty="0"/>
          </a:p>
        </p:txBody>
      </p:sp>
      <p:sp>
        <p:nvSpPr>
          <p:cNvPr id="20" name="Text 15"/>
          <p:cNvSpPr/>
          <p:nvPr/>
        </p:nvSpPr>
        <p:spPr>
          <a:xfrm>
            <a:off x="8828837" y="2313432"/>
            <a:ext cx="2558186"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How many tools, really?</a:t>
            </a:r>
            <a:endParaRPr lang="en-US" sz="1350" dirty="0"/>
          </a:p>
        </p:txBody>
      </p:sp>
      <p:sp>
        <p:nvSpPr>
          <p:cNvPr id="21" name="Text 16"/>
          <p:cNvSpPr/>
          <p:nvPr/>
        </p:nvSpPr>
        <p:spPr>
          <a:xfrm>
            <a:off x="8828837" y="2644993"/>
            <a:ext cx="2558186" cy="69256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Three tools do not need an abstraction. Thirty do — and by then you want MCP more than you want a framework.</a:t>
            </a:r>
            <a:endParaRPr lang="en-US" sz="1100" dirty="0"/>
          </a:p>
        </p:txBody>
      </p:sp>
      <p:sp>
        <p:nvSpPr>
          <p:cNvPr id="22" name="Shape 17"/>
          <p:cNvSpPr/>
          <p:nvPr/>
        </p:nvSpPr>
        <p:spPr>
          <a:xfrm>
            <a:off x="566928" y="375818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3" name="Shape 18"/>
          <p:cNvSpPr/>
          <p:nvPr/>
        </p:nvSpPr>
        <p:spPr>
          <a:xfrm>
            <a:off x="804672" y="3977640"/>
            <a:ext cx="365760" cy="365760"/>
          </a:xfrm>
          <a:prstGeom prst="ellipse">
            <a:avLst/>
          </a:prstGeom>
          <a:solidFill>
            <a:srgbClr val="5B4BE8"/>
          </a:solidFill>
          <a:ln w="12700">
            <a:solidFill>
              <a:srgbClr val="5B4BE8"/>
            </a:solidFill>
            <a:prstDash val="solid"/>
          </a:ln>
        </p:spPr>
      </p:sp>
      <p:pic>
        <p:nvPicPr>
          <p:cNvPr id="24" name="Image 3" descr="preencoded.png">    </p:cNvPr>
          <p:cNvPicPr>
            <a:picLocks noChangeAspect="1"/>
          </p:cNvPicPr>
          <p:nvPr/>
        </p:nvPicPr>
        <p:blipFill>
          <a:blip r:embed="rId4"/>
          <a:stretch>
            <a:fillRect/>
          </a:stretch>
        </p:blipFill>
        <p:spPr>
          <a:xfrm>
            <a:off x="896112" y="4069080"/>
            <a:ext cx="182880" cy="182880"/>
          </a:xfrm>
          <a:prstGeom prst="rect">
            <a:avLst/>
          </a:prstGeom>
        </p:spPr>
      </p:pic>
      <p:sp>
        <p:nvSpPr>
          <p:cNvPr id="25" name="Text 19"/>
          <p:cNvSpPr/>
          <p:nvPr/>
        </p:nvSpPr>
        <p:spPr>
          <a:xfrm>
            <a:off x="1298448" y="396849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QUESTION 4</a:t>
            </a:r>
            <a:endParaRPr lang="en-US" sz="850" dirty="0"/>
          </a:p>
        </p:txBody>
      </p:sp>
      <p:sp>
        <p:nvSpPr>
          <p:cNvPr id="26" name="Text 20"/>
          <p:cNvSpPr/>
          <p:nvPr/>
        </p:nvSpPr>
        <p:spPr>
          <a:xfrm>
            <a:off x="1298448" y="4187952"/>
            <a:ext cx="2558186"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Who has to audit it?</a:t>
            </a:r>
            <a:endParaRPr lang="en-US" sz="1350" dirty="0"/>
          </a:p>
        </p:txBody>
      </p:sp>
      <p:sp>
        <p:nvSpPr>
          <p:cNvPr id="27" name="Text 21"/>
          <p:cNvSpPr/>
          <p:nvPr/>
        </p:nvSpPr>
        <p:spPr>
          <a:xfrm>
            <a:off x="1298448" y="4519513"/>
            <a:ext cx="2558186" cy="69256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If a regulator or a security review is in your future, favour the tier where you can point at the line of code that made the decision.</a:t>
            </a:r>
            <a:endParaRPr lang="en-US" sz="1100" dirty="0"/>
          </a:p>
        </p:txBody>
      </p:sp>
      <p:sp>
        <p:nvSpPr>
          <p:cNvPr id="28" name="Shape 22"/>
          <p:cNvSpPr/>
          <p:nvPr/>
        </p:nvSpPr>
        <p:spPr>
          <a:xfrm>
            <a:off x="4332122" y="375818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9" name="Shape 23"/>
          <p:cNvSpPr/>
          <p:nvPr/>
        </p:nvSpPr>
        <p:spPr>
          <a:xfrm>
            <a:off x="4569866" y="3977640"/>
            <a:ext cx="365760" cy="365760"/>
          </a:xfrm>
          <a:prstGeom prst="ellipse">
            <a:avLst/>
          </a:prstGeom>
          <a:solidFill>
            <a:srgbClr val="5B4BE8"/>
          </a:solidFill>
          <a:ln w="12700">
            <a:solidFill>
              <a:srgbClr val="5B4BE8"/>
            </a:solidFill>
            <a:prstDash val="solid"/>
          </a:ln>
        </p:spPr>
      </p:sp>
      <p:pic>
        <p:nvPicPr>
          <p:cNvPr id="30" name="Image 4" descr="preencoded.png">    </p:cNvPr>
          <p:cNvPicPr>
            <a:picLocks noChangeAspect="1"/>
          </p:cNvPicPr>
          <p:nvPr/>
        </p:nvPicPr>
        <p:blipFill>
          <a:blip r:embed="rId5"/>
          <a:stretch>
            <a:fillRect/>
          </a:stretch>
        </p:blipFill>
        <p:spPr>
          <a:xfrm>
            <a:off x="4661306" y="4069080"/>
            <a:ext cx="182880" cy="182880"/>
          </a:xfrm>
          <a:prstGeom prst="rect">
            <a:avLst/>
          </a:prstGeom>
        </p:spPr>
      </p:pic>
      <p:sp>
        <p:nvSpPr>
          <p:cNvPr id="31" name="Text 24"/>
          <p:cNvSpPr/>
          <p:nvPr/>
        </p:nvSpPr>
        <p:spPr>
          <a:xfrm>
            <a:off x="5063642" y="396849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QUESTION 5</a:t>
            </a:r>
            <a:endParaRPr lang="en-US" sz="850" dirty="0"/>
          </a:p>
        </p:txBody>
      </p:sp>
      <p:sp>
        <p:nvSpPr>
          <p:cNvPr id="32" name="Text 25"/>
          <p:cNvSpPr/>
          <p:nvPr/>
        </p:nvSpPr>
        <p:spPr>
          <a:xfrm>
            <a:off x="5063642" y="4187952"/>
            <a:ext cx="2558186"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Do you need to move clouds?</a:t>
            </a:r>
            <a:endParaRPr lang="en-US" sz="1350" dirty="0"/>
          </a:p>
        </p:txBody>
      </p:sp>
      <p:sp>
        <p:nvSpPr>
          <p:cNvPr id="33" name="Text 26"/>
          <p:cNvSpPr/>
          <p:nvPr/>
        </p:nvSpPr>
        <p:spPr>
          <a:xfrm>
            <a:off x="5063642" y="4787067"/>
            <a:ext cx="2558186" cy="425013"/>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Tier 4 is a genuine choice, not a mistake — but make it deliberately. It is the one rung where portability actually stops.</a:t>
            </a:r>
            <a:endParaRPr lang="en-US" sz="1100" dirty="0"/>
          </a:p>
        </p:txBody>
      </p:sp>
      <p:sp>
        <p:nvSpPr>
          <p:cNvPr id="34" name="Shape 27"/>
          <p:cNvSpPr/>
          <p:nvPr/>
        </p:nvSpPr>
        <p:spPr>
          <a:xfrm>
            <a:off x="8097317" y="3758184"/>
            <a:ext cx="3527450" cy="1636776"/>
          </a:xfrm>
          <a:prstGeom prst="roundRect">
            <a:avLst>
              <a:gd name="adj" fmla="val 5028"/>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35" name="Shape 28"/>
          <p:cNvSpPr/>
          <p:nvPr/>
        </p:nvSpPr>
        <p:spPr>
          <a:xfrm>
            <a:off x="8335061" y="3977640"/>
            <a:ext cx="365760" cy="365760"/>
          </a:xfrm>
          <a:prstGeom prst="ellipse">
            <a:avLst/>
          </a:prstGeom>
          <a:solidFill>
            <a:srgbClr val="F5A524"/>
          </a:solidFill>
          <a:ln w="12700">
            <a:solidFill>
              <a:srgbClr val="F5A524"/>
            </a:solidFill>
            <a:prstDash val="solid"/>
          </a:ln>
        </p:spPr>
      </p:sp>
      <p:pic>
        <p:nvPicPr>
          <p:cNvPr id="36" name="Image 5" descr="preencoded.png">    </p:cNvPr>
          <p:cNvPicPr>
            <a:picLocks noChangeAspect="1"/>
          </p:cNvPicPr>
          <p:nvPr/>
        </p:nvPicPr>
        <p:blipFill>
          <a:blip r:embed="rId6"/>
          <a:stretch>
            <a:fillRect/>
          </a:stretch>
        </p:blipFill>
        <p:spPr>
          <a:xfrm>
            <a:off x="8426501" y="4069080"/>
            <a:ext cx="182880" cy="182880"/>
          </a:xfrm>
          <a:prstGeom prst="rect">
            <a:avLst/>
          </a:prstGeom>
        </p:spPr>
      </p:pic>
      <p:sp>
        <p:nvSpPr>
          <p:cNvPr id="37" name="Text 29"/>
          <p:cNvSpPr/>
          <p:nvPr/>
        </p:nvSpPr>
        <p:spPr>
          <a:xfrm>
            <a:off x="8828837" y="396849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AND THEN</a:t>
            </a:r>
            <a:endParaRPr lang="en-US" sz="850" dirty="0"/>
          </a:p>
        </p:txBody>
      </p:sp>
      <p:sp>
        <p:nvSpPr>
          <p:cNvPr id="38" name="Text 30"/>
          <p:cNvSpPr/>
          <p:nvPr/>
        </p:nvSpPr>
        <p:spPr>
          <a:xfrm>
            <a:off x="8828837" y="4187952"/>
            <a:ext cx="2558186"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Pick the lowest tier that answers them</a:t>
            </a:r>
            <a:endParaRPr lang="en-US" sz="1350" dirty="0"/>
          </a:p>
        </p:txBody>
      </p:sp>
      <p:sp>
        <p:nvSpPr>
          <p:cNvPr id="39" name="Text 31"/>
          <p:cNvSpPr/>
          <p:nvPr/>
        </p:nvSpPr>
        <p:spPr>
          <a:xfrm>
            <a:off x="8828837" y="4787067"/>
            <a:ext cx="2558186" cy="425013"/>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Not the most capable one. You can always climb; coming back down means a rewrite.</a:t>
            </a:r>
            <a:endParaRPr lang="en-US" sz="1100" dirty="0"/>
          </a:p>
        </p:txBody>
      </p:sp>
      <p:sp>
        <p:nvSpPr>
          <p:cNvPr id="40" name="Shape 3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41" name="Shape 33"/>
          <p:cNvSpPr/>
          <p:nvPr/>
        </p:nvSpPr>
        <p:spPr>
          <a:xfrm>
            <a:off x="841248" y="5760720"/>
            <a:ext cx="384048" cy="384048"/>
          </a:xfrm>
          <a:prstGeom prst="ellipse">
            <a:avLst/>
          </a:prstGeom>
          <a:solidFill>
            <a:srgbClr val="F5A524"/>
          </a:solidFill>
          <a:ln w="12700">
            <a:solidFill>
              <a:srgbClr val="F5A524"/>
            </a:solidFill>
            <a:prstDash val="solid"/>
          </a:ln>
        </p:spPr>
      </p:sp>
      <p:pic>
        <p:nvPicPr>
          <p:cNvPr id="42" name="Image 6" descr="preencoded.png">    </p:cNvPr>
          <p:cNvPicPr>
            <a:picLocks noChangeAspect="1"/>
          </p:cNvPicPr>
          <p:nvPr/>
        </p:nvPicPr>
        <p:blipFill>
          <a:blip r:embed="rId7"/>
          <a:stretch>
            <a:fillRect/>
          </a:stretch>
        </p:blipFill>
        <p:spPr>
          <a:xfrm>
            <a:off x="937260" y="5856732"/>
            <a:ext cx="192024" cy="192024"/>
          </a:xfrm>
          <a:prstGeom prst="rect">
            <a:avLst/>
          </a:prstGeom>
        </p:spPr>
      </p:pic>
      <p:sp>
        <p:nvSpPr>
          <p:cNvPr id="43" name="Text 34"/>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Nobody has ever regretted starting simpler. Plenty of teams have regretted adopting an org-chart framework for a job that was one agent with four tools.</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B0A22"/>
        </a:solidFill>
      </p:bgPr>
    </p:bg>
    <p:spTree>
      <p:nvGrpSpPr>
        <p:cNvPr id="1" name=""/>
        <p:cNvGrpSpPr/>
        <p:nvPr/>
      </p:nvGrpSpPr>
      <p:grpSpPr>
        <a:xfrm>
          <a:off x="0" y="0"/>
          <a:ext cx="0" cy="0"/>
          <a:chOff x="0" y="0"/>
          <a:chExt cx="0" cy="0"/>
        </a:xfrm>
      </p:grpSpPr>
      <p:pic>
        <p:nvPicPr>
          <p:cNvPr id="2" name="Image 0" descr="bg quo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09 · LANGGRAPH</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indent="0" marL="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indent="0" marL="0">
              <a:lnSpc>
                <a:spcPct val="116000"/>
              </a:lnSpc>
              <a:buNone/>
            </a:pPr>
            <a:r>
              <a:rPr lang="en-US" sz="3100" b="1" dirty="0">
                <a:solidFill>
                  <a:srgbClr val="FFFFFF"/>
                </a:solidFill>
                <a:latin typeface="Cambria" pitchFamily="34" charset="0"/>
                <a:ea typeface="Cambria" pitchFamily="34" charset="-122"/>
                <a:cs typeface="Cambria" pitchFamily="34" charset="-120"/>
              </a:rPr>
              <a:t>Every tier up trades control</a:t>
            </a:r>
            <a:endParaRPr lang="en-US" sz="3100" dirty="0"/>
          </a:p>
          <a:p>
            <a:pPr indent="0" marL="0">
              <a:lnSpc>
                <a:spcPct val="116000"/>
              </a:lnSpc>
              <a:buNone/>
            </a:pPr>
            <a:r>
              <a:rPr lang="en-US" sz="3100" b="1" dirty="0">
                <a:solidFill>
                  <a:srgbClr val="FFFFFF"/>
                </a:solidFill>
                <a:latin typeface="Cambria" pitchFamily="34" charset="0"/>
                <a:ea typeface="Cambria" pitchFamily="34" charset="-122"/>
                <a:cs typeface="Cambria" pitchFamily="34" charset="-120"/>
              </a:rPr>
              <a:t>for leverage. That trade is correct</a:t>
            </a:r>
            <a:endParaRPr lang="en-US" sz="3100" dirty="0"/>
          </a:p>
          <a:p>
            <a:pPr indent="0" marL="0">
              <a:lnSpc>
                <a:spcPct val="116000"/>
              </a:lnSpc>
              <a:buNone/>
            </a:pPr>
            <a:r>
              <a:rPr lang="en-US" sz="3100" b="1" dirty="0">
                <a:solidFill>
                  <a:srgbClr val="FFFFFF"/>
                </a:solidFill>
                <a:latin typeface="Cambria" pitchFamily="34" charset="0"/>
                <a:ea typeface="Cambria" pitchFamily="34" charset="-122"/>
                <a:cs typeface="Cambria" pitchFamily="34" charset="-120"/>
              </a:rPr>
              <a:t>right up until the moment</a:t>
            </a:r>
            <a:endParaRPr lang="en-US" sz="3100" dirty="0"/>
          </a:p>
          <a:p>
            <a:pPr indent="0" marL="0">
              <a:lnSpc>
                <a:spcPct val="116000"/>
              </a:lnSpc>
              <a:buNone/>
            </a:pPr>
            <a:r>
              <a:rPr lang="en-US" sz="3100" b="1" dirty="0">
                <a:solidFill>
                  <a:srgbClr val="FFFFFF"/>
                </a:solidFill>
                <a:latin typeface="Cambria" pitchFamily="34" charset="0"/>
                <a:ea typeface="Cambria" pitchFamily="34" charset="-122"/>
                <a:cs typeface="Cambria" pitchFamily="34" charset="-120"/>
              </a:rPr>
              <a:t>you need the control back.</a:t>
            </a:r>
            <a:endParaRPr lang="en-US" sz="31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indent="0" marL="0">
              <a:lnSpc>
                <a:spcPct val="120000"/>
              </a:lnSpc>
              <a:buNone/>
            </a:pPr>
            <a:r>
              <a:rPr lang="en-US" sz="1450" dirty="0">
                <a:solidFill>
                  <a:srgbClr val="B9B4E0"/>
                </a:solidFill>
                <a:latin typeface="Calibri" pitchFamily="34" charset="0"/>
                <a:ea typeface="Calibri" pitchFamily="34" charset="-122"/>
                <a:cs typeface="Calibri" pitchFamily="34" charset="-120"/>
              </a:rPr>
              <a:t>Which is usually the first serious incident. Choose the tier you can debug at 2am, not the one with the shortest hello-world.</a:t>
            </a:r>
            <a:endParaRPr lang="en-US" sz="14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2139696"/>
            <a:ext cx="7315200" cy="292608"/>
          </a:xfrm>
          <a:prstGeom prst="rect">
            <a:avLst/>
          </a:prstGeom>
          <a:noFill/>
          <a:ln/>
        </p:spPr>
        <p:txBody>
          <a:bodyPr wrap="square" lIns="0" tIns="0" rIns="0" bIns="0" rtlCol="0" anchor="ctr"/>
          <a:lstStyle/>
          <a:p>
            <a:pPr indent="0" marL="0">
              <a:buNone/>
            </a:pPr>
            <a:r>
              <a:rPr lang="en-US" sz="1300" b="1" spc="340" kern="0" dirty="0">
                <a:solidFill>
                  <a:srgbClr val="F5A524"/>
                </a:solidFill>
                <a:latin typeface="Calibri" pitchFamily="34" charset="0"/>
                <a:ea typeface="Calibri" pitchFamily="34" charset="-122"/>
                <a:cs typeface="Calibri" pitchFamily="34" charset="-120"/>
              </a:rPr>
              <a:t>DAY TWO</a:t>
            </a:r>
            <a:endParaRPr lang="en-US" sz="1300" dirty="0"/>
          </a:p>
        </p:txBody>
      </p:sp>
      <p:sp>
        <p:nvSpPr>
          <p:cNvPr id="4" name="Text 1"/>
          <p:cNvSpPr/>
          <p:nvPr/>
        </p:nvSpPr>
        <p:spPr>
          <a:xfrm>
            <a:off x="530352" y="2542032"/>
            <a:ext cx="10515600" cy="914400"/>
          </a:xfrm>
          <a:prstGeom prst="rect">
            <a:avLst/>
          </a:prstGeom>
          <a:noFill/>
          <a:ln/>
        </p:spPr>
        <p:txBody>
          <a:bodyPr wrap="square" lIns="0" tIns="0" rIns="0" bIns="0" rtlCol="0" anchor="t"/>
          <a:lstStyle/>
          <a:p>
            <a:pPr indent="0" marL="0">
              <a:buNone/>
            </a:pPr>
            <a:r>
              <a:rPr lang="en-US" sz="5000" b="1" dirty="0">
                <a:solidFill>
                  <a:srgbClr val="FFFFFF"/>
                </a:solidFill>
                <a:latin typeface="Cambria" pitchFamily="34" charset="0"/>
                <a:ea typeface="Cambria" pitchFamily="34" charset="-122"/>
                <a:cs typeface="Cambria" pitchFamily="34" charset="-120"/>
              </a:rPr>
              <a:t>Ground it, scale it, govern it</a:t>
            </a:r>
            <a:endParaRPr lang="en-US" sz="5000" dirty="0"/>
          </a:p>
        </p:txBody>
      </p:sp>
      <p:sp>
        <p:nvSpPr>
          <p:cNvPr id="5" name="Text 2"/>
          <p:cNvSpPr/>
          <p:nvPr/>
        </p:nvSpPr>
        <p:spPr>
          <a:xfrm>
            <a:off x="566928" y="3602736"/>
            <a:ext cx="9509760" cy="822960"/>
          </a:xfrm>
          <a:prstGeom prst="rect">
            <a:avLst/>
          </a:prstGeom>
          <a:noFill/>
          <a:ln/>
        </p:spPr>
        <p:txBody>
          <a:bodyPr wrap="square" lIns="0" tIns="0" rIns="0" bIns="0" rtlCol="0" anchor="t"/>
          <a:lstStyle/>
          <a:p>
            <a:pPr indent="0" marL="0">
              <a:lnSpc>
                <a:spcPct val="120000"/>
              </a:lnSpc>
              <a:buNone/>
            </a:pPr>
            <a:r>
              <a:rPr lang="en-US" sz="1700" dirty="0">
                <a:solidFill>
                  <a:srgbClr val="B9B4E0"/>
                </a:solidFill>
                <a:latin typeface="Calibri" pitchFamily="34" charset="0"/>
                <a:ea typeface="Calibri" pitchFamily="34" charset="-122"/>
                <a:cs typeface="Calibri" pitchFamily="34" charset="-120"/>
              </a:rPr>
              <a:t>Yesterday you built a loop and saw what wraps it. Today: what it knows, how many of it there are, what could go wrong, and whether any of it should exist.</a:t>
            </a:r>
            <a:endParaRPr lang="en-US" sz="1700" dirty="0"/>
          </a:p>
        </p:txBody>
      </p:sp>
      <p:sp>
        <p:nvSpPr>
          <p:cNvPr id="6" name="Shape 3"/>
          <p:cNvSpPr/>
          <p:nvPr/>
        </p:nvSpPr>
        <p:spPr>
          <a:xfrm>
            <a:off x="566928" y="4626864"/>
            <a:ext cx="1549908" cy="402336"/>
          </a:xfrm>
          <a:prstGeom prst="roundRect">
            <a:avLst>
              <a:gd name="adj" fmla="val 50000"/>
            </a:avLst>
          </a:prstGeom>
          <a:solidFill>
            <a:srgbClr val="FFFFFF">
              <a:alpha val="11000"/>
            </a:srgbClr>
          </a:solidFill>
          <a:ln w="12700">
            <a:solidFill>
              <a:srgbClr val="6E5FD8"/>
            </a:solidFill>
            <a:prstDash val="solid"/>
          </a:ln>
        </p:spPr>
      </p:sp>
      <p:sp>
        <p:nvSpPr>
          <p:cNvPr id="7" name="Text 4"/>
          <p:cNvSpPr/>
          <p:nvPr/>
        </p:nvSpPr>
        <p:spPr>
          <a:xfrm>
            <a:off x="566928" y="4626864"/>
            <a:ext cx="1549908"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10 · Sandboxing</a:t>
            </a:r>
            <a:endParaRPr lang="en-US" sz="1100" dirty="0"/>
          </a:p>
        </p:txBody>
      </p:sp>
      <p:sp>
        <p:nvSpPr>
          <p:cNvPr id="8" name="Shape 5"/>
          <p:cNvSpPr/>
          <p:nvPr/>
        </p:nvSpPr>
        <p:spPr>
          <a:xfrm>
            <a:off x="2263140" y="4626864"/>
            <a:ext cx="1464869" cy="402336"/>
          </a:xfrm>
          <a:prstGeom prst="roundRect">
            <a:avLst>
              <a:gd name="adj" fmla="val 50000"/>
            </a:avLst>
          </a:prstGeom>
          <a:solidFill>
            <a:srgbClr val="FFFFFF">
              <a:alpha val="11000"/>
            </a:srgbClr>
          </a:solidFill>
          <a:ln w="12700">
            <a:solidFill>
              <a:srgbClr val="6E5FD8"/>
            </a:solidFill>
            <a:prstDash val="solid"/>
          </a:ln>
        </p:spPr>
      </p:sp>
      <p:sp>
        <p:nvSpPr>
          <p:cNvPr id="9" name="Text 6"/>
          <p:cNvSpPr/>
          <p:nvPr/>
        </p:nvSpPr>
        <p:spPr>
          <a:xfrm>
            <a:off x="2263140" y="4626864"/>
            <a:ext cx="1464869"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11 · Retrieval</a:t>
            </a:r>
            <a:endParaRPr lang="en-US" sz="1100" dirty="0"/>
          </a:p>
        </p:txBody>
      </p:sp>
      <p:sp>
        <p:nvSpPr>
          <p:cNvPr id="10" name="Shape 7"/>
          <p:cNvSpPr/>
          <p:nvPr/>
        </p:nvSpPr>
        <p:spPr>
          <a:xfrm>
            <a:off x="3874313" y="4626864"/>
            <a:ext cx="1634947" cy="402336"/>
          </a:xfrm>
          <a:prstGeom prst="roundRect">
            <a:avLst>
              <a:gd name="adj" fmla="val 50000"/>
            </a:avLst>
          </a:prstGeom>
          <a:solidFill>
            <a:srgbClr val="FFFFFF">
              <a:alpha val="11000"/>
            </a:srgbClr>
          </a:solidFill>
          <a:ln w="12700">
            <a:solidFill>
              <a:srgbClr val="6E5FD8"/>
            </a:solidFill>
            <a:prstDash val="solid"/>
          </a:ln>
        </p:spPr>
      </p:sp>
      <p:sp>
        <p:nvSpPr>
          <p:cNvPr id="11" name="Text 8"/>
          <p:cNvSpPr/>
          <p:nvPr/>
        </p:nvSpPr>
        <p:spPr>
          <a:xfrm>
            <a:off x="3874313" y="4626864"/>
            <a:ext cx="1634947"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12 · Agentic RAG</a:t>
            </a:r>
            <a:endParaRPr lang="en-US" sz="1100" dirty="0"/>
          </a:p>
        </p:txBody>
      </p:sp>
      <p:sp>
        <p:nvSpPr>
          <p:cNvPr id="12" name="Shape 9"/>
          <p:cNvSpPr/>
          <p:nvPr/>
        </p:nvSpPr>
        <p:spPr>
          <a:xfrm>
            <a:off x="5655564" y="4626864"/>
            <a:ext cx="1549908" cy="402336"/>
          </a:xfrm>
          <a:prstGeom prst="roundRect">
            <a:avLst>
              <a:gd name="adj" fmla="val 50000"/>
            </a:avLst>
          </a:prstGeom>
          <a:solidFill>
            <a:srgbClr val="FFFFFF">
              <a:alpha val="11000"/>
            </a:srgbClr>
          </a:solidFill>
          <a:ln w="12700">
            <a:solidFill>
              <a:srgbClr val="6E5FD8"/>
            </a:solidFill>
            <a:prstDash val="solid"/>
          </a:ln>
        </p:spPr>
      </p:sp>
      <p:sp>
        <p:nvSpPr>
          <p:cNvPr id="13" name="Text 10"/>
          <p:cNvSpPr/>
          <p:nvPr/>
        </p:nvSpPr>
        <p:spPr>
          <a:xfrm>
            <a:off x="5655564" y="4626864"/>
            <a:ext cx="1549908"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13 · Delegation</a:t>
            </a:r>
            <a:endParaRPr lang="en-US" sz="1100" dirty="0"/>
          </a:p>
        </p:txBody>
      </p:sp>
      <p:sp>
        <p:nvSpPr>
          <p:cNvPr id="14" name="Shape 11"/>
          <p:cNvSpPr/>
          <p:nvPr/>
        </p:nvSpPr>
        <p:spPr>
          <a:xfrm>
            <a:off x="7351776" y="4626864"/>
            <a:ext cx="1379830" cy="402336"/>
          </a:xfrm>
          <a:prstGeom prst="roundRect">
            <a:avLst>
              <a:gd name="adj" fmla="val 50000"/>
            </a:avLst>
          </a:prstGeom>
          <a:solidFill>
            <a:srgbClr val="FFFFFF">
              <a:alpha val="11000"/>
            </a:srgbClr>
          </a:solidFill>
          <a:ln w="12700">
            <a:solidFill>
              <a:srgbClr val="6E5FD8"/>
            </a:solidFill>
            <a:prstDash val="solid"/>
          </a:ln>
        </p:spPr>
      </p:sp>
      <p:sp>
        <p:nvSpPr>
          <p:cNvPr id="15" name="Text 12"/>
          <p:cNvSpPr/>
          <p:nvPr/>
        </p:nvSpPr>
        <p:spPr>
          <a:xfrm>
            <a:off x="7351776" y="4626864"/>
            <a:ext cx="1379830"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14 · Security</a:t>
            </a:r>
            <a:endParaRPr lang="en-US" sz="1100" dirty="0"/>
          </a:p>
        </p:txBody>
      </p:sp>
      <p:sp>
        <p:nvSpPr>
          <p:cNvPr id="16" name="Shape 13"/>
          <p:cNvSpPr/>
          <p:nvPr/>
        </p:nvSpPr>
        <p:spPr>
          <a:xfrm>
            <a:off x="8877910" y="4626864"/>
            <a:ext cx="1890065" cy="402336"/>
          </a:xfrm>
          <a:prstGeom prst="roundRect">
            <a:avLst>
              <a:gd name="adj" fmla="val 50000"/>
            </a:avLst>
          </a:prstGeom>
          <a:solidFill>
            <a:srgbClr val="FFFFFF">
              <a:alpha val="11000"/>
            </a:srgbClr>
          </a:solidFill>
          <a:ln w="12700">
            <a:solidFill>
              <a:srgbClr val="6E5FD8"/>
            </a:solidFill>
            <a:prstDash val="solid"/>
          </a:ln>
        </p:spPr>
      </p:sp>
      <p:sp>
        <p:nvSpPr>
          <p:cNvPr id="17" name="Text 14"/>
          <p:cNvSpPr/>
          <p:nvPr/>
        </p:nvSpPr>
        <p:spPr>
          <a:xfrm>
            <a:off x="8877910" y="4626864"/>
            <a:ext cx="1890065"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15 · Evals and cost</a:t>
            </a:r>
            <a:endParaRPr lang="en-US" sz="1100" dirty="0"/>
          </a:p>
        </p:txBody>
      </p:sp>
      <p:sp>
        <p:nvSpPr>
          <p:cNvPr id="18" name="Shape 15"/>
          <p:cNvSpPr/>
          <p:nvPr/>
        </p:nvSpPr>
        <p:spPr>
          <a:xfrm>
            <a:off x="566928" y="5138928"/>
            <a:ext cx="2230222" cy="402336"/>
          </a:xfrm>
          <a:prstGeom prst="roundRect">
            <a:avLst>
              <a:gd name="adj" fmla="val 50000"/>
            </a:avLst>
          </a:prstGeom>
          <a:solidFill>
            <a:srgbClr val="FFFFFF">
              <a:alpha val="11000"/>
            </a:srgbClr>
          </a:solidFill>
          <a:ln w="12700">
            <a:solidFill>
              <a:srgbClr val="6E5FD8"/>
            </a:solidFill>
            <a:prstDash val="solid"/>
          </a:ln>
        </p:spPr>
      </p:sp>
      <p:sp>
        <p:nvSpPr>
          <p:cNvPr id="19" name="Text 16"/>
          <p:cNvSpPr/>
          <p:nvPr/>
        </p:nvSpPr>
        <p:spPr>
          <a:xfrm>
            <a:off x="566928" y="5138928"/>
            <a:ext cx="2230222"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16 · Platform landscape</a:t>
            </a:r>
            <a:endParaRPr lang="en-US" sz="1100" dirty="0"/>
          </a:p>
        </p:txBody>
      </p:sp>
      <p:sp>
        <p:nvSpPr>
          <p:cNvPr id="20" name="Shape 17"/>
          <p:cNvSpPr/>
          <p:nvPr/>
        </p:nvSpPr>
        <p:spPr>
          <a:xfrm>
            <a:off x="2943454" y="5138928"/>
            <a:ext cx="2570378" cy="402336"/>
          </a:xfrm>
          <a:prstGeom prst="roundRect">
            <a:avLst>
              <a:gd name="adj" fmla="val 50000"/>
            </a:avLst>
          </a:prstGeom>
          <a:solidFill>
            <a:srgbClr val="FFFFFF">
              <a:alpha val="11000"/>
            </a:srgbClr>
          </a:solidFill>
          <a:ln w="12700">
            <a:solidFill>
              <a:srgbClr val="6E5FD8"/>
            </a:solidFill>
            <a:prstDash val="solid"/>
          </a:ln>
        </p:spPr>
      </p:sp>
      <p:sp>
        <p:nvSpPr>
          <p:cNvPr id="21" name="Text 18"/>
          <p:cNvSpPr/>
          <p:nvPr/>
        </p:nvSpPr>
        <p:spPr>
          <a:xfrm>
            <a:off x="2943454" y="5138928"/>
            <a:ext cx="2570378"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17 · Process re-engineering</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10</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10</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Charting agent and the sandbox</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The model writes code. Something has to run it. That something is the question.</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10 · SAFE EXECUTION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A business question becomes code, and code has to run somewhere</a:t>
            </a:r>
            <a:endParaRPr lang="en-US" sz="2600" dirty="0"/>
          </a:p>
        </p:txBody>
      </p:sp>
      <p:sp>
        <p:nvSpPr>
          <p:cNvPr id="4" name="Shape 2"/>
          <p:cNvSpPr/>
          <p:nvPr/>
        </p:nvSpPr>
        <p:spPr>
          <a:xfrm>
            <a:off x="566928" y="2048256"/>
            <a:ext cx="2490140" cy="2084832"/>
          </a:xfrm>
          <a:prstGeom prst="roundRect">
            <a:avLst>
              <a:gd name="adj" fmla="val 4386"/>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5" name="Shape 3"/>
          <p:cNvSpPr/>
          <p:nvPr/>
        </p:nvSpPr>
        <p:spPr>
          <a:xfrm>
            <a:off x="1601686" y="2249424"/>
            <a:ext cx="420624" cy="420624"/>
          </a:xfrm>
          <a:prstGeom prst="ellipse">
            <a:avLst/>
          </a:prstGeom>
          <a:solidFill>
            <a:srgbClr val="9B98B4"/>
          </a:solidFill>
          <a:ln w="12700">
            <a:solidFill>
              <a:srgbClr val="9B98B4"/>
            </a:solidFill>
            <a:prstDash val="solid"/>
          </a:ln>
        </p:spPr>
      </p:sp>
      <p:pic>
        <p:nvPicPr>
          <p:cNvPr id="6" name="Image 0" descr="preencoded.png">    </p:cNvPr>
          <p:cNvPicPr>
            <a:picLocks noChangeAspect="1"/>
          </p:cNvPicPr>
          <p:nvPr/>
        </p:nvPicPr>
        <p:blipFill>
          <a:blip r:embed="rId1"/>
          <a:stretch>
            <a:fillRect/>
          </a:stretch>
        </p:blipFill>
        <p:spPr>
          <a:xfrm>
            <a:off x="1706842" y="2354580"/>
            <a:ext cx="210312" cy="210312"/>
          </a:xfrm>
          <a:prstGeom prst="rect">
            <a:avLst/>
          </a:prstGeom>
        </p:spPr>
      </p:pic>
      <p:sp>
        <p:nvSpPr>
          <p:cNvPr id="7" name="Text 4"/>
          <p:cNvSpPr/>
          <p:nvPr/>
        </p:nvSpPr>
        <p:spPr>
          <a:xfrm>
            <a:off x="731520" y="2798064"/>
            <a:ext cx="2160956" cy="237744"/>
          </a:xfrm>
          <a:prstGeom prst="rect">
            <a:avLst/>
          </a:prstGeom>
          <a:noFill/>
          <a:ln/>
        </p:spPr>
        <p:txBody>
          <a:bodyPr wrap="square" lIns="0" tIns="0" rIns="0" bIns="0" rtlCol="0" anchor="ctr"/>
          <a:lstStyle/>
          <a:p>
            <a:pPr algn="ctr" indent="0" marL="0">
              <a:buNone/>
            </a:pPr>
            <a:r>
              <a:rPr lang="en-US" sz="900" b="1" spc="150" kern="0" dirty="0">
                <a:solidFill>
                  <a:srgbClr val="9B98B4"/>
                </a:solidFill>
                <a:latin typeface="Calibri" pitchFamily="34" charset="0"/>
                <a:ea typeface="Calibri" pitchFamily="34" charset="-122"/>
                <a:cs typeface="Calibri" pitchFamily="34" charset="-120"/>
              </a:rPr>
              <a:t>A PERSON ASKS</a:t>
            </a:r>
            <a:endParaRPr lang="en-US" sz="900" dirty="0"/>
          </a:p>
        </p:txBody>
      </p:sp>
      <p:sp>
        <p:nvSpPr>
          <p:cNvPr id="8" name="Text 5"/>
          <p:cNvSpPr/>
          <p:nvPr/>
        </p:nvSpPr>
        <p:spPr>
          <a:xfrm>
            <a:off x="731520" y="3072384"/>
            <a:ext cx="2160956" cy="859536"/>
          </a:xfrm>
          <a:prstGeom prst="rect">
            <a:avLst/>
          </a:prstGeom>
          <a:noFill/>
          <a:ln/>
        </p:spPr>
        <p:txBody>
          <a:bodyPr wrap="square" lIns="0" tIns="0" rIns="0" bIns="0" rtlCol="0" anchor="t"/>
          <a:lstStyle/>
          <a:p>
            <a:pPr algn="ctr" indent="0" marL="0">
              <a:lnSpc>
                <a:spcPct val="112000"/>
              </a:lnSpc>
              <a:buNone/>
            </a:pPr>
            <a:r>
              <a:rPr lang="en-US" sz="1300" dirty="0">
                <a:solidFill>
                  <a:srgbClr val="141235"/>
                </a:solidFill>
                <a:latin typeface="Calibri" pitchFamily="34" charset="0"/>
                <a:ea typeface="Calibri" pitchFamily="34" charset="-122"/>
                <a:cs typeface="Calibri" pitchFamily="34" charset="-120"/>
              </a:rPr>
              <a:t>“Show me revenue</a:t>
            </a:r>
            <a:endParaRPr lang="en-US" sz="1300" dirty="0"/>
          </a:p>
          <a:p>
            <a:pPr algn="ctr" indent="0" marL="0">
              <a:lnSpc>
                <a:spcPct val="112000"/>
              </a:lnSpc>
              <a:buNone/>
            </a:pPr>
            <a:r>
              <a:rPr lang="en-US" sz="1300" dirty="0">
                <a:solidFill>
                  <a:srgbClr val="141235"/>
                </a:solidFill>
                <a:latin typeface="Calibri" pitchFamily="34" charset="0"/>
                <a:ea typeface="Calibri" pitchFamily="34" charset="-122"/>
                <a:cs typeface="Calibri" pitchFamily="34" charset="-120"/>
              </a:rPr>
              <a:t>by country, last year”</a:t>
            </a:r>
            <a:endParaRPr lang="en-US" sz="1300" dirty="0"/>
          </a:p>
        </p:txBody>
      </p:sp>
      <p:sp>
        <p:nvSpPr>
          <p:cNvPr id="9" name="Shape 6"/>
          <p:cNvSpPr/>
          <p:nvPr/>
        </p:nvSpPr>
        <p:spPr>
          <a:xfrm>
            <a:off x="3111932" y="3090672"/>
            <a:ext cx="256032" cy="0"/>
          </a:xfrm>
          <a:prstGeom prst="line">
            <a:avLst/>
          </a:prstGeom>
          <a:noFill/>
          <a:ln w="25400">
            <a:solidFill>
              <a:srgbClr val="8E82F5"/>
            </a:solidFill>
            <a:prstDash val="solid"/>
            <a:headEnd type="none"/>
            <a:tailEnd type="triangle"/>
          </a:ln>
        </p:spPr>
      </p:sp>
      <p:sp>
        <p:nvSpPr>
          <p:cNvPr id="10" name="Shape 7"/>
          <p:cNvSpPr/>
          <p:nvPr/>
        </p:nvSpPr>
        <p:spPr>
          <a:xfrm>
            <a:off x="3422828" y="2048256"/>
            <a:ext cx="2490140" cy="2084832"/>
          </a:xfrm>
          <a:prstGeom prst="roundRect">
            <a:avLst>
              <a:gd name="adj" fmla="val 4386"/>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1" name="Shape 8"/>
          <p:cNvSpPr/>
          <p:nvPr/>
        </p:nvSpPr>
        <p:spPr>
          <a:xfrm>
            <a:off x="4457586" y="2249424"/>
            <a:ext cx="420624" cy="420624"/>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4562742" y="2354580"/>
            <a:ext cx="210312" cy="210312"/>
          </a:xfrm>
          <a:prstGeom prst="rect">
            <a:avLst/>
          </a:prstGeom>
        </p:spPr>
      </p:pic>
      <p:sp>
        <p:nvSpPr>
          <p:cNvPr id="13" name="Text 9"/>
          <p:cNvSpPr/>
          <p:nvPr/>
        </p:nvSpPr>
        <p:spPr>
          <a:xfrm>
            <a:off x="3587420" y="2798064"/>
            <a:ext cx="2160956" cy="237744"/>
          </a:xfrm>
          <a:prstGeom prst="rect">
            <a:avLst/>
          </a:prstGeom>
          <a:noFill/>
          <a:ln/>
        </p:spPr>
        <p:txBody>
          <a:bodyPr wrap="square" lIns="0" tIns="0" rIns="0" bIns="0" rtlCol="0" anchor="ctr"/>
          <a:lstStyle/>
          <a:p>
            <a:pPr algn="ctr" indent="0" marL="0">
              <a:buNone/>
            </a:pPr>
            <a:r>
              <a:rPr lang="en-US" sz="900" b="1" spc="150" kern="0" dirty="0">
                <a:solidFill>
                  <a:srgbClr val="9B98B4"/>
                </a:solidFill>
                <a:latin typeface="Calibri" pitchFamily="34" charset="0"/>
                <a:ea typeface="Calibri" pitchFamily="34" charset="-122"/>
                <a:cs typeface="Calibri" pitchFamily="34" charset="-120"/>
              </a:rPr>
              <a:t>THE MODEL PRODUCES</a:t>
            </a:r>
            <a:endParaRPr lang="en-US" sz="900" dirty="0"/>
          </a:p>
        </p:txBody>
      </p:sp>
      <p:sp>
        <p:nvSpPr>
          <p:cNvPr id="14" name="Text 10"/>
          <p:cNvSpPr/>
          <p:nvPr/>
        </p:nvSpPr>
        <p:spPr>
          <a:xfrm>
            <a:off x="3587420" y="3072384"/>
            <a:ext cx="2160956" cy="859536"/>
          </a:xfrm>
          <a:prstGeom prst="rect">
            <a:avLst/>
          </a:prstGeom>
          <a:noFill/>
          <a:ln/>
        </p:spPr>
        <p:txBody>
          <a:bodyPr wrap="square" lIns="0" tIns="0" rIns="0" bIns="0" rtlCol="0" anchor="t"/>
          <a:lstStyle/>
          <a:p>
            <a:pPr algn="ctr" indent="0" marL="0">
              <a:lnSpc>
                <a:spcPct val="112000"/>
              </a:lnSpc>
              <a:buNone/>
            </a:pPr>
            <a:r>
              <a:rPr lang="en-US" sz="1300" dirty="0">
                <a:solidFill>
                  <a:srgbClr val="141235"/>
                </a:solidFill>
                <a:latin typeface="Calibri" pitchFamily="34" charset="0"/>
                <a:ea typeface="Calibri" pitchFamily="34" charset="-122"/>
                <a:cs typeface="Calibri" pitchFamily="34" charset="-120"/>
              </a:rPr>
              <a:t>The agent writes</a:t>
            </a:r>
            <a:endParaRPr lang="en-US" sz="1300" dirty="0"/>
          </a:p>
          <a:p>
            <a:pPr algn="ctr" indent="0" marL="0">
              <a:lnSpc>
                <a:spcPct val="112000"/>
              </a:lnSpc>
              <a:buNone/>
            </a:pPr>
            <a:r>
              <a:rPr lang="en-US" sz="1300" dirty="0">
                <a:solidFill>
                  <a:srgbClr val="141235"/>
                </a:solidFill>
                <a:latin typeface="Calibri" pitchFamily="34" charset="0"/>
                <a:ea typeface="Calibri" pitchFamily="34" charset="-122"/>
                <a:cs typeface="Calibri" pitchFamily="34" charset="-120"/>
              </a:rPr>
              <a:t>pandas and matplotlib</a:t>
            </a:r>
            <a:endParaRPr lang="en-US" sz="1300" dirty="0"/>
          </a:p>
        </p:txBody>
      </p:sp>
      <p:sp>
        <p:nvSpPr>
          <p:cNvPr id="15" name="Shape 11"/>
          <p:cNvSpPr/>
          <p:nvPr/>
        </p:nvSpPr>
        <p:spPr>
          <a:xfrm>
            <a:off x="5967832" y="3090672"/>
            <a:ext cx="256032" cy="0"/>
          </a:xfrm>
          <a:prstGeom prst="line">
            <a:avLst/>
          </a:prstGeom>
          <a:noFill/>
          <a:ln w="25400">
            <a:solidFill>
              <a:srgbClr val="8E82F5"/>
            </a:solidFill>
            <a:prstDash val="solid"/>
            <a:headEnd type="none"/>
            <a:tailEnd type="triangle"/>
          </a:ln>
        </p:spPr>
      </p:sp>
      <p:sp>
        <p:nvSpPr>
          <p:cNvPr id="16" name="Shape 12"/>
          <p:cNvSpPr/>
          <p:nvPr/>
        </p:nvSpPr>
        <p:spPr>
          <a:xfrm>
            <a:off x="6278728" y="2048256"/>
            <a:ext cx="2490140" cy="2084832"/>
          </a:xfrm>
          <a:prstGeom prst="roundRect">
            <a:avLst>
              <a:gd name="adj" fmla="val 4386"/>
            </a:avLst>
          </a:prstGeom>
          <a:solidFill>
            <a:srgbClr val="FDECEC"/>
          </a:solidFill>
          <a:ln w="20320">
            <a:solidFill>
              <a:srgbClr val="D93A3F"/>
            </a:solidFill>
            <a:prstDash val="solid"/>
          </a:ln>
          <a:effectLst>
            <a:outerShdw sx="100000" sy="100000" kx="0" ky="0" algn="bl" rotWithShape="0" blurRad="101600" dist="508" dir="5400000">
              <a:srgbClr val="1B1A4A">
                <a:alpha val="7000"/>
              </a:srgbClr>
            </a:outerShdw>
          </a:effectLst>
        </p:spPr>
      </p:sp>
      <p:sp>
        <p:nvSpPr>
          <p:cNvPr id="17" name="Shape 13"/>
          <p:cNvSpPr/>
          <p:nvPr/>
        </p:nvSpPr>
        <p:spPr>
          <a:xfrm>
            <a:off x="7313486" y="2249424"/>
            <a:ext cx="420624" cy="420624"/>
          </a:xfrm>
          <a:prstGeom prst="ellipse">
            <a:avLst/>
          </a:prstGeom>
          <a:solidFill>
            <a:srgbClr val="D93A3F"/>
          </a:solidFill>
          <a:ln w="12700">
            <a:solidFill>
              <a:srgbClr val="D93A3F"/>
            </a:solidFill>
            <a:prstDash val="solid"/>
          </a:ln>
        </p:spPr>
      </p:sp>
      <p:pic>
        <p:nvPicPr>
          <p:cNvPr id="18" name="Image 2" descr="preencoded.png">    </p:cNvPr>
          <p:cNvPicPr>
            <a:picLocks noChangeAspect="1"/>
          </p:cNvPicPr>
          <p:nvPr/>
        </p:nvPicPr>
        <p:blipFill>
          <a:blip r:embed="rId3"/>
          <a:stretch>
            <a:fillRect/>
          </a:stretch>
        </p:blipFill>
        <p:spPr>
          <a:xfrm>
            <a:off x="7418642" y="2354580"/>
            <a:ext cx="210312" cy="210312"/>
          </a:xfrm>
          <a:prstGeom prst="rect">
            <a:avLst/>
          </a:prstGeom>
        </p:spPr>
      </p:pic>
      <p:sp>
        <p:nvSpPr>
          <p:cNvPr id="19" name="Text 14"/>
          <p:cNvSpPr/>
          <p:nvPr/>
        </p:nvSpPr>
        <p:spPr>
          <a:xfrm>
            <a:off x="6443320" y="2798064"/>
            <a:ext cx="2160956" cy="237744"/>
          </a:xfrm>
          <a:prstGeom prst="rect">
            <a:avLst/>
          </a:prstGeom>
          <a:noFill/>
          <a:ln/>
        </p:spPr>
        <p:txBody>
          <a:bodyPr wrap="square" lIns="0" tIns="0" rIns="0" bIns="0" rtlCol="0" anchor="ctr"/>
          <a:lstStyle/>
          <a:p>
            <a:pPr algn="ctr" indent="0" marL="0">
              <a:buNone/>
            </a:pPr>
            <a:r>
              <a:rPr lang="en-US" sz="900" b="1" spc="150" kern="0" dirty="0">
                <a:solidFill>
                  <a:srgbClr val="D93A3F"/>
                </a:solidFill>
                <a:latin typeface="Calibri" pitchFamily="34" charset="0"/>
                <a:ea typeface="Calibri" pitchFamily="34" charset="-122"/>
                <a:cs typeface="Calibri" pitchFamily="34" charset="-120"/>
              </a:rPr>
              <a:t>YOUR INFRASTRUCTURE</a:t>
            </a:r>
            <a:endParaRPr lang="en-US" sz="900" dirty="0"/>
          </a:p>
        </p:txBody>
      </p:sp>
      <p:sp>
        <p:nvSpPr>
          <p:cNvPr id="20" name="Text 15"/>
          <p:cNvSpPr/>
          <p:nvPr/>
        </p:nvSpPr>
        <p:spPr>
          <a:xfrm>
            <a:off x="6443320" y="3072384"/>
            <a:ext cx="2160956" cy="859536"/>
          </a:xfrm>
          <a:prstGeom prst="rect">
            <a:avLst/>
          </a:prstGeom>
          <a:noFill/>
          <a:ln/>
        </p:spPr>
        <p:txBody>
          <a:bodyPr wrap="square" lIns="0" tIns="0" rIns="0" bIns="0" rtlCol="0" anchor="t"/>
          <a:lstStyle/>
          <a:p>
            <a:pPr algn="ctr" indent="0" marL="0">
              <a:lnSpc>
                <a:spcPct val="112000"/>
              </a:lnSpc>
              <a:buNone/>
            </a:pPr>
            <a:r>
              <a:rPr lang="en-US" sz="1300" b="1" dirty="0">
                <a:solidFill>
                  <a:srgbClr val="141235"/>
                </a:solidFill>
                <a:latin typeface="Calibri" pitchFamily="34" charset="0"/>
                <a:ea typeface="Calibri" pitchFamily="34" charset="-122"/>
                <a:cs typeface="Calibri" pitchFamily="34" charset="-120"/>
              </a:rPr>
              <a:t>Something executes</a:t>
            </a:r>
            <a:endParaRPr lang="en-US" sz="1300" dirty="0"/>
          </a:p>
          <a:p>
            <a:pPr algn="ctr" indent="0" marL="0">
              <a:lnSpc>
                <a:spcPct val="112000"/>
              </a:lnSpc>
              <a:buNone/>
            </a:pPr>
            <a:r>
              <a:rPr lang="en-US" sz="1300" b="1" dirty="0">
                <a:solidFill>
                  <a:srgbClr val="141235"/>
                </a:solidFill>
                <a:latin typeface="Calibri" pitchFamily="34" charset="0"/>
                <a:ea typeface="Calibri" pitchFamily="34" charset="-122"/>
                <a:cs typeface="Calibri" pitchFamily="34" charset="-120"/>
              </a:rPr>
              <a:t>that code</a:t>
            </a:r>
            <a:endParaRPr lang="en-US" sz="1300" dirty="0"/>
          </a:p>
        </p:txBody>
      </p:sp>
      <p:sp>
        <p:nvSpPr>
          <p:cNvPr id="21" name="Shape 16"/>
          <p:cNvSpPr/>
          <p:nvPr/>
        </p:nvSpPr>
        <p:spPr>
          <a:xfrm>
            <a:off x="8823731" y="3090672"/>
            <a:ext cx="256032" cy="0"/>
          </a:xfrm>
          <a:prstGeom prst="line">
            <a:avLst/>
          </a:prstGeom>
          <a:noFill/>
          <a:ln w="25400">
            <a:solidFill>
              <a:srgbClr val="8E82F5"/>
            </a:solidFill>
            <a:prstDash val="solid"/>
            <a:headEnd type="none"/>
            <a:tailEnd type="triangle"/>
          </a:ln>
        </p:spPr>
      </p:sp>
      <p:sp>
        <p:nvSpPr>
          <p:cNvPr id="22" name="Shape 17"/>
          <p:cNvSpPr/>
          <p:nvPr/>
        </p:nvSpPr>
        <p:spPr>
          <a:xfrm>
            <a:off x="9134627" y="2048256"/>
            <a:ext cx="2490140" cy="2084832"/>
          </a:xfrm>
          <a:prstGeom prst="roundRect">
            <a:avLst>
              <a:gd name="adj" fmla="val 4386"/>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23" name="Shape 18"/>
          <p:cNvSpPr/>
          <p:nvPr/>
        </p:nvSpPr>
        <p:spPr>
          <a:xfrm>
            <a:off x="10169385" y="2249424"/>
            <a:ext cx="420624" cy="420624"/>
          </a:xfrm>
          <a:prstGeom prst="ellipse">
            <a:avLst/>
          </a:prstGeom>
          <a:solidFill>
            <a:srgbClr val="0E9F6E"/>
          </a:solidFill>
          <a:ln w="12700">
            <a:solidFill>
              <a:srgbClr val="0E9F6E"/>
            </a:solidFill>
            <a:prstDash val="solid"/>
          </a:ln>
        </p:spPr>
      </p:sp>
      <p:pic>
        <p:nvPicPr>
          <p:cNvPr id="24" name="Image 3" descr="preencoded.png">    </p:cNvPr>
          <p:cNvPicPr>
            <a:picLocks noChangeAspect="1"/>
          </p:cNvPicPr>
          <p:nvPr/>
        </p:nvPicPr>
        <p:blipFill>
          <a:blip r:embed="rId4"/>
          <a:stretch>
            <a:fillRect/>
          </a:stretch>
        </p:blipFill>
        <p:spPr>
          <a:xfrm>
            <a:off x="10274541" y="2354580"/>
            <a:ext cx="210312" cy="210312"/>
          </a:xfrm>
          <a:prstGeom prst="rect">
            <a:avLst/>
          </a:prstGeom>
        </p:spPr>
      </p:pic>
      <p:sp>
        <p:nvSpPr>
          <p:cNvPr id="25" name="Text 19"/>
          <p:cNvSpPr/>
          <p:nvPr/>
        </p:nvSpPr>
        <p:spPr>
          <a:xfrm>
            <a:off x="9299219" y="2798064"/>
            <a:ext cx="2160956" cy="237744"/>
          </a:xfrm>
          <a:prstGeom prst="rect">
            <a:avLst/>
          </a:prstGeom>
          <a:noFill/>
          <a:ln/>
        </p:spPr>
        <p:txBody>
          <a:bodyPr wrap="square" lIns="0" tIns="0" rIns="0" bIns="0" rtlCol="0" anchor="ctr"/>
          <a:lstStyle/>
          <a:p>
            <a:pPr algn="ctr" indent="0" marL="0">
              <a:buNone/>
            </a:pPr>
            <a:r>
              <a:rPr lang="en-US" sz="900" b="1" spc="150" kern="0" dirty="0">
                <a:solidFill>
                  <a:srgbClr val="9B98B4"/>
                </a:solidFill>
                <a:latin typeface="Calibri" pitchFamily="34" charset="0"/>
                <a:ea typeface="Calibri" pitchFamily="34" charset="-122"/>
                <a:cs typeface="Calibri" pitchFamily="34" charset="-120"/>
              </a:rPr>
              <a:t>THE PERSON SEES</a:t>
            </a:r>
            <a:endParaRPr lang="en-US" sz="900" dirty="0"/>
          </a:p>
        </p:txBody>
      </p:sp>
      <p:sp>
        <p:nvSpPr>
          <p:cNvPr id="26" name="Text 20"/>
          <p:cNvSpPr/>
          <p:nvPr/>
        </p:nvSpPr>
        <p:spPr>
          <a:xfrm>
            <a:off x="9299219" y="3072384"/>
            <a:ext cx="2160956" cy="859536"/>
          </a:xfrm>
          <a:prstGeom prst="rect">
            <a:avLst/>
          </a:prstGeom>
          <a:noFill/>
          <a:ln/>
        </p:spPr>
        <p:txBody>
          <a:bodyPr wrap="square" lIns="0" tIns="0" rIns="0" bIns="0" rtlCol="0" anchor="t"/>
          <a:lstStyle/>
          <a:p>
            <a:pPr algn="ctr" indent="0" marL="0">
              <a:lnSpc>
                <a:spcPct val="112000"/>
              </a:lnSpc>
              <a:buNone/>
            </a:pPr>
            <a:r>
              <a:rPr lang="en-US" sz="1300" dirty="0">
                <a:solidFill>
                  <a:srgbClr val="141235"/>
                </a:solidFill>
                <a:latin typeface="Calibri" pitchFamily="34" charset="0"/>
                <a:ea typeface="Calibri" pitchFamily="34" charset="-122"/>
                <a:cs typeface="Calibri" pitchFamily="34" charset="-120"/>
              </a:rPr>
              <a:t>A chart comes back</a:t>
            </a:r>
            <a:endParaRPr lang="en-US" sz="1300" dirty="0"/>
          </a:p>
        </p:txBody>
      </p:sp>
      <p:sp>
        <p:nvSpPr>
          <p:cNvPr id="27" name="Text 21"/>
          <p:cNvSpPr/>
          <p:nvPr/>
        </p:nvSpPr>
        <p:spPr>
          <a:xfrm>
            <a:off x="566928" y="4315968"/>
            <a:ext cx="11057839" cy="329184"/>
          </a:xfrm>
          <a:prstGeom prst="rect">
            <a:avLst/>
          </a:prstGeom>
          <a:noFill/>
          <a:ln/>
        </p:spPr>
        <p:txBody>
          <a:bodyPr wrap="square" lIns="0" tIns="0" rIns="0" bIns="0" rtlCol="0" anchor="ctr"/>
          <a:lstStyle/>
          <a:p>
            <a:pPr algn="ctr" indent="0" marL="0">
              <a:buNone/>
            </a:pPr>
            <a:r>
              <a:rPr lang="en-US" sz="1400" i="1" dirty="0">
                <a:solidFill>
                  <a:srgbClr val="D93A3F"/>
                </a:solidFill>
                <a:latin typeface="Calibri" pitchFamily="34" charset="0"/>
                <a:ea typeface="Calibri" pitchFamily="34" charset="-122"/>
                <a:cs typeface="Calibri" pitchFamily="34" charset="-120"/>
              </a:rPr>
              <a:t>Step three is where the entire risk lives, and it is the step nobody puts on the architecture diagram.</a:t>
            </a:r>
            <a:endParaRPr lang="en-US" sz="1400" dirty="0"/>
          </a:p>
        </p:txBody>
      </p:sp>
      <p:sp>
        <p:nvSpPr>
          <p:cNvPr id="28" name="Shape 22"/>
          <p:cNvSpPr/>
          <p:nvPr/>
        </p:nvSpPr>
        <p:spPr>
          <a:xfrm>
            <a:off x="566928" y="5029200"/>
            <a:ext cx="11057839" cy="822960"/>
          </a:xfrm>
          <a:prstGeom prst="roundRect">
            <a:avLst>
              <a:gd name="adj" fmla="val 10000"/>
            </a:avLst>
          </a:prstGeom>
          <a:solidFill>
            <a:srgbClr val="FFF4E0"/>
          </a:solidFill>
          <a:ln w="12700">
            <a:solidFill>
              <a:srgbClr val="F3DCB0"/>
            </a:solidFill>
            <a:prstDash val="solid"/>
          </a:ln>
        </p:spPr>
      </p:sp>
      <p:sp>
        <p:nvSpPr>
          <p:cNvPr id="29" name="Shape 23"/>
          <p:cNvSpPr/>
          <p:nvPr/>
        </p:nvSpPr>
        <p:spPr>
          <a:xfrm>
            <a:off x="841248" y="5248656"/>
            <a:ext cx="384048" cy="384048"/>
          </a:xfrm>
          <a:prstGeom prst="ellipse">
            <a:avLst/>
          </a:prstGeom>
          <a:solidFill>
            <a:srgbClr val="F5A524"/>
          </a:solidFill>
          <a:ln w="12700">
            <a:solidFill>
              <a:srgbClr val="F5A524"/>
            </a:solidFill>
            <a:prstDash val="solid"/>
          </a:ln>
        </p:spPr>
      </p:sp>
      <p:pic>
        <p:nvPicPr>
          <p:cNvPr id="30" name="Image 4" descr="preencoded.png">    </p:cNvPr>
          <p:cNvPicPr>
            <a:picLocks noChangeAspect="1"/>
          </p:cNvPicPr>
          <p:nvPr/>
        </p:nvPicPr>
        <p:blipFill>
          <a:blip r:embed="rId5"/>
          <a:stretch>
            <a:fillRect/>
          </a:stretch>
        </p:blipFill>
        <p:spPr>
          <a:xfrm>
            <a:off x="937260" y="5344668"/>
            <a:ext cx="192024" cy="192024"/>
          </a:xfrm>
          <a:prstGeom prst="rect">
            <a:avLst/>
          </a:prstGeom>
        </p:spPr>
      </p:pic>
      <p:sp>
        <p:nvSpPr>
          <p:cNvPr id="31" name="Text 24"/>
          <p:cNvSpPr/>
          <p:nvPr/>
        </p:nvSpPr>
        <p:spPr>
          <a:xfrm>
            <a:off x="1371600" y="5084064"/>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 moment an AI writes code that you then run, you have given it a general-purpose ability — not a specific one. Everything from here is about narrowing that back down.</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10 · SAFE EXECUTION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From no boundary at all, to a fully hosted sandbox</a:t>
            </a:r>
            <a:endParaRPr lang="en-US" sz="3000" dirty="0"/>
          </a:p>
        </p:txBody>
      </p:sp>
      <p:sp>
        <p:nvSpPr>
          <p:cNvPr id="4" name="Shape 2"/>
          <p:cNvSpPr/>
          <p:nvPr/>
        </p:nvSpPr>
        <p:spPr>
          <a:xfrm>
            <a:off x="566928" y="1920240"/>
            <a:ext cx="2599868" cy="2834640"/>
          </a:xfrm>
          <a:prstGeom prst="roundRect">
            <a:avLst>
              <a:gd name="adj" fmla="val 3517"/>
            </a:avLst>
          </a:prstGeom>
          <a:solidFill>
            <a:srgbClr val="FDECEC"/>
          </a:solidFill>
          <a:ln w="12700">
            <a:solidFill>
              <a:srgbClr val="F1C9C9"/>
            </a:solidFill>
            <a:prstDash val="solid"/>
          </a:ln>
        </p:spPr>
      </p:sp>
      <p:sp>
        <p:nvSpPr>
          <p:cNvPr id="5" name="Shape 3"/>
          <p:cNvSpPr/>
          <p:nvPr/>
        </p:nvSpPr>
        <p:spPr>
          <a:xfrm>
            <a:off x="804672" y="2121408"/>
            <a:ext cx="402336" cy="402336"/>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905256" y="2221992"/>
            <a:ext cx="201168" cy="201168"/>
          </a:xfrm>
          <a:prstGeom prst="rect">
            <a:avLst/>
          </a:prstGeom>
        </p:spPr>
      </p:pic>
      <p:sp>
        <p:nvSpPr>
          <p:cNvPr id="7" name="Text 4"/>
          <p:cNvSpPr/>
          <p:nvPr/>
        </p:nvSpPr>
        <p:spPr>
          <a:xfrm>
            <a:off x="804672" y="2633472"/>
            <a:ext cx="2124380" cy="292608"/>
          </a:xfrm>
          <a:prstGeom prst="rect">
            <a:avLst/>
          </a:prstGeom>
          <a:noFill/>
          <a:ln/>
        </p:spPr>
        <p:txBody>
          <a:bodyPr wrap="square" lIns="0" tIns="0" rIns="0" bIns="0" rtlCol="0" anchor="ctr"/>
          <a:lstStyle/>
          <a:p>
            <a:pPr indent="0" marL="0">
              <a:buNone/>
            </a:pPr>
            <a:r>
              <a:rPr lang="en-US" sz="1500" b="1" dirty="0">
                <a:solidFill>
                  <a:srgbClr val="141235"/>
                </a:solidFill>
                <a:latin typeface="Calibri" pitchFamily="34" charset="0"/>
                <a:ea typeface="Calibri" pitchFamily="34" charset="-122"/>
                <a:cs typeface="Calibri" pitchFamily="34" charset="-120"/>
              </a:rPr>
              <a:t>Bare process</a:t>
            </a:r>
            <a:endParaRPr lang="en-US" sz="1500" dirty="0"/>
          </a:p>
        </p:txBody>
      </p:sp>
      <p:sp>
        <p:nvSpPr>
          <p:cNvPr id="8" name="Text 5"/>
          <p:cNvSpPr/>
          <p:nvPr/>
        </p:nvSpPr>
        <p:spPr>
          <a:xfrm>
            <a:off x="804672" y="2980944"/>
            <a:ext cx="2124380" cy="859536"/>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Same machine, same user, same credentials as your application.</a:t>
            </a:r>
            <a:endParaRPr lang="en-US" sz="1150" dirty="0"/>
          </a:p>
        </p:txBody>
      </p:sp>
      <p:sp>
        <p:nvSpPr>
          <p:cNvPr id="9" name="Text 6"/>
          <p:cNvSpPr/>
          <p:nvPr/>
        </p:nvSpPr>
        <p:spPr>
          <a:xfrm>
            <a:off x="804672" y="3931920"/>
            <a:ext cx="2124380" cy="694944"/>
          </a:xfrm>
          <a:prstGeom prst="rect">
            <a:avLst/>
          </a:prstGeom>
          <a:noFill/>
          <a:ln/>
        </p:spPr>
        <p:txBody>
          <a:bodyPr wrap="square" lIns="0" tIns="0" rIns="0" bIns="0" rtlCol="0" anchor="t"/>
          <a:lstStyle/>
          <a:p>
            <a:pPr indent="0" marL="0">
              <a:lnSpc>
                <a:spcPct val="112000"/>
              </a:lnSpc>
              <a:buNone/>
            </a:pPr>
            <a:r>
              <a:rPr lang="en-US" sz="1100" b="1" i="1" dirty="0">
                <a:solidFill>
                  <a:srgbClr val="D93A3F"/>
                </a:solidFill>
                <a:latin typeface="Calibri" pitchFamily="34" charset="0"/>
                <a:ea typeface="Calibri" pitchFamily="34" charset="-122"/>
                <a:cs typeface="Calibri" pitchFamily="34" charset="-120"/>
              </a:rPr>
              <a:t>Never. Not even in a demo.</a:t>
            </a:r>
            <a:endParaRPr lang="en-US" sz="1100" dirty="0"/>
          </a:p>
        </p:txBody>
      </p:sp>
      <p:sp>
        <p:nvSpPr>
          <p:cNvPr id="10" name="Text 7"/>
          <p:cNvSpPr/>
          <p:nvPr/>
        </p:nvSpPr>
        <p:spPr>
          <a:xfrm>
            <a:off x="2618156" y="2103120"/>
            <a:ext cx="365760" cy="365760"/>
          </a:xfrm>
          <a:prstGeom prst="rect">
            <a:avLst/>
          </a:prstGeom>
          <a:noFill/>
          <a:ln/>
        </p:spPr>
        <p:txBody>
          <a:bodyPr wrap="square" lIns="0" tIns="0" rIns="0" bIns="0" rtlCol="0" anchor="ctr"/>
          <a:lstStyle/>
          <a:p>
            <a:pPr algn="r" indent="0" marL="0">
              <a:buNone/>
            </a:pPr>
            <a:r>
              <a:rPr lang="en-US" sz="2200" b="1" dirty="0">
                <a:solidFill>
                  <a:srgbClr val="F1C9C9"/>
                </a:solidFill>
                <a:latin typeface="Cambria" pitchFamily="34" charset="0"/>
                <a:ea typeface="Cambria" pitchFamily="34" charset="-122"/>
                <a:cs typeface="Cambria" pitchFamily="34" charset="-120"/>
              </a:rPr>
              <a:t>1</a:t>
            </a:r>
            <a:endParaRPr lang="en-US" sz="2200" dirty="0"/>
          </a:p>
        </p:txBody>
      </p:sp>
      <p:sp>
        <p:nvSpPr>
          <p:cNvPr id="11" name="Shape 8"/>
          <p:cNvSpPr/>
          <p:nvPr/>
        </p:nvSpPr>
        <p:spPr>
          <a:xfrm>
            <a:off x="3386252" y="1920240"/>
            <a:ext cx="2599868" cy="2834640"/>
          </a:xfrm>
          <a:prstGeom prst="roundRect">
            <a:avLst>
              <a:gd name="adj" fmla="val 3517"/>
            </a:avLst>
          </a:prstGeom>
          <a:solidFill>
            <a:srgbClr val="FFF4E0"/>
          </a:solidFill>
          <a:ln w="12700">
            <a:solidFill>
              <a:srgbClr val="F3DCB0"/>
            </a:solidFill>
            <a:prstDash val="solid"/>
          </a:ln>
        </p:spPr>
      </p:sp>
      <p:sp>
        <p:nvSpPr>
          <p:cNvPr id="12" name="Shape 9"/>
          <p:cNvSpPr/>
          <p:nvPr/>
        </p:nvSpPr>
        <p:spPr>
          <a:xfrm>
            <a:off x="3623996" y="2121408"/>
            <a:ext cx="402336" cy="402336"/>
          </a:xfrm>
          <a:prstGeom prst="ellipse">
            <a:avLst/>
          </a:prstGeom>
          <a:solidFill>
            <a:srgbClr val="E08700"/>
          </a:solidFill>
          <a:ln w="12700">
            <a:solidFill>
              <a:srgbClr val="E08700"/>
            </a:solidFill>
            <a:prstDash val="solid"/>
          </a:ln>
        </p:spPr>
      </p:sp>
      <p:pic>
        <p:nvPicPr>
          <p:cNvPr id="13" name="Image 1" descr="preencoded.png">    </p:cNvPr>
          <p:cNvPicPr>
            <a:picLocks noChangeAspect="1"/>
          </p:cNvPicPr>
          <p:nvPr/>
        </p:nvPicPr>
        <p:blipFill>
          <a:blip r:embed="rId2"/>
          <a:stretch>
            <a:fillRect/>
          </a:stretch>
        </p:blipFill>
        <p:spPr>
          <a:xfrm>
            <a:off x="3724580" y="2221992"/>
            <a:ext cx="201168" cy="201168"/>
          </a:xfrm>
          <a:prstGeom prst="rect">
            <a:avLst/>
          </a:prstGeom>
        </p:spPr>
      </p:pic>
      <p:sp>
        <p:nvSpPr>
          <p:cNvPr id="14" name="Text 10"/>
          <p:cNvSpPr/>
          <p:nvPr/>
        </p:nvSpPr>
        <p:spPr>
          <a:xfrm>
            <a:off x="3623996" y="2633472"/>
            <a:ext cx="2124380" cy="292608"/>
          </a:xfrm>
          <a:prstGeom prst="rect">
            <a:avLst/>
          </a:prstGeom>
          <a:noFill/>
          <a:ln/>
        </p:spPr>
        <p:txBody>
          <a:bodyPr wrap="square" lIns="0" tIns="0" rIns="0" bIns="0" rtlCol="0" anchor="ctr"/>
          <a:lstStyle/>
          <a:p>
            <a:pPr indent="0" marL="0">
              <a:buNone/>
            </a:pPr>
            <a:r>
              <a:rPr lang="en-US" sz="1500" b="1" dirty="0">
                <a:solidFill>
                  <a:srgbClr val="141235"/>
                </a:solidFill>
                <a:latin typeface="Calibri" pitchFamily="34" charset="0"/>
                <a:ea typeface="Calibri" pitchFamily="34" charset="-122"/>
                <a:cs typeface="Calibri" pitchFamily="34" charset="-120"/>
              </a:rPr>
              <a:t>Container</a:t>
            </a:r>
            <a:endParaRPr lang="en-US" sz="1500" dirty="0"/>
          </a:p>
        </p:txBody>
      </p:sp>
      <p:sp>
        <p:nvSpPr>
          <p:cNvPr id="15" name="Text 11"/>
          <p:cNvSpPr/>
          <p:nvPr/>
        </p:nvSpPr>
        <p:spPr>
          <a:xfrm>
            <a:off x="3623996" y="2980944"/>
            <a:ext cx="2124380" cy="859536"/>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Its own filesystem and process space. Shared kernel.</a:t>
            </a:r>
            <a:endParaRPr lang="en-US" sz="1150" dirty="0"/>
          </a:p>
        </p:txBody>
      </p:sp>
      <p:sp>
        <p:nvSpPr>
          <p:cNvPr id="16" name="Text 12"/>
          <p:cNvSpPr/>
          <p:nvPr/>
        </p:nvSpPr>
        <p:spPr>
          <a:xfrm>
            <a:off x="3623996" y="3931920"/>
            <a:ext cx="2124380" cy="694944"/>
          </a:xfrm>
          <a:prstGeom prst="rect">
            <a:avLst/>
          </a:prstGeom>
          <a:noFill/>
          <a:ln/>
        </p:spPr>
        <p:txBody>
          <a:bodyPr wrap="square" lIns="0" tIns="0" rIns="0" bIns="0" rtlCol="0" anchor="t"/>
          <a:lstStyle/>
          <a:p>
            <a:pPr indent="0" marL="0">
              <a:lnSpc>
                <a:spcPct val="112000"/>
              </a:lnSpc>
              <a:buNone/>
            </a:pPr>
            <a:r>
              <a:rPr lang="en-US" sz="1100" b="1" i="1" dirty="0">
                <a:solidFill>
                  <a:srgbClr val="E08700"/>
                </a:solidFill>
                <a:latin typeface="Calibri" pitchFamily="34" charset="0"/>
                <a:ea typeface="Calibri" pitchFamily="34" charset="-122"/>
                <a:cs typeface="Calibri" pitchFamily="34" charset="-120"/>
              </a:rPr>
              <a:t>The realistic default for most internal work.</a:t>
            </a:r>
            <a:endParaRPr lang="en-US" sz="1100" dirty="0"/>
          </a:p>
        </p:txBody>
      </p:sp>
      <p:sp>
        <p:nvSpPr>
          <p:cNvPr id="17" name="Text 13"/>
          <p:cNvSpPr/>
          <p:nvPr/>
        </p:nvSpPr>
        <p:spPr>
          <a:xfrm>
            <a:off x="5437480" y="2103120"/>
            <a:ext cx="365760" cy="365760"/>
          </a:xfrm>
          <a:prstGeom prst="rect">
            <a:avLst/>
          </a:prstGeom>
          <a:noFill/>
          <a:ln/>
        </p:spPr>
        <p:txBody>
          <a:bodyPr wrap="square" lIns="0" tIns="0" rIns="0" bIns="0" rtlCol="0" anchor="ctr"/>
          <a:lstStyle/>
          <a:p>
            <a:pPr algn="r" indent="0" marL="0">
              <a:buNone/>
            </a:pPr>
            <a:r>
              <a:rPr lang="en-US" sz="2200" b="1" dirty="0">
                <a:solidFill>
                  <a:srgbClr val="F3DCB0"/>
                </a:solidFill>
                <a:latin typeface="Cambria" pitchFamily="34" charset="0"/>
                <a:ea typeface="Cambria" pitchFamily="34" charset="-122"/>
                <a:cs typeface="Cambria" pitchFamily="34" charset="-120"/>
              </a:rPr>
              <a:t>2</a:t>
            </a:r>
            <a:endParaRPr lang="en-US" sz="2200" dirty="0"/>
          </a:p>
        </p:txBody>
      </p:sp>
      <p:sp>
        <p:nvSpPr>
          <p:cNvPr id="18" name="Shape 14"/>
          <p:cNvSpPr/>
          <p:nvPr/>
        </p:nvSpPr>
        <p:spPr>
          <a:xfrm>
            <a:off x="6205576" y="1920240"/>
            <a:ext cx="2599868" cy="2834640"/>
          </a:xfrm>
          <a:prstGeom prst="roundRect">
            <a:avLst>
              <a:gd name="adj" fmla="val 3517"/>
            </a:avLst>
          </a:prstGeom>
          <a:solidFill>
            <a:srgbClr val="E7F7F1"/>
          </a:solidFill>
          <a:ln w="12700">
            <a:solidFill>
              <a:srgbClr val="C2E6D7"/>
            </a:solidFill>
            <a:prstDash val="solid"/>
          </a:ln>
        </p:spPr>
      </p:sp>
      <p:sp>
        <p:nvSpPr>
          <p:cNvPr id="19" name="Shape 15"/>
          <p:cNvSpPr/>
          <p:nvPr/>
        </p:nvSpPr>
        <p:spPr>
          <a:xfrm>
            <a:off x="6443320" y="2121408"/>
            <a:ext cx="402336" cy="402336"/>
          </a:xfrm>
          <a:prstGeom prst="ellipse">
            <a:avLst/>
          </a:prstGeom>
          <a:solidFill>
            <a:srgbClr val="0E9F6E"/>
          </a:solidFill>
          <a:ln w="12700">
            <a:solidFill>
              <a:srgbClr val="0E9F6E"/>
            </a:solidFill>
            <a:prstDash val="solid"/>
          </a:ln>
        </p:spPr>
      </p:sp>
      <p:pic>
        <p:nvPicPr>
          <p:cNvPr id="20" name="Image 2" descr="preencoded.png">    </p:cNvPr>
          <p:cNvPicPr>
            <a:picLocks noChangeAspect="1"/>
          </p:cNvPicPr>
          <p:nvPr/>
        </p:nvPicPr>
        <p:blipFill>
          <a:blip r:embed="rId3"/>
          <a:stretch>
            <a:fillRect/>
          </a:stretch>
        </p:blipFill>
        <p:spPr>
          <a:xfrm>
            <a:off x="6543904" y="2221992"/>
            <a:ext cx="201168" cy="201168"/>
          </a:xfrm>
          <a:prstGeom prst="rect">
            <a:avLst/>
          </a:prstGeom>
        </p:spPr>
      </p:pic>
      <p:sp>
        <p:nvSpPr>
          <p:cNvPr id="21" name="Text 16"/>
          <p:cNvSpPr/>
          <p:nvPr/>
        </p:nvSpPr>
        <p:spPr>
          <a:xfrm>
            <a:off x="6443320" y="2633472"/>
            <a:ext cx="2124380" cy="292608"/>
          </a:xfrm>
          <a:prstGeom prst="rect">
            <a:avLst/>
          </a:prstGeom>
          <a:noFill/>
          <a:ln/>
        </p:spPr>
        <p:txBody>
          <a:bodyPr wrap="square" lIns="0" tIns="0" rIns="0" bIns="0" rtlCol="0" anchor="ctr"/>
          <a:lstStyle/>
          <a:p>
            <a:pPr indent="0" marL="0">
              <a:buNone/>
            </a:pPr>
            <a:r>
              <a:rPr lang="en-US" sz="1500" b="1" dirty="0">
                <a:solidFill>
                  <a:srgbClr val="141235"/>
                </a:solidFill>
                <a:latin typeface="Calibri" pitchFamily="34" charset="0"/>
                <a:ea typeface="Calibri" pitchFamily="34" charset="-122"/>
                <a:cs typeface="Calibri" pitchFamily="34" charset="-120"/>
              </a:rPr>
              <a:t>MicroVM</a:t>
            </a:r>
            <a:endParaRPr lang="en-US" sz="1500" dirty="0"/>
          </a:p>
        </p:txBody>
      </p:sp>
      <p:sp>
        <p:nvSpPr>
          <p:cNvPr id="22" name="Text 17"/>
          <p:cNvSpPr/>
          <p:nvPr/>
        </p:nvSpPr>
        <p:spPr>
          <a:xfrm>
            <a:off x="6443320" y="2980944"/>
            <a:ext cx="2124380" cy="859536"/>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Hardware-level isolation, still fast to start.</a:t>
            </a:r>
            <a:endParaRPr lang="en-US" sz="1150" dirty="0"/>
          </a:p>
        </p:txBody>
      </p:sp>
      <p:sp>
        <p:nvSpPr>
          <p:cNvPr id="23" name="Text 18"/>
          <p:cNvSpPr/>
          <p:nvPr/>
        </p:nvSpPr>
        <p:spPr>
          <a:xfrm>
            <a:off x="6443320" y="3931920"/>
            <a:ext cx="2124380" cy="694944"/>
          </a:xfrm>
          <a:prstGeom prst="rect">
            <a:avLst/>
          </a:prstGeom>
          <a:noFill/>
          <a:ln/>
        </p:spPr>
        <p:txBody>
          <a:bodyPr wrap="square" lIns="0" tIns="0" rIns="0" bIns="0" rtlCol="0" anchor="t"/>
          <a:lstStyle/>
          <a:p>
            <a:pPr indent="0" marL="0">
              <a:lnSpc>
                <a:spcPct val="112000"/>
              </a:lnSpc>
              <a:buNone/>
            </a:pPr>
            <a:r>
              <a:rPr lang="en-US" sz="1100" b="1" i="1" dirty="0">
                <a:solidFill>
                  <a:srgbClr val="0E9F6E"/>
                </a:solidFill>
                <a:latin typeface="Calibri" pitchFamily="34" charset="0"/>
                <a:ea typeface="Calibri" pitchFamily="34" charset="-122"/>
                <a:cs typeface="Calibri" pitchFamily="34" charset="-120"/>
              </a:rPr>
              <a:t>When the code is untrusted or the data is regulated.</a:t>
            </a:r>
            <a:endParaRPr lang="en-US" sz="1100" dirty="0"/>
          </a:p>
        </p:txBody>
      </p:sp>
      <p:sp>
        <p:nvSpPr>
          <p:cNvPr id="24" name="Text 19"/>
          <p:cNvSpPr/>
          <p:nvPr/>
        </p:nvSpPr>
        <p:spPr>
          <a:xfrm>
            <a:off x="8256803" y="2103120"/>
            <a:ext cx="365760" cy="365760"/>
          </a:xfrm>
          <a:prstGeom prst="rect">
            <a:avLst/>
          </a:prstGeom>
          <a:noFill/>
          <a:ln/>
        </p:spPr>
        <p:txBody>
          <a:bodyPr wrap="square" lIns="0" tIns="0" rIns="0" bIns="0" rtlCol="0" anchor="ctr"/>
          <a:lstStyle/>
          <a:p>
            <a:pPr algn="r" indent="0" marL="0">
              <a:buNone/>
            </a:pPr>
            <a:r>
              <a:rPr lang="en-US" sz="2200" b="1" dirty="0">
                <a:solidFill>
                  <a:srgbClr val="C2E6D7"/>
                </a:solidFill>
                <a:latin typeface="Cambria" pitchFamily="34" charset="0"/>
                <a:ea typeface="Cambria" pitchFamily="34" charset="-122"/>
                <a:cs typeface="Cambria" pitchFamily="34" charset="-120"/>
              </a:rPr>
              <a:t>3</a:t>
            </a:r>
            <a:endParaRPr lang="en-US" sz="2200" dirty="0"/>
          </a:p>
        </p:txBody>
      </p:sp>
      <p:sp>
        <p:nvSpPr>
          <p:cNvPr id="25" name="Shape 20"/>
          <p:cNvSpPr/>
          <p:nvPr/>
        </p:nvSpPr>
        <p:spPr>
          <a:xfrm>
            <a:off x="9024899" y="1920240"/>
            <a:ext cx="2599868" cy="2834640"/>
          </a:xfrm>
          <a:prstGeom prst="roundRect">
            <a:avLst>
              <a:gd name="adj" fmla="val 3517"/>
            </a:avLst>
          </a:prstGeom>
          <a:solidFill>
            <a:srgbClr val="EEEDFE"/>
          </a:solidFill>
          <a:ln w="12700">
            <a:solidFill>
              <a:srgbClr val="8E82F5"/>
            </a:solidFill>
            <a:prstDash val="solid"/>
          </a:ln>
        </p:spPr>
      </p:sp>
      <p:sp>
        <p:nvSpPr>
          <p:cNvPr id="26" name="Shape 21"/>
          <p:cNvSpPr/>
          <p:nvPr/>
        </p:nvSpPr>
        <p:spPr>
          <a:xfrm>
            <a:off x="9262643" y="2121408"/>
            <a:ext cx="402336" cy="402336"/>
          </a:xfrm>
          <a:prstGeom prst="ellipse">
            <a:avLst/>
          </a:prstGeom>
          <a:solidFill>
            <a:srgbClr val="5B4BE8"/>
          </a:solidFill>
          <a:ln w="12700">
            <a:solidFill>
              <a:srgbClr val="5B4BE8"/>
            </a:solidFill>
            <a:prstDash val="solid"/>
          </a:ln>
        </p:spPr>
      </p:sp>
      <p:pic>
        <p:nvPicPr>
          <p:cNvPr id="27" name="Image 3" descr="preencoded.png">    </p:cNvPr>
          <p:cNvPicPr>
            <a:picLocks noChangeAspect="1"/>
          </p:cNvPicPr>
          <p:nvPr/>
        </p:nvPicPr>
        <p:blipFill>
          <a:blip r:embed="rId4"/>
          <a:stretch>
            <a:fillRect/>
          </a:stretch>
        </p:blipFill>
        <p:spPr>
          <a:xfrm>
            <a:off x="9363227" y="2221992"/>
            <a:ext cx="201168" cy="201168"/>
          </a:xfrm>
          <a:prstGeom prst="rect">
            <a:avLst/>
          </a:prstGeom>
        </p:spPr>
      </p:pic>
      <p:sp>
        <p:nvSpPr>
          <p:cNvPr id="28" name="Text 22"/>
          <p:cNvSpPr/>
          <p:nvPr/>
        </p:nvSpPr>
        <p:spPr>
          <a:xfrm>
            <a:off x="9262643" y="2633472"/>
            <a:ext cx="2124380" cy="292608"/>
          </a:xfrm>
          <a:prstGeom prst="rect">
            <a:avLst/>
          </a:prstGeom>
          <a:noFill/>
          <a:ln/>
        </p:spPr>
        <p:txBody>
          <a:bodyPr wrap="square" lIns="0" tIns="0" rIns="0" bIns="0" rtlCol="0" anchor="ctr"/>
          <a:lstStyle/>
          <a:p>
            <a:pPr indent="0" marL="0">
              <a:buNone/>
            </a:pPr>
            <a:r>
              <a:rPr lang="en-US" sz="1500" b="1" dirty="0">
                <a:solidFill>
                  <a:srgbClr val="141235"/>
                </a:solidFill>
                <a:latin typeface="Calibri" pitchFamily="34" charset="0"/>
                <a:ea typeface="Calibri" pitchFamily="34" charset="-122"/>
                <a:cs typeface="Calibri" pitchFamily="34" charset="-120"/>
              </a:rPr>
              <a:t>Hosted sandbox</a:t>
            </a:r>
            <a:endParaRPr lang="en-US" sz="1500" dirty="0"/>
          </a:p>
        </p:txBody>
      </p:sp>
      <p:sp>
        <p:nvSpPr>
          <p:cNvPr id="29" name="Text 23"/>
          <p:cNvSpPr/>
          <p:nvPr/>
        </p:nvSpPr>
        <p:spPr>
          <a:xfrm>
            <a:off x="9262643" y="2980944"/>
            <a:ext cx="2124380" cy="859536"/>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Somebody else operates the isolation and patches it.</a:t>
            </a:r>
            <a:endParaRPr lang="en-US" sz="1150" dirty="0"/>
          </a:p>
        </p:txBody>
      </p:sp>
      <p:sp>
        <p:nvSpPr>
          <p:cNvPr id="30" name="Text 24"/>
          <p:cNvSpPr/>
          <p:nvPr/>
        </p:nvSpPr>
        <p:spPr>
          <a:xfrm>
            <a:off x="9262643" y="3931920"/>
            <a:ext cx="2124380" cy="694944"/>
          </a:xfrm>
          <a:prstGeom prst="rect">
            <a:avLst/>
          </a:prstGeom>
          <a:noFill/>
          <a:ln/>
        </p:spPr>
        <p:txBody>
          <a:bodyPr wrap="square" lIns="0" tIns="0" rIns="0" bIns="0" rtlCol="0" anchor="t"/>
          <a:lstStyle/>
          <a:p>
            <a:pPr indent="0" marL="0">
              <a:lnSpc>
                <a:spcPct val="112000"/>
              </a:lnSpc>
              <a:buNone/>
            </a:pPr>
            <a:r>
              <a:rPr lang="en-US" sz="1100" b="1" i="1" dirty="0">
                <a:solidFill>
                  <a:srgbClr val="5B4BE8"/>
                </a:solidFill>
                <a:latin typeface="Calibri" pitchFamily="34" charset="0"/>
                <a:ea typeface="Calibri" pitchFamily="34" charset="-122"/>
                <a:cs typeface="Calibri" pitchFamily="34" charset="-120"/>
              </a:rPr>
              <a:t>When you would rather buy this problem than own it.</a:t>
            </a:r>
            <a:endParaRPr lang="en-US" sz="1100" dirty="0"/>
          </a:p>
        </p:txBody>
      </p:sp>
      <p:sp>
        <p:nvSpPr>
          <p:cNvPr id="31" name="Text 25"/>
          <p:cNvSpPr/>
          <p:nvPr/>
        </p:nvSpPr>
        <p:spPr>
          <a:xfrm>
            <a:off x="11076127" y="2103120"/>
            <a:ext cx="365760" cy="365760"/>
          </a:xfrm>
          <a:prstGeom prst="rect">
            <a:avLst/>
          </a:prstGeom>
          <a:noFill/>
          <a:ln/>
        </p:spPr>
        <p:txBody>
          <a:bodyPr wrap="square" lIns="0" tIns="0" rIns="0" bIns="0" rtlCol="0" anchor="ctr"/>
          <a:lstStyle/>
          <a:p>
            <a:pPr algn="r" indent="0" marL="0">
              <a:buNone/>
            </a:pPr>
            <a:r>
              <a:rPr lang="en-US" sz="2200" b="1" dirty="0">
                <a:solidFill>
                  <a:srgbClr val="8E82F5"/>
                </a:solidFill>
                <a:latin typeface="Cambria" pitchFamily="34" charset="0"/>
                <a:ea typeface="Cambria" pitchFamily="34" charset="-122"/>
                <a:cs typeface="Cambria" pitchFamily="34" charset="-120"/>
              </a:rPr>
              <a:t>4</a:t>
            </a:r>
            <a:endParaRPr lang="en-US" sz="2200" dirty="0"/>
          </a:p>
        </p:txBody>
      </p:sp>
      <p:sp>
        <p:nvSpPr>
          <p:cNvPr id="32" name="Shape 26"/>
          <p:cNvSpPr/>
          <p:nvPr/>
        </p:nvSpPr>
        <p:spPr>
          <a:xfrm>
            <a:off x="932688" y="4956048"/>
            <a:ext cx="10326319" cy="0"/>
          </a:xfrm>
          <a:prstGeom prst="line">
            <a:avLst/>
          </a:prstGeom>
          <a:noFill/>
          <a:ln w="25400">
            <a:solidFill>
              <a:srgbClr val="9B98B4"/>
            </a:solidFill>
            <a:prstDash val="solid"/>
            <a:headEnd type="none"/>
            <a:tailEnd type="triangle"/>
          </a:ln>
        </p:spPr>
      </p:sp>
      <p:sp>
        <p:nvSpPr>
          <p:cNvPr id="33" name="Text 27"/>
          <p:cNvSpPr/>
          <p:nvPr/>
        </p:nvSpPr>
        <p:spPr>
          <a:xfrm>
            <a:off x="566928" y="5029200"/>
            <a:ext cx="11057839" cy="237744"/>
          </a:xfrm>
          <a:prstGeom prst="rect">
            <a:avLst/>
          </a:prstGeom>
          <a:noFill/>
          <a:ln/>
        </p:spPr>
        <p:txBody>
          <a:bodyPr wrap="square" lIns="0" tIns="0" rIns="0" bIns="0" rtlCol="0" anchor="ctr"/>
          <a:lstStyle/>
          <a:p>
            <a:pPr algn="ctr" indent="0" marL="0">
              <a:buNone/>
            </a:pPr>
            <a:r>
              <a:rPr lang="en-US" sz="950" b="1" spc="200" kern="0" dirty="0">
                <a:solidFill>
                  <a:srgbClr val="9B98B4"/>
                </a:solidFill>
                <a:latin typeface="Calibri" pitchFamily="34" charset="0"/>
                <a:ea typeface="Calibri" pitchFamily="34" charset="-122"/>
                <a:cs typeface="Calibri" pitchFamily="34" charset="-120"/>
              </a:rPr>
              <a:t>MORE ISOLATION, MORE COST, MORE LATENCY</a:t>
            </a:r>
            <a:endParaRPr lang="en-US" sz="950" dirty="0"/>
          </a:p>
        </p:txBody>
      </p:sp>
      <p:sp>
        <p:nvSpPr>
          <p:cNvPr id="34" name="Shape 28"/>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35" name="Shape 29"/>
          <p:cNvSpPr/>
          <p:nvPr/>
        </p:nvSpPr>
        <p:spPr>
          <a:xfrm>
            <a:off x="841248" y="5650992"/>
            <a:ext cx="384048" cy="384048"/>
          </a:xfrm>
          <a:prstGeom prst="ellipse">
            <a:avLst/>
          </a:prstGeom>
          <a:solidFill>
            <a:srgbClr val="F5A524"/>
          </a:solidFill>
          <a:ln w="12700">
            <a:solidFill>
              <a:srgbClr val="F5A524"/>
            </a:solidFill>
            <a:prstDash val="solid"/>
          </a:ln>
        </p:spPr>
      </p:sp>
      <p:pic>
        <p:nvPicPr>
          <p:cNvPr id="36" name="Image 4" descr="preencoded.png">    </p:cNvPr>
          <p:cNvPicPr>
            <a:picLocks noChangeAspect="1"/>
          </p:cNvPicPr>
          <p:nvPr/>
        </p:nvPicPr>
        <p:blipFill>
          <a:blip r:embed="rId5"/>
          <a:stretch>
            <a:fillRect/>
          </a:stretch>
        </p:blipFill>
        <p:spPr>
          <a:xfrm>
            <a:off x="937260" y="5747004"/>
            <a:ext cx="192024" cy="192024"/>
          </a:xfrm>
          <a:prstGeom prst="rect">
            <a:avLst/>
          </a:prstGeom>
        </p:spPr>
      </p:pic>
      <p:sp>
        <p:nvSpPr>
          <p:cNvPr id="37" name="Text 30"/>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Pick the weakest boundary you can defend in writing. There is no free isolation, and pretending you need none is the only genuinely wrong answer.</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10 · SAFE EXECUTION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Four separate dials, not one setting</a:t>
            </a:r>
            <a:endParaRPr lang="en-US" sz="3000" dirty="0"/>
          </a:p>
        </p:txBody>
      </p:sp>
      <p:sp>
        <p:nvSpPr>
          <p:cNvPr id="4" name="Shape 2"/>
          <p:cNvSpPr/>
          <p:nvPr/>
        </p:nvSpPr>
        <p:spPr>
          <a:xfrm>
            <a:off x="566928" y="2651806"/>
            <a:ext cx="2586152" cy="2066453"/>
          </a:xfrm>
          <a:prstGeom prst="roundRect">
            <a:avLst>
              <a:gd name="adj" fmla="val 39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871262"/>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962702"/>
            <a:ext cx="182880" cy="182880"/>
          </a:xfrm>
          <a:prstGeom prst="rect">
            <a:avLst/>
          </a:prstGeom>
        </p:spPr>
      </p:pic>
      <p:sp>
        <p:nvSpPr>
          <p:cNvPr id="7" name="Text 4"/>
          <p:cNvSpPr/>
          <p:nvPr/>
        </p:nvSpPr>
        <p:spPr>
          <a:xfrm>
            <a:off x="1298448" y="2889550"/>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Timeouts</a:t>
            </a:r>
            <a:endParaRPr lang="en-US" sz="1450" dirty="0"/>
          </a:p>
        </p:txBody>
      </p:sp>
      <p:sp>
        <p:nvSpPr>
          <p:cNvPr id="8" name="Text 5"/>
          <p:cNvSpPr/>
          <p:nvPr/>
        </p:nvSpPr>
        <p:spPr>
          <a:xfrm>
            <a:off x="1298448" y="3237205"/>
            <a:ext cx="1616888" cy="1298174"/>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How long it may run before you kill it. An infinite loop in generated code is not exotic — it is Tuesday.</a:t>
            </a:r>
            <a:endParaRPr lang="en-US" sz="1150" dirty="0"/>
          </a:p>
        </p:txBody>
      </p:sp>
      <p:sp>
        <p:nvSpPr>
          <p:cNvPr id="9" name="Shape 6"/>
          <p:cNvSpPr/>
          <p:nvPr/>
        </p:nvSpPr>
        <p:spPr>
          <a:xfrm>
            <a:off x="3390824" y="2651806"/>
            <a:ext cx="2586152" cy="2066453"/>
          </a:xfrm>
          <a:prstGeom prst="roundRect">
            <a:avLst>
              <a:gd name="adj" fmla="val 39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0" name="Shape 7"/>
          <p:cNvSpPr/>
          <p:nvPr/>
        </p:nvSpPr>
        <p:spPr>
          <a:xfrm>
            <a:off x="3628568" y="2871262"/>
            <a:ext cx="365760" cy="365760"/>
          </a:xfrm>
          <a:prstGeom prst="ellipse">
            <a:avLst/>
          </a:prstGeom>
          <a:solidFill>
            <a:srgbClr val="5B4BE8"/>
          </a:solidFill>
          <a:ln w="12700">
            <a:solidFill>
              <a:srgbClr val="5B4BE8"/>
            </a:solidFill>
            <a:prstDash val="solid"/>
          </a:ln>
        </p:spPr>
      </p:sp>
      <p:pic>
        <p:nvPicPr>
          <p:cNvPr id="11" name="Image 1" descr="preencoded.png">    </p:cNvPr>
          <p:cNvPicPr>
            <a:picLocks noChangeAspect="1"/>
          </p:cNvPicPr>
          <p:nvPr/>
        </p:nvPicPr>
        <p:blipFill>
          <a:blip r:embed="rId2"/>
          <a:stretch>
            <a:fillRect/>
          </a:stretch>
        </p:blipFill>
        <p:spPr>
          <a:xfrm>
            <a:off x="3720008" y="2962702"/>
            <a:ext cx="182880" cy="182880"/>
          </a:xfrm>
          <a:prstGeom prst="rect">
            <a:avLst/>
          </a:prstGeom>
        </p:spPr>
      </p:pic>
      <p:sp>
        <p:nvSpPr>
          <p:cNvPr id="12" name="Text 8"/>
          <p:cNvSpPr/>
          <p:nvPr/>
        </p:nvSpPr>
        <p:spPr>
          <a:xfrm>
            <a:off x="4122344" y="2889550"/>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Resource caps</a:t>
            </a:r>
            <a:endParaRPr lang="en-US" sz="1450" dirty="0"/>
          </a:p>
        </p:txBody>
      </p:sp>
      <p:sp>
        <p:nvSpPr>
          <p:cNvPr id="13" name="Text 9"/>
          <p:cNvSpPr/>
          <p:nvPr/>
        </p:nvSpPr>
        <p:spPr>
          <a:xfrm>
            <a:off x="4122344" y="3237205"/>
            <a:ext cx="1616888" cy="1298174"/>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CPU and memory it may consume. Without a cap, one bad query starves everything else on the host.</a:t>
            </a:r>
            <a:endParaRPr lang="en-US" sz="1150" dirty="0"/>
          </a:p>
        </p:txBody>
      </p:sp>
      <p:sp>
        <p:nvSpPr>
          <p:cNvPr id="14" name="Shape 10"/>
          <p:cNvSpPr/>
          <p:nvPr/>
        </p:nvSpPr>
        <p:spPr>
          <a:xfrm>
            <a:off x="6214720" y="2651806"/>
            <a:ext cx="2586152" cy="2066453"/>
          </a:xfrm>
          <a:prstGeom prst="roundRect">
            <a:avLst>
              <a:gd name="adj" fmla="val 39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5" name="Shape 11"/>
          <p:cNvSpPr/>
          <p:nvPr/>
        </p:nvSpPr>
        <p:spPr>
          <a:xfrm>
            <a:off x="6452464" y="2871262"/>
            <a:ext cx="365760" cy="365760"/>
          </a:xfrm>
          <a:prstGeom prst="ellipse">
            <a:avLst/>
          </a:prstGeom>
          <a:solidFill>
            <a:srgbClr val="5B4BE8"/>
          </a:solidFill>
          <a:ln w="12700">
            <a:solidFill>
              <a:srgbClr val="5B4BE8"/>
            </a:solidFill>
            <a:prstDash val="solid"/>
          </a:ln>
        </p:spPr>
      </p:sp>
      <p:pic>
        <p:nvPicPr>
          <p:cNvPr id="16" name="Image 2" descr="preencoded.png">    </p:cNvPr>
          <p:cNvPicPr>
            <a:picLocks noChangeAspect="1"/>
          </p:cNvPicPr>
          <p:nvPr/>
        </p:nvPicPr>
        <p:blipFill>
          <a:blip r:embed="rId3"/>
          <a:stretch>
            <a:fillRect/>
          </a:stretch>
        </p:blipFill>
        <p:spPr>
          <a:xfrm>
            <a:off x="6543904" y="2962702"/>
            <a:ext cx="182880" cy="182880"/>
          </a:xfrm>
          <a:prstGeom prst="rect">
            <a:avLst/>
          </a:prstGeom>
        </p:spPr>
      </p:pic>
      <p:sp>
        <p:nvSpPr>
          <p:cNvPr id="17" name="Text 12"/>
          <p:cNvSpPr/>
          <p:nvPr/>
        </p:nvSpPr>
        <p:spPr>
          <a:xfrm>
            <a:off x="6946240" y="2889550"/>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Network egress</a:t>
            </a:r>
            <a:endParaRPr lang="en-US" sz="1450" dirty="0"/>
          </a:p>
        </p:txBody>
      </p:sp>
      <p:sp>
        <p:nvSpPr>
          <p:cNvPr id="18" name="Text 13"/>
          <p:cNvSpPr/>
          <p:nvPr/>
        </p:nvSpPr>
        <p:spPr>
          <a:xfrm>
            <a:off x="6946240" y="3237205"/>
            <a:ext cx="1616888" cy="1298174"/>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What it can reach on the way out. This is the dial that turns a code bug into a data-exfiltration incident.</a:t>
            </a:r>
            <a:endParaRPr lang="en-US" sz="1150" dirty="0"/>
          </a:p>
        </p:txBody>
      </p:sp>
      <p:sp>
        <p:nvSpPr>
          <p:cNvPr id="19" name="Shape 14"/>
          <p:cNvSpPr/>
          <p:nvPr/>
        </p:nvSpPr>
        <p:spPr>
          <a:xfrm>
            <a:off x="9038615" y="2651806"/>
            <a:ext cx="2586152" cy="2066453"/>
          </a:xfrm>
          <a:prstGeom prst="roundRect">
            <a:avLst>
              <a:gd name="adj" fmla="val 39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0" name="Shape 15"/>
          <p:cNvSpPr/>
          <p:nvPr/>
        </p:nvSpPr>
        <p:spPr>
          <a:xfrm>
            <a:off x="9276359" y="2871262"/>
            <a:ext cx="365760" cy="365760"/>
          </a:xfrm>
          <a:prstGeom prst="ellipse">
            <a:avLst/>
          </a:prstGeom>
          <a:solidFill>
            <a:srgbClr val="5B4BE8"/>
          </a:solidFill>
          <a:ln w="12700">
            <a:solidFill>
              <a:srgbClr val="5B4BE8"/>
            </a:solidFill>
            <a:prstDash val="solid"/>
          </a:ln>
        </p:spPr>
      </p:sp>
      <p:pic>
        <p:nvPicPr>
          <p:cNvPr id="21" name="Image 3" descr="preencoded.png">    </p:cNvPr>
          <p:cNvPicPr>
            <a:picLocks noChangeAspect="1"/>
          </p:cNvPicPr>
          <p:nvPr/>
        </p:nvPicPr>
        <p:blipFill>
          <a:blip r:embed="rId4"/>
          <a:stretch>
            <a:fillRect/>
          </a:stretch>
        </p:blipFill>
        <p:spPr>
          <a:xfrm>
            <a:off x="9367799" y="2962702"/>
            <a:ext cx="182880" cy="182880"/>
          </a:xfrm>
          <a:prstGeom prst="rect">
            <a:avLst/>
          </a:prstGeom>
        </p:spPr>
      </p:pic>
      <p:sp>
        <p:nvSpPr>
          <p:cNvPr id="22" name="Text 16"/>
          <p:cNvSpPr/>
          <p:nvPr/>
        </p:nvSpPr>
        <p:spPr>
          <a:xfrm>
            <a:off x="9770135" y="288955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Filesystem scope</a:t>
            </a:r>
            <a:endParaRPr lang="en-US" sz="1450" dirty="0"/>
          </a:p>
        </p:txBody>
      </p:sp>
      <p:sp>
        <p:nvSpPr>
          <p:cNvPr id="23" name="Text 17"/>
          <p:cNvSpPr/>
          <p:nvPr/>
        </p:nvSpPr>
        <p:spPr>
          <a:xfrm>
            <a:off x="9770135" y="3520851"/>
            <a:ext cx="1616888" cy="101452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What it can read and write. Mount exactly what the task needs, read-only wherever you can.</a:t>
            </a:r>
            <a:endParaRPr lang="en-US" sz="1150" dirty="0"/>
          </a:p>
        </p:txBody>
      </p:sp>
      <p:sp>
        <p:nvSpPr>
          <p:cNvPr id="24"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5" name="Shape 19"/>
          <p:cNvSpPr/>
          <p:nvPr/>
        </p:nvSpPr>
        <p:spPr>
          <a:xfrm>
            <a:off x="841248" y="5760720"/>
            <a:ext cx="384048" cy="384048"/>
          </a:xfrm>
          <a:prstGeom prst="ellipse">
            <a:avLst/>
          </a:prstGeom>
          <a:solidFill>
            <a:srgbClr val="F5A524"/>
          </a:solidFill>
          <a:ln w="12700">
            <a:solidFill>
              <a:srgbClr val="F5A524"/>
            </a:solidFill>
            <a:prstDash val="solid"/>
          </a:ln>
        </p:spPr>
      </p:sp>
      <p:pic>
        <p:nvPicPr>
          <p:cNvPr id="26" name="Image 4" descr="preencoded.png">    </p:cNvPr>
          <p:cNvPicPr>
            <a:picLocks noChangeAspect="1"/>
          </p:cNvPicPr>
          <p:nvPr/>
        </p:nvPicPr>
        <p:blipFill>
          <a:blip r:embed="rId5"/>
          <a:stretch>
            <a:fillRect/>
          </a:stretch>
        </p:blipFill>
        <p:spPr>
          <a:xfrm>
            <a:off x="937260" y="5856732"/>
            <a:ext cx="192024" cy="192024"/>
          </a:xfrm>
          <a:prstGeom prst="rect">
            <a:avLst/>
          </a:prstGeom>
        </p:spPr>
      </p:pic>
      <p:sp>
        <p:nvSpPr>
          <p:cNvPr id="27" name="Text 20"/>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“It runs in a sandbox” is not an answer. Ask which of these four are actually set, because most of the time it is one of them.</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11</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11</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Retrieval</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Giving the model access to what it was never trained on — and what that costs.</a:t>
            </a:r>
            <a:endParaRPr lang="en-US" sz="1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11 · RETRIEVAL</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One retrieval pass answers the easy questions only</a:t>
            </a:r>
            <a:endParaRPr lang="en-US" sz="3000" dirty="0"/>
          </a:p>
        </p:txBody>
      </p:sp>
      <p:sp>
        <p:nvSpPr>
          <p:cNvPr id="4" name="Shape 2"/>
          <p:cNvSpPr/>
          <p:nvPr/>
        </p:nvSpPr>
        <p:spPr>
          <a:xfrm>
            <a:off x="566928" y="2325411"/>
            <a:ext cx="2586152" cy="2262043"/>
          </a:xfrm>
          <a:prstGeom prst="roundRect">
            <a:avLst>
              <a:gd name="adj" fmla="val 363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544867"/>
            <a:ext cx="365760" cy="365760"/>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896112" y="2636307"/>
            <a:ext cx="182880" cy="182880"/>
          </a:xfrm>
          <a:prstGeom prst="rect">
            <a:avLst/>
          </a:prstGeom>
        </p:spPr>
      </p:pic>
      <p:sp>
        <p:nvSpPr>
          <p:cNvPr id="7" name="Text 4"/>
          <p:cNvSpPr/>
          <p:nvPr/>
        </p:nvSpPr>
        <p:spPr>
          <a:xfrm>
            <a:off x="1298448" y="2563155"/>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Multi-hop</a:t>
            </a:r>
            <a:endParaRPr lang="en-US" sz="1450" dirty="0"/>
          </a:p>
        </p:txBody>
      </p:sp>
      <p:sp>
        <p:nvSpPr>
          <p:cNvPr id="8" name="Text 5"/>
          <p:cNvSpPr/>
          <p:nvPr/>
        </p:nvSpPr>
        <p:spPr>
          <a:xfrm>
            <a:off x="1298448" y="2910810"/>
            <a:ext cx="1616888" cy="1493764"/>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answer needs two documents combined. One search returns one of them and the model confidently fills in the rest.</a:t>
            </a:r>
            <a:endParaRPr lang="en-US" sz="1150" dirty="0"/>
          </a:p>
        </p:txBody>
      </p:sp>
      <p:sp>
        <p:nvSpPr>
          <p:cNvPr id="9" name="Shape 6"/>
          <p:cNvSpPr/>
          <p:nvPr/>
        </p:nvSpPr>
        <p:spPr>
          <a:xfrm>
            <a:off x="3390824" y="2325411"/>
            <a:ext cx="2586152" cy="2262043"/>
          </a:xfrm>
          <a:prstGeom prst="roundRect">
            <a:avLst>
              <a:gd name="adj" fmla="val 363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0" name="Shape 7"/>
          <p:cNvSpPr/>
          <p:nvPr/>
        </p:nvSpPr>
        <p:spPr>
          <a:xfrm>
            <a:off x="3628568" y="2544867"/>
            <a:ext cx="365760" cy="365760"/>
          </a:xfrm>
          <a:prstGeom prst="ellipse">
            <a:avLst/>
          </a:prstGeom>
          <a:solidFill>
            <a:srgbClr val="D93A3F"/>
          </a:solidFill>
          <a:ln w="12700">
            <a:solidFill>
              <a:srgbClr val="D93A3F"/>
            </a:solidFill>
            <a:prstDash val="solid"/>
          </a:ln>
        </p:spPr>
      </p:sp>
      <p:pic>
        <p:nvPicPr>
          <p:cNvPr id="11" name="Image 1" descr="preencoded.png">    </p:cNvPr>
          <p:cNvPicPr>
            <a:picLocks noChangeAspect="1"/>
          </p:cNvPicPr>
          <p:nvPr/>
        </p:nvPicPr>
        <p:blipFill>
          <a:blip r:embed="rId2"/>
          <a:stretch>
            <a:fillRect/>
          </a:stretch>
        </p:blipFill>
        <p:spPr>
          <a:xfrm>
            <a:off x="3720008" y="2636307"/>
            <a:ext cx="182880" cy="182880"/>
          </a:xfrm>
          <a:prstGeom prst="rect">
            <a:avLst/>
          </a:prstGeom>
        </p:spPr>
      </p:pic>
      <p:sp>
        <p:nvSpPr>
          <p:cNvPr id="12" name="Text 8"/>
          <p:cNvSpPr/>
          <p:nvPr/>
        </p:nvSpPr>
        <p:spPr>
          <a:xfrm>
            <a:off x="4122344" y="2563155"/>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Ambiguous phrasing</a:t>
            </a:r>
            <a:endParaRPr lang="en-US" sz="1450" dirty="0"/>
          </a:p>
        </p:txBody>
      </p:sp>
      <p:sp>
        <p:nvSpPr>
          <p:cNvPr id="13" name="Text 9"/>
          <p:cNvSpPr/>
          <p:nvPr/>
        </p:nvSpPr>
        <p:spPr>
          <a:xfrm>
            <a:off x="4122344" y="3194456"/>
            <a:ext cx="1616888" cy="121011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right document does not share the question's words. Your users do not write in your documentation's vocabulary.</a:t>
            </a:r>
            <a:endParaRPr lang="en-US" sz="1150" dirty="0"/>
          </a:p>
        </p:txBody>
      </p:sp>
      <p:sp>
        <p:nvSpPr>
          <p:cNvPr id="14" name="Shape 10"/>
          <p:cNvSpPr/>
          <p:nvPr/>
        </p:nvSpPr>
        <p:spPr>
          <a:xfrm>
            <a:off x="6214720" y="2325411"/>
            <a:ext cx="2586152" cy="2262043"/>
          </a:xfrm>
          <a:prstGeom prst="roundRect">
            <a:avLst>
              <a:gd name="adj" fmla="val 363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5" name="Shape 11"/>
          <p:cNvSpPr/>
          <p:nvPr/>
        </p:nvSpPr>
        <p:spPr>
          <a:xfrm>
            <a:off x="6452464" y="2544867"/>
            <a:ext cx="365760" cy="365760"/>
          </a:xfrm>
          <a:prstGeom prst="ellipse">
            <a:avLst/>
          </a:prstGeom>
          <a:solidFill>
            <a:srgbClr val="D93A3F"/>
          </a:solidFill>
          <a:ln w="12700">
            <a:solidFill>
              <a:srgbClr val="D93A3F"/>
            </a:solidFill>
            <a:prstDash val="solid"/>
          </a:ln>
        </p:spPr>
      </p:sp>
      <p:pic>
        <p:nvPicPr>
          <p:cNvPr id="16" name="Image 2" descr="preencoded.png">    </p:cNvPr>
          <p:cNvPicPr>
            <a:picLocks noChangeAspect="1"/>
          </p:cNvPicPr>
          <p:nvPr/>
        </p:nvPicPr>
        <p:blipFill>
          <a:blip r:embed="rId3"/>
          <a:stretch>
            <a:fillRect/>
          </a:stretch>
        </p:blipFill>
        <p:spPr>
          <a:xfrm>
            <a:off x="6543904" y="2636307"/>
            <a:ext cx="182880" cy="182880"/>
          </a:xfrm>
          <a:prstGeom prst="rect">
            <a:avLst/>
          </a:prstGeom>
        </p:spPr>
      </p:pic>
      <p:sp>
        <p:nvSpPr>
          <p:cNvPr id="17" name="Text 12"/>
          <p:cNvSpPr/>
          <p:nvPr/>
        </p:nvSpPr>
        <p:spPr>
          <a:xfrm>
            <a:off x="6946240" y="2563155"/>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Comparative queries</a:t>
            </a:r>
            <a:endParaRPr lang="en-US" sz="1450" dirty="0"/>
          </a:p>
        </p:txBody>
      </p:sp>
      <p:sp>
        <p:nvSpPr>
          <p:cNvPr id="18" name="Text 13"/>
          <p:cNvSpPr/>
          <p:nvPr/>
        </p:nvSpPr>
        <p:spPr>
          <a:xfrm>
            <a:off x="6946240" y="3194456"/>
            <a:ext cx="1616888" cy="121011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“How does A differ from B?” needs retrieval against two different things, then a comparison neither document makes.</a:t>
            </a:r>
            <a:endParaRPr lang="en-US" sz="1150" dirty="0"/>
          </a:p>
        </p:txBody>
      </p:sp>
      <p:sp>
        <p:nvSpPr>
          <p:cNvPr id="19" name="Shape 14"/>
          <p:cNvSpPr/>
          <p:nvPr/>
        </p:nvSpPr>
        <p:spPr>
          <a:xfrm>
            <a:off x="9038615" y="2325411"/>
            <a:ext cx="2586152" cy="2262043"/>
          </a:xfrm>
          <a:prstGeom prst="roundRect">
            <a:avLst>
              <a:gd name="adj" fmla="val 363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0" name="Shape 15"/>
          <p:cNvSpPr/>
          <p:nvPr/>
        </p:nvSpPr>
        <p:spPr>
          <a:xfrm>
            <a:off x="9276359" y="2544867"/>
            <a:ext cx="365760" cy="365760"/>
          </a:xfrm>
          <a:prstGeom prst="ellipse">
            <a:avLst/>
          </a:prstGeom>
          <a:solidFill>
            <a:srgbClr val="D93A3F"/>
          </a:solidFill>
          <a:ln w="12700">
            <a:solidFill>
              <a:srgbClr val="D93A3F"/>
            </a:solidFill>
            <a:prstDash val="solid"/>
          </a:ln>
        </p:spPr>
      </p:sp>
      <p:pic>
        <p:nvPicPr>
          <p:cNvPr id="21" name="Image 3" descr="preencoded.png">    </p:cNvPr>
          <p:cNvPicPr>
            <a:picLocks noChangeAspect="1"/>
          </p:cNvPicPr>
          <p:nvPr/>
        </p:nvPicPr>
        <p:blipFill>
          <a:blip r:embed="rId4"/>
          <a:stretch>
            <a:fillRect/>
          </a:stretch>
        </p:blipFill>
        <p:spPr>
          <a:xfrm>
            <a:off x="9367799" y="2636307"/>
            <a:ext cx="182880" cy="182880"/>
          </a:xfrm>
          <a:prstGeom prst="rect">
            <a:avLst/>
          </a:prstGeom>
        </p:spPr>
      </p:pic>
      <p:sp>
        <p:nvSpPr>
          <p:cNvPr id="22" name="Text 16"/>
          <p:cNvSpPr/>
          <p:nvPr/>
        </p:nvSpPr>
        <p:spPr>
          <a:xfrm>
            <a:off x="9770135" y="2563155"/>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Absence</a:t>
            </a:r>
            <a:endParaRPr lang="en-US" sz="1450" dirty="0"/>
          </a:p>
        </p:txBody>
      </p:sp>
      <p:sp>
        <p:nvSpPr>
          <p:cNvPr id="23" name="Text 17"/>
          <p:cNvSpPr/>
          <p:nvPr/>
        </p:nvSpPr>
        <p:spPr>
          <a:xfrm>
            <a:off x="9770135" y="2910810"/>
            <a:ext cx="1616888" cy="1493764"/>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honest answer is that it is not in the corpus. A single-pass pipeline has no way to notice, so it invents.</a:t>
            </a:r>
            <a:endParaRPr lang="en-US" sz="1150" dirty="0"/>
          </a:p>
        </p:txBody>
      </p:sp>
      <p:sp>
        <p:nvSpPr>
          <p:cNvPr id="24" name="Text 18"/>
          <p:cNvSpPr/>
          <p:nvPr/>
        </p:nvSpPr>
        <p:spPr>
          <a:xfrm>
            <a:off x="566928" y="5029200"/>
            <a:ext cx="11057839" cy="310896"/>
          </a:xfrm>
          <a:prstGeom prst="rect">
            <a:avLst/>
          </a:prstGeom>
          <a:noFill/>
          <a:ln/>
        </p:spPr>
        <p:txBody>
          <a:bodyPr wrap="square" lIns="0" tIns="0" rIns="0" bIns="0" rtlCol="0" anchor="ctr"/>
          <a:lstStyle/>
          <a:p>
            <a:pPr indent="0" marL="0">
              <a:buNone/>
            </a:pPr>
            <a:r>
              <a:rPr lang="en-US" sz="1300" i="1" dirty="0">
                <a:solidFill>
                  <a:srgbClr val="3B3760"/>
                </a:solidFill>
                <a:latin typeface="Calibri" pitchFamily="34" charset="0"/>
                <a:ea typeface="Calibri" pitchFamily="34" charset="-122"/>
                <a:cs typeface="Calibri" pitchFamily="34" charset="-120"/>
              </a:rPr>
              <a:t>Every one of these is a real support question. None of them is answered well by search-then-stuff.</a:t>
            </a:r>
            <a:endParaRPr lang="en-US" sz="1300" dirty="0"/>
          </a:p>
        </p:txBody>
      </p:sp>
      <p:sp>
        <p:nvSpPr>
          <p:cNvPr id="25"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26" name="Shape 20"/>
          <p:cNvSpPr/>
          <p:nvPr/>
        </p:nvSpPr>
        <p:spPr>
          <a:xfrm>
            <a:off x="841248" y="5650992"/>
            <a:ext cx="384048" cy="384048"/>
          </a:xfrm>
          <a:prstGeom prst="ellipse">
            <a:avLst/>
          </a:prstGeom>
          <a:solidFill>
            <a:srgbClr val="F5A524"/>
          </a:solidFill>
          <a:ln w="12700">
            <a:solidFill>
              <a:srgbClr val="F5A524"/>
            </a:solidFill>
            <a:prstDash val="solid"/>
          </a:ln>
        </p:spPr>
      </p:sp>
      <p:pic>
        <p:nvPicPr>
          <p:cNvPr id="27" name="Image 4" descr="preencoded.png">    </p:cNvPr>
          <p:cNvPicPr>
            <a:picLocks noChangeAspect="1"/>
          </p:cNvPicPr>
          <p:nvPr/>
        </p:nvPicPr>
        <p:blipFill>
          <a:blip r:embed="rId5"/>
          <a:stretch>
            <a:fillRect/>
          </a:stretch>
        </p:blipFill>
        <p:spPr>
          <a:xfrm>
            <a:off x="937260" y="5747004"/>
            <a:ext cx="192024" cy="192024"/>
          </a:xfrm>
          <a:prstGeom prst="rect">
            <a:avLst/>
          </a:prstGeom>
        </p:spPr>
      </p:pic>
      <p:sp>
        <p:nvSpPr>
          <p:cNvPr id="28" name="Text 21"/>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Basic RAG is “search, then paste the results into the prompt”. It works for questions whose answer sits in one paragraph — which is not most questions.</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11 · RETRIEVAL</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The same questions, answered four ways, over one corpus</a:t>
            </a:r>
            <a:endParaRPr lang="en-US" sz="2800" dirty="0"/>
          </a:p>
        </p:txBody>
      </p:sp>
      <p:sp>
        <p:nvSpPr>
          <p:cNvPr id="4" name="Text 2"/>
          <p:cNvSpPr/>
          <p:nvPr/>
        </p:nvSpPr>
        <p:spPr>
          <a:xfrm>
            <a:off x="768096" y="1883664"/>
            <a:ext cx="246888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PASS</a:t>
            </a:r>
            <a:endParaRPr lang="en-US" sz="950" dirty="0"/>
          </a:p>
        </p:txBody>
      </p:sp>
      <p:sp>
        <p:nvSpPr>
          <p:cNvPr id="5" name="Text 3"/>
          <p:cNvSpPr/>
          <p:nvPr/>
        </p:nvSpPr>
        <p:spPr>
          <a:xfrm>
            <a:off x="3511296" y="1883664"/>
            <a:ext cx="365760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WHAT IT IS</a:t>
            </a:r>
            <a:endParaRPr lang="en-US" sz="950" dirty="0"/>
          </a:p>
        </p:txBody>
      </p:sp>
      <p:sp>
        <p:nvSpPr>
          <p:cNvPr id="6" name="Text 4"/>
          <p:cNvSpPr/>
          <p:nvPr/>
        </p:nvSpPr>
        <p:spPr>
          <a:xfrm>
            <a:off x="7443216" y="1883664"/>
            <a:ext cx="128016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SIGNUP</a:t>
            </a:r>
            <a:endParaRPr lang="en-US" sz="950" dirty="0"/>
          </a:p>
        </p:txBody>
      </p:sp>
      <p:sp>
        <p:nvSpPr>
          <p:cNvPr id="7" name="Text 5"/>
          <p:cNvSpPr/>
          <p:nvPr/>
        </p:nvSpPr>
        <p:spPr>
          <a:xfrm>
            <a:off x="8997696" y="1883664"/>
            <a:ext cx="2553919"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WHY IT IS IN THE COURSE</a:t>
            </a:r>
            <a:endParaRPr lang="en-US" sz="950" dirty="0"/>
          </a:p>
        </p:txBody>
      </p:sp>
      <p:sp>
        <p:nvSpPr>
          <p:cNvPr id="8" name="Shape 6"/>
          <p:cNvSpPr/>
          <p:nvPr/>
        </p:nvSpPr>
        <p:spPr>
          <a:xfrm>
            <a:off x="566928" y="2231136"/>
            <a:ext cx="11057839" cy="658368"/>
          </a:xfrm>
          <a:prstGeom prst="roundRect">
            <a:avLst>
              <a:gd name="adj" fmla="val 9722"/>
            </a:avLst>
          </a:prstGeom>
          <a:solidFill>
            <a:srgbClr val="EEEDFE"/>
          </a:solidFill>
          <a:ln w="12700">
            <a:solidFill>
              <a:srgbClr val="8E82F5"/>
            </a:solidFill>
            <a:prstDash val="solid"/>
          </a:ln>
          <a:effectLst>
            <a:outerShdw sx="100000" sy="100000" kx="0" ky="0" algn="bl" rotWithShape="0" blurRad="88900" dist="445" dir="5400000">
              <a:srgbClr val="1B1A4A">
                <a:alpha val="6000"/>
              </a:srgbClr>
            </a:outerShdw>
          </a:effectLst>
        </p:spPr>
      </p:sp>
      <p:sp>
        <p:nvSpPr>
          <p:cNvPr id="9" name="Text 7"/>
          <p:cNvSpPr/>
          <p:nvPr/>
        </p:nvSpPr>
        <p:spPr>
          <a:xfrm>
            <a:off x="768096" y="2231136"/>
            <a:ext cx="2468880" cy="658368"/>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From scratch</a:t>
            </a:r>
            <a:endParaRPr lang="en-US" sz="1300" dirty="0"/>
          </a:p>
        </p:txBody>
      </p:sp>
      <p:sp>
        <p:nvSpPr>
          <p:cNvPr id="10" name="Text 8"/>
          <p:cNvSpPr/>
          <p:nvPr/>
        </p:nvSpPr>
        <p:spPr>
          <a:xfrm>
            <a:off x="3511296" y="2231136"/>
            <a:ext cx="365760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Cosine similarity in about ten lines</a:t>
            </a:r>
            <a:endParaRPr lang="en-US" sz="1150" dirty="0"/>
          </a:p>
        </p:txBody>
      </p:sp>
      <p:sp>
        <p:nvSpPr>
          <p:cNvPr id="11" name="Text 9"/>
          <p:cNvSpPr/>
          <p:nvPr/>
        </p:nvSpPr>
        <p:spPr>
          <a:xfrm>
            <a:off x="7443216" y="2231136"/>
            <a:ext cx="128016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None</a:t>
            </a:r>
            <a:endParaRPr lang="en-US" sz="1150" dirty="0"/>
          </a:p>
        </p:txBody>
      </p:sp>
      <p:sp>
        <p:nvSpPr>
          <p:cNvPr id="12" name="Text 10"/>
          <p:cNvSpPr/>
          <p:nvPr/>
        </p:nvSpPr>
        <p:spPr>
          <a:xfrm>
            <a:off x="8997696" y="2231136"/>
            <a:ext cx="2553919" cy="658368"/>
          </a:xfrm>
          <a:prstGeom prst="rect">
            <a:avLst/>
          </a:prstGeom>
          <a:noFill/>
          <a:ln/>
        </p:spPr>
        <p:txBody>
          <a:bodyPr wrap="square" lIns="0" tIns="0" rIns="0" bIns="0" rtlCol="0" anchor="ctr"/>
          <a:lstStyle/>
          <a:p>
            <a:pPr indent="0" marL="0">
              <a:buNone/>
            </a:pPr>
            <a:r>
              <a:rPr lang="en-US" sz="1150" i="1" dirty="0">
                <a:solidFill>
                  <a:srgbClr val="E08700"/>
                </a:solidFill>
                <a:latin typeface="Calibri" pitchFamily="34" charset="0"/>
                <a:ea typeface="Calibri" pitchFamily="34" charset="-122"/>
                <a:cs typeface="Calibri" pitchFamily="34" charset="-120"/>
              </a:rPr>
              <a:t>So nobody believes a vector store is magic</a:t>
            </a:r>
            <a:endParaRPr lang="en-US" sz="1150" dirty="0"/>
          </a:p>
        </p:txBody>
      </p:sp>
      <p:sp>
        <p:nvSpPr>
          <p:cNvPr id="13" name="Shape 11"/>
          <p:cNvSpPr/>
          <p:nvPr/>
        </p:nvSpPr>
        <p:spPr>
          <a:xfrm>
            <a:off x="566928" y="2980944"/>
            <a:ext cx="11057839" cy="658368"/>
          </a:xfrm>
          <a:prstGeom prst="roundRect">
            <a:avLst>
              <a:gd name="adj" fmla="val 9722"/>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14" name="Text 12"/>
          <p:cNvSpPr/>
          <p:nvPr/>
        </p:nvSpPr>
        <p:spPr>
          <a:xfrm>
            <a:off x="768096" y="2980944"/>
            <a:ext cx="2468880" cy="658368"/>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A local vector store</a:t>
            </a:r>
            <a:endParaRPr lang="en-US" sz="1300" dirty="0"/>
          </a:p>
        </p:txBody>
      </p:sp>
      <p:sp>
        <p:nvSpPr>
          <p:cNvPr id="15" name="Text 13"/>
          <p:cNvSpPr/>
          <p:nvPr/>
        </p:nvSpPr>
        <p:spPr>
          <a:xfrm>
            <a:off x="3511296" y="2980944"/>
            <a:ext cx="365760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Persistent, metadata filtering, runs on your laptop</a:t>
            </a:r>
            <a:endParaRPr lang="en-US" sz="1150" dirty="0"/>
          </a:p>
        </p:txBody>
      </p:sp>
      <p:sp>
        <p:nvSpPr>
          <p:cNvPr id="16" name="Text 14"/>
          <p:cNvSpPr/>
          <p:nvPr/>
        </p:nvSpPr>
        <p:spPr>
          <a:xfrm>
            <a:off x="7443216" y="2980944"/>
            <a:ext cx="128016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None</a:t>
            </a:r>
            <a:endParaRPr lang="en-US" sz="1150" dirty="0"/>
          </a:p>
        </p:txBody>
      </p:sp>
      <p:sp>
        <p:nvSpPr>
          <p:cNvPr id="17" name="Text 15"/>
          <p:cNvSpPr/>
          <p:nvPr/>
        </p:nvSpPr>
        <p:spPr>
          <a:xfrm>
            <a:off x="8997696" y="2980944"/>
            <a:ext cx="2553919" cy="658368"/>
          </a:xfrm>
          <a:prstGeom prst="rect">
            <a:avLst/>
          </a:prstGeom>
          <a:noFill/>
          <a:ln/>
        </p:spPr>
        <p:txBody>
          <a:bodyPr wrap="square" lIns="0" tIns="0" rIns="0" bIns="0" rtlCol="0" anchor="ctr"/>
          <a:lstStyle/>
          <a:p>
            <a:pPr indent="0" marL="0">
              <a:buNone/>
            </a:pPr>
            <a:r>
              <a:rPr lang="en-US" sz="1150" i="1" dirty="0">
                <a:solidFill>
                  <a:srgbClr val="E08700"/>
                </a:solidFill>
                <a:latin typeface="Calibri" pitchFamily="34" charset="0"/>
                <a:ea typeface="Calibri" pitchFamily="34" charset="-122"/>
                <a:cs typeface="Calibri" pitchFamily="34" charset="-120"/>
              </a:rPr>
              <a:t>The realistic default for most teams</a:t>
            </a:r>
            <a:endParaRPr lang="en-US" sz="1150" dirty="0"/>
          </a:p>
        </p:txBody>
      </p:sp>
      <p:sp>
        <p:nvSpPr>
          <p:cNvPr id="18" name="Shape 16"/>
          <p:cNvSpPr/>
          <p:nvPr/>
        </p:nvSpPr>
        <p:spPr>
          <a:xfrm>
            <a:off x="566928" y="3730752"/>
            <a:ext cx="11057839" cy="658368"/>
          </a:xfrm>
          <a:prstGeom prst="roundRect">
            <a:avLst>
              <a:gd name="adj" fmla="val 9722"/>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19" name="Text 17"/>
          <p:cNvSpPr/>
          <p:nvPr/>
        </p:nvSpPr>
        <p:spPr>
          <a:xfrm>
            <a:off x="768096" y="3730752"/>
            <a:ext cx="2468880" cy="658368"/>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An indexing layer</a:t>
            </a:r>
            <a:endParaRPr lang="en-US" sz="1300" dirty="0"/>
          </a:p>
        </p:txBody>
      </p:sp>
      <p:sp>
        <p:nvSpPr>
          <p:cNvPr id="20" name="Text 18"/>
          <p:cNvSpPr/>
          <p:nvPr/>
        </p:nvSpPr>
        <p:spPr>
          <a:xfrm>
            <a:off x="3511296" y="3730752"/>
            <a:ext cx="365760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Chunking and ingestion above the store</a:t>
            </a:r>
            <a:endParaRPr lang="en-US" sz="1150" dirty="0"/>
          </a:p>
        </p:txBody>
      </p:sp>
      <p:sp>
        <p:nvSpPr>
          <p:cNvPr id="21" name="Text 19"/>
          <p:cNvSpPr/>
          <p:nvPr/>
        </p:nvSpPr>
        <p:spPr>
          <a:xfrm>
            <a:off x="7443216" y="3730752"/>
            <a:ext cx="128016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None</a:t>
            </a:r>
            <a:endParaRPr lang="en-US" sz="1150" dirty="0"/>
          </a:p>
        </p:txBody>
      </p:sp>
      <p:sp>
        <p:nvSpPr>
          <p:cNvPr id="22" name="Text 20"/>
          <p:cNvSpPr/>
          <p:nvPr/>
        </p:nvSpPr>
        <p:spPr>
          <a:xfrm>
            <a:off x="8997696" y="3730752"/>
            <a:ext cx="2553919" cy="658368"/>
          </a:xfrm>
          <a:prstGeom prst="rect">
            <a:avLst/>
          </a:prstGeom>
          <a:noFill/>
          <a:ln/>
        </p:spPr>
        <p:txBody>
          <a:bodyPr wrap="square" lIns="0" tIns="0" rIns="0" bIns="0" rtlCol="0" anchor="ctr"/>
          <a:lstStyle/>
          <a:p>
            <a:pPr indent="0" marL="0">
              <a:buNone/>
            </a:pPr>
            <a:r>
              <a:rPr lang="en-US" sz="1150" i="1" dirty="0">
                <a:solidFill>
                  <a:srgbClr val="E08700"/>
                </a:solidFill>
                <a:latin typeface="Calibri" pitchFamily="34" charset="0"/>
                <a:ea typeface="Calibri" pitchFamily="34" charset="-122"/>
                <a:cs typeface="Calibri" pitchFamily="34" charset="-120"/>
              </a:rPr>
              <a:t>Where retrieval quality is actually won or lost</a:t>
            </a:r>
            <a:endParaRPr lang="en-US" sz="1150" dirty="0"/>
          </a:p>
        </p:txBody>
      </p:sp>
      <p:sp>
        <p:nvSpPr>
          <p:cNvPr id="23" name="Shape 21"/>
          <p:cNvSpPr/>
          <p:nvPr/>
        </p:nvSpPr>
        <p:spPr>
          <a:xfrm>
            <a:off x="566928" y="4480560"/>
            <a:ext cx="11057839" cy="658368"/>
          </a:xfrm>
          <a:prstGeom prst="roundRect">
            <a:avLst>
              <a:gd name="adj" fmla="val 9722"/>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24" name="Text 22"/>
          <p:cNvSpPr/>
          <p:nvPr/>
        </p:nvSpPr>
        <p:spPr>
          <a:xfrm>
            <a:off x="768096" y="4480560"/>
            <a:ext cx="2468880" cy="658368"/>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A managed service</a:t>
            </a:r>
            <a:endParaRPr lang="en-US" sz="1300" dirty="0"/>
          </a:p>
        </p:txBody>
      </p:sp>
      <p:sp>
        <p:nvSpPr>
          <p:cNvPr id="25" name="Text 23"/>
          <p:cNvSpPr/>
          <p:nvPr/>
        </p:nvSpPr>
        <p:spPr>
          <a:xfrm>
            <a:off x="3511296" y="4480560"/>
            <a:ext cx="365760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Same corpus, run once, results shown</a:t>
            </a:r>
            <a:endParaRPr lang="en-US" sz="1150" dirty="0"/>
          </a:p>
        </p:txBody>
      </p:sp>
      <p:sp>
        <p:nvSpPr>
          <p:cNvPr id="26" name="Text 24"/>
          <p:cNvSpPr/>
          <p:nvPr/>
        </p:nvSpPr>
        <p:spPr>
          <a:xfrm>
            <a:off x="7443216" y="4480560"/>
            <a:ext cx="128016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Instructor only</a:t>
            </a:r>
            <a:endParaRPr lang="en-US" sz="1150" dirty="0"/>
          </a:p>
        </p:txBody>
      </p:sp>
      <p:sp>
        <p:nvSpPr>
          <p:cNvPr id="27" name="Text 25"/>
          <p:cNvSpPr/>
          <p:nvPr/>
        </p:nvSpPr>
        <p:spPr>
          <a:xfrm>
            <a:off x="8997696" y="4480560"/>
            <a:ext cx="2553919" cy="658368"/>
          </a:xfrm>
          <a:prstGeom prst="rect">
            <a:avLst/>
          </a:prstGeom>
          <a:noFill/>
          <a:ln/>
        </p:spPr>
        <p:txBody>
          <a:bodyPr wrap="square" lIns="0" tIns="0" rIns="0" bIns="0" rtlCol="0" anchor="ctr"/>
          <a:lstStyle/>
          <a:p>
            <a:pPr indent="0" marL="0">
              <a:buNone/>
            </a:pPr>
            <a:r>
              <a:rPr lang="en-US" sz="1150" i="1" dirty="0">
                <a:solidFill>
                  <a:srgbClr val="E08700"/>
                </a:solidFill>
                <a:latin typeface="Calibri" pitchFamily="34" charset="0"/>
                <a:ea typeface="Calibri" pitchFamily="34" charset="-122"/>
                <a:cs typeface="Calibri" pitchFamily="34" charset="-120"/>
              </a:rPr>
              <a:t>What you are buying, and what you are not</a:t>
            </a:r>
            <a:endParaRPr lang="en-US" sz="1150" dirty="0"/>
          </a:p>
        </p:txBody>
      </p:sp>
      <p:sp>
        <p:nvSpPr>
          <p:cNvPr id="28" name="Shape 26"/>
          <p:cNvSpPr/>
          <p:nvPr/>
        </p:nvSpPr>
        <p:spPr>
          <a:xfrm>
            <a:off x="566928" y="5285232"/>
            <a:ext cx="11057839" cy="713232"/>
          </a:xfrm>
          <a:prstGeom prst="roundRect">
            <a:avLst>
              <a:gd name="adj" fmla="val 10256"/>
            </a:avLst>
          </a:prstGeom>
          <a:solidFill>
            <a:srgbClr val="F7F8FD"/>
          </a:solidFill>
          <a:ln w="12700">
            <a:solidFill>
              <a:srgbClr val="E3E4F2"/>
            </a:solidFill>
            <a:prstDash val="solid"/>
          </a:ln>
        </p:spPr>
      </p:sp>
      <p:sp>
        <p:nvSpPr>
          <p:cNvPr id="29" name="Shape 27"/>
          <p:cNvSpPr/>
          <p:nvPr/>
        </p:nvSpPr>
        <p:spPr>
          <a:xfrm>
            <a:off x="822960" y="5449824"/>
            <a:ext cx="384048" cy="384048"/>
          </a:xfrm>
          <a:prstGeom prst="ellipse">
            <a:avLst/>
          </a:prstGeom>
          <a:solidFill>
            <a:srgbClr val="5B4BE8"/>
          </a:solidFill>
          <a:ln w="12700">
            <a:solidFill>
              <a:srgbClr val="5B4BE8"/>
            </a:solidFill>
            <a:prstDash val="solid"/>
          </a:ln>
        </p:spPr>
      </p:sp>
      <p:pic>
        <p:nvPicPr>
          <p:cNvPr id="30" name="Image 0" descr="preencoded.png">    </p:cNvPr>
          <p:cNvPicPr>
            <a:picLocks noChangeAspect="1"/>
          </p:cNvPicPr>
          <p:nvPr/>
        </p:nvPicPr>
        <p:blipFill>
          <a:blip r:embed="rId1"/>
          <a:stretch>
            <a:fillRect/>
          </a:stretch>
        </p:blipFill>
        <p:spPr>
          <a:xfrm>
            <a:off x="918972" y="5545836"/>
            <a:ext cx="192024" cy="192024"/>
          </a:xfrm>
          <a:prstGeom prst="rect">
            <a:avLst/>
          </a:prstGeom>
        </p:spPr>
      </p:pic>
      <p:sp>
        <p:nvSpPr>
          <p:cNvPr id="31" name="Text 28"/>
          <p:cNvSpPr/>
          <p:nvPr/>
        </p:nvSpPr>
        <p:spPr>
          <a:xfrm>
            <a:off x="1353312" y="5285232"/>
            <a:ext cx="9960559" cy="713232"/>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The reasoning loop above the store is the durable thing. The store underneath it is swappable, and will be swapped.</a:t>
            </a:r>
            <a:endParaRPr lang="en-US" sz="1300" dirty="0"/>
          </a:p>
        </p:txBody>
      </p:sp>
      <p:sp>
        <p:nvSpPr>
          <p:cNvPr id="32" name="Shape 29"/>
          <p:cNvSpPr/>
          <p:nvPr/>
        </p:nvSpPr>
        <p:spPr>
          <a:xfrm>
            <a:off x="566928" y="6089904"/>
            <a:ext cx="11057839" cy="658368"/>
          </a:xfrm>
          <a:prstGeom prst="roundRect">
            <a:avLst>
              <a:gd name="adj" fmla="val 12500"/>
            </a:avLst>
          </a:prstGeom>
          <a:solidFill>
            <a:srgbClr val="FFF4E0"/>
          </a:solidFill>
          <a:ln w="12700">
            <a:solidFill>
              <a:srgbClr val="F3DCB0"/>
            </a:solidFill>
            <a:prstDash val="solid"/>
          </a:ln>
        </p:spPr>
      </p:sp>
      <p:sp>
        <p:nvSpPr>
          <p:cNvPr id="33" name="Shape 30"/>
          <p:cNvSpPr/>
          <p:nvPr/>
        </p:nvSpPr>
        <p:spPr>
          <a:xfrm>
            <a:off x="841248" y="6227064"/>
            <a:ext cx="384048" cy="384048"/>
          </a:xfrm>
          <a:prstGeom prst="ellipse">
            <a:avLst/>
          </a:prstGeom>
          <a:solidFill>
            <a:srgbClr val="F5A524"/>
          </a:solidFill>
          <a:ln w="12700">
            <a:solidFill>
              <a:srgbClr val="F5A524"/>
            </a:solidFill>
            <a:prstDash val="solid"/>
          </a:ln>
        </p:spPr>
      </p:sp>
      <p:pic>
        <p:nvPicPr>
          <p:cNvPr id="34" name="Image 1" descr="preencoded.png">    </p:cNvPr>
          <p:cNvPicPr>
            <a:picLocks noChangeAspect="1"/>
          </p:cNvPicPr>
          <p:nvPr/>
        </p:nvPicPr>
        <p:blipFill>
          <a:blip r:embed="rId2"/>
          <a:stretch>
            <a:fillRect/>
          </a:stretch>
        </p:blipFill>
        <p:spPr>
          <a:xfrm>
            <a:off x="937260" y="6323076"/>
            <a:ext cx="192024" cy="192024"/>
          </a:xfrm>
          <a:prstGeom prst="rect">
            <a:avLst/>
          </a:prstGeom>
        </p:spPr>
      </p:pic>
      <p:sp>
        <p:nvSpPr>
          <p:cNvPr id="35" name="Text 31"/>
          <p:cNvSpPr/>
          <p:nvPr/>
        </p:nvSpPr>
        <p:spPr>
          <a:xfrm>
            <a:off x="1371600" y="6144768"/>
            <a:ext cx="9960559" cy="548640"/>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Embeddings turn text into coordinates so “similar meaning” becomes “close together”. That is genuinely the whole idea.</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B0A22"/>
        </a:solidFill>
      </p:bgPr>
    </p:bg>
    <p:spTree>
      <p:nvGrpSpPr>
        <p:cNvPr id="1" name=""/>
        <p:cNvGrpSpPr/>
        <p:nvPr/>
      </p:nvGrpSpPr>
      <p:grpSpPr>
        <a:xfrm>
          <a:off x="0" y="0"/>
          <a:ext cx="0" cy="0"/>
          <a:chOff x="0" y="0"/>
          <a:chExt cx="0" cy="0"/>
        </a:xfrm>
      </p:grpSpPr>
      <p:pic>
        <p:nvPicPr>
          <p:cNvPr id="2" name="Image 0" descr="bg quo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11 · RETRIEVAL</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indent="0" marL="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indent="0" marL="0">
              <a:lnSpc>
                <a:spcPct val="116000"/>
              </a:lnSpc>
              <a:buNone/>
            </a:pPr>
            <a:r>
              <a:rPr lang="en-US" sz="4000" b="1" dirty="0">
                <a:solidFill>
                  <a:srgbClr val="FFFFFF"/>
                </a:solidFill>
                <a:latin typeface="Cambria" pitchFamily="34" charset="0"/>
                <a:ea typeface="Cambria" pitchFamily="34" charset="-122"/>
                <a:cs typeface="Cambria" pitchFamily="34" charset="-120"/>
              </a:rPr>
              <a:t>If the answer lives in a database,</a:t>
            </a:r>
            <a:endParaRPr lang="en-US" sz="4000" dirty="0"/>
          </a:p>
          <a:p>
            <a:pPr indent="0" marL="0">
              <a:lnSpc>
                <a:spcPct val="116000"/>
              </a:lnSpc>
              <a:buNone/>
            </a:pPr>
            <a:r>
              <a:rPr lang="en-US" sz="4000" b="1" dirty="0">
                <a:solidFill>
                  <a:srgbClr val="FFFFFF"/>
                </a:solidFill>
                <a:latin typeface="Cambria" pitchFamily="34" charset="0"/>
                <a:ea typeface="Cambria" pitchFamily="34" charset="-122"/>
                <a:cs typeface="Cambria" pitchFamily="34" charset="-120"/>
              </a:rPr>
              <a:t>query the database.</a:t>
            </a:r>
            <a:endParaRPr lang="en-US" sz="40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indent="0" marL="0">
              <a:lnSpc>
                <a:spcPct val="120000"/>
              </a:lnSpc>
              <a:buNone/>
            </a:pPr>
            <a:r>
              <a:rPr lang="en-US" sz="1450" dirty="0">
                <a:solidFill>
                  <a:srgbClr val="B9B4E0"/>
                </a:solidFill>
                <a:latin typeface="Calibri" pitchFamily="34" charset="0"/>
                <a:ea typeface="Calibri" pitchFamily="34" charset="-122"/>
                <a:cs typeface="Calibri" pitchFamily="34" charset="-120"/>
              </a:rPr>
              <a:t>RAG is for unstructured text you cannot otherwise reach. Pointing it at a table you could have queried with SQL is slower, more expensive, and less correct.</a:t>
            </a:r>
            <a:endParaRPr lang="en-US" sz="14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12</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12</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Agentic RAG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Retrieval becomes a loop, not a lookup.</a:t>
            </a:r>
            <a:endParaRPr lang="en-US" sz="1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12 · AGENTIC RAG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Five steps, and one of them is the whole idea</a:t>
            </a:r>
            <a:endParaRPr lang="en-US" sz="3000" dirty="0"/>
          </a:p>
        </p:txBody>
      </p:sp>
      <p:sp>
        <p:nvSpPr>
          <p:cNvPr id="4" name="Shape 2"/>
          <p:cNvSpPr/>
          <p:nvPr/>
        </p:nvSpPr>
        <p:spPr>
          <a:xfrm>
            <a:off x="566928" y="2011680"/>
            <a:ext cx="2050633" cy="2286000"/>
          </a:xfrm>
          <a:prstGeom prst="roundRect">
            <a:avLst>
              <a:gd name="adj" fmla="val 4459"/>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5" name="Shape 3"/>
          <p:cNvSpPr/>
          <p:nvPr/>
        </p:nvSpPr>
        <p:spPr>
          <a:xfrm>
            <a:off x="786384" y="2212848"/>
            <a:ext cx="402336" cy="402336"/>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86968" y="2313432"/>
            <a:ext cx="201168" cy="201168"/>
          </a:xfrm>
          <a:prstGeom prst="rect">
            <a:avLst/>
          </a:prstGeom>
        </p:spPr>
      </p:pic>
      <p:sp>
        <p:nvSpPr>
          <p:cNvPr id="7" name="Text 4"/>
          <p:cNvSpPr/>
          <p:nvPr/>
        </p:nvSpPr>
        <p:spPr>
          <a:xfrm>
            <a:off x="786384" y="2743200"/>
            <a:ext cx="1611721" cy="292608"/>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Rewrite</a:t>
            </a:r>
            <a:endParaRPr lang="en-US" sz="1550" dirty="0"/>
          </a:p>
        </p:txBody>
      </p:sp>
      <p:sp>
        <p:nvSpPr>
          <p:cNvPr id="8" name="Text 5"/>
          <p:cNvSpPr/>
          <p:nvPr/>
        </p:nvSpPr>
        <p:spPr>
          <a:xfrm>
            <a:off x="786384" y="3108960"/>
            <a:ext cx="1611721" cy="1005840"/>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Turn the user's words into a query the corpus would actually match.</a:t>
            </a:r>
            <a:endParaRPr lang="en-US" sz="1150" dirty="0"/>
          </a:p>
        </p:txBody>
      </p:sp>
      <p:sp>
        <p:nvSpPr>
          <p:cNvPr id="9" name="Shape 6"/>
          <p:cNvSpPr/>
          <p:nvPr/>
        </p:nvSpPr>
        <p:spPr>
          <a:xfrm>
            <a:off x="2635849" y="3127248"/>
            <a:ext cx="155448" cy="0"/>
          </a:xfrm>
          <a:prstGeom prst="line">
            <a:avLst/>
          </a:prstGeom>
          <a:noFill/>
          <a:ln w="25400">
            <a:solidFill>
              <a:srgbClr val="8E82F5"/>
            </a:solidFill>
            <a:prstDash val="solid"/>
            <a:headEnd type="none"/>
            <a:tailEnd type="triangle"/>
          </a:ln>
        </p:spPr>
      </p:sp>
      <p:sp>
        <p:nvSpPr>
          <p:cNvPr id="10" name="Shape 7"/>
          <p:cNvSpPr/>
          <p:nvPr/>
        </p:nvSpPr>
        <p:spPr>
          <a:xfrm>
            <a:off x="2818729" y="2011680"/>
            <a:ext cx="2050633" cy="2286000"/>
          </a:xfrm>
          <a:prstGeom prst="roundRect">
            <a:avLst>
              <a:gd name="adj" fmla="val 4459"/>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11" name="Shape 8"/>
          <p:cNvSpPr/>
          <p:nvPr/>
        </p:nvSpPr>
        <p:spPr>
          <a:xfrm>
            <a:off x="3038185" y="2212848"/>
            <a:ext cx="402336" cy="402336"/>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3138769" y="2313432"/>
            <a:ext cx="201168" cy="201168"/>
          </a:xfrm>
          <a:prstGeom prst="rect">
            <a:avLst/>
          </a:prstGeom>
        </p:spPr>
      </p:pic>
      <p:sp>
        <p:nvSpPr>
          <p:cNvPr id="13" name="Text 9"/>
          <p:cNvSpPr/>
          <p:nvPr/>
        </p:nvSpPr>
        <p:spPr>
          <a:xfrm>
            <a:off x="3038185" y="2743200"/>
            <a:ext cx="1611721" cy="292608"/>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Retrieve</a:t>
            </a:r>
            <a:endParaRPr lang="en-US" sz="1550" dirty="0"/>
          </a:p>
        </p:txBody>
      </p:sp>
      <p:sp>
        <p:nvSpPr>
          <p:cNvPr id="14" name="Text 10"/>
          <p:cNvSpPr/>
          <p:nvPr/>
        </p:nvSpPr>
        <p:spPr>
          <a:xfrm>
            <a:off x="3038185" y="3108960"/>
            <a:ext cx="1611721" cy="1005840"/>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Search. Same mechanics as module 11.</a:t>
            </a:r>
            <a:endParaRPr lang="en-US" sz="1150" dirty="0"/>
          </a:p>
        </p:txBody>
      </p:sp>
      <p:sp>
        <p:nvSpPr>
          <p:cNvPr id="15" name="Shape 11"/>
          <p:cNvSpPr/>
          <p:nvPr/>
        </p:nvSpPr>
        <p:spPr>
          <a:xfrm>
            <a:off x="4887651" y="3127248"/>
            <a:ext cx="155448" cy="0"/>
          </a:xfrm>
          <a:prstGeom prst="line">
            <a:avLst/>
          </a:prstGeom>
          <a:noFill/>
          <a:ln w="25400">
            <a:solidFill>
              <a:srgbClr val="8E82F5"/>
            </a:solidFill>
            <a:prstDash val="solid"/>
            <a:headEnd type="none"/>
            <a:tailEnd type="triangle"/>
          </a:ln>
        </p:spPr>
      </p:sp>
      <p:sp>
        <p:nvSpPr>
          <p:cNvPr id="16" name="Shape 12"/>
          <p:cNvSpPr/>
          <p:nvPr/>
        </p:nvSpPr>
        <p:spPr>
          <a:xfrm>
            <a:off x="5070531" y="2011680"/>
            <a:ext cx="2050633" cy="2286000"/>
          </a:xfrm>
          <a:prstGeom prst="roundRect">
            <a:avLst>
              <a:gd name="adj" fmla="val 4459"/>
            </a:avLst>
          </a:prstGeom>
          <a:solidFill>
            <a:srgbClr val="5B4BE8"/>
          </a:solidFill>
          <a:ln w="12700">
            <a:solidFill>
              <a:srgbClr val="5B4BE8"/>
            </a:solidFill>
            <a:prstDash val="solid"/>
          </a:ln>
          <a:effectLst>
            <a:outerShdw sx="100000" sy="100000" kx="0" ky="0" algn="bl" rotWithShape="0" blurRad="101600" dist="508" dir="5400000">
              <a:srgbClr val="1B1A4A">
                <a:alpha val="8000"/>
              </a:srgbClr>
            </a:outerShdw>
          </a:effectLst>
        </p:spPr>
      </p:sp>
      <p:sp>
        <p:nvSpPr>
          <p:cNvPr id="17" name="Shape 13"/>
          <p:cNvSpPr/>
          <p:nvPr/>
        </p:nvSpPr>
        <p:spPr>
          <a:xfrm>
            <a:off x="5289987" y="2212848"/>
            <a:ext cx="402336" cy="402336"/>
          </a:xfrm>
          <a:prstGeom prst="ellipse">
            <a:avLst/>
          </a:prstGeom>
          <a:solidFill>
            <a:srgbClr val="F5A524"/>
          </a:solidFill>
          <a:ln w="12700">
            <a:solidFill>
              <a:srgbClr val="F5A524"/>
            </a:solidFill>
            <a:prstDash val="solid"/>
          </a:ln>
        </p:spPr>
      </p:sp>
      <p:pic>
        <p:nvPicPr>
          <p:cNvPr id="18" name="Image 2" descr="preencoded.png">    </p:cNvPr>
          <p:cNvPicPr>
            <a:picLocks noChangeAspect="1"/>
          </p:cNvPicPr>
          <p:nvPr/>
        </p:nvPicPr>
        <p:blipFill>
          <a:blip r:embed="rId3"/>
          <a:stretch>
            <a:fillRect/>
          </a:stretch>
        </p:blipFill>
        <p:spPr>
          <a:xfrm>
            <a:off x="5390571" y="2313432"/>
            <a:ext cx="201168" cy="201168"/>
          </a:xfrm>
          <a:prstGeom prst="rect">
            <a:avLst/>
          </a:prstGeom>
        </p:spPr>
      </p:pic>
      <p:sp>
        <p:nvSpPr>
          <p:cNvPr id="19" name="Text 14"/>
          <p:cNvSpPr/>
          <p:nvPr/>
        </p:nvSpPr>
        <p:spPr>
          <a:xfrm>
            <a:off x="5289987" y="2743200"/>
            <a:ext cx="1611721" cy="29260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Assess</a:t>
            </a:r>
            <a:endParaRPr lang="en-US" sz="1550" dirty="0"/>
          </a:p>
        </p:txBody>
      </p:sp>
      <p:sp>
        <p:nvSpPr>
          <p:cNvPr id="20" name="Text 15"/>
          <p:cNvSpPr/>
          <p:nvPr/>
        </p:nvSpPr>
        <p:spPr>
          <a:xfrm>
            <a:off x="5289987" y="3108960"/>
            <a:ext cx="1611721" cy="1005840"/>
          </a:xfrm>
          <a:prstGeom prst="rect">
            <a:avLst/>
          </a:prstGeom>
          <a:noFill/>
          <a:ln/>
        </p:spPr>
        <p:txBody>
          <a:bodyPr wrap="square" lIns="0" tIns="0" rIns="0" bIns="0" rtlCol="0" anchor="t"/>
          <a:lstStyle/>
          <a:p>
            <a:pPr indent="0" marL="0">
              <a:lnSpc>
                <a:spcPct val="114000"/>
              </a:lnSpc>
              <a:buNone/>
            </a:pPr>
            <a:r>
              <a:rPr lang="en-US" sz="1150" dirty="0">
                <a:solidFill>
                  <a:srgbClr val="D8D3FF"/>
                </a:solidFill>
                <a:latin typeface="Calibri" pitchFamily="34" charset="0"/>
                <a:ea typeface="Calibri" pitchFamily="34" charset="-122"/>
                <a:cs typeface="Calibri" pitchFamily="34" charset="-120"/>
              </a:rPr>
              <a:t>Does what I found actually answer this? A naive pipeline never asks.</a:t>
            </a:r>
            <a:endParaRPr lang="en-US" sz="1150" dirty="0"/>
          </a:p>
        </p:txBody>
      </p:sp>
      <p:sp>
        <p:nvSpPr>
          <p:cNvPr id="21" name="Shape 16"/>
          <p:cNvSpPr/>
          <p:nvPr/>
        </p:nvSpPr>
        <p:spPr>
          <a:xfrm>
            <a:off x="7139452" y="3127248"/>
            <a:ext cx="155448" cy="0"/>
          </a:xfrm>
          <a:prstGeom prst="line">
            <a:avLst/>
          </a:prstGeom>
          <a:noFill/>
          <a:ln w="25400">
            <a:solidFill>
              <a:srgbClr val="8E82F5"/>
            </a:solidFill>
            <a:prstDash val="solid"/>
            <a:headEnd type="none"/>
            <a:tailEnd type="triangle"/>
          </a:ln>
        </p:spPr>
      </p:sp>
      <p:sp>
        <p:nvSpPr>
          <p:cNvPr id="22" name="Shape 17"/>
          <p:cNvSpPr/>
          <p:nvPr/>
        </p:nvSpPr>
        <p:spPr>
          <a:xfrm>
            <a:off x="7322332" y="2011680"/>
            <a:ext cx="2050633" cy="2286000"/>
          </a:xfrm>
          <a:prstGeom prst="roundRect">
            <a:avLst>
              <a:gd name="adj" fmla="val 4459"/>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23" name="Shape 18"/>
          <p:cNvSpPr/>
          <p:nvPr/>
        </p:nvSpPr>
        <p:spPr>
          <a:xfrm>
            <a:off x="7541788" y="2212848"/>
            <a:ext cx="402336" cy="402336"/>
          </a:xfrm>
          <a:prstGeom prst="ellipse">
            <a:avLst/>
          </a:prstGeom>
          <a:solidFill>
            <a:srgbClr val="5B4BE8"/>
          </a:solidFill>
          <a:ln w="12700">
            <a:solidFill>
              <a:srgbClr val="5B4BE8"/>
            </a:solidFill>
            <a:prstDash val="solid"/>
          </a:ln>
        </p:spPr>
      </p:sp>
      <p:pic>
        <p:nvPicPr>
          <p:cNvPr id="24" name="Image 3" descr="preencoded.png">    </p:cNvPr>
          <p:cNvPicPr>
            <a:picLocks noChangeAspect="1"/>
          </p:cNvPicPr>
          <p:nvPr/>
        </p:nvPicPr>
        <p:blipFill>
          <a:blip r:embed="rId4"/>
          <a:stretch>
            <a:fillRect/>
          </a:stretch>
        </p:blipFill>
        <p:spPr>
          <a:xfrm>
            <a:off x="7642372" y="2313432"/>
            <a:ext cx="201168" cy="201168"/>
          </a:xfrm>
          <a:prstGeom prst="rect">
            <a:avLst/>
          </a:prstGeom>
        </p:spPr>
      </p:pic>
      <p:sp>
        <p:nvSpPr>
          <p:cNvPr id="25" name="Text 19"/>
          <p:cNvSpPr/>
          <p:nvPr/>
        </p:nvSpPr>
        <p:spPr>
          <a:xfrm>
            <a:off x="7541788" y="2743200"/>
            <a:ext cx="1611721" cy="292608"/>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Re-retrieve</a:t>
            </a:r>
            <a:endParaRPr lang="en-US" sz="1550" dirty="0"/>
          </a:p>
        </p:txBody>
      </p:sp>
      <p:sp>
        <p:nvSpPr>
          <p:cNvPr id="26" name="Text 20"/>
          <p:cNvSpPr/>
          <p:nvPr/>
        </p:nvSpPr>
        <p:spPr>
          <a:xfrm>
            <a:off x="7541788" y="3108960"/>
            <a:ext cx="1611721" cy="1005840"/>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If not, try differently — new terms, a different sub-question.</a:t>
            </a:r>
            <a:endParaRPr lang="en-US" sz="1150" dirty="0"/>
          </a:p>
        </p:txBody>
      </p:sp>
      <p:sp>
        <p:nvSpPr>
          <p:cNvPr id="27" name="Shape 21"/>
          <p:cNvSpPr/>
          <p:nvPr/>
        </p:nvSpPr>
        <p:spPr>
          <a:xfrm>
            <a:off x="9391254" y="3127248"/>
            <a:ext cx="155448" cy="0"/>
          </a:xfrm>
          <a:prstGeom prst="line">
            <a:avLst/>
          </a:prstGeom>
          <a:noFill/>
          <a:ln w="25400">
            <a:solidFill>
              <a:srgbClr val="8E82F5"/>
            </a:solidFill>
            <a:prstDash val="solid"/>
            <a:headEnd type="none"/>
            <a:tailEnd type="triangle"/>
          </a:ln>
        </p:spPr>
      </p:sp>
      <p:sp>
        <p:nvSpPr>
          <p:cNvPr id="28" name="Shape 22"/>
          <p:cNvSpPr/>
          <p:nvPr/>
        </p:nvSpPr>
        <p:spPr>
          <a:xfrm>
            <a:off x="9574134" y="2011680"/>
            <a:ext cx="2050633" cy="2286000"/>
          </a:xfrm>
          <a:prstGeom prst="roundRect">
            <a:avLst>
              <a:gd name="adj" fmla="val 4459"/>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29" name="Shape 23"/>
          <p:cNvSpPr/>
          <p:nvPr/>
        </p:nvSpPr>
        <p:spPr>
          <a:xfrm>
            <a:off x="9793590" y="2212848"/>
            <a:ext cx="402336" cy="402336"/>
          </a:xfrm>
          <a:prstGeom prst="ellipse">
            <a:avLst/>
          </a:prstGeom>
          <a:solidFill>
            <a:srgbClr val="5B4BE8"/>
          </a:solidFill>
          <a:ln w="12700">
            <a:solidFill>
              <a:srgbClr val="5B4BE8"/>
            </a:solidFill>
            <a:prstDash val="solid"/>
          </a:ln>
        </p:spPr>
      </p:sp>
      <p:pic>
        <p:nvPicPr>
          <p:cNvPr id="30" name="Image 4" descr="preencoded.png">    </p:cNvPr>
          <p:cNvPicPr>
            <a:picLocks noChangeAspect="1"/>
          </p:cNvPicPr>
          <p:nvPr/>
        </p:nvPicPr>
        <p:blipFill>
          <a:blip r:embed="rId5"/>
          <a:stretch>
            <a:fillRect/>
          </a:stretch>
        </p:blipFill>
        <p:spPr>
          <a:xfrm>
            <a:off x="9894174" y="2313432"/>
            <a:ext cx="201168" cy="201168"/>
          </a:xfrm>
          <a:prstGeom prst="rect">
            <a:avLst/>
          </a:prstGeom>
        </p:spPr>
      </p:pic>
      <p:sp>
        <p:nvSpPr>
          <p:cNvPr id="31" name="Text 24"/>
          <p:cNvSpPr/>
          <p:nvPr/>
        </p:nvSpPr>
        <p:spPr>
          <a:xfrm>
            <a:off x="9793590" y="2743200"/>
            <a:ext cx="1611721" cy="292608"/>
          </a:xfrm>
          <a:prstGeom prst="rect">
            <a:avLst/>
          </a:prstGeom>
          <a:noFill/>
          <a:ln/>
        </p:spPr>
        <p:txBody>
          <a:bodyPr wrap="square" lIns="0" tIns="0" rIns="0" bIns="0" rtlCol="0" anchor="ctr"/>
          <a:lstStyle/>
          <a:p>
            <a:pPr indent="0" marL="0">
              <a:buNone/>
            </a:pPr>
            <a:r>
              <a:rPr lang="en-US" sz="1550" b="1" dirty="0">
                <a:solidFill>
                  <a:srgbClr val="141235"/>
                </a:solidFill>
                <a:latin typeface="Calibri" pitchFamily="34" charset="0"/>
                <a:ea typeface="Calibri" pitchFamily="34" charset="-122"/>
                <a:cs typeface="Calibri" pitchFamily="34" charset="-120"/>
              </a:rPr>
              <a:t>Cite</a:t>
            </a:r>
            <a:endParaRPr lang="en-US" sz="1550" dirty="0"/>
          </a:p>
        </p:txBody>
      </p:sp>
      <p:sp>
        <p:nvSpPr>
          <p:cNvPr id="32" name="Text 25"/>
          <p:cNvSpPr/>
          <p:nvPr/>
        </p:nvSpPr>
        <p:spPr>
          <a:xfrm>
            <a:off x="9793590" y="3108960"/>
            <a:ext cx="1611721" cy="1005840"/>
          </a:xfrm>
          <a:prstGeom prst="rect">
            <a:avLst/>
          </a:prstGeom>
          <a:noFill/>
          <a:ln/>
        </p:spPr>
        <p:txBody>
          <a:bodyPr wrap="square" lIns="0" tIns="0" rIns="0" bIns="0" rtlCol="0" anchor="t"/>
          <a:lstStyle/>
          <a:p>
            <a:pPr indent="0" marL="0">
              <a:lnSpc>
                <a:spcPct val="114000"/>
              </a:lnSpc>
              <a:buNone/>
            </a:pPr>
            <a:r>
              <a:rPr lang="en-US" sz="1150" dirty="0">
                <a:solidFill>
                  <a:srgbClr val="6E6B8A"/>
                </a:solidFill>
                <a:latin typeface="Calibri" pitchFamily="34" charset="0"/>
                <a:ea typeface="Calibri" pitchFamily="34" charset="-122"/>
                <a:cs typeface="Calibri" pitchFamily="34" charset="-120"/>
              </a:rPr>
              <a:t>Answer with the passages, so a human can check the work.</a:t>
            </a:r>
            <a:endParaRPr lang="en-US" sz="1150" dirty="0"/>
          </a:p>
        </p:txBody>
      </p:sp>
      <p:sp>
        <p:nvSpPr>
          <p:cNvPr id="33" name="Shape 26"/>
          <p:cNvSpPr/>
          <p:nvPr/>
        </p:nvSpPr>
        <p:spPr>
          <a:xfrm>
            <a:off x="8347649" y="4480560"/>
            <a:ext cx="-4503603" cy="0"/>
          </a:xfrm>
          <a:prstGeom prst="line">
            <a:avLst/>
          </a:prstGeom>
          <a:noFill/>
          <a:ln w="25400">
            <a:solidFill>
              <a:srgbClr val="E08700"/>
            </a:solidFill>
            <a:prstDash val="dash"/>
            <a:headEnd type="none"/>
            <a:tailEnd type="triangle"/>
          </a:ln>
        </p:spPr>
      </p:sp>
      <p:sp>
        <p:nvSpPr>
          <p:cNvPr id="34" name="Text 27"/>
          <p:cNvSpPr/>
          <p:nvPr/>
        </p:nvSpPr>
        <p:spPr>
          <a:xfrm>
            <a:off x="2617561" y="4517136"/>
            <a:ext cx="4101267" cy="219456"/>
          </a:xfrm>
          <a:prstGeom prst="rect">
            <a:avLst/>
          </a:prstGeom>
          <a:noFill/>
          <a:ln/>
        </p:spPr>
        <p:txBody>
          <a:bodyPr wrap="square" lIns="0" tIns="0" rIns="0" bIns="0" rtlCol="0" anchor="ctr"/>
          <a:lstStyle/>
          <a:p>
            <a:pPr algn="ctr" indent="0" marL="0">
              <a:buNone/>
            </a:pPr>
            <a:r>
              <a:rPr lang="en-US" sz="1000" b="1" i="1" dirty="0">
                <a:solidFill>
                  <a:srgbClr val="E08700"/>
                </a:solidFill>
                <a:latin typeface="Calibri" pitchFamily="34" charset="0"/>
                <a:ea typeface="Calibri" pitchFamily="34" charset="-122"/>
                <a:cs typeface="Calibri" pitchFamily="34" charset="-120"/>
              </a:rPr>
              <a:t>if the answer is not good enough, go round again</a:t>
            </a:r>
            <a:endParaRPr lang="en-US" sz="1000" dirty="0"/>
          </a:p>
        </p:txBody>
      </p:sp>
      <p:sp>
        <p:nvSpPr>
          <p:cNvPr id="35" name="Shape 28"/>
          <p:cNvSpPr/>
          <p:nvPr/>
        </p:nvSpPr>
        <p:spPr>
          <a:xfrm>
            <a:off x="566928" y="5029200"/>
            <a:ext cx="11057839" cy="822960"/>
          </a:xfrm>
          <a:prstGeom prst="roundRect">
            <a:avLst>
              <a:gd name="adj" fmla="val 10000"/>
            </a:avLst>
          </a:prstGeom>
          <a:solidFill>
            <a:srgbClr val="FFF4E0"/>
          </a:solidFill>
          <a:ln w="12700">
            <a:solidFill>
              <a:srgbClr val="F3DCB0"/>
            </a:solidFill>
            <a:prstDash val="solid"/>
          </a:ln>
        </p:spPr>
      </p:sp>
      <p:sp>
        <p:nvSpPr>
          <p:cNvPr id="36" name="Shape 29"/>
          <p:cNvSpPr/>
          <p:nvPr/>
        </p:nvSpPr>
        <p:spPr>
          <a:xfrm>
            <a:off x="841248" y="5248656"/>
            <a:ext cx="384048" cy="384048"/>
          </a:xfrm>
          <a:prstGeom prst="ellipse">
            <a:avLst/>
          </a:prstGeom>
          <a:solidFill>
            <a:srgbClr val="F5A524"/>
          </a:solidFill>
          <a:ln w="12700">
            <a:solidFill>
              <a:srgbClr val="F5A524"/>
            </a:solidFill>
            <a:prstDash val="solid"/>
          </a:ln>
        </p:spPr>
      </p:sp>
      <p:pic>
        <p:nvPicPr>
          <p:cNvPr id="37" name="Image 5" descr="preencoded.png">    </p:cNvPr>
          <p:cNvPicPr>
            <a:picLocks noChangeAspect="1"/>
          </p:cNvPicPr>
          <p:nvPr/>
        </p:nvPicPr>
        <p:blipFill>
          <a:blip r:embed="rId6"/>
          <a:stretch>
            <a:fillRect/>
          </a:stretch>
        </p:blipFill>
        <p:spPr>
          <a:xfrm>
            <a:off x="937260" y="5344668"/>
            <a:ext cx="192024" cy="192024"/>
          </a:xfrm>
          <a:prstGeom prst="rect">
            <a:avLst/>
          </a:prstGeom>
        </p:spPr>
      </p:pic>
      <p:sp>
        <p:nvSpPr>
          <p:cNvPr id="38" name="Text 30"/>
          <p:cNvSpPr/>
          <p:nvPr/>
        </p:nvSpPr>
        <p:spPr>
          <a:xfrm>
            <a:off x="1371600" y="5084064"/>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Instead of searching once and hoping, it checks its own work and searches again. That is the entire difference — and it is why it costs more.</a:t>
            </a:r>
            <a:endParaRPr lang="en-US" sz="1050" dirty="0"/>
          </a:p>
        </p:txBody>
      </p:sp>
      <p:sp>
        <p:nvSpPr>
          <p:cNvPr id="39" name="Text 31"/>
          <p:cNvSpPr/>
          <p:nvPr/>
        </p:nvSpPr>
        <p:spPr>
          <a:xfrm>
            <a:off x="566928" y="5943600"/>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Cost note: this loop runs the retrieval and the model several times per question. Module 15 is where you find out whether it earned that.</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12 · AGENTIC RAG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Measured against a naive baseline, on the same questions</a:t>
            </a:r>
            <a:endParaRPr lang="en-US" sz="2800" dirty="0"/>
          </a:p>
        </p:txBody>
      </p:sp>
      <p:sp>
        <p:nvSpPr>
          <p:cNvPr id="4" name="Shape 2"/>
          <p:cNvSpPr/>
          <p:nvPr/>
        </p:nvSpPr>
        <p:spPr>
          <a:xfrm>
            <a:off x="566928" y="2407981"/>
            <a:ext cx="3527450" cy="2096902"/>
          </a:xfrm>
          <a:prstGeom prst="roundRect">
            <a:avLst>
              <a:gd name="adj" fmla="val 3925"/>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627437"/>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718877"/>
            <a:ext cx="182880" cy="182880"/>
          </a:xfrm>
          <a:prstGeom prst="rect">
            <a:avLst/>
          </a:prstGeom>
        </p:spPr>
      </p:pic>
      <p:sp>
        <p:nvSpPr>
          <p:cNvPr id="7" name="Text 4"/>
          <p:cNvSpPr/>
          <p:nvPr/>
        </p:nvSpPr>
        <p:spPr>
          <a:xfrm>
            <a:off x="1298448" y="2618293"/>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SETUP</a:t>
            </a:r>
            <a:endParaRPr lang="en-US" sz="850" dirty="0"/>
          </a:p>
        </p:txBody>
      </p:sp>
      <p:sp>
        <p:nvSpPr>
          <p:cNvPr id="8" name="Text 5"/>
          <p:cNvSpPr/>
          <p:nvPr/>
        </p:nvSpPr>
        <p:spPr>
          <a:xfrm>
            <a:off x="1298448" y="2837749"/>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Same five questions, two pipelines</a:t>
            </a:r>
            <a:endParaRPr lang="en-US" sz="1450" dirty="0"/>
          </a:p>
        </p:txBody>
      </p:sp>
      <p:sp>
        <p:nvSpPr>
          <p:cNvPr id="9" name="Text 6"/>
          <p:cNvSpPr/>
          <p:nvPr/>
        </p:nvSpPr>
        <p:spPr>
          <a:xfrm>
            <a:off x="1298448" y="3469051"/>
            <a:ext cx="2558186" cy="852952"/>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One retrieval pass versus the full loop, over an identical corpus. No cherry-picking, no different prompts.</a:t>
            </a:r>
            <a:endParaRPr lang="en-US" sz="1200" dirty="0"/>
          </a:p>
        </p:txBody>
      </p:sp>
      <p:sp>
        <p:nvSpPr>
          <p:cNvPr id="10" name="Shape 7"/>
          <p:cNvSpPr/>
          <p:nvPr/>
        </p:nvSpPr>
        <p:spPr>
          <a:xfrm>
            <a:off x="4332122" y="2407981"/>
            <a:ext cx="3527450" cy="2096902"/>
          </a:xfrm>
          <a:prstGeom prst="roundRect">
            <a:avLst>
              <a:gd name="adj" fmla="val 3925"/>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627437"/>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4661306" y="2718877"/>
            <a:ext cx="182880" cy="182880"/>
          </a:xfrm>
          <a:prstGeom prst="rect">
            <a:avLst/>
          </a:prstGeom>
        </p:spPr>
      </p:pic>
      <p:sp>
        <p:nvSpPr>
          <p:cNvPr id="13" name="Text 9"/>
          <p:cNvSpPr/>
          <p:nvPr/>
        </p:nvSpPr>
        <p:spPr>
          <a:xfrm>
            <a:off x="5063642" y="2618293"/>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TRAP</a:t>
            </a:r>
            <a:endParaRPr lang="en-US" sz="850" dirty="0"/>
          </a:p>
        </p:txBody>
      </p:sp>
      <p:sp>
        <p:nvSpPr>
          <p:cNvPr id="14" name="Text 10"/>
          <p:cNvSpPr/>
          <p:nvPr/>
        </p:nvSpPr>
        <p:spPr>
          <a:xfrm>
            <a:off x="5063642" y="2837749"/>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Two are unanswerable on purpose</a:t>
            </a:r>
            <a:endParaRPr lang="en-US" sz="1450" dirty="0"/>
          </a:p>
        </p:txBody>
      </p:sp>
      <p:sp>
        <p:nvSpPr>
          <p:cNvPr id="15" name="Text 11"/>
          <p:cNvSpPr/>
          <p:nvPr/>
        </p:nvSpPr>
        <p:spPr>
          <a:xfrm>
            <a:off x="5063642" y="3469051"/>
            <a:ext cx="2558186" cy="852952"/>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The corpus simply does not contain the answer. This is the only way to find out whether a system will admit that.</a:t>
            </a:r>
            <a:endParaRPr lang="en-US" sz="1200" dirty="0"/>
          </a:p>
        </p:txBody>
      </p:sp>
      <p:sp>
        <p:nvSpPr>
          <p:cNvPr id="16" name="Shape 12"/>
          <p:cNvSpPr/>
          <p:nvPr/>
        </p:nvSpPr>
        <p:spPr>
          <a:xfrm>
            <a:off x="8097317" y="2407981"/>
            <a:ext cx="3527450" cy="2096902"/>
          </a:xfrm>
          <a:prstGeom prst="roundRect">
            <a:avLst>
              <a:gd name="adj" fmla="val 3925"/>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627437"/>
            <a:ext cx="365760" cy="365760"/>
          </a:xfrm>
          <a:prstGeom prst="ellipse">
            <a:avLst/>
          </a:prstGeom>
          <a:solidFill>
            <a:srgbClr val="0E9F6E"/>
          </a:solidFill>
          <a:ln w="12700">
            <a:solidFill>
              <a:srgbClr val="0E9F6E"/>
            </a:solidFill>
            <a:prstDash val="solid"/>
          </a:ln>
        </p:spPr>
      </p:sp>
      <p:pic>
        <p:nvPicPr>
          <p:cNvPr id="18" name="Image 2" descr="preencoded.png">    </p:cNvPr>
          <p:cNvPicPr>
            <a:picLocks noChangeAspect="1"/>
          </p:cNvPicPr>
          <p:nvPr/>
        </p:nvPicPr>
        <p:blipFill>
          <a:blip r:embed="rId3"/>
          <a:stretch>
            <a:fillRect/>
          </a:stretch>
        </p:blipFill>
        <p:spPr>
          <a:xfrm>
            <a:off x="8426501" y="2718877"/>
            <a:ext cx="182880" cy="182880"/>
          </a:xfrm>
          <a:prstGeom prst="rect">
            <a:avLst/>
          </a:prstGeom>
        </p:spPr>
      </p:pic>
      <p:sp>
        <p:nvSpPr>
          <p:cNvPr id="19" name="Text 14"/>
          <p:cNvSpPr/>
          <p:nvPr/>
        </p:nvSpPr>
        <p:spPr>
          <a:xfrm>
            <a:off x="8828837" y="2618293"/>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RESULT THAT MATTERS</a:t>
            </a:r>
            <a:endParaRPr lang="en-US" sz="850" dirty="0"/>
          </a:p>
        </p:txBody>
      </p:sp>
      <p:sp>
        <p:nvSpPr>
          <p:cNvPr id="20" name="Text 15"/>
          <p:cNvSpPr/>
          <p:nvPr/>
        </p:nvSpPr>
        <p:spPr>
          <a:xfrm>
            <a:off x="8828837" y="2837749"/>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Not accuracy — honesty</a:t>
            </a:r>
            <a:endParaRPr lang="en-US" sz="1450" dirty="0"/>
          </a:p>
        </p:txBody>
      </p:sp>
      <p:sp>
        <p:nvSpPr>
          <p:cNvPr id="21" name="Text 16"/>
          <p:cNvSpPr/>
          <p:nvPr/>
        </p:nvSpPr>
        <p:spPr>
          <a:xfrm>
            <a:off x="8828837" y="3185404"/>
            <a:ext cx="2558186" cy="1136599"/>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The interesting number is not how many it got right. It is whether it said “I don't know” when that was the correct answer.</a:t>
            </a:r>
            <a:endParaRPr lang="en-US" sz="1200" dirty="0"/>
          </a:p>
        </p:txBody>
      </p:sp>
      <p:sp>
        <p:nvSpPr>
          <p:cNvPr id="22" name="Text 17"/>
          <p:cNvSpPr/>
          <p:nvPr/>
        </p:nvSpPr>
        <p:spPr>
          <a:xfrm>
            <a:off x="566928" y="5029200"/>
            <a:ext cx="11057839" cy="329184"/>
          </a:xfrm>
          <a:prstGeom prst="rect">
            <a:avLst/>
          </a:prstGeom>
          <a:noFill/>
          <a:ln/>
        </p:spPr>
        <p:txBody>
          <a:bodyPr wrap="square" lIns="0" tIns="0" rIns="0" bIns="0" rtlCol="0" anchor="ctr"/>
          <a:lstStyle/>
          <a:p>
            <a:pPr indent="0" marL="0">
              <a:buNone/>
            </a:pPr>
            <a:r>
              <a:rPr lang="en-US" sz="1350" i="1" dirty="0">
                <a:solidFill>
                  <a:srgbClr val="3B3760"/>
                </a:solidFill>
                <a:latin typeface="Calibri" pitchFamily="34" charset="0"/>
                <a:ea typeface="Calibri" pitchFamily="34" charset="-122"/>
                <a:cs typeface="Calibri" pitchFamily="34" charset="-120"/>
              </a:rPr>
              <a:t>An agent that confidently answers an unanswerable question is worse than one that answers nothing at all — because you cannot tell the two apart at a glance.</a:t>
            </a:r>
            <a:endParaRPr lang="en-US" sz="1350" dirty="0"/>
          </a:p>
        </p:txBody>
      </p:sp>
      <p:sp>
        <p:nvSpPr>
          <p:cNvPr id="23" name="Shape 18"/>
          <p:cNvSpPr/>
          <p:nvPr/>
        </p:nvSpPr>
        <p:spPr>
          <a:xfrm>
            <a:off x="566928" y="5468112"/>
            <a:ext cx="11057839" cy="822960"/>
          </a:xfrm>
          <a:prstGeom prst="roundRect">
            <a:avLst>
              <a:gd name="adj" fmla="val 10000"/>
            </a:avLst>
          </a:prstGeom>
          <a:solidFill>
            <a:srgbClr val="FFF4E0"/>
          </a:solidFill>
          <a:ln w="12700">
            <a:solidFill>
              <a:srgbClr val="F3DCB0"/>
            </a:solidFill>
            <a:prstDash val="solid"/>
          </a:ln>
        </p:spPr>
      </p:sp>
      <p:sp>
        <p:nvSpPr>
          <p:cNvPr id="24" name="Shape 19"/>
          <p:cNvSpPr/>
          <p:nvPr/>
        </p:nvSpPr>
        <p:spPr>
          <a:xfrm>
            <a:off x="841248" y="5687568"/>
            <a:ext cx="384048" cy="384048"/>
          </a:xfrm>
          <a:prstGeom prst="ellipse">
            <a:avLst/>
          </a:prstGeom>
          <a:solidFill>
            <a:srgbClr val="F5A524"/>
          </a:solidFill>
          <a:ln w="12700">
            <a:solidFill>
              <a:srgbClr val="F5A524"/>
            </a:solidFill>
            <a:prstDash val="solid"/>
          </a:ln>
        </p:spPr>
      </p:sp>
      <p:pic>
        <p:nvPicPr>
          <p:cNvPr id="25" name="Image 3" descr="preencoded.png">    </p:cNvPr>
          <p:cNvPicPr>
            <a:picLocks noChangeAspect="1"/>
          </p:cNvPicPr>
          <p:nvPr/>
        </p:nvPicPr>
        <p:blipFill>
          <a:blip r:embed="rId4"/>
          <a:stretch>
            <a:fillRect/>
          </a:stretch>
        </p:blipFill>
        <p:spPr>
          <a:xfrm>
            <a:off x="937260" y="5783580"/>
            <a:ext cx="192024" cy="192024"/>
          </a:xfrm>
          <a:prstGeom prst="rect">
            <a:avLst/>
          </a:prstGeom>
        </p:spPr>
      </p:pic>
      <p:sp>
        <p:nvSpPr>
          <p:cNvPr id="26" name="Text 20"/>
          <p:cNvSpPr/>
          <p:nvPr/>
        </p:nvSpPr>
        <p:spPr>
          <a:xfrm>
            <a:off x="1371600" y="5522976"/>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Test it on things it cannot know. How a system behaves when it has no answer tells you more than how it behaves when it does.</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12 · AGENTIC RAG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Every retrieval corpus should carry two things on purpose</a:t>
            </a:r>
            <a:endParaRPr lang="en-US" sz="2600" dirty="0"/>
          </a:p>
        </p:txBody>
      </p:sp>
      <p:sp>
        <p:nvSpPr>
          <p:cNvPr id="4" name="Shape 2"/>
          <p:cNvSpPr/>
          <p:nvPr/>
        </p:nvSpPr>
        <p:spPr>
          <a:xfrm>
            <a:off x="566928" y="2587386"/>
            <a:ext cx="5410048" cy="2195292"/>
          </a:xfrm>
          <a:prstGeom prst="roundRect">
            <a:avLst>
              <a:gd name="adj" fmla="val 3749"/>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806842"/>
            <a:ext cx="365760" cy="365760"/>
          </a:xfrm>
          <a:prstGeom prst="ellipse">
            <a:avLst/>
          </a:prstGeom>
          <a:solidFill>
            <a:srgbClr val="F5A524"/>
          </a:solidFill>
          <a:ln w="12700">
            <a:solidFill>
              <a:srgbClr val="F5A524"/>
            </a:solidFill>
            <a:prstDash val="solid"/>
          </a:ln>
        </p:spPr>
      </p:sp>
      <p:pic>
        <p:nvPicPr>
          <p:cNvPr id="6" name="Image 0" descr="preencoded.png">    </p:cNvPr>
          <p:cNvPicPr>
            <a:picLocks noChangeAspect="1"/>
          </p:cNvPicPr>
          <p:nvPr/>
        </p:nvPicPr>
        <p:blipFill>
          <a:blip r:embed="rId1"/>
          <a:stretch>
            <a:fillRect/>
          </a:stretch>
        </p:blipFill>
        <p:spPr>
          <a:xfrm>
            <a:off x="896112" y="2898282"/>
            <a:ext cx="182880" cy="182880"/>
          </a:xfrm>
          <a:prstGeom prst="rect">
            <a:avLst/>
          </a:prstGeom>
        </p:spPr>
      </p:pic>
      <p:sp>
        <p:nvSpPr>
          <p:cNvPr id="7" name="Text 4"/>
          <p:cNvSpPr/>
          <p:nvPr/>
        </p:nvSpPr>
        <p:spPr>
          <a:xfrm>
            <a:off x="1298448" y="2797698"/>
            <a:ext cx="4440784"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PLANT 1</a:t>
            </a:r>
            <a:endParaRPr lang="en-US" sz="850" dirty="0"/>
          </a:p>
        </p:txBody>
      </p:sp>
      <p:sp>
        <p:nvSpPr>
          <p:cNvPr id="8" name="Text 5"/>
          <p:cNvSpPr/>
          <p:nvPr/>
        </p:nvSpPr>
        <p:spPr>
          <a:xfrm>
            <a:off x="1298448" y="3017154"/>
            <a:ext cx="4440784" cy="686532"/>
          </a:xfrm>
          <a:prstGeom prst="rect">
            <a:avLst/>
          </a:prstGeom>
          <a:noFill/>
          <a:ln/>
        </p:spPr>
        <p:txBody>
          <a:bodyPr wrap="square" lIns="0" tIns="0" rIns="0" bIns="0" rtlCol="0" anchor="t"/>
          <a:lstStyle/>
          <a:p>
            <a:pPr indent="0" marL="0">
              <a:lnSpc>
                <a:spcPct val="105000"/>
              </a:lnSpc>
              <a:buNone/>
            </a:pPr>
            <a:r>
              <a:rPr lang="en-US" sz="1650" b="1" dirty="0">
                <a:solidFill>
                  <a:srgbClr val="141235"/>
                </a:solidFill>
                <a:latin typeface="Calibri" pitchFamily="34" charset="0"/>
                <a:ea typeface="Calibri" pitchFamily="34" charset="-122"/>
                <a:cs typeface="Calibri" pitchFamily="34" charset="-120"/>
              </a:rPr>
              <a:t>Questions with no answer in the corpus</a:t>
            </a:r>
            <a:endParaRPr lang="en-US" sz="1650" dirty="0"/>
          </a:p>
        </p:txBody>
      </p:sp>
      <p:sp>
        <p:nvSpPr>
          <p:cNvPr id="9" name="Text 6"/>
          <p:cNvSpPr/>
          <p:nvPr/>
        </p:nvSpPr>
        <p:spPr>
          <a:xfrm>
            <a:off x="1298448" y="3712830"/>
            <a:ext cx="4440784" cy="886968"/>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Kept permanently in your test set. The day a change makes the agent start answering them confidently is the day the change broke something — and no accuracy metric would have told you.</a:t>
            </a:r>
            <a:endParaRPr lang="en-US" sz="1250" dirty="0"/>
          </a:p>
        </p:txBody>
      </p:sp>
      <p:sp>
        <p:nvSpPr>
          <p:cNvPr id="10" name="Shape 7"/>
          <p:cNvSpPr/>
          <p:nvPr/>
        </p:nvSpPr>
        <p:spPr>
          <a:xfrm>
            <a:off x="6214720" y="2587386"/>
            <a:ext cx="5410048" cy="2195292"/>
          </a:xfrm>
          <a:prstGeom prst="roundRect">
            <a:avLst>
              <a:gd name="adj" fmla="val 3749"/>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6452464" y="2806842"/>
            <a:ext cx="365760" cy="365760"/>
          </a:xfrm>
          <a:prstGeom prst="ellipse">
            <a:avLst/>
          </a:prstGeom>
          <a:solidFill>
            <a:srgbClr val="D93A3F"/>
          </a:solidFill>
          <a:ln w="12700">
            <a:solidFill>
              <a:srgbClr val="D93A3F"/>
            </a:solidFill>
            <a:prstDash val="solid"/>
          </a:ln>
        </p:spPr>
      </p:sp>
      <p:pic>
        <p:nvPicPr>
          <p:cNvPr id="12" name="Image 1" descr="preencoded.png">    </p:cNvPr>
          <p:cNvPicPr>
            <a:picLocks noChangeAspect="1"/>
          </p:cNvPicPr>
          <p:nvPr/>
        </p:nvPicPr>
        <p:blipFill>
          <a:blip r:embed="rId2"/>
          <a:stretch>
            <a:fillRect/>
          </a:stretch>
        </p:blipFill>
        <p:spPr>
          <a:xfrm>
            <a:off x="6543904" y="2898282"/>
            <a:ext cx="182880" cy="182880"/>
          </a:xfrm>
          <a:prstGeom prst="rect">
            <a:avLst/>
          </a:prstGeom>
        </p:spPr>
      </p:pic>
      <p:sp>
        <p:nvSpPr>
          <p:cNvPr id="13" name="Text 9"/>
          <p:cNvSpPr/>
          <p:nvPr/>
        </p:nvSpPr>
        <p:spPr>
          <a:xfrm>
            <a:off x="6946240" y="2797698"/>
            <a:ext cx="4440784"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PLANT 2</a:t>
            </a:r>
            <a:endParaRPr lang="en-US" sz="850" dirty="0"/>
          </a:p>
        </p:txBody>
      </p:sp>
      <p:sp>
        <p:nvSpPr>
          <p:cNvPr id="14" name="Text 10"/>
          <p:cNvSpPr/>
          <p:nvPr/>
        </p:nvSpPr>
        <p:spPr>
          <a:xfrm>
            <a:off x="6946240" y="3017154"/>
            <a:ext cx="4440784" cy="686532"/>
          </a:xfrm>
          <a:prstGeom prst="rect">
            <a:avLst/>
          </a:prstGeom>
          <a:noFill/>
          <a:ln/>
        </p:spPr>
        <p:txBody>
          <a:bodyPr wrap="square" lIns="0" tIns="0" rIns="0" bIns="0" rtlCol="0" anchor="t"/>
          <a:lstStyle/>
          <a:p>
            <a:pPr indent="0" marL="0">
              <a:lnSpc>
                <a:spcPct val="105000"/>
              </a:lnSpc>
              <a:buNone/>
            </a:pPr>
            <a:r>
              <a:rPr lang="en-US" sz="1650" b="1" dirty="0">
                <a:solidFill>
                  <a:srgbClr val="141235"/>
                </a:solidFill>
                <a:latin typeface="Calibri" pitchFamily="34" charset="0"/>
                <a:ea typeface="Calibri" pitchFamily="34" charset="-122"/>
                <a:cs typeface="Calibri" pitchFamily="34" charset="-120"/>
              </a:rPr>
              <a:t>One document with a hidden instruction</a:t>
            </a:r>
            <a:endParaRPr lang="en-US" sz="1650" dirty="0"/>
          </a:p>
        </p:txBody>
      </p:sp>
      <p:sp>
        <p:nvSpPr>
          <p:cNvPr id="15" name="Text 11"/>
          <p:cNvSpPr/>
          <p:nvPr/>
        </p:nvSpPr>
        <p:spPr>
          <a:xfrm>
            <a:off x="6946240" y="3712830"/>
            <a:ext cx="4440784" cy="886968"/>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Sitting quietly in the corpus, doing nothing. Tomorrow, in module 14, you will watch your own agent read it and obey it — and then you will fix that.</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sp>
      <p:pic>
        <p:nvPicPr>
          <p:cNvPr id="18" name="Image 2" descr="preencoded.png">    </p:cNvPr>
          <p:cNvPicPr>
            <a:picLocks noChangeAspect="1"/>
          </p:cNvPicPr>
          <p:nvPr/>
        </p:nvPicPr>
        <p:blipFill>
          <a:blip r:embed="rId3"/>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Build the test for the failure before you build the thing that fails. It is much harder to add honestly afterwards.</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13</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13</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Delegation</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Multiple agents, and the much harder question of when that is actually right.</a:t>
            </a:r>
            <a:endParaRPr lang="en-US" sz="1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The trap your team will fall into first</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Someone draws an org chart, gives each box a job title, and calls it an architecture. It is the most common multi-agent design, and it is a red flag.</a:t>
            </a:r>
            <a:endParaRPr lang="en-US" sz="1400" dirty="0"/>
          </a:p>
        </p:txBody>
      </p:sp>
      <p:sp>
        <p:nvSpPr>
          <p:cNvPr id="5" name="Shape 3"/>
          <p:cNvSpPr/>
          <p:nvPr/>
        </p:nvSpPr>
        <p:spPr>
          <a:xfrm>
            <a:off x="566928" y="1956816"/>
            <a:ext cx="5815584" cy="3054096"/>
          </a:xfrm>
          <a:prstGeom prst="roundRect">
            <a:avLst>
              <a:gd name="adj" fmla="val 2994"/>
            </a:avLst>
          </a:prstGeom>
          <a:solidFill>
            <a:srgbClr val="FDECEC"/>
          </a:solidFill>
          <a:ln w="12700">
            <a:solidFill>
              <a:srgbClr val="F1C9C9"/>
            </a:solidFill>
            <a:prstDash val="solid"/>
          </a:ln>
        </p:spPr>
      </p:sp>
      <p:sp>
        <p:nvSpPr>
          <p:cNvPr id="6" name="Text 4"/>
          <p:cNvSpPr/>
          <p:nvPr/>
        </p:nvSpPr>
        <p:spPr>
          <a:xfrm>
            <a:off x="841248" y="2103120"/>
            <a:ext cx="4937760" cy="237744"/>
          </a:xfrm>
          <a:prstGeom prst="rect">
            <a:avLst/>
          </a:prstGeom>
          <a:noFill/>
          <a:ln/>
        </p:spPr>
        <p:txBody>
          <a:bodyPr wrap="square" lIns="0" tIns="0" rIns="0" bIns="0" rtlCol="0" anchor="ctr"/>
          <a:lstStyle/>
          <a:p>
            <a:pPr indent="0" marL="0">
              <a:buNone/>
            </a:pPr>
            <a:r>
              <a:rPr lang="en-US" sz="900" b="1" spc="160" kern="0" dirty="0">
                <a:solidFill>
                  <a:srgbClr val="D93A3F"/>
                </a:solidFill>
                <a:latin typeface="Calibri" pitchFamily="34" charset="0"/>
                <a:ea typeface="Calibri" pitchFamily="34" charset="-122"/>
                <a:cs typeface="Calibri" pitchFamily="34" charset="-120"/>
              </a:rPr>
              <a:t>WHAT GETS DRAWN ON THE WHITEBOARD</a:t>
            </a:r>
            <a:endParaRPr lang="en-US" sz="900" dirty="0"/>
          </a:p>
        </p:txBody>
      </p:sp>
      <p:sp>
        <p:nvSpPr>
          <p:cNvPr id="7" name="Shape 5"/>
          <p:cNvSpPr/>
          <p:nvPr/>
        </p:nvSpPr>
        <p:spPr>
          <a:xfrm>
            <a:off x="2724912" y="2450592"/>
            <a:ext cx="1737360" cy="457200"/>
          </a:xfrm>
          <a:prstGeom prst="roundRect">
            <a:avLst>
              <a:gd name="adj" fmla="val 16000"/>
            </a:avLst>
          </a:prstGeom>
          <a:solidFill>
            <a:srgbClr val="FFFFFF"/>
          </a:solidFill>
          <a:ln w="19050">
            <a:solidFill>
              <a:srgbClr val="D93A3F"/>
            </a:solidFill>
            <a:prstDash val="solid"/>
          </a:ln>
        </p:spPr>
      </p:sp>
      <p:sp>
        <p:nvSpPr>
          <p:cNvPr id="8" name="Text 6"/>
          <p:cNvSpPr/>
          <p:nvPr/>
        </p:nvSpPr>
        <p:spPr>
          <a:xfrm>
            <a:off x="2724912" y="2450592"/>
            <a:ext cx="1737360" cy="457200"/>
          </a:xfrm>
          <a:prstGeom prst="rect">
            <a:avLst/>
          </a:prstGeom>
          <a:noFill/>
          <a:ln/>
        </p:spPr>
        <p:txBody>
          <a:bodyPr wrap="square" lIns="635" tIns="635" rIns="635" bIns="635" rtlCol="0" anchor="ctr"/>
          <a:lstStyle/>
          <a:p>
            <a:pPr algn="ctr" indent="0" marL="0">
              <a:lnSpc>
                <a:spcPct val="110000"/>
              </a:lnSpc>
              <a:buNone/>
            </a:pPr>
            <a:r>
              <a:rPr lang="en-US" sz="1000" b="1" dirty="0">
                <a:solidFill>
                  <a:srgbClr val="141235"/>
                </a:solidFill>
                <a:latin typeface="Calibri" pitchFamily="34" charset="0"/>
                <a:ea typeface="Calibri" pitchFamily="34" charset="-122"/>
                <a:cs typeface="Calibri" pitchFamily="34" charset="-120"/>
              </a:rPr>
              <a:t>Trading Manager Agent</a:t>
            </a:r>
            <a:endParaRPr lang="en-US" sz="1000" dirty="0"/>
          </a:p>
        </p:txBody>
      </p:sp>
      <p:sp>
        <p:nvSpPr>
          <p:cNvPr id="9" name="Shape 7"/>
          <p:cNvSpPr/>
          <p:nvPr/>
        </p:nvSpPr>
        <p:spPr>
          <a:xfrm>
            <a:off x="896112" y="3310128"/>
            <a:ext cx="1664208" cy="457200"/>
          </a:xfrm>
          <a:prstGeom prst="roundRect">
            <a:avLst>
              <a:gd name="adj" fmla="val 16000"/>
            </a:avLst>
          </a:prstGeom>
          <a:solidFill>
            <a:srgbClr val="FFFFFF"/>
          </a:solidFill>
          <a:ln w="19050">
            <a:solidFill>
              <a:srgbClr val="E3E4F2"/>
            </a:solidFill>
            <a:prstDash val="solid"/>
          </a:ln>
        </p:spPr>
      </p:sp>
      <p:sp>
        <p:nvSpPr>
          <p:cNvPr id="10" name="Text 8"/>
          <p:cNvSpPr/>
          <p:nvPr/>
        </p:nvSpPr>
        <p:spPr>
          <a:xfrm>
            <a:off x="896112" y="3310128"/>
            <a:ext cx="1664208" cy="457200"/>
          </a:xfrm>
          <a:prstGeom prst="rect">
            <a:avLst/>
          </a:prstGeom>
          <a:noFill/>
          <a:ln/>
        </p:spPr>
        <p:txBody>
          <a:bodyPr wrap="square" lIns="635" tIns="635" rIns="635" bIns="635" rtlCol="0" anchor="ctr"/>
          <a:lstStyle/>
          <a:p>
            <a:pPr algn="ctr" indent="0" marL="0">
              <a:lnSpc>
                <a:spcPct val="110000"/>
              </a:lnSpc>
              <a:buNone/>
            </a:pPr>
            <a:r>
              <a:rPr lang="en-US" sz="950" b="1" dirty="0">
                <a:solidFill>
                  <a:srgbClr val="141235"/>
                </a:solidFill>
                <a:latin typeface="Calibri" pitchFamily="34" charset="0"/>
                <a:ea typeface="Calibri" pitchFamily="34" charset="-122"/>
                <a:cs typeface="Calibri" pitchFamily="34" charset="-120"/>
              </a:rPr>
              <a:t>Market Research Agent</a:t>
            </a:r>
            <a:endParaRPr lang="en-US" sz="950" dirty="0"/>
          </a:p>
        </p:txBody>
      </p:sp>
      <p:sp>
        <p:nvSpPr>
          <p:cNvPr id="11" name="Shape 9"/>
          <p:cNvSpPr/>
          <p:nvPr/>
        </p:nvSpPr>
        <p:spPr>
          <a:xfrm>
            <a:off x="3593592" y="2944368"/>
            <a:ext cx="-1865376" cy="329184"/>
          </a:xfrm>
          <a:prstGeom prst="line">
            <a:avLst/>
          </a:prstGeom>
          <a:noFill/>
          <a:ln w="15240">
            <a:solidFill>
              <a:srgbClr val="E08A8A"/>
            </a:solidFill>
            <a:prstDash val="solid"/>
            <a:headEnd type="none"/>
            <a:tailEnd type="triangle"/>
          </a:ln>
        </p:spPr>
      </p:sp>
      <p:sp>
        <p:nvSpPr>
          <p:cNvPr id="12" name="Shape 10"/>
          <p:cNvSpPr/>
          <p:nvPr/>
        </p:nvSpPr>
        <p:spPr>
          <a:xfrm>
            <a:off x="2724912" y="3310128"/>
            <a:ext cx="1664208" cy="457200"/>
          </a:xfrm>
          <a:prstGeom prst="roundRect">
            <a:avLst>
              <a:gd name="adj" fmla="val 16000"/>
            </a:avLst>
          </a:prstGeom>
          <a:solidFill>
            <a:srgbClr val="FFFFFF"/>
          </a:solidFill>
          <a:ln w="19050">
            <a:solidFill>
              <a:srgbClr val="E3E4F2"/>
            </a:solidFill>
            <a:prstDash val="solid"/>
          </a:ln>
        </p:spPr>
      </p:sp>
      <p:sp>
        <p:nvSpPr>
          <p:cNvPr id="13" name="Text 11"/>
          <p:cNvSpPr/>
          <p:nvPr/>
        </p:nvSpPr>
        <p:spPr>
          <a:xfrm>
            <a:off x="2724912" y="3310128"/>
            <a:ext cx="1664208" cy="457200"/>
          </a:xfrm>
          <a:prstGeom prst="rect">
            <a:avLst/>
          </a:prstGeom>
          <a:noFill/>
          <a:ln/>
        </p:spPr>
        <p:txBody>
          <a:bodyPr wrap="square" lIns="635" tIns="635" rIns="635" bIns="635" rtlCol="0" anchor="ctr"/>
          <a:lstStyle/>
          <a:p>
            <a:pPr algn="ctr" indent="0" marL="0">
              <a:lnSpc>
                <a:spcPct val="110000"/>
              </a:lnSpc>
              <a:buNone/>
            </a:pPr>
            <a:r>
              <a:rPr lang="en-US" sz="950" b="1" dirty="0">
                <a:solidFill>
                  <a:srgbClr val="141235"/>
                </a:solidFill>
                <a:latin typeface="Calibri" pitchFamily="34" charset="0"/>
                <a:ea typeface="Calibri" pitchFamily="34" charset="-122"/>
                <a:cs typeface="Calibri" pitchFamily="34" charset="-120"/>
              </a:rPr>
              <a:t>Trader Agent</a:t>
            </a:r>
            <a:endParaRPr lang="en-US" sz="950" dirty="0"/>
          </a:p>
        </p:txBody>
      </p:sp>
      <p:sp>
        <p:nvSpPr>
          <p:cNvPr id="14" name="Shape 12"/>
          <p:cNvSpPr/>
          <p:nvPr/>
        </p:nvSpPr>
        <p:spPr>
          <a:xfrm>
            <a:off x="3593592" y="2944368"/>
            <a:ext cx="-36576" cy="329184"/>
          </a:xfrm>
          <a:prstGeom prst="line">
            <a:avLst/>
          </a:prstGeom>
          <a:noFill/>
          <a:ln w="15240">
            <a:solidFill>
              <a:srgbClr val="E08A8A"/>
            </a:solidFill>
            <a:prstDash val="solid"/>
            <a:headEnd type="none"/>
            <a:tailEnd type="triangle"/>
          </a:ln>
        </p:spPr>
      </p:sp>
      <p:sp>
        <p:nvSpPr>
          <p:cNvPr id="15" name="Shape 13"/>
          <p:cNvSpPr/>
          <p:nvPr/>
        </p:nvSpPr>
        <p:spPr>
          <a:xfrm>
            <a:off x="4553712" y="3310128"/>
            <a:ext cx="1664208" cy="457200"/>
          </a:xfrm>
          <a:prstGeom prst="roundRect">
            <a:avLst>
              <a:gd name="adj" fmla="val 16000"/>
            </a:avLst>
          </a:prstGeom>
          <a:solidFill>
            <a:srgbClr val="FFFFFF"/>
          </a:solidFill>
          <a:ln w="19050">
            <a:solidFill>
              <a:srgbClr val="E3E4F2"/>
            </a:solidFill>
            <a:prstDash val="solid"/>
          </a:ln>
        </p:spPr>
      </p:sp>
      <p:sp>
        <p:nvSpPr>
          <p:cNvPr id="16" name="Text 14"/>
          <p:cNvSpPr/>
          <p:nvPr/>
        </p:nvSpPr>
        <p:spPr>
          <a:xfrm>
            <a:off x="4553712" y="3310128"/>
            <a:ext cx="1664208" cy="457200"/>
          </a:xfrm>
          <a:prstGeom prst="rect">
            <a:avLst/>
          </a:prstGeom>
          <a:noFill/>
          <a:ln/>
        </p:spPr>
        <p:txBody>
          <a:bodyPr wrap="square" lIns="635" tIns="635" rIns="635" bIns="635" rtlCol="0" anchor="ctr"/>
          <a:lstStyle/>
          <a:p>
            <a:pPr algn="ctr" indent="0" marL="0">
              <a:lnSpc>
                <a:spcPct val="110000"/>
              </a:lnSpc>
              <a:buNone/>
            </a:pPr>
            <a:r>
              <a:rPr lang="en-US" sz="950" b="1" dirty="0">
                <a:solidFill>
                  <a:srgbClr val="141235"/>
                </a:solidFill>
                <a:latin typeface="Calibri" pitchFamily="34" charset="0"/>
                <a:ea typeface="Calibri" pitchFamily="34" charset="-122"/>
                <a:cs typeface="Calibri" pitchFamily="34" charset="-120"/>
              </a:rPr>
              <a:t>Risk Manager Agent</a:t>
            </a:r>
            <a:endParaRPr lang="en-US" sz="950" dirty="0"/>
          </a:p>
        </p:txBody>
      </p:sp>
      <p:sp>
        <p:nvSpPr>
          <p:cNvPr id="17" name="Shape 15"/>
          <p:cNvSpPr/>
          <p:nvPr/>
        </p:nvSpPr>
        <p:spPr>
          <a:xfrm>
            <a:off x="3593592" y="2944368"/>
            <a:ext cx="1792224" cy="329184"/>
          </a:xfrm>
          <a:prstGeom prst="line">
            <a:avLst/>
          </a:prstGeom>
          <a:noFill/>
          <a:ln w="15240">
            <a:solidFill>
              <a:srgbClr val="E08A8A"/>
            </a:solidFill>
            <a:prstDash val="solid"/>
            <a:headEnd type="none"/>
            <a:tailEnd type="triangle"/>
          </a:ln>
        </p:spPr>
      </p:sp>
      <p:sp>
        <p:nvSpPr>
          <p:cNvPr id="18" name="Text 16"/>
          <p:cNvSpPr/>
          <p:nvPr/>
        </p:nvSpPr>
        <p:spPr>
          <a:xfrm>
            <a:off x="896112" y="3968496"/>
            <a:ext cx="5212080" cy="457200"/>
          </a:xfrm>
          <a:prstGeom prst="rect">
            <a:avLst/>
          </a:prstGeom>
          <a:noFill/>
          <a:ln/>
        </p:spPr>
        <p:txBody>
          <a:bodyPr wrap="square" lIns="0" tIns="0" rIns="0" bIns="0" rtlCol="0" anchor="t"/>
          <a:lstStyle/>
          <a:p>
            <a:pPr indent="0" marL="0">
              <a:lnSpc>
                <a:spcPct val="110000"/>
              </a:lnSpc>
              <a:buNone/>
            </a:pPr>
            <a:r>
              <a:rPr lang="en-US" sz="1150" i="1" dirty="0">
                <a:solidFill>
                  <a:srgbClr val="D93A3F"/>
                </a:solidFill>
                <a:latin typeface="Calibri" pitchFamily="34" charset="0"/>
                <a:ea typeface="Calibri" pitchFamily="34" charset="-122"/>
                <a:cs typeface="Calibri" pitchFamily="34" charset="-120"/>
              </a:rPr>
              <a:t>Each box is a human job title. None of them is a capability, a permission boundary, or a different model.</a:t>
            </a:r>
            <a:endParaRPr lang="en-US" sz="1150" dirty="0"/>
          </a:p>
        </p:txBody>
      </p:sp>
      <p:sp>
        <p:nvSpPr>
          <p:cNvPr id="19" name="Text 17"/>
          <p:cNvSpPr/>
          <p:nvPr/>
        </p:nvSpPr>
        <p:spPr>
          <a:xfrm>
            <a:off x="896112" y="4443984"/>
            <a:ext cx="5212080" cy="457200"/>
          </a:xfrm>
          <a:prstGeom prst="rect">
            <a:avLst/>
          </a:prstGeom>
          <a:noFill/>
          <a:ln/>
        </p:spPr>
        <p:txBody>
          <a:bodyPr wrap="square" lIns="0" tIns="0" rIns="0" bIns="0" rtlCol="0" anchor="t"/>
          <a:lstStyle/>
          <a:p>
            <a:pPr indent="0" marL="0">
              <a:lnSpc>
                <a:spcPct val="110000"/>
              </a:lnSpc>
              <a:buNone/>
            </a:pPr>
            <a:r>
              <a:rPr lang="en-US" sz="1150" dirty="0">
                <a:solidFill>
                  <a:srgbClr val="3B3760"/>
                </a:solidFill>
                <a:latin typeface="Calibri" pitchFamily="34" charset="0"/>
                <a:ea typeface="Calibri" pitchFamily="34" charset="-122"/>
                <a:cs typeface="Calibri" pitchFamily="34" charset="-120"/>
              </a:rPr>
              <a:t>You have now bought a distributed system, four times the token cost, and a debugging problem — in exchange for a metaphor.</a:t>
            </a:r>
            <a:endParaRPr lang="en-US" sz="1150" dirty="0"/>
          </a:p>
        </p:txBody>
      </p:sp>
      <p:sp>
        <p:nvSpPr>
          <p:cNvPr id="20" name="Text 18"/>
          <p:cNvSpPr/>
          <p:nvPr/>
        </p:nvSpPr>
        <p:spPr>
          <a:xfrm>
            <a:off x="6876288" y="2011680"/>
            <a:ext cx="4547311" cy="237744"/>
          </a:xfrm>
          <a:prstGeom prst="rect">
            <a:avLst/>
          </a:prstGeom>
          <a:noFill/>
          <a:ln/>
        </p:spPr>
        <p:txBody>
          <a:bodyPr wrap="square" lIns="0" tIns="0" rIns="0" bIns="0" rtlCol="0" anchor="ctr"/>
          <a:lstStyle/>
          <a:p>
            <a:pPr indent="0" marL="0">
              <a:buNone/>
            </a:pPr>
            <a:r>
              <a:rPr lang="en-US" sz="900" b="1" spc="160" kern="0" dirty="0">
                <a:solidFill>
                  <a:srgbClr val="9B98B4"/>
                </a:solidFill>
                <a:latin typeface="Calibri" pitchFamily="34" charset="0"/>
                <a:ea typeface="Calibri" pitchFamily="34" charset="-122"/>
                <a:cs typeface="Calibri" pitchFamily="34" charset="-120"/>
              </a:rPr>
              <a:t>THE DISCIPLINE THAT REPLACES IT</a:t>
            </a:r>
            <a:endParaRPr lang="en-US" sz="900" dirty="0"/>
          </a:p>
        </p:txBody>
      </p:sp>
      <p:sp>
        <p:nvSpPr>
          <p:cNvPr id="21" name="Shape 19"/>
          <p:cNvSpPr/>
          <p:nvPr/>
        </p:nvSpPr>
        <p:spPr>
          <a:xfrm>
            <a:off x="6620256" y="2286000"/>
            <a:ext cx="5004511" cy="987552"/>
          </a:xfrm>
          <a:prstGeom prst="roundRect">
            <a:avLst>
              <a:gd name="adj" fmla="val 833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2" name="Shape 20"/>
          <p:cNvSpPr/>
          <p:nvPr/>
        </p:nvSpPr>
        <p:spPr>
          <a:xfrm>
            <a:off x="6858000" y="2505456"/>
            <a:ext cx="365760" cy="365760"/>
          </a:xfrm>
          <a:prstGeom prst="ellipse">
            <a:avLst/>
          </a:prstGeom>
          <a:solidFill>
            <a:srgbClr val="5B4BE8"/>
          </a:solidFill>
          <a:ln w="12700">
            <a:solidFill>
              <a:srgbClr val="5B4BE8"/>
            </a:solidFill>
            <a:prstDash val="solid"/>
          </a:ln>
        </p:spPr>
      </p:sp>
      <p:pic>
        <p:nvPicPr>
          <p:cNvPr id="23" name="Image 0" descr="preencoded.png">    </p:cNvPr>
          <p:cNvPicPr>
            <a:picLocks noChangeAspect="1"/>
          </p:cNvPicPr>
          <p:nvPr/>
        </p:nvPicPr>
        <p:blipFill>
          <a:blip r:embed="rId1"/>
          <a:stretch>
            <a:fillRect/>
          </a:stretch>
        </p:blipFill>
        <p:spPr>
          <a:xfrm>
            <a:off x="6949440" y="2596896"/>
            <a:ext cx="182880" cy="182880"/>
          </a:xfrm>
          <a:prstGeom prst="rect">
            <a:avLst/>
          </a:prstGeom>
        </p:spPr>
      </p:pic>
      <p:sp>
        <p:nvSpPr>
          <p:cNvPr id="24" name="Text 21"/>
          <p:cNvSpPr/>
          <p:nvPr/>
        </p:nvSpPr>
        <p:spPr>
          <a:xfrm>
            <a:off x="7351776" y="2523744"/>
            <a:ext cx="4035247" cy="306324"/>
          </a:xfrm>
          <a:prstGeom prst="rect">
            <a:avLst/>
          </a:prstGeom>
          <a:noFill/>
          <a:ln/>
        </p:spPr>
        <p:txBody>
          <a:bodyPr wrap="square" lIns="0" tIns="0" rIns="0" bIns="0" rtlCol="0" anchor="t"/>
          <a:lstStyle/>
          <a:p>
            <a:pPr indent="0" marL="0">
              <a:lnSpc>
                <a:spcPct val="105000"/>
              </a:lnSpc>
              <a:buNone/>
            </a:pPr>
            <a:r>
              <a:rPr lang="en-US" sz="1250" b="1" dirty="0">
                <a:solidFill>
                  <a:srgbClr val="141235"/>
                </a:solidFill>
                <a:latin typeface="Calibri" pitchFamily="34" charset="0"/>
                <a:ea typeface="Calibri" pitchFamily="34" charset="-122"/>
                <a:cs typeface="Calibri" pitchFamily="34" charset="-120"/>
              </a:rPr>
              <a:t>1.  Start simple</a:t>
            </a:r>
            <a:endParaRPr lang="en-US" sz="1250" dirty="0"/>
          </a:p>
        </p:txBody>
      </p:sp>
      <p:sp>
        <p:nvSpPr>
          <p:cNvPr id="25" name="Text 22"/>
          <p:cNvSpPr/>
          <p:nvPr/>
        </p:nvSpPr>
        <p:spPr>
          <a:xfrm>
            <a:off x="7351776" y="2839212"/>
            <a:ext cx="4035247" cy="251460"/>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One agent, its tools, and one number you can measure.</a:t>
            </a:r>
            <a:endParaRPr lang="en-US" sz="1050" dirty="0"/>
          </a:p>
        </p:txBody>
      </p:sp>
      <p:sp>
        <p:nvSpPr>
          <p:cNvPr id="26" name="Shape 23"/>
          <p:cNvSpPr/>
          <p:nvPr/>
        </p:nvSpPr>
        <p:spPr>
          <a:xfrm>
            <a:off x="6620256" y="3383280"/>
            <a:ext cx="5004511" cy="987552"/>
          </a:xfrm>
          <a:prstGeom prst="roundRect">
            <a:avLst>
              <a:gd name="adj" fmla="val 833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7" name="Shape 24"/>
          <p:cNvSpPr/>
          <p:nvPr/>
        </p:nvSpPr>
        <p:spPr>
          <a:xfrm>
            <a:off x="6858000" y="3602736"/>
            <a:ext cx="365760" cy="365760"/>
          </a:xfrm>
          <a:prstGeom prst="ellipse">
            <a:avLst/>
          </a:prstGeom>
          <a:solidFill>
            <a:srgbClr val="5B4BE8"/>
          </a:solidFill>
          <a:ln w="12700">
            <a:solidFill>
              <a:srgbClr val="5B4BE8"/>
            </a:solidFill>
            <a:prstDash val="solid"/>
          </a:ln>
        </p:spPr>
      </p:sp>
      <p:pic>
        <p:nvPicPr>
          <p:cNvPr id="28" name="Image 1" descr="preencoded.png">    </p:cNvPr>
          <p:cNvPicPr>
            <a:picLocks noChangeAspect="1"/>
          </p:cNvPicPr>
          <p:nvPr/>
        </p:nvPicPr>
        <p:blipFill>
          <a:blip r:embed="rId2"/>
          <a:stretch>
            <a:fillRect/>
          </a:stretch>
        </p:blipFill>
        <p:spPr>
          <a:xfrm>
            <a:off x="6949440" y="3694176"/>
            <a:ext cx="182880" cy="182880"/>
          </a:xfrm>
          <a:prstGeom prst="rect">
            <a:avLst/>
          </a:prstGeom>
        </p:spPr>
      </p:pic>
      <p:sp>
        <p:nvSpPr>
          <p:cNvPr id="29" name="Text 25"/>
          <p:cNvSpPr/>
          <p:nvPr/>
        </p:nvSpPr>
        <p:spPr>
          <a:xfrm>
            <a:off x="7351776" y="3621024"/>
            <a:ext cx="4035247" cy="306324"/>
          </a:xfrm>
          <a:prstGeom prst="rect">
            <a:avLst/>
          </a:prstGeom>
          <a:noFill/>
          <a:ln/>
        </p:spPr>
        <p:txBody>
          <a:bodyPr wrap="square" lIns="0" tIns="0" rIns="0" bIns="0" rtlCol="0" anchor="t"/>
          <a:lstStyle/>
          <a:p>
            <a:pPr indent="0" marL="0">
              <a:lnSpc>
                <a:spcPct val="105000"/>
              </a:lnSpc>
              <a:buNone/>
            </a:pPr>
            <a:r>
              <a:rPr lang="en-US" sz="1250" b="1" dirty="0">
                <a:solidFill>
                  <a:srgbClr val="141235"/>
                </a:solidFill>
                <a:latin typeface="Calibri" pitchFamily="34" charset="0"/>
                <a:ea typeface="Calibri" pitchFamily="34" charset="-122"/>
                <a:cs typeface="Calibri" pitchFamily="34" charset="-120"/>
              </a:rPr>
              <a:t>2.  Measure against the business objective</a:t>
            </a:r>
            <a:endParaRPr lang="en-US" sz="1250" dirty="0"/>
          </a:p>
        </p:txBody>
      </p:sp>
      <p:sp>
        <p:nvSpPr>
          <p:cNvPr id="30" name="Text 26"/>
          <p:cNvSpPr/>
          <p:nvPr/>
        </p:nvSpPr>
        <p:spPr>
          <a:xfrm>
            <a:off x="7351776" y="3936492"/>
            <a:ext cx="4035247" cy="251460"/>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Not how tidy the diagram looks on a slide.</a:t>
            </a:r>
            <a:endParaRPr lang="en-US" sz="1050" dirty="0"/>
          </a:p>
        </p:txBody>
      </p:sp>
      <p:sp>
        <p:nvSpPr>
          <p:cNvPr id="31" name="Shape 27"/>
          <p:cNvSpPr/>
          <p:nvPr/>
        </p:nvSpPr>
        <p:spPr>
          <a:xfrm>
            <a:off x="6620256" y="4480560"/>
            <a:ext cx="5004511" cy="1042416"/>
          </a:xfrm>
          <a:prstGeom prst="roundRect">
            <a:avLst>
              <a:gd name="adj" fmla="val 7895"/>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32" name="Shape 28"/>
          <p:cNvSpPr/>
          <p:nvPr/>
        </p:nvSpPr>
        <p:spPr>
          <a:xfrm>
            <a:off x="6858000" y="4700016"/>
            <a:ext cx="365760" cy="365760"/>
          </a:xfrm>
          <a:prstGeom prst="ellipse">
            <a:avLst/>
          </a:prstGeom>
          <a:solidFill>
            <a:srgbClr val="0E9F6E"/>
          </a:solidFill>
          <a:ln w="12700">
            <a:solidFill>
              <a:srgbClr val="0E9F6E"/>
            </a:solidFill>
            <a:prstDash val="solid"/>
          </a:ln>
        </p:spPr>
      </p:sp>
      <p:pic>
        <p:nvPicPr>
          <p:cNvPr id="33" name="Image 2" descr="preencoded.png">    </p:cNvPr>
          <p:cNvPicPr>
            <a:picLocks noChangeAspect="1"/>
          </p:cNvPicPr>
          <p:nvPr/>
        </p:nvPicPr>
        <p:blipFill>
          <a:blip r:embed="rId3"/>
          <a:stretch>
            <a:fillRect/>
          </a:stretch>
        </p:blipFill>
        <p:spPr>
          <a:xfrm>
            <a:off x="6949440" y="4791456"/>
            <a:ext cx="182880" cy="182880"/>
          </a:xfrm>
          <a:prstGeom prst="rect">
            <a:avLst/>
          </a:prstGeom>
        </p:spPr>
      </p:pic>
      <p:sp>
        <p:nvSpPr>
          <p:cNvPr id="34" name="Text 29"/>
          <p:cNvSpPr/>
          <p:nvPr/>
        </p:nvSpPr>
        <p:spPr>
          <a:xfrm>
            <a:off x="7351776" y="4718304"/>
            <a:ext cx="4035247" cy="557784"/>
          </a:xfrm>
          <a:prstGeom prst="rect">
            <a:avLst/>
          </a:prstGeom>
          <a:noFill/>
          <a:ln/>
        </p:spPr>
        <p:txBody>
          <a:bodyPr wrap="square" lIns="0" tIns="0" rIns="0" bIns="0" rtlCol="0" anchor="t"/>
          <a:lstStyle/>
          <a:p>
            <a:pPr indent="0" marL="0">
              <a:lnSpc>
                <a:spcPct val="105000"/>
              </a:lnSpc>
              <a:buNone/>
            </a:pPr>
            <a:r>
              <a:rPr lang="en-US" sz="1250" b="1" dirty="0">
                <a:solidFill>
                  <a:srgbClr val="141235"/>
                </a:solidFill>
                <a:latin typeface="Calibri" pitchFamily="34" charset="0"/>
                <a:ea typeface="Calibri" pitchFamily="34" charset="-122"/>
                <a:cs typeface="Calibri" pitchFamily="34" charset="-120"/>
              </a:rPr>
              <a:t>3.  Add an agent only if that number improved</a:t>
            </a:r>
            <a:endParaRPr lang="en-US" sz="1250" dirty="0"/>
          </a:p>
        </p:txBody>
      </p:sp>
      <p:sp>
        <p:nvSpPr>
          <p:cNvPr id="35" name="Text 30"/>
          <p:cNvSpPr/>
          <p:nvPr/>
        </p:nvSpPr>
        <p:spPr>
          <a:xfrm>
            <a:off x="7351776" y="5285232"/>
            <a:ext cx="4035247" cy="54864"/>
          </a:xfrm>
          <a:prstGeom prst="rect">
            <a:avLst/>
          </a:prstGeom>
          <a:noFill/>
          <a:ln/>
        </p:spPr>
        <p:txBody>
          <a:bodyPr wrap="square" lIns="0" tIns="0" rIns="0" bIns="0" rtlCol="0" anchor="t"/>
          <a:lstStyle/>
          <a:p>
            <a:pPr indent="0" marL="0">
              <a:lnSpc>
                <a:spcPct val="113000"/>
              </a:lnSpc>
              <a:buNone/>
            </a:pPr>
            <a:r>
              <a:rPr lang="en-US" sz="1050" dirty="0">
                <a:solidFill>
                  <a:srgbClr val="6E6B8A"/>
                </a:solidFill>
                <a:latin typeface="Calibri" pitchFamily="34" charset="0"/>
                <a:ea typeface="Calibri" pitchFamily="34" charset="-122"/>
                <a:cs typeface="Calibri" pitchFamily="34" charset="-120"/>
              </a:rPr>
              <a:t>For tools, models, permissions or scale. Not for job titles.</a:t>
            </a:r>
            <a:endParaRPr lang="en-US" sz="1050" dirty="0"/>
          </a:p>
        </p:txBody>
      </p:sp>
      <p:sp>
        <p:nvSpPr>
          <p:cNvPr id="36" name="Shape 31"/>
          <p:cNvSpPr/>
          <p:nvPr/>
        </p:nvSpPr>
        <p:spPr>
          <a:xfrm>
            <a:off x="566928" y="5541264"/>
            <a:ext cx="11057839" cy="731520"/>
          </a:xfrm>
          <a:prstGeom prst="roundRect">
            <a:avLst>
              <a:gd name="adj" fmla="val 11250"/>
            </a:avLst>
          </a:prstGeom>
          <a:solidFill>
            <a:srgbClr val="FFF4E0"/>
          </a:solidFill>
          <a:ln w="12700">
            <a:solidFill>
              <a:srgbClr val="F3DCB0"/>
            </a:solidFill>
            <a:prstDash val="solid"/>
          </a:ln>
        </p:spPr>
      </p:sp>
      <p:sp>
        <p:nvSpPr>
          <p:cNvPr id="37" name="Shape 32"/>
          <p:cNvSpPr/>
          <p:nvPr/>
        </p:nvSpPr>
        <p:spPr>
          <a:xfrm>
            <a:off x="841248" y="5715000"/>
            <a:ext cx="384048" cy="384048"/>
          </a:xfrm>
          <a:prstGeom prst="ellipse">
            <a:avLst/>
          </a:prstGeom>
          <a:solidFill>
            <a:srgbClr val="F5A524"/>
          </a:solidFill>
          <a:ln w="12700">
            <a:solidFill>
              <a:srgbClr val="F5A524"/>
            </a:solidFill>
            <a:prstDash val="solid"/>
          </a:ln>
        </p:spPr>
      </p:sp>
      <p:pic>
        <p:nvPicPr>
          <p:cNvPr id="38" name="Image 3" descr="preencoded.png">    </p:cNvPr>
          <p:cNvPicPr>
            <a:picLocks noChangeAspect="1"/>
          </p:cNvPicPr>
          <p:nvPr/>
        </p:nvPicPr>
        <p:blipFill>
          <a:blip r:embed="rId4"/>
          <a:stretch>
            <a:fillRect/>
          </a:stretch>
        </p:blipFill>
        <p:spPr>
          <a:xfrm>
            <a:off x="937260" y="5811012"/>
            <a:ext cx="192024" cy="192024"/>
          </a:xfrm>
          <a:prstGeom prst="rect">
            <a:avLst/>
          </a:prstGeom>
        </p:spPr>
      </p:pic>
      <p:sp>
        <p:nvSpPr>
          <p:cNvPr id="39" name="Text 33"/>
          <p:cNvSpPr/>
          <p:nvPr/>
        </p:nvSpPr>
        <p:spPr>
          <a:xfrm>
            <a:off x="1371600" y="5596128"/>
            <a:ext cx="9960559" cy="62179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Agents are not employees. Giving one a job title tells you nothing about what it can reach, what it may change, or what it costs.</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Five ways to split the job</a:t>
            </a:r>
            <a:endParaRPr lang="en-US" sz="3000" dirty="0"/>
          </a:p>
        </p:txBody>
      </p:sp>
      <p:sp>
        <p:nvSpPr>
          <p:cNvPr id="4" name="Shape 2"/>
          <p:cNvSpPr/>
          <p:nvPr/>
        </p:nvSpPr>
        <p:spPr>
          <a:xfrm>
            <a:off x="566928" y="2120768"/>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340224"/>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431664"/>
            <a:ext cx="182880" cy="182880"/>
          </a:xfrm>
          <a:prstGeom prst="rect">
            <a:avLst/>
          </a:prstGeom>
        </p:spPr>
      </p:pic>
      <p:sp>
        <p:nvSpPr>
          <p:cNvPr id="7" name="Text 4"/>
          <p:cNvSpPr/>
          <p:nvPr/>
        </p:nvSpPr>
        <p:spPr>
          <a:xfrm>
            <a:off x="1298448" y="2358512"/>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Supervisor</a:t>
            </a:r>
            <a:endParaRPr lang="en-US" sz="1500" dirty="0"/>
          </a:p>
        </p:txBody>
      </p:sp>
      <p:sp>
        <p:nvSpPr>
          <p:cNvPr id="8" name="Text 5"/>
          <p:cNvSpPr/>
          <p:nvPr/>
        </p:nvSpPr>
        <p:spPr>
          <a:xfrm>
            <a:off x="1298448" y="2714214"/>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One router, several specialists. Easiest to reason about, easiest to debug, and the right default.</a:t>
            </a:r>
            <a:endParaRPr lang="en-US" sz="1150" dirty="0"/>
          </a:p>
        </p:txBody>
      </p:sp>
      <p:sp>
        <p:nvSpPr>
          <p:cNvPr id="9" name="Shape 6"/>
          <p:cNvSpPr/>
          <p:nvPr/>
        </p:nvSpPr>
        <p:spPr>
          <a:xfrm>
            <a:off x="4332122" y="2120768"/>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0" name="Shape 7"/>
          <p:cNvSpPr/>
          <p:nvPr/>
        </p:nvSpPr>
        <p:spPr>
          <a:xfrm>
            <a:off x="4569866" y="2340224"/>
            <a:ext cx="365760" cy="365760"/>
          </a:xfrm>
          <a:prstGeom prst="ellipse">
            <a:avLst/>
          </a:prstGeom>
          <a:solidFill>
            <a:srgbClr val="5B4BE8"/>
          </a:solidFill>
          <a:ln w="12700">
            <a:solidFill>
              <a:srgbClr val="5B4BE8"/>
            </a:solidFill>
            <a:prstDash val="solid"/>
          </a:ln>
        </p:spPr>
      </p:sp>
      <p:pic>
        <p:nvPicPr>
          <p:cNvPr id="11" name="Image 1" descr="preencoded.png">    </p:cNvPr>
          <p:cNvPicPr>
            <a:picLocks noChangeAspect="1"/>
          </p:cNvPicPr>
          <p:nvPr/>
        </p:nvPicPr>
        <p:blipFill>
          <a:blip r:embed="rId2"/>
          <a:stretch>
            <a:fillRect/>
          </a:stretch>
        </p:blipFill>
        <p:spPr>
          <a:xfrm>
            <a:off x="4661306" y="2431664"/>
            <a:ext cx="182880" cy="182880"/>
          </a:xfrm>
          <a:prstGeom prst="rect">
            <a:avLst/>
          </a:prstGeom>
        </p:spPr>
      </p:pic>
      <p:sp>
        <p:nvSpPr>
          <p:cNvPr id="12" name="Text 8"/>
          <p:cNvSpPr/>
          <p:nvPr/>
        </p:nvSpPr>
        <p:spPr>
          <a:xfrm>
            <a:off x="5063642" y="2358512"/>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Sequential pipeline</a:t>
            </a:r>
            <a:endParaRPr lang="en-US" sz="1500" dirty="0"/>
          </a:p>
        </p:txBody>
      </p:sp>
      <p:sp>
        <p:nvSpPr>
          <p:cNvPr id="13" name="Text 9"/>
          <p:cNvSpPr/>
          <p:nvPr/>
        </p:nvSpPr>
        <p:spPr>
          <a:xfrm>
            <a:off x="5063642" y="2714214"/>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Each agent hands off to the next. Predictable, and often a workflow wearing a costume.</a:t>
            </a:r>
            <a:endParaRPr lang="en-US" sz="1150" dirty="0"/>
          </a:p>
        </p:txBody>
      </p:sp>
      <p:sp>
        <p:nvSpPr>
          <p:cNvPr id="14" name="Shape 10"/>
          <p:cNvSpPr/>
          <p:nvPr/>
        </p:nvSpPr>
        <p:spPr>
          <a:xfrm>
            <a:off x="8097317" y="2120768"/>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5" name="Shape 11"/>
          <p:cNvSpPr/>
          <p:nvPr/>
        </p:nvSpPr>
        <p:spPr>
          <a:xfrm>
            <a:off x="8335061" y="2340224"/>
            <a:ext cx="365760" cy="365760"/>
          </a:xfrm>
          <a:prstGeom prst="ellipse">
            <a:avLst/>
          </a:prstGeom>
          <a:solidFill>
            <a:srgbClr val="5B4BE8"/>
          </a:solidFill>
          <a:ln w="12700">
            <a:solidFill>
              <a:srgbClr val="5B4BE8"/>
            </a:solidFill>
            <a:prstDash val="solid"/>
          </a:ln>
        </p:spPr>
      </p:sp>
      <p:pic>
        <p:nvPicPr>
          <p:cNvPr id="16" name="Image 2" descr="preencoded.png">    </p:cNvPr>
          <p:cNvPicPr>
            <a:picLocks noChangeAspect="1"/>
          </p:cNvPicPr>
          <p:nvPr/>
        </p:nvPicPr>
        <p:blipFill>
          <a:blip r:embed="rId3"/>
          <a:stretch>
            <a:fillRect/>
          </a:stretch>
        </p:blipFill>
        <p:spPr>
          <a:xfrm>
            <a:off x="8426501" y="2431664"/>
            <a:ext cx="182880" cy="182880"/>
          </a:xfrm>
          <a:prstGeom prst="rect">
            <a:avLst/>
          </a:prstGeom>
        </p:spPr>
      </p:pic>
      <p:sp>
        <p:nvSpPr>
          <p:cNvPr id="17" name="Text 12"/>
          <p:cNvSpPr/>
          <p:nvPr/>
        </p:nvSpPr>
        <p:spPr>
          <a:xfrm>
            <a:off x="8828837" y="2358512"/>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Hierarchical teams</a:t>
            </a:r>
            <a:endParaRPr lang="en-US" sz="1500" dirty="0"/>
          </a:p>
        </p:txBody>
      </p:sp>
      <p:sp>
        <p:nvSpPr>
          <p:cNvPr id="18" name="Text 13"/>
          <p:cNvSpPr/>
          <p:nvPr/>
        </p:nvSpPr>
        <p:spPr>
          <a:xfrm>
            <a:off x="8828837" y="2714214"/>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Managers of managers. Latency and token cost compound at every level.</a:t>
            </a:r>
            <a:endParaRPr lang="en-US" sz="1150" dirty="0"/>
          </a:p>
        </p:txBody>
      </p:sp>
      <p:sp>
        <p:nvSpPr>
          <p:cNvPr id="19" name="Shape 14"/>
          <p:cNvSpPr/>
          <p:nvPr/>
        </p:nvSpPr>
        <p:spPr>
          <a:xfrm>
            <a:off x="566928" y="3758184"/>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0" name="Shape 15"/>
          <p:cNvSpPr/>
          <p:nvPr/>
        </p:nvSpPr>
        <p:spPr>
          <a:xfrm>
            <a:off x="804672" y="3977640"/>
            <a:ext cx="365760" cy="365760"/>
          </a:xfrm>
          <a:prstGeom prst="ellipse">
            <a:avLst/>
          </a:prstGeom>
          <a:solidFill>
            <a:srgbClr val="5B4BE8"/>
          </a:solidFill>
          <a:ln w="12700">
            <a:solidFill>
              <a:srgbClr val="5B4BE8"/>
            </a:solidFill>
            <a:prstDash val="solid"/>
          </a:ln>
        </p:spPr>
      </p:sp>
      <p:pic>
        <p:nvPicPr>
          <p:cNvPr id="21" name="Image 3" descr="preencoded.png">    </p:cNvPr>
          <p:cNvPicPr>
            <a:picLocks noChangeAspect="1"/>
          </p:cNvPicPr>
          <p:nvPr/>
        </p:nvPicPr>
        <p:blipFill>
          <a:blip r:embed="rId4"/>
          <a:stretch>
            <a:fillRect/>
          </a:stretch>
        </p:blipFill>
        <p:spPr>
          <a:xfrm>
            <a:off x="896112" y="4069080"/>
            <a:ext cx="182880" cy="182880"/>
          </a:xfrm>
          <a:prstGeom prst="rect">
            <a:avLst/>
          </a:prstGeom>
        </p:spPr>
      </p:pic>
      <p:sp>
        <p:nvSpPr>
          <p:cNvPr id="22" name="Text 16"/>
          <p:cNvSpPr/>
          <p:nvPr/>
        </p:nvSpPr>
        <p:spPr>
          <a:xfrm>
            <a:off x="1298448" y="399592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Peer network</a:t>
            </a:r>
            <a:endParaRPr lang="en-US" sz="1500" dirty="0"/>
          </a:p>
        </p:txBody>
      </p:sp>
      <p:sp>
        <p:nvSpPr>
          <p:cNvPr id="23" name="Text 17"/>
          <p:cNvSpPr/>
          <p:nvPr/>
        </p:nvSpPr>
        <p:spPr>
          <a:xfrm>
            <a:off x="1298448" y="4351630"/>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Agents talk directly to each other. Powerful, and very hard to explain after an incident.</a:t>
            </a:r>
            <a:endParaRPr lang="en-US" sz="1150" dirty="0"/>
          </a:p>
        </p:txBody>
      </p:sp>
      <p:sp>
        <p:nvSpPr>
          <p:cNvPr id="24" name="Shape 18"/>
          <p:cNvSpPr/>
          <p:nvPr/>
        </p:nvSpPr>
        <p:spPr>
          <a:xfrm>
            <a:off x="4332122" y="3758184"/>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5" name="Shape 19"/>
          <p:cNvSpPr/>
          <p:nvPr/>
        </p:nvSpPr>
        <p:spPr>
          <a:xfrm>
            <a:off x="4569866" y="3977640"/>
            <a:ext cx="365760" cy="365760"/>
          </a:xfrm>
          <a:prstGeom prst="ellipse">
            <a:avLst/>
          </a:prstGeom>
          <a:solidFill>
            <a:srgbClr val="5B4BE8"/>
          </a:solidFill>
          <a:ln w="12700">
            <a:solidFill>
              <a:srgbClr val="5B4BE8"/>
            </a:solidFill>
            <a:prstDash val="solid"/>
          </a:ln>
        </p:spPr>
      </p:sp>
      <p:pic>
        <p:nvPicPr>
          <p:cNvPr id="26" name="Image 4" descr="preencoded.png">    </p:cNvPr>
          <p:cNvPicPr>
            <a:picLocks noChangeAspect="1"/>
          </p:cNvPicPr>
          <p:nvPr/>
        </p:nvPicPr>
        <p:blipFill>
          <a:blip r:embed="rId5"/>
          <a:stretch>
            <a:fillRect/>
          </a:stretch>
        </p:blipFill>
        <p:spPr>
          <a:xfrm>
            <a:off x="4661306" y="4069080"/>
            <a:ext cx="182880" cy="182880"/>
          </a:xfrm>
          <a:prstGeom prst="rect">
            <a:avLst/>
          </a:prstGeom>
        </p:spPr>
      </p:pic>
      <p:sp>
        <p:nvSpPr>
          <p:cNvPr id="27" name="Text 20"/>
          <p:cNvSpPr/>
          <p:nvPr/>
        </p:nvSpPr>
        <p:spPr>
          <a:xfrm>
            <a:off x="5063642" y="399592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Blackboard</a:t>
            </a:r>
            <a:endParaRPr lang="en-US" sz="1500" dirty="0"/>
          </a:p>
        </p:txBody>
      </p:sp>
      <p:sp>
        <p:nvSpPr>
          <p:cNvPr id="28" name="Text 21"/>
          <p:cNvSpPr/>
          <p:nvPr/>
        </p:nvSpPr>
        <p:spPr>
          <a:xfrm>
            <a:off x="5063642" y="4351630"/>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A shared space every agent reads and writes. Elegant on a whiteboard; a race condition in production.</a:t>
            </a:r>
            <a:endParaRPr lang="en-US" sz="1150" dirty="0"/>
          </a:p>
        </p:txBody>
      </p:sp>
      <p:sp>
        <p:nvSpPr>
          <p:cNvPr id="29" name="Shape 22"/>
          <p:cNvSpPr/>
          <p:nvPr/>
        </p:nvSpPr>
        <p:spPr>
          <a:xfrm>
            <a:off x="8097317" y="3758184"/>
            <a:ext cx="3527450" cy="1399672"/>
          </a:xfrm>
          <a:prstGeom prst="roundRect">
            <a:avLst>
              <a:gd name="adj" fmla="val 5880"/>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30" name="Shape 23"/>
          <p:cNvSpPr/>
          <p:nvPr/>
        </p:nvSpPr>
        <p:spPr>
          <a:xfrm>
            <a:off x="8335061" y="3977640"/>
            <a:ext cx="365760" cy="365760"/>
          </a:xfrm>
          <a:prstGeom prst="ellipse">
            <a:avLst/>
          </a:prstGeom>
          <a:solidFill>
            <a:srgbClr val="F5A524"/>
          </a:solidFill>
          <a:ln w="12700">
            <a:solidFill>
              <a:srgbClr val="F5A524"/>
            </a:solidFill>
            <a:prstDash val="solid"/>
          </a:ln>
        </p:spPr>
      </p:sp>
      <p:pic>
        <p:nvPicPr>
          <p:cNvPr id="31" name="Image 5" descr="preencoded.png">    </p:cNvPr>
          <p:cNvPicPr>
            <a:picLocks noChangeAspect="1"/>
          </p:cNvPicPr>
          <p:nvPr/>
        </p:nvPicPr>
        <p:blipFill>
          <a:blip r:embed="rId6"/>
          <a:stretch>
            <a:fillRect/>
          </a:stretch>
        </p:blipFill>
        <p:spPr>
          <a:xfrm>
            <a:off x="8426501" y="4069080"/>
            <a:ext cx="182880" cy="182880"/>
          </a:xfrm>
          <a:prstGeom prst="rect">
            <a:avLst/>
          </a:prstGeom>
        </p:spPr>
      </p:pic>
      <p:sp>
        <p:nvSpPr>
          <p:cNvPr id="32" name="Text 24"/>
          <p:cNvSpPr/>
          <p:nvPr/>
        </p:nvSpPr>
        <p:spPr>
          <a:xfrm>
            <a:off x="8828837" y="399592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All five cost more</a:t>
            </a:r>
            <a:endParaRPr lang="en-US" sz="1500" dirty="0"/>
          </a:p>
        </p:txBody>
      </p:sp>
      <p:sp>
        <p:nvSpPr>
          <p:cNvPr id="33" name="Text 25"/>
          <p:cNvSpPr/>
          <p:nvPr/>
        </p:nvSpPr>
        <p:spPr>
          <a:xfrm>
            <a:off x="8828837" y="4351630"/>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Every hand-off is another model call, another chance to lose context, another thing to trace.</a:t>
            </a:r>
            <a:endParaRPr lang="en-US" sz="1150" dirty="0"/>
          </a:p>
        </p:txBody>
      </p:sp>
      <p:sp>
        <p:nvSpPr>
          <p:cNvPr id="34" name="Text 26"/>
          <p:cNvSpPr/>
          <p:nvPr/>
        </p:nvSpPr>
        <p:spPr>
          <a:xfrm>
            <a:off x="566928" y="5468112"/>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One distinction worth the vocabulary: an agent-as-a-tool returns to its caller, so the caller keeps control. A hand-off transfers control and does not come back.</a:t>
            </a:r>
            <a:endParaRPr lang="en-US" sz="950" dirty="0"/>
          </a:p>
        </p:txBody>
      </p:sp>
      <p:sp>
        <p:nvSpPr>
          <p:cNvPr id="35" name="Shape 27"/>
          <p:cNvSpPr/>
          <p:nvPr/>
        </p:nvSpPr>
        <p:spPr>
          <a:xfrm>
            <a:off x="566928" y="5760720"/>
            <a:ext cx="11057839" cy="676656"/>
          </a:xfrm>
          <a:prstGeom prst="roundRect">
            <a:avLst>
              <a:gd name="adj" fmla="val 12162"/>
            </a:avLst>
          </a:prstGeom>
          <a:solidFill>
            <a:srgbClr val="FFF4E0"/>
          </a:solidFill>
          <a:ln w="12700">
            <a:solidFill>
              <a:srgbClr val="F3DCB0"/>
            </a:solidFill>
            <a:prstDash val="solid"/>
          </a:ln>
        </p:spPr>
      </p:sp>
      <p:sp>
        <p:nvSpPr>
          <p:cNvPr id="36" name="Shape 28"/>
          <p:cNvSpPr/>
          <p:nvPr/>
        </p:nvSpPr>
        <p:spPr>
          <a:xfrm>
            <a:off x="841248" y="5907024"/>
            <a:ext cx="384048" cy="384048"/>
          </a:xfrm>
          <a:prstGeom prst="ellipse">
            <a:avLst/>
          </a:prstGeom>
          <a:solidFill>
            <a:srgbClr val="F5A524"/>
          </a:solidFill>
          <a:ln w="12700">
            <a:solidFill>
              <a:srgbClr val="F5A524"/>
            </a:solidFill>
            <a:prstDash val="solid"/>
          </a:ln>
        </p:spPr>
      </p:sp>
      <p:pic>
        <p:nvPicPr>
          <p:cNvPr id="37" name="Image 6" descr="preencoded.png">    </p:cNvPr>
          <p:cNvPicPr>
            <a:picLocks noChangeAspect="1"/>
          </p:cNvPicPr>
          <p:nvPr/>
        </p:nvPicPr>
        <p:blipFill>
          <a:blip r:embed="rId7"/>
          <a:stretch>
            <a:fillRect/>
          </a:stretch>
        </p:blipFill>
        <p:spPr>
          <a:xfrm>
            <a:off x="937260" y="6003036"/>
            <a:ext cx="192024" cy="192024"/>
          </a:xfrm>
          <a:prstGeom prst="rect">
            <a:avLst/>
          </a:prstGeom>
        </p:spPr>
      </p:pic>
      <p:sp>
        <p:nvSpPr>
          <p:cNvPr id="38" name="Text 29"/>
          <p:cNvSpPr/>
          <p:nvPr/>
        </p:nvSpPr>
        <p:spPr>
          <a:xfrm>
            <a:off x="1371600" y="5815584"/>
            <a:ext cx="9960559" cy="566928"/>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These are org charts for software. Every arrow between two boxes is a place where an instruction can get garbled — exactly like a real organisation.</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B0A22"/>
        </a:solidFill>
      </p:bgPr>
    </p:bg>
    <p:spTree>
      <p:nvGrpSpPr>
        <p:cNvPr id="1" name=""/>
        <p:cNvGrpSpPr/>
        <p:nvPr/>
      </p:nvGrpSpPr>
      <p:grpSpPr>
        <a:xfrm>
          <a:off x="0" y="0"/>
          <a:ext cx="0" cy="0"/>
          <a:chOff x="0" y="0"/>
          <a:chExt cx="0" cy="0"/>
        </a:xfrm>
      </p:grpSpPr>
      <p:pic>
        <p:nvPicPr>
          <p:cNvPr id="2" name="Image 0" descr="bg quo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13 · DELEGATION</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indent="0" marL="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indent="0" marL="0">
              <a:lnSpc>
                <a:spcPct val="116000"/>
              </a:lnSpc>
              <a:buNone/>
            </a:pPr>
            <a:r>
              <a:rPr lang="en-US" sz="3800" b="1" dirty="0">
                <a:solidFill>
                  <a:srgbClr val="FFFFFF"/>
                </a:solidFill>
                <a:latin typeface="Cambria" pitchFamily="34" charset="0"/>
                <a:ea typeface="Cambria" pitchFamily="34" charset="-122"/>
                <a:cs typeface="Cambria" pitchFamily="34" charset="-120"/>
              </a:rPr>
              <a:t>Most multi-agent systems should be</a:t>
            </a:r>
            <a:endParaRPr lang="en-US" sz="3800" dirty="0"/>
          </a:p>
          <a:p>
            <a:pPr indent="0" marL="0">
              <a:lnSpc>
                <a:spcPct val="116000"/>
              </a:lnSpc>
              <a:buNone/>
            </a:pPr>
            <a:r>
              <a:rPr lang="en-US" sz="3800" b="1" dirty="0">
                <a:solidFill>
                  <a:srgbClr val="FFFFFF"/>
                </a:solidFill>
                <a:latin typeface="Cambria" pitchFamily="34" charset="0"/>
                <a:ea typeface="Cambria" pitchFamily="34" charset="-122"/>
                <a:cs typeface="Cambria" pitchFamily="34" charset="-120"/>
              </a:rPr>
              <a:t>one agent with more tools.</a:t>
            </a:r>
            <a:endParaRPr lang="en-US" sz="38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indent="0" marL="0">
              <a:lnSpc>
                <a:spcPct val="120000"/>
              </a:lnSpc>
              <a:buNone/>
            </a:pPr>
            <a:r>
              <a:rPr lang="en-US" sz="1450" dirty="0">
                <a:solidFill>
                  <a:srgbClr val="B9B4E0"/>
                </a:solidFill>
                <a:latin typeface="Calibri" pitchFamily="34" charset="0"/>
                <a:ea typeface="Calibri" pitchFamily="34" charset="-122"/>
                <a:cs typeface="Calibri" pitchFamily="34" charset="-120"/>
              </a:rPr>
              <a:t>The org-chart metaphor is what seduces teams into a distributed systems problem they did not need to have.</a:t>
            </a:r>
            <a:endParaRPr lang="en-US" sz="14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Splitting the work pays for itself when — and only when</a:t>
            </a:r>
            <a:endParaRPr lang="en-US" sz="2800" dirty="0"/>
          </a:p>
        </p:txBody>
      </p:sp>
      <p:sp>
        <p:nvSpPr>
          <p:cNvPr id="4" name="Shape 2"/>
          <p:cNvSpPr/>
          <p:nvPr/>
        </p:nvSpPr>
        <p:spPr>
          <a:xfrm>
            <a:off x="566928" y="2058452"/>
            <a:ext cx="2586152" cy="2649657"/>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277908"/>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369348"/>
            <a:ext cx="182880" cy="182880"/>
          </a:xfrm>
          <a:prstGeom prst="rect">
            <a:avLst/>
          </a:prstGeom>
        </p:spPr>
      </p:pic>
      <p:sp>
        <p:nvSpPr>
          <p:cNvPr id="7" name="Text 4"/>
          <p:cNvSpPr/>
          <p:nvPr/>
        </p:nvSpPr>
        <p:spPr>
          <a:xfrm>
            <a:off x="1298448" y="226876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REASON 1</a:t>
            </a:r>
            <a:endParaRPr lang="en-US" sz="850" dirty="0"/>
          </a:p>
        </p:txBody>
      </p:sp>
      <p:sp>
        <p:nvSpPr>
          <p:cNvPr id="8" name="Text 5"/>
          <p:cNvSpPr/>
          <p:nvPr/>
        </p:nvSpPr>
        <p:spPr>
          <a:xfrm>
            <a:off x="1298448" y="2488220"/>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Different tools</a:t>
            </a:r>
            <a:endParaRPr lang="en-US" sz="1450" dirty="0"/>
          </a:p>
        </p:txBody>
      </p:sp>
      <p:sp>
        <p:nvSpPr>
          <p:cNvPr id="9" name="Text 6"/>
          <p:cNvSpPr/>
          <p:nvPr/>
        </p:nvSpPr>
        <p:spPr>
          <a:xfrm>
            <a:off x="1298448" y="2835874"/>
            <a:ext cx="1616888" cy="1689354"/>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subtasks genuinely need different capabilities, and loading all of them into one agent makes it worse at choosing.</a:t>
            </a:r>
            <a:endParaRPr lang="en-US" sz="1150" dirty="0"/>
          </a:p>
        </p:txBody>
      </p:sp>
      <p:sp>
        <p:nvSpPr>
          <p:cNvPr id="10" name="Shape 7"/>
          <p:cNvSpPr/>
          <p:nvPr/>
        </p:nvSpPr>
        <p:spPr>
          <a:xfrm>
            <a:off x="3390824" y="2058452"/>
            <a:ext cx="2586152" cy="2649657"/>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3628568" y="2277908"/>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3720008" y="2369348"/>
            <a:ext cx="182880" cy="182880"/>
          </a:xfrm>
          <a:prstGeom prst="rect">
            <a:avLst/>
          </a:prstGeom>
        </p:spPr>
      </p:pic>
      <p:sp>
        <p:nvSpPr>
          <p:cNvPr id="13" name="Text 9"/>
          <p:cNvSpPr/>
          <p:nvPr/>
        </p:nvSpPr>
        <p:spPr>
          <a:xfrm>
            <a:off x="4122344" y="226876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REASON 2</a:t>
            </a:r>
            <a:endParaRPr lang="en-US" sz="850" dirty="0"/>
          </a:p>
        </p:txBody>
      </p:sp>
      <p:sp>
        <p:nvSpPr>
          <p:cNvPr id="14" name="Text 10"/>
          <p:cNvSpPr/>
          <p:nvPr/>
        </p:nvSpPr>
        <p:spPr>
          <a:xfrm>
            <a:off x="4122344" y="248822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Different models</a:t>
            </a:r>
            <a:endParaRPr lang="en-US" sz="1450" dirty="0"/>
          </a:p>
        </p:txBody>
      </p:sp>
      <p:sp>
        <p:nvSpPr>
          <p:cNvPr id="15" name="Text 11"/>
          <p:cNvSpPr/>
          <p:nvPr/>
        </p:nvSpPr>
        <p:spPr>
          <a:xfrm>
            <a:off x="4122344" y="3119521"/>
            <a:ext cx="1616888" cy="140570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One part needs a strong, expensive model and the rest does not. Splitting is how you stop paying for the strong one everywhere.</a:t>
            </a:r>
            <a:endParaRPr lang="en-US" sz="1150" dirty="0"/>
          </a:p>
        </p:txBody>
      </p:sp>
      <p:sp>
        <p:nvSpPr>
          <p:cNvPr id="16" name="Shape 12"/>
          <p:cNvSpPr/>
          <p:nvPr/>
        </p:nvSpPr>
        <p:spPr>
          <a:xfrm>
            <a:off x="6214720" y="2058452"/>
            <a:ext cx="2586152" cy="2649657"/>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6452464" y="2277908"/>
            <a:ext cx="365760" cy="365760"/>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6543904" y="2369348"/>
            <a:ext cx="182880" cy="182880"/>
          </a:xfrm>
          <a:prstGeom prst="rect">
            <a:avLst/>
          </a:prstGeom>
        </p:spPr>
      </p:pic>
      <p:sp>
        <p:nvSpPr>
          <p:cNvPr id="19" name="Text 14"/>
          <p:cNvSpPr/>
          <p:nvPr/>
        </p:nvSpPr>
        <p:spPr>
          <a:xfrm>
            <a:off x="6946240" y="226876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REASON 3</a:t>
            </a:r>
            <a:endParaRPr lang="en-US" sz="850" dirty="0"/>
          </a:p>
        </p:txBody>
      </p:sp>
      <p:sp>
        <p:nvSpPr>
          <p:cNvPr id="20" name="Text 15"/>
          <p:cNvSpPr/>
          <p:nvPr/>
        </p:nvSpPr>
        <p:spPr>
          <a:xfrm>
            <a:off x="6946240" y="248822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Different permissions</a:t>
            </a:r>
            <a:endParaRPr lang="en-US" sz="1450" dirty="0"/>
          </a:p>
        </p:txBody>
      </p:sp>
      <p:sp>
        <p:nvSpPr>
          <p:cNvPr id="21" name="Text 16"/>
          <p:cNvSpPr/>
          <p:nvPr/>
        </p:nvSpPr>
        <p:spPr>
          <a:xfrm>
            <a:off x="6946240" y="3119521"/>
            <a:ext cx="1616888" cy="140570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One part reads customer data and another writes to a ledger. They should not share a single credential or a single blast radius.</a:t>
            </a:r>
            <a:endParaRPr lang="en-US" sz="1150" dirty="0"/>
          </a:p>
        </p:txBody>
      </p:sp>
      <p:sp>
        <p:nvSpPr>
          <p:cNvPr id="22" name="Shape 17"/>
          <p:cNvSpPr/>
          <p:nvPr/>
        </p:nvSpPr>
        <p:spPr>
          <a:xfrm>
            <a:off x="9038615" y="2058452"/>
            <a:ext cx="2586152" cy="2649657"/>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3" name="Shape 18"/>
          <p:cNvSpPr/>
          <p:nvPr/>
        </p:nvSpPr>
        <p:spPr>
          <a:xfrm>
            <a:off x="9276359" y="2277908"/>
            <a:ext cx="365760" cy="365760"/>
          </a:xfrm>
          <a:prstGeom prst="ellipse">
            <a:avLst/>
          </a:prstGeom>
          <a:solidFill>
            <a:srgbClr val="5B4BE8"/>
          </a:solidFill>
          <a:ln w="12700">
            <a:solidFill>
              <a:srgbClr val="5B4BE8"/>
            </a:solidFill>
            <a:prstDash val="solid"/>
          </a:ln>
        </p:spPr>
      </p:sp>
      <p:pic>
        <p:nvPicPr>
          <p:cNvPr id="24" name="Image 3" descr="preencoded.png">    </p:cNvPr>
          <p:cNvPicPr>
            <a:picLocks noChangeAspect="1"/>
          </p:cNvPicPr>
          <p:nvPr/>
        </p:nvPicPr>
        <p:blipFill>
          <a:blip r:embed="rId4"/>
          <a:stretch>
            <a:fillRect/>
          </a:stretch>
        </p:blipFill>
        <p:spPr>
          <a:xfrm>
            <a:off x="9367799" y="2369348"/>
            <a:ext cx="182880" cy="182880"/>
          </a:xfrm>
          <a:prstGeom prst="rect">
            <a:avLst/>
          </a:prstGeom>
        </p:spPr>
      </p:pic>
      <p:sp>
        <p:nvSpPr>
          <p:cNvPr id="25" name="Text 19"/>
          <p:cNvSpPr/>
          <p:nvPr/>
        </p:nvSpPr>
        <p:spPr>
          <a:xfrm>
            <a:off x="9770135" y="2268764"/>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REASON 4</a:t>
            </a:r>
            <a:endParaRPr lang="en-US" sz="850" dirty="0"/>
          </a:p>
        </p:txBody>
      </p:sp>
      <p:sp>
        <p:nvSpPr>
          <p:cNvPr id="26" name="Text 20"/>
          <p:cNvSpPr/>
          <p:nvPr/>
        </p:nvSpPr>
        <p:spPr>
          <a:xfrm>
            <a:off x="9770135" y="2488220"/>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Different scaling</a:t>
            </a:r>
            <a:endParaRPr lang="en-US" sz="1450" dirty="0"/>
          </a:p>
        </p:txBody>
      </p:sp>
      <p:sp>
        <p:nvSpPr>
          <p:cNvPr id="27" name="Text 21"/>
          <p:cNvSpPr/>
          <p:nvPr/>
        </p:nvSpPr>
        <p:spPr>
          <a:xfrm>
            <a:off x="9770135" y="3119521"/>
            <a:ext cx="1616888" cy="140570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One part is called a thousand times an hour and the rest twice a day. Separate them and you can size them separately.</a:t>
            </a:r>
            <a:endParaRPr lang="en-US" sz="1150" dirty="0"/>
          </a:p>
        </p:txBody>
      </p:sp>
      <p:sp>
        <p:nvSpPr>
          <p:cNvPr id="28" name="Text 22"/>
          <p:cNvSpPr/>
          <p:nvPr/>
        </p:nvSpPr>
        <p:spPr>
          <a:xfrm>
            <a:off x="566928" y="4974336"/>
            <a:ext cx="11057839" cy="329184"/>
          </a:xfrm>
          <a:prstGeom prst="rect">
            <a:avLst/>
          </a:prstGeom>
          <a:noFill/>
          <a:ln/>
        </p:spPr>
        <p:txBody>
          <a:bodyPr wrap="square" lIns="0" tIns="0" rIns="0" bIns="0" rtlCol="0" anchor="ctr"/>
          <a:lstStyle/>
          <a:p>
            <a:pPr indent="0" marL="0">
              <a:buNone/>
            </a:pPr>
            <a:r>
              <a:rPr lang="en-US" sz="1400" i="1" dirty="0">
                <a:solidFill>
                  <a:srgbClr val="D93A3F"/>
                </a:solidFill>
                <a:latin typeface="Calibri" pitchFamily="34" charset="0"/>
                <a:ea typeface="Calibri" pitchFamily="34" charset="-122"/>
                <a:cs typeface="Calibri" pitchFamily="34" charset="-120"/>
              </a:rPr>
              <a:t>Otherwise you have bought a distributed systems problem in exchange for a metaphor.</a:t>
            </a:r>
            <a:endParaRPr lang="en-US" sz="1400" dirty="0"/>
          </a:p>
        </p:txBody>
      </p:sp>
      <p:sp>
        <p:nvSpPr>
          <p:cNvPr id="29" name="Shape 23"/>
          <p:cNvSpPr/>
          <p:nvPr/>
        </p:nvSpPr>
        <p:spPr>
          <a:xfrm>
            <a:off x="566928" y="5413248"/>
            <a:ext cx="11057839" cy="822960"/>
          </a:xfrm>
          <a:prstGeom prst="roundRect">
            <a:avLst>
              <a:gd name="adj" fmla="val 10000"/>
            </a:avLst>
          </a:prstGeom>
          <a:solidFill>
            <a:srgbClr val="FFF4E0"/>
          </a:solidFill>
          <a:ln w="12700">
            <a:solidFill>
              <a:srgbClr val="F3DCB0"/>
            </a:solidFill>
            <a:prstDash val="solid"/>
          </a:ln>
        </p:spPr>
      </p:sp>
      <p:sp>
        <p:nvSpPr>
          <p:cNvPr id="30" name="Shape 24"/>
          <p:cNvSpPr/>
          <p:nvPr/>
        </p:nvSpPr>
        <p:spPr>
          <a:xfrm>
            <a:off x="841248" y="5632704"/>
            <a:ext cx="384048" cy="384048"/>
          </a:xfrm>
          <a:prstGeom prst="ellipse">
            <a:avLst/>
          </a:prstGeom>
          <a:solidFill>
            <a:srgbClr val="F5A524"/>
          </a:solidFill>
          <a:ln w="12700">
            <a:solidFill>
              <a:srgbClr val="F5A524"/>
            </a:solidFill>
            <a:prstDash val="solid"/>
          </a:ln>
        </p:spPr>
      </p:sp>
      <p:pic>
        <p:nvPicPr>
          <p:cNvPr id="31" name="Image 4" descr="preencoded.png">    </p:cNvPr>
          <p:cNvPicPr>
            <a:picLocks noChangeAspect="1"/>
          </p:cNvPicPr>
          <p:nvPr/>
        </p:nvPicPr>
        <p:blipFill>
          <a:blip r:embed="rId5"/>
          <a:stretch>
            <a:fillRect/>
          </a:stretch>
        </p:blipFill>
        <p:spPr>
          <a:xfrm>
            <a:off x="937260" y="5728716"/>
            <a:ext cx="192024" cy="192024"/>
          </a:xfrm>
          <a:prstGeom prst="rect">
            <a:avLst/>
          </a:prstGeom>
        </p:spPr>
      </p:pic>
      <p:sp>
        <p:nvSpPr>
          <p:cNvPr id="32" name="Text 25"/>
          <p:cNvSpPr/>
          <p:nvPr/>
        </p:nvSpPr>
        <p:spPr>
          <a:xfrm>
            <a:off x="1371600" y="5468112"/>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Reason 3 is the one that convinces a risk function. Separate agents give you separate permissions and separate audit trails — that is a governance win, not an architecture fashion.</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A supervisor pattern, kept honest by a comparison</a:t>
            </a:r>
            <a:endParaRPr lang="en-US" sz="3000" dirty="0"/>
          </a:p>
        </p:txBody>
      </p:sp>
      <p:sp>
        <p:nvSpPr>
          <p:cNvPr id="4" name="Shape 2"/>
          <p:cNvSpPr/>
          <p:nvPr/>
        </p:nvSpPr>
        <p:spPr>
          <a:xfrm>
            <a:off x="566928" y="2450592"/>
            <a:ext cx="3527450" cy="2468880"/>
          </a:xfrm>
          <a:prstGeom prst="roundRect">
            <a:avLst>
              <a:gd name="adj" fmla="val 333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670048"/>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761488"/>
            <a:ext cx="182880" cy="182880"/>
          </a:xfrm>
          <a:prstGeom prst="rect">
            <a:avLst/>
          </a:prstGeom>
        </p:spPr>
      </p:pic>
      <p:sp>
        <p:nvSpPr>
          <p:cNvPr id="7" name="Text 4"/>
          <p:cNvSpPr/>
          <p:nvPr/>
        </p:nvSpPr>
        <p:spPr>
          <a:xfrm>
            <a:off x="1298448" y="2660904"/>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BUILD</a:t>
            </a:r>
            <a:endParaRPr lang="en-US" sz="850" dirty="0"/>
          </a:p>
        </p:txBody>
      </p:sp>
      <p:sp>
        <p:nvSpPr>
          <p:cNvPr id="8" name="Text 5"/>
          <p:cNvSpPr/>
          <p:nvPr/>
        </p:nvSpPr>
        <p:spPr>
          <a:xfrm>
            <a:off x="1298448" y="2880360"/>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Three specialists behind one router</a:t>
            </a:r>
            <a:endParaRPr lang="en-US" sz="1450" dirty="0"/>
          </a:p>
        </p:txBody>
      </p:sp>
      <p:sp>
        <p:nvSpPr>
          <p:cNvPr id="9" name="Text 6"/>
          <p:cNvSpPr/>
          <p:nvPr/>
        </p:nvSpPr>
        <p:spPr>
          <a:xfrm>
            <a:off x="1298448" y="3511662"/>
            <a:ext cx="2558186" cy="1224930"/>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Same tools, same task, same corpus as the single plain agent you already have. The only variable is the topology.</a:t>
            </a:r>
            <a:endParaRPr lang="en-US" sz="1200" dirty="0"/>
          </a:p>
        </p:txBody>
      </p:sp>
      <p:sp>
        <p:nvSpPr>
          <p:cNvPr id="10" name="Shape 7"/>
          <p:cNvSpPr/>
          <p:nvPr/>
        </p:nvSpPr>
        <p:spPr>
          <a:xfrm>
            <a:off x="4332122" y="2450592"/>
            <a:ext cx="3527450" cy="2468880"/>
          </a:xfrm>
          <a:prstGeom prst="roundRect">
            <a:avLst>
              <a:gd name="adj" fmla="val 333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670048"/>
            <a:ext cx="365760" cy="365760"/>
          </a:xfrm>
          <a:prstGeom prst="ellipse">
            <a:avLst/>
          </a:prstGeom>
          <a:solidFill>
            <a:srgbClr val="F5A524"/>
          </a:solidFill>
          <a:ln w="12700">
            <a:solidFill>
              <a:srgbClr val="F5A524"/>
            </a:solidFill>
            <a:prstDash val="solid"/>
          </a:ln>
        </p:spPr>
      </p:sp>
      <p:pic>
        <p:nvPicPr>
          <p:cNvPr id="12" name="Image 1" descr="preencoded.png">    </p:cNvPr>
          <p:cNvPicPr>
            <a:picLocks noChangeAspect="1"/>
          </p:cNvPicPr>
          <p:nvPr/>
        </p:nvPicPr>
        <p:blipFill>
          <a:blip r:embed="rId2"/>
          <a:stretch>
            <a:fillRect/>
          </a:stretch>
        </p:blipFill>
        <p:spPr>
          <a:xfrm>
            <a:off x="4661306" y="2761488"/>
            <a:ext cx="182880" cy="182880"/>
          </a:xfrm>
          <a:prstGeom prst="rect">
            <a:avLst/>
          </a:prstGeom>
        </p:spPr>
      </p:pic>
      <p:sp>
        <p:nvSpPr>
          <p:cNvPr id="13" name="Text 9"/>
          <p:cNvSpPr/>
          <p:nvPr/>
        </p:nvSpPr>
        <p:spPr>
          <a:xfrm>
            <a:off x="5063642" y="2660904"/>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WATCH</a:t>
            </a:r>
            <a:endParaRPr lang="en-US" sz="850" dirty="0"/>
          </a:p>
        </p:txBody>
      </p:sp>
      <p:sp>
        <p:nvSpPr>
          <p:cNvPr id="14" name="Text 10"/>
          <p:cNvSpPr/>
          <p:nvPr/>
        </p:nvSpPr>
        <p:spPr>
          <a:xfrm>
            <a:off x="5063642" y="2880360"/>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Make the descriptions overlap</a:t>
            </a:r>
            <a:endParaRPr lang="en-US" sz="1450" dirty="0"/>
          </a:p>
        </p:txBody>
      </p:sp>
      <p:sp>
        <p:nvSpPr>
          <p:cNvPr id="15" name="Text 11"/>
          <p:cNvSpPr/>
          <p:nvPr/>
        </p:nvSpPr>
        <p:spPr>
          <a:xfrm>
            <a:off x="5063642" y="3511662"/>
            <a:ext cx="2558186" cy="1224930"/>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A weaker router misroutes when specialist descriptions blur into each other. If it happens live, that is the lesson landing — it is the same failure as module 04.</a:t>
            </a:r>
            <a:endParaRPr lang="en-US" sz="1200" dirty="0"/>
          </a:p>
        </p:txBody>
      </p:sp>
      <p:sp>
        <p:nvSpPr>
          <p:cNvPr id="16" name="Shape 12"/>
          <p:cNvSpPr/>
          <p:nvPr/>
        </p:nvSpPr>
        <p:spPr>
          <a:xfrm>
            <a:off x="8097317" y="2450592"/>
            <a:ext cx="3527450" cy="2468880"/>
          </a:xfrm>
          <a:prstGeom prst="roundRect">
            <a:avLst>
              <a:gd name="adj" fmla="val 333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670048"/>
            <a:ext cx="365760" cy="365760"/>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8426501" y="2761488"/>
            <a:ext cx="182880" cy="182880"/>
          </a:xfrm>
          <a:prstGeom prst="rect">
            <a:avLst/>
          </a:prstGeom>
        </p:spPr>
      </p:pic>
      <p:sp>
        <p:nvSpPr>
          <p:cNvPr id="19" name="Text 14"/>
          <p:cNvSpPr/>
          <p:nvPr/>
        </p:nvSpPr>
        <p:spPr>
          <a:xfrm>
            <a:off x="8828837" y="2660904"/>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MEASURE</a:t>
            </a:r>
            <a:endParaRPr lang="en-US" sz="850" dirty="0"/>
          </a:p>
        </p:txBody>
      </p:sp>
      <p:sp>
        <p:nvSpPr>
          <p:cNvPr id="20" name="Text 15"/>
          <p:cNvSpPr/>
          <p:nvPr/>
        </p:nvSpPr>
        <p:spPr>
          <a:xfrm>
            <a:off x="8828837" y="2880360"/>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Lines of code, tokens, resumability</a:t>
            </a:r>
            <a:endParaRPr lang="en-US" sz="1450" dirty="0"/>
          </a:p>
        </p:txBody>
      </p:sp>
      <p:sp>
        <p:nvSpPr>
          <p:cNvPr id="21" name="Text 16"/>
          <p:cNvSpPr/>
          <p:nvPr/>
        </p:nvSpPr>
        <p:spPr>
          <a:xfrm>
            <a:off x="8828837" y="3511662"/>
            <a:ext cx="2558186" cy="1224930"/>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Then compare against the single agent on the identical task. Numbers, not a feeling about which diagram looked nicer.</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sp>
      <p:pic>
        <p:nvPicPr>
          <p:cNvPr id="24" name="Image 3" descr="preencoded.png">    </p:cNvPr>
          <p:cNvPicPr>
            <a:picLocks noChangeAspect="1"/>
          </p:cNvPicPr>
          <p:nvPr/>
        </p:nvPicPr>
        <p:blipFill>
          <a:blip r:embed="rId4"/>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Build the fancy version, measure it against the simple version, and be willing to conclude that the simple version won.</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14</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14</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Security</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The agent does not do something wrong. Your code does — because it was asked to.</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Five ways an agent gets used against you</a:t>
            </a:r>
            <a:endParaRPr lang="en-US" sz="3000" dirty="0"/>
          </a:p>
        </p:txBody>
      </p:sp>
      <p:sp>
        <p:nvSpPr>
          <p:cNvPr id="4" name="Shape 2"/>
          <p:cNvSpPr/>
          <p:nvPr/>
        </p:nvSpPr>
        <p:spPr>
          <a:xfrm>
            <a:off x="566928" y="188366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103120"/>
            <a:ext cx="365760" cy="365760"/>
          </a:xfrm>
          <a:prstGeom prst="ellipse">
            <a:avLst/>
          </a:prstGeom>
          <a:solidFill>
            <a:srgbClr val="D93A3F"/>
          </a:solidFill>
          <a:ln w="12700">
            <a:solidFill>
              <a:srgbClr val="D93A3F"/>
            </a:solidFill>
            <a:prstDash val="solid"/>
          </a:ln>
        </p:spPr>
      </p:sp>
      <p:pic>
        <p:nvPicPr>
          <p:cNvPr id="6" name="Image 0" descr="preencoded.png">    </p:cNvPr>
          <p:cNvPicPr>
            <a:picLocks noChangeAspect="1"/>
          </p:cNvPicPr>
          <p:nvPr/>
        </p:nvPicPr>
        <p:blipFill>
          <a:blip r:embed="rId1"/>
          <a:stretch>
            <a:fillRect/>
          </a:stretch>
        </p:blipFill>
        <p:spPr>
          <a:xfrm>
            <a:off x="896112" y="2194560"/>
            <a:ext cx="182880" cy="182880"/>
          </a:xfrm>
          <a:prstGeom prst="rect">
            <a:avLst/>
          </a:prstGeom>
        </p:spPr>
      </p:pic>
      <p:sp>
        <p:nvSpPr>
          <p:cNvPr id="7" name="Text 4"/>
          <p:cNvSpPr/>
          <p:nvPr/>
        </p:nvSpPr>
        <p:spPr>
          <a:xfrm>
            <a:off x="1298448" y="212140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Prompt injection</a:t>
            </a:r>
            <a:endParaRPr lang="en-US" sz="1500" dirty="0"/>
          </a:p>
        </p:txBody>
      </p:sp>
      <p:sp>
        <p:nvSpPr>
          <p:cNvPr id="8" name="Text 5"/>
          <p:cNvSpPr/>
          <p:nvPr/>
        </p:nvSpPr>
        <p:spPr>
          <a:xfrm>
            <a:off x="1298448" y="2477110"/>
            <a:ext cx="2558186" cy="860450"/>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Instructions hidden in content the agent retrieves. The model cannot tell your instruction from a stranger's — they arrive as the same text.</a:t>
            </a:r>
            <a:endParaRPr lang="en-US" sz="1150" dirty="0"/>
          </a:p>
        </p:txBody>
      </p:sp>
      <p:sp>
        <p:nvSpPr>
          <p:cNvPr id="9" name="Shape 6"/>
          <p:cNvSpPr/>
          <p:nvPr/>
        </p:nvSpPr>
        <p:spPr>
          <a:xfrm>
            <a:off x="4332122" y="188366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0" name="Shape 7"/>
          <p:cNvSpPr/>
          <p:nvPr/>
        </p:nvSpPr>
        <p:spPr>
          <a:xfrm>
            <a:off x="4569866" y="2103120"/>
            <a:ext cx="365760" cy="365760"/>
          </a:xfrm>
          <a:prstGeom prst="ellipse">
            <a:avLst/>
          </a:prstGeom>
          <a:solidFill>
            <a:srgbClr val="D93A3F"/>
          </a:solidFill>
          <a:ln w="12700">
            <a:solidFill>
              <a:srgbClr val="D93A3F"/>
            </a:solidFill>
            <a:prstDash val="solid"/>
          </a:ln>
        </p:spPr>
      </p:sp>
      <p:pic>
        <p:nvPicPr>
          <p:cNvPr id="11" name="Image 1" descr="preencoded.png">    </p:cNvPr>
          <p:cNvPicPr>
            <a:picLocks noChangeAspect="1"/>
          </p:cNvPicPr>
          <p:nvPr/>
        </p:nvPicPr>
        <p:blipFill>
          <a:blip r:embed="rId2"/>
          <a:stretch>
            <a:fillRect/>
          </a:stretch>
        </p:blipFill>
        <p:spPr>
          <a:xfrm>
            <a:off x="4661306" y="2194560"/>
            <a:ext cx="182880" cy="182880"/>
          </a:xfrm>
          <a:prstGeom prst="rect">
            <a:avLst/>
          </a:prstGeom>
        </p:spPr>
      </p:pic>
      <p:sp>
        <p:nvSpPr>
          <p:cNvPr id="12" name="Text 8"/>
          <p:cNvSpPr/>
          <p:nvPr/>
        </p:nvSpPr>
        <p:spPr>
          <a:xfrm>
            <a:off x="5063642" y="212140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Tool poisoning</a:t>
            </a:r>
            <a:endParaRPr lang="en-US" sz="1500" dirty="0"/>
          </a:p>
        </p:txBody>
      </p:sp>
      <p:sp>
        <p:nvSpPr>
          <p:cNvPr id="13" name="Text 9"/>
          <p:cNvSpPr/>
          <p:nvPr/>
        </p:nvSpPr>
        <p:spPr>
          <a:xfrm>
            <a:off x="5063642" y="2477110"/>
            <a:ext cx="2558186" cy="860450"/>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A malicious tool, described convincingly enough to be installed and then chosen.</a:t>
            </a:r>
            <a:endParaRPr lang="en-US" sz="1150" dirty="0"/>
          </a:p>
        </p:txBody>
      </p:sp>
      <p:sp>
        <p:nvSpPr>
          <p:cNvPr id="14" name="Shape 10"/>
          <p:cNvSpPr/>
          <p:nvPr/>
        </p:nvSpPr>
        <p:spPr>
          <a:xfrm>
            <a:off x="8097317" y="188366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5" name="Shape 11"/>
          <p:cNvSpPr/>
          <p:nvPr/>
        </p:nvSpPr>
        <p:spPr>
          <a:xfrm>
            <a:off x="8335061" y="2103120"/>
            <a:ext cx="365760" cy="365760"/>
          </a:xfrm>
          <a:prstGeom prst="ellipse">
            <a:avLst/>
          </a:prstGeom>
          <a:solidFill>
            <a:srgbClr val="D93A3F"/>
          </a:solidFill>
          <a:ln w="12700">
            <a:solidFill>
              <a:srgbClr val="D93A3F"/>
            </a:solidFill>
            <a:prstDash val="solid"/>
          </a:ln>
        </p:spPr>
      </p:sp>
      <p:pic>
        <p:nvPicPr>
          <p:cNvPr id="16" name="Image 2" descr="preencoded.png">    </p:cNvPr>
          <p:cNvPicPr>
            <a:picLocks noChangeAspect="1"/>
          </p:cNvPicPr>
          <p:nvPr/>
        </p:nvPicPr>
        <p:blipFill>
          <a:blip r:embed="rId3"/>
          <a:stretch>
            <a:fillRect/>
          </a:stretch>
        </p:blipFill>
        <p:spPr>
          <a:xfrm>
            <a:off x="8426501" y="2194560"/>
            <a:ext cx="182880" cy="182880"/>
          </a:xfrm>
          <a:prstGeom prst="rect">
            <a:avLst/>
          </a:prstGeom>
        </p:spPr>
      </p:pic>
      <p:sp>
        <p:nvSpPr>
          <p:cNvPr id="17" name="Text 12"/>
          <p:cNvSpPr/>
          <p:nvPr/>
        </p:nvSpPr>
        <p:spPr>
          <a:xfrm>
            <a:off x="8828837" y="212140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Exfiltration</a:t>
            </a:r>
            <a:endParaRPr lang="en-US" sz="1500" dirty="0"/>
          </a:p>
        </p:txBody>
      </p:sp>
      <p:sp>
        <p:nvSpPr>
          <p:cNvPr id="18" name="Text 13"/>
          <p:cNvSpPr/>
          <p:nvPr/>
        </p:nvSpPr>
        <p:spPr>
          <a:xfrm>
            <a:off x="8828837" y="2477110"/>
            <a:ext cx="2558186" cy="860450"/>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Data leaked out through a tool's own arguments. A search query is a perfectly good place to hide a payload.</a:t>
            </a:r>
            <a:endParaRPr lang="en-US" sz="1150" dirty="0"/>
          </a:p>
        </p:txBody>
      </p:sp>
      <p:sp>
        <p:nvSpPr>
          <p:cNvPr id="19" name="Shape 14"/>
          <p:cNvSpPr/>
          <p:nvPr/>
        </p:nvSpPr>
        <p:spPr>
          <a:xfrm>
            <a:off x="566928" y="375818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0" name="Shape 15"/>
          <p:cNvSpPr/>
          <p:nvPr/>
        </p:nvSpPr>
        <p:spPr>
          <a:xfrm>
            <a:off x="804672" y="3977640"/>
            <a:ext cx="365760" cy="365760"/>
          </a:xfrm>
          <a:prstGeom prst="ellipse">
            <a:avLst/>
          </a:prstGeom>
          <a:solidFill>
            <a:srgbClr val="D93A3F"/>
          </a:solidFill>
          <a:ln w="12700">
            <a:solidFill>
              <a:srgbClr val="D93A3F"/>
            </a:solidFill>
            <a:prstDash val="solid"/>
          </a:ln>
        </p:spPr>
      </p:sp>
      <p:pic>
        <p:nvPicPr>
          <p:cNvPr id="21" name="Image 3" descr="preencoded.png">    </p:cNvPr>
          <p:cNvPicPr>
            <a:picLocks noChangeAspect="1"/>
          </p:cNvPicPr>
          <p:nvPr/>
        </p:nvPicPr>
        <p:blipFill>
          <a:blip r:embed="rId4"/>
          <a:stretch>
            <a:fillRect/>
          </a:stretch>
        </p:blipFill>
        <p:spPr>
          <a:xfrm>
            <a:off x="896112" y="4069080"/>
            <a:ext cx="182880" cy="182880"/>
          </a:xfrm>
          <a:prstGeom prst="rect">
            <a:avLst/>
          </a:prstGeom>
        </p:spPr>
      </p:pic>
      <p:sp>
        <p:nvSpPr>
          <p:cNvPr id="22" name="Text 16"/>
          <p:cNvSpPr/>
          <p:nvPr/>
        </p:nvSpPr>
        <p:spPr>
          <a:xfrm>
            <a:off x="1298448" y="399592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Runaway loops</a:t>
            </a:r>
            <a:endParaRPr lang="en-US" sz="1500" dirty="0"/>
          </a:p>
        </p:txBody>
      </p:sp>
      <p:sp>
        <p:nvSpPr>
          <p:cNvPr id="23" name="Text 17"/>
          <p:cNvSpPr/>
          <p:nvPr/>
        </p:nvSpPr>
        <p:spPr>
          <a:xfrm>
            <a:off x="1298448" y="4351630"/>
            <a:ext cx="2558186" cy="860450"/>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No stop condition, spending without limit. Module 04's first failure, now with a bill and an incident number.</a:t>
            </a:r>
            <a:endParaRPr lang="en-US" sz="1150" dirty="0"/>
          </a:p>
        </p:txBody>
      </p:sp>
      <p:sp>
        <p:nvSpPr>
          <p:cNvPr id="24" name="Shape 18"/>
          <p:cNvSpPr/>
          <p:nvPr/>
        </p:nvSpPr>
        <p:spPr>
          <a:xfrm>
            <a:off x="4332122" y="3758184"/>
            <a:ext cx="3527450" cy="1636776"/>
          </a:xfrm>
          <a:prstGeom prst="roundRect">
            <a:avLst>
              <a:gd name="adj" fmla="val 5028"/>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5" name="Shape 19"/>
          <p:cNvSpPr/>
          <p:nvPr/>
        </p:nvSpPr>
        <p:spPr>
          <a:xfrm>
            <a:off x="4569866" y="3977640"/>
            <a:ext cx="365760" cy="365760"/>
          </a:xfrm>
          <a:prstGeom prst="ellipse">
            <a:avLst/>
          </a:prstGeom>
          <a:solidFill>
            <a:srgbClr val="D93A3F"/>
          </a:solidFill>
          <a:ln w="12700">
            <a:solidFill>
              <a:srgbClr val="D93A3F"/>
            </a:solidFill>
            <a:prstDash val="solid"/>
          </a:ln>
        </p:spPr>
      </p:sp>
      <p:pic>
        <p:nvPicPr>
          <p:cNvPr id="26" name="Image 4" descr="preencoded.png">    </p:cNvPr>
          <p:cNvPicPr>
            <a:picLocks noChangeAspect="1"/>
          </p:cNvPicPr>
          <p:nvPr/>
        </p:nvPicPr>
        <p:blipFill>
          <a:blip r:embed="rId5"/>
          <a:stretch>
            <a:fillRect/>
          </a:stretch>
        </p:blipFill>
        <p:spPr>
          <a:xfrm>
            <a:off x="4661306" y="4069080"/>
            <a:ext cx="182880" cy="182880"/>
          </a:xfrm>
          <a:prstGeom prst="rect">
            <a:avLst/>
          </a:prstGeom>
        </p:spPr>
      </p:pic>
      <p:sp>
        <p:nvSpPr>
          <p:cNvPr id="27" name="Text 20"/>
          <p:cNvSpPr/>
          <p:nvPr/>
        </p:nvSpPr>
        <p:spPr>
          <a:xfrm>
            <a:off x="5063642" y="399592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Confused deputy</a:t>
            </a:r>
            <a:endParaRPr lang="en-US" sz="1500" dirty="0"/>
          </a:p>
        </p:txBody>
      </p:sp>
      <p:sp>
        <p:nvSpPr>
          <p:cNvPr id="28" name="Text 21"/>
          <p:cNvSpPr/>
          <p:nvPr/>
        </p:nvSpPr>
        <p:spPr>
          <a:xfrm>
            <a:off x="5063642" y="4351630"/>
            <a:ext cx="2558186" cy="860450"/>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The agent acts with more authority than the request warranted, because it holds a credential the requester never had.</a:t>
            </a:r>
            <a:endParaRPr lang="en-US" sz="1150" dirty="0"/>
          </a:p>
        </p:txBody>
      </p:sp>
      <p:sp>
        <p:nvSpPr>
          <p:cNvPr id="29" name="Shape 22"/>
          <p:cNvSpPr/>
          <p:nvPr/>
        </p:nvSpPr>
        <p:spPr>
          <a:xfrm>
            <a:off x="8097317" y="3758184"/>
            <a:ext cx="3527450" cy="1636776"/>
          </a:xfrm>
          <a:prstGeom prst="roundRect">
            <a:avLst>
              <a:gd name="adj" fmla="val 5028"/>
            </a:avLst>
          </a:prstGeom>
          <a:solidFill>
            <a:srgbClr val="EEEDFE"/>
          </a:solidFill>
          <a:ln w="12700">
            <a:solidFill>
              <a:srgbClr val="8E82F5"/>
            </a:solidFill>
            <a:prstDash val="solid"/>
          </a:ln>
          <a:effectLst>
            <a:outerShdw sx="100000" sy="100000" kx="0" ky="0" algn="bl" rotWithShape="0" blurRad="114300" dist="572" dir="5400000">
              <a:srgbClr val="1B1A4A">
                <a:alpha val="7000"/>
              </a:srgbClr>
            </a:outerShdw>
          </a:effectLst>
        </p:spPr>
      </p:sp>
      <p:sp>
        <p:nvSpPr>
          <p:cNvPr id="30" name="Shape 23"/>
          <p:cNvSpPr/>
          <p:nvPr/>
        </p:nvSpPr>
        <p:spPr>
          <a:xfrm>
            <a:off x="8335061" y="3977640"/>
            <a:ext cx="365760" cy="365760"/>
          </a:xfrm>
          <a:prstGeom prst="ellipse">
            <a:avLst/>
          </a:prstGeom>
          <a:solidFill>
            <a:srgbClr val="5B4BE8"/>
          </a:solidFill>
          <a:ln w="12700">
            <a:solidFill>
              <a:srgbClr val="5B4BE8"/>
            </a:solidFill>
            <a:prstDash val="solid"/>
          </a:ln>
        </p:spPr>
      </p:sp>
      <p:pic>
        <p:nvPicPr>
          <p:cNvPr id="31" name="Image 5" descr="preencoded.png">    </p:cNvPr>
          <p:cNvPicPr>
            <a:picLocks noChangeAspect="1"/>
          </p:cNvPicPr>
          <p:nvPr/>
        </p:nvPicPr>
        <p:blipFill>
          <a:blip r:embed="rId6"/>
          <a:stretch>
            <a:fillRect/>
          </a:stretch>
        </p:blipFill>
        <p:spPr>
          <a:xfrm>
            <a:off x="8426501" y="4069080"/>
            <a:ext cx="182880" cy="182880"/>
          </a:xfrm>
          <a:prstGeom prst="rect">
            <a:avLst/>
          </a:prstGeom>
        </p:spPr>
      </p:pic>
      <p:sp>
        <p:nvSpPr>
          <p:cNvPr id="32" name="Text 24"/>
          <p:cNvSpPr/>
          <p:nvPr/>
        </p:nvSpPr>
        <p:spPr>
          <a:xfrm>
            <a:off x="8828837" y="399592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All five are module 02</a:t>
            </a:r>
            <a:endParaRPr lang="en-US" sz="1500" dirty="0"/>
          </a:p>
        </p:txBody>
      </p:sp>
      <p:sp>
        <p:nvSpPr>
          <p:cNvPr id="33" name="Text 25"/>
          <p:cNvSpPr/>
          <p:nvPr/>
        </p:nvSpPr>
        <p:spPr>
          <a:xfrm>
            <a:off x="8828837" y="4351630"/>
            <a:ext cx="2558186" cy="860450"/>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Nothing here is the model doing something. Every one is your code acting on an instruction it should have questioned.</a:t>
            </a:r>
            <a:endParaRPr lang="en-US" sz="1150" dirty="0"/>
          </a:p>
        </p:txBody>
      </p:sp>
      <p:sp>
        <p:nvSpPr>
          <p:cNvPr id="34" name="Shape 26"/>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35" name="Shape 27"/>
          <p:cNvSpPr/>
          <p:nvPr/>
        </p:nvSpPr>
        <p:spPr>
          <a:xfrm>
            <a:off x="841248" y="5760720"/>
            <a:ext cx="384048" cy="384048"/>
          </a:xfrm>
          <a:prstGeom prst="ellipse">
            <a:avLst/>
          </a:prstGeom>
          <a:solidFill>
            <a:srgbClr val="F5A524"/>
          </a:solidFill>
          <a:ln w="12700">
            <a:solidFill>
              <a:srgbClr val="F5A524"/>
            </a:solidFill>
            <a:prstDash val="solid"/>
          </a:ln>
        </p:spPr>
      </p:sp>
      <p:pic>
        <p:nvPicPr>
          <p:cNvPr id="36" name="Image 6" descr="preencoded.png">    </p:cNvPr>
          <p:cNvPicPr>
            <a:picLocks noChangeAspect="1"/>
          </p:cNvPicPr>
          <p:nvPr/>
        </p:nvPicPr>
        <p:blipFill>
          <a:blip r:embed="rId7"/>
          <a:stretch>
            <a:fillRect/>
          </a:stretch>
        </p:blipFill>
        <p:spPr>
          <a:xfrm>
            <a:off x="937260" y="5856732"/>
            <a:ext cx="192024" cy="192024"/>
          </a:xfrm>
          <a:prstGeom prst="rect">
            <a:avLst/>
          </a:prstGeom>
        </p:spPr>
      </p:pic>
      <p:sp>
        <p:nvSpPr>
          <p:cNvPr id="37" name="Text 28"/>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An agent is a very literal, very fast employee who will follow instructions from anyone whose text reaches its desk. Most of security is controlling whose text reaches the desk.</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The agent you built yesterday is the one under attack today</a:t>
            </a:r>
            <a:endParaRPr lang="en-US" sz="2600" dirty="0"/>
          </a:p>
        </p:txBody>
      </p:sp>
      <p:sp>
        <p:nvSpPr>
          <p:cNvPr id="4" name="Shape 2"/>
          <p:cNvSpPr/>
          <p:nvPr/>
        </p:nvSpPr>
        <p:spPr>
          <a:xfrm>
            <a:off x="566928" y="1920240"/>
            <a:ext cx="3503066" cy="2871216"/>
          </a:xfrm>
          <a:prstGeom prst="roundRect">
            <a:avLst>
              <a:gd name="adj" fmla="val 3185"/>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5" name="Text 3"/>
          <p:cNvSpPr/>
          <p:nvPr/>
        </p:nvSpPr>
        <p:spPr>
          <a:xfrm>
            <a:off x="822960" y="2084832"/>
            <a:ext cx="548640" cy="548640"/>
          </a:xfrm>
          <a:prstGeom prst="rect">
            <a:avLst/>
          </a:prstGeom>
          <a:noFill/>
          <a:ln/>
        </p:spPr>
        <p:txBody>
          <a:bodyPr wrap="square" lIns="0" tIns="0" rIns="0" bIns="0" rtlCol="0" anchor="ctr"/>
          <a:lstStyle/>
          <a:p>
            <a:pPr indent="0" marL="0">
              <a:buNone/>
            </a:pPr>
            <a:r>
              <a:rPr lang="en-US" sz="4000" b="1" dirty="0">
                <a:solidFill>
                  <a:srgbClr val="9B98B4"/>
                </a:solidFill>
                <a:latin typeface="Cambria" pitchFamily="34" charset="0"/>
                <a:ea typeface="Cambria" pitchFamily="34" charset="-122"/>
                <a:cs typeface="Cambria" pitchFamily="34" charset="-120"/>
              </a:rPr>
              <a:t>1</a:t>
            </a:r>
            <a:endParaRPr lang="en-US" sz="4000" dirty="0"/>
          </a:p>
        </p:txBody>
      </p:sp>
      <p:sp>
        <p:nvSpPr>
          <p:cNvPr id="6" name="Shape 4"/>
          <p:cNvSpPr/>
          <p:nvPr/>
        </p:nvSpPr>
        <p:spPr>
          <a:xfrm>
            <a:off x="3393338" y="2139696"/>
            <a:ext cx="420624" cy="420624"/>
          </a:xfrm>
          <a:prstGeom prst="ellipse">
            <a:avLst/>
          </a:prstGeom>
          <a:solidFill>
            <a:srgbClr val="9B98B4"/>
          </a:solidFill>
          <a:ln w="12700">
            <a:solidFill>
              <a:srgbClr val="9B98B4"/>
            </a:solidFill>
            <a:prstDash val="solid"/>
          </a:ln>
        </p:spPr>
      </p:sp>
      <p:pic>
        <p:nvPicPr>
          <p:cNvPr id="7" name="Image 0" descr="preencoded.png">    </p:cNvPr>
          <p:cNvPicPr>
            <a:picLocks noChangeAspect="1"/>
          </p:cNvPicPr>
          <p:nvPr/>
        </p:nvPicPr>
        <p:blipFill>
          <a:blip r:embed="rId1"/>
          <a:stretch>
            <a:fillRect/>
          </a:stretch>
        </p:blipFill>
        <p:spPr>
          <a:xfrm>
            <a:off x="3498494" y="2244852"/>
            <a:ext cx="210312" cy="210312"/>
          </a:xfrm>
          <a:prstGeom prst="rect">
            <a:avLst/>
          </a:prstGeom>
        </p:spPr>
      </p:pic>
      <p:sp>
        <p:nvSpPr>
          <p:cNvPr id="8" name="Text 5"/>
          <p:cNvSpPr/>
          <p:nvPr/>
        </p:nvSpPr>
        <p:spPr>
          <a:xfrm>
            <a:off x="822960" y="2761488"/>
            <a:ext cx="2991002" cy="384048"/>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Poison one document</a:t>
            </a:r>
            <a:endParaRPr lang="en-US" sz="1700" dirty="0"/>
          </a:p>
        </p:txBody>
      </p:sp>
      <p:sp>
        <p:nvSpPr>
          <p:cNvPr id="9" name="Text 6"/>
          <p:cNvSpPr/>
          <p:nvPr/>
        </p:nvSpPr>
        <p:spPr>
          <a:xfrm>
            <a:off x="822960" y="3218688"/>
            <a:ext cx="2991002" cy="1371600"/>
          </a:xfrm>
          <a:prstGeom prst="rect">
            <a:avLst/>
          </a:prstGeom>
          <a:noFill/>
          <a:ln/>
        </p:spPr>
        <p:txBody>
          <a:bodyPr wrap="square" lIns="0" tIns="0" rIns="0" bIns="0" rtlCol="0" anchor="t"/>
          <a:lstStyle/>
          <a:p>
            <a:pPr indent="0" marL="0">
              <a:lnSpc>
                <a:spcPct val="116000"/>
              </a:lnSpc>
              <a:buNone/>
            </a:pPr>
            <a:r>
              <a:rPr lang="en-US" sz="1250" dirty="0">
                <a:solidFill>
                  <a:srgbClr val="6E6B8A"/>
                </a:solidFill>
                <a:latin typeface="Calibri" pitchFamily="34" charset="0"/>
                <a:ea typeface="Calibri" pitchFamily="34" charset="-122"/>
                <a:cs typeface="Calibri" pitchFamily="34" charset="-120"/>
              </a:rPr>
              <a:t>It has been sitting in your own retrieval corpus since module 12, doing nothing.</a:t>
            </a:r>
            <a:endParaRPr lang="en-US" sz="1250" dirty="0"/>
          </a:p>
        </p:txBody>
      </p:sp>
      <p:sp>
        <p:nvSpPr>
          <p:cNvPr id="10" name="Shape 7"/>
          <p:cNvSpPr/>
          <p:nvPr/>
        </p:nvSpPr>
        <p:spPr>
          <a:xfrm>
            <a:off x="4124858" y="3310128"/>
            <a:ext cx="164592" cy="0"/>
          </a:xfrm>
          <a:prstGeom prst="line">
            <a:avLst/>
          </a:prstGeom>
          <a:noFill/>
          <a:ln w="27940">
            <a:solidFill>
              <a:srgbClr val="8E82F5"/>
            </a:solidFill>
            <a:prstDash val="solid"/>
            <a:headEnd type="none"/>
            <a:tailEnd type="triangle"/>
          </a:ln>
        </p:spPr>
      </p:sp>
      <p:sp>
        <p:nvSpPr>
          <p:cNvPr id="11" name="Shape 8"/>
          <p:cNvSpPr/>
          <p:nvPr/>
        </p:nvSpPr>
        <p:spPr>
          <a:xfrm>
            <a:off x="4344314" y="1920240"/>
            <a:ext cx="3503066" cy="2871216"/>
          </a:xfrm>
          <a:prstGeom prst="roundRect">
            <a:avLst>
              <a:gd name="adj" fmla="val 3185"/>
            </a:avLst>
          </a:prstGeom>
          <a:solidFill>
            <a:srgbClr val="FDECEC"/>
          </a:solidFill>
          <a:ln w="12700">
            <a:solidFill>
              <a:srgbClr val="F1C9C9"/>
            </a:solidFill>
            <a:prstDash val="solid"/>
          </a:ln>
          <a:effectLst>
            <a:outerShdw sx="100000" sy="100000" kx="0" ky="0" algn="bl" rotWithShape="0" blurRad="101600" dist="508" dir="5400000">
              <a:srgbClr val="1B1A4A">
                <a:alpha val="7000"/>
              </a:srgbClr>
            </a:outerShdw>
          </a:effectLst>
        </p:spPr>
      </p:sp>
      <p:sp>
        <p:nvSpPr>
          <p:cNvPr id="12" name="Text 9"/>
          <p:cNvSpPr/>
          <p:nvPr/>
        </p:nvSpPr>
        <p:spPr>
          <a:xfrm>
            <a:off x="4600346" y="2084832"/>
            <a:ext cx="548640" cy="548640"/>
          </a:xfrm>
          <a:prstGeom prst="rect">
            <a:avLst/>
          </a:prstGeom>
          <a:noFill/>
          <a:ln/>
        </p:spPr>
        <p:txBody>
          <a:bodyPr wrap="square" lIns="0" tIns="0" rIns="0" bIns="0" rtlCol="0" anchor="ctr"/>
          <a:lstStyle/>
          <a:p>
            <a:pPr indent="0" marL="0">
              <a:buNone/>
            </a:pPr>
            <a:r>
              <a:rPr lang="en-US" sz="4000" b="1" dirty="0">
                <a:solidFill>
                  <a:srgbClr val="D93A3F"/>
                </a:solidFill>
                <a:latin typeface="Cambria" pitchFamily="34" charset="0"/>
                <a:ea typeface="Cambria" pitchFamily="34" charset="-122"/>
                <a:cs typeface="Cambria" pitchFamily="34" charset="-120"/>
              </a:rPr>
              <a:t>2</a:t>
            </a:r>
            <a:endParaRPr lang="en-US" sz="4000" dirty="0"/>
          </a:p>
        </p:txBody>
      </p:sp>
      <p:sp>
        <p:nvSpPr>
          <p:cNvPr id="13" name="Shape 10"/>
          <p:cNvSpPr/>
          <p:nvPr/>
        </p:nvSpPr>
        <p:spPr>
          <a:xfrm>
            <a:off x="7170725" y="2139696"/>
            <a:ext cx="420624" cy="420624"/>
          </a:xfrm>
          <a:prstGeom prst="ellipse">
            <a:avLst/>
          </a:prstGeom>
          <a:solidFill>
            <a:srgbClr val="D93A3F"/>
          </a:solidFill>
          <a:ln w="12700">
            <a:solidFill>
              <a:srgbClr val="D93A3F"/>
            </a:solidFill>
            <a:prstDash val="solid"/>
          </a:ln>
        </p:spPr>
      </p:sp>
      <p:pic>
        <p:nvPicPr>
          <p:cNvPr id="14" name="Image 1" descr="preencoded.png">    </p:cNvPr>
          <p:cNvPicPr>
            <a:picLocks noChangeAspect="1"/>
          </p:cNvPicPr>
          <p:nvPr/>
        </p:nvPicPr>
        <p:blipFill>
          <a:blip r:embed="rId2"/>
          <a:stretch>
            <a:fillRect/>
          </a:stretch>
        </p:blipFill>
        <p:spPr>
          <a:xfrm>
            <a:off x="7275881" y="2244852"/>
            <a:ext cx="210312" cy="210312"/>
          </a:xfrm>
          <a:prstGeom prst="rect">
            <a:avLst/>
          </a:prstGeom>
        </p:spPr>
      </p:pic>
      <p:sp>
        <p:nvSpPr>
          <p:cNvPr id="15" name="Text 11"/>
          <p:cNvSpPr/>
          <p:nvPr/>
        </p:nvSpPr>
        <p:spPr>
          <a:xfrm>
            <a:off x="4600346" y="2761488"/>
            <a:ext cx="2991002" cy="384048"/>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Watch your agent obey it</a:t>
            </a:r>
            <a:endParaRPr lang="en-US" sz="1700" dirty="0"/>
          </a:p>
        </p:txBody>
      </p:sp>
      <p:sp>
        <p:nvSpPr>
          <p:cNvPr id="16" name="Text 12"/>
          <p:cNvSpPr/>
          <p:nvPr/>
        </p:nvSpPr>
        <p:spPr>
          <a:xfrm>
            <a:off x="4600346" y="3218688"/>
            <a:ext cx="2991002" cy="1371600"/>
          </a:xfrm>
          <a:prstGeom prst="rect">
            <a:avLst/>
          </a:prstGeom>
          <a:noFill/>
          <a:ln/>
        </p:spPr>
        <p:txBody>
          <a:bodyPr wrap="square" lIns="0" tIns="0" rIns="0" bIns="0" rtlCol="0" anchor="t"/>
          <a:lstStyle/>
          <a:p>
            <a:pPr indent="0" marL="0">
              <a:lnSpc>
                <a:spcPct val="116000"/>
              </a:lnSpc>
              <a:buNone/>
            </a:pPr>
            <a:r>
              <a:rPr lang="en-US" sz="1250" dirty="0">
                <a:solidFill>
                  <a:srgbClr val="6E6B8A"/>
                </a:solidFill>
                <a:latin typeface="Calibri" pitchFamily="34" charset="0"/>
                <a:ea typeface="Calibri" pitchFamily="34" charset="-122"/>
                <a:cs typeface="Calibri" pitchFamily="34" charset="-120"/>
              </a:rPr>
              <a:t>It retrieves the document, reads the hidden instruction, and follows it. No exploit, no vulnerability — it worked exactly as designed.</a:t>
            </a:r>
            <a:endParaRPr lang="en-US" sz="1250" dirty="0"/>
          </a:p>
        </p:txBody>
      </p:sp>
      <p:sp>
        <p:nvSpPr>
          <p:cNvPr id="17" name="Shape 13"/>
          <p:cNvSpPr/>
          <p:nvPr/>
        </p:nvSpPr>
        <p:spPr>
          <a:xfrm>
            <a:off x="7902245" y="3310128"/>
            <a:ext cx="164592" cy="0"/>
          </a:xfrm>
          <a:prstGeom prst="line">
            <a:avLst/>
          </a:prstGeom>
          <a:noFill/>
          <a:ln w="27940">
            <a:solidFill>
              <a:srgbClr val="8E82F5"/>
            </a:solidFill>
            <a:prstDash val="solid"/>
            <a:headEnd type="none"/>
            <a:tailEnd type="triangle"/>
          </a:ln>
        </p:spPr>
      </p:sp>
      <p:sp>
        <p:nvSpPr>
          <p:cNvPr id="18" name="Shape 14"/>
          <p:cNvSpPr/>
          <p:nvPr/>
        </p:nvSpPr>
        <p:spPr>
          <a:xfrm>
            <a:off x="8121701" y="1920240"/>
            <a:ext cx="3503066" cy="2871216"/>
          </a:xfrm>
          <a:prstGeom prst="roundRect">
            <a:avLst>
              <a:gd name="adj" fmla="val 3185"/>
            </a:avLst>
          </a:prstGeom>
          <a:solidFill>
            <a:srgbClr val="E7F7F1"/>
          </a:solidFill>
          <a:ln w="12700">
            <a:solidFill>
              <a:srgbClr val="C2E6D7"/>
            </a:solidFill>
            <a:prstDash val="solid"/>
          </a:ln>
          <a:effectLst>
            <a:outerShdw sx="100000" sy="100000" kx="0" ky="0" algn="bl" rotWithShape="0" blurRad="101600" dist="508" dir="5400000">
              <a:srgbClr val="1B1A4A">
                <a:alpha val="7000"/>
              </a:srgbClr>
            </a:outerShdw>
          </a:effectLst>
        </p:spPr>
      </p:sp>
      <p:sp>
        <p:nvSpPr>
          <p:cNvPr id="19" name="Text 15"/>
          <p:cNvSpPr/>
          <p:nvPr/>
        </p:nvSpPr>
        <p:spPr>
          <a:xfrm>
            <a:off x="8377733" y="2084832"/>
            <a:ext cx="548640" cy="548640"/>
          </a:xfrm>
          <a:prstGeom prst="rect">
            <a:avLst/>
          </a:prstGeom>
          <a:noFill/>
          <a:ln/>
        </p:spPr>
        <p:txBody>
          <a:bodyPr wrap="square" lIns="0" tIns="0" rIns="0" bIns="0" rtlCol="0" anchor="ctr"/>
          <a:lstStyle/>
          <a:p>
            <a:pPr indent="0" marL="0">
              <a:buNone/>
            </a:pPr>
            <a:r>
              <a:rPr lang="en-US" sz="4000" b="1" dirty="0">
                <a:solidFill>
                  <a:srgbClr val="0E9F6E"/>
                </a:solidFill>
                <a:latin typeface="Cambria" pitchFamily="34" charset="0"/>
                <a:ea typeface="Cambria" pitchFamily="34" charset="-122"/>
                <a:cs typeface="Cambria" pitchFamily="34" charset="-120"/>
              </a:rPr>
              <a:t>3</a:t>
            </a:r>
            <a:endParaRPr lang="en-US" sz="4000" dirty="0"/>
          </a:p>
        </p:txBody>
      </p:sp>
      <p:sp>
        <p:nvSpPr>
          <p:cNvPr id="20" name="Shape 16"/>
          <p:cNvSpPr/>
          <p:nvPr/>
        </p:nvSpPr>
        <p:spPr>
          <a:xfrm>
            <a:off x="10948111" y="2139696"/>
            <a:ext cx="420624" cy="420624"/>
          </a:xfrm>
          <a:prstGeom prst="ellipse">
            <a:avLst/>
          </a:prstGeom>
          <a:solidFill>
            <a:srgbClr val="0E9F6E"/>
          </a:solidFill>
          <a:ln w="12700">
            <a:solidFill>
              <a:srgbClr val="0E9F6E"/>
            </a:solidFill>
            <a:prstDash val="solid"/>
          </a:ln>
        </p:spPr>
      </p:sp>
      <p:pic>
        <p:nvPicPr>
          <p:cNvPr id="21" name="Image 2" descr="preencoded.png">    </p:cNvPr>
          <p:cNvPicPr>
            <a:picLocks noChangeAspect="1"/>
          </p:cNvPicPr>
          <p:nvPr/>
        </p:nvPicPr>
        <p:blipFill>
          <a:blip r:embed="rId3"/>
          <a:stretch>
            <a:fillRect/>
          </a:stretch>
        </p:blipFill>
        <p:spPr>
          <a:xfrm>
            <a:off x="11053267" y="2244852"/>
            <a:ext cx="210312" cy="210312"/>
          </a:xfrm>
          <a:prstGeom prst="rect">
            <a:avLst/>
          </a:prstGeom>
        </p:spPr>
      </p:pic>
      <p:sp>
        <p:nvSpPr>
          <p:cNvPr id="22" name="Text 17"/>
          <p:cNvSpPr/>
          <p:nvPr/>
        </p:nvSpPr>
        <p:spPr>
          <a:xfrm>
            <a:off x="8377733" y="2761488"/>
            <a:ext cx="2991002" cy="384048"/>
          </a:xfrm>
          <a:prstGeom prst="rect">
            <a:avLst/>
          </a:prstGeom>
          <a:noFill/>
          <a:ln/>
        </p:spPr>
        <p:txBody>
          <a:bodyPr wrap="square" lIns="0" tIns="0" rIns="0" bIns="0" rtlCol="0" anchor="ctr"/>
          <a:lstStyle/>
          <a:p>
            <a:pPr indent="0" marL="0">
              <a:buNone/>
            </a:pPr>
            <a:r>
              <a:rPr lang="en-US" sz="1700" b="1" dirty="0">
                <a:solidFill>
                  <a:srgbClr val="141235"/>
                </a:solidFill>
                <a:latin typeface="Calibri" pitchFamily="34" charset="0"/>
                <a:ea typeface="Calibri" pitchFamily="34" charset="-122"/>
                <a:cs typeface="Calibri" pitchFamily="34" charset="-120"/>
              </a:rPr>
              <a:t>Add the guardrail</a:t>
            </a:r>
            <a:endParaRPr lang="en-US" sz="1700" dirty="0"/>
          </a:p>
        </p:txBody>
      </p:sp>
      <p:sp>
        <p:nvSpPr>
          <p:cNvPr id="23" name="Text 18"/>
          <p:cNvSpPr/>
          <p:nvPr/>
        </p:nvSpPr>
        <p:spPr>
          <a:xfrm>
            <a:off x="8377733" y="3218688"/>
            <a:ext cx="2991002" cy="1371600"/>
          </a:xfrm>
          <a:prstGeom prst="rect">
            <a:avLst/>
          </a:prstGeom>
          <a:noFill/>
          <a:ln/>
        </p:spPr>
        <p:txBody>
          <a:bodyPr wrap="square" lIns="0" tIns="0" rIns="0" bIns="0" rtlCol="0" anchor="t"/>
          <a:lstStyle/>
          <a:p>
            <a:pPr indent="0" marL="0">
              <a:lnSpc>
                <a:spcPct val="116000"/>
              </a:lnSpc>
              <a:buNone/>
            </a:pPr>
            <a:r>
              <a:rPr lang="en-US" sz="1250" dirty="0">
                <a:solidFill>
                  <a:srgbClr val="6E6B8A"/>
                </a:solidFill>
                <a:latin typeface="Calibri" pitchFamily="34" charset="0"/>
                <a:ea typeface="Calibri" pitchFamily="34" charset="-122"/>
                <a:cs typeface="Calibri" pitchFamily="34" charset="-120"/>
              </a:rPr>
              <a:t>Separate retrieved content from instructions. Constrain what the tool may do with it. Re-run the same attack.</a:t>
            </a:r>
            <a:endParaRPr lang="en-US" sz="1250" dirty="0"/>
          </a:p>
        </p:txBody>
      </p:sp>
      <p:sp>
        <p:nvSpPr>
          <p:cNvPr id="24" name="Text 19"/>
          <p:cNvSpPr/>
          <p:nvPr/>
        </p:nvSpPr>
        <p:spPr>
          <a:xfrm>
            <a:off x="566928" y="4901184"/>
            <a:ext cx="11057839" cy="329184"/>
          </a:xfrm>
          <a:prstGeom prst="rect">
            <a:avLst/>
          </a:prstGeom>
          <a:noFill/>
          <a:ln/>
        </p:spPr>
        <p:txBody>
          <a:bodyPr wrap="square" lIns="0" tIns="0" rIns="0" bIns="0" rtlCol="0" anchor="ctr"/>
          <a:lstStyle/>
          <a:p>
            <a:pPr indent="0" marL="0">
              <a:buNone/>
            </a:pPr>
            <a:r>
              <a:rPr lang="en-US" sz="1400" i="1" dirty="0">
                <a:solidFill>
                  <a:srgbClr val="3B3760"/>
                </a:solidFill>
                <a:latin typeface="Calibri" pitchFamily="34" charset="0"/>
                <a:ea typeface="Calibri" pitchFamily="34" charset="-122"/>
                <a:cs typeface="Calibri" pitchFamily="34" charset="-120"/>
              </a:rPr>
              <a:t>Nothing else in this course lands as hard as watching your own agent do it.</a:t>
            </a:r>
            <a:endParaRPr lang="en-US" sz="1400" dirty="0"/>
          </a:p>
        </p:txBody>
      </p:sp>
      <p:sp>
        <p:nvSpPr>
          <p:cNvPr id="25" name="Shape 20"/>
          <p:cNvSpPr/>
          <p:nvPr/>
        </p:nvSpPr>
        <p:spPr>
          <a:xfrm>
            <a:off x="566928" y="5394960"/>
            <a:ext cx="11057839" cy="822960"/>
          </a:xfrm>
          <a:prstGeom prst="roundRect">
            <a:avLst>
              <a:gd name="adj" fmla="val 10000"/>
            </a:avLst>
          </a:prstGeom>
          <a:solidFill>
            <a:srgbClr val="FFF4E0"/>
          </a:solidFill>
          <a:ln w="12700">
            <a:solidFill>
              <a:srgbClr val="F3DCB0"/>
            </a:solidFill>
            <a:prstDash val="solid"/>
          </a:ln>
        </p:spPr>
      </p:sp>
      <p:sp>
        <p:nvSpPr>
          <p:cNvPr id="26" name="Shape 21"/>
          <p:cNvSpPr/>
          <p:nvPr/>
        </p:nvSpPr>
        <p:spPr>
          <a:xfrm>
            <a:off x="841248" y="5614416"/>
            <a:ext cx="384048" cy="384048"/>
          </a:xfrm>
          <a:prstGeom prst="ellipse">
            <a:avLst/>
          </a:prstGeom>
          <a:solidFill>
            <a:srgbClr val="F5A524"/>
          </a:solidFill>
          <a:ln w="12700">
            <a:solidFill>
              <a:srgbClr val="F5A524"/>
            </a:solidFill>
            <a:prstDash val="solid"/>
          </a:ln>
        </p:spPr>
      </p:sp>
      <p:pic>
        <p:nvPicPr>
          <p:cNvPr id="27" name="Image 3" descr="preencoded.png">    </p:cNvPr>
          <p:cNvPicPr>
            <a:picLocks noChangeAspect="1"/>
          </p:cNvPicPr>
          <p:nvPr/>
        </p:nvPicPr>
        <p:blipFill>
          <a:blip r:embed="rId4"/>
          <a:stretch>
            <a:fillRect/>
          </a:stretch>
        </p:blipFill>
        <p:spPr>
          <a:xfrm>
            <a:off x="937260" y="5710428"/>
            <a:ext cx="192024" cy="192024"/>
          </a:xfrm>
          <a:prstGeom prst="rect">
            <a:avLst/>
          </a:prstGeom>
        </p:spPr>
      </p:pic>
      <p:sp>
        <p:nvSpPr>
          <p:cNvPr id="28" name="Text 22"/>
          <p:cNvSpPr/>
          <p:nvPr/>
        </p:nvSpPr>
        <p:spPr>
          <a:xfrm>
            <a:off x="1371600" y="5449824"/>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Someone can leave a note inside a document your agent reads, and the agent will treat that note as if you had written it.</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“Human in the loop” is a design, not a promise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Everyone agrees there should be a human. Almost nobody specifies where, with what information, and what happens when they say no.</a:t>
            </a:r>
            <a:endParaRPr lang="en-US" sz="1400" dirty="0"/>
          </a:p>
        </p:txBody>
      </p:sp>
      <p:sp>
        <p:nvSpPr>
          <p:cNvPr id="5" name="Shape 3"/>
          <p:cNvSpPr/>
          <p:nvPr/>
        </p:nvSpPr>
        <p:spPr>
          <a:xfrm>
            <a:off x="566928" y="2170511"/>
            <a:ext cx="2586152" cy="2590129"/>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389967"/>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481407"/>
            <a:ext cx="182880" cy="182880"/>
          </a:xfrm>
          <a:prstGeom prst="rect">
            <a:avLst/>
          </a:prstGeom>
        </p:spPr>
      </p:pic>
      <p:sp>
        <p:nvSpPr>
          <p:cNvPr id="8" name="Text 5"/>
          <p:cNvSpPr/>
          <p:nvPr/>
        </p:nvSpPr>
        <p:spPr>
          <a:xfrm>
            <a:off x="1298448" y="2380823"/>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WHERE</a:t>
            </a:r>
            <a:endParaRPr lang="en-US" sz="850" dirty="0"/>
          </a:p>
        </p:txBody>
      </p:sp>
      <p:sp>
        <p:nvSpPr>
          <p:cNvPr id="9" name="Text 6"/>
          <p:cNvSpPr/>
          <p:nvPr/>
        </p:nvSpPr>
        <p:spPr>
          <a:xfrm>
            <a:off x="1298448" y="2600279"/>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Before the action, not after</a:t>
            </a:r>
            <a:endParaRPr lang="en-US" sz="1450" dirty="0"/>
          </a:p>
        </p:txBody>
      </p:sp>
      <p:sp>
        <p:nvSpPr>
          <p:cNvPr id="10" name="Text 7"/>
          <p:cNvSpPr/>
          <p:nvPr/>
        </p:nvSpPr>
        <p:spPr>
          <a:xfrm>
            <a:off x="1298448" y="3231581"/>
            <a:ext cx="1616888" cy="134618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The gate goes between the model choosing a tool and your code running it. Anywhere later and you are reviewing something that already happened.</a:t>
            </a:r>
            <a:endParaRPr lang="en-US" sz="1100" dirty="0"/>
          </a:p>
        </p:txBody>
      </p:sp>
      <p:sp>
        <p:nvSpPr>
          <p:cNvPr id="11" name="Shape 8"/>
          <p:cNvSpPr/>
          <p:nvPr/>
        </p:nvSpPr>
        <p:spPr>
          <a:xfrm>
            <a:off x="3390824" y="2170511"/>
            <a:ext cx="2586152" cy="2590129"/>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3628568" y="2389967"/>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3720008" y="2481407"/>
            <a:ext cx="182880" cy="182880"/>
          </a:xfrm>
          <a:prstGeom prst="rect">
            <a:avLst/>
          </a:prstGeom>
        </p:spPr>
      </p:pic>
      <p:sp>
        <p:nvSpPr>
          <p:cNvPr id="14" name="Text 10"/>
          <p:cNvSpPr/>
          <p:nvPr/>
        </p:nvSpPr>
        <p:spPr>
          <a:xfrm>
            <a:off x="4122344" y="2380823"/>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WHAT THEY SEE</a:t>
            </a:r>
            <a:endParaRPr lang="en-US" sz="850" dirty="0"/>
          </a:p>
        </p:txBody>
      </p:sp>
      <p:sp>
        <p:nvSpPr>
          <p:cNvPr id="15" name="Text 11"/>
          <p:cNvSpPr/>
          <p:nvPr/>
        </p:nvSpPr>
        <p:spPr>
          <a:xfrm>
            <a:off x="4122344" y="2600279"/>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The actual arguments</a:t>
            </a:r>
            <a:endParaRPr lang="en-US" sz="1450" dirty="0"/>
          </a:p>
        </p:txBody>
      </p:sp>
      <p:sp>
        <p:nvSpPr>
          <p:cNvPr id="16" name="Text 12"/>
          <p:cNvSpPr/>
          <p:nvPr/>
        </p:nvSpPr>
        <p:spPr>
          <a:xfrm>
            <a:off x="4122344" y="3231581"/>
            <a:ext cx="1616888" cy="134618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“The agent wants to send an email” is not reviewable. “Send this text, to this address, from this account” is. Show the parsed arguments, not a summary.</a:t>
            </a:r>
            <a:endParaRPr lang="en-US" sz="1100" dirty="0"/>
          </a:p>
        </p:txBody>
      </p:sp>
      <p:sp>
        <p:nvSpPr>
          <p:cNvPr id="17" name="Shape 13"/>
          <p:cNvSpPr/>
          <p:nvPr/>
        </p:nvSpPr>
        <p:spPr>
          <a:xfrm>
            <a:off x="6214720" y="2170511"/>
            <a:ext cx="2586152" cy="2590129"/>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6452464" y="2389967"/>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6543904" y="2481407"/>
            <a:ext cx="182880" cy="182880"/>
          </a:xfrm>
          <a:prstGeom prst="rect">
            <a:avLst/>
          </a:prstGeom>
        </p:spPr>
      </p:pic>
      <p:sp>
        <p:nvSpPr>
          <p:cNvPr id="20" name="Text 15"/>
          <p:cNvSpPr/>
          <p:nvPr/>
        </p:nvSpPr>
        <p:spPr>
          <a:xfrm>
            <a:off x="6946240" y="2380823"/>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HOW IT SURVIVES</a:t>
            </a:r>
            <a:endParaRPr lang="en-US" sz="850" dirty="0"/>
          </a:p>
        </p:txBody>
      </p:sp>
      <p:sp>
        <p:nvSpPr>
          <p:cNvPr id="21" name="Text 16"/>
          <p:cNvSpPr/>
          <p:nvPr/>
        </p:nvSpPr>
        <p:spPr>
          <a:xfrm>
            <a:off x="6946240" y="2600279"/>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Pause and resume</a:t>
            </a:r>
            <a:endParaRPr lang="en-US" sz="1450" dirty="0"/>
          </a:p>
        </p:txBody>
      </p:sp>
      <p:sp>
        <p:nvSpPr>
          <p:cNvPr id="22" name="Text 17"/>
          <p:cNvSpPr/>
          <p:nvPr/>
        </p:nvSpPr>
        <p:spPr>
          <a:xfrm>
            <a:off x="6946240" y="3231581"/>
            <a:ext cx="1616888" cy="134618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 human takes minutes or days. The run has to be serialisable and resumable — which is precisely what tier 2 frameworks were selling in module 09.</a:t>
            </a:r>
            <a:endParaRPr lang="en-US" sz="1100" dirty="0"/>
          </a:p>
        </p:txBody>
      </p:sp>
      <p:sp>
        <p:nvSpPr>
          <p:cNvPr id="23" name="Shape 18"/>
          <p:cNvSpPr/>
          <p:nvPr/>
        </p:nvSpPr>
        <p:spPr>
          <a:xfrm>
            <a:off x="9038615" y="2170511"/>
            <a:ext cx="2586152" cy="2590129"/>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4" name="Shape 19"/>
          <p:cNvSpPr/>
          <p:nvPr/>
        </p:nvSpPr>
        <p:spPr>
          <a:xfrm>
            <a:off x="9276359" y="2389967"/>
            <a:ext cx="365760" cy="365760"/>
          </a:xfrm>
          <a:prstGeom prst="ellipse">
            <a:avLst/>
          </a:prstGeom>
          <a:solidFill>
            <a:srgbClr val="5B4BE8"/>
          </a:solidFill>
          <a:ln w="12700">
            <a:solidFill>
              <a:srgbClr val="5B4BE8"/>
            </a:solidFill>
            <a:prstDash val="solid"/>
          </a:ln>
        </p:spPr>
      </p:sp>
      <p:pic>
        <p:nvPicPr>
          <p:cNvPr id="25" name="Image 3" descr="preencoded.png">    </p:cNvPr>
          <p:cNvPicPr>
            <a:picLocks noChangeAspect="1"/>
          </p:cNvPicPr>
          <p:nvPr/>
        </p:nvPicPr>
        <p:blipFill>
          <a:blip r:embed="rId4"/>
          <a:stretch>
            <a:fillRect/>
          </a:stretch>
        </p:blipFill>
        <p:spPr>
          <a:xfrm>
            <a:off x="9367799" y="2481407"/>
            <a:ext cx="182880" cy="182880"/>
          </a:xfrm>
          <a:prstGeom prst="rect">
            <a:avLst/>
          </a:prstGeom>
        </p:spPr>
      </p:pic>
      <p:sp>
        <p:nvSpPr>
          <p:cNvPr id="26" name="Text 20"/>
          <p:cNvSpPr/>
          <p:nvPr/>
        </p:nvSpPr>
        <p:spPr>
          <a:xfrm>
            <a:off x="9770135" y="2380823"/>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FAILURE MODE</a:t>
            </a:r>
            <a:endParaRPr lang="en-US" sz="850" dirty="0"/>
          </a:p>
        </p:txBody>
      </p:sp>
      <p:sp>
        <p:nvSpPr>
          <p:cNvPr id="27" name="Text 21"/>
          <p:cNvSpPr/>
          <p:nvPr/>
        </p:nvSpPr>
        <p:spPr>
          <a:xfrm>
            <a:off x="9770135" y="2600279"/>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Approval fatigue</a:t>
            </a:r>
            <a:endParaRPr lang="en-US" sz="1450" dirty="0"/>
          </a:p>
        </p:txBody>
      </p:sp>
      <p:sp>
        <p:nvSpPr>
          <p:cNvPr id="28" name="Text 22"/>
          <p:cNvSpPr/>
          <p:nvPr/>
        </p:nvSpPr>
        <p:spPr>
          <a:xfrm>
            <a:off x="9770135" y="3231581"/>
            <a:ext cx="1616888" cy="134618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Gate everything and people click yes without reading, which is worse than no gate because now it is documented as approved.</a:t>
            </a:r>
            <a:endParaRPr lang="en-US" sz="1100" dirty="0"/>
          </a:p>
        </p:txBody>
      </p:sp>
      <p:sp>
        <p:nvSpPr>
          <p:cNvPr id="29" name="Text 23"/>
          <p:cNvSpPr/>
          <p:nvPr/>
        </p:nvSpPr>
        <p:spPr>
          <a:xfrm>
            <a:off x="566928" y="5047488"/>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MCP's elicitation feature (module 06) is this same idea expressed at the protocol level — the server can pause and ask.</a:t>
            </a:r>
            <a:endParaRPr lang="en-US" sz="950" dirty="0"/>
          </a:p>
        </p:txBody>
      </p:sp>
      <p:sp>
        <p:nvSpPr>
          <p:cNvPr id="30" name="Shape 24"/>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31" name="Shape 25"/>
          <p:cNvSpPr/>
          <p:nvPr/>
        </p:nvSpPr>
        <p:spPr>
          <a:xfrm>
            <a:off x="841248" y="5650992"/>
            <a:ext cx="384048" cy="384048"/>
          </a:xfrm>
          <a:prstGeom prst="ellipse">
            <a:avLst/>
          </a:prstGeom>
          <a:solidFill>
            <a:srgbClr val="F5A524"/>
          </a:solidFill>
          <a:ln w="12700">
            <a:solidFill>
              <a:srgbClr val="F5A524"/>
            </a:solidFill>
            <a:prstDash val="solid"/>
          </a:ln>
        </p:spPr>
      </p:sp>
      <p:pic>
        <p:nvPicPr>
          <p:cNvPr id="32" name="Image 4" descr="preencoded.png">    </p:cNvPr>
          <p:cNvPicPr>
            <a:picLocks noChangeAspect="1"/>
          </p:cNvPicPr>
          <p:nvPr/>
        </p:nvPicPr>
        <p:blipFill>
          <a:blip r:embed="rId5"/>
          <a:stretch>
            <a:fillRect/>
          </a:stretch>
        </p:blipFill>
        <p:spPr>
          <a:xfrm>
            <a:off x="937260" y="5747004"/>
            <a:ext cx="192024" cy="192024"/>
          </a:xfrm>
          <a:prstGeom prst="rect">
            <a:avLst/>
          </a:prstGeom>
        </p:spPr>
      </p:pic>
      <p:sp>
        <p:nvSpPr>
          <p:cNvPr id="33" name="Text 26"/>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Gate the few actions that are expensive to undo, and show the person enough to actually judge. Gating everything trains people to approve everything.</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An agent needs its own identity, not a shared one</a:t>
            </a:r>
            <a:endParaRPr lang="en-US" sz="3000" dirty="0"/>
          </a:p>
        </p:txBody>
      </p:sp>
      <p:sp>
        <p:nvSpPr>
          <p:cNvPr id="4" name="Shape 2"/>
          <p:cNvSpPr/>
          <p:nvPr/>
        </p:nvSpPr>
        <p:spPr>
          <a:xfrm>
            <a:off x="566928" y="2534534"/>
            <a:ext cx="3527450" cy="2300996"/>
          </a:xfrm>
          <a:prstGeom prst="roundRect">
            <a:avLst>
              <a:gd name="adj" fmla="val 357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753990"/>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845430"/>
            <a:ext cx="182880" cy="182880"/>
          </a:xfrm>
          <a:prstGeom prst="rect">
            <a:avLst/>
          </a:prstGeom>
        </p:spPr>
      </p:pic>
      <p:sp>
        <p:nvSpPr>
          <p:cNvPr id="7" name="Text 4"/>
          <p:cNvSpPr/>
          <p:nvPr/>
        </p:nvSpPr>
        <p:spPr>
          <a:xfrm>
            <a:off x="1298448" y="274484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PROBLEM</a:t>
            </a:r>
            <a:endParaRPr lang="en-US" sz="850" dirty="0"/>
          </a:p>
        </p:txBody>
      </p:sp>
      <p:sp>
        <p:nvSpPr>
          <p:cNvPr id="8" name="Text 5"/>
          <p:cNvSpPr/>
          <p:nvPr/>
        </p:nvSpPr>
        <p:spPr>
          <a:xfrm>
            <a:off x="1298448" y="2964302"/>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A shared service account</a:t>
            </a:r>
            <a:endParaRPr lang="en-US" sz="1450" dirty="0"/>
          </a:p>
        </p:txBody>
      </p:sp>
      <p:sp>
        <p:nvSpPr>
          <p:cNvPr id="9" name="Text 6"/>
          <p:cNvSpPr/>
          <p:nvPr/>
        </p:nvSpPr>
        <p:spPr>
          <a:xfrm>
            <a:off x="1298448" y="3311957"/>
            <a:ext cx="2558186" cy="1340693"/>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Cannot tell you which agent did what. After an incident you have one log line and five suspects — and the fastest fix is to disable the account, which takes everything down.</a:t>
            </a:r>
            <a:endParaRPr lang="en-US" sz="1200" dirty="0"/>
          </a:p>
        </p:txBody>
      </p:sp>
      <p:sp>
        <p:nvSpPr>
          <p:cNvPr id="10" name="Shape 7"/>
          <p:cNvSpPr/>
          <p:nvPr/>
        </p:nvSpPr>
        <p:spPr>
          <a:xfrm>
            <a:off x="4332122" y="2534534"/>
            <a:ext cx="3527450" cy="2300996"/>
          </a:xfrm>
          <a:prstGeom prst="roundRect">
            <a:avLst>
              <a:gd name="adj" fmla="val 3577"/>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753990"/>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4661306" y="2845430"/>
            <a:ext cx="182880" cy="182880"/>
          </a:xfrm>
          <a:prstGeom prst="rect">
            <a:avLst/>
          </a:prstGeom>
        </p:spPr>
      </p:pic>
      <p:sp>
        <p:nvSpPr>
          <p:cNvPr id="13" name="Text 9"/>
          <p:cNvSpPr/>
          <p:nvPr/>
        </p:nvSpPr>
        <p:spPr>
          <a:xfrm>
            <a:off x="5063642" y="274484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FIX</a:t>
            </a:r>
            <a:endParaRPr lang="en-US" sz="850" dirty="0"/>
          </a:p>
        </p:txBody>
      </p:sp>
      <p:sp>
        <p:nvSpPr>
          <p:cNvPr id="14" name="Text 10"/>
          <p:cNvSpPr/>
          <p:nvPr/>
        </p:nvSpPr>
        <p:spPr>
          <a:xfrm>
            <a:off x="5063642" y="2964302"/>
            <a:ext cx="2558186"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Per-agent identity</a:t>
            </a:r>
            <a:endParaRPr lang="en-US" sz="1450" dirty="0"/>
          </a:p>
        </p:txBody>
      </p:sp>
      <p:sp>
        <p:nvSpPr>
          <p:cNvPr id="15" name="Text 11"/>
          <p:cNvSpPr/>
          <p:nvPr/>
        </p:nvSpPr>
        <p:spPr>
          <a:xfrm>
            <a:off x="5063642" y="3311957"/>
            <a:ext cx="2558186" cy="1340693"/>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Per-agent permissions, per-agent audit, per-agent revocation. Turn off the one that misbehaved without touching anything else.</a:t>
            </a:r>
            <a:endParaRPr lang="en-US" sz="1200" dirty="0"/>
          </a:p>
        </p:txBody>
      </p:sp>
      <p:sp>
        <p:nvSpPr>
          <p:cNvPr id="16" name="Shape 12"/>
          <p:cNvSpPr/>
          <p:nvPr/>
        </p:nvSpPr>
        <p:spPr>
          <a:xfrm>
            <a:off x="8097317" y="2534534"/>
            <a:ext cx="3527450" cy="2300996"/>
          </a:xfrm>
          <a:prstGeom prst="roundRect">
            <a:avLst>
              <a:gd name="adj" fmla="val 3577"/>
            </a:avLst>
          </a:prstGeom>
          <a:solidFill>
            <a:srgbClr val="EEEDFE"/>
          </a:solidFill>
          <a:ln w="12700">
            <a:solidFill>
              <a:srgbClr val="8E82F5"/>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753990"/>
            <a:ext cx="365760" cy="365760"/>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8426501" y="2845430"/>
            <a:ext cx="182880" cy="182880"/>
          </a:xfrm>
          <a:prstGeom prst="rect">
            <a:avLst/>
          </a:prstGeom>
        </p:spPr>
      </p:pic>
      <p:sp>
        <p:nvSpPr>
          <p:cNvPr id="19" name="Text 14"/>
          <p:cNvSpPr/>
          <p:nvPr/>
        </p:nvSpPr>
        <p:spPr>
          <a:xfrm>
            <a:off x="8828837" y="274484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SIGNAL</a:t>
            </a:r>
            <a:endParaRPr lang="en-US" sz="850" dirty="0"/>
          </a:p>
        </p:txBody>
      </p:sp>
      <p:sp>
        <p:nvSpPr>
          <p:cNvPr id="20" name="Text 15"/>
          <p:cNvSpPr/>
          <p:nvPr/>
        </p:nvSpPr>
        <p:spPr>
          <a:xfrm>
            <a:off x="8828837" y="2964302"/>
            <a:ext cx="2558186"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Every platform now sells it</a:t>
            </a:r>
            <a:endParaRPr lang="en-US" sz="1450" dirty="0"/>
          </a:p>
        </p:txBody>
      </p:sp>
      <p:sp>
        <p:nvSpPr>
          <p:cNvPr id="21" name="Text 16"/>
          <p:cNvSpPr/>
          <p:nvPr/>
        </p:nvSpPr>
        <p:spPr>
          <a:xfrm>
            <a:off x="8828837" y="3595604"/>
            <a:ext cx="2558186" cy="1057046"/>
          </a:xfrm>
          <a:prstGeom prst="rect">
            <a:avLst/>
          </a:prstGeom>
          <a:noFill/>
          <a:ln/>
        </p:spPr>
        <p:txBody>
          <a:bodyPr wrap="square" lIns="0" tIns="0" rIns="0" bIns="0" rtlCol="0" anchor="t"/>
          <a:lstStyle/>
          <a:p>
            <a:pPr indent="0" marL="0">
              <a:lnSpc>
                <a:spcPct val="113000"/>
              </a:lnSpc>
              <a:buNone/>
            </a:pPr>
            <a:r>
              <a:rPr lang="en-US" sz="1200" dirty="0">
                <a:solidFill>
                  <a:srgbClr val="6E6B8A"/>
                </a:solidFill>
                <a:latin typeface="Calibri" pitchFamily="34" charset="0"/>
                <a:ea typeface="Calibri" pitchFamily="34" charset="-122"/>
                <a:cs typeface="Calibri" pitchFamily="34" charset="-120"/>
              </a:rPr>
              <a:t>Agent identity has become a named feature on every managed platform — because every team that reached production discovered they needed it.</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sp>
      <p:pic>
        <p:nvPicPr>
          <p:cNvPr id="24" name="Image 3" descr="preencoded.png">    </p:cNvPr>
          <p:cNvPicPr>
            <a:picLocks noChangeAspect="1"/>
          </p:cNvPicPr>
          <p:nvPr/>
        </p:nvPicPr>
        <p:blipFill>
          <a:blip r:embed="rId4"/>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Give each agent its own badge. Shared logins are exactly as bad an idea here as they have always been everywhere else.</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The autonomy spectrum is also your approval-gate map</a:t>
            </a:r>
            <a:endParaRPr lang="en-US" sz="28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The four words from module 01, now with the engineering that has to exist behind each one.</a:t>
            </a:r>
            <a:endParaRPr lang="en-US" sz="1400" dirty="0"/>
          </a:p>
        </p:txBody>
      </p:sp>
      <p:sp>
        <p:nvSpPr>
          <p:cNvPr id="5" name="Shape 3"/>
          <p:cNvSpPr/>
          <p:nvPr/>
        </p:nvSpPr>
        <p:spPr>
          <a:xfrm>
            <a:off x="566928" y="1975104"/>
            <a:ext cx="2599868" cy="201168"/>
          </a:xfrm>
          <a:prstGeom prst="roundRect">
            <a:avLst>
              <a:gd name="adj" fmla="val 50000"/>
            </a:avLst>
          </a:prstGeom>
          <a:solidFill>
            <a:srgbClr val="C7C2F7"/>
          </a:solidFill>
          <a:ln w="12700">
            <a:solidFill>
              <a:srgbClr val="C7C2F7"/>
            </a:solidFill>
            <a:prstDash val="solid"/>
          </a:ln>
        </p:spPr>
      </p:sp>
      <p:sp>
        <p:nvSpPr>
          <p:cNvPr id="6" name="Shape 4"/>
          <p:cNvSpPr/>
          <p:nvPr/>
        </p:nvSpPr>
        <p:spPr>
          <a:xfrm>
            <a:off x="566928" y="2267712"/>
            <a:ext cx="2599868" cy="2432304"/>
          </a:xfrm>
          <a:prstGeom prst="roundRect">
            <a:avLst>
              <a:gd name="adj" fmla="val 3759"/>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7" name="Text 5"/>
          <p:cNvSpPr/>
          <p:nvPr/>
        </p:nvSpPr>
        <p:spPr>
          <a:xfrm>
            <a:off x="804672" y="2432304"/>
            <a:ext cx="2124380" cy="310896"/>
          </a:xfrm>
          <a:prstGeom prst="rect">
            <a:avLst/>
          </a:prstGeom>
          <a:noFill/>
          <a:ln/>
        </p:spPr>
        <p:txBody>
          <a:bodyPr wrap="square" lIns="0" tIns="0" rIns="0" bIns="0" rtlCol="0" anchor="ctr"/>
          <a:lstStyle/>
          <a:p>
            <a:pPr indent="0" marL="0">
              <a:buNone/>
            </a:pPr>
            <a:r>
              <a:rPr lang="en-US" sz="1600" b="1" dirty="0">
                <a:solidFill>
                  <a:srgbClr val="141235"/>
                </a:solidFill>
                <a:latin typeface="Calibri" pitchFamily="34" charset="0"/>
                <a:ea typeface="Calibri" pitchFamily="34" charset="-122"/>
                <a:cs typeface="Calibri" pitchFamily="34" charset="-120"/>
              </a:rPr>
              <a:t>Suggest</a:t>
            </a:r>
            <a:endParaRPr lang="en-US" sz="1600" dirty="0"/>
          </a:p>
        </p:txBody>
      </p:sp>
      <p:sp>
        <p:nvSpPr>
          <p:cNvPr id="8" name="Text 6"/>
          <p:cNvSpPr/>
          <p:nvPr/>
        </p:nvSpPr>
        <p:spPr>
          <a:xfrm>
            <a:off x="804672" y="2798064"/>
            <a:ext cx="2124380" cy="786384"/>
          </a:xfrm>
          <a:prstGeom prst="rect">
            <a:avLst/>
          </a:prstGeom>
          <a:noFill/>
          <a:ln/>
        </p:spPr>
        <p:txBody>
          <a:bodyPr wrap="square" lIns="0" tIns="0" rIns="0" bIns="0" rtlCol="0" anchor="t"/>
          <a:lstStyle/>
          <a:p>
            <a:pPr indent="0" marL="0">
              <a:lnSpc>
                <a:spcPct val="114000"/>
              </a:lnSpc>
              <a:buNone/>
            </a:pPr>
            <a:r>
              <a:rPr lang="en-US" sz="1200" dirty="0">
                <a:solidFill>
                  <a:srgbClr val="3B3760"/>
                </a:solidFill>
                <a:latin typeface="Calibri" pitchFamily="34" charset="0"/>
                <a:ea typeface="Calibri" pitchFamily="34" charset="-122"/>
                <a:cs typeface="Calibri" pitchFamily="34" charset="-120"/>
              </a:rPr>
              <a:t>No gate needed</a:t>
            </a:r>
            <a:endParaRPr lang="en-US" sz="1200" dirty="0"/>
          </a:p>
        </p:txBody>
      </p:sp>
      <p:sp>
        <p:nvSpPr>
          <p:cNvPr id="9" name="Text 7"/>
          <p:cNvSpPr/>
          <p:nvPr/>
        </p:nvSpPr>
        <p:spPr>
          <a:xfrm>
            <a:off x="804672" y="3694176"/>
            <a:ext cx="2124380" cy="914400"/>
          </a:xfrm>
          <a:prstGeom prst="rect">
            <a:avLst/>
          </a:prstGeom>
          <a:noFill/>
          <a:ln/>
        </p:spPr>
        <p:txBody>
          <a:bodyPr wrap="square" lIns="0" tIns="0" rIns="0" bIns="0" rtlCol="0" anchor="t"/>
          <a:lstStyle/>
          <a:p>
            <a:pPr indent="0" marL="0">
              <a:lnSpc>
                <a:spcPct val="114000"/>
              </a:lnSpc>
              <a:buNone/>
            </a:pPr>
            <a:r>
              <a:rPr lang="en-US" sz="850" b="1" spc="140" kern="0" dirty="0">
                <a:solidFill>
                  <a:srgbClr val="9B98B4"/>
                </a:solidFill>
                <a:latin typeface="Calibri" pitchFamily="34" charset="0"/>
                <a:ea typeface="Calibri" pitchFamily="34" charset="-122"/>
                <a:cs typeface="Calibri" pitchFamily="34" charset="-120"/>
              </a:rPr>
              <a:t>WHAT IT COSTS YOU TO BUILD</a:t>
            </a:r>
            <a:endParaRPr lang="en-US" sz="850" dirty="0"/>
          </a:p>
          <a:p>
            <a:pPr indent="0" marL="0">
              <a:lnSpc>
                <a:spcPct val="114000"/>
              </a:lnSpc>
              <a:buNone/>
            </a:pPr>
            <a:r>
              <a:rPr lang="en-US" sz="1100" dirty="0">
                <a:solidFill>
                  <a:srgbClr val="6E6B8A"/>
                </a:solidFill>
                <a:latin typeface="Calibri" pitchFamily="34" charset="0"/>
                <a:ea typeface="Calibri" pitchFamily="34" charset="-122"/>
                <a:cs typeface="Calibri" pitchFamily="34" charset="-120"/>
              </a:rPr>
              <a:t>Log the recommendation. Nothing happened.</a:t>
            </a:r>
            <a:endParaRPr lang="en-US" sz="850" dirty="0"/>
          </a:p>
        </p:txBody>
      </p:sp>
      <p:sp>
        <p:nvSpPr>
          <p:cNvPr id="10" name="Shape 8"/>
          <p:cNvSpPr/>
          <p:nvPr/>
        </p:nvSpPr>
        <p:spPr>
          <a:xfrm>
            <a:off x="3386252" y="1975104"/>
            <a:ext cx="2599868" cy="201168"/>
          </a:xfrm>
          <a:prstGeom prst="roundRect">
            <a:avLst>
              <a:gd name="adj" fmla="val 50000"/>
            </a:avLst>
          </a:prstGeom>
          <a:solidFill>
            <a:srgbClr val="9E94F0"/>
          </a:solidFill>
          <a:ln w="12700">
            <a:solidFill>
              <a:srgbClr val="9E94F0"/>
            </a:solidFill>
            <a:prstDash val="solid"/>
          </a:ln>
        </p:spPr>
      </p:sp>
      <p:sp>
        <p:nvSpPr>
          <p:cNvPr id="11" name="Shape 9"/>
          <p:cNvSpPr/>
          <p:nvPr/>
        </p:nvSpPr>
        <p:spPr>
          <a:xfrm>
            <a:off x="3386252" y="2267712"/>
            <a:ext cx="2599868" cy="2432304"/>
          </a:xfrm>
          <a:prstGeom prst="roundRect">
            <a:avLst>
              <a:gd name="adj" fmla="val 3759"/>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2" name="Text 10"/>
          <p:cNvSpPr/>
          <p:nvPr/>
        </p:nvSpPr>
        <p:spPr>
          <a:xfrm>
            <a:off x="3623996" y="2432304"/>
            <a:ext cx="2124380" cy="310896"/>
          </a:xfrm>
          <a:prstGeom prst="rect">
            <a:avLst/>
          </a:prstGeom>
          <a:noFill/>
          <a:ln/>
        </p:spPr>
        <p:txBody>
          <a:bodyPr wrap="square" lIns="0" tIns="0" rIns="0" bIns="0" rtlCol="0" anchor="ctr"/>
          <a:lstStyle/>
          <a:p>
            <a:pPr indent="0" marL="0">
              <a:buNone/>
            </a:pPr>
            <a:r>
              <a:rPr lang="en-US" sz="1600" b="1" dirty="0">
                <a:solidFill>
                  <a:srgbClr val="141235"/>
                </a:solidFill>
                <a:latin typeface="Calibri" pitchFamily="34" charset="0"/>
                <a:ea typeface="Calibri" pitchFamily="34" charset="-122"/>
                <a:cs typeface="Calibri" pitchFamily="34" charset="-120"/>
              </a:rPr>
              <a:t>Draft</a:t>
            </a:r>
            <a:endParaRPr lang="en-US" sz="1600" dirty="0"/>
          </a:p>
        </p:txBody>
      </p:sp>
      <p:sp>
        <p:nvSpPr>
          <p:cNvPr id="13" name="Text 11"/>
          <p:cNvSpPr/>
          <p:nvPr/>
        </p:nvSpPr>
        <p:spPr>
          <a:xfrm>
            <a:off x="3623996" y="2798064"/>
            <a:ext cx="2124380" cy="786384"/>
          </a:xfrm>
          <a:prstGeom prst="rect">
            <a:avLst/>
          </a:prstGeom>
          <a:noFill/>
          <a:ln/>
        </p:spPr>
        <p:txBody>
          <a:bodyPr wrap="square" lIns="0" tIns="0" rIns="0" bIns="0" rtlCol="0" anchor="t"/>
          <a:lstStyle/>
          <a:p>
            <a:pPr indent="0" marL="0">
              <a:lnSpc>
                <a:spcPct val="114000"/>
              </a:lnSpc>
              <a:buNone/>
            </a:pPr>
            <a:r>
              <a:rPr lang="en-US" sz="1200" dirty="0">
                <a:solidFill>
                  <a:srgbClr val="3B3760"/>
                </a:solidFill>
                <a:latin typeface="Calibri" pitchFamily="34" charset="0"/>
                <a:ea typeface="Calibri" pitchFamily="34" charset="-122"/>
                <a:cs typeface="Calibri" pitchFamily="34" charset="-120"/>
              </a:rPr>
              <a:t>A person reviews before it sends</a:t>
            </a:r>
            <a:endParaRPr lang="en-US" sz="1200" dirty="0"/>
          </a:p>
        </p:txBody>
      </p:sp>
      <p:sp>
        <p:nvSpPr>
          <p:cNvPr id="14" name="Text 12"/>
          <p:cNvSpPr/>
          <p:nvPr/>
        </p:nvSpPr>
        <p:spPr>
          <a:xfrm>
            <a:off x="3623996" y="3694176"/>
            <a:ext cx="2124380" cy="914400"/>
          </a:xfrm>
          <a:prstGeom prst="rect">
            <a:avLst/>
          </a:prstGeom>
          <a:noFill/>
          <a:ln/>
        </p:spPr>
        <p:txBody>
          <a:bodyPr wrap="square" lIns="0" tIns="0" rIns="0" bIns="0" rtlCol="0" anchor="t"/>
          <a:lstStyle/>
          <a:p>
            <a:pPr indent="0" marL="0">
              <a:lnSpc>
                <a:spcPct val="114000"/>
              </a:lnSpc>
              <a:buNone/>
            </a:pPr>
            <a:r>
              <a:rPr lang="en-US" sz="850" b="1" spc="140" kern="0" dirty="0">
                <a:solidFill>
                  <a:srgbClr val="9B98B4"/>
                </a:solidFill>
                <a:latin typeface="Calibri" pitchFamily="34" charset="0"/>
                <a:ea typeface="Calibri" pitchFamily="34" charset="-122"/>
                <a:cs typeface="Calibri" pitchFamily="34" charset="-120"/>
              </a:rPr>
              <a:t>WHAT IT COSTS YOU TO BUILD</a:t>
            </a:r>
            <a:endParaRPr lang="en-US" sz="850" dirty="0"/>
          </a:p>
          <a:p>
            <a:pPr indent="0" marL="0">
              <a:lnSpc>
                <a:spcPct val="114000"/>
              </a:lnSpc>
              <a:buNone/>
            </a:pPr>
            <a:r>
              <a:rPr lang="en-US" sz="1100" dirty="0">
                <a:solidFill>
                  <a:srgbClr val="6E6B8A"/>
                </a:solidFill>
                <a:latin typeface="Calibri" pitchFamily="34" charset="0"/>
                <a:ea typeface="Calibri" pitchFamily="34" charset="-122"/>
                <a:cs typeface="Calibri" pitchFamily="34" charset="-120"/>
              </a:rPr>
              <a:t>Needs a queue, a UI, and a way to resume days later.</a:t>
            </a:r>
            <a:endParaRPr lang="en-US" sz="850" dirty="0"/>
          </a:p>
        </p:txBody>
      </p:sp>
      <p:sp>
        <p:nvSpPr>
          <p:cNvPr id="15" name="Shape 13"/>
          <p:cNvSpPr/>
          <p:nvPr/>
        </p:nvSpPr>
        <p:spPr>
          <a:xfrm>
            <a:off x="6205576" y="1975104"/>
            <a:ext cx="2599868" cy="201168"/>
          </a:xfrm>
          <a:prstGeom prst="roundRect">
            <a:avLst>
              <a:gd name="adj" fmla="val 50000"/>
            </a:avLst>
          </a:prstGeom>
          <a:solidFill>
            <a:srgbClr val="6E5FE8"/>
          </a:solidFill>
          <a:ln w="12700">
            <a:solidFill>
              <a:srgbClr val="6E5FE8"/>
            </a:solidFill>
            <a:prstDash val="solid"/>
          </a:ln>
        </p:spPr>
      </p:sp>
      <p:sp>
        <p:nvSpPr>
          <p:cNvPr id="16" name="Shape 14"/>
          <p:cNvSpPr/>
          <p:nvPr/>
        </p:nvSpPr>
        <p:spPr>
          <a:xfrm>
            <a:off x="6205576" y="2267712"/>
            <a:ext cx="2599868" cy="2432304"/>
          </a:xfrm>
          <a:prstGeom prst="roundRect">
            <a:avLst>
              <a:gd name="adj" fmla="val 3759"/>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17" name="Text 15"/>
          <p:cNvSpPr/>
          <p:nvPr/>
        </p:nvSpPr>
        <p:spPr>
          <a:xfrm>
            <a:off x="6443320" y="2432304"/>
            <a:ext cx="2124380" cy="310896"/>
          </a:xfrm>
          <a:prstGeom prst="rect">
            <a:avLst/>
          </a:prstGeom>
          <a:noFill/>
          <a:ln/>
        </p:spPr>
        <p:txBody>
          <a:bodyPr wrap="square" lIns="0" tIns="0" rIns="0" bIns="0" rtlCol="0" anchor="ctr"/>
          <a:lstStyle/>
          <a:p>
            <a:pPr indent="0" marL="0">
              <a:buNone/>
            </a:pPr>
            <a:r>
              <a:rPr lang="en-US" sz="1600" b="1" dirty="0">
                <a:solidFill>
                  <a:srgbClr val="141235"/>
                </a:solidFill>
                <a:latin typeface="Calibri" pitchFamily="34" charset="0"/>
                <a:ea typeface="Calibri" pitchFamily="34" charset="-122"/>
                <a:cs typeface="Calibri" pitchFamily="34" charset="-120"/>
              </a:rPr>
              <a:t>Act with audit</a:t>
            </a:r>
            <a:endParaRPr lang="en-US" sz="1600" dirty="0"/>
          </a:p>
        </p:txBody>
      </p:sp>
      <p:sp>
        <p:nvSpPr>
          <p:cNvPr id="18" name="Text 16"/>
          <p:cNvSpPr/>
          <p:nvPr/>
        </p:nvSpPr>
        <p:spPr>
          <a:xfrm>
            <a:off x="6443320" y="2798064"/>
            <a:ext cx="2124380" cy="786384"/>
          </a:xfrm>
          <a:prstGeom prst="rect">
            <a:avLst/>
          </a:prstGeom>
          <a:noFill/>
          <a:ln/>
        </p:spPr>
        <p:txBody>
          <a:bodyPr wrap="square" lIns="0" tIns="0" rIns="0" bIns="0" rtlCol="0" anchor="t"/>
          <a:lstStyle/>
          <a:p>
            <a:pPr indent="0" marL="0">
              <a:lnSpc>
                <a:spcPct val="114000"/>
              </a:lnSpc>
              <a:buNone/>
            </a:pPr>
            <a:r>
              <a:rPr lang="en-US" sz="1200" dirty="0">
                <a:solidFill>
                  <a:srgbClr val="3B3760"/>
                </a:solidFill>
                <a:latin typeface="Calibri" pitchFamily="34" charset="0"/>
                <a:ea typeface="Calibri" pitchFamily="34" charset="-122"/>
                <a:cs typeface="Calibri" pitchFamily="34" charset="-120"/>
              </a:rPr>
              <a:t>It acts; every step is logged and reversible</a:t>
            </a:r>
            <a:endParaRPr lang="en-US" sz="1200" dirty="0"/>
          </a:p>
        </p:txBody>
      </p:sp>
      <p:sp>
        <p:nvSpPr>
          <p:cNvPr id="19" name="Text 17"/>
          <p:cNvSpPr/>
          <p:nvPr/>
        </p:nvSpPr>
        <p:spPr>
          <a:xfrm>
            <a:off x="6443320" y="3694176"/>
            <a:ext cx="2124380" cy="914400"/>
          </a:xfrm>
          <a:prstGeom prst="rect">
            <a:avLst/>
          </a:prstGeom>
          <a:noFill/>
          <a:ln/>
        </p:spPr>
        <p:txBody>
          <a:bodyPr wrap="square" lIns="0" tIns="0" rIns="0" bIns="0" rtlCol="0" anchor="t"/>
          <a:lstStyle/>
          <a:p>
            <a:pPr indent="0" marL="0">
              <a:lnSpc>
                <a:spcPct val="114000"/>
              </a:lnSpc>
              <a:buNone/>
            </a:pPr>
            <a:r>
              <a:rPr lang="en-US" sz="850" b="1" spc="140" kern="0" dirty="0">
                <a:solidFill>
                  <a:srgbClr val="9B98B4"/>
                </a:solidFill>
                <a:latin typeface="Calibri" pitchFamily="34" charset="0"/>
                <a:ea typeface="Calibri" pitchFamily="34" charset="-122"/>
                <a:cs typeface="Calibri" pitchFamily="34" charset="-120"/>
              </a:rPr>
              <a:t>WHAT IT COSTS YOU TO BUILD</a:t>
            </a:r>
            <a:endParaRPr lang="en-US" sz="850" dirty="0"/>
          </a:p>
          <a:p>
            <a:pPr indent="0" marL="0">
              <a:lnSpc>
                <a:spcPct val="114000"/>
              </a:lnSpc>
              <a:buNone/>
            </a:pPr>
            <a:r>
              <a:rPr lang="en-US" sz="1100" dirty="0">
                <a:solidFill>
                  <a:srgbClr val="6E6B8A"/>
                </a:solidFill>
                <a:latin typeface="Calibri" pitchFamily="34" charset="0"/>
                <a:ea typeface="Calibri" pitchFamily="34" charset="-122"/>
                <a:cs typeface="Calibri" pitchFamily="34" charset="-120"/>
              </a:rPr>
              <a:t>Needs traces, an undo path, and someone who reads the log.</a:t>
            </a:r>
            <a:endParaRPr lang="en-US" sz="850" dirty="0"/>
          </a:p>
        </p:txBody>
      </p:sp>
      <p:sp>
        <p:nvSpPr>
          <p:cNvPr id="20" name="Shape 18"/>
          <p:cNvSpPr/>
          <p:nvPr/>
        </p:nvSpPr>
        <p:spPr>
          <a:xfrm>
            <a:off x="9024899" y="1975104"/>
            <a:ext cx="2599868" cy="201168"/>
          </a:xfrm>
          <a:prstGeom prst="roundRect">
            <a:avLst>
              <a:gd name="adj" fmla="val 50000"/>
            </a:avLst>
          </a:prstGeom>
          <a:solidFill>
            <a:srgbClr val="3B2EB8"/>
          </a:solidFill>
          <a:ln w="12700">
            <a:solidFill>
              <a:srgbClr val="3B2EB8"/>
            </a:solidFill>
            <a:prstDash val="solid"/>
          </a:ln>
        </p:spPr>
      </p:sp>
      <p:sp>
        <p:nvSpPr>
          <p:cNvPr id="21" name="Shape 19"/>
          <p:cNvSpPr/>
          <p:nvPr/>
        </p:nvSpPr>
        <p:spPr>
          <a:xfrm>
            <a:off x="9024899" y="2267712"/>
            <a:ext cx="2599868" cy="2432304"/>
          </a:xfrm>
          <a:prstGeom prst="roundRect">
            <a:avLst>
              <a:gd name="adj" fmla="val 3759"/>
            </a:avLst>
          </a:prstGeom>
          <a:solidFill>
            <a:srgbClr val="FFFFFF"/>
          </a:solidFill>
          <a:ln w="12700">
            <a:solidFill>
              <a:srgbClr val="E3E4F2"/>
            </a:solidFill>
            <a:prstDash val="solid"/>
          </a:ln>
          <a:effectLst>
            <a:outerShdw sx="100000" sy="100000" kx="0" ky="0" algn="bl" rotWithShape="0" blurRad="101600" dist="508" dir="5400000">
              <a:srgbClr val="1B1A4A">
                <a:alpha val="7000"/>
              </a:srgbClr>
            </a:outerShdw>
          </a:effectLst>
        </p:spPr>
      </p:sp>
      <p:sp>
        <p:nvSpPr>
          <p:cNvPr id="22" name="Text 20"/>
          <p:cNvSpPr/>
          <p:nvPr/>
        </p:nvSpPr>
        <p:spPr>
          <a:xfrm>
            <a:off x="9262643" y="2432304"/>
            <a:ext cx="2124380" cy="310896"/>
          </a:xfrm>
          <a:prstGeom prst="rect">
            <a:avLst/>
          </a:prstGeom>
          <a:noFill/>
          <a:ln/>
        </p:spPr>
        <p:txBody>
          <a:bodyPr wrap="square" lIns="0" tIns="0" rIns="0" bIns="0" rtlCol="0" anchor="ctr"/>
          <a:lstStyle/>
          <a:p>
            <a:pPr indent="0" marL="0">
              <a:buNone/>
            </a:pPr>
            <a:r>
              <a:rPr lang="en-US" sz="1600" b="1" dirty="0">
                <a:solidFill>
                  <a:srgbClr val="141235"/>
                </a:solidFill>
                <a:latin typeface="Calibri" pitchFamily="34" charset="0"/>
                <a:ea typeface="Calibri" pitchFamily="34" charset="-122"/>
                <a:cs typeface="Calibri" pitchFamily="34" charset="-120"/>
              </a:rPr>
              <a:t>Act</a:t>
            </a:r>
            <a:endParaRPr lang="en-US" sz="1600" dirty="0"/>
          </a:p>
        </p:txBody>
      </p:sp>
      <p:sp>
        <p:nvSpPr>
          <p:cNvPr id="23" name="Text 21"/>
          <p:cNvSpPr/>
          <p:nvPr/>
        </p:nvSpPr>
        <p:spPr>
          <a:xfrm>
            <a:off x="9262643" y="2798064"/>
            <a:ext cx="2124380" cy="786384"/>
          </a:xfrm>
          <a:prstGeom prst="rect">
            <a:avLst/>
          </a:prstGeom>
          <a:noFill/>
          <a:ln/>
        </p:spPr>
        <p:txBody>
          <a:bodyPr wrap="square" lIns="0" tIns="0" rIns="0" bIns="0" rtlCol="0" anchor="t"/>
          <a:lstStyle/>
          <a:p>
            <a:pPr indent="0" marL="0">
              <a:lnSpc>
                <a:spcPct val="114000"/>
              </a:lnSpc>
              <a:buNone/>
            </a:pPr>
            <a:r>
              <a:rPr lang="en-US" sz="1200" dirty="0">
                <a:solidFill>
                  <a:srgbClr val="3B3760"/>
                </a:solidFill>
                <a:latin typeface="Calibri" pitchFamily="34" charset="0"/>
                <a:ea typeface="Calibri" pitchFamily="34" charset="-122"/>
                <a:cs typeface="Calibri" pitchFamily="34" charset="-120"/>
              </a:rPr>
              <a:t>Reserve for the lowest-stakes actions only</a:t>
            </a:r>
            <a:endParaRPr lang="en-US" sz="1200" dirty="0"/>
          </a:p>
        </p:txBody>
      </p:sp>
      <p:sp>
        <p:nvSpPr>
          <p:cNvPr id="24" name="Text 22"/>
          <p:cNvSpPr/>
          <p:nvPr/>
        </p:nvSpPr>
        <p:spPr>
          <a:xfrm>
            <a:off x="9262643" y="3694176"/>
            <a:ext cx="2124380" cy="914400"/>
          </a:xfrm>
          <a:prstGeom prst="rect">
            <a:avLst/>
          </a:prstGeom>
          <a:noFill/>
          <a:ln/>
        </p:spPr>
        <p:txBody>
          <a:bodyPr wrap="square" lIns="0" tIns="0" rIns="0" bIns="0" rtlCol="0" anchor="t"/>
          <a:lstStyle/>
          <a:p>
            <a:pPr indent="0" marL="0">
              <a:lnSpc>
                <a:spcPct val="114000"/>
              </a:lnSpc>
              <a:buNone/>
            </a:pPr>
            <a:r>
              <a:rPr lang="en-US" sz="850" b="1" spc="140" kern="0" dirty="0">
                <a:solidFill>
                  <a:srgbClr val="9B98B4"/>
                </a:solidFill>
                <a:latin typeface="Calibri" pitchFamily="34" charset="0"/>
                <a:ea typeface="Calibri" pitchFamily="34" charset="-122"/>
                <a:cs typeface="Calibri" pitchFamily="34" charset="-120"/>
              </a:rPr>
              <a:t>WHAT IT COSTS YOU TO BUILD</a:t>
            </a:r>
            <a:endParaRPr lang="en-US" sz="850" dirty="0"/>
          </a:p>
          <a:p>
            <a:pPr indent="0" marL="0">
              <a:lnSpc>
                <a:spcPct val="114000"/>
              </a:lnSpc>
              <a:buNone/>
            </a:pPr>
            <a:r>
              <a:rPr lang="en-US" sz="1100" dirty="0">
                <a:solidFill>
                  <a:srgbClr val="6E6B8A"/>
                </a:solidFill>
                <a:latin typeface="Calibri" pitchFamily="34" charset="0"/>
                <a:ea typeface="Calibri" pitchFamily="34" charset="-122"/>
                <a:cs typeface="Calibri" pitchFamily="34" charset="-120"/>
              </a:rPr>
              <a:t>Needs a hard budget cap and an automatic kill switch.</a:t>
            </a:r>
            <a:endParaRPr lang="en-US" sz="850" dirty="0"/>
          </a:p>
        </p:txBody>
      </p:sp>
      <p:sp>
        <p:nvSpPr>
          <p:cNvPr id="25" name="Shape 23"/>
          <p:cNvSpPr/>
          <p:nvPr/>
        </p:nvSpPr>
        <p:spPr>
          <a:xfrm>
            <a:off x="566928" y="4864608"/>
            <a:ext cx="11057839" cy="822960"/>
          </a:xfrm>
          <a:prstGeom prst="roundRect">
            <a:avLst>
              <a:gd name="adj" fmla="val 10000"/>
            </a:avLst>
          </a:prstGeom>
          <a:solidFill>
            <a:srgbClr val="FFF4E0"/>
          </a:solidFill>
          <a:ln w="12700">
            <a:solidFill>
              <a:srgbClr val="F3DCB0"/>
            </a:solidFill>
            <a:prstDash val="solid"/>
          </a:ln>
        </p:spPr>
      </p:sp>
      <p:sp>
        <p:nvSpPr>
          <p:cNvPr id="26" name="Shape 24"/>
          <p:cNvSpPr/>
          <p:nvPr/>
        </p:nvSpPr>
        <p:spPr>
          <a:xfrm>
            <a:off x="841248" y="5084064"/>
            <a:ext cx="384048" cy="384048"/>
          </a:xfrm>
          <a:prstGeom prst="ellipse">
            <a:avLst/>
          </a:prstGeom>
          <a:solidFill>
            <a:srgbClr val="F5A524"/>
          </a:solidFill>
          <a:ln w="12700">
            <a:solidFill>
              <a:srgbClr val="F5A524"/>
            </a:solidFill>
            <a:prstDash val="solid"/>
          </a:ln>
        </p:spPr>
      </p:sp>
      <p:pic>
        <p:nvPicPr>
          <p:cNvPr id="27" name="Image 0" descr="preencoded.png">    </p:cNvPr>
          <p:cNvPicPr>
            <a:picLocks noChangeAspect="1"/>
          </p:cNvPicPr>
          <p:nvPr/>
        </p:nvPicPr>
        <p:blipFill>
          <a:blip r:embed="rId1"/>
          <a:stretch>
            <a:fillRect/>
          </a:stretch>
        </p:blipFill>
        <p:spPr>
          <a:xfrm>
            <a:off x="937260" y="5180076"/>
            <a:ext cx="192024" cy="192024"/>
          </a:xfrm>
          <a:prstGeom prst="rect">
            <a:avLst/>
          </a:prstGeom>
        </p:spPr>
      </p:pic>
      <p:sp>
        <p:nvSpPr>
          <p:cNvPr id="28" name="Text 25"/>
          <p:cNvSpPr/>
          <p:nvPr/>
        </p:nvSpPr>
        <p:spPr>
          <a:xfrm>
            <a:off x="1371600" y="4919472"/>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Autonomy is not a slider you set in a config file. Each step to the right is real engineering somebody has to build and someone has to operate.</a:t>
            </a:r>
            <a:endParaRPr lang="en-US" sz="1050" dirty="0"/>
          </a:p>
        </p:txBody>
      </p:sp>
      <p:sp>
        <p:nvSpPr>
          <p:cNvPr id="29" name="Text 26"/>
          <p:cNvSpPr/>
          <p:nvPr/>
        </p:nvSpPr>
        <p:spPr>
          <a:xfrm>
            <a:off x="566928" y="5797296"/>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This table is the deliverable of the closing workshop in module 17.</a:t>
            </a:r>
            <a:endParaRPr lang="en-US" sz="9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15</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15</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Evals, traces and cost</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Choose the architecture on measured performance, not on a diagram.</a:t>
            </a:r>
            <a:endParaRPr lang="en-US" sz="16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Five dimensions worth measuring on purpose</a:t>
            </a:r>
            <a:endParaRPr lang="en-US" sz="3000" dirty="0"/>
          </a:p>
        </p:txBody>
      </p:sp>
      <p:sp>
        <p:nvSpPr>
          <p:cNvPr id="4" name="Shape 2"/>
          <p:cNvSpPr/>
          <p:nvPr/>
        </p:nvSpPr>
        <p:spPr>
          <a:xfrm>
            <a:off x="566928" y="2120768"/>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340224"/>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431664"/>
            <a:ext cx="182880" cy="182880"/>
          </a:xfrm>
          <a:prstGeom prst="rect">
            <a:avLst/>
          </a:prstGeom>
        </p:spPr>
      </p:pic>
      <p:sp>
        <p:nvSpPr>
          <p:cNvPr id="7" name="Text 4"/>
          <p:cNvSpPr/>
          <p:nvPr/>
        </p:nvSpPr>
        <p:spPr>
          <a:xfrm>
            <a:off x="1298448" y="2358512"/>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Task completion</a:t>
            </a:r>
            <a:endParaRPr lang="en-US" sz="1500" dirty="0"/>
          </a:p>
        </p:txBody>
      </p:sp>
      <p:sp>
        <p:nvSpPr>
          <p:cNvPr id="8" name="Text 5"/>
          <p:cNvSpPr/>
          <p:nvPr/>
        </p:nvSpPr>
        <p:spPr>
          <a:xfrm>
            <a:off x="1298448" y="2714214"/>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Did it actually finish the job the user asked for? Not “was the output plausible”.</a:t>
            </a:r>
            <a:endParaRPr lang="en-US" sz="1150" dirty="0"/>
          </a:p>
        </p:txBody>
      </p:sp>
      <p:sp>
        <p:nvSpPr>
          <p:cNvPr id="9" name="Shape 6"/>
          <p:cNvSpPr/>
          <p:nvPr/>
        </p:nvSpPr>
        <p:spPr>
          <a:xfrm>
            <a:off x="4332122" y="2120768"/>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0" name="Shape 7"/>
          <p:cNvSpPr/>
          <p:nvPr/>
        </p:nvSpPr>
        <p:spPr>
          <a:xfrm>
            <a:off x="4569866" y="2340224"/>
            <a:ext cx="365760" cy="365760"/>
          </a:xfrm>
          <a:prstGeom prst="ellipse">
            <a:avLst/>
          </a:prstGeom>
          <a:solidFill>
            <a:srgbClr val="5B4BE8"/>
          </a:solidFill>
          <a:ln w="12700">
            <a:solidFill>
              <a:srgbClr val="5B4BE8"/>
            </a:solidFill>
            <a:prstDash val="solid"/>
          </a:ln>
        </p:spPr>
      </p:sp>
      <p:pic>
        <p:nvPicPr>
          <p:cNvPr id="11" name="Image 1" descr="preencoded.png">    </p:cNvPr>
          <p:cNvPicPr>
            <a:picLocks noChangeAspect="1"/>
          </p:cNvPicPr>
          <p:nvPr/>
        </p:nvPicPr>
        <p:blipFill>
          <a:blip r:embed="rId2"/>
          <a:stretch>
            <a:fillRect/>
          </a:stretch>
        </p:blipFill>
        <p:spPr>
          <a:xfrm>
            <a:off x="4661306" y="2431664"/>
            <a:ext cx="182880" cy="182880"/>
          </a:xfrm>
          <a:prstGeom prst="rect">
            <a:avLst/>
          </a:prstGeom>
        </p:spPr>
      </p:pic>
      <p:sp>
        <p:nvSpPr>
          <p:cNvPr id="12" name="Text 8"/>
          <p:cNvSpPr/>
          <p:nvPr/>
        </p:nvSpPr>
        <p:spPr>
          <a:xfrm>
            <a:off x="5063642" y="2358512"/>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Tool-call correctness</a:t>
            </a:r>
            <a:endParaRPr lang="en-US" sz="1500" dirty="0"/>
          </a:p>
        </p:txBody>
      </p:sp>
      <p:sp>
        <p:nvSpPr>
          <p:cNvPr id="13" name="Text 9"/>
          <p:cNvSpPr/>
          <p:nvPr/>
        </p:nvSpPr>
        <p:spPr>
          <a:xfrm>
            <a:off x="5063642" y="2714214"/>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Right tool, right arguments. The most diagnostic metric you have, and the easiest to automate.</a:t>
            </a:r>
            <a:endParaRPr lang="en-US" sz="1150" dirty="0"/>
          </a:p>
        </p:txBody>
      </p:sp>
      <p:sp>
        <p:nvSpPr>
          <p:cNvPr id="14" name="Shape 10"/>
          <p:cNvSpPr/>
          <p:nvPr/>
        </p:nvSpPr>
        <p:spPr>
          <a:xfrm>
            <a:off x="8097317" y="2120768"/>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5" name="Shape 11"/>
          <p:cNvSpPr/>
          <p:nvPr/>
        </p:nvSpPr>
        <p:spPr>
          <a:xfrm>
            <a:off x="8335061" y="2340224"/>
            <a:ext cx="365760" cy="365760"/>
          </a:xfrm>
          <a:prstGeom prst="ellipse">
            <a:avLst/>
          </a:prstGeom>
          <a:solidFill>
            <a:srgbClr val="5B4BE8"/>
          </a:solidFill>
          <a:ln w="12700">
            <a:solidFill>
              <a:srgbClr val="5B4BE8"/>
            </a:solidFill>
            <a:prstDash val="solid"/>
          </a:ln>
        </p:spPr>
      </p:sp>
      <p:pic>
        <p:nvPicPr>
          <p:cNvPr id="16" name="Image 2" descr="preencoded.png">    </p:cNvPr>
          <p:cNvPicPr>
            <a:picLocks noChangeAspect="1"/>
          </p:cNvPicPr>
          <p:nvPr/>
        </p:nvPicPr>
        <p:blipFill>
          <a:blip r:embed="rId3"/>
          <a:stretch>
            <a:fillRect/>
          </a:stretch>
        </p:blipFill>
        <p:spPr>
          <a:xfrm>
            <a:off x="8426501" y="2431664"/>
            <a:ext cx="182880" cy="182880"/>
          </a:xfrm>
          <a:prstGeom prst="rect">
            <a:avLst/>
          </a:prstGeom>
        </p:spPr>
      </p:pic>
      <p:sp>
        <p:nvSpPr>
          <p:cNvPr id="17" name="Text 12"/>
          <p:cNvSpPr/>
          <p:nvPr/>
        </p:nvSpPr>
        <p:spPr>
          <a:xfrm>
            <a:off x="8828837" y="2358512"/>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Groundedness</a:t>
            </a:r>
            <a:endParaRPr lang="en-US" sz="1500" dirty="0"/>
          </a:p>
        </p:txBody>
      </p:sp>
      <p:sp>
        <p:nvSpPr>
          <p:cNvPr id="18" name="Text 13"/>
          <p:cNvSpPr/>
          <p:nvPr/>
        </p:nvSpPr>
        <p:spPr>
          <a:xfrm>
            <a:off x="8828837" y="2714214"/>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Is the answer supported by what was actually retrieved, or did it fill the gaps itself?</a:t>
            </a:r>
            <a:endParaRPr lang="en-US" sz="1150" dirty="0"/>
          </a:p>
        </p:txBody>
      </p:sp>
      <p:sp>
        <p:nvSpPr>
          <p:cNvPr id="19" name="Shape 14"/>
          <p:cNvSpPr/>
          <p:nvPr/>
        </p:nvSpPr>
        <p:spPr>
          <a:xfrm>
            <a:off x="566928" y="3758184"/>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0" name="Shape 15"/>
          <p:cNvSpPr/>
          <p:nvPr/>
        </p:nvSpPr>
        <p:spPr>
          <a:xfrm>
            <a:off x="804672" y="3977640"/>
            <a:ext cx="365760" cy="365760"/>
          </a:xfrm>
          <a:prstGeom prst="ellipse">
            <a:avLst/>
          </a:prstGeom>
          <a:solidFill>
            <a:srgbClr val="5B4BE8"/>
          </a:solidFill>
          <a:ln w="12700">
            <a:solidFill>
              <a:srgbClr val="5B4BE8"/>
            </a:solidFill>
            <a:prstDash val="solid"/>
          </a:ln>
        </p:spPr>
      </p:sp>
      <p:pic>
        <p:nvPicPr>
          <p:cNvPr id="21" name="Image 3" descr="preencoded.png">    </p:cNvPr>
          <p:cNvPicPr>
            <a:picLocks noChangeAspect="1"/>
          </p:cNvPicPr>
          <p:nvPr/>
        </p:nvPicPr>
        <p:blipFill>
          <a:blip r:embed="rId4"/>
          <a:stretch>
            <a:fillRect/>
          </a:stretch>
        </p:blipFill>
        <p:spPr>
          <a:xfrm>
            <a:off x="896112" y="4069080"/>
            <a:ext cx="182880" cy="182880"/>
          </a:xfrm>
          <a:prstGeom prst="rect">
            <a:avLst/>
          </a:prstGeom>
        </p:spPr>
      </p:pic>
      <p:sp>
        <p:nvSpPr>
          <p:cNvPr id="22" name="Text 16"/>
          <p:cNvSpPr/>
          <p:nvPr/>
        </p:nvSpPr>
        <p:spPr>
          <a:xfrm>
            <a:off x="1298448" y="399592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Cost per task</a:t>
            </a:r>
            <a:endParaRPr lang="en-US" sz="1500" dirty="0"/>
          </a:p>
        </p:txBody>
      </p:sp>
      <p:sp>
        <p:nvSpPr>
          <p:cNvPr id="23" name="Text 17"/>
          <p:cNvSpPr/>
          <p:nvPr/>
        </p:nvSpPr>
        <p:spPr>
          <a:xfrm>
            <a:off x="1298448" y="4351630"/>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End to end, including retries and the turns nobody counted. Per task, never per call.</a:t>
            </a:r>
            <a:endParaRPr lang="en-US" sz="1150" dirty="0"/>
          </a:p>
        </p:txBody>
      </p:sp>
      <p:sp>
        <p:nvSpPr>
          <p:cNvPr id="24" name="Shape 18"/>
          <p:cNvSpPr/>
          <p:nvPr/>
        </p:nvSpPr>
        <p:spPr>
          <a:xfrm>
            <a:off x="4332122" y="3758184"/>
            <a:ext cx="3527450" cy="1399672"/>
          </a:xfrm>
          <a:prstGeom prst="roundRect">
            <a:avLst>
              <a:gd name="adj" fmla="val 588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5" name="Shape 19"/>
          <p:cNvSpPr/>
          <p:nvPr/>
        </p:nvSpPr>
        <p:spPr>
          <a:xfrm>
            <a:off x="4569866" y="3977640"/>
            <a:ext cx="365760" cy="365760"/>
          </a:xfrm>
          <a:prstGeom prst="ellipse">
            <a:avLst/>
          </a:prstGeom>
          <a:solidFill>
            <a:srgbClr val="5B4BE8"/>
          </a:solidFill>
          <a:ln w="12700">
            <a:solidFill>
              <a:srgbClr val="5B4BE8"/>
            </a:solidFill>
            <a:prstDash val="solid"/>
          </a:ln>
        </p:spPr>
      </p:sp>
      <p:pic>
        <p:nvPicPr>
          <p:cNvPr id="26" name="Image 4" descr="preencoded.png">    </p:cNvPr>
          <p:cNvPicPr>
            <a:picLocks noChangeAspect="1"/>
          </p:cNvPicPr>
          <p:nvPr/>
        </p:nvPicPr>
        <p:blipFill>
          <a:blip r:embed="rId5"/>
          <a:stretch>
            <a:fillRect/>
          </a:stretch>
        </p:blipFill>
        <p:spPr>
          <a:xfrm>
            <a:off x="4661306" y="4069080"/>
            <a:ext cx="182880" cy="182880"/>
          </a:xfrm>
          <a:prstGeom prst="rect">
            <a:avLst/>
          </a:prstGeom>
        </p:spPr>
      </p:pic>
      <p:sp>
        <p:nvSpPr>
          <p:cNvPr id="27" name="Text 20"/>
          <p:cNvSpPr/>
          <p:nvPr/>
        </p:nvSpPr>
        <p:spPr>
          <a:xfrm>
            <a:off x="5063642" y="399592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Latency</a:t>
            </a:r>
            <a:endParaRPr lang="en-US" sz="1500" dirty="0"/>
          </a:p>
        </p:txBody>
      </p:sp>
      <p:sp>
        <p:nvSpPr>
          <p:cNvPr id="28" name="Text 21"/>
          <p:cNvSpPr/>
          <p:nvPr/>
        </p:nvSpPr>
        <p:spPr>
          <a:xfrm>
            <a:off x="5063642" y="4351630"/>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How long a person waited. A correct answer after ninety seconds fails a support use case.</a:t>
            </a:r>
            <a:endParaRPr lang="en-US" sz="1150" dirty="0"/>
          </a:p>
        </p:txBody>
      </p:sp>
      <p:sp>
        <p:nvSpPr>
          <p:cNvPr id="29" name="Shape 22"/>
          <p:cNvSpPr/>
          <p:nvPr/>
        </p:nvSpPr>
        <p:spPr>
          <a:xfrm>
            <a:off x="8097317" y="3758184"/>
            <a:ext cx="3527450" cy="1399672"/>
          </a:xfrm>
          <a:prstGeom prst="roundRect">
            <a:avLst>
              <a:gd name="adj" fmla="val 5880"/>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30" name="Shape 23"/>
          <p:cNvSpPr/>
          <p:nvPr/>
        </p:nvSpPr>
        <p:spPr>
          <a:xfrm>
            <a:off x="8335061" y="3977640"/>
            <a:ext cx="365760" cy="365760"/>
          </a:xfrm>
          <a:prstGeom prst="ellipse">
            <a:avLst/>
          </a:prstGeom>
          <a:solidFill>
            <a:srgbClr val="F5A524"/>
          </a:solidFill>
          <a:ln w="12700">
            <a:solidFill>
              <a:srgbClr val="F5A524"/>
            </a:solidFill>
            <a:prstDash val="solid"/>
          </a:ln>
        </p:spPr>
      </p:sp>
      <p:pic>
        <p:nvPicPr>
          <p:cNvPr id="31" name="Image 5" descr="preencoded.png">    </p:cNvPr>
          <p:cNvPicPr>
            <a:picLocks noChangeAspect="1"/>
          </p:cNvPicPr>
          <p:nvPr/>
        </p:nvPicPr>
        <p:blipFill>
          <a:blip r:embed="rId6"/>
          <a:stretch>
            <a:fillRect/>
          </a:stretch>
        </p:blipFill>
        <p:spPr>
          <a:xfrm>
            <a:off x="8426501" y="4069080"/>
            <a:ext cx="182880" cy="182880"/>
          </a:xfrm>
          <a:prstGeom prst="rect">
            <a:avLst/>
          </a:prstGeom>
        </p:spPr>
      </p:pic>
      <p:sp>
        <p:nvSpPr>
          <p:cNvPr id="32" name="Text 24"/>
          <p:cNvSpPr/>
          <p:nvPr/>
        </p:nvSpPr>
        <p:spPr>
          <a:xfrm>
            <a:off x="8828837" y="3995928"/>
            <a:ext cx="2558186" cy="346558"/>
          </a:xfrm>
          <a:prstGeom prst="rect">
            <a:avLst/>
          </a:prstGeom>
          <a:noFill/>
          <a:ln/>
        </p:spPr>
        <p:txBody>
          <a:bodyPr wrap="square" lIns="0" tIns="0" rIns="0" bIns="0" rtlCol="0" anchor="t"/>
          <a:lstStyle/>
          <a:p>
            <a:pPr indent="0" marL="0">
              <a:lnSpc>
                <a:spcPct val="105000"/>
              </a:lnSpc>
              <a:buNone/>
            </a:pPr>
            <a:r>
              <a:rPr lang="en-US" sz="1500" b="1" dirty="0">
                <a:solidFill>
                  <a:srgbClr val="141235"/>
                </a:solidFill>
                <a:latin typeface="Calibri" pitchFamily="34" charset="0"/>
                <a:ea typeface="Calibri" pitchFamily="34" charset="-122"/>
                <a:cs typeface="Calibri" pitchFamily="34" charset="-120"/>
              </a:rPr>
              <a:t>And refusal quality</a:t>
            </a:r>
            <a:endParaRPr lang="en-US" sz="1500" dirty="0"/>
          </a:p>
        </p:txBody>
      </p:sp>
      <p:sp>
        <p:nvSpPr>
          <p:cNvPr id="33" name="Text 25"/>
          <p:cNvSpPr/>
          <p:nvPr/>
        </p:nvSpPr>
        <p:spPr>
          <a:xfrm>
            <a:off x="8828837" y="4351630"/>
            <a:ext cx="2558186" cy="623346"/>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How often it says “I don't know” when that is right — and how often when it is not.</a:t>
            </a:r>
            <a:endParaRPr lang="en-US" sz="1150" dirty="0"/>
          </a:p>
        </p:txBody>
      </p:sp>
      <p:sp>
        <p:nvSpPr>
          <p:cNvPr id="34" name="Text 26"/>
          <p:cNvSpPr/>
          <p:nvPr/>
        </p:nvSpPr>
        <p:spPr>
          <a:xfrm>
            <a:off x="566928" y="5468112"/>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Three things about an agent are unpredictable — the path it takes, the output it produces, and what it costs. Each has its own control: guardrails, evals, and a hard budget cap inside the loop.</a:t>
            </a:r>
            <a:endParaRPr lang="en-US" sz="950" dirty="0"/>
          </a:p>
        </p:txBody>
      </p:sp>
      <p:sp>
        <p:nvSpPr>
          <p:cNvPr id="35" name="Shape 27"/>
          <p:cNvSpPr/>
          <p:nvPr/>
        </p:nvSpPr>
        <p:spPr>
          <a:xfrm>
            <a:off x="566928" y="5760720"/>
            <a:ext cx="11057839" cy="676656"/>
          </a:xfrm>
          <a:prstGeom prst="roundRect">
            <a:avLst>
              <a:gd name="adj" fmla="val 12162"/>
            </a:avLst>
          </a:prstGeom>
          <a:solidFill>
            <a:srgbClr val="FFF4E0"/>
          </a:solidFill>
          <a:ln w="12700">
            <a:solidFill>
              <a:srgbClr val="F3DCB0"/>
            </a:solidFill>
            <a:prstDash val="solid"/>
          </a:ln>
        </p:spPr>
      </p:sp>
      <p:sp>
        <p:nvSpPr>
          <p:cNvPr id="36" name="Shape 28"/>
          <p:cNvSpPr/>
          <p:nvPr/>
        </p:nvSpPr>
        <p:spPr>
          <a:xfrm>
            <a:off x="841248" y="5907024"/>
            <a:ext cx="384048" cy="384048"/>
          </a:xfrm>
          <a:prstGeom prst="ellipse">
            <a:avLst/>
          </a:prstGeom>
          <a:solidFill>
            <a:srgbClr val="F5A524"/>
          </a:solidFill>
          <a:ln w="12700">
            <a:solidFill>
              <a:srgbClr val="F5A524"/>
            </a:solidFill>
            <a:prstDash val="solid"/>
          </a:ln>
        </p:spPr>
      </p:sp>
      <p:pic>
        <p:nvPicPr>
          <p:cNvPr id="37" name="Image 6" descr="preencoded.png">    </p:cNvPr>
          <p:cNvPicPr>
            <a:picLocks noChangeAspect="1"/>
          </p:cNvPicPr>
          <p:nvPr/>
        </p:nvPicPr>
        <p:blipFill>
          <a:blip r:embed="rId7"/>
          <a:stretch>
            <a:fillRect/>
          </a:stretch>
        </p:blipFill>
        <p:spPr>
          <a:xfrm>
            <a:off x="937260" y="6003036"/>
            <a:ext cx="192024" cy="192024"/>
          </a:xfrm>
          <a:prstGeom prst="rect">
            <a:avLst/>
          </a:prstGeom>
        </p:spPr>
      </p:pic>
      <p:sp>
        <p:nvSpPr>
          <p:cNvPr id="38" name="Text 29"/>
          <p:cNvSpPr/>
          <p:nvPr/>
        </p:nvSpPr>
        <p:spPr>
          <a:xfrm>
            <a:off x="1371600" y="5815584"/>
            <a:ext cx="9960559" cy="566928"/>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“It seems to work” is not a measurement, and it will not survive its first bad week in front of real users.</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How you actually measure it</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Knowing what to measure is the easy half. This is the half that teams skip, and it is why so many agents ship on vibes.</a:t>
            </a:r>
            <a:endParaRPr lang="en-US" sz="1400" dirty="0"/>
          </a:p>
        </p:txBody>
      </p:sp>
      <p:sp>
        <p:nvSpPr>
          <p:cNvPr id="5" name="Shape 3"/>
          <p:cNvSpPr/>
          <p:nvPr/>
        </p:nvSpPr>
        <p:spPr>
          <a:xfrm>
            <a:off x="566928" y="2048256"/>
            <a:ext cx="2586152" cy="2907792"/>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267712"/>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359152"/>
            <a:ext cx="182880" cy="182880"/>
          </a:xfrm>
          <a:prstGeom prst="rect">
            <a:avLst/>
          </a:prstGeom>
        </p:spPr>
      </p:pic>
      <p:sp>
        <p:nvSpPr>
          <p:cNvPr id="8" name="Text 5"/>
          <p:cNvSpPr/>
          <p:nvPr/>
        </p:nvSpPr>
        <p:spPr>
          <a:xfrm>
            <a:off x="1298448" y="225856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STEP 1</a:t>
            </a:r>
            <a:endParaRPr lang="en-US" sz="850" dirty="0"/>
          </a:p>
        </p:txBody>
      </p:sp>
      <p:sp>
        <p:nvSpPr>
          <p:cNvPr id="9" name="Text 6"/>
          <p:cNvSpPr/>
          <p:nvPr/>
        </p:nvSpPr>
        <p:spPr>
          <a:xfrm>
            <a:off x="1298448" y="2478024"/>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A golden set</a:t>
            </a:r>
            <a:endParaRPr lang="en-US" sz="1450" dirty="0"/>
          </a:p>
        </p:txBody>
      </p:sp>
      <p:sp>
        <p:nvSpPr>
          <p:cNvPr id="10" name="Text 7"/>
          <p:cNvSpPr/>
          <p:nvPr/>
        </p:nvSpPr>
        <p:spPr>
          <a:xfrm>
            <a:off x="1298448" y="2825679"/>
            <a:ext cx="1616888" cy="1947489"/>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Twenty to fifty real questions with agreed answers, including the unanswerable ones from module 12. Small and honest beats large and aspirational. It is a living asset — every incident adds a row.</a:t>
            </a:r>
            <a:endParaRPr lang="en-US" sz="1100" dirty="0"/>
          </a:p>
        </p:txBody>
      </p:sp>
      <p:sp>
        <p:nvSpPr>
          <p:cNvPr id="11" name="Shape 8"/>
          <p:cNvSpPr/>
          <p:nvPr/>
        </p:nvSpPr>
        <p:spPr>
          <a:xfrm>
            <a:off x="3390824" y="2048256"/>
            <a:ext cx="2586152" cy="2907792"/>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3628568" y="2267712"/>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3720008" y="2359152"/>
            <a:ext cx="182880" cy="182880"/>
          </a:xfrm>
          <a:prstGeom prst="rect">
            <a:avLst/>
          </a:prstGeom>
        </p:spPr>
      </p:pic>
      <p:sp>
        <p:nvSpPr>
          <p:cNvPr id="14" name="Text 10"/>
          <p:cNvSpPr/>
          <p:nvPr/>
        </p:nvSpPr>
        <p:spPr>
          <a:xfrm>
            <a:off x="4122344" y="225856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STEP 2</a:t>
            </a:r>
            <a:endParaRPr lang="en-US" sz="850" dirty="0"/>
          </a:p>
        </p:txBody>
      </p:sp>
      <p:sp>
        <p:nvSpPr>
          <p:cNvPr id="15" name="Text 11"/>
          <p:cNvSpPr/>
          <p:nvPr/>
        </p:nvSpPr>
        <p:spPr>
          <a:xfrm>
            <a:off x="4122344" y="2478024"/>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Trajectory, not just outcome</a:t>
            </a:r>
            <a:endParaRPr lang="en-US" sz="1450" dirty="0"/>
          </a:p>
        </p:txBody>
      </p:sp>
      <p:sp>
        <p:nvSpPr>
          <p:cNvPr id="16" name="Text 12"/>
          <p:cNvSpPr/>
          <p:nvPr/>
        </p:nvSpPr>
        <p:spPr>
          <a:xfrm>
            <a:off x="4122344" y="3109326"/>
            <a:ext cx="1616888" cy="1663842"/>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Two runs can both reach the right answer, one in two tool calls and one in eleven. Grade the path as well as the destination — that is where cost and fragility live.</a:t>
            </a:r>
            <a:endParaRPr lang="en-US" sz="1100" dirty="0"/>
          </a:p>
        </p:txBody>
      </p:sp>
      <p:sp>
        <p:nvSpPr>
          <p:cNvPr id="17" name="Shape 13"/>
          <p:cNvSpPr/>
          <p:nvPr/>
        </p:nvSpPr>
        <p:spPr>
          <a:xfrm>
            <a:off x="6214720" y="2048256"/>
            <a:ext cx="2586152" cy="2907792"/>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6452464" y="2267712"/>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6543904" y="2359152"/>
            <a:ext cx="182880" cy="182880"/>
          </a:xfrm>
          <a:prstGeom prst="rect">
            <a:avLst/>
          </a:prstGeom>
        </p:spPr>
      </p:pic>
      <p:sp>
        <p:nvSpPr>
          <p:cNvPr id="20" name="Text 15"/>
          <p:cNvSpPr/>
          <p:nvPr/>
        </p:nvSpPr>
        <p:spPr>
          <a:xfrm>
            <a:off x="6946240" y="225856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STEP 3</a:t>
            </a:r>
            <a:endParaRPr lang="en-US" sz="850" dirty="0"/>
          </a:p>
        </p:txBody>
      </p:sp>
      <p:sp>
        <p:nvSpPr>
          <p:cNvPr id="21" name="Text 16"/>
          <p:cNvSpPr/>
          <p:nvPr/>
        </p:nvSpPr>
        <p:spPr>
          <a:xfrm>
            <a:off x="6946240" y="2478024"/>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LLM-as-judge, calibrated</a:t>
            </a:r>
            <a:endParaRPr lang="en-US" sz="1450" dirty="0"/>
          </a:p>
        </p:txBody>
      </p:sp>
      <p:sp>
        <p:nvSpPr>
          <p:cNvPr id="22" name="Text 17"/>
          <p:cNvSpPr/>
          <p:nvPr/>
        </p:nvSpPr>
        <p:spPr>
          <a:xfrm>
            <a:off x="6946240" y="3109326"/>
            <a:ext cx="1616888" cy="1663842"/>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 model can grade open-ended answers at scale. But it must be calibrated against human labels on a sample first, and re-checked — an uncalibrated judge is a confident random number generator.</a:t>
            </a:r>
            <a:endParaRPr lang="en-US" sz="1100" dirty="0"/>
          </a:p>
        </p:txBody>
      </p:sp>
      <p:sp>
        <p:nvSpPr>
          <p:cNvPr id="23" name="Shape 18"/>
          <p:cNvSpPr/>
          <p:nvPr/>
        </p:nvSpPr>
        <p:spPr>
          <a:xfrm>
            <a:off x="9038615" y="2048256"/>
            <a:ext cx="2586152" cy="2907792"/>
          </a:xfrm>
          <a:prstGeom prst="roundRect">
            <a:avLst>
              <a:gd name="adj" fmla="val 3182"/>
            </a:avLst>
          </a:prstGeom>
          <a:solidFill>
            <a:srgbClr val="EEEDFE"/>
          </a:solidFill>
          <a:ln w="12700">
            <a:solidFill>
              <a:srgbClr val="8E82F5"/>
            </a:solidFill>
            <a:prstDash val="solid"/>
          </a:ln>
          <a:effectLst>
            <a:outerShdw sx="100000" sy="100000" kx="0" ky="0" algn="bl" rotWithShape="0" blurRad="114300" dist="572" dir="5400000">
              <a:srgbClr val="1B1A4A">
                <a:alpha val="7000"/>
              </a:srgbClr>
            </a:outerShdw>
          </a:effectLst>
        </p:spPr>
      </p:sp>
      <p:sp>
        <p:nvSpPr>
          <p:cNvPr id="24" name="Shape 19"/>
          <p:cNvSpPr/>
          <p:nvPr/>
        </p:nvSpPr>
        <p:spPr>
          <a:xfrm>
            <a:off x="9276359" y="2267712"/>
            <a:ext cx="365760" cy="365760"/>
          </a:xfrm>
          <a:prstGeom prst="ellipse">
            <a:avLst/>
          </a:prstGeom>
          <a:solidFill>
            <a:srgbClr val="5B4BE8"/>
          </a:solidFill>
          <a:ln w="12700">
            <a:solidFill>
              <a:srgbClr val="5B4BE8"/>
            </a:solidFill>
            <a:prstDash val="solid"/>
          </a:ln>
        </p:spPr>
      </p:sp>
      <p:pic>
        <p:nvPicPr>
          <p:cNvPr id="25" name="Image 3" descr="preencoded.png">    </p:cNvPr>
          <p:cNvPicPr>
            <a:picLocks noChangeAspect="1"/>
          </p:cNvPicPr>
          <p:nvPr/>
        </p:nvPicPr>
        <p:blipFill>
          <a:blip r:embed="rId4"/>
          <a:stretch>
            <a:fillRect/>
          </a:stretch>
        </p:blipFill>
        <p:spPr>
          <a:xfrm>
            <a:off x="9367799" y="2359152"/>
            <a:ext cx="182880" cy="182880"/>
          </a:xfrm>
          <a:prstGeom prst="rect">
            <a:avLst/>
          </a:prstGeom>
        </p:spPr>
      </p:pic>
      <p:sp>
        <p:nvSpPr>
          <p:cNvPr id="26" name="Text 20"/>
          <p:cNvSpPr/>
          <p:nvPr/>
        </p:nvSpPr>
        <p:spPr>
          <a:xfrm>
            <a:off x="9770135" y="225856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STEP 4</a:t>
            </a:r>
            <a:endParaRPr lang="en-US" sz="850" dirty="0"/>
          </a:p>
        </p:txBody>
      </p:sp>
      <p:sp>
        <p:nvSpPr>
          <p:cNvPr id="27" name="Text 21"/>
          <p:cNvSpPr/>
          <p:nvPr/>
        </p:nvSpPr>
        <p:spPr>
          <a:xfrm>
            <a:off x="9770135" y="2478024"/>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Run it in CI</a:t>
            </a:r>
            <a:endParaRPr lang="en-US" sz="1450" dirty="0"/>
          </a:p>
        </p:txBody>
      </p:sp>
      <p:sp>
        <p:nvSpPr>
          <p:cNvPr id="28" name="Text 22"/>
          <p:cNvSpPr/>
          <p:nvPr/>
        </p:nvSpPr>
        <p:spPr>
          <a:xfrm>
            <a:off x="9770135" y="2825679"/>
            <a:ext cx="1616888" cy="1947489"/>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An eval you run manually is an eval you stop running. Wire it to the prompt and the model version, so a change that quietly makes things worse fails a build.</a:t>
            </a:r>
            <a:endParaRPr lang="en-US" sz="1100" dirty="0"/>
          </a:p>
        </p:txBody>
      </p:sp>
      <p:sp>
        <p:nvSpPr>
          <p:cNvPr id="29" name="Shape 23"/>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30" name="Shape 24"/>
          <p:cNvSpPr/>
          <p:nvPr/>
        </p:nvSpPr>
        <p:spPr>
          <a:xfrm>
            <a:off x="841248" y="5650992"/>
            <a:ext cx="384048" cy="384048"/>
          </a:xfrm>
          <a:prstGeom prst="ellipse">
            <a:avLst/>
          </a:prstGeom>
          <a:solidFill>
            <a:srgbClr val="F5A524"/>
          </a:solidFill>
          <a:ln w="12700">
            <a:solidFill>
              <a:srgbClr val="F5A524"/>
            </a:solidFill>
            <a:prstDash val="solid"/>
          </a:ln>
        </p:spPr>
      </p:sp>
      <p:pic>
        <p:nvPicPr>
          <p:cNvPr id="31" name="Image 4" descr="preencoded.png">    </p:cNvPr>
          <p:cNvPicPr>
            <a:picLocks noChangeAspect="1"/>
          </p:cNvPicPr>
          <p:nvPr/>
        </p:nvPicPr>
        <p:blipFill>
          <a:blip r:embed="rId5"/>
          <a:stretch>
            <a:fillRect/>
          </a:stretch>
        </p:blipFill>
        <p:spPr>
          <a:xfrm>
            <a:off x="937260" y="5747004"/>
            <a:ext cx="192024" cy="192024"/>
          </a:xfrm>
          <a:prstGeom prst="rect">
            <a:avLst/>
          </a:prstGeom>
        </p:spPr>
      </p:pic>
      <p:sp>
        <p:nvSpPr>
          <p:cNvPr id="32" name="Text 25"/>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Write down twenty questions you already know the answers to, and check them every time you change something. That single habit outperforms most tooling.</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You cannot debug what you did not record</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An agent run is a distributed trace: nested model calls, tool calls, retrievals, retries. That is a solved problem in ordinary software.</a:t>
            </a:r>
            <a:endParaRPr lang="en-US" sz="1400" dirty="0"/>
          </a:p>
        </p:txBody>
      </p:sp>
      <p:sp>
        <p:nvSpPr>
          <p:cNvPr id="5" name="Shape 3"/>
          <p:cNvSpPr/>
          <p:nvPr/>
        </p:nvSpPr>
        <p:spPr>
          <a:xfrm>
            <a:off x="566928" y="2048256"/>
            <a:ext cx="2586152" cy="2907792"/>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267712"/>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359152"/>
            <a:ext cx="182880" cy="182880"/>
          </a:xfrm>
          <a:prstGeom prst="rect">
            <a:avLst/>
          </a:prstGeom>
        </p:spPr>
      </p:pic>
      <p:sp>
        <p:nvSpPr>
          <p:cNvPr id="8" name="Text 5"/>
          <p:cNvSpPr/>
          <p:nvPr/>
        </p:nvSpPr>
        <p:spPr>
          <a:xfrm>
            <a:off x="1298448" y="225856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SHAPE</a:t>
            </a:r>
            <a:endParaRPr lang="en-US" sz="850" dirty="0"/>
          </a:p>
        </p:txBody>
      </p:sp>
      <p:sp>
        <p:nvSpPr>
          <p:cNvPr id="9" name="Text 6"/>
          <p:cNvSpPr/>
          <p:nvPr/>
        </p:nvSpPr>
        <p:spPr>
          <a:xfrm>
            <a:off x="1298448" y="2478024"/>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A trace, with spans</a:t>
            </a:r>
            <a:endParaRPr lang="en-US" sz="1450" dirty="0"/>
          </a:p>
        </p:txBody>
      </p:sp>
      <p:sp>
        <p:nvSpPr>
          <p:cNvPr id="10" name="Text 7"/>
          <p:cNvSpPr/>
          <p:nvPr/>
        </p:nvSpPr>
        <p:spPr>
          <a:xfrm>
            <a:off x="1298448" y="3109326"/>
            <a:ext cx="1616888" cy="1663842"/>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One span per model call, per tool call, per retrieval — nested under one run. Exactly how you already trace a microservice request. Usually a few lines of config, not a project.</a:t>
            </a:r>
            <a:endParaRPr lang="en-US" sz="1100" dirty="0"/>
          </a:p>
        </p:txBody>
      </p:sp>
      <p:sp>
        <p:nvSpPr>
          <p:cNvPr id="11" name="Shape 8"/>
          <p:cNvSpPr/>
          <p:nvPr/>
        </p:nvSpPr>
        <p:spPr>
          <a:xfrm>
            <a:off x="3390824" y="2048256"/>
            <a:ext cx="2586152" cy="2907792"/>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3628568" y="2267712"/>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3720008" y="2359152"/>
            <a:ext cx="182880" cy="182880"/>
          </a:xfrm>
          <a:prstGeom prst="rect">
            <a:avLst/>
          </a:prstGeom>
        </p:spPr>
      </p:pic>
      <p:sp>
        <p:nvSpPr>
          <p:cNvPr id="14" name="Text 10"/>
          <p:cNvSpPr/>
          <p:nvPr/>
        </p:nvSpPr>
        <p:spPr>
          <a:xfrm>
            <a:off x="4122344" y="225856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STANDARD</a:t>
            </a:r>
            <a:endParaRPr lang="en-US" sz="850" dirty="0"/>
          </a:p>
        </p:txBody>
      </p:sp>
      <p:sp>
        <p:nvSpPr>
          <p:cNvPr id="15" name="Text 11"/>
          <p:cNvSpPr/>
          <p:nvPr/>
        </p:nvSpPr>
        <p:spPr>
          <a:xfrm>
            <a:off x="4122344" y="2478024"/>
            <a:ext cx="1616888" cy="905805"/>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OpenTelemetry GenAI conventions</a:t>
            </a:r>
            <a:endParaRPr lang="en-US" sz="1450" dirty="0"/>
          </a:p>
        </p:txBody>
      </p:sp>
      <p:sp>
        <p:nvSpPr>
          <p:cNvPr id="16" name="Text 12"/>
          <p:cNvSpPr/>
          <p:nvPr/>
        </p:nvSpPr>
        <p:spPr>
          <a:xfrm>
            <a:off x="4122344" y="3392973"/>
            <a:ext cx="1616888" cy="1380195"/>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Vendor-neutral semantic conventions for agent, model and tool spans. MCP itself now points its logging at OpenTelemetry rather than defining its own.</a:t>
            </a:r>
            <a:endParaRPr lang="en-US" sz="1100" dirty="0"/>
          </a:p>
        </p:txBody>
      </p:sp>
      <p:sp>
        <p:nvSpPr>
          <p:cNvPr id="17" name="Shape 13"/>
          <p:cNvSpPr/>
          <p:nvPr/>
        </p:nvSpPr>
        <p:spPr>
          <a:xfrm>
            <a:off x="6214720" y="2048256"/>
            <a:ext cx="2586152" cy="2907792"/>
          </a:xfrm>
          <a:prstGeom prst="roundRect">
            <a:avLst>
              <a:gd name="adj" fmla="val 318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6452464" y="2267712"/>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6543904" y="2359152"/>
            <a:ext cx="182880" cy="182880"/>
          </a:xfrm>
          <a:prstGeom prst="rect">
            <a:avLst/>
          </a:prstGeom>
        </p:spPr>
      </p:pic>
      <p:sp>
        <p:nvSpPr>
          <p:cNvPr id="20" name="Text 15"/>
          <p:cNvSpPr/>
          <p:nvPr/>
        </p:nvSpPr>
        <p:spPr>
          <a:xfrm>
            <a:off x="6946240" y="225856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WHAT TO CAPTURE</a:t>
            </a:r>
            <a:endParaRPr lang="en-US" sz="850" dirty="0"/>
          </a:p>
        </p:txBody>
      </p:sp>
      <p:sp>
        <p:nvSpPr>
          <p:cNvPr id="21" name="Text 16"/>
          <p:cNvSpPr/>
          <p:nvPr/>
        </p:nvSpPr>
        <p:spPr>
          <a:xfrm>
            <a:off x="6946240" y="2478024"/>
            <a:ext cx="1616888" cy="905805"/>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Tokens, latency, tool name, outcome</a:t>
            </a:r>
            <a:endParaRPr lang="en-US" sz="1450" dirty="0"/>
          </a:p>
        </p:txBody>
      </p:sp>
      <p:sp>
        <p:nvSpPr>
          <p:cNvPr id="22" name="Text 17"/>
          <p:cNvSpPr/>
          <p:nvPr/>
        </p:nvSpPr>
        <p:spPr>
          <a:xfrm>
            <a:off x="6946240" y="3392973"/>
            <a:ext cx="1616888" cy="1380195"/>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Per span. Cost per task and tool-call correctness fall out of the trace for free once the spans are right.</a:t>
            </a:r>
            <a:endParaRPr lang="en-US" sz="1100" dirty="0"/>
          </a:p>
        </p:txBody>
      </p:sp>
      <p:sp>
        <p:nvSpPr>
          <p:cNvPr id="23" name="Shape 18"/>
          <p:cNvSpPr/>
          <p:nvPr/>
        </p:nvSpPr>
        <p:spPr>
          <a:xfrm>
            <a:off x="9038615" y="2048256"/>
            <a:ext cx="2586152" cy="2907792"/>
          </a:xfrm>
          <a:prstGeom prst="roundRect">
            <a:avLst>
              <a:gd name="adj" fmla="val 3182"/>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24" name="Shape 19"/>
          <p:cNvSpPr/>
          <p:nvPr/>
        </p:nvSpPr>
        <p:spPr>
          <a:xfrm>
            <a:off x="9276359" y="2267712"/>
            <a:ext cx="365760" cy="365760"/>
          </a:xfrm>
          <a:prstGeom prst="ellipse">
            <a:avLst/>
          </a:prstGeom>
          <a:solidFill>
            <a:srgbClr val="F5A524"/>
          </a:solidFill>
          <a:ln w="12700">
            <a:solidFill>
              <a:srgbClr val="F5A524"/>
            </a:solidFill>
            <a:prstDash val="solid"/>
          </a:ln>
        </p:spPr>
      </p:sp>
      <p:pic>
        <p:nvPicPr>
          <p:cNvPr id="25" name="Image 3" descr="preencoded.png">    </p:cNvPr>
          <p:cNvPicPr>
            <a:picLocks noChangeAspect="1"/>
          </p:cNvPicPr>
          <p:nvPr/>
        </p:nvPicPr>
        <p:blipFill>
          <a:blip r:embed="rId4"/>
          <a:stretch>
            <a:fillRect/>
          </a:stretch>
        </p:blipFill>
        <p:spPr>
          <a:xfrm>
            <a:off x="9367799" y="2359152"/>
            <a:ext cx="182880" cy="182880"/>
          </a:xfrm>
          <a:prstGeom prst="rect">
            <a:avLst/>
          </a:prstGeom>
        </p:spPr>
      </p:pic>
      <p:sp>
        <p:nvSpPr>
          <p:cNvPr id="26" name="Text 20"/>
          <p:cNvSpPr/>
          <p:nvPr/>
        </p:nvSpPr>
        <p:spPr>
          <a:xfrm>
            <a:off x="9770135" y="225856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THE CATCH</a:t>
            </a:r>
            <a:endParaRPr lang="en-US" sz="850" dirty="0"/>
          </a:p>
        </p:txBody>
      </p:sp>
      <p:sp>
        <p:nvSpPr>
          <p:cNvPr id="27" name="Text 21"/>
          <p:cNvSpPr/>
          <p:nvPr/>
        </p:nvSpPr>
        <p:spPr>
          <a:xfrm>
            <a:off x="9770135" y="2478024"/>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Traces contain prompts</a:t>
            </a:r>
            <a:endParaRPr lang="en-US" sz="1450" dirty="0"/>
          </a:p>
        </p:txBody>
      </p:sp>
      <p:sp>
        <p:nvSpPr>
          <p:cNvPr id="28" name="Text 22"/>
          <p:cNvSpPr/>
          <p:nvPr/>
        </p:nvSpPr>
        <p:spPr>
          <a:xfrm>
            <a:off x="9770135" y="3109326"/>
            <a:ext cx="1616888" cy="1663842"/>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Which means they contain customer data. Decide what you redact before you turn tracing on, not after your first subject access request.</a:t>
            </a:r>
            <a:endParaRPr lang="en-US" sz="1100" dirty="0"/>
          </a:p>
        </p:txBody>
      </p:sp>
      <p:sp>
        <p:nvSpPr>
          <p:cNvPr id="29" name="Shape 23"/>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sp>
      <p:sp>
        <p:nvSpPr>
          <p:cNvPr id="30" name="Shape 24"/>
          <p:cNvSpPr/>
          <p:nvPr/>
        </p:nvSpPr>
        <p:spPr>
          <a:xfrm>
            <a:off x="841248" y="5650992"/>
            <a:ext cx="384048" cy="384048"/>
          </a:xfrm>
          <a:prstGeom prst="ellipse">
            <a:avLst/>
          </a:prstGeom>
          <a:solidFill>
            <a:srgbClr val="F5A524"/>
          </a:solidFill>
          <a:ln w="12700">
            <a:solidFill>
              <a:srgbClr val="F5A524"/>
            </a:solidFill>
            <a:prstDash val="solid"/>
          </a:ln>
        </p:spPr>
      </p:sp>
      <p:pic>
        <p:nvPicPr>
          <p:cNvPr id="31" name="Image 4" descr="preencoded.png">    </p:cNvPr>
          <p:cNvPicPr>
            <a:picLocks noChangeAspect="1"/>
          </p:cNvPicPr>
          <p:nvPr/>
        </p:nvPicPr>
        <p:blipFill>
          <a:blip r:embed="rId5"/>
          <a:stretch>
            <a:fillRect/>
          </a:stretch>
        </p:blipFill>
        <p:spPr>
          <a:xfrm>
            <a:off x="937260" y="5747004"/>
            <a:ext cx="192024" cy="192024"/>
          </a:xfrm>
          <a:prstGeom prst="rect">
            <a:avLst/>
          </a:prstGeom>
        </p:spPr>
      </p:pic>
      <p:sp>
        <p:nvSpPr>
          <p:cNvPr id="32" name="Text 25"/>
          <p:cNvSpPr/>
          <p:nvPr/>
        </p:nvSpPr>
        <p:spPr>
          <a:xfrm>
            <a:off x="1371600" y="5486400"/>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Record every step the agent took, in a standard format, so that when it does something strange you can read back exactly what happened.</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Three levers that actually move the number</a:t>
            </a:r>
            <a:endParaRPr lang="en-US" sz="3000" dirty="0"/>
          </a:p>
        </p:txBody>
      </p:sp>
      <p:sp>
        <p:nvSpPr>
          <p:cNvPr id="4" name="Shape 2"/>
          <p:cNvSpPr/>
          <p:nvPr/>
        </p:nvSpPr>
        <p:spPr>
          <a:xfrm>
            <a:off x="566928" y="2536728"/>
            <a:ext cx="3527450" cy="2296607"/>
          </a:xfrm>
          <a:prstGeom prst="roundRect">
            <a:avLst>
              <a:gd name="adj" fmla="val 358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756184"/>
            <a:ext cx="365760" cy="365760"/>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896112" y="2847624"/>
            <a:ext cx="182880" cy="182880"/>
          </a:xfrm>
          <a:prstGeom prst="rect">
            <a:avLst/>
          </a:prstGeom>
        </p:spPr>
      </p:pic>
      <p:sp>
        <p:nvSpPr>
          <p:cNvPr id="7" name="Text 4"/>
          <p:cNvSpPr/>
          <p:nvPr/>
        </p:nvSpPr>
        <p:spPr>
          <a:xfrm>
            <a:off x="1298448" y="2747040"/>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LEVER 1</a:t>
            </a:r>
            <a:endParaRPr lang="en-US" sz="850" dirty="0"/>
          </a:p>
        </p:txBody>
      </p:sp>
      <p:sp>
        <p:nvSpPr>
          <p:cNvPr id="8" name="Text 5"/>
          <p:cNvSpPr/>
          <p:nvPr/>
        </p:nvSpPr>
        <p:spPr>
          <a:xfrm>
            <a:off x="1298448" y="2966496"/>
            <a:ext cx="2558186" cy="362651"/>
          </a:xfrm>
          <a:prstGeom prst="rect">
            <a:avLst/>
          </a:prstGeom>
          <a:noFill/>
          <a:ln/>
        </p:spPr>
        <p:txBody>
          <a:bodyPr wrap="square" lIns="0" tIns="0" rIns="0" bIns="0" rtlCol="0" anchor="t"/>
          <a:lstStyle/>
          <a:p>
            <a:pPr indent="0" marL="0">
              <a:lnSpc>
                <a:spcPct val="105000"/>
              </a:lnSpc>
              <a:buNone/>
            </a:pPr>
            <a:r>
              <a:rPr lang="en-US" sz="1600" b="1" dirty="0">
                <a:solidFill>
                  <a:srgbClr val="141235"/>
                </a:solidFill>
                <a:latin typeface="Calibri" pitchFamily="34" charset="0"/>
                <a:ea typeface="Calibri" pitchFamily="34" charset="-122"/>
                <a:cs typeface="Calibri" pitchFamily="34" charset="-120"/>
              </a:rPr>
              <a:t>Caching</a:t>
            </a:r>
            <a:endParaRPr lang="en-US" sz="1600" dirty="0"/>
          </a:p>
        </p:txBody>
      </p:sp>
      <p:sp>
        <p:nvSpPr>
          <p:cNvPr id="9" name="Text 6"/>
          <p:cNvSpPr/>
          <p:nvPr/>
        </p:nvSpPr>
        <p:spPr>
          <a:xfrm>
            <a:off x="1298448" y="3338292"/>
            <a:ext cx="2558186" cy="1312164"/>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Reuse what has not changed instead of re-sending it. The system prompt and tool schemas are identical on every turn — paying for them every turn is a choice.</a:t>
            </a:r>
            <a:endParaRPr lang="en-US" sz="1250" dirty="0"/>
          </a:p>
        </p:txBody>
      </p:sp>
      <p:sp>
        <p:nvSpPr>
          <p:cNvPr id="10" name="Shape 7"/>
          <p:cNvSpPr/>
          <p:nvPr/>
        </p:nvSpPr>
        <p:spPr>
          <a:xfrm>
            <a:off x="4332122" y="2536728"/>
            <a:ext cx="3527450" cy="2296607"/>
          </a:xfrm>
          <a:prstGeom prst="roundRect">
            <a:avLst>
              <a:gd name="adj" fmla="val 358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4569866" y="2756184"/>
            <a:ext cx="365760" cy="365760"/>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4661306" y="2847624"/>
            <a:ext cx="182880" cy="182880"/>
          </a:xfrm>
          <a:prstGeom prst="rect">
            <a:avLst/>
          </a:prstGeom>
        </p:spPr>
      </p:pic>
      <p:sp>
        <p:nvSpPr>
          <p:cNvPr id="13" name="Text 9"/>
          <p:cNvSpPr/>
          <p:nvPr/>
        </p:nvSpPr>
        <p:spPr>
          <a:xfrm>
            <a:off x="5063642" y="2747040"/>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LEVER 2</a:t>
            </a:r>
            <a:endParaRPr lang="en-US" sz="850" dirty="0"/>
          </a:p>
        </p:txBody>
      </p:sp>
      <p:sp>
        <p:nvSpPr>
          <p:cNvPr id="14" name="Text 10"/>
          <p:cNvSpPr/>
          <p:nvPr/>
        </p:nvSpPr>
        <p:spPr>
          <a:xfrm>
            <a:off x="5063642" y="2966496"/>
            <a:ext cx="2558186" cy="362651"/>
          </a:xfrm>
          <a:prstGeom prst="rect">
            <a:avLst/>
          </a:prstGeom>
          <a:noFill/>
          <a:ln/>
        </p:spPr>
        <p:txBody>
          <a:bodyPr wrap="square" lIns="0" tIns="0" rIns="0" bIns="0" rtlCol="0" anchor="t"/>
          <a:lstStyle/>
          <a:p>
            <a:pPr indent="0" marL="0">
              <a:lnSpc>
                <a:spcPct val="105000"/>
              </a:lnSpc>
              <a:buNone/>
            </a:pPr>
            <a:r>
              <a:rPr lang="en-US" sz="1600" b="1" dirty="0">
                <a:solidFill>
                  <a:srgbClr val="141235"/>
                </a:solidFill>
                <a:latin typeface="Calibri" pitchFamily="34" charset="0"/>
                <a:ea typeface="Calibri" pitchFamily="34" charset="-122"/>
                <a:cs typeface="Calibri" pitchFamily="34" charset="-120"/>
              </a:rPr>
              <a:t>Model routing</a:t>
            </a:r>
            <a:endParaRPr lang="en-US" sz="1600" dirty="0"/>
          </a:p>
        </p:txBody>
      </p:sp>
      <p:sp>
        <p:nvSpPr>
          <p:cNvPr id="15" name="Text 11"/>
          <p:cNvSpPr/>
          <p:nvPr/>
        </p:nvSpPr>
        <p:spPr>
          <a:xfrm>
            <a:off x="5063642" y="3338292"/>
            <a:ext cx="2558186" cy="1312164"/>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Send the easy turns to a smaller model. Most turns in a real agent are routing and formatting, not reasoning — and you were paying premium rates for all of them.</a:t>
            </a:r>
            <a:endParaRPr lang="en-US" sz="1250" dirty="0"/>
          </a:p>
        </p:txBody>
      </p:sp>
      <p:sp>
        <p:nvSpPr>
          <p:cNvPr id="16" name="Shape 12"/>
          <p:cNvSpPr/>
          <p:nvPr/>
        </p:nvSpPr>
        <p:spPr>
          <a:xfrm>
            <a:off x="8097317" y="2536728"/>
            <a:ext cx="3527450" cy="2296607"/>
          </a:xfrm>
          <a:prstGeom prst="roundRect">
            <a:avLst>
              <a:gd name="adj" fmla="val 3583"/>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8335061" y="2756184"/>
            <a:ext cx="365760" cy="365760"/>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8426501" y="2847624"/>
            <a:ext cx="182880" cy="182880"/>
          </a:xfrm>
          <a:prstGeom prst="rect">
            <a:avLst/>
          </a:prstGeom>
        </p:spPr>
      </p:pic>
      <p:sp>
        <p:nvSpPr>
          <p:cNvPr id="19" name="Text 14"/>
          <p:cNvSpPr/>
          <p:nvPr/>
        </p:nvSpPr>
        <p:spPr>
          <a:xfrm>
            <a:off x="8828837" y="2747040"/>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LEVER 3</a:t>
            </a:r>
            <a:endParaRPr lang="en-US" sz="850" dirty="0"/>
          </a:p>
        </p:txBody>
      </p:sp>
      <p:sp>
        <p:nvSpPr>
          <p:cNvPr id="20" name="Text 15"/>
          <p:cNvSpPr/>
          <p:nvPr/>
        </p:nvSpPr>
        <p:spPr>
          <a:xfrm>
            <a:off x="8828837" y="2966496"/>
            <a:ext cx="2558186" cy="362651"/>
          </a:xfrm>
          <a:prstGeom prst="rect">
            <a:avLst/>
          </a:prstGeom>
          <a:noFill/>
          <a:ln/>
        </p:spPr>
        <p:txBody>
          <a:bodyPr wrap="square" lIns="0" tIns="0" rIns="0" bIns="0" rtlCol="0" anchor="t"/>
          <a:lstStyle/>
          <a:p>
            <a:pPr indent="0" marL="0">
              <a:lnSpc>
                <a:spcPct val="105000"/>
              </a:lnSpc>
              <a:buNone/>
            </a:pPr>
            <a:r>
              <a:rPr lang="en-US" sz="1600" b="1" dirty="0">
                <a:solidFill>
                  <a:srgbClr val="141235"/>
                </a:solidFill>
                <a:latin typeface="Calibri" pitchFamily="34" charset="0"/>
                <a:ea typeface="Calibri" pitchFamily="34" charset="-122"/>
                <a:cs typeface="Calibri" pitchFamily="34" charset="-120"/>
              </a:rPr>
              <a:t>Per-task budget caps</a:t>
            </a:r>
            <a:endParaRPr lang="en-US" sz="1600" dirty="0"/>
          </a:p>
        </p:txBody>
      </p:sp>
      <p:sp>
        <p:nvSpPr>
          <p:cNvPr id="21" name="Text 16"/>
          <p:cNvSpPr/>
          <p:nvPr/>
        </p:nvSpPr>
        <p:spPr>
          <a:xfrm>
            <a:off x="8828837" y="3338292"/>
            <a:ext cx="2558186" cy="1312164"/>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A limit inside the loop itself, enforced in code. Not a monthly invoice you read three weeks after the runaway loop.</a:t>
            </a:r>
            <a:endParaRPr lang="en-US" sz="125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sp>
      <p:pic>
        <p:nvPicPr>
          <p:cNvPr id="24" name="Image 3" descr="preencoded.png">    </p:cNvPr>
          <p:cNvPicPr>
            <a:picLocks noChangeAspect="1"/>
          </p:cNvPicPr>
          <p:nvPr/>
        </p:nvPicPr>
        <p:blipFill>
          <a:blip r:embed="rId4"/>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Stop re-sending what has not changed, stop using the expensive model for easy steps, and set a hard limit inside the loop rather than on the invoice.</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16</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16</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Azure Foundry and the platform landscape</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Who sells each layer, what is an open standard, and what you would build yourself.</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16 · PLATFORM LANDSCAPE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Six layers, one question each: what applies to me?</a:t>
            </a:r>
            <a:endParaRPr lang="en-US" sz="3000" dirty="0"/>
          </a:p>
        </p:txBody>
      </p:sp>
      <p:sp>
        <p:nvSpPr>
          <p:cNvPr id="4" name="Text 2"/>
          <p:cNvSpPr/>
          <p:nvPr/>
        </p:nvSpPr>
        <p:spPr>
          <a:xfrm>
            <a:off x="768096" y="1828800"/>
            <a:ext cx="173736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LAYER</a:t>
            </a:r>
            <a:endParaRPr lang="en-US" sz="950" dirty="0"/>
          </a:p>
        </p:txBody>
      </p:sp>
      <p:sp>
        <p:nvSpPr>
          <p:cNvPr id="5" name="Text 3"/>
          <p:cNvSpPr/>
          <p:nvPr/>
        </p:nvSpPr>
        <p:spPr>
          <a:xfrm>
            <a:off x="2779776" y="1828800"/>
            <a:ext cx="265176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PROBLEM IT SOLVES</a:t>
            </a:r>
            <a:endParaRPr lang="en-US" sz="950" dirty="0"/>
          </a:p>
        </p:txBody>
      </p:sp>
      <p:sp>
        <p:nvSpPr>
          <p:cNvPr id="6" name="Text 4"/>
          <p:cNvSpPr/>
          <p:nvPr/>
        </p:nvSpPr>
        <p:spPr>
          <a:xfrm>
            <a:off x="5705856" y="1828800"/>
            <a:ext cx="2743200"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THE OPEN PATTERN</a:t>
            </a:r>
            <a:endParaRPr lang="en-US" sz="950" dirty="0"/>
          </a:p>
        </p:txBody>
      </p:sp>
      <p:sp>
        <p:nvSpPr>
          <p:cNvPr id="7" name="Text 5"/>
          <p:cNvSpPr/>
          <p:nvPr/>
        </p:nvSpPr>
        <p:spPr>
          <a:xfrm>
            <a:off x="8723376" y="1828800"/>
            <a:ext cx="2828239" cy="256032"/>
          </a:xfrm>
          <a:prstGeom prst="rect">
            <a:avLst/>
          </a:prstGeom>
          <a:noFill/>
          <a:ln/>
        </p:spPr>
        <p:txBody>
          <a:bodyPr wrap="square" lIns="0" tIns="0" rIns="0" bIns="0" rtlCol="0" anchor="ctr"/>
          <a:lstStyle/>
          <a:p>
            <a:pPr indent="0" marL="0">
              <a:buNone/>
            </a:pPr>
            <a:r>
              <a:rPr lang="en-US" sz="950" b="1" spc="160" kern="0" dirty="0">
                <a:solidFill>
                  <a:srgbClr val="9B98B4"/>
                </a:solidFill>
                <a:latin typeface="Calibri" pitchFamily="34" charset="0"/>
                <a:ea typeface="Calibri" pitchFamily="34" charset="-122"/>
                <a:cs typeface="Calibri" pitchFamily="34" charset="-120"/>
              </a:rPr>
              <a:t>WHAT A CLOUD SELLS YOU</a:t>
            </a:r>
            <a:endParaRPr lang="en-US" sz="950" dirty="0"/>
          </a:p>
        </p:txBody>
      </p:sp>
      <p:sp>
        <p:nvSpPr>
          <p:cNvPr id="8" name="Shape 6"/>
          <p:cNvSpPr/>
          <p:nvPr/>
        </p:nvSpPr>
        <p:spPr>
          <a:xfrm>
            <a:off x="566928" y="2157984"/>
            <a:ext cx="11057839" cy="530352"/>
          </a:xfrm>
          <a:prstGeom prst="roundRect">
            <a:avLst>
              <a:gd name="adj" fmla="val 10345"/>
            </a:avLst>
          </a:prstGeom>
          <a:solidFill>
            <a:srgbClr val="FFFFFF"/>
          </a:solidFill>
          <a:ln w="12700">
            <a:solidFill>
              <a:srgbClr val="E3E4F2"/>
            </a:solidFill>
            <a:prstDash val="solid"/>
          </a:ln>
        </p:spPr>
      </p:sp>
      <p:sp>
        <p:nvSpPr>
          <p:cNvPr id="9" name="Text 7"/>
          <p:cNvSpPr/>
          <p:nvPr/>
        </p:nvSpPr>
        <p:spPr>
          <a:xfrm>
            <a:off x="768096" y="2157984"/>
            <a:ext cx="1737360" cy="530352"/>
          </a:xfrm>
          <a:prstGeom prst="rect">
            <a:avLst/>
          </a:prstGeom>
          <a:noFill/>
          <a:ln/>
        </p:spPr>
        <p:txBody>
          <a:bodyPr wrap="square" lIns="0" tIns="0" rIns="0" bIns="0" rtlCol="0" anchor="ctr"/>
          <a:lstStyle/>
          <a:p>
            <a:pPr indent="0" marL="0">
              <a:buNone/>
            </a:pPr>
            <a:r>
              <a:rPr lang="en-US" sz="1250" b="1" dirty="0">
                <a:solidFill>
                  <a:srgbClr val="141235"/>
                </a:solidFill>
                <a:latin typeface="Calibri" pitchFamily="34" charset="0"/>
                <a:ea typeface="Calibri" pitchFamily="34" charset="-122"/>
                <a:cs typeface="Calibri" pitchFamily="34" charset="-120"/>
              </a:rPr>
              <a:t>Model</a:t>
            </a:r>
            <a:endParaRPr lang="en-US" sz="1250" dirty="0"/>
          </a:p>
        </p:txBody>
      </p:sp>
      <p:sp>
        <p:nvSpPr>
          <p:cNvPr id="10" name="Text 8"/>
          <p:cNvSpPr/>
          <p:nvPr/>
        </p:nvSpPr>
        <p:spPr>
          <a:xfrm>
            <a:off x="2779776" y="2157984"/>
            <a:ext cx="265176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Reasoning and tool selection</a:t>
            </a:r>
            <a:endParaRPr lang="en-US" sz="1150" dirty="0"/>
          </a:p>
        </p:txBody>
      </p:sp>
      <p:sp>
        <p:nvSpPr>
          <p:cNvPr id="11" name="Text 9"/>
          <p:cNvSpPr/>
          <p:nvPr/>
        </p:nvSpPr>
        <p:spPr>
          <a:xfrm>
            <a:off x="5705856" y="2157984"/>
            <a:ext cx="274320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Any compatible endpoint</a:t>
            </a:r>
            <a:endParaRPr lang="en-US" sz="1150" dirty="0"/>
          </a:p>
        </p:txBody>
      </p:sp>
      <p:sp>
        <p:nvSpPr>
          <p:cNvPr id="12" name="Text 10"/>
          <p:cNvSpPr/>
          <p:nvPr/>
        </p:nvSpPr>
        <p:spPr>
          <a:xfrm>
            <a:off x="8723376" y="2157984"/>
            <a:ext cx="2828239"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A managed model catalogue</a:t>
            </a:r>
            <a:endParaRPr lang="en-US" sz="1150" dirty="0"/>
          </a:p>
        </p:txBody>
      </p:sp>
      <p:sp>
        <p:nvSpPr>
          <p:cNvPr id="13" name="Shape 11"/>
          <p:cNvSpPr/>
          <p:nvPr/>
        </p:nvSpPr>
        <p:spPr>
          <a:xfrm>
            <a:off x="566928" y="2761488"/>
            <a:ext cx="11057839" cy="530352"/>
          </a:xfrm>
          <a:prstGeom prst="roundRect">
            <a:avLst>
              <a:gd name="adj" fmla="val 10345"/>
            </a:avLst>
          </a:prstGeom>
          <a:solidFill>
            <a:srgbClr val="EEEDFE"/>
          </a:solidFill>
          <a:ln w="12700">
            <a:solidFill>
              <a:srgbClr val="8E82F5"/>
            </a:solidFill>
            <a:prstDash val="solid"/>
          </a:ln>
        </p:spPr>
      </p:sp>
      <p:sp>
        <p:nvSpPr>
          <p:cNvPr id="14" name="Text 12"/>
          <p:cNvSpPr/>
          <p:nvPr/>
        </p:nvSpPr>
        <p:spPr>
          <a:xfrm>
            <a:off x="768096" y="2761488"/>
            <a:ext cx="1737360" cy="530352"/>
          </a:xfrm>
          <a:prstGeom prst="rect">
            <a:avLst/>
          </a:prstGeom>
          <a:noFill/>
          <a:ln/>
        </p:spPr>
        <p:txBody>
          <a:bodyPr wrap="square" lIns="0" tIns="0" rIns="0" bIns="0" rtlCol="0" anchor="ctr"/>
          <a:lstStyle/>
          <a:p>
            <a:pPr indent="0" marL="0">
              <a:buNone/>
            </a:pPr>
            <a:r>
              <a:rPr lang="en-US" sz="1250" b="1" dirty="0">
                <a:solidFill>
                  <a:srgbClr val="141235"/>
                </a:solidFill>
                <a:latin typeface="Calibri" pitchFamily="34" charset="0"/>
                <a:ea typeface="Calibri" pitchFamily="34" charset="-122"/>
                <a:cs typeface="Calibri" pitchFamily="34" charset="-120"/>
              </a:rPr>
              <a:t>Tools</a:t>
            </a:r>
            <a:endParaRPr lang="en-US" sz="1250" dirty="0"/>
          </a:p>
        </p:txBody>
      </p:sp>
      <p:sp>
        <p:nvSpPr>
          <p:cNvPr id="15" name="Text 13"/>
          <p:cNvSpPr/>
          <p:nvPr/>
        </p:nvSpPr>
        <p:spPr>
          <a:xfrm>
            <a:off x="2779776" y="2761488"/>
            <a:ext cx="265176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Giving the model hands, portably</a:t>
            </a:r>
            <a:endParaRPr lang="en-US" sz="1150" dirty="0"/>
          </a:p>
        </p:txBody>
      </p:sp>
      <p:sp>
        <p:nvSpPr>
          <p:cNvPr id="16" name="Text 14"/>
          <p:cNvSpPr/>
          <p:nvPr/>
        </p:nvSpPr>
        <p:spPr>
          <a:xfrm>
            <a:off x="5705856" y="2761488"/>
            <a:ext cx="2743200" cy="530352"/>
          </a:xfrm>
          <a:prstGeom prst="rect">
            <a:avLst/>
          </a:prstGeom>
          <a:noFill/>
          <a:ln/>
        </p:spPr>
        <p:txBody>
          <a:bodyPr wrap="square" lIns="0" tIns="0" rIns="0" bIns="0" rtlCol="0" anchor="ctr"/>
          <a:lstStyle/>
          <a:p>
            <a:pPr indent="0" marL="0">
              <a:buNone/>
            </a:pPr>
            <a:r>
              <a:rPr lang="en-US" sz="1150" b="1" dirty="0">
                <a:solidFill>
                  <a:srgbClr val="3B2EB8"/>
                </a:solidFill>
                <a:latin typeface="Calibri" pitchFamily="34" charset="0"/>
                <a:ea typeface="Calibri" pitchFamily="34" charset="-122"/>
                <a:cs typeface="Calibri" pitchFamily="34" charset="-120"/>
              </a:rPr>
              <a:t>MCP — an open standard</a:t>
            </a:r>
            <a:endParaRPr lang="en-US" sz="1150" dirty="0"/>
          </a:p>
        </p:txBody>
      </p:sp>
      <p:sp>
        <p:nvSpPr>
          <p:cNvPr id="17" name="Text 15"/>
          <p:cNvSpPr/>
          <p:nvPr/>
        </p:nvSpPr>
        <p:spPr>
          <a:xfrm>
            <a:off x="8723376" y="2761488"/>
            <a:ext cx="2828239"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A governed tool catalogue</a:t>
            </a:r>
            <a:endParaRPr lang="en-US" sz="1150" dirty="0"/>
          </a:p>
        </p:txBody>
      </p:sp>
      <p:sp>
        <p:nvSpPr>
          <p:cNvPr id="18" name="Shape 16"/>
          <p:cNvSpPr/>
          <p:nvPr/>
        </p:nvSpPr>
        <p:spPr>
          <a:xfrm>
            <a:off x="566928" y="3364992"/>
            <a:ext cx="11057839" cy="530352"/>
          </a:xfrm>
          <a:prstGeom prst="roundRect">
            <a:avLst>
              <a:gd name="adj" fmla="val 10345"/>
            </a:avLst>
          </a:prstGeom>
          <a:solidFill>
            <a:srgbClr val="FFFFFF"/>
          </a:solidFill>
          <a:ln w="12700">
            <a:solidFill>
              <a:srgbClr val="E3E4F2"/>
            </a:solidFill>
            <a:prstDash val="solid"/>
          </a:ln>
        </p:spPr>
      </p:sp>
      <p:sp>
        <p:nvSpPr>
          <p:cNvPr id="19" name="Text 17"/>
          <p:cNvSpPr/>
          <p:nvPr/>
        </p:nvSpPr>
        <p:spPr>
          <a:xfrm>
            <a:off x="768096" y="3364992"/>
            <a:ext cx="1737360" cy="530352"/>
          </a:xfrm>
          <a:prstGeom prst="rect">
            <a:avLst/>
          </a:prstGeom>
          <a:noFill/>
          <a:ln/>
        </p:spPr>
        <p:txBody>
          <a:bodyPr wrap="square" lIns="0" tIns="0" rIns="0" bIns="0" rtlCol="0" anchor="ctr"/>
          <a:lstStyle/>
          <a:p>
            <a:pPr indent="0" marL="0">
              <a:buNone/>
            </a:pPr>
            <a:r>
              <a:rPr lang="en-US" sz="1250" b="1" dirty="0">
                <a:solidFill>
                  <a:srgbClr val="141235"/>
                </a:solidFill>
                <a:latin typeface="Calibri" pitchFamily="34" charset="0"/>
                <a:ea typeface="Calibri" pitchFamily="34" charset="-122"/>
                <a:cs typeface="Calibri" pitchFamily="34" charset="-120"/>
              </a:rPr>
              <a:t>Orchestration</a:t>
            </a:r>
            <a:endParaRPr lang="en-US" sz="1250" dirty="0"/>
          </a:p>
        </p:txBody>
      </p:sp>
      <p:sp>
        <p:nvSpPr>
          <p:cNvPr id="20" name="Text 18"/>
          <p:cNvSpPr/>
          <p:nvPr/>
        </p:nvSpPr>
        <p:spPr>
          <a:xfrm>
            <a:off x="2779776" y="3364992"/>
            <a:ext cx="265176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Control flow, state, retries</a:t>
            </a:r>
            <a:endParaRPr lang="en-US" sz="1150" dirty="0"/>
          </a:p>
        </p:txBody>
      </p:sp>
      <p:sp>
        <p:nvSpPr>
          <p:cNvPr id="21" name="Text 19"/>
          <p:cNvSpPr/>
          <p:nvPr/>
        </p:nvSpPr>
        <p:spPr>
          <a:xfrm>
            <a:off x="5705856" y="3364992"/>
            <a:ext cx="274320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Open frameworks</a:t>
            </a:r>
            <a:endParaRPr lang="en-US" sz="1150" dirty="0"/>
          </a:p>
        </p:txBody>
      </p:sp>
      <p:sp>
        <p:nvSpPr>
          <p:cNvPr id="22" name="Text 20"/>
          <p:cNvSpPr/>
          <p:nvPr/>
        </p:nvSpPr>
        <p:spPr>
          <a:xfrm>
            <a:off x="8723376" y="3364992"/>
            <a:ext cx="2828239"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A managed agent runtime</a:t>
            </a:r>
            <a:endParaRPr lang="en-US" sz="1150" dirty="0"/>
          </a:p>
        </p:txBody>
      </p:sp>
      <p:sp>
        <p:nvSpPr>
          <p:cNvPr id="23" name="Shape 21"/>
          <p:cNvSpPr/>
          <p:nvPr/>
        </p:nvSpPr>
        <p:spPr>
          <a:xfrm>
            <a:off x="566928" y="3968496"/>
            <a:ext cx="11057839" cy="530352"/>
          </a:xfrm>
          <a:prstGeom prst="roundRect">
            <a:avLst>
              <a:gd name="adj" fmla="val 10345"/>
            </a:avLst>
          </a:prstGeom>
          <a:solidFill>
            <a:srgbClr val="FFFFFF"/>
          </a:solidFill>
          <a:ln w="12700">
            <a:solidFill>
              <a:srgbClr val="E3E4F2"/>
            </a:solidFill>
            <a:prstDash val="solid"/>
          </a:ln>
        </p:spPr>
      </p:sp>
      <p:sp>
        <p:nvSpPr>
          <p:cNvPr id="24" name="Text 22"/>
          <p:cNvSpPr/>
          <p:nvPr/>
        </p:nvSpPr>
        <p:spPr>
          <a:xfrm>
            <a:off x="768096" y="3968496"/>
            <a:ext cx="1737360" cy="530352"/>
          </a:xfrm>
          <a:prstGeom prst="rect">
            <a:avLst/>
          </a:prstGeom>
          <a:noFill/>
          <a:ln/>
        </p:spPr>
        <p:txBody>
          <a:bodyPr wrap="square" lIns="0" tIns="0" rIns="0" bIns="0" rtlCol="0" anchor="ctr"/>
          <a:lstStyle/>
          <a:p>
            <a:pPr indent="0" marL="0">
              <a:buNone/>
            </a:pPr>
            <a:r>
              <a:rPr lang="en-US" sz="1250" b="1" dirty="0">
                <a:solidFill>
                  <a:srgbClr val="141235"/>
                </a:solidFill>
                <a:latin typeface="Calibri" pitchFamily="34" charset="0"/>
                <a:ea typeface="Calibri" pitchFamily="34" charset="-122"/>
                <a:cs typeface="Calibri" pitchFamily="34" charset="-120"/>
              </a:rPr>
              <a:t>Context</a:t>
            </a:r>
            <a:endParaRPr lang="en-US" sz="1250" dirty="0"/>
          </a:p>
        </p:txBody>
      </p:sp>
      <p:sp>
        <p:nvSpPr>
          <p:cNvPr id="25" name="Text 23"/>
          <p:cNvSpPr/>
          <p:nvPr/>
        </p:nvSpPr>
        <p:spPr>
          <a:xfrm>
            <a:off x="2779776" y="3968496"/>
            <a:ext cx="265176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Memory and grounding</a:t>
            </a:r>
            <a:endParaRPr lang="en-US" sz="1150" dirty="0"/>
          </a:p>
        </p:txBody>
      </p:sp>
      <p:sp>
        <p:nvSpPr>
          <p:cNvPr id="26" name="Text 24"/>
          <p:cNvSpPr/>
          <p:nvPr/>
        </p:nvSpPr>
        <p:spPr>
          <a:xfrm>
            <a:off x="5705856" y="3968496"/>
            <a:ext cx="274320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Open vector stores</a:t>
            </a:r>
            <a:endParaRPr lang="en-US" sz="1150" dirty="0"/>
          </a:p>
        </p:txBody>
      </p:sp>
      <p:sp>
        <p:nvSpPr>
          <p:cNvPr id="27" name="Text 25"/>
          <p:cNvSpPr/>
          <p:nvPr/>
        </p:nvSpPr>
        <p:spPr>
          <a:xfrm>
            <a:off x="8723376" y="3968496"/>
            <a:ext cx="2828239"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A managed search or memory service</a:t>
            </a:r>
            <a:endParaRPr lang="en-US" sz="1150" dirty="0"/>
          </a:p>
        </p:txBody>
      </p:sp>
      <p:sp>
        <p:nvSpPr>
          <p:cNvPr id="28" name="Shape 26"/>
          <p:cNvSpPr/>
          <p:nvPr/>
        </p:nvSpPr>
        <p:spPr>
          <a:xfrm>
            <a:off x="566928" y="4572000"/>
            <a:ext cx="11057839" cy="530352"/>
          </a:xfrm>
          <a:prstGeom prst="roundRect">
            <a:avLst>
              <a:gd name="adj" fmla="val 10345"/>
            </a:avLst>
          </a:prstGeom>
          <a:solidFill>
            <a:srgbClr val="EEEDFE"/>
          </a:solidFill>
          <a:ln w="12700">
            <a:solidFill>
              <a:srgbClr val="8E82F5"/>
            </a:solidFill>
            <a:prstDash val="solid"/>
          </a:ln>
        </p:spPr>
      </p:sp>
      <p:sp>
        <p:nvSpPr>
          <p:cNvPr id="29" name="Text 27"/>
          <p:cNvSpPr/>
          <p:nvPr/>
        </p:nvSpPr>
        <p:spPr>
          <a:xfrm>
            <a:off x="768096" y="4572000"/>
            <a:ext cx="1737360" cy="530352"/>
          </a:xfrm>
          <a:prstGeom prst="rect">
            <a:avLst/>
          </a:prstGeom>
          <a:noFill/>
          <a:ln/>
        </p:spPr>
        <p:txBody>
          <a:bodyPr wrap="square" lIns="0" tIns="0" rIns="0" bIns="0" rtlCol="0" anchor="ctr"/>
          <a:lstStyle/>
          <a:p>
            <a:pPr indent="0" marL="0">
              <a:buNone/>
            </a:pPr>
            <a:r>
              <a:rPr lang="en-US" sz="1250" b="1" dirty="0">
                <a:solidFill>
                  <a:srgbClr val="141235"/>
                </a:solidFill>
                <a:latin typeface="Calibri" pitchFamily="34" charset="0"/>
                <a:ea typeface="Calibri" pitchFamily="34" charset="-122"/>
                <a:cs typeface="Calibri" pitchFamily="34" charset="-120"/>
              </a:rPr>
              <a:t>Delegation</a:t>
            </a:r>
            <a:endParaRPr lang="en-US" sz="1250" dirty="0"/>
          </a:p>
        </p:txBody>
      </p:sp>
      <p:sp>
        <p:nvSpPr>
          <p:cNvPr id="30" name="Text 28"/>
          <p:cNvSpPr/>
          <p:nvPr/>
        </p:nvSpPr>
        <p:spPr>
          <a:xfrm>
            <a:off x="2779776" y="4572000"/>
            <a:ext cx="265176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Agents talking to agents</a:t>
            </a:r>
            <a:endParaRPr lang="en-US" sz="1150" dirty="0"/>
          </a:p>
        </p:txBody>
      </p:sp>
      <p:sp>
        <p:nvSpPr>
          <p:cNvPr id="31" name="Text 29"/>
          <p:cNvSpPr/>
          <p:nvPr/>
        </p:nvSpPr>
        <p:spPr>
          <a:xfrm>
            <a:off x="5705856" y="4572000"/>
            <a:ext cx="2743200" cy="530352"/>
          </a:xfrm>
          <a:prstGeom prst="rect">
            <a:avLst/>
          </a:prstGeom>
          <a:noFill/>
          <a:ln/>
        </p:spPr>
        <p:txBody>
          <a:bodyPr wrap="square" lIns="0" tIns="0" rIns="0" bIns="0" rtlCol="0" anchor="ctr"/>
          <a:lstStyle/>
          <a:p>
            <a:pPr indent="0" marL="0">
              <a:buNone/>
            </a:pPr>
            <a:r>
              <a:rPr lang="en-US" sz="1150" b="1" dirty="0">
                <a:solidFill>
                  <a:srgbClr val="3B2EB8"/>
                </a:solidFill>
                <a:latin typeface="Calibri" pitchFamily="34" charset="0"/>
                <a:ea typeface="Calibri" pitchFamily="34" charset="-122"/>
                <a:cs typeface="Calibri" pitchFamily="34" charset="-120"/>
              </a:rPr>
              <a:t>A2A — an open standard</a:t>
            </a:r>
            <a:endParaRPr lang="en-US" sz="1150" dirty="0"/>
          </a:p>
        </p:txBody>
      </p:sp>
      <p:sp>
        <p:nvSpPr>
          <p:cNvPr id="32" name="Text 30"/>
          <p:cNvSpPr/>
          <p:nvPr/>
        </p:nvSpPr>
        <p:spPr>
          <a:xfrm>
            <a:off x="8723376" y="4572000"/>
            <a:ext cx="2828239"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A connected-agents feature</a:t>
            </a:r>
            <a:endParaRPr lang="en-US" sz="1150" dirty="0"/>
          </a:p>
        </p:txBody>
      </p:sp>
      <p:sp>
        <p:nvSpPr>
          <p:cNvPr id="33" name="Shape 31"/>
          <p:cNvSpPr/>
          <p:nvPr/>
        </p:nvSpPr>
        <p:spPr>
          <a:xfrm>
            <a:off x="566928" y="5175504"/>
            <a:ext cx="11057839" cy="530352"/>
          </a:xfrm>
          <a:prstGeom prst="roundRect">
            <a:avLst>
              <a:gd name="adj" fmla="val 10345"/>
            </a:avLst>
          </a:prstGeom>
          <a:solidFill>
            <a:srgbClr val="FFFFFF"/>
          </a:solidFill>
          <a:ln w="12700">
            <a:solidFill>
              <a:srgbClr val="E3E4F2"/>
            </a:solidFill>
            <a:prstDash val="solid"/>
          </a:ln>
        </p:spPr>
      </p:sp>
      <p:sp>
        <p:nvSpPr>
          <p:cNvPr id="34" name="Text 32"/>
          <p:cNvSpPr/>
          <p:nvPr/>
        </p:nvSpPr>
        <p:spPr>
          <a:xfrm>
            <a:off x="768096" y="5175504"/>
            <a:ext cx="1737360" cy="530352"/>
          </a:xfrm>
          <a:prstGeom prst="rect">
            <a:avLst/>
          </a:prstGeom>
          <a:noFill/>
          <a:ln/>
        </p:spPr>
        <p:txBody>
          <a:bodyPr wrap="square" lIns="0" tIns="0" rIns="0" bIns="0" rtlCol="0" anchor="ctr"/>
          <a:lstStyle/>
          <a:p>
            <a:pPr indent="0" marL="0">
              <a:buNone/>
            </a:pPr>
            <a:r>
              <a:rPr lang="en-US" sz="1250" b="1" dirty="0">
                <a:solidFill>
                  <a:srgbClr val="141235"/>
                </a:solidFill>
                <a:latin typeface="Calibri" pitchFamily="34" charset="0"/>
                <a:ea typeface="Calibri" pitchFamily="34" charset="-122"/>
                <a:cs typeface="Calibri" pitchFamily="34" charset="-120"/>
              </a:rPr>
              <a:t>Governance</a:t>
            </a:r>
            <a:endParaRPr lang="en-US" sz="1250" dirty="0"/>
          </a:p>
        </p:txBody>
      </p:sp>
      <p:sp>
        <p:nvSpPr>
          <p:cNvPr id="35" name="Text 33"/>
          <p:cNvSpPr/>
          <p:nvPr/>
        </p:nvSpPr>
        <p:spPr>
          <a:xfrm>
            <a:off x="2779776" y="5175504"/>
            <a:ext cx="265176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Identity, safety, evals, cost</a:t>
            </a:r>
            <a:endParaRPr lang="en-US" sz="1150" dirty="0"/>
          </a:p>
        </p:txBody>
      </p:sp>
      <p:sp>
        <p:nvSpPr>
          <p:cNvPr id="36" name="Text 34"/>
          <p:cNvSpPr/>
          <p:nvPr/>
        </p:nvSpPr>
        <p:spPr>
          <a:xfrm>
            <a:off x="5705856" y="5175504"/>
            <a:ext cx="2743200"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OpenTelemetry and open eval tools</a:t>
            </a:r>
            <a:endParaRPr lang="en-US" sz="1150" dirty="0"/>
          </a:p>
        </p:txBody>
      </p:sp>
      <p:sp>
        <p:nvSpPr>
          <p:cNvPr id="37" name="Text 35"/>
          <p:cNvSpPr/>
          <p:nvPr/>
        </p:nvSpPr>
        <p:spPr>
          <a:xfrm>
            <a:off x="8723376" y="5175504"/>
            <a:ext cx="2828239" cy="530352"/>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A managed identity and safety layer</a:t>
            </a:r>
            <a:endParaRPr lang="en-US" sz="1150" dirty="0"/>
          </a:p>
        </p:txBody>
      </p:sp>
      <p:sp>
        <p:nvSpPr>
          <p:cNvPr id="38" name="Text 36"/>
          <p:cNvSpPr/>
          <p:nvPr/>
        </p:nvSpPr>
        <p:spPr>
          <a:xfrm>
            <a:off x="566928" y="5815584"/>
            <a:ext cx="11057839" cy="310896"/>
          </a:xfrm>
          <a:prstGeom prst="rect">
            <a:avLst/>
          </a:prstGeom>
          <a:noFill/>
          <a:ln/>
        </p:spPr>
        <p:txBody>
          <a:bodyPr wrap="square" lIns="0" tIns="0" rIns="0" bIns="0" rtlCol="0" anchor="ctr"/>
          <a:lstStyle/>
          <a:p>
            <a:pPr indent="0" marL="0">
              <a:buNone/>
            </a:pPr>
            <a:r>
              <a:rPr lang="en-US" sz="1250" i="1" dirty="0">
                <a:solidFill>
                  <a:srgbClr val="3B3760"/>
                </a:solidFill>
                <a:latin typeface="Calibri" pitchFamily="34" charset="0"/>
                <a:ea typeface="Calibri" pitchFamily="34" charset="-122"/>
                <a:cs typeface="Calibri" pitchFamily="34" charset="-120"/>
              </a:rPr>
              <a:t>Highlighted rows are open standards. Everything else in the last column is a vendor's implementation of a pattern you already built by hand.</a:t>
            </a:r>
            <a:endParaRPr lang="en-US" sz="1250" dirty="0"/>
          </a:p>
        </p:txBody>
      </p:sp>
      <p:sp>
        <p:nvSpPr>
          <p:cNvPr id="39" name="Shape 37"/>
          <p:cNvSpPr/>
          <p:nvPr/>
        </p:nvSpPr>
        <p:spPr>
          <a:xfrm>
            <a:off x="566928" y="5120640"/>
            <a:ext cx="11057839" cy="621792"/>
          </a:xfrm>
          <a:prstGeom prst="roundRect">
            <a:avLst>
              <a:gd name="adj" fmla="val 13235"/>
            </a:avLst>
          </a:prstGeom>
          <a:solidFill>
            <a:srgbClr val="FFF4E0"/>
          </a:solidFill>
          <a:ln w="12700">
            <a:solidFill>
              <a:srgbClr val="F3DCB0"/>
            </a:solidFill>
            <a:prstDash val="solid"/>
          </a:ln>
        </p:spPr>
      </p:sp>
      <p:sp>
        <p:nvSpPr>
          <p:cNvPr id="40" name="Shape 38"/>
          <p:cNvSpPr/>
          <p:nvPr/>
        </p:nvSpPr>
        <p:spPr>
          <a:xfrm>
            <a:off x="841248" y="5239512"/>
            <a:ext cx="384048" cy="384048"/>
          </a:xfrm>
          <a:prstGeom prst="ellipse">
            <a:avLst/>
          </a:prstGeom>
          <a:solidFill>
            <a:srgbClr val="F5A524"/>
          </a:solidFill>
          <a:ln w="12700">
            <a:solidFill>
              <a:srgbClr val="F5A524"/>
            </a:solidFill>
            <a:prstDash val="solid"/>
          </a:ln>
        </p:spPr>
      </p:sp>
      <p:pic>
        <p:nvPicPr>
          <p:cNvPr id="41" name="Image 0" descr="preencoded.png">    </p:cNvPr>
          <p:cNvPicPr>
            <a:picLocks noChangeAspect="1"/>
          </p:cNvPicPr>
          <p:nvPr/>
        </p:nvPicPr>
        <p:blipFill>
          <a:blip r:embed="rId1"/>
          <a:stretch>
            <a:fillRect/>
          </a:stretch>
        </p:blipFill>
        <p:spPr>
          <a:xfrm>
            <a:off x="937260" y="5335524"/>
            <a:ext cx="192024" cy="192024"/>
          </a:xfrm>
          <a:prstGeom prst="rect">
            <a:avLst/>
          </a:prstGeom>
        </p:spPr>
      </p:pic>
      <p:sp>
        <p:nvSpPr>
          <p:cNvPr id="42" name="Text 39"/>
          <p:cNvSpPr/>
          <p:nvPr/>
        </p:nvSpPr>
        <p:spPr>
          <a:xfrm>
            <a:off x="1371600" y="5175504"/>
            <a:ext cx="9960559" cy="512064"/>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You are never buying “an AI agent”. You are buying one or more of these six layers, and you should know which.</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16 · PLATFORM LANDSCAPE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Every vendor sells one of four things, and the same three tiers</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Sorted by the verb, not by the logo. Ask which one you are being sold and most of the confusion in a procurement meeting disappears.</a:t>
            </a:r>
            <a:endParaRPr lang="en-US" sz="1400" dirty="0"/>
          </a:p>
        </p:txBody>
      </p:sp>
      <p:sp>
        <p:nvSpPr>
          <p:cNvPr id="5" name="Shape 3"/>
          <p:cNvSpPr/>
          <p:nvPr/>
        </p:nvSpPr>
        <p:spPr>
          <a:xfrm>
            <a:off x="566928" y="2121408"/>
            <a:ext cx="2586152" cy="2286000"/>
          </a:xfrm>
          <a:prstGeom prst="roundRect">
            <a:avLst>
              <a:gd name="adj" fmla="val 360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340864"/>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432304"/>
            <a:ext cx="182880" cy="182880"/>
          </a:xfrm>
          <a:prstGeom prst="rect">
            <a:avLst/>
          </a:prstGeom>
        </p:spPr>
      </p:pic>
      <p:sp>
        <p:nvSpPr>
          <p:cNvPr id="8" name="Text 5"/>
          <p:cNvSpPr/>
          <p:nvPr/>
        </p:nvSpPr>
        <p:spPr>
          <a:xfrm>
            <a:off x="1298448" y="2331720"/>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PRODUCTS · NON-TECHNICAL</a:t>
            </a:r>
            <a:endParaRPr lang="en-US" sz="850" dirty="0"/>
          </a:p>
        </p:txBody>
      </p:sp>
      <p:sp>
        <p:nvSpPr>
          <p:cNvPr id="9" name="Text 6"/>
          <p:cNvSpPr/>
          <p:nvPr/>
        </p:nvSpPr>
        <p:spPr>
          <a:xfrm>
            <a:off x="1298448" y="2551176"/>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People USE an agent</a:t>
            </a:r>
            <a:endParaRPr lang="en-US" sz="1450" dirty="0"/>
          </a:p>
        </p:txBody>
      </p:sp>
      <p:sp>
        <p:nvSpPr>
          <p:cNvPr id="10" name="Text 7"/>
          <p:cNvSpPr/>
          <p:nvPr/>
        </p:nvSpPr>
        <p:spPr>
          <a:xfrm>
            <a:off x="1298448" y="3182478"/>
            <a:ext cx="1616888" cy="104205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Finished applications. Someone else chose the model, the tools and the loop. You bring the work, not the design.</a:t>
            </a:r>
            <a:endParaRPr lang="en-US" sz="1100" dirty="0"/>
          </a:p>
        </p:txBody>
      </p:sp>
      <p:sp>
        <p:nvSpPr>
          <p:cNvPr id="11" name="Shape 8"/>
          <p:cNvSpPr/>
          <p:nvPr/>
        </p:nvSpPr>
        <p:spPr>
          <a:xfrm>
            <a:off x="3390824" y="2121408"/>
            <a:ext cx="2586152" cy="2286000"/>
          </a:xfrm>
          <a:prstGeom prst="roundRect">
            <a:avLst>
              <a:gd name="adj" fmla="val 3600"/>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3628568" y="2340864"/>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3720008" y="2432304"/>
            <a:ext cx="182880" cy="182880"/>
          </a:xfrm>
          <a:prstGeom prst="rect">
            <a:avLst/>
          </a:prstGeom>
        </p:spPr>
      </p:pic>
      <p:sp>
        <p:nvSpPr>
          <p:cNvPr id="14" name="Text 10"/>
          <p:cNvSpPr/>
          <p:nvPr/>
        </p:nvSpPr>
        <p:spPr>
          <a:xfrm>
            <a:off x="4122344" y="2331720"/>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BUILDERS · NON-TECHNICAL</a:t>
            </a:r>
            <a:endParaRPr lang="en-US" sz="850" dirty="0"/>
          </a:p>
        </p:txBody>
      </p:sp>
      <p:sp>
        <p:nvSpPr>
          <p:cNvPr id="15" name="Text 11"/>
          <p:cNvSpPr/>
          <p:nvPr/>
        </p:nvSpPr>
        <p:spPr>
          <a:xfrm>
            <a:off x="4122344" y="2551176"/>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People BUILD an agent</a:t>
            </a:r>
            <a:endParaRPr lang="en-US" sz="1450" dirty="0"/>
          </a:p>
        </p:txBody>
      </p:sp>
      <p:sp>
        <p:nvSpPr>
          <p:cNvPr id="16" name="Text 12"/>
          <p:cNvSpPr/>
          <p:nvPr/>
        </p:nvSpPr>
        <p:spPr>
          <a:xfrm>
            <a:off x="4122344" y="3182478"/>
            <a:ext cx="1616888" cy="104205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Visual builders and studios. You configure an agent without writing code — and inherit whatever the vendor did not anticipate.</a:t>
            </a:r>
            <a:endParaRPr lang="en-US" sz="1100" dirty="0"/>
          </a:p>
        </p:txBody>
      </p:sp>
      <p:sp>
        <p:nvSpPr>
          <p:cNvPr id="17" name="Shape 13"/>
          <p:cNvSpPr/>
          <p:nvPr/>
        </p:nvSpPr>
        <p:spPr>
          <a:xfrm>
            <a:off x="6214720" y="2121408"/>
            <a:ext cx="2586152" cy="2286000"/>
          </a:xfrm>
          <a:prstGeom prst="roundRect">
            <a:avLst>
              <a:gd name="adj" fmla="val 3600"/>
            </a:avLst>
          </a:prstGeom>
          <a:solidFill>
            <a:srgbClr val="EEEDFE"/>
          </a:solidFill>
          <a:ln w="12700">
            <a:solidFill>
              <a:srgbClr val="8E82F5"/>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6452464" y="2340864"/>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6543904" y="2432304"/>
            <a:ext cx="182880" cy="182880"/>
          </a:xfrm>
          <a:prstGeom prst="rect">
            <a:avLst/>
          </a:prstGeom>
        </p:spPr>
      </p:pic>
      <p:sp>
        <p:nvSpPr>
          <p:cNvPr id="20" name="Text 15"/>
          <p:cNvSpPr/>
          <p:nvPr/>
        </p:nvSpPr>
        <p:spPr>
          <a:xfrm>
            <a:off x="6946240" y="2331720"/>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FRAMEWORKS · TECHNICAL</a:t>
            </a:r>
            <a:endParaRPr lang="en-US" sz="850" dirty="0"/>
          </a:p>
        </p:txBody>
      </p:sp>
      <p:sp>
        <p:nvSpPr>
          <p:cNvPr id="21" name="Text 16"/>
          <p:cNvSpPr/>
          <p:nvPr/>
        </p:nvSpPr>
        <p:spPr>
          <a:xfrm>
            <a:off x="6946240" y="2551176"/>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Engineers DEVELOP an agent</a:t>
            </a:r>
            <a:endParaRPr lang="en-US" sz="1450" dirty="0"/>
          </a:p>
        </p:txBody>
      </p:sp>
      <p:sp>
        <p:nvSpPr>
          <p:cNvPr id="22" name="Text 17"/>
          <p:cNvSpPr/>
          <p:nvPr/>
        </p:nvSpPr>
        <p:spPr>
          <a:xfrm>
            <a:off x="6946240" y="3182478"/>
            <a:ext cx="1616888" cy="104205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The loop is yours to write. Tiers 0 to 3 of the ladder — this is where the two days you just spent actually live.</a:t>
            </a:r>
            <a:endParaRPr lang="en-US" sz="1100" dirty="0"/>
          </a:p>
        </p:txBody>
      </p:sp>
      <p:sp>
        <p:nvSpPr>
          <p:cNvPr id="23" name="Shape 18"/>
          <p:cNvSpPr/>
          <p:nvPr/>
        </p:nvSpPr>
        <p:spPr>
          <a:xfrm>
            <a:off x="9038615" y="2121408"/>
            <a:ext cx="2586152" cy="2286000"/>
          </a:xfrm>
          <a:prstGeom prst="roundRect">
            <a:avLst>
              <a:gd name="adj" fmla="val 3600"/>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24" name="Shape 19"/>
          <p:cNvSpPr/>
          <p:nvPr/>
        </p:nvSpPr>
        <p:spPr>
          <a:xfrm>
            <a:off x="9276359" y="2340864"/>
            <a:ext cx="365760" cy="365760"/>
          </a:xfrm>
          <a:prstGeom prst="ellipse">
            <a:avLst/>
          </a:prstGeom>
          <a:solidFill>
            <a:srgbClr val="F5A524"/>
          </a:solidFill>
          <a:ln w="12700">
            <a:solidFill>
              <a:srgbClr val="F5A524"/>
            </a:solidFill>
            <a:prstDash val="solid"/>
          </a:ln>
        </p:spPr>
      </p:sp>
      <p:pic>
        <p:nvPicPr>
          <p:cNvPr id="25" name="Image 3" descr="preencoded.png">    </p:cNvPr>
          <p:cNvPicPr>
            <a:picLocks noChangeAspect="1"/>
          </p:cNvPicPr>
          <p:nvPr/>
        </p:nvPicPr>
        <p:blipFill>
          <a:blip r:embed="rId4"/>
          <a:stretch>
            <a:fillRect/>
          </a:stretch>
        </p:blipFill>
        <p:spPr>
          <a:xfrm>
            <a:off x="9367799" y="2432304"/>
            <a:ext cx="182880" cy="182880"/>
          </a:xfrm>
          <a:prstGeom prst="rect">
            <a:avLst/>
          </a:prstGeom>
        </p:spPr>
      </p:pic>
      <p:sp>
        <p:nvSpPr>
          <p:cNvPr id="26" name="Text 20"/>
          <p:cNvSpPr/>
          <p:nvPr/>
        </p:nvSpPr>
        <p:spPr>
          <a:xfrm>
            <a:off x="9770135" y="2331720"/>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RUNTIMES · TECHNICAL</a:t>
            </a:r>
            <a:endParaRPr lang="en-US" sz="850" dirty="0"/>
          </a:p>
        </p:txBody>
      </p:sp>
      <p:sp>
        <p:nvSpPr>
          <p:cNvPr id="27" name="Text 21"/>
          <p:cNvSpPr/>
          <p:nvPr/>
        </p:nvSpPr>
        <p:spPr>
          <a:xfrm>
            <a:off x="9770135" y="2551176"/>
            <a:ext cx="1616888" cy="622158"/>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Engineers EXECUTE an agent</a:t>
            </a:r>
            <a:endParaRPr lang="en-US" sz="1450" dirty="0"/>
          </a:p>
        </p:txBody>
      </p:sp>
      <p:sp>
        <p:nvSpPr>
          <p:cNvPr id="28" name="Text 22"/>
          <p:cNvSpPr/>
          <p:nvPr/>
        </p:nvSpPr>
        <p:spPr>
          <a:xfrm>
            <a:off x="9770135" y="3182478"/>
            <a:ext cx="1616888" cy="1042050"/>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Managed infrastructure that runs a loop you wrote. Tier 4 — and the rung where portability stops.</a:t>
            </a:r>
            <a:endParaRPr lang="en-US" sz="1100" dirty="0"/>
          </a:p>
        </p:txBody>
      </p:sp>
      <p:sp>
        <p:nvSpPr>
          <p:cNvPr id="29" name="Text 23"/>
          <p:cNvSpPr/>
          <p:nvPr/>
        </p:nvSpPr>
        <p:spPr>
          <a:xfrm>
            <a:off x="566928" y="4517136"/>
            <a:ext cx="11057839" cy="274320"/>
          </a:xfrm>
          <a:prstGeom prst="rect">
            <a:avLst/>
          </a:prstGeom>
          <a:noFill/>
          <a:ln/>
        </p:spPr>
        <p:txBody>
          <a:bodyPr wrap="square" lIns="0" tIns="0" rIns="0" bIns="0" rtlCol="0" anchor="ctr"/>
          <a:lstStyle/>
          <a:p>
            <a:pPr indent="0" marL="0">
              <a:buNone/>
            </a:pPr>
            <a:r>
              <a:rPr lang="en-US" sz="1200" i="1" dirty="0">
                <a:solidFill>
                  <a:srgbClr val="3B3760"/>
                </a:solidFill>
                <a:latin typeface="Calibri" pitchFamily="34" charset="0"/>
                <a:ea typeface="Calibri" pitchFamily="34" charset="-122"/>
                <a:cs typeface="Calibri" pitchFamily="34" charset="-120"/>
              </a:rPr>
              <a:t>Some names sit in two columns at once — a graph framework you can also buy as a hosted runtime. That is not sloppiness on their part; it is the business model.</a:t>
            </a:r>
            <a:endParaRPr lang="en-US" sz="1200" dirty="0"/>
          </a:p>
        </p:txBody>
      </p:sp>
      <p:sp>
        <p:nvSpPr>
          <p:cNvPr id="30" name="Shape 24"/>
          <p:cNvSpPr/>
          <p:nvPr/>
        </p:nvSpPr>
        <p:spPr>
          <a:xfrm>
            <a:off x="566928" y="4846320"/>
            <a:ext cx="11057839" cy="969264"/>
          </a:xfrm>
          <a:prstGeom prst="roundRect">
            <a:avLst>
              <a:gd name="adj" fmla="val 8491"/>
            </a:avLst>
          </a:prstGeom>
          <a:solidFill>
            <a:srgbClr val="FFF4E0"/>
          </a:solidFill>
          <a:ln w="12700">
            <a:solidFill>
              <a:srgbClr val="F3DCB0"/>
            </a:solidFill>
            <a:prstDash val="solid"/>
          </a:ln>
        </p:spPr>
      </p:sp>
      <p:sp>
        <p:nvSpPr>
          <p:cNvPr id="31" name="Shape 25"/>
          <p:cNvSpPr/>
          <p:nvPr/>
        </p:nvSpPr>
        <p:spPr>
          <a:xfrm>
            <a:off x="841248" y="5047488"/>
            <a:ext cx="384048" cy="384048"/>
          </a:xfrm>
          <a:prstGeom prst="ellipse">
            <a:avLst/>
          </a:prstGeom>
          <a:solidFill>
            <a:srgbClr val="F5A524"/>
          </a:solidFill>
          <a:ln w="12700">
            <a:solidFill>
              <a:srgbClr val="F5A524"/>
            </a:solidFill>
            <a:prstDash val="solid"/>
          </a:ln>
        </p:spPr>
      </p:sp>
      <p:pic>
        <p:nvPicPr>
          <p:cNvPr id="32" name="Image 4" descr="preencoded.png">    </p:cNvPr>
          <p:cNvPicPr>
            <a:picLocks noChangeAspect="1"/>
          </p:cNvPicPr>
          <p:nvPr/>
        </p:nvPicPr>
        <p:blipFill>
          <a:blip r:embed="rId5"/>
          <a:stretch>
            <a:fillRect/>
          </a:stretch>
        </p:blipFill>
        <p:spPr>
          <a:xfrm>
            <a:off x="937260" y="5143500"/>
            <a:ext cx="192024" cy="192024"/>
          </a:xfrm>
          <a:prstGeom prst="rect">
            <a:avLst/>
          </a:prstGeom>
        </p:spPr>
      </p:pic>
      <p:sp>
        <p:nvSpPr>
          <p:cNvPr id="33" name="Text 26"/>
          <p:cNvSpPr/>
          <p:nvPr/>
        </p:nvSpPr>
        <p:spPr>
          <a:xfrm>
            <a:off x="1389888" y="4882896"/>
            <a:ext cx="9960559" cy="896112"/>
          </a:xfrm>
          <a:prstGeom prst="rect">
            <a:avLst/>
          </a:prstGeom>
          <a:noFill/>
          <a:ln/>
        </p:spPr>
        <p:txBody>
          <a:bodyPr wrap="square" lIns="0" tIns="0" rIns="0" bIns="0" rtlCol="0" anchor="ctr"/>
          <a:lstStyle/>
          <a:p>
            <a:pPr indent="0" marL="0">
              <a:lnSpc>
                <a:spcPct val="110000"/>
              </a:lnSpc>
              <a:buNone/>
            </a:pPr>
            <a:r>
              <a:rPr lang="en-US" sz="1250" b="1" dirty="0">
                <a:solidFill>
                  <a:srgbClr val="141235"/>
                </a:solidFill>
                <a:latin typeface="Calibri" pitchFamily="34" charset="0"/>
                <a:ea typeface="Calibri" pitchFamily="34" charset="-122"/>
                <a:cs typeface="Calibri" pitchFamily="34" charset="-120"/>
              </a:rPr>
              <a:t>And underneath, almost every vendor has the same three-tier shape:  </a:t>
            </a:r>
            <a:pPr indent="0" marL="0">
              <a:lnSpc>
                <a:spcPct val="110000"/>
              </a:lnSpc>
              <a:buNone/>
            </a:pPr>
            <a:r>
              <a:rPr lang="en-US" sz="1200" dirty="0">
                <a:solidFill>
                  <a:srgbClr val="3B3760"/>
                </a:solidFill>
                <a:latin typeface="Calibri" pitchFamily="34" charset="0"/>
                <a:ea typeface="Calibri" pitchFamily="34" charset="-122"/>
                <a:cs typeface="Calibri" pitchFamily="34" charset="-120"/>
              </a:rPr>
              <a:t>an open-source framework  →  a free platform (tracing, evals)  →  a paid platform (hosting, deployment, support), often with a no-code studio alongside. Knowing which tier you are buying tells you exactly where the lock-in is.</a:t>
            </a:r>
            <a:endParaRPr lang="en-US" sz="1250" dirty="0"/>
          </a:p>
        </p:txBody>
      </p:sp>
      <p:sp>
        <p:nvSpPr>
          <p:cNvPr id="34" name="Shape 27"/>
          <p:cNvSpPr/>
          <p:nvPr/>
        </p:nvSpPr>
        <p:spPr>
          <a:xfrm>
            <a:off x="566928" y="5907024"/>
            <a:ext cx="11057839" cy="658368"/>
          </a:xfrm>
          <a:prstGeom prst="roundRect">
            <a:avLst>
              <a:gd name="adj" fmla="val 12500"/>
            </a:avLst>
          </a:prstGeom>
          <a:solidFill>
            <a:srgbClr val="FFF4E0"/>
          </a:solidFill>
          <a:ln w="12700">
            <a:solidFill>
              <a:srgbClr val="F3DCB0"/>
            </a:solidFill>
            <a:prstDash val="solid"/>
          </a:ln>
        </p:spPr>
      </p:sp>
      <p:sp>
        <p:nvSpPr>
          <p:cNvPr id="35" name="Shape 28"/>
          <p:cNvSpPr/>
          <p:nvPr/>
        </p:nvSpPr>
        <p:spPr>
          <a:xfrm>
            <a:off x="841248" y="6044184"/>
            <a:ext cx="384048" cy="384048"/>
          </a:xfrm>
          <a:prstGeom prst="ellipse">
            <a:avLst/>
          </a:prstGeom>
          <a:solidFill>
            <a:srgbClr val="F5A524"/>
          </a:solidFill>
          <a:ln w="12700">
            <a:solidFill>
              <a:srgbClr val="F5A524"/>
            </a:solidFill>
            <a:prstDash val="solid"/>
          </a:ln>
        </p:spPr>
      </p:sp>
      <p:pic>
        <p:nvPicPr>
          <p:cNvPr id="36" name="Image 5" descr="preencoded.png">    </p:cNvPr>
          <p:cNvPicPr>
            <a:picLocks noChangeAspect="1"/>
          </p:cNvPicPr>
          <p:nvPr/>
        </p:nvPicPr>
        <p:blipFill>
          <a:blip r:embed="rId6"/>
          <a:stretch>
            <a:fillRect/>
          </a:stretch>
        </p:blipFill>
        <p:spPr>
          <a:xfrm>
            <a:off x="937260" y="6140196"/>
            <a:ext cx="192024" cy="192024"/>
          </a:xfrm>
          <a:prstGeom prst="rect">
            <a:avLst/>
          </a:prstGeom>
        </p:spPr>
      </p:pic>
      <p:sp>
        <p:nvSpPr>
          <p:cNvPr id="37" name="Text 29"/>
          <p:cNvSpPr/>
          <p:nvPr/>
        </p:nvSpPr>
        <p:spPr>
          <a:xfrm>
            <a:off x="1371600" y="5961888"/>
            <a:ext cx="9960559" cy="548640"/>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 open-source framework is the shop window. The paid platform is the business. That is not cynical — it is just how to read the pricing page.</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16 · PLATFORM LANDSCAPE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Where lock-in actually lives, and where it does not</a:t>
            </a:r>
            <a:endParaRPr lang="en-US" sz="2800" dirty="0"/>
          </a:p>
        </p:txBody>
      </p:sp>
      <p:sp>
        <p:nvSpPr>
          <p:cNvPr id="4" name="Shape 2"/>
          <p:cNvSpPr/>
          <p:nvPr/>
        </p:nvSpPr>
        <p:spPr>
          <a:xfrm>
            <a:off x="566928" y="2002536"/>
            <a:ext cx="2586152" cy="2926080"/>
          </a:xfrm>
          <a:prstGeom prst="roundRect">
            <a:avLst>
              <a:gd name="adj" fmla="val 3182"/>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221992"/>
            <a:ext cx="365760" cy="365760"/>
          </a:xfrm>
          <a:prstGeom prst="ellipse">
            <a:avLst/>
          </a:prstGeom>
          <a:solidFill>
            <a:srgbClr val="0E9F6E"/>
          </a:solidFill>
          <a:ln w="12700">
            <a:solidFill>
              <a:srgbClr val="0E9F6E"/>
            </a:solidFill>
            <a:prstDash val="solid"/>
          </a:ln>
        </p:spPr>
      </p:sp>
      <p:pic>
        <p:nvPicPr>
          <p:cNvPr id="6" name="Image 0" descr="preencoded.png">    </p:cNvPr>
          <p:cNvPicPr>
            <a:picLocks noChangeAspect="1"/>
          </p:cNvPicPr>
          <p:nvPr/>
        </p:nvPicPr>
        <p:blipFill>
          <a:blip r:embed="rId1"/>
          <a:stretch>
            <a:fillRect/>
          </a:stretch>
        </p:blipFill>
        <p:spPr>
          <a:xfrm>
            <a:off x="896112" y="2313432"/>
            <a:ext cx="182880" cy="182880"/>
          </a:xfrm>
          <a:prstGeom prst="rect">
            <a:avLst/>
          </a:prstGeom>
        </p:spPr>
      </p:pic>
      <p:sp>
        <p:nvSpPr>
          <p:cNvPr id="7" name="Text 4"/>
          <p:cNvSpPr/>
          <p:nvPr/>
        </p:nvSpPr>
        <p:spPr>
          <a:xfrm>
            <a:off x="1298448" y="221284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PORTABLE</a:t>
            </a:r>
            <a:endParaRPr lang="en-US" sz="850" dirty="0"/>
          </a:p>
        </p:txBody>
      </p:sp>
      <p:sp>
        <p:nvSpPr>
          <p:cNvPr id="8" name="Text 5"/>
          <p:cNvSpPr/>
          <p:nvPr/>
        </p:nvSpPr>
        <p:spPr>
          <a:xfrm>
            <a:off x="1298448" y="2432304"/>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The model</a:t>
            </a:r>
            <a:endParaRPr lang="en-US" sz="1450" dirty="0"/>
          </a:p>
        </p:txBody>
      </p:sp>
      <p:sp>
        <p:nvSpPr>
          <p:cNvPr id="9" name="Text 6"/>
          <p:cNvSpPr/>
          <p:nvPr/>
        </p:nvSpPr>
        <p:spPr>
          <a:xfrm>
            <a:off x="1298448" y="2779959"/>
            <a:ext cx="1616888" cy="196577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Nearly every provider speaks a compatible interface. Swapping is a config change and a re-run of your evals.</a:t>
            </a:r>
            <a:endParaRPr lang="en-US" sz="1150" dirty="0"/>
          </a:p>
        </p:txBody>
      </p:sp>
      <p:sp>
        <p:nvSpPr>
          <p:cNvPr id="10" name="Shape 7"/>
          <p:cNvSpPr/>
          <p:nvPr/>
        </p:nvSpPr>
        <p:spPr>
          <a:xfrm>
            <a:off x="3390824" y="2002536"/>
            <a:ext cx="2586152" cy="2926080"/>
          </a:xfrm>
          <a:prstGeom prst="roundRect">
            <a:avLst>
              <a:gd name="adj" fmla="val 3182"/>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3628568" y="2221992"/>
            <a:ext cx="365760" cy="365760"/>
          </a:xfrm>
          <a:prstGeom prst="ellipse">
            <a:avLst/>
          </a:prstGeom>
          <a:solidFill>
            <a:srgbClr val="0E9F6E"/>
          </a:solidFill>
          <a:ln w="12700">
            <a:solidFill>
              <a:srgbClr val="0E9F6E"/>
            </a:solidFill>
            <a:prstDash val="solid"/>
          </a:ln>
        </p:spPr>
      </p:sp>
      <p:pic>
        <p:nvPicPr>
          <p:cNvPr id="12" name="Image 1" descr="preencoded.png">    </p:cNvPr>
          <p:cNvPicPr>
            <a:picLocks noChangeAspect="1"/>
          </p:cNvPicPr>
          <p:nvPr/>
        </p:nvPicPr>
        <p:blipFill>
          <a:blip r:embed="rId2"/>
          <a:stretch>
            <a:fillRect/>
          </a:stretch>
        </p:blipFill>
        <p:spPr>
          <a:xfrm>
            <a:off x="3720008" y="2313432"/>
            <a:ext cx="182880" cy="182880"/>
          </a:xfrm>
          <a:prstGeom prst="rect">
            <a:avLst/>
          </a:prstGeom>
        </p:spPr>
      </p:pic>
      <p:sp>
        <p:nvSpPr>
          <p:cNvPr id="13" name="Text 9"/>
          <p:cNvSpPr/>
          <p:nvPr/>
        </p:nvSpPr>
        <p:spPr>
          <a:xfrm>
            <a:off x="4122344" y="221284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PORTABLE</a:t>
            </a:r>
            <a:endParaRPr lang="en-US" sz="850" dirty="0"/>
          </a:p>
        </p:txBody>
      </p:sp>
      <p:sp>
        <p:nvSpPr>
          <p:cNvPr id="14" name="Text 10"/>
          <p:cNvSpPr/>
          <p:nvPr/>
        </p:nvSpPr>
        <p:spPr>
          <a:xfrm>
            <a:off x="4122344" y="2432304"/>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Tools</a:t>
            </a:r>
            <a:endParaRPr lang="en-US" sz="1450" dirty="0"/>
          </a:p>
        </p:txBody>
      </p:sp>
      <p:sp>
        <p:nvSpPr>
          <p:cNvPr id="15" name="Text 11"/>
          <p:cNvSpPr/>
          <p:nvPr/>
        </p:nvSpPr>
        <p:spPr>
          <a:xfrm>
            <a:off x="4122344" y="2779959"/>
            <a:ext cx="1616888" cy="196577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If you built them behind MCP. If you wired them into one framework's decorator, they move with that framework.</a:t>
            </a:r>
            <a:endParaRPr lang="en-US" sz="1150" dirty="0"/>
          </a:p>
        </p:txBody>
      </p:sp>
      <p:sp>
        <p:nvSpPr>
          <p:cNvPr id="16" name="Shape 12"/>
          <p:cNvSpPr/>
          <p:nvPr/>
        </p:nvSpPr>
        <p:spPr>
          <a:xfrm>
            <a:off x="6214720" y="2002536"/>
            <a:ext cx="2586152" cy="2926080"/>
          </a:xfrm>
          <a:prstGeom prst="roundRect">
            <a:avLst>
              <a:gd name="adj" fmla="val 3182"/>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17" name="Shape 13"/>
          <p:cNvSpPr/>
          <p:nvPr/>
        </p:nvSpPr>
        <p:spPr>
          <a:xfrm>
            <a:off x="6452464" y="2221992"/>
            <a:ext cx="365760" cy="365760"/>
          </a:xfrm>
          <a:prstGeom prst="ellipse">
            <a:avLst/>
          </a:prstGeom>
          <a:solidFill>
            <a:srgbClr val="0E9F6E"/>
          </a:solidFill>
          <a:ln w="12700">
            <a:solidFill>
              <a:srgbClr val="0E9F6E"/>
            </a:solidFill>
            <a:prstDash val="solid"/>
          </a:ln>
        </p:spPr>
      </p:sp>
      <p:pic>
        <p:nvPicPr>
          <p:cNvPr id="18" name="Image 2" descr="preencoded.png">    </p:cNvPr>
          <p:cNvPicPr>
            <a:picLocks noChangeAspect="1"/>
          </p:cNvPicPr>
          <p:nvPr/>
        </p:nvPicPr>
        <p:blipFill>
          <a:blip r:embed="rId3"/>
          <a:stretch>
            <a:fillRect/>
          </a:stretch>
        </p:blipFill>
        <p:spPr>
          <a:xfrm>
            <a:off x="6543904" y="2313432"/>
            <a:ext cx="182880" cy="182880"/>
          </a:xfrm>
          <a:prstGeom prst="rect">
            <a:avLst/>
          </a:prstGeom>
        </p:spPr>
      </p:pic>
      <p:sp>
        <p:nvSpPr>
          <p:cNvPr id="19" name="Text 14"/>
          <p:cNvSpPr/>
          <p:nvPr/>
        </p:nvSpPr>
        <p:spPr>
          <a:xfrm>
            <a:off x="6946240" y="221284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PORTABLE</a:t>
            </a:r>
            <a:endParaRPr lang="en-US" sz="850" dirty="0"/>
          </a:p>
        </p:txBody>
      </p:sp>
      <p:sp>
        <p:nvSpPr>
          <p:cNvPr id="20" name="Text 15"/>
          <p:cNvSpPr/>
          <p:nvPr/>
        </p:nvSpPr>
        <p:spPr>
          <a:xfrm>
            <a:off x="6946240" y="2432304"/>
            <a:ext cx="1616888" cy="338511"/>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Orchestration</a:t>
            </a:r>
            <a:endParaRPr lang="en-US" sz="1450" dirty="0"/>
          </a:p>
        </p:txBody>
      </p:sp>
      <p:sp>
        <p:nvSpPr>
          <p:cNvPr id="21" name="Text 16"/>
          <p:cNvSpPr/>
          <p:nvPr/>
        </p:nvSpPr>
        <p:spPr>
          <a:xfrm>
            <a:off x="6946240" y="2779959"/>
            <a:ext cx="1616888" cy="1965777"/>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If you stayed at tier 0–3 of the ladder. Tier 4 is where the loop stops being yours.</a:t>
            </a:r>
            <a:endParaRPr lang="en-US" sz="1150" dirty="0"/>
          </a:p>
        </p:txBody>
      </p:sp>
      <p:sp>
        <p:nvSpPr>
          <p:cNvPr id="22" name="Shape 17"/>
          <p:cNvSpPr/>
          <p:nvPr/>
        </p:nvSpPr>
        <p:spPr>
          <a:xfrm>
            <a:off x="9038615" y="2002536"/>
            <a:ext cx="2586152" cy="2926080"/>
          </a:xfrm>
          <a:prstGeom prst="roundRect">
            <a:avLst>
              <a:gd name="adj" fmla="val 3182"/>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23" name="Shape 18"/>
          <p:cNvSpPr/>
          <p:nvPr/>
        </p:nvSpPr>
        <p:spPr>
          <a:xfrm>
            <a:off x="9276359" y="2221992"/>
            <a:ext cx="365760" cy="365760"/>
          </a:xfrm>
          <a:prstGeom prst="ellipse">
            <a:avLst/>
          </a:prstGeom>
          <a:solidFill>
            <a:srgbClr val="D93A3F"/>
          </a:solidFill>
          <a:ln w="12700">
            <a:solidFill>
              <a:srgbClr val="D93A3F"/>
            </a:solidFill>
            <a:prstDash val="solid"/>
          </a:ln>
        </p:spPr>
      </p:sp>
      <p:pic>
        <p:nvPicPr>
          <p:cNvPr id="24" name="Image 3" descr="preencoded.png">    </p:cNvPr>
          <p:cNvPicPr>
            <a:picLocks noChangeAspect="1"/>
          </p:cNvPicPr>
          <p:nvPr/>
        </p:nvPicPr>
        <p:blipFill>
          <a:blip r:embed="rId4"/>
          <a:stretch>
            <a:fillRect/>
          </a:stretch>
        </p:blipFill>
        <p:spPr>
          <a:xfrm>
            <a:off x="9367799" y="2313432"/>
            <a:ext cx="182880" cy="182880"/>
          </a:xfrm>
          <a:prstGeom prst="rect">
            <a:avLst/>
          </a:prstGeom>
        </p:spPr>
      </p:pic>
      <p:sp>
        <p:nvSpPr>
          <p:cNvPr id="25" name="Text 19"/>
          <p:cNvSpPr/>
          <p:nvPr/>
        </p:nvSpPr>
        <p:spPr>
          <a:xfrm>
            <a:off x="9770135" y="2212848"/>
            <a:ext cx="1616888"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STICKY</a:t>
            </a:r>
            <a:endParaRPr lang="en-US" sz="850" dirty="0"/>
          </a:p>
        </p:txBody>
      </p:sp>
      <p:sp>
        <p:nvSpPr>
          <p:cNvPr id="26" name="Text 20"/>
          <p:cNvSpPr/>
          <p:nvPr/>
        </p:nvSpPr>
        <p:spPr>
          <a:xfrm>
            <a:off x="9770135" y="2432304"/>
            <a:ext cx="1616888" cy="905805"/>
          </a:xfrm>
          <a:prstGeom prst="rect">
            <a:avLst/>
          </a:prstGeom>
          <a:noFill/>
          <a:ln/>
        </p:spPr>
        <p:txBody>
          <a:bodyPr wrap="square" lIns="0" tIns="0" rIns="0" bIns="0" rtlCol="0" anchor="t"/>
          <a:lstStyle/>
          <a:p>
            <a:pPr indent="0" marL="0">
              <a:lnSpc>
                <a:spcPct val="105000"/>
              </a:lnSpc>
              <a:buNone/>
            </a:pPr>
            <a:r>
              <a:rPr lang="en-US" sz="1450" b="1" dirty="0">
                <a:solidFill>
                  <a:srgbClr val="141235"/>
                </a:solidFill>
                <a:latin typeface="Calibri" pitchFamily="34" charset="0"/>
                <a:ea typeface="Calibri" pitchFamily="34" charset="-122"/>
                <a:cs typeface="Calibri" pitchFamily="34" charset="-120"/>
              </a:rPr>
              <a:t>Memory, identity, observability</a:t>
            </a:r>
            <a:endParaRPr lang="en-US" sz="1450" dirty="0"/>
          </a:p>
        </p:txBody>
      </p:sp>
      <p:sp>
        <p:nvSpPr>
          <p:cNvPr id="27" name="Text 21"/>
          <p:cNvSpPr/>
          <p:nvPr/>
        </p:nvSpPr>
        <p:spPr>
          <a:xfrm>
            <a:off x="9770135" y="3347253"/>
            <a:ext cx="1616888" cy="1398483"/>
          </a:xfrm>
          <a:prstGeom prst="rect">
            <a:avLst/>
          </a:prstGeom>
          <a:noFill/>
          <a:ln/>
        </p:spPr>
        <p:txBody>
          <a:bodyPr wrap="square" lIns="0" tIns="0" rIns="0" bIns="0" rtlCol="0" anchor="t"/>
          <a:lstStyle/>
          <a:p>
            <a:pPr indent="0" marL="0">
              <a:lnSpc>
                <a:spcPct val="113000"/>
              </a:lnSpc>
              <a:buNone/>
            </a:pPr>
            <a:r>
              <a:rPr lang="en-US" sz="1150" dirty="0">
                <a:solidFill>
                  <a:srgbClr val="6E6B8A"/>
                </a:solidFill>
                <a:latin typeface="Calibri" pitchFamily="34" charset="0"/>
                <a:ea typeface="Calibri" pitchFamily="34" charset="-122"/>
                <a:cs typeface="Calibri" pitchFamily="34" charset="-120"/>
              </a:rPr>
              <a:t>This is where lock-in actually lives. Migrating a vector store is annoying; migrating an identity and audit model is a project.</a:t>
            </a:r>
            <a:endParaRPr lang="en-US" sz="1150" dirty="0"/>
          </a:p>
        </p:txBody>
      </p:sp>
      <p:sp>
        <p:nvSpPr>
          <p:cNvPr id="28" name="Text 22"/>
          <p:cNvSpPr/>
          <p:nvPr/>
        </p:nvSpPr>
        <p:spPr>
          <a:xfrm>
            <a:off x="566928" y="5047488"/>
            <a:ext cx="11057839" cy="310896"/>
          </a:xfrm>
          <a:prstGeom prst="rect">
            <a:avLst/>
          </a:prstGeom>
          <a:noFill/>
          <a:ln/>
        </p:spPr>
        <p:txBody>
          <a:bodyPr wrap="square" lIns="0" tIns="0" rIns="0" bIns="0" rtlCol="0" anchor="ctr"/>
          <a:lstStyle/>
          <a:p>
            <a:pPr indent="0" marL="0">
              <a:buNone/>
            </a:pPr>
            <a:r>
              <a:rPr lang="en-US" sz="1300" i="1" dirty="0">
                <a:solidFill>
                  <a:srgbClr val="3B3760"/>
                </a:solidFill>
                <a:latin typeface="Calibri" pitchFamily="34" charset="0"/>
                <a:ea typeface="Calibri" pitchFamily="34" charset="-122"/>
                <a:cs typeface="Calibri" pitchFamily="34" charset="-120"/>
              </a:rPr>
              <a:t>Nobody argues about the model any more. The arguments are all in the fourth column, and they start about eighteen months in.</a:t>
            </a:r>
            <a:endParaRPr lang="en-US" sz="1300" dirty="0"/>
          </a:p>
        </p:txBody>
      </p:sp>
      <p:sp>
        <p:nvSpPr>
          <p:cNvPr id="29" name="Shape 23"/>
          <p:cNvSpPr/>
          <p:nvPr/>
        </p:nvSpPr>
        <p:spPr>
          <a:xfrm>
            <a:off x="566928" y="5449824"/>
            <a:ext cx="11057839" cy="822960"/>
          </a:xfrm>
          <a:prstGeom prst="roundRect">
            <a:avLst>
              <a:gd name="adj" fmla="val 10000"/>
            </a:avLst>
          </a:prstGeom>
          <a:solidFill>
            <a:srgbClr val="FFF4E0"/>
          </a:solidFill>
          <a:ln w="12700">
            <a:solidFill>
              <a:srgbClr val="F3DCB0"/>
            </a:solidFill>
            <a:prstDash val="solid"/>
          </a:ln>
        </p:spPr>
      </p:sp>
      <p:sp>
        <p:nvSpPr>
          <p:cNvPr id="30" name="Shape 24"/>
          <p:cNvSpPr/>
          <p:nvPr/>
        </p:nvSpPr>
        <p:spPr>
          <a:xfrm>
            <a:off x="841248" y="5669280"/>
            <a:ext cx="384048" cy="384048"/>
          </a:xfrm>
          <a:prstGeom prst="ellipse">
            <a:avLst/>
          </a:prstGeom>
          <a:solidFill>
            <a:srgbClr val="F5A524"/>
          </a:solidFill>
          <a:ln w="12700">
            <a:solidFill>
              <a:srgbClr val="F5A524"/>
            </a:solidFill>
            <a:prstDash val="solid"/>
          </a:ln>
        </p:spPr>
      </p:sp>
      <p:pic>
        <p:nvPicPr>
          <p:cNvPr id="31" name="Image 4" descr="preencoded.png">    </p:cNvPr>
          <p:cNvPicPr>
            <a:picLocks noChangeAspect="1"/>
          </p:cNvPicPr>
          <p:nvPr/>
        </p:nvPicPr>
        <p:blipFill>
          <a:blip r:embed="rId5"/>
          <a:stretch>
            <a:fillRect/>
          </a:stretch>
        </p:blipFill>
        <p:spPr>
          <a:xfrm>
            <a:off x="937260" y="5765292"/>
            <a:ext cx="192024" cy="192024"/>
          </a:xfrm>
          <a:prstGeom prst="rect">
            <a:avLst/>
          </a:prstGeom>
        </p:spPr>
      </p:pic>
      <p:sp>
        <p:nvSpPr>
          <p:cNvPr id="32" name="Text 25"/>
          <p:cNvSpPr/>
          <p:nvPr/>
        </p:nvSpPr>
        <p:spPr>
          <a:xfrm>
            <a:off x="1371600" y="550468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Lock-in is not about which model you picked. It is about where your history, your permissions and your audit trail live.</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algn="r" indent="0" marL="0">
              <a:buNone/>
            </a:pPr>
            <a:r>
              <a:rPr lang="en-US" sz="17600" b="1" dirty="0">
                <a:solidFill>
                  <a:srgbClr val="5B4BE8">
                    <a:alpha val="30000"/>
                  </a:srgbClr>
                </a:solidFill>
                <a:latin typeface="Cambria" pitchFamily="34" charset="0"/>
                <a:ea typeface="Cambria" pitchFamily="34" charset="-122"/>
                <a:cs typeface="Cambria" pitchFamily="34" charset="-120"/>
              </a:rPr>
              <a:t>17</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sp>
      <p:pic>
        <p:nvPicPr>
          <p:cNvPr id="5" name="Image 1" descr="preencoded.png">    </p:cNvPr>
          <p:cNvPicPr>
            <a:picLocks noChangeAspect="1"/>
          </p:cNvPicPr>
          <p:nvPr/>
        </p:nvPicPr>
        <p:blipFill>
          <a:blip r:embed="rId2"/>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indent="0" marL="0">
              <a:buNone/>
            </a:pPr>
            <a:r>
              <a:rPr lang="en-US" sz="1100" b="1" spc="240" kern="0" dirty="0">
                <a:solidFill>
                  <a:srgbClr val="F5A524"/>
                </a:solidFill>
                <a:latin typeface="Calibri" pitchFamily="34" charset="0"/>
                <a:ea typeface="Calibri" pitchFamily="34" charset="-122"/>
                <a:cs typeface="Calibri" pitchFamily="34" charset="-120"/>
              </a:rPr>
              <a:t>MODULE 17</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Process re-engineering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indent="0" marL="0">
              <a:lnSpc>
                <a:spcPct val="120000"/>
              </a:lnSpc>
              <a:buNone/>
            </a:pPr>
            <a:r>
              <a:rPr lang="en-US" sz="1600" dirty="0">
                <a:solidFill>
                  <a:srgbClr val="B9B4E0"/>
                </a:solidFill>
                <a:latin typeface="Calibri" pitchFamily="34" charset="0"/>
                <a:ea typeface="Calibri" pitchFamily="34" charset="-122"/>
                <a:cs typeface="Calibri" pitchFamily="34" charset="-120"/>
              </a:rPr>
              <a:t>What should we actually automate, and how far should it go?</a:t>
            </a:r>
            <a:endParaRPr lang="en-US" sz="1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17 · PROCESS RE-ENGINEERING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Find the simplest thing that works, then stop</a:t>
            </a:r>
            <a:endParaRPr lang="en-US" sz="3000" dirty="0"/>
          </a:p>
        </p:txBody>
      </p:sp>
      <p:sp>
        <p:nvSpPr>
          <p:cNvPr id="4" name="Shape 2"/>
          <p:cNvSpPr/>
          <p:nvPr/>
        </p:nvSpPr>
        <p:spPr>
          <a:xfrm>
            <a:off x="566928" y="1810512"/>
            <a:ext cx="11057839" cy="658368"/>
          </a:xfrm>
          <a:prstGeom prst="roundRect">
            <a:avLst>
              <a:gd name="adj" fmla="val 11111"/>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5" name="Text 3"/>
          <p:cNvSpPr/>
          <p:nvPr/>
        </p:nvSpPr>
        <p:spPr>
          <a:xfrm>
            <a:off x="749808" y="1810512"/>
            <a:ext cx="365760" cy="658368"/>
          </a:xfrm>
          <a:prstGeom prst="rect">
            <a:avLst/>
          </a:prstGeom>
          <a:noFill/>
          <a:ln/>
        </p:spPr>
        <p:txBody>
          <a:bodyPr wrap="square" lIns="0" tIns="0" rIns="0" bIns="0" rtlCol="0" anchor="ctr"/>
          <a:lstStyle/>
          <a:p>
            <a:pPr algn="ctr" indent="0" marL="0">
              <a:buNone/>
            </a:pPr>
            <a:r>
              <a:rPr lang="en-US" sz="2000" b="1" dirty="0">
                <a:solidFill>
                  <a:srgbClr val="8E82F5"/>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225296" y="1810512"/>
            <a:ext cx="3291840" cy="658368"/>
          </a:xfrm>
          <a:prstGeom prst="rect">
            <a:avLst/>
          </a:prstGeom>
          <a:noFill/>
          <a:ln/>
        </p:spPr>
        <p:txBody>
          <a:bodyPr wrap="square" lIns="0" tIns="0" rIns="0" bIns="0" rtlCol="0" anchor="ctr"/>
          <a:lstStyle/>
          <a:p>
            <a:pPr indent="0" marL="0">
              <a:buNone/>
            </a:pPr>
            <a:r>
              <a:rPr lang="en-US" sz="1450" b="1" dirty="0">
                <a:solidFill>
                  <a:srgbClr val="141235"/>
                </a:solidFill>
                <a:latin typeface="Calibri" pitchFamily="34" charset="0"/>
                <a:ea typeface="Calibri" pitchFamily="34" charset="-122"/>
                <a:cs typeface="Calibri" pitchFamily="34" charset="-120"/>
              </a:rPr>
              <a:t>A single model call</a:t>
            </a:r>
            <a:endParaRPr lang="en-US" sz="1450" dirty="0"/>
          </a:p>
        </p:txBody>
      </p:sp>
      <p:sp>
        <p:nvSpPr>
          <p:cNvPr id="7" name="Text 5"/>
          <p:cNvSpPr/>
          <p:nvPr/>
        </p:nvSpPr>
        <p:spPr>
          <a:xfrm>
            <a:off x="4590288" y="1810512"/>
            <a:ext cx="329184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No tools, no loop, no retrieval.</a:t>
            </a:r>
            <a:endParaRPr lang="en-US" sz="1150" dirty="0"/>
          </a:p>
        </p:txBody>
      </p:sp>
      <p:sp>
        <p:nvSpPr>
          <p:cNvPr id="8" name="Shape 6"/>
          <p:cNvSpPr/>
          <p:nvPr/>
        </p:nvSpPr>
        <p:spPr>
          <a:xfrm>
            <a:off x="950976" y="2569464"/>
            <a:ext cx="10673791" cy="658368"/>
          </a:xfrm>
          <a:prstGeom prst="roundRect">
            <a:avLst>
              <a:gd name="adj" fmla="val 11111"/>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9" name="Text 7"/>
          <p:cNvSpPr/>
          <p:nvPr/>
        </p:nvSpPr>
        <p:spPr>
          <a:xfrm>
            <a:off x="1133856" y="2569464"/>
            <a:ext cx="365760" cy="658368"/>
          </a:xfrm>
          <a:prstGeom prst="rect">
            <a:avLst/>
          </a:prstGeom>
          <a:noFill/>
          <a:ln/>
        </p:spPr>
        <p:txBody>
          <a:bodyPr wrap="square" lIns="0" tIns="0" rIns="0" bIns="0" rtlCol="0" anchor="ctr"/>
          <a:lstStyle/>
          <a:p>
            <a:pPr algn="ctr" indent="0" marL="0">
              <a:buNone/>
            </a:pPr>
            <a:r>
              <a:rPr lang="en-US" sz="2000" b="1" dirty="0">
                <a:solidFill>
                  <a:srgbClr val="8E82F5"/>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609344" y="2569464"/>
            <a:ext cx="3291840" cy="658368"/>
          </a:xfrm>
          <a:prstGeom prst="rect">
            <a:avLst/>
          </a:prstGeom>
          <a:noFill/>
          <a:ln/>
        </p:spPr>
        <p:txBody>
          <a:bodyPr wrap="square" lIns="0" tIns="0" rIns="0" bIns="0" rtlCol="0" anchor="ctr"/>
          <a:lstStyle/>
          <a:p>
            <a:pPr indent="0" marL="0">
              <a:buNone/>
            </a:pPr>
            <a:r>
              <a:rPr lang="en-US" sz="1450" b="1" dirty="0">
                <a:solidFill>
                  <a:srgbClr val="141235"/>
                </a:solidFill>
                <a:latin typeface="Calibri" pitchFamily="34" charset="0"/>
                <a:ea typeface="Calibri" pitchFamily="34" charset="-122"/>
                <a:cs typeface="Calibri" pitchFamily="34" charset="-120"/>
              </a:rPr>
              <a:t>Plus retrieval and good examples</a:t>
            </a:r>
            <a:endParaRPr lang="en-US" sz="1450" dirty="0"/>
          </a:p>
        </p:txBody>
      </p:sp>
      <p:sp>
        <p:nvSpPr>
          <p:cNvPr id="11" name="Text 9"/>
          <p:cNvSpPr/>
          <p:nvPr/>
        </p:nvSpPr>
        <p:spPr>
          <a:xfrm>
            <a:off x="4974336" y="2569464"/>
            <a:ext cx="329184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Grounded, cheap, predictable.</a:t>
            </a:r>
            <a:endParaRPr lang="en-US" sz="1150" dirty="0"/>
          </a:p>
        </p:txBody>
      </p:sp>
      <p:sp>
        <p:nvSpPr>
          <p:cNvPr id="12" name="Text 10"/>
          <p:cNvSpPr/>
          <p:nvPr/>
        </p:nvSpPr>
        <p:spPr>
          <a:xfrm>
            <a:off x="8357616" y="2569464"/>
            <a:ext cx="3084271" cy="658368"/>
          </a:xfrm>
          <a:prstGeom prst="rect">
            <a:avLst/>
          </a:prstGeom>
          <a:noFill/>
          <a:ln/>
        </p:spPr>
        <p:txBody>
          <a:bodyPr wrap="square" lIns="0" tIns="0" rIns="0" bIns="0" rtlCol="0" anchor="ctr"/>
          <a:lstStyle/>
          <a:p>
            <a:pPr indent="0" marL="0">
              <a:buNone/>
            </a:pPr>
            <a:r>
              <a:rPr lang="en-US" sz="1150" b="1" i="1" dirty="0">
                <a:solidFill>
                  <a:srgbClr val="0E9F6E"/>
                </a:solidFill>
                <a:latin typeface="Calibri" pitchFamily="34" charset="0"/>
                <a:ea typeface="Calibri" pitchFamily="34" charset="-122"/>
                <a:cs typeface="Calibri" pitchFamily="34" charset="-120"/>
              </a:rPr>
              <a:t>Most applications should stop here</a:t>
            </a:r>
            <a:endParaRPr lang="en-US" sz="1150" dirty="0"/>
          </a:p>
        </p:txBody>
      </p:sp>
      <p:sp>
        <p:nvSpPr>
          <p:cNvPr id="13" name="Shape 11"/>
          <p:cNvSpPr/>
          <p:nvPr/>
        </p:nvSpPr>
        <p:spPr>
          <a:xfrm>
            <a:off x="1335024" y="3328416"/>
            <a:ext cx="10289743" cy="658368"/>
          </a:xfrm>
          <a:prstGeom prst="roundRect">
            <a:avLst>
              <a:gd name="adj" fmla="val 11111"/>
            </a:avLst>
          </a:prstGeom>
          <a:solidFill>
            <a:srgbClr val="FFFFFF"/>
          </a:solidFill>
          <a:ln w="12700">
            <a:solidFill>
              <a:srgbClr val="E3E4F2"/>
            </a:solidFill>
            <a:prstDash val="solid"/>
          </a:ln>
          <a:effectLst>
            <a:outerShdw sx="100000" sy="100000" kx="0" ky="0" algn="bl" rotWithShape="0" blurRad="88900" dist="445" dir="5400000">
              <a:srgbClr val="1B1A4A">
                <a:alpha val="6000"/>
              </a:srgbClr>
            </a:outerShdw>
          </a:effectLst>
        </p:spPr>
      </p:sp>
      <p:sp>
        <p:nvSpPr>
          <p:cNvPr id="14" name="Text 12"/>
          <p:cNvSpPr/>
          <p:nvPr/>
        </p:nvSpPr>
        <p:spPr>
          <a:xfrm>
            <a:off x="1517904" y="3328416"/>
            <a:ext cx="365760" cy="658368"/>
          </a:xfrm>
          <a:prstGeom prst="rect">
            <a:avLst/>
          </a:prstGeom>
          <a:noFill/>
          <a:ln/>
        </p:spPr>
        <p:txBody>
          <a:bodyPr wrap="square" lIns="0" tIns="0" rIns="0" bIns="0" rtlCol="0" anchor="ctr"/>
          <a:lstStyle/>
          <a:p>
            <a:pPr algn="ctr" indent="0" marL="0">
              <a:buNone/>
            </a:pPr>
            <a:r>
              <a:rPr lang="en-US" sz="2000" b="1" dirty="0">
                <a:solidFill>
                  <a:srgbClr val="8E82F5"/>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993392" y="3328416"/>
            <a:ext cx="3291840" cy="658368"/>
          </a:xfrm>
          <a:prstGeom prst="rect">
            <a:avLst/>
          </a:prstGeom>
          <a:noFill/>
          <a:ln/>
        </p:spPr>
        <p:txBody>
          <a:bodyPr wrap="square" lIns="0" tIns="0" rIns="0" bIns="0" rtlCol="0" anchor="ctr"/>
          <a:lstStyle/>
          <a:p>
            <a:pPr indent="0" marL="0">
              <a:buNone/>
            </a:pPr>
            <a:r>
              <a:rPr lang="en-US" sz="1450" b="1" dirty="0">
                <a:solidFill>
                  <a:srgbClr val="141235"/>
                </a:solidFill>
                <a:latin typeface="Calibri" pitchFamily="34" charset="0"/>
                <a:ea typeface="Calibri" pitchFamily="34" charset="-122"/>
                <a:cs typeface="Calibri" pitchFamily="34" charset="-120"/>
              </a:rPr>
              <a:t>A fixed workflow</a:t>
            </a:r>
            <a:endParaRPr lang="en-US" sz="1450" dirty="0"/>
          </a:p>
        </p:txBody>
      </p:sp>
      <p:sp>
        <p:nvSpPr>
          <p:cNvPr id="16" name="Text 14"/>
          <p:cNvSpPr/>
          <p:nvPr/>
        </p:nvSpPr>
        <p:spPr>
          <a:xfrm>
            <a:off x="5358384" y="3328416"/>
            <a:ext cx="329184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You wrote the steps. Testable end to end.</a:t>
            </a:r>
            <a:endParaRPr lang="en-US" sz="1150" dirty="0"/>
          </a:p>
        </p:txBody>
      </p:sp>
      <p:sp>
        <p:nvSpPr>
          <p:cNvPr id="17" name="Text 15"/>
          <p:cNvSpPr/>
          <p:nvPr/>
        </p:nvSpPr>
        <p:spPr>
          <a:xfrm>
            <a:off x="8741664" y="3328416"/>
            <a:ext cx="2700223" cy="658368"/>
          </a:xfrm>
          <a:prstGeom prst="rect">
            <a:avLst/>
          </a:prstGeom>
          <a:noFill/>
          <a:ln/>
        </p:spPr>
        <p:txBody>
          <a:bodyPr wrap="square" lIns="0" tIns="0" rIns="0" bIns="0" rtlCol="0" anchor="ctr"/>
          <a:lstStyle/>
          <a:p>
            <a:pPr indent="0" marL="0">
              <a:buNone/>
            </a:pPr>
            <a:r>
              <a:rPr lang="en-US" sz="1150" b="1" i="1" dirty="0">
                <a:solidFill>
                  <a:srgbClr val="0E9F6E"/>
                </a:solidFill>
                <a:latin typeface="Calibri" pitchFamily="34" charset="0"/>
                <a:ea typeface="Calibri" pitchFamily="34" charset="-122"/>
                <a:cs typeface="Calibri" pitchFamily="34" charset="-120"/>
              </a:rPr>
              <a:t>Most production systems should stop here</a:t>
            </a:r>
            <a:endParaRPr lang="en-US" sz="1150" dirty="0"/>
          </a:p>
        </p:txBody>
      </p:sp>
      <p:sp>
        <p:nvSpPr>
          <p:cNvPr id="18" name="Shape 16"/>
          <p:cNvSpPr/>
          <p:nvPr/>
        </p:nvSpPr>
        <p:spPr>
          <a:xfrm>
            <a:off x="1719072" y="4087368"/>
            <a:ext cx="9905695" cy="658368"/>
          </a:xfrm>
          <a:prstGeom prst="roundRect">
            <a:avLst>
              <a:gd name="adj" fmla="val 11111"/>
            </a:avLst>
          </a:prstGeom>
          <a:solidFill>
            <a:srgbClr val="FFF4E0"/>
          </a:solidFill>
          <a:ln w="12700">
            <a:solidFill>
              <a:srgbClr val="F0D5A6"/>
            </a:solidFill>
            <a:prstDash val="solid"/>
          </a:ln>
          <a:effectLst>
            <a:outerShdw sx="100000" sy="100000" kx="0" ky="0" algn="bl" rotWithShape="0" blurRad="88900" dist="445" dir="5400000">
              <a:srgbClr val="1B1A4A">
                <a:alpha val="6000"/>
              </a:srgbClr>
            </a:outerShdw>
          </a:effectLst>
        </p:spPr>
      </p:sp>
      <p:sp>
        <p:nvSpPr>
          <p:cNvPr id="19" name="Text 17"/>
          <p:cNvSpPr/>
          <p:nvPr/>
        </p:nvSpPr>
        <p:spPr>
          <a:xfrm>
            <a:off x="1901952" y="4087368"/>
            <a:ext cx="365760" cy="658368"/>
          </a:xfrm>
          <a:prstGeom prst="rect">
            <a:avLst/>
          </a:prstGeom>
          <a:noFill/>
          <a:ln/>
        </p:spPr>
        <p:txBody>
          <a:bodyPr wrap="square" lIns="0" tIns="0" rIns="0" bIns="0" rtlCol="0" anchor="ctr"/>
          <a:lstStyle/>
          <a:p>
            <a:pPr algn="ctr" indent="0" marL="0">
              <a:buNone/>
            </a:pPr>
            <a:r>
              <a:rPr lang="en-US" sz="2000" b="1" dirty="0">
                <a:solidFill>
                  <a:srgbClr val="E08700"/>
                </a:solidFill>
                <a:latin typeface="Cambria" pitchFamily="34" charset="0"/>
                <a:ea typeface="Cambria" pitchFamily="34" charset="-122"/>
                <a:cs typeface="Cambria" pitchFamily="34" charset="-120"/>
              </a:rPr>
              <a:t>4</a:t>
            </a:r>
            <a:endParaRPr lang="en-US" sz="2000" dirty="0"/>
          </a:p>
        </p:txBody>
      </p:sp>
      <p:sp>
        <p:nvSpPr>
          <p:cNvPr id="20" name="Text 18"/>
          <p:cNvSpPr/>
          <p:nvPr/>
        </p:nvSpPr>
        <p:spPr>
          <a:xfrm>
            <a:off x="2377440" y="4087368"/>
            <a:ext cx="3291840" cy="658368"/>
          </a:xfrm>
          <a:prstGeom prst="rect">
            <a:avLst/>
          </a:prstGeom>
          <a:noFill/>
          <a:ln/>
        </p:spPr>
        <p:txBody>
          <a:bodyPr wrap="square" lIns="0" tIns="0" rIns="0" bIns="0" rtlCol="0" anchor="ctr"/>
          <a:lstStyle/>
          <a:p>
            <a:pPr indent="0" marL="0">
              <a:buNone/>
            </a:pPr>
            <a:r>
              <a:rPr lang="en-US" sz="1450" b="1" dirty="0">
                <a:solidFill>
                  <a:srgbClr val="141235"/>
                </a:solidFill>
                <a:latin typeface="Calibri" pitchFamily="34" charset="0"/>
                <a:ea typeface="Calibri" pitchFamily="34" charset="-122"/>
                <a:cs typeface="Calibri" pitchFamily="34" charset="-120"/>
              </a:rPr>
              <a:t>An agent</a:t>
            </a:r>
            <a:endParaRPr lang="en-US" sz="1450" dirty="0"/>
          </a:p>
        </p:txBody>
      </p:sp>
      <p:sp>
        <p:nvSpPr>
          <p:cNvPr id="21" name="Text 19"/>
          <p:cNvSpPr/>
          <p:nvPr/>
        </p:nvSpPr>
        <p:spPr>
          <a:xfrm>
            <a:off x="5742432" y="4087368"/>
            <a:ext cx="329184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The model chooses the next step.</a:t>
            </a:r>
            <a:endParaRPr lang="en-US" sz="1150" dirty="0"/>
          </a:p>
        </p:txBody>
      </p:sp>
      <p:sp>
        <p:nvSpPr>
          <p:cNvPr id="22" name="Text 20"/>
          <p:cNvSpPr/>
          <p:nvPr/>
        </p:nvSpPr>
        <p:spPr>
          <a:xfrm>
            <a:off x="9125712" y="4087368"/>
            <a:ext cx="2316175" cy="658368"/>
          </a:xfrm>
          <a:prstGeom prst="rect">
            <a:avLst/>
          </a:prstGeom>
          <a:noFill/>
          <a:ln/>
        </p:spPr>
        <p:txBody>
          <a:bodyPr wrap="square" lIns="0" tIns="0" rIns="0" bIns="0" rtlCol="0" anchor="ctr"/>
          <a:lstStyle/>
          <a:p>
            <a:pPr indent="0" marL="0">
              <a:buNone/>
            </a:pPr>
            <a:r>
              <a:rPr lang="en-US" sz="1150" b="1" i="1" dirty="0">
                <a:solidFill>
                  <a:srgbClr val="E08700"/>
                </a:solidFill>
                <a:latin typeface="Calibri" pitchFamily="34" charset="0"/>
                <a:ea typeface="Calibri" pitchFamily="34" charset="-122"/>
                <a:cs typeface="Calibri" pitchFamily="34" charset="-120"/>
              </a:rPr>
              <a:t>Only when the path genuinely cannot be predetermined</a:t>
            </a:r>
            <a:endParaRPr lang="en-US" sz="1150" dirty="0"/>
          </a:p>
        </p:txBody>
      </p:sp>
      <p:sp>
        <p:nvSpPr>
          <p:cNvPr id="23" name="Shape 21"/>
          <p:cNvSpPr/>
          <p:nvPr/>
        </p:nvSpPr>
        <p:spPr>
          <a:xfrm>
            <a:off x="2103120" y="4846320"/>
            <a:ext cx="9521647" cy="658368"/>
          </a:xfrm>
          <a:prstGeom prst="roundRect">
            <a:avLst>
              <a:gd name="adj" fmla="val 11111"/>
            </a:avLst>
          </a:prstGeom>
          <a:solidFill>
            <a:srgbClr val="FFF4E0"/>
          </a:solidFill>
          <a:ln w="12700">
            <a:solidFill>
              <a:srgbClr val="F0D5A6"/>
            </a:solidFill>
            <a:prstDash val="solid"/>
          </a:ln>
          <a:effectLst>
            <a:outerShdw sx="100000" sy="100000" kx="0" ky="0" algn="bl" rotWithShape="0" blurRad="88900" dist="445" dir="5400000">
              <a:srgbClr val="1B1A4A">
                <a:alpha val="6000"/>
              </a:srgbClr>
            </a:outerShdw>
          </a:effectLst>
        </p:spPr>
      </p:sp>
      <p:sp>
        <p:nvSpPr>
          <p:cNvPr id="24" name="Text 22"/>
          <p:cNvSpPr/>
          <p:nvPr/>
        </p:nvSpPr>
        <p:spPr>
          <a:xfrm>
            <a:off x="2286000" y="4846320"/>
            <a:ext cx="365760" cy="658368"/>
          </a:xfrm>
          <a:prstGeom prst="rect">
            <a:avLst/>
          </a:prstGeom>
          <a:noFill/>
          <a:ln/>
        </p:spPr>
        <p:txBody>
          <a:bodyPr wrap="square" lIns="0" tIns="0" rIns="0" bIns="0" rtlCol="0" anchor="ctr"/>
          <a:lstStyle/>
          <a:p>
            <a:pPr algn="ctr" indent="0" marL="0">
              <a:buNone/>
            </a:pPr>
            <a:r>
              <a:rPr lang="en-US" sz="2000" b="1" dirty="0">
                <a:solidFill>
                  <a:srgbClr val="E08700"/>
                </a:solidFill>
                <a:latin typeface="Cambria" pitchFamily="34" charset="0"/>
                <a:ea typeface="Cambria" pitchFamily="34" charset="-122"/>
                <a:cs typeface="Cambria" pitchFamily="34" charset="-120"/>
              </a:rPr>
              <a:t>5</a:t>
            </a:r>
            <a:endParaRPr lang="en-US" sz="2000" dirty="0"/>
          </a:p>
        </p:txBody>
      </p:sp>
      <p:sp>
        <p:nvSpPr>
          <p:cNvPr id="25" name="Text 23"/>
          <p:cNvSpPr/>
          <p:nvPr/>
        </p:nvSpPr>
        <p:spPr>
          <a:xfrm>
            <a:off x="2761488" y="4846320"/>
            <a:ext cx="3291840" cy="658368"/>
          </a:xfrm>
          <a:prstGeom prst="rect">
            <a:avLst/>
          </a:prstGeom>
          <a:noFill/>
          <a:ln/>
        </p:spPr>
        <p:txBody>
          <a:bodyPr wrap="square" lIns="0" tIns="0" rIns="0" bIns="0" rtlCol="0" anchor="ctr"/>
          <a:lstStyle/>
          <a:p>
            <a:pPr indent="0" marL="0">
              <a:buNone/>
            </a:pPr>
            <a:r>
              <a:rPr lang="en-US" sz="1450" b="1" dirty="0">
                <a:solidFill>
                  <a:srgbClr val="141235"/>
                </a:solidFill>
                <a:latin typeface="Calibri" pitchFamily="34" charset="0"/>
                <a:ea typeface="Calibri" pitchFamily="34" charset="-122"/>
                <a:cs typeface="Calibri" pitchFamily="34" charset="-120"/>
              </a:rPr>
              <a:t>Multiple agents</a:t>
            </a:r>
            <a:endParaRPr lang="en-US" sz="1450" dirty="0"/>
          </a:p>
        </p:txBody>
      </p:sp>
      <p:sp>
        <p:nvSpPr>
          <p:cNvPr id="26" name="Text 24"/>
          <p:cNvSpPr/>
          <p:nvPr/>
        </p:nvSpPr>
        <p:spPr>
          <a:xfrm>
            <a:off x="6126480" y="4846320"/>
            <a:ext cx="3291840" cy="658368"/>
          </a:xfrm>
          <a:prstGeom prst="rect">
            <a:avLst/>
          </a:prstGeom>
          <a:noFill/>
          <a:ln/>
        </p:spPr>
        <p:txBody>
          <a:bodyPr wrap="square" lIns="0" tIns="0" rIns="0" bIns="0" rtlCol="0" anchor="ctr"/>
          <a:lstStyle/>
          <a:p>
            <a:pPr indent="0" marL="0">
              <a:buNone/>
            </a:pPr>
            <a:r>
              <a:rPr lang="en-US" sz="1150" dirty="0">
                <a:solidFill>
                  <a:srgbClr val="6E6B8A"/>
                </a:solidFill>
                <a:latin typeface="Calibri" pitchFamily="34" charset="0"/>
                <a:ea typeface="Calibri" pitchFamily="34" charset="-122"/>
                <a:cs typeface="Calibri" pitchFamily="34" charset="-120"/>
              </a:rPr>
              <a:t>Different tools, models or permissions.</a:t>
            </a:r>
            <a:endParaRPr lang="en-US" sz="1150" dirty="0"/>
          </a:p>
        </p:txBody>
      </p:sp>
      <p:sp>
        <p:nvSpPr>
          <p:cNvPr id="27" name="Text 25"/>
          <p:cNvSpPr/>
          <p:nvPr/>
        </p:nvSpPr>
        <p:spPr>
          <a:xfrm>
            <a:off x="9509760" y="4846320"/>
            <a:ext cx="1932127" cy="658368"/>
          </a:xfrm>
          <a:prstGeom prst="rect">
            <a:avLst/>
          </a:prstGeom>
          <a:noFill/>
          <a:ln/>
        </p:spPr>
        <p:txBody>
          <a:bodyPr wrap="square" lIns="0" tIns="0" rIns="0" bIns="0" rtlCol="0" anchor="ctr"/>
          <a:lstStyle/>
          <a:p>
            <a:pPr indent="0" marL="0">
              <a:buNone/>
            </a:pPr>
            <a:r>
              <a:rPr lang="en-US" sz="1150" b="1" i="1" dirty="0">
                <a:solidFill>
                  <a:srgbClr val="E08700"/>
                </a:solidFill>
                <a:latin typeface="Calibri" pitchFamily="34" charset="0"/>
                <a:ea typeface="Calibri" pitchFamily="34" charset="-122"/>
                <a:cs typeface="Calibri" pitchFamily="34" charset="-120"/>
              </a:rPr>
              <a:t>Only for the four reasons in module 13</a:t>
            </a:r>
            <a:endParaRPr lang="en-US" sz="1150" dirty="0"/>
          </a:p>
        </p:txBody>
      </p:sp>
      <p:sp>
        <p:nvSpPr>
          <p:cNvPr id="28" name="Shape 26"/>
          <p:cNvSpPr/>
          <p:nvPr/>
        </p:nvSpPr>
        <p:spPr>
          <a:xfrm>
            <a:off x="566928" y="5687568"/>
            <a:ext cx="11057839" cy="676656"/>
          </a:xfrm>
          <a:prstGeom prst="roundRect">
            <a:avLst>
              <a:gd name="adj" fmla="val 12162"/>
            </a:avLst>
          </a:prstGeom>
          <a:solidFill>
            <a:srgbClr val="FFF4E0"/>
          </a:solidFill>
          <a:ln w="12700">
            <a:solidFill>
              <a:srgbClr val="F3DCB0"/>
            </a:solidFill>
            <a:prstDash val="solid"/>
          </a:ln>
        </p:spPr>
      </p:sp>
      <p:sp>
        <p:nvSpPr>
          <p:cNvPr id="29" name="Shape 27"/>
          <p:cNvSpPr/>
          <p:nvPr/>
        </p:nvSpPr>
        <p:spPr>
          <a:xfrm>
            <a:off x="841248" y="5833872"/>
            <a:ext cx="384048" cy="384048"/>
          </a:xfrm>
          <a:prstGeom prst="ellipse">
            <a:avLst/>
          </a:prstGeom>
          <a:solidFill>
            <a:srgbClr val="F5A524"/>
          </a:solidFill>
          <a:ln w="12700">
            <a:solidFill>
              <a:srgbClr val="F5A524"/>
            </a:solidFill>
            <a:prstDash val="solid"/>
          </a:ln>
        </p:spPr>
      </p:sp>
      <p:pic>
        <p:nvPicPr>
          <p:cNvPr id="30" name="Image 0" descr="preencoded.png">    </p:cNvPr>
          <p:cNvPicPr>
            <a:picLocks noChangeAspect="1"/>
          </p:cNvPicPr>
          <p:nvPr/>
        </p:nvPicPr>
        <p:blipFill>
          <a:blip r:embed="rId1"/>
          <a:stretch>
            <a:fillRect/>
          </a:stretch>
        </p:blipFill>
        <p:spPr>
          <a:xfrm>
            <a:off x="937260" y="5929884"/>
            <a:ext cx="192024" cy="192024"/>
          </a:xfrm>
          <a:prstGeom prst="rect">
            <a:avLst/>
          </a:prstGeom>
        </p:spPr>
      </p:pic>
      <p:sp>
        <p:nvSpPr>
          <p:cNvPr id="31" name="Text 28"/>
          <p:cNvSpPr/>
          <p:nvPr/>
        </p:nvSpPr>
        <p:spPr>
          <a:xfrm>
            <a:off x="1371600" y="5742432"/>
            <a:ext cx="9960559" cy="566928"/>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Complexity is a cost you pay every day it is in production. Add a rung only when the one below it has actually failed you.</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17 · PROCESS RE-ENGINEERING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600" b="1" dirty="0">
                <a:solidFill>
                  <a:srgbClr val="141235"/>
                </a:solidFill>
                <a:latin typeface="Cambria" pitchFamily="34" charset="0"/>
                <a:ea typeface="Cambria" pitchFamily="34" charset="-122"/>
                <a:cs typeface="Cambria" pitchFamily="34" charset="-120"/>
              </a:rPr>
              <a:t>Do you need an agent at all? Five questions, in this order.</a:t>
            </a:r>
            <a:endParaRPr lang="en-US" sz="2600" dirty="0"/>
          </a:p>
        </p:txBody>
      </p:sp>
      <p:sp>
        <p:nvSpPr>
          <p:cNvPr id="4" name="Shape 2"/>
          <p:cNvSpPr/>
          <p:nvPr/>
        </p:nvSpPr>
        <p:spPr>
          <a:xfrm>
            <a:off x="566928" y="1737360"/>
            <a:ext cx="5029200" cy="676656"/>
          </a:xfrm>
          <a:prstGeom prst="roundRect">
            <a:avLst>
              <a:gd name="adj" fmla="val 10811"/>
            </a:avLst>
          </a:prstGeom>
          <a:solidFill>
            <a:srgbClr val="FFFFFF"/>
          </a:solidFill>
          <a:ln w="17780">
            <a:solidFill>
              <a:srgbClr val="8E82F5"/>
            </a:solidFill>
            <a:prstDash val="solid"/>
          </a:ln>
          <a:effectLst>
            <a:outerShdw sx="100000" sy="100000" kx="0" ky="0" algn="bl" rotWithShape="0" blurRad="101600" dist="508" dir="5400000">
              <a:srgbClr val="1B1A4A">
                <a:alpha val="7000"/>
              </a:srgbClr>
            </a:outerShdw>
          </a:effectLst>
        </p:spPr>
      </p:sp>
      <p:sp>
        <p:nvSpPr>
          <p:cNvPr id="5" name="Text 3"/>
          <p:cNvSpPr/>
          <p:nvPr/>
        </p:nvSpPr>
        <p:spPr>
          <a:xfrm>
            <a:off x="749808" y="1737360"/>
            <a:ext cx="365760" cy="676656"/>
          </a:xfrm>
          <a:prstGeom prst="rect">
            <a:avLst/>
          </a:prstGeom>
          <a:noFill/>
          <a:ln/>
        </p:spPr>
        <p:txBody>
          <a:bodyPr wrap="square" lIns="0" tIns="0" rIns="0" bIns="0" rtlCol="0" anchor="ctr"/>
          <a:lstStyle/>
          <a:p>
            <a:pPr algn="ctr" indent="0" marL="0">
              <a:buNone/>
            </a:pPr>
            <a:r>
              <a:rPr lang="en-US" sz="2000" b="1" dirty="0">
                <a:solidFill>
                  <a:srgbClr val="8E82F5"/>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188720" y="1737360"/>
            <a:ext cx="4206240" cy="676656"/>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Can you write the steps down?</a:t>
            </a:r>
            <a:endParaRPr lang="en-US" sz="1300" dirty="0"/>
          </a:p>
        </p:txBody>
      </p:sp>
      <p:sp>
        <p:nvSpPr>
          <p:cNvPr id="7" name="Shape 5"/>
          <p:cNvSpPr/>
          <p:nvPr/>
        </p:nvSpPr>
        <p:spPr>
          <a:xfrm>
            <a:off x="5650992" y="2075688"/>
            <a:ext cx="457200" cy="0"/>
          </a:xfrm>
          <a:prstGeom prst="line">
            <a:avLst/>
          </a:prstGeom>
          <a:noFill/>
          <a:ln w="25400">
            <a:solidFill>
              <a:srgbClr val="D93A3F"/>
            </a:solidFill>
            <a:prstDash val="solid"/>
            <a:headEnd type="none"/>
            <a:tailEnd type="triangle"/>
          </a:ln>
        </p:spPr>
      </p:sp>
      <p:sp>
        <p:nvSpPr>
          <p:cNvPr id="8" name="Text 6"/>
          <p:cNvSpPr/>
          <p:nvPr/>
        </p:nvSpPr>
        <p:spPr>
          <a:xfrm>
            <a:off x="5596128" y="1783080"/>
            <a:ext cx="566928" cy="219456"/>
          </a:xfrm>
          <a:prstGeom prst="rect">
            <a:avLst/>
          </a:prstGeom>
          <a:noFill/>
          <a:ln/>
        </p:spPr>
        <p:txBody>
          <a:bodyPr wrap="square" lIns="0" tIns="0" rIns="0" bIns="0" rtlCol="0" anchor="ctr"/>
          <a:lstStyle/>
          <a:p>
            <a:pPr algn="ctr" indent="0" marL="0">
              <a:buNone/>
            </a:pPr>
            <a:r>
              <a:rPr lang="en-US" sz="900" b="1" spc="120" kern="0" dirty="0">
                <a:solidFill>
                  <a:srgbClr val="D93A3F"/>
                </a:solidFill>
                <a:latin typeface="Calibri" pitchFamily="34" charset="0"/>
                <a:ea typeface="Calibri" pitchFamily="34" charset="-122"/>
                <a:cs typeface="Calibri" pitchFamily="34" charset="-120"/>
              </a:rPr>
              <a:t>YES</a:t>
            </a:r>
            <a:endParaRPr lang="en-US" sz="900" dirty="0"/>
          </a:p>
        </p:txBody>
      </p:sp>
      <p:sp>
        <p:nvSpPr>
          <p:cNvPr id="9" name="Shape 7"/>
          <p:cNvSpPr/>
          <p:nvPr/>
        </p:nvSpPr>
        <p:spPr>
          <a:xfrm>
            <a:off x="6181344" y="1737360"/>
            <a:ext cx="5443423" cy="676656"/>
          </a:xfrm>
          <a:prstGeom prst="roundRect">
            <a:avLst>
              <a:gd name="adj" fmla="val 10811"/>
            </a:avLst>
          </a:prstGeom>
          <a:solidFill>
            <a:srgbClr val="FDECEC"/>
          </a:solidFill>
          <a:ln w="12700">
            <a:solidFill>
              <a:srgbClr val="F1C9C9"/>
            </a:solidFill>
            <a:prstDash val="solid"/>
          </a:ln>
        </p:spPr>
      </p:sp>
      <p:sp>
        <p:nvSpPr>
          <p:cNvPr id="10" name="Shape 8"/>
          <p:cNvSpPr/>
          <p:nvPr/>
        </p:nvSpPr>
        <p:spPr>
          <a:xfrm>
            <a:off x="6382512" y="1892808"/>
            <a:ext cx="365760" cy="365760"/>
          </a:xfrm>
          <a:prstGeom prst="ellipse">
            <a:avLst/>
          </a:prstGeom>
          <a:solidFill>
            <a:srgbClr val="D93A3F"/>
          </a:solidFill>
          <a:ln w="12700">
            <a:solidFill>
              <a:srgbClr val="D93A3F"/>
            </a:solidFill>
            <a:prstDash val="solid"/>
          </a:ln>
        </p:spPr>
      </p:sp>
      <p:pic>
        <p:nvPicPr>
          <p:cNvPr id="11" name="Image 0" descr="preencoded.png">    </p:cNvPr>
          <p:cNvPicPr>
            <a:picLocks noChangeAspect="1"/>
          </p:cNvPicPr>
          <p:nvPr/>
        </p:nvPicPr>
        <p:blipFill>
          <a:blip r:embed="rId1"/>
          <a:stretch>
            <a:fillRect/>
          </a:stretch>
        </p:blipFill>
        <p:spPr>
          <a:xfrm>
            <a:off x="6473952" y="1984248"/>
            <a:ext cx="182880" cy="182880"/>
          </a:xfrm>
          <a:prstGeom prst="rect">
            <a:avLst/>
          </a:prstGeom>
        </p:spPr>
      </p:pic>
      <p:sp>
        <p:nvSpPr>
          <p:cNvPr id="12" name="Text 9"/>
          <p:cNvSpPr/>
          <p:nvPr/>
        </p:nvSpPr>
        <p:spPr>
          <a:xfrm>
            <a:off x="6876288" y="1737360"/>
            <a:ext cx="4547311" cy="676656"/>
          </a:xfrm>
          <a:prstGeom prst="rect">
            <a:avLst/>
          </a:prstGeom>
          <a:noFill/>
          <a:ln/>
        </p:spPr>
        <p:txBody>
          <a:bodyPr wrap="square" lIns="0" tIns="0" rIns="0" bIns="0" rtlCol="0" anchor="ctr"/>
          <a:lstStyle/>
          <a:p>
            <a:pPr indent="0" marL="0">
              <a:lnSpc>
                <a:spcPct val="110000"/>
              </a:lnSpc>
              <a:buNone/>
            </a:pPr>
            <a:r>
              <a:rPr lang="en-US" sz="1200" dirty="0">
                <a:solidFill>
                  <a:srgbClr val="3B3760"/>
                </a:solidFill>
                <a:latin typeface="Calibri" pitchFamily="34" charset="0"/>
                <a:ea typeface="Calibri" pitchFamily="34" charset="-122"/>
                <a:cs typeface="Calibri" pitchFamily="34" charset="-120"/>
              </a:rPr>
              <a:t>Build a workflow. Cheaper, testable, and it never surprises anyone.</a:t>
            </a:r>
            <a:endParaRPr lang="en-US" sz="1200" dirty="0"/>
          </a:p>
        </p:txBody>
      </p:sp>
      <p:sp>
        <p:nvSpPr>
          <p:cNvPr id="13" name="Shape 10"/>
          <p:cNvSpPr/>
          <p:nvPr/>
        </p:nvSpPr>
        <p:spPr>
          <a:xfrm>
            <a:off x="3081528" y="2418588"/>
            <a:ext cx="0" cy="114300"/>
          </a:xfrm>
          <a:prstGeom prst="line">
            <a:avLst/>
          </a:prstGeom>
          <a:noFill/>
          <a:ln w="20320">
            <a:solidFill>
              <a:srgbClr val="8E82F5"/>
            </a:solidFill>
            <a:prstDash val="solid"/>
            <a:headEnd type="none"/>
            <a:tailEnd type="triangle"/>
          </a:ln>
        </p:spPr>
      </p:sp>
      <p:sp>
        <p:nvSpPr>
          <p:cNvPr id="14" name="Shape 11"/>
          <p:cNvSpPr/>
          <p:nvPr/>
        </p:nvSpPr>
        <p:spPr>
          <a:xfrm>
            <a:off x="566928" y="2523744"/>
            <a:ext cx="5029200" cy="676656"/>
          </a:xfrm>
          <a:prstGeom prst="roundRect">
            <a:avLst>
              <a:gd name="adj" fmla="val 10811"/>
            </a:avLst>
          </a:prstGeom>
          <a:solidFill>
            <a:srgbClr val="FFFFFF"/>
          </a:solidFill>
          <a:ln w="17780">
            <a:solidFill>
              <a:srgbClr val="8E82F5"/>
            </a:solidFill>
            <a:prstDash val="solid"/>
          </a:ln>
          <a:effectLst>
            <a:outerShdw sx="100000" sy="100000" kx="0" ky="0" algn="bl" rotWithShape="0" blurRad="101600" dist="508" dir="5400000">
              <a:srgbClr val="1B1A4A">
                <a:alpha val="7000"/>
              </a:srgbClr>
            </a:outerShdw>
          </a:effectLst>
        </p:spPr>
      </p:sp>
      <p:sp>
        <p:nvSpPr>
          <p:cNvPr id="15" name="Text 12"/>
          <p:cNvSpPr/>
          <p:nvPr/>
        </p:nvSpPr>
        <p:spPr>
          <a:xfrm>
            <a:off x="749808" y="2523744"/>
            <a:ext cx="365760" cy="676656"/>
          </a:xfrm>
          <a:prstGeom prst="rect">
            <a:avLst/>
          </a:prstGeom>
          <a:noFill/>
          <a:ln/>
        </p:spPr>
        <p:txBody>
          <a:bodyPr wrap="square" lIns="0" tIns="0" rIns="0" bIns="0" rtlCol="0" anchor="ctr"/>
          <a:lstStyle/>
          <a:p>
            <a:pPr algn="ctr" indent="0" marL="0">
              <a:buNone/>
            </a:pPr>
            <a:r>
              <a:rPr lang="en-US" sz="2000" b="1" dirty="0">
                <a:solidFill>
                  <a:srgbClr val="8E82F5"/>
                </a:solidFill>
                <a:latin typeface="Cambria" pitchFamily="34" charset="0"/>
                <a:ea typeface="Cambria" pitchFamily="34" charset="-122"/>
                <a:cs typeface="Cambria" pitchFamily="34" charset="-120"/>
              </a:rPr>
              <a:t>2</a:t>
            </a:r>
            <a:endParaRPr lang="en-US" sz="2000" dirty="0"/>
          </a:p>
        </p:txBody>
      </p:sp>
      <p:sp>
        <p:nvSpPr>
          <p:cNvPr id="16" name="Text 13"/>
          <p:cNvSpPr/>
          <p:nvPr/>
        </p:nvSpPr>
        <p:spPr>
          <a:xfrm>
            <a:off x="1188720" y="2523744"/>
            <a:ext cx="4206240" cy="676656"/>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Is the context written down anywhere a tool could read it?</a:t>
            </a:r>
            <a:endParaRPr lang="en-US" sz="1300" dirty="0"/>
          </a:p>
        </p:txBody>
      </p:sp>
      <p:sp>
        <p:nvSpPr>
          <p:cNvPr id="17" name="Shape 14"/>
          <p:cNvSpPr/>
          <p:nvPr/>
        </p:nvSpPr>
        <p:spPr>
          <a:xfrm>
            <a:off x="5650992" y="2862072"/>
            <a:ext cx="457200" cy="0"/>
          </a:xfrm>
          <a:prstGeom prst="line">
            <a:avLst/>
          </a:prstGeom>
          <a:noFill/>
          <a:ln w="25400">
            <a:solidFill>
              <a:srgbClr val="D93A3F"/>
            </a:solidFill>
            <a:prstDash val="solid"/>
            <a:headEnd type="none"/>
            <a:tailEnd type="triangle"/>
          </a:ln>
        </p:spPr>
      </p:sp>
      <p:sp>
        <p:nvSpPr>
          <p:cNvPr id="18" name="Text 15"/>
          <p:cNvSpPr/>
          <p:nvPr/>
        </p:nvSpPr>
        <p:spPr>
          <a:xfrm>
            <a:off x="5596128" y="2569464"/>
            <a:ext cx="566928" cy="219456"/>
          </a:xfrm>
          <a:prstGeom prst="rect">
            <a:avLst/>
          </a:prstGeom>
          <a:noFill/>
          <a:ln/>
        </p:spPr>
        <p:txBody>
          <a:bodyPr wrap="square" lIns="0" tIns="0" rIns="0" bIns="0" rtlCol="0" anchor="ctr"/>
          <a:lstStyle/>
          <a:p>
            <a:pPr algn="ctr" indent="0" marL="0">
              <a:buNone/>
            </a:pPr>
            <a:r>
              <a:rPr lang="en-US" sz="900" b="1" spc="120" kern="0" dirty="0">
                <a:solidFill>
                  <a:srgbClr val="D93A3F"/>
                </a:solidFill>
                <a:latin typeface="Calibri" pitchFamily="34" charset="0"/>
                <a:ea typeface="Calibri" pitchFamily="34" charset="-122"/>
                <a:cs typeface="Calibri" pitchFamily="34" charset="-120"/>
              </a:rPr>
              <a:t>NO</a:t>
            </a:r>
            <a:endParaRPr lang="en-US" sz="900" dirty="0"/>
          </a:p>
        </p:txBody>
      </p:sp>
      <p:sp>
        <p:nvSpPr>
          <p:cNvPr id="19" name="Shape 16"/>
          <p:cNvSpPr/>
          <p:nvPr/>
        </p:nvSpPr>
        <p:spPr>
          <a:xfrm>
            <a:off x="6181344" y="2523744"/>
            <a:ext cx="5443423" cy="676656"/>
          </a:xfrm>
          <a:prstGeom prst="roundRect">
            <a:avLst>
              <a:gd name="adj" fmla="val 10811"/>
            </a:avLst>
          </a:prstGeom>
          <a:solidFill>
            <a:srgbClr val="FDECEC"/>
          </a:solidFill>
          <a:ln w="12700">
            <a:solidFill>
              <a:srgbClr val="F1C9C9"/>
            </a:solidFill>
            <a:prstDash val="solid"/>
          </a:ln>
        </p:spPr>
      </p:sp>
      <p:sp>
        <p:nvSpPr>
          <p:cNvPr id="20" name="Shape 17"/>
          <p:cNvSpPr/>
          <p:nvPr/>
        </p:nvSpPr>
        <p:spPr>
          <a:xfrm>
            <a:off x="6382512" y="2679192"/>
            <a:ext cx="365760" cy="365760"/>
          </a:xfrm>
          <a:prstGeom prst="ellipse">
            <a:avLst/>
          </a:prstGeom>
          <a:solidFill>
            <a:srgbClr val="D93A3F"/>
          </a:solidFill>
          <a:ln w="12700">
            <a:solidFill>
              <a:srgbClr val="D93A3F"/>
            </a:solidFill>
            <a:prstDash val="solid"/>
          </a:ln>
        </p:spPr>
      </p:sp>
      <p:pic>
        <p:nvPicPr>
          <p:cNvPr id="21" name="Image 1" descr="preencoded.png">    </p:cNvPr>
          <p:cNvPicPr>
            <a:picLocks noChangeAspect="1"/>
          </p:cNvPicPr>
          <p:nvPr/>
        </p:nvPicPr>
        <p:blipFill>
          <a:blip r:embed="rId2"/>
          <a:stretch>
            <a:fillRect/>
          </a:stretch>
        </p:blipFill>
        <p:spPr>
          <a:xfrm>
            <a:off x="6473952" y="2770632"/>
            <a:ext cx="182880" cy="182880"/>
          </a:xfrm>
          <a:prstGeom prst="rect">
            <a:avLst/>
          </a:prstGeom>
        </p:spPr>
      </p:pic>
      <p:sp>
        <p:nvSpPr>
          <p:cNvPr id="22" name="Text 18"/>
          <p:cNvSpPr/>
          <p:nvPr/>
        </p:nvSpPr>
        <p:spPr>
          <a:xfrm>
            <a:off x="6876288" y="2523744"/>
            <a:ext cx="4547311" cy="676656"/>
          </a:xfrm>
          <a:prstGeom prst="rect">
            <a:avLst/>
          </a:prstGeom>
          <a:noFill/>
          <a:ln/>
        </p:spPr>
        <p:txBody>
          <a:bodyPr wrap="square" lIns="0" tIns="0" rIns="0" bIns="0" rtlCol="0" anchor="ctr"/>
          <a:lstStyle/>
          <a:p>
            <a:pPr indent="0" marL="0">
              <a:lnSpc>
                <a:spcPct val="110000"/>
              </a:lnSpc>
              <a:buNone/>
            </a:pPr>
            <a:r>
              <a:rPr lang="en-US" sz="1200" dirty="0">
                <a:solidFill>
                  <a:srgbClr val="3B3760"/>
                </a:solidFill>
                <a:latin typeface="Calibri" pitchFamily="34" charset="0"/>
                <a:ea typeface="Calibri" pitchFamily="34" charset="-122"/>
                <a:cs typeface="Calibri" pitchFamily="34" charset="-120"/>
              </a:rPr>
              <a:t>Stop. Fix the data or the process first — no agent can retrieve what nobody recorded.</a:t>
            </a:r>
            <a:endParaRPr lang="en-US" sz="1200" dirty="0"/>
          </a:p>
        </p:txBody>
      </p:sp>
      <p:sp>
        <p:nvSpPr>
          <p:cNvPr id="23" name="Shape 19"/>
          <p:cNvSpPr/>
          <p:nvPr/>
        </p:nvSpPr>
        <p:spPr>
          <a:xfrm>
            <a:off x="3081528" y="3204972"/>
            <a:ext cx="0" cy="114300"/>
          </a:xfrm>
          <a:prstGeom prst="line">
            <a:avLst/>
          </a:prstGeom>
          <a:noFill/>
          <a:ln w="20320">
            <a:solidFill>
              <a:srgbClr val="8E82F5"/>
            </a:solidFill>
            <a:prstDash val="solid"/>
            <a:headEnd type="none"/>
            <a:tailEnd type="triangle"/>
          </a:ln>
        </p:spPr>
      </p:sp>
      <p:sp>
        <p:nvSpPr>
          <p:cNvPr id="24" name="Shape 20"/>
          <p:cNvSpPr/>
          <p:nvPr/>
        </p:nvSpPr>
        <p:spPr>
          <a:xfrm>
            <a:off x="566928" y="3310128"/>
            <a:ext cx="5029200" cy="676656"/>
          </a:xfrm>
          <a:prstGeom prst="roundRect">
            <a:avLst>
              <a:gd name="adj" fmla="val 10811"/>
            </a:avLst>
          </a:prstGeom>
          <a:solidFill>
            <a:srgbClr val="FFFFFF"/>
          </a:solidFill>
          <a:ln w="17780">
            <a:solidFill>
              <a:srgbClr val="8E82F5"/>
            </a:solidFill>
            <a:prstDash val="solid"/>
          </a:ln>
          <a:effectLst>
            <a:outerShdw sx="100000" sy="100000" kx="0" ky="0" algn="bl" rotWithShape="0" blurRad="101600" dist="508" dir="5400000">
              <a:srgbClr val="1B1A4A">
                <a:alpha val="7000"/>
              </a:srgbClr>
            </a:outerShdw>
          </a:effectLst>
        </p:spPr>
      </p:sp>
      <p:sp>
        <p:nvSpPr>
          <p:cNvPr id="25" name="Text 21"/>
          <p:cNvSpPr/>
          <p:nvPr/>
        </p:nvSpPr>
        <p:spPr>
          <a:xfrm>
            <a:off x="749808" y="3310128"/>
            <a:ext cx="365760" cy="676656"/>
          </a:xfrm>
          <a:prstGeom prst="rect">
            <a:avLst/>
          </a:prstGeom>
          <a:noFill/>
          <a:ln/>
        </p:spPr>
        <p:txBody>
          <a:bodyPr wrap="square" lIns="0" tIns="0" rIns="0" bIns="0" rtlCol="0" anchor="ctr"/>
          <a:lstStyle/>
          <a:p>
            <a:pPr algn="ctr" indent="0" marL="0">
              <a:buNone/>
            </a:pPr>
            <a:r>
              <a:rPr lang="en-US" sz="2000" b="1" dirty="0">
                <a:solidFill>
                  <a:srgbClr val="8E82F5"/>
                </a:solidFill>
                <a:latin typeface="Cambria" pitchFamily="34" charset="0"/>
                <a:ea typeface="Cambria" pitchFamily="34" charset="-122"/>
                <a:cs typeface="Cambria" pitchFamily="34" charset="-120"/>
              </a:rPr>
              <a:t>3</a:t>
            </a:r>
            <a:endParaRPr lang="en-US" sz="2000" dirty="0"/>
          </a:p>
        </p:txBody>
      </p:sp>
      <p:sp>
        <p:nvSpPr>
          <p:cNvPr id="26" name="Text 22"/>
          <p:cNvSpPr/>
          <p:nvPr/>
        </p:nvSpPr>
        <p:spPr>
          <a:xfrm>
            <a:off x="1188720" y="3310128"/>
            <a:ext cx="4206240" cy="676656"/>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Is a wrong step recoverable?</a:t>
            </a:r>
            <a:endParaRPr lang="en-US" sz="1300" dirty="0"/>
          </a:p>
        </p:txBody>
      </p:sp>
      <p:sp>
        <p:nvSpPr>
          <p:cNvPr id="27" name="Shape 23"/>
          <p:cNvSpPr/>
          <p:nvPr/>
        </p:nvSpPr>
        <p:spPr>
          <a:xfrm>
            <a:off x="5650992" y="3648456"/>
            <a:ext cx="457200" cy="0"/>
          </a:xfrm>
          <a:prstGeom prst="line">
            <a:avLst/>
          </a:prstGeom>
          <a:noFill/>
          <a:ln w="25400">
            <a:solidFill>
              <a:srgbClr val="D93A3F"/>
            </a:solidFill>
            <a:prstDash val="solid"/>
            <a:headEnd type="none"/>
            <a:tailEnd type="triangle"/>
          </a:ln>
        </p:spPr>
      </p:sp>
      <p:sp>
        <p:nvSpPr>
          <p:cNvPr id="28" name="Text 24"/>
          <p:cNvSpPr/>
          <p:nvPr/>
        </p:nvSpPr>
        <p:spPr>
          <a:xfrm>
            <a:off x="5596128" y="3355848"/>
            <a:ext cx="566928" cy="219456"/>
          </a:xfrm>
          <a:prstGeom prst="rect">
            <a:avLst/>
          </a:prstGeom>
          <a:noFill/>
          <a:ln/>
        </p:spPr>
        <p:txBody>
          <a:bodyPr wrap="square" lIns="0" tIns="0" rIns="0" bIns="0" rtlCol="0" anchor="ctr"/>
          <a:lstStyle/>
          <a:p>
            <a:pPr algn="ctr" indent="0" marL="0">
              <a:buNone/>
            </a:pPr>
            <a:r>
              <a:rPr lang="en-US" sz="900" b="1" spc="120" kern="0" dirty="0">
                <a:solidFill>
                  <a:srgbClr val="D93A3F"/>
                </a:solidFill>
                <a:latin typeface="Calibri" pitchFamily="34" charset="0"/>
                <a:ea typeface="Calibri" pitchFamily="34" charset="-122"/>
                <a:cs typeface="Calibri" pitchFamily="34" charset="-120"/>
              </a:rPr>
              <a:t>NO</a:t>
            </a:r>
            <a:endParaRPr lang="en-US" sz="900" dirty="0"/>
          </a:p>
        </p:txBody>
      </p:sp>
      <p:sp>
        <p:nvSpPr>
          <p:cNvPr id="29" name="Shape 25"/>
          <p:cNvSpPr/>
          <p:nvPr/>
        </p:nvSpPr>
        <p:spPr>
          <a:xfrm>
            <a:off x="6181344" y="3310128"/>
            <a:ext cx="5443423" cy="676656"/>
          </a:xfrm>
          <a:prstGeom prst="roundRect">
            <a:avLst>
              <a:gd name="adj" fmla="val 10811"/>
            </a:avLst>
          </a:prstGeom>
          <a:solidFill>
            <a:srgbClr val="FDECEC"/>
          </a:solidFill>
          <a:ln w="12700">
            <a:solidFill>
              <a:srgbClr val="F1C9C9"/>
            </a:solidFill>
            <a:prstDash val="solid"/>
          </a:ln>
        </p:spPr>
      </p:sp>
      <p:sp>
        <p:nvSpPr>
          <p:cNvPr id="30" name="Shape 26"/>
          <p:cNvSpPr/>
          <p:nvPr/>
        </p:nvSpPr>
        <p:spPr>
          <a:xfrm>
            <a:off x="6382512" y="3465576"/>
            <a:ext cx="365760" cy="365760"/>
          </a:xfrm>
          <a:prstGeom prst="ellipse">
            <a:avLst/>
          </a:prstGeom>
          <a:solidFill>
            <a:srgbClr val="D93A3F"/>
          </a:solidFill>
          <a:ln w="12700">
            <a:solidFill>
              <a:srgbClr val="D93A3F"/>
            </a:solidFill>
            <a:prstDash val="solid"/>
          </a:ln>
        </p:spPr>
      </p:sp>
      <p:pic>
        <p:nvPicPr>
          <p:cNvPr id="31" name="Image 2" descr="preencoded.png">    </p:cNvPr>
          <p:cNvPicPr>
            <a:picLocks noChangeAspect="1"/>
          </p:cNvPicPr>
          <p:nvPr/>
        </p:nvPicPr>
        <p:blipFill>
          <a:blip r:embed="rId3"/>
          <a:stretch>
            <a:fillRect/>
          </a:stretch>
        </p:blipFill>
        <p:spPr>
          <a:xfrm>
            <a:off x="6473952" y="3557016"/>
            <a:ext cx="182880" cy="182880"/>
          </a:xfrm>
          <a:prstGeom prst="rect">
            <a:avLst/>
          </a:prstGeom>
        </p:spPr>
      </p:pic>
      <p:sp>
        <p:nvSpPr>
          <p:cNvPr id="32" name="Text 27"/>
          <p:cNvSpPr/>
          <p:nvPr/>
        </p:nvSpPr>
        <p:spPr>
          <a:xfrm>
            <a:off x="6876288" y="3310128"/>
            <a:ext cx="4547311" cy="676656"/>
          </a:xfrm>
          <a:prstGeom prst="rect">
            <a:avLst/>
          </a:prstGeom>
          <a:noFill/>
          <a:ln/>
        </p:spPr>
        <p:txBody>
          <a:bodyPr wrap="square" lIns="0" tIns="0" rIns="0" bIns="0" rtlCol="0" anchor="ctr"/>
          <a:lstStyle/>
          <a:p>
            <a:pPr indent="0" marL="0">
              <a:lnSpc>
                <a:spcPct val="110000"/>
              </a:lnSpc>
              <a:buNone/>
            </a:pPr>
            <a:r>
              <a:rPr lang="en-US" sz="1200" dirty="0">
                <a:solidFill>
                  <a:srgbClr val="3B3760"/>
                </a:solidFill>
                <a:latin typeface="Calibri" pitchFamily="34" charset="0"/>
                <a:ea typeface="Calibri" pitchFamily="34" charset="-122"/>
                <a:cs typeface="Calibri" pitchFamily="34" charset="-120"/>
              </a:rPr>
              <a:t>Then it cannot sit above “draft”. Put a person on the gate, or do not build it.</a:t>
            </a:r>
            <a:endParaRPr lang="en-US" sz="1200" dirty="0"/>
          </a:p>
        </p:txBody>
      </p:sp>
      <p:sp>
        <p:nvSpPr>
          <p:cNvPr id="33" name="Shape 28"/>
          <p:cNvSpPr/>
          <p:nvPr/>
        </p:nvSpPr>
        <p:spPr>
          <a:xfrm>
            <a:off x="3081528" y="3991356"/>
            <a:ext cx="0" cy="114300"/>
          </a:xfrm>
          <a:prstGeom prst="line">
            <a:avLst/>
          </a:prstGeom>
          <a:noFill/>
          <a:ln w="20320">
            <a:solidFill>
              <a:srgbClr val="8E82F5"/>
            </a:solidFill>
            <a:prstDash val="solid"/>
            <a:headEnd type="none"/>
            <a:tailEnd type="triangle"/>
          </a:ln>
        </p:spPr>
      </p:sp>
      <p:sp>
        <p:nvSpPr>
          <p:cNvPr id="34" name="Shape 29"/>
          <p:cNvSpPr/>
          <p:nvPr/>
        </p:nvSpPr>
        <p:spPr>
          <a:xfrm>
            <a:off x="566928" y="4096512"/>
            <a:ext cx="5029200" cy="676656"/>
          </a:xfrm>
          <a:prstGeom prst="roundRect">
            <a:avLst>
              <a:gd name="adj" fmla="val 10811"/>
            </a:avLst>
          </a:prstGeom>
          <a:solidFill>
            <a:srgbClr val="FFFFFF"/>
          </a:solidFill>
          <a:ln w="17780">
            <a:solidFill>
              <a:srgbClr val="8E82F5"/>
            </a:solidFill>
            <a:prstDash val="solid"/>
          </a:ln>
          <a:effectLst>
            <a:outerShdw sx="100000" sy="100000" kx="0" ky="0" algn="bl" rotWithShape="0" blurRad="101600" dist="508" dir="5400000">
              <a:srgbClr val="1B1A4A">
                <a:alpha val="7000"/>
              </a:srgbClr>
            </a:outerShdw>
          </a:effectLst>
        </p:spPr>
      </p:sp>
      <p:sp>
        <p:nvSpPr>
          <p:cNvPr id="35" name="Text 30"/>
          <p:cNvSpPr/>
          <p:nvPr/>
        </p:nvSpPr>
        <p:spPr>
          <a:xfrm>
            <a:off x="749808" y="4096512"/>
            <a:ext cx="365760" cy="676656"/>
          </a:xfrm>
          <a:prstGeom prst="rect">
            <a:avLst/>
          </a:prstGeom>
          <a:noFill/>
          <a:ln/>
        </p:spPr>
        <p:txBody>
          <a:bodyPr wrap="square" lIns="0" tIns="0" rIns="0" bIns="0" rtlCol="0" anchor="ctr"/>
          <a:lstStyle/>
          <a:p>
            <a:pPr algn="ctr" indent="0" marL="0">
              <a:buNone/>
            </a:pPr>
            <a:r>
              <a:rPr lang="en-US" sz="2000" b="1" dirty="0">
                <a:solidFill>
                  <a:srgbClr val="8E82F5"/>
                </a:solidFill>
                <a:latin typeface="Cambria" pitchFamily="34" charset="0"/>
                <a:ea typeface="Cambria" pitchFamily="34" charset="-122"/>
                <a:cs typeface="Cambria" pitchFamily="34" charset="-120"/>
              </a:rPr>
              <a:t>4</a:t>
            </a:r>
            <a:endParaRPr lang="en-US" sz="2000" dirty="0"/>
          </a:p>
        </p:txBody>
      </p:sp>
      <p:sp>
        <p:nvSpPr>
          <p:cNvPr id="36" name="Text 31"/>
          <p:cNvSpPr/>
          <p:nvPr/>
        </p:nvSpPr>
        <p:spPr>
          <a:xfrm>
            <a:off x="1188720" y="4096512"/>
            <a:ext cx="4206240" cy="676656"/>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Does the volume justify the build and the running cost?</a:t>
            </a:r>
            <a:endParaRPr lang="en-US" sz="1300" dirty="0"/>
          </a:p>
        </p:txBody>
      </p:sp>
      <p:sp>
        <p:nvSpPr>
          <p:cNvPr id="37" name="Shape 32"/>
          <p:cNvSpPr/>
          <p:nvPr/>
        </p:nvSpPr>
        <p:spPr>
          <a:xfrm>
            <a:off x="5650992" y="4434840"/>
            <a:ext cx="457200" cy="0"/>
          </a:xfrm>
          <a:prstGeom prst="line">
            <a:avLst/>
          </a:prstGeom>
          <a:noFill/>
          <a:ln w="25400">
            <a:solidFill>
              <a:srgbClr val="D93A3F"/>
            </a:solidFill>
            <a:prstDash val="solid"/>
            <a:headEnd type="none"/>
            <a:tailEnd type="triangle"/>
          </a:ln>
        </p:spPr>
      </p:sp>
      <p:sp>
        <p:nvSpPr>
          <p:cNvPr id="38" name="Text 33"/>
          <p:cNvSpPr/>
          <p:nvPr/>
        </p:nvSpPr>
        <p:spPr>
          <a:xfrm>
            <a:off x="5596128" y="4142232"/>
            <a:ext cx="566928" cy="219456"/>
          </a:xfrm>
          <a:prstGeom prst="rect">
            <a:avLst/>
          </a:prstGeom>
          <a:noFill/>
          <a:ln/>
        </p:spPr>
        <p:txBody>
          <a:bodyPr wrap="square" lIns="0" tIns="0" rIns="0" bIns="0" rtlCol="0" anchor="ctr"/>
          <a:lstStyle/>
          <a:p>
            <a:pPr algn="ctr" indent="0" marL="0">
              <a:buNone/>
            </a:pPr>
            <a:r>
              <a:rPr lang="en-US" sz="900" b="1" spc="120" kern="0" dirty="0">
                <a:solidFill>
                  <a:srgbClr val="D93A3F"/>
                </a:solidFill>
                <a:latin typeface="Calibri" pitchFamily="34" charset="0"/>
                <a:ea typeface="Calibri" pitchFamily="34" charset="-122"/>
                <a:cs typeface="Calibri" pitchFamily="34" charset="-120"/>
              </a:rPr>
              <a:t>NO</a:t>
            </a:r>
            <a:endParaRPr lang="en-US" sz="900" dirty="0"/>
          </a:p>
        </p:txBody>
      </p:sp>
      <p:sp>
        <p:nvSpPr>
          <p:cNvPr id="39" name="Shape 34"/>
          <p:cNvSpPr/>
          <p:nvPr/>
        </p:nvSpPr>
        <p:spPr>
          <a:xfrm>
            <a:off x="6181344" y="4096512"/>
            <a:ext cx="5443423" cy="676656"/>
          </a:xfrm>
          <a:prstGeom prst="roundRect">
            <a:avLst>
              <a:gd name="adj" fmla="val 10811"/>
            </a:avLst>
          </a:prstGeom>
          <a:solidFill>
            <a:srgbClr val="FDECEC"/>
          </a:solidFill>
          <a:ln w="12700">
            <a:solidFill>
              <a:srgbClr val="F1C9C9"/>
            </a:solidFill>
            <a:prstDash val="solid"/>
          </a:ln>
        </p:spPr>
      </p:sp>
      <p:sp>
        <p:nvSpPr>
          <p:cNvPr id="40" name="Shape 35"/>
          <p:cNvSpPr/>
          <p:nvPr/>
        </p:nvSpPr>
        <p:spPr>
          <a:xfrm>
            <a:off x="6382512" y="4251960"/>
            <a:ext cx="365760" cy="365760"/>
          </a:xfrm>
          <a:prstGeom prst="ellipse">
            <a:avLst/>
          </a:prstGeom>
          <a:solidFill>
            <a:srgbClr val="D93A3F"/>
          </a:solidFill>
          <a:ln w="12700">
            <a:solidFill>
              <a:srgbClr val="D93A3F"/>
            </a:solidFill>
            <a:prstDash val="solid"/>
          </a:ln>
        </p:spPr>
      </p:sp>
      <p:pic>
        <p:nvPicPr>
          <p:cNvPr id="41" name="Image 3" descr="preencoded.png">    </p:cNvPr>
          <p:cNvPicPr>
            <a:picLocks noChangeAspect="1"/>
          </p:cNvPicPr>
          <p:nvPr/>
        </p:nvPicPr>
        <p:blipFill>
          <a:blip r:embed="rId4"/>
          <a:stretch>
            <a:fillRect/>
          </a:stretch>
        </p:blipFill>
        <p:spPr>
          <a:xfrm>
            <a:off x="6473952" y="4343400"/>
            <a:ext cx="182880" cy="182880"/>
          </a:xfrm>
          <a:prstGeom prst="rect">
            <a:avLst/>
          </a:prstGeom>
        </p:spPr>
      </p:pic>
      <p:sp>
        <p:nvSpPr>
          <p:cNvPr id="42" name="Text 36"/>
          <p:cNvSpPr/>
          <p:nvPr/>
        </p:nvSpPr>
        <p:spPr>
          <a:xfrm>
            <a:off x="6876288" y="4096512"/>
            <a:ext cx="4547311" cy="676656"/>
          </a:xfrm>
          <a:prstGeom prst="rect">
            <a:avLst/>
          </a:prstGeom>
          <a:noFill/>
          <a:ln/>
        </p:spPr>
        <p:txBody>
          <a:bodyPr wrap="square" lIns="0" tIns="0" rIns="0" bIns="0" rtlCol="0" anchor="ctr"/>
          <a:lstStyle/>
          <a:p>
            <a:pPr indent="0" marL="0">
              <a:lnSpc>
                <a:spcPct val="110000"/>
              </a:lnSpc>
              <a:buNone/>
            </a:pPr>
            <a:r>
              <a:rPr lang="en-US" sz="1200" dirty="0">
                <a:solidFill>
                  <a:srgbClr val="3B3760"/>
                </a:solidFill>
                <a:latin typeface="Calibri" pitchFamily="34" charset="0"/>
                <a:ea typeface="Calibri" pitchFamily="34" charset="-122"/>
                <a:cs typeface="Calibri" pitchFamily="34" charset="-120"/>
              </a:rPr>
              <a:t>Stop. Twelve cases a month is a person with a checklist, not a platform.</a:t>
            </a:r>
            <a:endParaRPr lang="en-US" sz="1200" dirty="0"/>
          </a:p>
        </p:txBody>
      </p:sp>
      <p:sp>
        <p:nvSpPr>
          <p:cNvPr id="43" name="Shape 37"/>
          <p:cNvSpPr/>
          <p:nvPr/>
        </p:nvSpPr>
        <p:spPr>
          <a:xfrm>
            <a:off x="3081528" y="4777740"/>
            <a:ext cx="0" cy="114300"/>
          </a:xfrm>
          <a:prstGeom prst="line">
            <a:avLst/>
          </a:prstGeom>
          <a:noFill/>
          <a:ln w="20320">
            <a:solidFill>
              <a:srgbClr val="8E82F5"/>
            </a:solidFill>
            <a:prstDash val="solid"/>
            <a:headEnd type="none"/>
            <a:tailEnd type="triangle"/>
          </a:ln>
        </p:spPr>
      </p:sp>
      <p:sp>
        <p:nvSpPr>
          <p:cNvPr id="44" name="Shape 38"/>
          <p:cNvSpPr/>
          <p:nvPr/>
        </p:nvSpPr>
        <p:spPr>
          <a:xfrm>
            <a:off x="566928" y="4882896"/>
            <a:ext cx="5029200" cy="676656"/>
          </a:xfrm>
          <a:prstGeom prst="roundRect">
            <a:avLst>
              <a:gd name="adj" fmla="val 10811"/>
            </a:avLst>
          </a:prstGeom>
          <a:solidFill>
            <a:srgbClr val="FFFFFF"/>
          </a:solidFill>
          <a:ln w="17780">
            <a:solidFill>
              <a:srgbClr val="8E82F5"/>
            </a:solidFill>
            <a:prstDash val="solid"/>
          </a:ln>
          <a:effectLst>
            <a:outerShdw sx="100000" sy="100000" kx="0" ky="0" algn="bl" rotWithShape="0" blurRad="101600" dist="508" dir="5400000">
              <a:srgbClr val="1B1A4A">
                <a:alpha val="7000"/>
              </a:srgbClr>
            </a:outerShdw>
          </a:effectLst>
        </p:spPr>
      </p:sp>
      <p:sp>
        <p:nvSpPr>
          <p:cNvPr id="45" name="Text 39"/>
          <p:cNvSpPr/>
          <p:nvPr/>
        </p:nvSpPr>
        <p:spPr>
          <a:xfrm>
            <a:off x="749808" y="4882896"/>
            <a:ext cx="365760" cy="676656"/>
          </a:xfrm>
          <a:prstGeom prst="rect">
            <a:avLst/>
          </a:prstGeom>
          <a:noFill/>
          <a:ln/>
        </p:spPr>
        <p:txBody>
          <a:bodyPr wrap="square" lIns="0" tIns="0" rIns="0" bIns="0" rtlCol="0" anchor="ctr"/>
          <a:lstStyle/>
          <a:p>
            <a:pPr algn="ctr" indent="0" marL="0">
              <a:buNone/>
            </a:pPr>
            <a:r>
              <a:rPr lang="en-US" sz="2000" b="1" dirty="0">
                <a:solidFill>
                  <a:srgbClr val="8E82F5"/>
                </a:solidFill>
                <a:latin typeface="Cambria" pitchFamily="34" charset="0"/>
                <a:ea typeface="Cambria" pitchFamily="34" charset="-122"/>
                <a:cs typeface="Cambria" pitchFamily="34" charset="-120"/>
              </a:rPr>
              <a:t>5</a:t>
            </a:r>
            <a:endParaRPr lang="en-US" sz="2000" dirty="0"/>
          </a:p>
        </p:txBody>
      </p:sp>
      <p:sp>
        <p:nvSpPr>
          <p:cNvPr id="46" name="Text 40"/>
          <p:cNvSpPr/>
          <p:nvPr/>
        </p:nvSpPr>
        <p:spPr>
          <a:xfrm>
            <a:off x="1188720" y="4882896"/>
            <a:ext cx="4206240" cy="676656"/>
          </a:xfrm>
          <a:prstGeom prst="rect">
            <a:avLst/>
          </a:prstGeom>
          <a:noFill/>
          <a:ln/>
        </p:spPr>
        <p:txBody>
          <a:bodyPr wrap="square" lIns="0" tIns="0" rIns="0" bIns="0" rtlCol="0" anchor="ctr"/>
          <a:lstStyle/>
          <a:p>
            <a:pPr indent="0" marL="0">
              <a:buNone/>
            </a:pPr>
            <a:r>
              <a:rPr lang="en-US" sz="1300" b="1" dirty="0">
                <a:solidFill>
                  <a:srgbClr val="141235"/>
                </a:solidFill>
                <a:latin typeface="Calibri" pitchFamily="34" charset="0"/>
                <a:ea typeface="Calibri" pitchFamily="34" charset="-122"/>
                <a:cs typeface="Calibri" pitchFamily="34" charset="-120"/>
              </a:rPr>
              <a:t>Will anyone own it in six months?</a:t>
            </a:r>
            <a:endParaRPr lang="en-US" sz="1300" dirty="0"/>
          </a:p>
        </p:txBody>
      </p:sp>
      <p:sp>
        <p:nvSpPr>
          <p:cNvPr id="47" name="Shape 41"/>
          <p:cNvSpPr/>
          <p:nvPr/>
        </p:nvSpPr>
        <p:spPr>
          <a:xfrm>
            <a:off x="5650992" y="5221224"/>
            <a:ext cx="457200" cy="0"/>
          </a:xfrm>
          <a:prstGeom prst="line">
            <a:avLst/>
          </a:prstGeom>
          <a:noFill/>
          <a:ln w="25400">
            <a:solidFill>
              <a:srgbClr val="0E9F6E"/>
            </a:solidFill>
            <a:prstDash val="solid"/>
            <a:headEnd type="none"/>
            <a:tailEnd type="triangle"/>
          </a:ln>
        </p:spPr>
      </p:sp>
      <p:sp>
        <p:nvSpPr>
          <p:cNvPr id="48" name="Text 42"/>
          <p:cNvSpPr/>
          <p:nvPr/>
        </p:nvSpPr>
        <p:spPr>
          <a:xfrm>
            <a:off x="5596128" y="4928616"/>
            <a:ext cx="566928" cy="219456"/>
          </a:xfrm>
          <a:prstGeom prst="rect">
            <a:avLst/>
          </a:prstGeom>
          <a:noFill/>
          <a:ln/>
        </p:spPr>
        <p:txBody>
          <a:bodyPr wrap="square" lIns="0" tIns="0" rIns="0" bIns="0" rtlCol="0" anchor="ctr"/>
          <a:lstStyle/>
          <a:p>
            <a:pPr algn="ctr" indent="0" marL="0">
              <a:buNone/>
            </a:pPr>
            <a:r>
              <a:rPr lang="en-US" sz="900" b="1" spc="120" kern="0" dirty="0">
                <a:solidFill>
                  <a:srgbClr val="0E9F6E"/>
                </a:solidFill>
                <a:latin typeface="Calibri" pitchFamily="34" charset="0"/>
                <a:ea typeface="Calibri" pitchFamily="34" charset="-122"/>
                <a:cs typeface="Calibri" pitchFamily="34" charset="-120"/>
              </a:rPr>
              <a:t>YES</a:t>
            </a:r>
            <a:endParaRPr lang="en-US" sz="900" dirty="0"/>
          </a:p>
        </p:txBody>
      </p:sp>
      <p:sp>
        <p:nvSpPr>
          <p:cNvPr id="49" name="Shape 43"/>
          <p:cNvSpPr/>
          <p:nvPr/>
        </p:nvSpPr>
        <p:spPr>
          <a:xfrm>
            <a:off x="6181344" y="4882896"/>
            <a:ext cx="5443423" cy="676656"/>
          </a:xfrm>
          <a:prstGeom prst="roundRect">
            <a:avLst>
              <a:gd name="adj" fmla="val 10811"/>
            </a:avLst>
          </a:prstGeom>
          <a:solidFill>
            <a:srgbClr val="E7F7F1"/>
          </a:solidFill>
          <a:ln w="12700">
            <a:solidFill>
              <a:srgbClr val="C2E6D7"/>
            </a:solidFill>
            <a:prstDash val="solid"/>
          </a:ln>
        </p:spPr>
      </p:sp>
      <p:sp>
        <p:nvSpPr>
          <p:cNvPr id="50" name="Shape 44"/>
          <p:cNvSpPr/>
          <p:nvPr/>
        </p:nvSpPr>
        <p:spPr>
          <a:xfrm>
            <a:off x="6382512" y="5038344"/>
            <a:ext cx="365760" cy="365760"/>
          </a:xfrm>
          <a:prstGeom prst="ellipse">
            <a:avLst/>
          </a:prstGeom>
          <a:solidFill>
            <a:srgbClr val="0E9F6E"/>
          </a:solidFill>
          <a:ln w="12700">
            <a:solidFill>
              <a:srgbClr val="0E9F6E"/>
            </a:solidFill>
            <a:prstDash val="solid"/>
          </a:ln>
        </p:spPr>
      </p:sp>
      <p:pic>
        <p:nvPicPr>
          <p:cNvPr id="51" name="Image 4" descr="preencoded.png">    </p:cNvPr>
          <p:cNvPicPr>
            <a:picLocks noChangeAspect="1"/>
          </p:cNvPicPr>
          <p:nvPr/>
        </p:nvPicPr>
        <p:blipFill>
          <a:blip r:embed="rId5"/>
          <a:stretch>
            <a:fillRect/>
          </a:stretch>
        </p:blipFill>
        <p:spPr>
          <a:xfrm>
            <a:off x="6473952" y="5129784"/>
            <a:ext cx="182880" cy="182880"/>
          </a:xfrm>
          <a:prstGeom prst="rect">
            <a:avLst/>
          </a:prstGeom>
        </p:spPr>
      </p:pic>
      <p:sp>
        <p:nvSpPr>
          <p:cNvPr id="52" name="Text 45"/>
          <p:cNvSpPr/>
          <p:nvPr/>
        </p:nvSpPr>
        <p:spPr>
          <a:xfrm>
            <a:off x="6876288" y="4882896"/>
            <a:ext cx="4547311" cy="676656"/>
          </a:xfrm>
          <a:prstGeom prst="rect">
            <a:avLst/>
          </a:prstGeom>
          <a:noFill/>
          <a:ln/>
        </p:spPr>
        <p:txBody>
          <a:bodyPr wrap="square" lIns="0" tIns="0" rIns="0" bIns="0" rtlCol="0" anchor="ctr"/>
          <a:lstStyle/>
          <a:p>
            <a:pPr indent="0" marL="0">
              <a:lnSpc>
                <a:spcPct val="110000"/>
              </a:lnSpc>
              <a:buNone/>
            </a:pPr>
            <a:r>
              <a:rPr lang="en-US" sz="1200" b="1" dirty="0">
                <a:solidFill>
                  <a:srgbClr val="141235"/>
                </a:solidFill>
                <a:latin typeface="Calibri" pitchFamily="34" charset="0"/>
                <a:ea typeface="Calibri" pitchFamily="34" charset="-122"/>
                <a:cs typeface="Calibri" pitchFamily="34" charset="-120"/>
              </a:rPr>
              <a:t>Build the agent. Start at the lowest tier that works.</a:t>
            </a:r>
            <a:endParaRPr lang="en-US" sz="1200" dirty="0"/>
          </a:p>
        </p:txBody>
      </p:sp>
      <p:sp>
        <p:nvSpPr>
          <p:cNvPr id="53" name="Shape 46"/>
          <p:cNvSpPr/>
          <p:nvPr/>
        </p:nvSpPr>
        <p:spPr>
          <a:xfrm>
            <a:off x="566928" y="5669280"/>
            <a:ext cx="11057839" cy="713232"/>
          </a:xfrm>
          <a:prstGeom prst="roundRect">
            <a:avLst>
              <a:gd name="adj" fmla="val 11538"/>
            </a:avLst>
          </a:prstGeom>
          <a:solidFill>
            <a:srgbClr val="FFF4E0"/>
          </a:solidFill>
          <a:ln w="12700">
            <a:solidFill>
              <a:srgbClr val="F3DCB0"/>
            </a:solidFill>
            <a:prstDash val="solid"/>
          </a:ln>
        </p:spPr>
      </p:sp>
      <p:sp>
        <p:nvSpPr>
          <p:cNvPr id="54" name="Shape 47"/>
          <p:cNvSpPr/>
          <p:nvPr/>
        </p:nvSpPr>
        <p:spPr>
          <a:xfrm>
            <a:off x="841248" y="5833872"/>
            <a:ext cx="384048" cy="384048"/>
          </a:xfrm>
          <a:prstGeom prst="ellipse">
            <a:avLst/>
          </a:prstGeom>
          <a:solidFill>
            <a:srgbClr val="F5A524"/>
          </a:solidFill>
          <a:ln w="12700">
            <a:solidFill>
              <a:srgbClr val="F5A524"/>
            </a:solidFill>
            <a:prstDash val="solid"/>
          </a:ln>
        </p:spPr>
      </p:sp>
      <p:pic>
        <p:nvPicPr>
          <p:cNvPr id="55" name="Image 5" descr="preencoded.png">    </p:cNvPr>
          <p:cNvPicPr>
            <a:picLocks noChangeAspect="1"/>
          </p:cNvPicPr>
          <p:nvPr/>
        </p:nvPicPr>
        <p:blipFill>
          <a:blip r:embed="rId6"/>
          <a:stretch>
            <a:fillRect/>
          </a:stretch>
        </p:blipFill>
        <p:spPr>
          <a:xfrm>
            <a:off x="937260" y="5929884"/>
            <a:ext cx="192024" cy="192024"/>
          </a:xfrm>
          <a:prstGeom prst="rect">
            <a:avLst/>
          </a:prstGeom>
        </p:spPr>
      </p:pic>
      <p:sp>
        <p:nvSpPr>
          <p:cNvPr id="56" name="Text 48"/>
          <p:cNvSpPr/>
          <p:nvPr/>
        </p:nvSpPr>
        <p:spPr>
          <a:xfrm>
            <a:off x="1371600" y="5724144"/>
            <a:ext cx="9960559" cy="603504"/>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Four of these five questions end in “no”, and that is the correct ratio. An honest no, argued from these five points, is a better deliverable than a proof of concept nobody adopts.</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17 · PROCESS RE-ENGINEERING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Where this creates value, and where it still disappoints</a:t>
            </a:r>
            <a:endParaRPr lang="en-US" sz="2800" dirty="0"/>
          </a:p>
        </p:txBody>
      </p:sp>
      <p:sp>
        <p:nvSpPr>
          <p:cNvPr id="4" name="Shape 2"/>
          <p:cNvSpPr/>
          <p:nvPr/>
        </p:nvSpPr>
        <p:spPr>
          <a:xfrm>
            <a:off x="566928" y="2595433"/>
            <a:ext cx="5410048" cy="2179198"/>
          </a:xfrm>
          <a:prstGeom prst="roundRect">
            <a:avLst>
              <a:gd name="adj" fmla="val 3776"/>
            </a:avLst>
          </a:prstGeom>
          <a:solidFill>
            <a:srgbClr val="E7F7F1"/>
          </a:solidFill>
          <a:ln w="12700">
            <a:solidFill>
              <a:srgbClr val="C2E6D7"/>
            </a:solidFill>
            <a:prstDash val="solid"/>
          </a:ln>
          <a:effectLst>
            <a:outerShdw sx="100000" sy="100000" kx="0" ky="0" algn="bl" rotWithShape="0" blurRad="114300" dist="572" dir="5400000">
              <a:srgbClr val="1B1A4A">
                <a:alpha val="7000"/>
              </a:srgbClr>
            </a:outerShdw>
          </a:effectLst>
        </p:spPr>
      </p:sp>
      <p:sp>
        <p:nvSpPr>
          <p:cNvPr id="5" name="Shape 3"/>
          <p:cNvSpPr/>
          <p:nvPr/>
        </p:nvSpPr>
        <p:spPr>
          <a:xfrm>
            <a:off x="804672" y="2814889"/>
            <a:ext cx="365760" cy="365760"/>
          </a:xfrm>
          <a:prstGeom prst="ellipse">
            <a:avLst/>
          </a:prstGeom>
          <a:solidFill>
            <a:srgbClr val="0E9F6E"/>
          </a:solidFill>
          <a:ln w="12700">
            <a:solidFill>
              <a:srgbClr val="0E9F6E"/>
            </a:solidFill>
            <a:prstDash val="solid"/>
          </a:ln>
        </p:spPr>
      </p:sp>
      <p:pic>
        <p:nvPicPr>
          <p:cNvPr id="6" name="Image 0" descr="preencoded.png">    </p:cNvPr>
          <p:cNvPicPr>
            <a:picLocks noChangeAspect="1"/>
          </p:cNvPicPr>
          <p:nvPr/>
        </p:nvPicPr>
        <p:blipFill>
          <a:blip r:embed="rId1"/>
          <a:stretch>
            <a:fillRect/>
          </a:stretch>
        </p:blipFill>
        <p:spPr>
          <a:xfrm>
            <a:off x="896112" y="2906329"/>
            <a:ext cx="182880" cy="182880"/>
          </a:xfrm>
          <a:prstGeom prst="rect">
            <a:avLst/>
          </a:prstGeom>
        </p:spPr>
      </p:pic>
      <p:sp>
        <p:nvSpPr>
          <p:cNvPr id="7" name="Text 4"/>
          <p:cNvSpPr/>
          <p:nvPr/>
        </p:nvSpPr>
        <p:spPr>
          <a:xfrm>
            <a:off x="1298448" y="2805745"/>
            <a:ext cx="4440784"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CREATES VALUE</a:t>
            </a:r>
            <a:endParaRPr lang="en-US" sz="850" dirty="0"/>
          </a:p>
        </p:txBody>
      </p:sp>
      <p:sp>
        <p:nvSpPr>
          <p:cNvPr id="8" name="Text 5"/>
          <p:cNvSpPr/>
          <p:nvPr/>
        </p:nvSpPr>
        <p:spPr>
          <a:xfrm>
            <a:off x="1298448" y="3025201"/>
            <a:ext cx="4440784" cy="670438"/>
          </a:xfrm>
          <a:prstGeom prst="rect">
            <a:avLst/>
          </a:prstGeom>
          <a:noFill/>
          <a:ln/>
        </p:spPr>
        <p:txBody>
          <a:bodyPr wrap="square" lIns="0" tIns="0" rIns="0" bIns="0" rtlCol="0" anchor="t"/>
          <a:lstStyle/>
          <a:p>
            <a:pPr indent="0" marL="0">
              <a:lnSpc>
                <a:spcPct val="105000"/>
              </a:lnSpc>
              <a:buNone/>
            </a:pPr>
            <a:r>
              <a:rPr lang="en-US" sz="1600" b="1" dirty="0">
                <a:solidFill>
                  <a:srgbClr val="141235"/>
                </a:solidFill>
                <a:latin typeface="Calibri" pitchFamily="34" charset="0"/>
                <a:ea typeface="Calibri" pitchFamily="34" charset="-122"/>
                <a:cs typeface="Calibri" pitchFamily="34" charset="-120"/>
              </a:rPr>
              <a:t>Real judgment, written-down context, recoverable mistakes</a:t>
            </a:r>
            <a:endParaRPr lang="en-US" sz="1600" dirty="0"/>
          </a:p>
        </p:txBody>
      </p:sp>
      <p:sp>
        <p:nvSpPr>
          <p:cNvPr id="9" name="Text 6"/>
          <p:cNvSpPr/>
          <p:nvPr/>
        </p:nvSpPr>
        <p:spPr>
          <a:xfrm>
            <a:off x="1298448" y="3704783"/>
            <a:ext cx="4440784" cy="886968"/>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Work where a competent person would need to read several things and form a view — and where the things they would read actually exist in a system. Getting it wrong costs a correction, not a customer.</a:t>
            </a:r>
            <a:endParaRPr lang="en-US" sz="1250" dirty="0"/>
          </a:p>
        </p:txBody>
      </p:sp>
      <p:sp>
        <p:nvSpPr>
          <p:cNvPr id="10" name="Shape 7"/>
          <p:cNvSpPr/>
          <p:nvPr/>
        </p:nvSpPr>
        <p:spPr>
          <a:xfrm>
            <a:off x="6214720" y="2595433"/>
            <a:ext cx="5410048" cy="2179198"/>
          </a:xfrm>
          <a:prstGeom prst="roundRect">
            <a:avLst>
              <a:gd name="adj" fmla="val 3776"/>
            </a:avLst>
          </a:prstGeom>
          <a:solidFill>
            <a:srgbClr val="FDECEC"/>
          </a:solidFill>
          <a:ln w="12700">
            <a:solidFill>
              <a:srgbClr val="F1C9C9"/>
            </a:solidFill>
            <a:prstDash val="solid"/>
          </a:ln>
          <a:effectLst>
            <a:outerShdw sx="100000" sy="100000" kx="0" ky="0" algn="bl" rotWithShape="0" blurRad="114300" dist="572" dir="5400000">
              <a:srgbClr val="1B1A4A">
                <a:alpha val="7000"/>
              </a:srgbClr>
            </a:outerShdw>
          </a:effectLst>
        </p:spPr>
      </p:sp>
      <p:sp>
        <p:nvSpPr>
          <p:cNvPr id="11" name="Shape 8"/>
          <p:cNvSpPr/>
          <p:nvPr/>
        </p:nvSpPr>
        <p:spPr>
          <a:xfrm>
            <a:off x="6452464" y="2814889"/>
            <a:ext cx="365760" cy="365760"/>
          </a:xfrm>
          <a:prstGeom prst="ellipse">
            <a:avLst/>
          </a:prstGeom>
          <a:solidFill>
            <a:srgbClr val="D93A3F"/>
          </a:solidFill>
          <a:ln w="12700">
            <a:solidFill>
              <a:srgbClr val="D93A3F"/>
            </a:solidFill>
            <a:prstDash val="solid"/>
          </a:ln>
        </p:spPr>
      </p:sp>
      <p:pic>
        <p:nvPicPr>
          <p:cNvPr id="12" name="Image 1" descr="preencoded.png">    </p:cNvPr>
          <p:cNvPicPr>
            <a:picLocks noChangeAspect="1"/>
          </p:cNvPicPr>
          <p:nvPr/>
        </p:nvPicPr>
        <p:blipFill>
          <a:blip r:embed="rId2"/>
          <a:stretch>
            <a:fillRect/>
          </a:stretch>
        </p:blipFill>
        <p:spPr>
          <a:xfrm>
            <a:off x="6543904" y="2906329"/>
            <a:ext cx="182880" cy="182880"/>
          </a:xfrm>
          <a:prstGeom prst="rect">
            <a:avLst/>
          </a:prstGeom>
        </p:spPr>
      </p:pic>
      <p:sp>
        <p:nvSpPr>
          <p:cNvPr id="13" name="Text 9"/>
          <p:cNvSpPr/>
          <p:nvPr/>
        </p:nvSpPr>
        <p:spPr>
          <a:xfrm>
            <a:off x="6946240" y="2805745"/>
            <a:ext cx="4440784"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STILL DISAPPOINTS</a:t>
            </a:r>
            <a:endParaRPr lang="en-US" sz="850" dirty="0"/>
          </a:p>
        </p:txBody>
      </p:sp>
      <p:sp>
        <p:nvSpPr>
          <p:cNvPr id="14" name="Text 10"/>
          <p:cNvSpPr/>
          <p:nvPr/>
        </p:nvSpPr>
        <p:spPr>
          <a:xfrm>
            <a:off x="6946240" y="3025201"/>
            <a:ext cx="4440784" cy="670438"/>
          </a:xfrm>
          <a:prstGeom prst="rect">
            <a:avLst/>
          </a:prstGeom>
          <a:noFill/>
          <a:ln/>
        </p:spPr>
        <p:txBody>
          <a:bodyPr wrap="square" lIns="0" tIns="0" rIns="0" bIns="0" rtlCol="0" anchor="t"/>
          <a:lstStyle/>
          <a:p>
            <a:pPr indent="0" marL="0">
              <a:lnSpc>
                <a:spcPct val="105000"/>
              </a:lnSpc>
              <a:buNone/>
            </a:pPr>
            <a:r>
              <a:rPr lang="en-US" sz="1600" b="1" dirty="0">
                <a:solidFill>
                  <a:srgbClr val="141235"/>
                </a:solidFill>
                <a:latin typeface="Calibri" pitchFamily="34" charset="0"/>
                <a:ea typeface="Calibri" pitchFamily="34" charset="-122"/>
                <a:cs typeface="Calibri" pitchFamily="34" charset="-120"/>
              </a:rPr>
              <a:t>High volume, low tolerance, missing context</a:t>
            </a:r>
            <a:endParaRPr lang="en-US" sz="1600" dirty="0"/>
          </a:p>
        </p:txBody>
      </p:sp>
      <p:sp>
        <p:nvSpPr>
          <p:cNvPr id="15" name="Text 11"/>
          <p:cNvSpPr/>
          <p:nvPr/>
        </p:nvSpPr>
        <p:spPr>
          <a:xfrm>
            <a:off x="6946240" y="3704783"/>
            <a:ext cx="4440784" cy="886968"/>
          </a:xfrm>
          <a:prstGeom prst="rect">
            <a:avLst/>
          </a:prstGeom>
          <a:noFill/>
          <a:ln/>
        </p:spPr>
        <p:txBody>
          <a:bodyPr wrap="square" lIns="0" tIns="0" rIns="0" bIns="0" rtlCol="0" anchor="t"/>
          <a:lstStyle/>
          <a:p>
            <a:pPr indent="0" marL="0">
              <a:lnSpc>
                <a:spcPct val="113000"/>
              </a:lnSpc>
              <a:buNone/>
            </a:pPr>
            <a:r>
              <a:rPr lang="en-US" sz="1250" dirty="0">
                <a:solidFill>
                  <a:srgbClr val="6E6B8A"/>
                </a:solidFill>
                <a:latin typeface="Calibri" pitchFamily="34" charset="0"/>
                <a:ea typeface="Calibri" pitchFamily="34" charset="-122"/>
                <a:cs typeface="Calibri" pitchFamily="34" charset="-120"/>
              </a:rPr>
              <a:t>Where a wrong step is unbounded or unrecoverable, where the margin for error is near zero at scale, or where the knowledge lives only in people's heads. Two of those three are not AI problems at all.</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sp>
      <p:pic>
        <p:nvPicPr>
          <p:cNvPr id="18" name="Image 2" descr="preencoded.png">    </p:cNvPr>
          <p:cNvPicPr>
            <a:picLocks noChangeAspect="1"/>
          </p:cNvPicPr>
          <p:nvPr/>
        </p:nvPicPr>
        <p:blipFill>
          <a:blip r:embed="rId3"/>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The same three tests from module 01, now with two days of evidence behind them. Nothing you learned changed the answer — it just made it easier to justify.</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17 · CLOSING WORKSHOP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2800" b="1" dirty="0">
                <a:solidFill>
                  <a:srgbClr val="141235"/>
                </a:solidFill>
                <a:latin typeface="Cambria" pitchFamily="34" charset="0"/>
                <a:ea typeface="Cambria" pitchFamily="34" charset="-122"/>
                <a:cs typeface="Cambria" pitchFamily="34" charset="-120"/>
              </a:rPr>
              <a:t>In groups: pick a real process from your own function</a:t>
            </a:r>
            <a:endParaRPr lang="en-US" sz="28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indent="0" marL="0">
              <a:buNone/>
            </a:pPr>
            <a:r>
              <a:rPr lang="en-US" sz="1400" dirty="0">
                <a:solidFill>
                  <a:srgbClr val="3B3760"/>
                </a:solidFill>
                <a:latin typeface="Calibri" pitchFamily="34" charset="0"/>
                <a:ea typeface="Calibri" pitchFamily="34" charset="-122"/>
                <a:cs typeface="Calibri" pitchFamily="34" charset="-120"/>
              </a:rPr>
              <a:t>Groups of four. Mix builders and non-builders. Thirty minutes, then five minutes each to present.</a:t>
            </a:r>
            <a:endParaRPr lang="en-US" sz="1400" dirty="0"/>
          </a:p>
        </p:txBody>
      </p:sp>
      <p:sp>
        <p:nvSpPr>
          <p:cNvPr id="5" name="Shape 3"/>
          <p:cNvSpPr/>
          <p:nvPr/>
        </p:nvSpPr>
        <p:spPr>
          <a:xfrm>
            <a:off x="566928" y="19751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6" name="Shape 4"/>
          <p:cNvSpPr/>
          <p:nvPr/>
        </p:nvSpPr>
        <p:spPr>
          <a:xfrm>
            <a:off x="804672" y="2194560"/>
            <a:ext cx="365760" cy="365760"/>
          </a:xfrm>
          <a:prstGeom prst="ellipse">
            <a:avLst/>
          </a:prstGeom>
          <a:solidFill>
            <a:srgbClr val="5B4BE8"/>
          </a:solidFill>
          <a:ln w="12700">
            <a:solidFill>
              <a:srgbClr val="5B4BE8"/>
            </a:solidFill>
            <a:prstDash val="solid"/>
          </a:ln>
        </p:spPr>
      </p:sp>
      <p:pic>
        <p:nvPicPr>
          <p:cNvPr id="7" name="Image 0" descr="preencoded.png">    </p:cNvPr>
          <p:cNvPicPr>
            <a:picLocks noChangeAspect="1"/>
          </p:cNvPicPr>
          <p:nvPr/>
        </p:nvPicPr>
        <p:blipFill>
          <a:blip r:embed="rId1"/>
          <a:stretch>
            <a:fillRect/>
          </a:stretch>
        </p:blipFill>
        <p:spPr>
          <a:xfrm>
            <a:off x="896112" y="2286000"/>
            <a:ext cx="182880" cy="182880"/>
          </a:xfrm>
          <a:prstGeom prst="rect">
            <a:avLst/>
          </a:prstGeom>
        </p:spPr>
      </p:pic>
      <p:sp>
        <p:nvSpPr>
          <p:cNvPr id="8" name="Text 5"/>
          <p:cNvSpPr/>
          <p:nvPr/>
        </p:nvSpPr>
        <p:spPr>
          <a:xfrm>
            <a:off x="1298448" y="21854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STEP 1</a:t>
            </a:r>
            <a:endParaRPr lang="en-US" sz="850" dirty="0"/>
          </a:p>
        </p:txBody>
      </p:sp>
      <p:sp>
        <p:nvSpPr>
          <p:cNvPr id="9" name="Text 6"/>
          <p:cNvSpPr/>
          <p:nvPr/>
        </p:nvSpPr>
        <p:spPr>
          <a:xfrm>
            <a:off x="1298448" y="2404872"/>
            <a:ext cx="2558186"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Map it, step by step</a:t>
            </a:r>
            <a:endParaRPr lang="en-US" sz="1350" dirty="0"/>
          </a:p>
        </p:txBody>
      </p:sp>
      <p:sp>
        <p:nvSpPr>
          <p:cNvPr id="10" name="Text 7"/>
          <p:cNvSpPr/>
          <p:nvPr/>
        </p:nvSpPr>
        <p:spPr>
          <a:xfrm>
            <a:off x="1298448" y="2736433"/>
            <a:ext cx="2558186" cy="64684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The real process, including the parts people do informally.</a:t>
            </a:r>
            <a:endParaRPr lang="en-US" sz="1100" dirty="0"/>
          </a:p>
        </p:txBody>
      </p:sp>
      <p:sp>
        <p:nvSpPr>
          <p:cNvPr id="11" name="Shape 8"/>
          <p:cNvSpPr/>
          <p:nvPr/>
        </p:nvSpPr>
        <p:spPr>
          <a:xfrm>
            <a:off x="4332122" y="19751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2" name="Shape 9"/>
          <p:cNvSpPr/>
          <p:nvPr/>
        </p:nvSpPr>
        <p:spPr>
          <a:xfrm>
            <a:off x="4569866" y="2194560"/>
            <a:ext cx="365760" cy="365760"/>
          </a:xfrm>
          <a:prstGeom prst="ellipse">
            <a:avLst/>
          </a:prstGeom>
          <a:solidFill>
            <a:srgbClr val="5B4BE8"/>
          </a:solidFill>
          <a:ln w="12700">
            <a:solidFill>
              <a:srgbClr val="5B4BE8"/>
            </a:solidFill>
            <a:prstDash val="solid"/>
          </a:ln>
        </p:spPr>
      </p:sp>
      <p:pic>
        <p:nvPicPr>
          <p:cNvPr id="13" name="Image 1" descr="preencoded.png">    </p:cNvPr>
          <p:cNvPicPr>
            <a:picLocks noChangeAspect="1"/>
          </p:cNvPicPr>
          <p:nvPr/>
        </p:nvPicPr>
        <p:blipFill>
          <a:blip r:embed="rId2"/>
          <a:stretch>
            <a:fillRect/>
          </a:stretch>
        </p:blipFill>
        <p:spPr>
          <a:xfrm>
            <a:off x="4661306" y="2286000"/>
            <a:ext cx="182880" cy="182880"/>
          </a:xfrm>
          <a:prstGeom prst="rect">
            <a:avLst/>
          </a:prstGeom>
        </p:spPr>
      </p:pic>
      <p:sp>
        <p:nvSpPr>
          <p:cNvPr id="14" name="Text 10"/>
          <p:cNvSpPr/>
          <p:nvPr/>
        </p:nvSpPr>
        <p:spPr>
          <a:xfrm>
            <a:off x="5063642" y="21854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STEP 2</a:t>
            </a:r>
            <a:endParaRPr lang="en-US" sz="850" dirty="0"/>
          </a:p>
        </p:txBody>
      </p:sp>
      <p:sp>
        <p:nvSpPr>
          <p:cNvPr id="15" name="Text 11"/>
          <p:cNvSpPr/>
          <p:nvPr/>
        </p:nvSpPr>
        <p:spPr>
          <a:xfrm>
            <a:off x="5063642" y="2404872"/>
            <a:ext cx="2558186"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Assign each step an autonomy tier</a:t>
            </a:r>
            <a:endParaRPr lang="en-US" sz="1350" dirty="0"/>
          </a:p>
        </p:txBody>
      </p:sp>
      <p:sp>
        <p:nvSpPr>
          <p:cNvPr id="16" name="Text 12"/>
          <p:cNvSpPr/>
          <p:nvPr/>
        </p:nvSpPr>
        <p:spPr>
          <a:xfrm>
            <a:off x="5063642" y="3003987"/>
            <a:ext cx="2558186" cy="379293"/>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Suggest, draft, act with audit, or act. Per step, not for the whole process.</a:t>
            </a:r>
            <a:endParaRPr lang="en-US" sz="1100" dirty="0"/>
          </a:p>
        </p:txBody>
      </p:sp>
      <p:sp>
        <p:nvSpPr>
          <p:cNvPr id="17" name="Shape 13"/>
          <p:cNvSpPr/>
          <p:nvPr/>
        </p:nvSpPr>
        <p:spPr>
          <a:xfrm>
            <a:off x="8097317" y="19751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18" name="Shape 14"/>
          <p:cNvSpPr/>
          <p:nvPr/>
        </p:nvSpPr>
        <p:spPr>
          <a:xfrm>
            <a:off x="8335061" y="2194560"/>
            <a:ext cx="365760" cy="365760"/>
          </a:xfrm>
          <a:prstGeom prst="ellipse">
            <a:avLst/>
          </a:prstGeom>
          <a:solidFill>
            <a:srgbClr val="5B4BE8"/>
          </a:solidFill>
          <a:ln w="12700">
            <a:solidFill>
              <a:srgbClr val="5B4BE8"/>
            </a:solidFill>
            <a:prstDash val="solid"/>
          </a:ln>
        </p:spPr>
      </p:sp>
      <p:pic>
        <p:nvPicPr>
          <p:cNvPr id="19" name="Image 2" descr="preencoded.png">    </p:cNvPr>
          <p:cNvPicPr>
            <a:picLocks noChangeAspect="1"/>
          </p:cNvPicPr>
          <p:nvPr/>
        </p:nvPicPr>
        <p:blipFill>
          <a:blip r:embed="rId3"/>
          <a:stretch>
            <a:fillRect/>
          </a:stretch>
        </p:blipFill>
        <p:spPr>
          <a:xfrm>
            <a:off x="8426501" y="2286000"/>
            <a:ext cx="182880" cy="182880"/>
          </a:xfrm>
          <a:prstGeom prst="rect">
            <a:avLst/>
          </a:prstGeom>
        </p:spPr>
      </p:pic>
      <p:sp>
        <p:nvSpPr>
          <p:cNvPr id="20" name="Text 15"/>
          <p:cNvSpPr/>
          <p:nvPr/>
        </p:nvSpPr>
        <p:spPr>
          <a:xfrm>
            <a:off x="8828837" y="21854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STEP 3</a:t>
            </a:r>
            <a:endParaRPr lang="en-US" sz="850" dirty="0"/>
          </a:p>
        </p:txBody>
      </p:sp>
      <p:sp>
        <p:nvSpPr>
          <p:cNvPr id="21" name="Text 16"/>
          <p:cNvSpPr/>
          <p:nvPr/>
        </p:nvSpPr>
        <p:spPr>
          <a:xfrm>
            <a:off x="8828837" y="2404872"/>
            <a:ext cx="2558186"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Find where the context lives</a:t>
            </a:r>
            <a:endParaRPr lang="en-US" sz="1350" dirty="0"/>
          </a:p>
        </p:txBody>
      </p:sp>
      <p:sp>
        <p:nvSpPr>
          <p:cNvPr id="22" name="Text 17"/>
          <p:cNvSpPr/>
          <p:nvPr/>
        </p:nvSpPr>
        <p:spPr>
          <a:xfrm>
            <a:off x="8828837" y="3003987"/>
            <a:ext cx="2558186" cy="379293"/>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And be honest about whether it is written down anywhere an agent could read.</a:t>
            </a:r>
            <a:endParaRPr lang="en-US" sz="1100" dirty="0"/>
          </a:p>
        </p:txBody>
      </p:sp>
      <p:sp>
        <p:nvSpPr>
          <p:cNvPr id="23" name="Shape 18"/>
          <p:cNvSpPr/>
          <p:nvPr/>
        </p:nvSpPr>
        <p:spPr>
          <a:xfrm>
            <a:off x="566928" y="38039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24" name="Shape 19"/>
          <p:cNvSpPr/>
          <p:nvPr/>
        </p:nvSpPr>
        <p:spPr>
          <a:xfrm>
            <a:off x="804672" y="4023360"/>
            <a:ext cx="365760" cy="365760"/>
          </a:xfrm>
          <a:prstGeom prst="ellipse">
            <a:avLst/>
          </a:prstGeom>
          <a:solidFill>
            <a:srgbClr val="5B4BE8"/>
          </a:solidFill>
          <a:ln w="12700">
            <a:solidFill>
              <a:srgbClr val="5B4BE8"/>
            </a:solidFill>
            <a:prstDash val="solid"/>
          </a:ln>
        </p:spPr>
      </p:sp>
      <p:pic>
        <p:nvPicPr>
          <p:cNvPr id="25" name="Image 3" descr="preencoded.png">    </p:cNvPr>
          <p:cNvPicPr>
            <a:picLocks noChangeAspect="1"/>
          </p:cNvPicPr>
          <p:nvPr/>
        </p:nvPicPr>
        <p:blipFill>
          <a:blip r:embed="rId4"/>
          <a:stretch>
            <a:fillRect/>
          </a:stretch>
        </p:blipFill>
        <p:spPr>
          <a:xfrm>
            <a:off x="896112" y="4114800"/>
            <a:ext cx="182880" cy="182880"/>
          </a:xfrm>
          <a:prstGeom prst="rect">
            <a:avLst/>
          </a:prstGeom>
        </p:spPr>
      </p:pic>
      <p:sp>
        <p:nvSpPr>
          <p:cNvPr id="26" name="Text 20"/>
          <p:cNvSpPr/>
          <p:nvPr/>
        </p:nvSpPr>
        <p:spPr>
          <a:xfrm>
            <a:off x="1298448" y="40142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STEP 4</a:t>
            </a:r>
            <a:endParaRPr lang="en-US" sz="850" dirty="0"/>
          </a:p>
        </p:txBody>
      </p:sp>
      <p:sp>
        <p:nvSpPr>
          <p:cNvPr id="27" name="Text 21"/>
          <p:cNvSpPr/>
          <p:nvPr/>
        </p:nvSpPr>
        <p:spPr>
          <a:xfrm>
            <a:off x="1298448" y="4233672"/>
            <a:ext cx="2558186" cy="322417"/>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Price a wrong step</a:t>
            </a:r>
            <a:endParaRPr lang="en-US" sz="1350" dirty="0"/>
          </a:p>
        </p:txBody>
      </p:sp>
      <p:sp>
        <p:nvSpPr>
          <p:cNvPr id="28" name="Text 22"/>
          <p:cNvSpPr/>
          <p:nvPr/>
        </p:nvSpPr>
        <p:spPr>
          <a:xfrm>
            <a:off x="1298448" y="4565233"/>
            <a:ext cx="2558186" cy="646847"/>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For each step. This is what decides the tier, more than anything else.</a:t>
            </a:r>
            <a:endParaRPr lang="en-US" sz="1100" dirty="0"/>
          </a:p>
        </p:txBody>
      </p:sp>
      <p:sp>
        <p:nvSpPr>
          <p:cNvPr id="29" name="Shape 23"/>
          <p:cNvSpPr/>
          <p:nvPr/>
        </p:nvSpPr>
        <p:spPr>
          <a:xfrm>
            <a:off x="4332122" y="3803904"/>
            <a:ext cx="3527450" cy="1591056"/>
          </a:xfrm>
          <a:prstGeom prst="roundRect">
            <a:avLst>
              <a:gd name="adj" fmla="val 5172"/>
            </a:avLst>
          </a:prstGeom>
          <a:solidFill>
            <a:srgbClr val="FFFFFF"/>
          </a:solidFill>
          <a:ln w="12700">
            <a:solidFill>
              <a:srgbClr val="E3E4F2"/>
            </a:solidFill>
            <a:prstDash val="solid"/>
          </a:ln>
          <a:effectLst>
            <a:outerShdw sx="100000" sy="100000" kx="0" ky="0" algn="bl" rotWithShape="0" blurRad="114300" dist="572" dir="5400000">
              <a:srgbClr val="1B1A4A">
                <a:alpha val="7000"/>
              </a:srgbClr>
            </a:outerShdw>
          </a:effectLst>
        </p:spPr>
      </p:sp>
      <p:sp>
        <p:nvSpPr>
          <p:cNvPr id="30" name="Shape 24"/>
          <p:cNvSpPr/>
          <p:nvPr/>
        </p:nvSpPr>
        <p:spPr>
          <a:xfrm>
            <a:off x="4569866" y="4023360"/>
            <a:ext cx="365760" cy="365760"/>
          </a:xfrm>
          <a:prstGeom prst="ellipse">
            <a:avLst/>
          </a:prstGeom>
          <a:solidFill>
            <a:srgbClr val="5B4BE8"/>
          </a:solidFill>
          <a:ln w="12700">
            <a:solidFill>
              <a:srgbClr val="5B4BE8"/>
            </a:solidFill>
            <a:prstDash val="solid"/>
          </a:ln>
        </p:spPr>
      </p:sp>
      <p:pic>
        <p:nvPicPr>
          <p:cNvPr id="31" name="Image 4" descr="preencoded.png">    </p:cNvPr>
          <p:cNvPicPr>
            <a:picLocks noChangeAspect="1"/>
          </p:cNvPicPr>
          <p:nvPr/>
        </p:nvPicPr>
        <p:blipFill>
          <a:blip r:embed="rId5"/>
          <a:stretch>
            <a:fillRect/>
          </a:stretch>
        </p:blipFill>
        <p:spPr>
          <a:xfrm>
            <a:off x="4661306" y="4114800"/>
            <a:ext cx="182880" cy="182880"/>
          </a:xfrm>
          <a:prstGeom prst="rect">
            <a:avLst/>
          </a:prstGeom>
        </p:spPr>
      </p:pic>
      <p:sp>
        <p:nvSpPr>
          <p:cNvPr id="32" name="Text 25"/>
          <p:cNvSpPr/>
          <p:nvPr/>
        </p:nvSpPr>
        <p:spPr>
          <a:xfrm>
            <a:off x="5063642" y="40142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STEP 5</a:t>
            </a:r>
            <a:endParaRPr lang="en-US" sz="850" dirty="0"/>
          </a:p>
        </p:txBody>
      </p:sp>
      <p:sp>
        <p:nvSpPr>
          <p:cNvPr id="33" name="Text 26"/>
          <p:cNvSpPr/>
          <p:nvPr/>
        </p:nvSpPr>
        <p:spPr>
          <a:xfrm>
            <a:off x="5063642" y="4233672"/>
            <a:ext cx="2558186"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Design it — or conclude it should not be one</a:t>
            </a:r>
            <a:endParaRPr lang="en-US" sz="1350" dirty="0"/>
          </a:p>
        </p:txBody>
      </p:sp>
      <p:sp>
        <p:nvSpPr>
          <p:cNvPr id="34" name="Text 27"/>
          <p:cNvSpPr/>
          <p:nvPr/>
        </p:nvSpPr>
        <p:spPr>
          <a:xfrm>
            <a:off x="5063642" y="4832787"/>
            <a:ext cx="2558186" cy="379293"/>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Both are valid outcomes and one of them is faster to defend.</a:t>
            </a:r>
            <a:endParaRPr lang="en-US" sz="1100" dirty="0"/>
          </a:p>
        </p:txBody>
      </p:sp>
      <p:sp>
        <p:nvSpPr>
          <p:cNvPr id="35" name="Shape 28"/>
          <p:cNvSpPr/>
          <p:nvPr/>
        </p:nvSpPr>
        <p:spPr>
          <a:xfrm>
            <a:off x="8097317" y="3803904"/>
            <a:ext cx="3527450" cy="1591056"/>
          </a:xfrm>
          <a:prstGeom prst="roundRect">
            <a:avLst>
              <a:gd name="adj" fmla="val 5172"/>
            </a:avLst>
          </a:prstGeom>
          <a:solidFill>
            <a:srgbClr val="FFF4E0"/>
          </a:solidFill>
          <a:ln w="12700">
            <a:solidFill>
              <a:srgbClr val="F3DCB0"/>
            </a:solidFill>
            <a:prstDash val="solid"/>
          </a:ln>
          <a:effectLst>
            <a:outerShdw sx="100000" sy="100000" kx="0" ky="0" algn="bl" rotWithShape="0" blurRad="114300" dist="572" dir="5400000">
              <a:srgbClr val="1B1A4A">
                <a:alpha val="7000"/>
              </a:srgbClr>
            </a:outerShdw>
          </a:effectLst>
        </p:spPr>
      </p:sp>
      <p:sp>
        <p:nvSpPr>
          <p:cNvPr id="36" name="Shape 29"/>
          <p:cNvSpPr/>
          <p:nvPr/>
        </p:nvSpPr>
        <p:spPr>
          <a:xfrm>
            <a:off x="8335061" y="4023360"/>
            <a:ext cx="365760" cy="365760"/>
          </a:xfrm>
          <a:prstGeom prst="ellipse">
            <a:avLst/>
          </a:prstGeom>
          <a:solidFill>
            <a:srgbClr val="F5A524"/>
          </a:solidFill>
          <a:ln w="12700">
            <a:solidFill>
              <a:srgbClr val="F5A524"/>
            </a:solidFill>
            <a:prstDash val="solid"/>
          </a:ln>
        </p:spPr>
      </p:sp>
      <p:pic>
        <p:nvPicPr>
          <p:cNvPr id="37" name="Image 5" descr="preencoded.png">    </p:cNvPr>
          <p:cNvPicPr>
            <a:picLocks noChangeAspect="1"/>
          </p:cNvPicPr>
          <p:nvPr/>
        </p:nvPicPr>
        <p:blipFill>
          <a:blip r:embed="rId6"/>
          <a:stretch>
            <a:fillRect/>
          </a:stretch>
        </p:blipFill>
        <p:spPr>
          <a:xfrm>
            <a:off x="8426501" y="4114800"/>
            <a:ext cx="182880" cy="182880"/>
          </a:xfrm>
          <a:prstGeom prst="rect">
            <a:avLst/>
          </a:prstGeom>
        </p:spPr>
      </p:pic>
      <p:sp>
        <p:nvSpPr>
          <p:cNvPr id="38" name="Text 30"/>
          <p:cNvSpPr/>
          <p:nvPr/>
        </p:nvSpPr>
        <p:spPr>
          <a:xfrm>
            <a:off x="8828837" y="4014216"/>
            <a:ext cx="2558186" cy="182880"/>
          </a:xfrm>
          <a:prstGeom prst="rect">
            <a:avLst/>
          </a:prstGeom>
          <a:noFill/>
          <a:ln/>
        </p:spPr>
        <p:txBody>
          <a:bodyPr wrap="square" lIns="0" tIns="0" rIns="0" bIns="0" rtlCol="0" anchor="ctr"/>
          <a:lstStyle/>
          <a:p>
            <a:pPr indent="0" marL="0">
              <a:buNone/>
            </a:pPr>
            <a:r>
              <a:rPr lang="en-US" sz="850" b="1" spc="160" kern="0" dirty="0">
                <a:solidFill>
                  <a:srgbClr val="E08700"/>
                </a:solidFill>
                <a:latin typeface="Calibri" pitchFamily="34" charset="0"/>
                <a:ea typeface="Calibri" pitchFamily="34" charset="-122"/>
                <a:cs typeface="Calibri" pitchFamily="34" charset="-120"/>
              </a:rPr>
              <a:t>WARM-UP, IN PAIRS</a:t>
            </a:r>
            <a:endParaRPr lang="en-US" sz="850" dirty="0"/>
          </a:p>
        </p:txBody>
      </p:sp>
      <p:sp>
        <p:nvSpPr>
          <p:cNvPr id="39" name="Text 31"/>
          <p:cNvSpPr/>
          <p:nvPr/>
        </p:nvSpPr>
        <p:spPr>
          <a:xfrm>
            <a:off x="8828837" y="4233672"/>
            <a:ext cx="2558186" cy="589971"/>
          </a:xfrm>
          <a:prstGeom prst="rect">
            <a:avLst/>
          </a:prstGeom>
          <a:noFill/>
          <a:ln/>
        </p:spPr>
        <p:txBody>
          <a:bodyPr wrap="square" lIns="0" tIns="0" rIns="0" bIns="0" rtlCol="0" anchor="t"/>
          <a:lstStyle/>
          <a:p>
            <a:pPr indent="0" marL="0">
              <a:lnSpc>
                <a:spcPct val="105000"/>
              </a:lnSpc>
              <a:buNone/>
            </a:pPr>
            <a:r>
              <a:rPr lang="en-US" sz="1350" b="1" dirty="0">
                <a:solidFill>
                  <a:srgbClr val="141235"/>
                </a:solidFill>
                <a:latin typeface="Calibri" pitchFamily="34" charset="0"/>
                <a:ea typeface="Calibri" pitchFamily="34" charset="-122"/>
                <a:cs typeface="Calibri" pitchFamily="34" charset="-120"/>
              </a:rPr>
              <a:t>“And what business problem is that solving?”</a:t>
            </a:r>
            <a:endParaRPr lang="en-US" sz="1350" dirty="0"/>
          </a:p>
        </p:txBody>
      </p:sp>
      <p:sp>
        <p:nvSpPr>
          <p:cNvPr id="40" name="Text 32"/>
          <p:cNvSpPr/>
          <p:nvPr/>
        </p:nvSpPr>
        <p:spPr>
          <a:xfrm>
            <a:off x="8828837" y="4832787"/>
            <a:ext cx="2558186" cy="379293"/>
          </a:xfrm>
          <a:prstGeom prst="rect">
            <a:avLst/>
          </a:prstGeom>
          <a:noFill/>
          <a:ln/>
        </p:spPr>
        <p:txBody>
          <a:bodyPr wrap="square" lIns="0" tIns="0" rIns="0" bIns="0" rtlCol="0" anchor="t"/>
          <a:lstStyle/>
          <a:p>
            <a:pPr indent="0" marL="0">
              <a:lnSpc>
                <a:spcPct val="113000"/>
              </a:lnSpc>
              <a:buNone/>
            </a:pPr>
            <a:r>
              <a:rPr lang="en-US" sz="1100" dirty="0">
                <a:solidFill>
                  <a:srgbClr val="6E6B8A"/>
                </a:solidFill>
                <a:latin typeface="Calibri" pitchFamily="34" charset="0"/>
                <a:ea typeface="Calibri" pitchFamily="34" charset="-122"/>
                <a:cs typeface="Calibri" pitchFamily="34" charset="-120"/>
              </a:rPr>
              <a:t>State the agent you want. Your partner asks that question. Twice. Most ideas do not survive the second time — and that is the exercise working.</a:t>
            </a:r>
            <a:endParaRPr lang="en-US" sz="1100" dirty="0"/>
          </a:p>
        </p:txBody>
      </p:sp>
      <p:sp>
        <p:nvSpPr>
          <p:cNvPr id="41" name="Shape 3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sp>
      <p:sp>
        <p:nvSpPr>
          <p:cNvPr id="42" name="Shape 34"/>
          <p:cNvSpPr/>
          <p:nvPr/>
        </p:nvSpPr>
        <p:spPr>
          <a:xfrm>
            <a:off x="841248" y="5760720"/>
            <a:ext cx="384048" cy="384048"/>
          </a:xfrm>
          <a:prstGeom prst="ellipse">
            <a:avLst/>
          </a:prstGeom>
          <a:solidFill>
            <a:srgbClr val="F5A524"/>
          </a:solidFill>
          <a:ln w="12700">
            <a:solidFill>
              <a:srgbClr val="F5A524"/>
            </a:solidFill>
            <a:prstDash val="solid"/>
          </a:ln>
        </p:spPr>
      </p:sp>
      <p:pic>
        <p:nvPicPr>
          <p:cNvPr id="43" name="Image 6" descr="preencoded.png">    </p:cNvPr>
          <p:cNvPicPr>
            <a:picLocks noChangeAspect="1"/>
          </p:cNvPicPr>
          <p:nvPr/>
        </p:nvPicPr>
        <p:blipFill>
          <a:blip r:embed="rId7"/>
          <a:stretch>
            <a:fillRect/>
          </a:stretch>
        </p:blipFill>
        <p:spPr>
          <a:xfrm>
            <a:off x="937260" y="5856732"/>
            <a:ext cx="192024" cy="192024"/>
          </a:xfrm>
          <a:prstGeom prst="rect">
            <a:avLst/>
          </a:prstGeom>
        </p:spPr>
      </p:pic>
      <p:sp>
        <p:nvSpPr>
          <p:cNvPr id="44" name="Text 35"/>
          <p:cNvSpPr/>
          <p:nvPr/>
        </p:nvSpPr>
        <p:spPr>
          <a:xfrm>
            <a:off x="1371600" y="55961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You now have the vocabulary to have this conversation with your risk function instead of about them.</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0B0A22"/>
        </a:solidFill>
      </p:bgPr>
    </p:bg>
    <p:spTree>
      <p:nvGrpSpPr>
        <p:cNvPr id="1" name=""/>
        <p:cNvGrpSpPr/>
        <p:nvPr/>
      </p:nvGrpSpPr>
      <p:grpSpPr>
        <a:xfrm>
          <a:off x="0" y="0"/>
          <a:ext cx="0" cy="0"/>
          <a:chOff x="0" y="0"/>
          <a:chExt cx="0" cy="0"/>
        </a:xfrm>
      </p:grpSpPr>
      <p:pic>
        <p:nvPicPr>
          <p:cNvPr id="2" name="Image 0" descr="bg quo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17 · PROCESS RE-ENGINEERING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indent="0" marL="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indent="0" marL="0">
              <a:lnSpc>
                <a:spcPct val="116000"/>
              </a:lnSpc>
              <a:buNone/>
            </a:pPr>
            <a:r>
              <a:rPr lang="en-US" sz="3000" b="1" dirty="0">
                <a:solidFill>
                  <a:srgbClr val="FFFFFF"/>
                </a:solidFill>
                <a:latin typeface="Cambria" pitchFamily="34" charset="0"/>
                <a:ea typeface="Cambria" pitchFamily="34" charset="-122"/>
                <a:cs typeface="Cambria" pitchFamily="34" charset="-120"/>
              </a:rPr>
              <a:t>The best outcome today might be</a:t>
            </a:r>
            <a:endParaRPr lang="en-US" sz="3000" dirty="0"/>
          </a:p>
          <a:p>
            <a:pPr indent="0" marL="0">
              <a:lnSpc>
                <a:spcPct val="116000"/>
              </a:lnSpc>
              <a:buNone/>
            </a:pPr>
            <a:r>
              <a:rPr lang="en-US" sz="3000" b="1" dirty="0">
                <a:solidFill>
                  <a:srgbClr val="FFFFFF"/>
                </a:solidFill>
                <a:latin typeface="Cambria" pitchFamily="34" charset="0"/>
                <a:ea typeface="Cambria" pitchFamily="34" charset="-122"/>
                <a:cs typeface="Cambria" pitchFamily="34" charset="-120"/>
              </a:rPr>
              <a:t>a group that concludes their process</a:t>
            </a:r>
            <a:endParaRPr lang="en-US" sz="3000" dirty="0"/>
          </a:p>
          <a:p>
            <a:pPr indent="0" marL="0">
              <a:lnSpc>
                <a:spcPct val="116000"/>
              </a:lnSpc>
              <a:buNone/>
            </a:pPr>
            <a:r>
              <a:rPr lang="en-US" sz="3000" b="1" dirty="0">
                <a:solidFill>
                  <a:srgbClr val="FFFFFF"/>
                </a:solidFill>
                <a:latin typeface="Cambria" pitchFamily="34" charset="0"/>
                <a:ea typeface="Cambria" pitchFamily="34" charset="-122"/>
                <a:cs typeface="Cambria" pitchFamily="34" charset="-120"/>
              </a:rPr>
              <a:t>should not be automated —</a:t>
            </a:r>
            <a:endParaRPr lang="en-US" sz="3000" dirty="0"/>
          </a:p>
          <a:p>
            <a:pPr indent="0" marL="0">
              <a:lnSpc>
                <a:spcPct val="116000"/>
              </a:lnSpc>
              <a:buNone/>
            </a:pPr>
            <a:r>
              <a:rPr lang="en-US" sz="3000" b="1" dirty="0">
                <a:solidFill>
                  <a:srgbClr val="FFFFFF"/>
                </a:solidFill>
                <a:latin typeface="Cambria" pitchFamily="34" charset="0"/>
                <a:ea typeface="Cambria" pitchFamily="34" charset="-122"/>
                <a:cs typeface="Cambria" pitchFamily="34" charset="-120"/>
              </a:rPr>
              <a:t>and can say exactly why.</a:t>
            </a:r>
            <a:endParaRPr lang="en-US" sz="30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indent="0" marL="0">
              <a:lnSpc>
                <a:spcPct val="120000"/>
              </a:lnSpc>
              <a:buNone/>
            </a:pPr>
            <a:r>
              <a:rPr lang="en-US" sz="1450" dirty="0">
                <a:solidFill>
                  <a:srgbClr val="B9B4E0"/>
                </a:solidFill>
                <a:latin typeface="Calibri" pitchFamily="34" charset="0"/>
                <a:ea typeface="Calibri" pitchFamily="34" charset="-122"/>
                <a:cs typeface="Calibri" pitchFamily="34" charset="-120"/>
              </a:rPr>
              <a:t>Call that out as a win when it happens. It is a far more valuable thing to take back to a steering committee than another proof of concept.</a:t>
            </a:r>
            <a:endParaRPr lang="en-US" sz="14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indent="0" marL="0">
              <a:buNone/>
            </a:pPr>
            <a:r>
              <a:rPr lang="en-US" sz="1000" b="1" spc="220" kern="0" dirty="0">
                <a:solidFill>
                  <a:srgbClr val="5B4BE8"/>
                </a:solidFill>
                <a:latin typeface="Calibri" pitchFamily="34" charset="0"/>
                <a:ea typeface="Calibri" pitchFamily="34" charset="-122"/>
                <a:cs typeface="Calibri" pitchFamily="34" charset="-120"/>
              </a:rPr>
              <a:t>CLOSE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indent="0" marL="0">
              <a:buNone/>
            </a:pPr>
            <a:r>
              <a:rPr lang="en-US" sz="3000" b="1" dirty="0">
                <a:solidFill>
                  <a:srgbClr val="141235"/>
                </a:solidFill>
                <a:latin typeface="Cambria" pitchFamily="34" charset="0"/>
                <a:ea typeface="Cambria" pitchFamily="34" charset="-122"/>
                <a:cs typeface="Cambria" pitchFamily="34" charset="-120"/>
              </a:rPr>
              <a:t>Two days, one build-up</a:t>
            </a:r>
            <a:endParaRPr lang="en-US" sz="3000" dirty="0"/>
          </a:p>
        </p:txBody>
      </p:sp>
      <p:sp>
        <p:nvSpPr>
          <p:cNvPr id="4" name="Shape 2"/>
          <p:cNvSpPr/>
          <p:nvPr/>
        </p:nvSpPr>
        <p:spPr>
          <a:xfrm>
            <a:off x="566928" y="2103120"/>
            <a:ext cx="1454288" cy="2194560"/>
          </a:xfrm>
          <a:prstGeom prst="roundRect">
            <a:avLst>
              <a:gd name="adj" fmla="val 6288"/>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5" name="Shape 3"/>
          <p:cNvSpPr/>
          <p:nvPr/>
        </p:nvSpPr>
        <p:spPr>
          <a:xfrm>
            <a:off x="1102048" y="2286000"/>
            <a:ext cx="384048" cy="384048"/>
          </a:xfrm>
          <a:prstGeom prst="ellipse">
            <a:avLst/>
          </a:prstGeom>
          <a:solidFill>
            <a:srgbClr val="5B4BE8"/>
          </a:solidFill>
          <a:ln w="12700">
            <a:solidFill>
              <a:srgbClr val="5B4BE8"/>
            </a:solidFill>
            <a:prstDash val="solid"/>
          </a:ln>
        </p:spPr>
      </p:sp>
      <p:pic>
        <p:nvPicPr>
          <p:cNvPr id="6" name="Image 0" descr="preencoded.png">    </p:cNvPr>
          <p:cNvPicPr>
            <a:picLocks noChangeAspect="1"/>
          </p:cNvPicPr>
          <p:nvPr/>
        </p:nvPicPr>
        <p:blipFill>
          <a:blip r:embed="rId1"/>
          <a:stretch>
            <a:fillRect/>
          </a:stretch>
        </p:blipFill>
        <p:spPr>
          <a:xfrm>
            <a:off x="1198060" y="2382012"/>
            <a:ext cx="192024" cy="192024"/>
          </a:xfrm>
          <a:prstGeom prst="rect">
            <a:avLst/>
          </a:prstGeom>
        </p:spPr>
      </p:pic>
      <p:sp>
        <p:nvSpPr>
          <p:cNvPr id="7" name="Text 4"/>
          <p:cNvSpPr/>
          <p:nvPr/>
        </p:nvSpPr>
        <p:spPr>
          <a:xfrm>
            <a:off x="658368" y="2798064"/>
            <a:ext cx="1271408" cy="914400"/>
          </a:xfrm>
          <a:prstGeom prst="rect">
            <a:avLst/>
          </a:prstGeom>
          <a:noFill/>
          <a:ln/>
        </p:spPr>
        <p:txBody>
          <a:bodyPr wrap="square" lIns="0" tIns="0" rIns="0" bIns="0" rtlCol="0" anchor="t"/>
          <a:lstStyle/>
          <a:p>
            <a:pPr algn="ctr" indent="0" marL="0">
              <a:lnSpc>
                <a:spcPct val="108000"/>
              </a:lnSpc>
              <a:buNone/>
            </a:pPr>
            <a:r>
              <a:rPr lang="en-US" sz="1150" b="1" dirty="0">
                <a:solidFill>
                  <a:srgbClr val="141235"/>
                </a:solidFill>
                <a:latin typeface="Calibri" pitchFamily="34" charset="0"/>
                <a:ea typeface="Calibri" pitchFamily="34" charset="-122"/>
                <a:cs typeface="Calibri" pitchFamily="34" charset="-120"/>
              </a:rPr>
              <a:t>A hand-written loop</a:t>
            </a:r>
            <a:endParaRPr lang="en-US" sz="1150" dirty="0"/>
          </a:p>
        </p:txBody>
      </p:sp>
      <p:sp>
        <p:nvSpPr>
          <p:cNvPr id="8" name="Text 5"/>
          <p:cNvSpPr/>
          <p:nvPr/>
        </p:nvSpPr>
        <p:spPr>
          <a:xfrm>
            <a:off x="658368" y="3913632"/>
            <a:ext cx="1271408" cy="237744"/>
          </a:xfrm>
          <a:prstGeom prst="rect">
            <a:avLst/>
          </a:prstGeom>
          <a:noFill/>
          <a:ln/>
        </p:spPr>
        <p:txBody>
          <a:bodyPr wrap="square" lIns="0" tIns="0" rIns="0" bIns="0" rtlCol="0" anchor="ctr"/>
          <a:lstStyle/>
          <a:p>
            <a:pPr algn="ctr" indent="0" marL="0">
              <a:buNone/>
            </a:pPr>
            <a:r>
              <a:rPr lang="en-US" sz="950" dirty="0">
                <a:solidFill>
                  <a:srgbClr val="9B98B4"/>
                </a:solidFill>
                <a:latin typeface="Calibri" pitchFamily="34" charset="0"/>
                <a:ea typeface="Calibri" pitchFamily="34" charset="-122"/>
                <a:cs typeface="Calibri" pitchFamily="34" charset="-120"/>
              </a:rPr>
              <a:t>03</a:t>
            </a:r>
            <a:endParaRPr lang="en-US" sz="950" dirty="0"/>
          </a:p>
        </p:txBody>
      </p:sp>
      <p:sp>
        <p:nvSpPr>
          <p:cNvPr id="9" name="Shape 6"/>
          <p:cNvSpPr/>
          <p:nvPr/>
        </p:nvSpPr>
        <p:spPr>
          <a:xfrm>
            <a:off x="2030360" y="3200400"/>
            <a:ext cx="118872" cy="0"/>
          </a:xfrm>
          <a:prstGeom prst="line">
            <a:avLst/>
          </a:prstGeom>
          <a:noFill/>
          <a:ln w="22860">
            <a:solidFill>
              <a:srgbClr val="8E82F5"/>
            </a:solidFill>
            <a:prstDash val="solid"/>
            <a:headEnd type="none"/>
            <a:tailEnd type="triangle"/>
          </a:ln>
        </p:spPr>
      </p:sp>
      <p:sp>
        <p:nvSpPr>
          <p:cNvPr id="10" name="Shape 7"/>
          <p:cNvSpPr/>
          <p:nvPr/>
        </p:nvSpPr>
        <p:spPr>
          <a:xfrm>
            <a:off x="2167520" y="2103120"/>
            <a:ext cx="1454288" cy="2194560"/>
          </a:xfrm>
          <a:prstGeom prst="roundRect">
            <a:avLst>
              <a:gd name="adj" fmla="val 6288"/>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11" name="Shape 8"/>
          <p:cNvSpPr/>
          <p:nvPr/>
        </p:nvSpPr>
        <p:spPr>
          <a:xfrm>
            <a:off x="2702640" y="2286000"/>
            <a:ext cx="384048" cy="384048"/>
          </a:xfrm>
          <a:prstGeom prst="ellipse">
            <a:avLst/>
          </a:prstGeom>
          <a:solidFill>
            <a:srgbClr val="5B4BE8"/>
          </a:solidFill>
          <a:ln w="12700">
            <a:solidFill>
              <a:srgbClr val="5B4BE8"/>
            </a:solidFill>
            <a:prstDash val="solid"/>
          </a:ln>
        </p:spPr>
      </p:sp>
      <p:pic>
        <p:nvPicPr>
          <p:cNvPr id="12" name="Image 1" descr="preencoded.png">    </p:cNvPr>
          <p:cNvPicPr>
            <a:picLocks noChangeAspect="1"/>
          </p:cNvPicPr>
          <p:nvPr/>
        </p:nvPicPr>
        <p:blipFill>
          <a:blip r:embed="rId2"/>
          <a:stretch>
            <a:fillRect/>
          </a:stretch>
        </p:blipFill>
        <p:spPr>
          <a:xfrm>
            <a:off x="2798652" y="2382012"/>
            <a:ext cx="192024" cy="192024"/>
          </a:xfrm>
          <a:prstGeom prst="rect">
            <a:avLst/>
          </a:prstGeom>
        </p:spPr>
      </p:pic>
      <p:sp>
        <p:nvSpPr>
          <p:cNvPr id="13" name="Text 9"/>
          <p:cNvSpPr/>
          <p:nvPr/>
        </p:nvSpPr>
        <p:spPr>
          <a:xfrm>
            <a:off x="2258960" y="2798064"/>
            <a:ext cx="1271408" cy="914400"/>
          </a:xfrm>
          <a:prstGeom prst="rect">
            <a:avLst/>
          </a:prstGeom>
          <a:noFill/>
          <a:ln/>
        </p:spPr>
        <p:txBody>
          <a:bodyPr wrap="square" lIns="0" tIns="0" rIns="0" bIns="0" rtlCol="0" anchor="t"/>
          <a:lstStyle/>
          <a:p>
            <a:pPr algn="ctr" indent="0" marL="0">
              <a:lnSpc>
                <a:spcPct val="108000"/>
              </a:lnSpc>
              <a:buNone/>
            </a:pPr>
            <a:r>
              <a:rPr lang="en-US" sz="1150" b="1" dirty="0">
                <a:solidFill>
                  <a:srgbClr val="141235"/>
                </a:solidFill>
                <a:latin typeface="Calibri" pitchFamily="34" charset="0"/>
                <a:ea typeface="Calibri" pitchFamily="34" charset="-122"/>
                <a:cs typeface="Calibri" pitchFamily="34" charset="-120"/>
              </a:rPr>
              <a:t>Tools, then MCP</a:t>
            </a:r>
            <a:endParaRPr lang="en-US" sz="1150" dirty="0"/>
          </a:p>
        </p:txBody>
      </p:sp>
      <p:sp>
        <p:nvSpPr>
          <p:cNvPr id="14" name="Text 10"/>
          <p:cNvSpPr/>
          <p:nvPr/>
        </p:nvSpPr>
        <p:spPr>
          <a:xfrm>
            <a:off x="2258960" y="3913632"/>
            <a:ext cx="1271408" cy="237744"/>
          </a:xfrm>
          <a:prstGeom prst="rect">
            <a:avLst/>
          </a:prstGeom>
          <a:noFill/>
          <a:ln/>
        </p:spPr>
        <p:txBody>
          <a:bodyPr wrap="square" lIns="0" tIns="0" rIns="0" bIns="0" rtlCol="0" anchor="ctr"/>
          <a:lstStyle/>
          <a:p>
            <a:pPr algn="ctr" indent="0" marL="0">
              <a:buNone/>
            </a:pPr>
            <a:r>
              <a:rPr lang="en-US" sz="950" dirty="0">
                <a:solidFill>
                  <a:srgbClr val="9B98B4"/>
                </a:solidFill>
                <a:latin typeface="Calibri" pitchFamily="34" charset="0"/>
                <a:ea typeface="Calibri" pitchFamily="34" charset="-122"/>
                <a:cs typeface="Calibri" pitchFamily="34" charset="-120"/>
              </a:rPr>
              <a:t>02 · 06</a:t>
            </a:r>
            <a:endParaRPr lang="en-US" sz="950" dirty="0"/>
          </a:p>
        </p:txBody>
      </p:sp>
      <p:sp>
        <p:nvSpPr>
          <p:cNvPr id="15" name="Shape 11"/>
          <p:cNvSpPr/>
          <p:nvPr/>
        </p:nvSpPr>
        <p:spPr>
          <a:xfrm>
            <a:off x="3630952" y="3200400"/>
            <a:ext cx="118872" cy="0"/>
          </a:xfrm>
          <a:prstGeom prst="line">
            <a:avLst/>
          </a:prstGeom>
          <a:noFill/>
          <a:ln w="22860">
            <a:solidFill>
              <a:srgbClr val="8E82F5"/>
            </a:solidFill>
            <a:prstDash val="solid"/>
            <a:headEnd type="none"/>
            <a:tailEnd type="triangle"/>
          </a:ln>
        </p:spPr>
      </p:sp>
      <p:sp>
        <p:nvSpPr>
          <p:cNvPr id="16" name="Shape 12"/>
          <p:cNvSpPr/>
          <p:nvPr/>
        </p:nvSpPr>
        <p:spPr>
          <a:xfrm>
            <a:off x="3768112" y="2103120"/>
            <a:ext cx="1454288" cy="2194560"/>
          </a:xfrm>
          <a:prstGeom prst="roundRect">
            <a:avLst>
              <a:gd name="adj" fmla="val 6288"/>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17" name="Shape 13"/>
          <p:cNvSpPr/>
          <p:nvPr/>
        </p:nvSpPr>
        <p:spPr>
          <a:xfrm>
            <a:off x="4303232" y="2286000"/>
            <a:ext cx="384048" cy="384048"/>
          </a:xfrm>
          <a:prstGeom prst="ellipse">
            <a:avLst/>
          </a:prstGeom>
          <a:solidFill>
            <a:srgbClr val="5B4BE8"/>
          </a:solidFill>
          <a:ln w="12700">
            <a:solidFill>
              <a:srgbClr val="5B4BE8"/>
            </a:solidFill>
            <a:prstDash val="solid"/>
          </a:ln>
        </p:spPr>
      </p:sp>
      <p:pic>
        <p:nvPicPr>
          <p:cNvPr id="18" name="Image 2" descr="preencoded.png">    </p:cNvPr>
          <p:cNvPicPr>
            <a:picLocks noChangeAspect="1"/>
          </p:cNvPicPr>
          <p:nvPr/>
        </p:nvPicPr>
        <p:blipFill>
          <a:blip r:embed="rId3"/>
          <a:stretch>
            <a:fillRect/>
          </a:stretch>
        </p:blipFill>
        <p:spPr>
          <a:xfrm>
            <a:off x="4399244" y="2382012"/>
            <a:ext cx="192024" cy="192024"/>
          </a:xfrm>
          <a:prstGeom prst="rect">
            <a:avLst/>
          </a:prstGeom>
        </p:spPr>
      </p:pic>
      <p:sp>
        <p:nvSpPr>
          <p:cNvPr id="19" name="Text 14"/>
          <p:cNvSpPr/>
          <p:nvPr/>
        </p:nvSpPr>
        <p:spPr>
          <a:xfrm>
            <a:off x="3859552" y="2798064"/>
            <a:ext cx="1271408" cy="914400"/>
          </a:xfrm>
          <a:prstGeom prst="rect">
            <a:avLst/>
          </a:prstGeom>
          <a:noFill/>
          <a:ln/>
        </p:spPr>
        <p:txBody>
          <a:bodyPr wrap="square" lIns="0" tIns="0" rIns="0" bIns="0" rtlCol="0" anchor="t"/>
          <a:lstStyle/>
          <a:p>
            <a:pPr algn="ctr" indent="0" marL="0">
              <a:lnSpc>
                <a:spcPct val="108000"/>
              </a:lnSpc>
              <a:buNone/>
            </a:pPr>
            <a:r>
              <a:rPr lang="en-US" sz="1150" b="1" dirty="0">
                <a:solidFill>
                  <a:srgbClr val="141235"/>
                </a:solidFill>
                <a:latin typeface="Calibri" pitchFamily="34" charset="0"/>
                <a:ea typeface="Calibri" pitchFamily="34" charset="-122"/>
                <a:cs typeface="Calibri" pitchFamily="34" charset="-120"/>
              </a:rPr>
              <a:t>Frameworks</a:t>
            </a:r>
            <a:endParaRPr lang="en-US" sz="1150" dirty="0"/>
          </a:p>
        </p:txBody>
      </p:sp>
      <p:sp>
        <p:nvSpPr>
          <p:cNvPr id="20" name="Text 15"/>
          <p:cNvSpPr/>
          <p:nvPr/>
        </p:nvSpPr>
        <p:spPr>
          <a:xfrm>
            <a:off x="3859552" y="3913632"/>
            <a:ext cx="1271408" cy="237744"/>
          </a:xfrm>
          <a:prstGeom prst="rect">
            <a:avLst/>
          </a:prstGeom>
          <a:noFill/>
          <a:ln/>
        </p:spPr>
        <p:txBody>
          <a:bodyPr wrap="square" lIns="0" tIns="0" rIns="0" bIns="0" rtlCol="0" anchor="ctr"/>
          <a:lstStyle/>
          <a:p>
            <a:pPr algn="ctr" indent="0" marL="0">
              <a:buNone/>
            </a:pPr>
            <a:r>
              <a:rPr lang="en-US" sz="950" dirty="0">
                <a:solidFill>
                  <a:srgbClr val="9B98B4"/>
                </a:solidFill>
                <a:latin typeface="Calibri" pitchFamily="34" charset="0"/>
                <a:ea typeface="Calibri" pitchFamily="34" charset="-122"/>
                <a:cs typeface="Calibri" pitchFamily="34" charset="-120"/>
              </a:rPr>
              <a:t>09</a:t>
            </a:r>
            <a:endParaRPr lang="en-US" sz="950" dirty="0"/>
          </a:p>
        </p:txBody>
      </p:sp>
      <p:sp>
        <p:nvSpPr>
          <p:cNvPr id="21" name="Shape 16"/>
          <p:cNvSpPr/>
          <p:nvPr/>
        </p:nvSpPr>
        <p:spPr>
          <a:xfrm>
            <a:off x="5231544" y="3200400"/>
            <a:ext cx="118872" cy="0"/>
          </a:xfrm>
          <a:prstGeom prst="line">
            <a:avLst/>
          </a:prstGeom>
          <a:noFill/>
          <a:ln w="22860">
            <a:solidFill>
              <a:srgbClr val="8E82F5"/>
            </a:solidFill>
            <a:prstDash val="solid"/>
            <a:headEnd type="none"/>
            <a:tailEnd type="triangle"/>
          </a:ln>
        </p:spPr>
      </p:sp>
      <p:sp>
        <p:nvSpPr>
          <p:cNvPr id="22" name="Shape 17"/>
          <p:cNvSpPr/>
          <p:nvPr/>
        </p:nvSpPr>
        <p:spPr>
          <a:xfrm>
            <a:off x="5368704" y="2103120"/>
            <a:ext cx="1454288" cy="2194560"/>
          </a:xfrm>
          <a:prstGeom prst="roundRect">
            <a:avLst>
              <a:gd name="adj" fmla="val 6288"/>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23" name="Shape 18"/>
          <p:cNvSpPr/>
          <p:nvPr/>
        </p:nvSpPr>
        <p:spPr>
          <a:xfrm>
            <a:off x="5903824" y="2286000"/>
            <a:ext cx="384048" cy="384048"/>
          </a:xfrm>
          <a:prstGeom prst="ellipse">
            <a:avLst/>
          </a:prstGeom>
          <a:solidFill>
            <a:srgbClr val="5B4BE8"/>
          </a:solidFill>
          <a:ln w="12700">
            <a:solidFill>
              <a:srgbClr val="5B4BE8"/>
            </a:solidFill>
            <a:prstDash val="solid"/>
          </a:ln>
        </p:spPr>
      </p:sp>
      <p:pic>
        <p:nvPicPr>
          <p:cNvPr id="24" name="Image 3" descr="preencoded.png">    </p:cNvPr>
          <p:cNvPicPr>
            <a:picLocks noChangeAspect="1"/>
          </p:cNvPicPr>
          <p:nvPr/>
        </p:nvPicPr>
        <p:blipFill>
          <a:blip r:embed="rId4"/>
          <a:stretch>
            <a:fillRect/>
          </a:stretch>
        </p:blipFill>
        <p:spPr>
          <a:xfrm>
            <a:off x="5999836" y="2382012"/>
            <a:ext cx="192024" cy="192024"/>
          </a:xfrm>
          <a:prstGeom prst="rect">
            <a:avLst/>
          </a:prstGeom>
        </p:spPr>
      </p:pic>
      <p:sp>
        <p:nvSpPr>
          <p:cNvPr id="25" name="Text 19"/>
          <p:cNvSpPr/>
          <p:nvPr/>
        </p:nvSpPr>
        <p:spPr>
          <a:xfrm>
            <a:off x="5460144" y="2798064"/>
            <a:ext cx="1271408" cy="914400"/>
          </a:xfrm>
          <a:prstGeom prst="rect">
            <a:avLst/>
          </a:prstGeom>
          <a:noFill/>
          <a:ln/>
        </p:spPr>
        <p:txBody>
          <a:bodyPr wrap="square" lIns="0" tIns="0" rIns="0" bIns="0" rtlCol="0" anchor="t"/>
          <a:lstStyle/>
          <a:p>
            <a:pPr algn="ctr" indent="0" marL="0">
              <a:lnSpc>
                <a:spcPct val="108000"/>
              </a:lnSpc>
              <a:buNone/>
            </a:pPr>
            <a:r>
              <a:rPr lang="en-US" sz="1150" b="1" dirty="0">
                <a:solidFill>
                  <a:srgbClr val="141235"/>
                </a:solidFill>
                <a:latin typeface="Calibri" pitchFamily="34" charset="0"/>
                <a:ea typeface="Calibri" pitchFamily="34" charset="-122"/>
                <a:cs typeface="Calibri" pitchFamily="34" charset="-120"/>
              </a:rPr>
              <a:t>Retrieval and memory</a:t>
            </a:r>
            <a:endParaRPr lang="en-US" sz="1150" dirty="0"/>
          </a:p>
        </p:txBody>
      </p:sp>
      <p:sp>
        <p:nvSpPr>
          <p:cNvPr id="26" name="Text 20"/>
          <p:cNvSpPr/>
          <p:nvPr/>
        </p:nvSpPr>
        <p:spPr>
          <a:xfrm>
            <a:off x="5460144" y="3913632"/>
            <a:ext cx="1271408" cy="237744"/>
          </a:xfrm>
          <a:prstGeom prst="rect">
            <a:avLst/>
          </a:prstGeom>
          <a:noFill/>
          <a:ln/>
        </p:spPr>
        <p:txBody>
          <a:bodyPr wrap="square" lIns="0" tIns="0" rIns="0" bIns="0" rtlCol="0" anchor="ctr"/>
          <a:lstStyle/>
          <a:p>
            <a:pPr algn="ctr" indent="0" marL="0">
              <a:buNone/>
            </a:pPr>
            <a:r>
              <a:rPr lang="en-US" sz="950" dirty="0">
                <a:solidFill>
                  <a:srgbClr val="9B98B4"/>
                </a:solidFill>
                <a:latin typeface="Calibri" pitchFamily="34" charset="0"/>
                <a:ea typeface="Calibri" pitchFamily="34" charset="-122"/>
                <a:cs typeface="Calibri" pitchFamily="34" charset="-120"/>
              </a:rPr>
              <a:t>11 · 12</a:t>
            </a:r>
            <a:endParaRPr lang="en-US" sz="950" dirty="0"/>
          </a:p>
        </p:txBody>
      </p:sp>
      <p:sp>
        <p:nvSpPr>
          <p:cNvPr id="27" name="Shape 21"/>
          <p:cNvSpPr/>
          <p:nvPr/>
        </p:nvSpPr>
        <p:spPr>
          <a:xfrm>
            <a:off x="6832136" y="3200400"/>
            <a:ext cx="118872" cy="0"/>
          </a:xfrm>
          <a:prstGeom prst="line">
            <a:avLst/>
          </a:prstGeom>
          <a:noFill/>
          <a:ln w="22860">
            <a:solidFill>
              <a:srgbClr val="8E82F5"/>
            </a:solidFill>
            <a:prstDash val="solid"/>
            <a:headEnd type="none"/>
            <a:tailEnd type="triangle"/>
          </a:ln>
        </p:spPr>
      </p:sp>
      <p:sp>
        <p:nvSpPr>
          <p:cNvPr id="28" name="Shape 22"/>
          <p:cNvSpPr/>
          <p:nvPr/>
        </p:nvSpPr>
        <p:spPr>
          <a:xfrm>
            <a:off x="6969296" y="2103120"/>
            <a:ext cx="1454288" cy="2194560"/>
          </a:xfrm>
          <a:prstGeom prst="roundRect">
            <a:avLst>
              <a:gd name="adj" fmla="val 6288"/>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29" name="Shape 23"/>
          <p:cNvSpPr/>
          <p:nvPr/>
        </p:nvSpPr>
        <p:spPr>
          <a:xfrm>
            <a:off x="7504415" y="2286000"/>
            <a:ext cx="384048" cy="384048"/>
          </a:xfrm>
          <a:prstGeom prst="ellipse">
            <a:avLst/>
          </a:prstGeom>
          <a:solidFill>
            <a:srgbClr val="5B4BE8"/>
          </a:solidFill>
          <a:ln w="12700">
            <a:solidFill>
              <a:srgbClr val="5B4BE8"/>
            </a:solidFill>
            <a:prstDash val="solid"/>
          </a:ln>
        </p:spPr>
      </p:sp>
      <p:pic>
        <p:nvPicPr>
          <p:cNvPr id="30" name="Image 4" descr="preencoded.png">    </p:cNvPr>
          <p:cNvPicPr>
            <a:picLocks noChangeAspect="1"/>
          </p:cNvPicPr>
          <p:nvPr/>
        </p:nvPicPr>
        <p:blipFill>
          <a:blip r:embed="rId5"/>
          <a:stretch>
            <a:fillRect/>
          </a:stretch>
        </p:blipFill>
        <p:spPr>
          <a:xfrm>
            <a:off x="7600427" y="2382012"/>
            <a:ext cx="192024" cy="192024"/>
          </a:xfrm>
          <a:prstGeom prst="rect">
            <a:avLst/>
          </a:prstGeom>
        </p:spPr>
      </p:pic>
      <p:sp>
        <p:nvSpPr>
          <p:cNvPr id="31" name="Text 24"/>
          <p:cNvSpPr/>
          <p:nvPr/>
        </p:nvSpPr>
        <p:spPr>
          <a:xfrm>
            <a:off x="7060736" y="2798064"/>
            <a:ext cx="1271408" cy="914400"/>
          </a:xfrm>
          <a:prstGeom prst="rect">
            <a:avLst/>
          </a:prstGeom>
          <a:noFill/>
          <a:ln/>
        </p:spPr>
        <p:txBody>
          <a:bodyPr wrap="square" lIns="0" tIns="0" rIns="0" bIns="0" rtlCol="0" anchor="t"/>
          <a:lstStyle/>
          <a:p>
            <a:pPr algn="ctr" indent="0" marL="0">
              <a:lnSpc>
                <a:spcPct val="108000"/>
              </a:lnSpc>
              <a:buNone/>
            </a:pPr>
            <a:r>
              <a:rPr lang="en-US" sz="1150" b="1" dirty="0">
                <a:solidFill>
                  <a:srgbClr val="141235"/>
                </a:solidFill>
                <a:latin typeface="Calibri" pitchFamily="34" charset="0"/>
                <a:ea typeface="Calibri" pitchFamily="34" charset="-122"/>
                <a:cs typeface="Calibri" pitchFamily="34" charset="-120"/>
              </a:rPr>
              <a:t>Delegation</a:t>
            </a:r>
            <a:endParaRPr lang="en-US" sz="1150" dirty="0"/>
          </a:p>
        </p:txBody>
      </p:sp>
      <p:sp>
        <p:nvSpPr>
          <p:cNvPr id="32" name="Text 25"/>
          <p:cNvSpPr/>
          <p:nvPr/>
        </p:nvSpPr>
        <p:spPr>
          <a:xfrm>
            <a:off x="7060736" y="3913632"/>
            <a:ext cx="1271408" cy="237744"/>
          </a:xfrm>
          <a:prstGeom prst="rect">
            <a:avLst/>
          </a:prstGeom>
          <a:noFill/>
          <a:ln/>
        </p:spPr>
        <p:txBody>
          <a:bodyPr wrap="square" lIns="0" tIns="0" rIns="0" bIns="0" rtlCol="0" anchor="ctr"/>
          <a:lstStyle/>
          <a:p>
            <a:pPr algn="ctr" indent="0" marL="0">
              <a:buNone/>
            </a:pPr>
            <a:r>
              <a:rPr lang="en-US" sz="950" dirty="0">
                <a:solidFill>
                  <a:srgbClr val="9B98B4"/>
                </a:solidFill>
                <a:latin typeface="Calibri" pitchFamily="34" charset="0"/>
                <a:ea typeface="Calibri" pitchFamily="34" charset="-122"/>
                <a:cs typeface="Calibri" pitchFamily="34" charset="-120"/>
              </a:rPr>
              <a:t>13</a:t>
            </a:r>
            <a:endParaRPr lang="en-US" sz="950" dirty="0"/>
          </a:p>
        </p:txBody>
      </p:sp>
      <p:sp>
        <p:nvSpPr>
          <p:cNvPr id="33" name="Shape 26"/>
          <p:cNvSpPr/>
          <p:nvPr/>
        </p:nvSpPr>
        <p:spPr>
          <a:xfrm>
            <a:off x="8432727" y="3200400"/>
            <a:ext cx="118872" cy="0"/>
          </a:xfrm>
          <a:prstGeom prst="line">
            <a:avLst/>
          </a:prstGeom>
          <a:noFill/>
          <a:ln w="22860">
            <a:solidFill>
              <a:srgbClr val="8E82F5"/>
            </a:solidFill>
            <a:prstDash val="solid"/>
            <a:headEnd type="none"/>
            <a:tailEnd type="triangle"/>
          </a:ln>
        </p:spPr>
      </p:sp>
      <p:sp>
        <p:nvSpPr>
          <p:cNvPr id="34" name="Shape 27"/>
          <p:cNvSpPr/>
          <p:nvPr/>
        </p:nvSpPr>
        <p:spPr>
          <a:xfrm>
            <a:off x="8569887" y="2103120"/>
            <a:ext cx="1454288" cy="2194560"/>
          </a:xfrm>
          <a:prstGeom prst="roundRect">
            <a:avLst>
              <a:gd name="adj" fmla="val 6288"/>
            </a:avLst>
          </a:prstGeom>
          <a:solidFill>
            <a:srgbClr val="FFFFFF"/>
          </a:solidFill>
          <a:ln w="12700">
            <a:solidFill>
              <a:srgbClr val="E3E4F2"/>
            </a:solidFill>
            <a:prstDash val="solid"/>
          </a:ln>
          <a:effectLst>
            <a:outerShdw sx="100000" sy="100000" kx="0" ky="0" algn="bl" rotWithShape="0" blurRad="101600" dist="508" dir="5400000">
              <a:srgbClr val="1B1A4A">
                <a:alpha val="8000"/>
              </a:srgbClr>
            </a:outerShdw>
          </a:effectLst>
        </p:spPr>
      </p:sp>
      <p:sp>
        <p:nvSpPr>
          <p:cNvPr id="35" name="Shape 28"/>
          <p:cNvSpPr/>
          <p:nvPr/>
        </p:nvSpPr>
        <p:spPr>
          <a:xfrm>
            <a:off x="9105007" y="2286000"/>
            <a:ext cx="384048" cy="384048"/>
          </a:xfrm>
          <a:prstGeom prst="ellipse">
            <a:avLst/>
          </a:prstGeom>
          <a:solidFill>
            <a:srgbClr val="5B4BE8"/>
          </a:solidFill>
          <a:ln w="12700">
            <a:solidFill>
              <a:srgbClr val="5B4BE8"/>
            </a:solidFill>
            <a:prstDash val="solid"/>
          </a:ln>
        </p:spPr>
      </p:sp>
      <p:pic>
        <p:nvPicPr>
          <p:cNvPr id="36" name="Image 5" descr="preencoded.png">    </p:cNvPr>
          <p:cNvPicPr>
            <a:picLocks noChangeAspect="1"/>
          </p:cNvPicPr>
          <p:nvPr/>
        </p:nvPicPr>
        <p:blipFill>
          <a:blip r:embed="rId6"/>
          <a:stretch>
            <a:fillRect/>
          </a:stretch>
        </p:blipFill>
        <p:spPr>
          <a:xfrm>
            <a:off x="9201019" y="2382012"/>
            <a:ext cx="192024" cy="192024"/>
          </a:xfrm>
          <a:prstGeom prst="rect">
            <a:avLst/>
          </a:prstGeom>
        </p:spPr>
      </p:pic>
      <p:sp>
        <p:nvSpPr>
          <p:cNvPr id="37" name="Text 29"/>
          <p:cNvSpPr/>
          <p:nvPr/>
        </p:nvSpPr>
        <p:spPr>
          <a:xfrm>
            <a:off x="8661327" y="2798064"/>
            <a:ext cx="1271408" cy="914400"/>
          </a:xfrm>
          <a:prstGeom prst="rect">
            <a:avLst/>
          </a:prstGeom>
          <a:noFill/>
          <a:ln/>
        </p:spPr>
        <p:txBody>
          <a:bodyPr wrap="square" lIns="0" tIns="0" rIns="0" bIns="0" rtlCol="0" anchor="t"/>
          <a:lstStyle/>
          <a:p>
            <a:pPr algn="ctr" indent="0" marL="0">
              <a:lnSpc>
                <a:spcPct val="108000"/>
              </a:lnSpc>
              <a:buNone/>
            </a:pPr>
            <a:r>
              <a:rPr lang="en-US" sz="1150" b="1" dirty="0">
                <a:solidFill>
                  <a:srgbClr val="141235"/>
                </a:solidFill>
                <a:latin typeface="Calibri" pitchFamily="34" charset="0"/>
                <a:ea typeface="Calibri" pitchFamily="34" charset="-122"/>
                <a:cs typeface="Calibri" pitchFamily="34" charset="-120"/>
              </a:rPr>
              <a:t>Security and evals</a:t>
            </a:r>
            <a:endParaRPr lang="en-US" sz="1150" dirty="0"/>
          </a:p>
        </p:txBody>
      </p:sp>
      <p:sp>
        <p:nvSpPr>
          <p:cNvPr id="38" name="Text 30"/>
          <p:cNvSpPr/>
          <p:nvPr/>
        </p:nvSpPr>
        <p:spPr>
          <a:xfrm>
            <a:off x="8661327" y="3913632"/>
            <a:ext cx="1271408" cy="237744"/>
          </a:xfrm>
          <a:prstGeom prst="rect">
            <a:avLst/>
          </a:prstGeom>
          <a:noFill/>
          <a:ln/>
        </p:spPr>
        <p:txBody>
          <a:bodyPr wrap="square" lIns="0" tIns="0" rIns="0" bIns="0" rtlCol="0" anchor="ctr"/>
          <a:lstStyle/>
          <a:p>
            <a:pPr algn="ctr" indent="0" marL="0">
              <a:buNone/>
            </a:pPr>
            <a:r>
              <a:rPr lang="en-US" sz="950" dirty="0">
                <a:solidFill>
                  <a:srgbClr val="9B98B4"/>
                </a:solidFill>
                <a:latin typeface="Calibri" pitchFamily="34" charset="0"/>
                <a:ea typeface="Calibri" pitchFamily="34" charset="-122"/>
                <a:cs typeface="Calibri" pitchFamily="34" charset="-120"/>
              </a:rPr>
              <a:t>14 · 15</a:t>
            </a:r>
            <a:endParaRPr lang="en-US" sz="950" dirty="0"/>
          </a:p>
        </p:txBody>
      </p:sp>
      <p:sp>
        <p:nvSpPr>
          <p:cNvPr id="39" name="Shape 31"/>
          <p:cNvSpPr/>
          <p:nvPr/>
        </p:nvSpPr>
        <p:spPr>
          <a:xfrm>
            <a:off x="10033319" y="3200400"/>
            <a:ext cx="118872" cy="0"/>
          </a:xfrm>
          <a:prstGeom prst="line">
            <a:avLst/>
          </a:prstGeom>
          <a:noFill/>
          <a:ln w="22860">
            <a:solidFill>
              <a:srgbClr val="8E82F5"/>
            </a:solidFill>
            <a:prstDash val="solid"/>
            <a:headEnd type="none"/>
            <a:tailEnd type="triangle"/>
          </a:ln>
        </p:spPr>
      </p:sp>
      <p:sp>
        <p:nvSpPr>
          <p:cNvPr id="40" name="Shape 32"/>
          <p:cNvSpPr/>
          <p:nvPr/>
        </p:nvSpPr>
        <p:spPr>
          <a:xfrm>
            <a:off x="10170479" y="2103120"/>
            <a:ext cx="1454288" cy="2194560"/>
          </a:xfrm>
          <a:prstGeom prst="roundRect">
            <a:avLst>
              <a:gd name="adj" fmla="val 6288"/>
            </a:avLst>
          </a:prstGeom>
          <a:solidFill>
            <a:srgbClr val="5B4BE8"/>
          </a:solidFill>
          <a:ln w="12700">
            <a:solidFill>
              <a:srgbClr val="5B4BE8"/>
            </a:solidFill>
            <a:prstDash val="solid"/>
          </a:ln>
          <a:effectLst>
            <a:outerShdw sx="100000" sy="100000" kx="0" ky="0" algn="bl" rotWithShape="0" blurRad="101600" dist="508" dir="5400000">
              <a:srgbClr val="1B1A4A">
                <a:alpha val="8000"/>
              </a:srgbClr>
            </a:outerShdw>
          </a:effectLst>
        </p:spPr>
      </p:sp>
      <p:sp>
        <p:nvSpPr>
          <p:cNvPr id="41" name="Shape 33"/>
          <p:cNvSpPr/>
          <p:nvPr/>
        </p:nvSpPr>
        <p:spPr>
          <a:xfrm>
            <a:off x="10705599" y="2286000"/>
            <a:ext cx="384048" cy="384048"/>
          </a:xfrm>
          <a:prstGeom prst="ellipse">
            <a:avLst/>
          </a:prstGeom>
          <a:solidFill>
            <a:srgbClr val="F5A524"/>
          </a:solidFill>
          <a:ln w="12700">
            <a:solidFill>
              <a:srgbClr val="F5A524"/>
            </a:solidFill>
            <a:prstDash val="solid"/>
          </a:ln>
        </p:spPr>
      </p:sp>
      <p:pic>
        <p:nvPicPr>
          <p:cNvPr id="42" name="Image 6" descr="preencoded.png">    </p:cNvPr>
          <p:cNvPicPr>
            <a:picLocks noChangeAspect="1"/>
          </p:cNvPicPr>
          <p:nvPr/>
        </p:nvPicPr>
        <p:blipFill>
          <a:blip r:embed="rId7"/>
          <a:stretch>
            <a:fillRect/>
          </a:stretch>
        </p:blipFill>
        <p:spPr>
          <a:xfrm>
            <a:off x="10801611" y="2382012"/>
            <a:ext cx="192024" cy="192024"/>
          </a:xfrm>
          <a:prstGeom prst="rect">
            <a:avLst/>
          </a:prstGeom>
        </p:spPr>
      </p:pic>
      <p:sp>
        <p:nvSpPr>
          <p:cNvPr id="43" name="Text 34"/>
          <p:cNvSpPr/>
          <p:nvPr/>
        </p:nvSpPr>
        <p:spPr>
          <a:xfrm>
            <a:off x="10261919" y="2798064"/>
            <a:ext cx="1271408" cy="914400"/>
          </a:xfrm>
          <a:prstGeom prst="rect">
            <a:avLst/>
          </a:prstGeom>
          <a:noFill/>
          <a:ln/>
        </p:spPr>
        <p:txBody>
          <a:bodyPr wrap="square" lIns="0" tIns="0" rIns="0" bIns="0" rtlCol="0" anchor="t"/>
          <a:lstStyle/>
          <a:p>
            <a:pPr algn="ctr" indent="0" marL="0">
              <a:lnSpc>
                <a:spcPct val="108000"/>
              </a:lnSpc>
              <a:buNone/>
            </a:pPr>
            <a:r>
              <a:rPr lang="en-US" sz="1150" b="1" dirty="0">
                <a:solidFill>
                  <a:srgbClr val="FFFFFF"/>
                </a:solidFill>
                <a:latin typeface="Calibri" pitchFamily="34" charset="0"/>
                <a:ea typeface="Calibri" pitchFamily="34" charset="-122"/>
                <a:cs typeface="Calibri" pitchFamily="34" charset="-120"/>
              </a:rPr>
              <a:t>A decision about what to automate</a:t>
            </a:r>
            <a:endParaRPr lang="en-US" sz="1150" dirty="0"/>
          </a:p>
        </p:txBody>
      </p:sp>
      <p:sp>
        <p:nvSpPr>
          <p:cNvPr id="44" name="Text 35"/>
          <p:cNvSpPr/>
          <p:nvPr/>
        </p:nvSpPr>
        <p:spPr>
          <a:xfrm>
            <a:off x="10261919" y="3913632"/>
            <a:ext cx="1271408" cy="237744"/>
          </a:xfrm>
          <a:prstGeom prst="rect">
            <a:avLst/>
          </a:prstGeom>
          <a:noFill/>
          <a:ln/>
        </p:spPr>
        <p:txBody>
          <a:bodyPr wrap="square" lIns="0" tIns="0" rIns="0" bIns="0" rtlCol="0" anchor="ctr"/>
          <a:lstStyle/>
          <a:p>
            <a:pPr algn="ctr" indent="0" marL="0">
              <a:buNone/>
            </a:pPr>
            <a:r>
              <a:rPr lang="en-US" sz="950" dirty="0">
                <a:solidFill>
                  <a:srgbClr val="CFC9FF"/>
                </a:solidFill>
                <a:latin typeface="Calibri" pitchFamily="34" charset="0"/>
                <a:ea typeface="Calibri" pitchFamily="34" charset="-122"/>
                <a:cs typeface="Calibri" pitchFamily="34" charset="-120"/>
              </a:rPr>
              <a:t>17</a:t>
            </a:r>
            <a:endParaRPr lang="en-US" sz="950" dirty="0"/>
          </a:p>
        </p:txBody>
      </p:sp>
      <p:sp>
        <p:nvSpPr>
          <p:cNvPr id="45" name="Shape 36"/>
          <p:cNvSpPr/>
          <p:nvPr/>
        </p:nvSpPr>
        <p:spPr>
          <a:xfrm>
            <a:off x="566928" y="4626864"/>
            <a:ext cx="11057839" cy="822960"/>
          </a:xfrm>
          <a:prstGeom prst="roundRect">
            <a:avLst>
              <a:gd name="adj" fmla="val 10000"/>
            </a:avLst>
          </a:prstGeom>
          <a:solidFill>
            <a:srgbClr val="FFF4E0"/>
          </a:solidFill>
          <a:ln w="12700">
            <a:solidFill>
              <a:srgbClr val="F3DCB0"/>
            </a:solidFill>
            <a:prstDash val="solid"/>
          </a:ln>
        </p:spPr>
      </p:sp>
      <p:sp>
        <p:nvSpPr>
          <p:cNvPr id="46" name="Shape 37"/>
          <p:cNvSpPr/>
          <p:nvPr/>
        </p:nvSpPr>
        <p:spPr>
          <a:xfrm>
            <a:off x="841248" y="4846320"/>
            <a:ext cx="384048" cy="384048"/>
          </a:xfrm>
          <a:prstGeom prst="ellipse">
            <a:avLst/>
          </a:prstGeom>
          <a:solidFill>
            <a:srgbClr val="F5A524"/>
          </a:solidFill>
          <a:ln w="12700">
            <a:solidFill>
              <a:srgbClr val="F5A524"/>
            </a:solidFill>
            <a:prstDash val="solid"/>
          </a:ln>
        </p:spPr>
      </p:sp>
      <p:pic>
        <p:nvPicPr>
          <p:cNvPr id="47" name="Image 7" descr="preencoded.png">    </p:cNvPr>
          <p:cNvPicPr>
            <a:picLocks noChangeAspect="1"/>
          </p:cNvPicPr>
          <p:nvPr/>
        </p:nvPicPr>
        <p:blipFill>
          <a:blip r:embed="rId8"/>
          <a:stretch>
            <a:fillRect/>
          </a:stretch>
        </p:blipFill>
        <p:spPr>
          <a:xfrm>
            <a:off x="937260" y="4942332"/>
            <a:ext cx="192024" cy="192024"/>
          </a:xfrm>
          <a:prstGeom prst="rect">
            <a:avLst/>
          </a:prstGeom>
        </p:spPr>
      </p:pic>
      <p:sp>
        <p:nvSpPr>
          <p:cNvPr id="48" name="Text 38"/>
          <p:cNvSpPr/>
          <p:nvPr/>
        </p:nvSpPr>
        <p:spPr>
          <a:xfrm>
            <a:off x="1371600" y="4681728"/>
            <a:ext cx="9960559" cy="713232"/>
          </a:xfrm>
          <a:prstGeom prst="rect">
            <a:avLst/>
          </a:prstGeom>
          <a:noFill/>
          <a:ln/>
        </p:spPr>
        <p:txBody>
          <a:bodyPr wrap="square" lIns="0" tIns="0" rIns="0" bIns="0" rtlCol="0" anchor="ctr"/>
          <a:lstStyle/>
          <a:p>
            <a:pPr indent="0" marL="0">
              <a:buNone/>
            </a:pPr>
            <a:r>
              <a:rPr lang="en-US" sz="1050" b="1" spc="120" kern="0" dirty="0">
                <a:solidFill>
                  <a:srgbClr val="E08700"/>
                </a:solidFill>
                <a:latin typeface="Calibri" pitchFamily="34" charset="0"/>
                <a:ea typeface="Calibri" pitchFamily="34" charset="-122"/>
                <a:cs typeface="Calibri" pitchFamily="34" charset="-120"/>
              </a:rPr>
              <a:t>In plain terms   </a:t>
            </a:r>
            <a:pPr indent="0" marL="0">
              <a:buNone/>
            </a:pPr>
            <a:r>
              <a:rPr lang="en-US" sz="1200" dirty="0">
                <a:solidFill>
                  <a:srgbClr val="3B3760"/>
                </a:solidFill>
                <a:latin typeface="Calibri" pitchFamily="34" charset="0"/>
                <a:ea typeface="Calibri" pitchFamily="34" charset="-122"/>
                <a:cs typeface="Calibri" pitchFamily="34" charset="-120"/>
              </a:rPr>
              <a:t>Every layer above the first one is a delta against the loop you wrote by hand on day one. That is still the fastest way to explain any of them.</a:t>
            </a:r>
            <a:endParaRPr lang="en-US" sz="1050" dirty="0"/>
          </a:p>
        </p:txBody>
      </p:sp>
      <p:sp>
        <p:nvSpPr>
          <p:cNvPr id="49" name="Text 39"/>
          <p:cNvSpPr/>
          <p:nvPr/>
        </p:nvSpPr>
        <p:spPr>
          <a:xfrm>
            <a:off x="566928" y="5632704"/>
            <a:ext cx="11057839" cy="256032"/>
          </a:xfrm>
          <a:prstGeom prst="rect">
            <a:avLst/>
          </a:prstGeom>
          <a:noFill/>
          <a:ln/>
        </p:spPr>
        <p:txBody>
          <a:bodyPr wrap="square" lIns="0" tIns="0" rIns="0" bIns="0" rtlCol="0" anchor="ctr"/>
          <a:lstStyle/>
          <a:p>
            <a:pPr indent="0" marL="0">
              <a:buNone/>
            </a:pPr>
            <a:r>
              <a:rPr lang="en-US" sz="950" i="1" dirty="0">
                <a:solidFill>
                  <a:srgbClr val="9B98B4"/>
                </a:solidFill>
                <a:latin typeface="Calibri" pitchFamily="34" charset="0"/>
                <a:ea typeface="Calibri" pitchFamily="34" charset="-122"/>
                <a:cs typeface="Calibri" pitchFamily="34" charset="-120"/>
              </a:rPr>
              <a:t>Read the chain back out loud, left to right. It takes twenty seconds and it is the best recall device you have.</a:t>
            </a:r>
            <a:endParaRPr lang="en-US" sz="9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0B0A22"/>
        </a:solidFill>
      </p:bgPr>
    </p:bg>
    <p:spTree>
      <p:nvGrpSpPr>
        <p:cNvPr id="1" name=""/>
        <p:cNvGrpSpPr/>
        <p:nvPr/>
      </p:nvGrpSpPr>
      <p:grpSpPr>
        <a:xfrm>
          <a:off x="0" y="0"/>
          <a:ext cx="0" cy="0"/>
          <a:chOff x="0" y="0"/>
          <a:chExt cx="0" cy="0"/>
        </a:xfrm>
      </p:grpSpPr>
      <p:pic>
        <p:nvPicPr>
          <p:cNvPr id="2" name="Image 0" descr="bg dark">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2286000"/>
            <a:ext cx="7315200" cy="292608"/>
          </a:xfrm>
          <a:prstGeom prst="rect">
            <a:avLst/>
          </a:prstGeom>
          <a:noFill/>
          <a:ln/>
        </p:spPr>
        <p:txBody>
          <a:bodyPr wrap="square" lIns="0" tIns="0" rIns="0" bIns="0" rtlCol="0" anchor="ctr"/>
          <a:lstStyle/>
          <a:p>
            <a:pPr indent="0" marL="0">
              <a:buNone/>
            </a:pPr>
            <a:r>
              <a:rPr lang="en-US" sz="1300" b="1" spc="340" kern="0" dirty="0">
                <a:solidFill>
                  <a:srgbClr val="F5A524"/>
                </a:solidFill>
                <a:latin typeface="Calibri" pitchFamily="34" charset="0"/>
                <a:ea typeface="Calibri" pitchFamily="34" charset="-122"/>
                <a:cs typeface="Calibri" pitchFamily="34" charset="-120"/>
              </a:rPr>
              <a:t>THANK YOU</a:t>
            </a:r>
            <a:endParaRPr lang="en-US" sz="1300" dirty="0"/>
          </a:p>
        </p:txBody>
      </p:sp>
      <p:sp>
        <p:nvSpPr>
          <p:cNvPr id="4" name="Text 1"/>
          <p:cNvSpPr/>
          <p:nvPr/>
        </p:nvSpPr>
        <p:spPr>
          <a:xfrm>
            <a:off x="530352" y="2688336"/>
            <a:ext cx="1060704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Questions, and where to go next</a:t>
            </a:r>
            <a:endParaRPr lang="en-US" sz="4800" dirty="0"/>
          </a:p>
        </p:txBody>
      </p:sp>
      <p:sp>
        <p:nvSpPr>
          <p:cNvPr id="5" name="Text 2"/>
          <p:cNvSpPr/>
          <p:nvPr/>
        </p:nvSpPr>
        <p:spPr>
          <a:xfrm>
            <a:off x="566928" y="3767328"/>
            <a:ext cx="9692640" cy="859536"/>
          </a:xfrm>
          <a:prstGeom prst="rect">
            <a:avLst/>
          </a:prstGeom>
          <a:noFill/>
          <a:ln/>
        </p:spPr>
        <p:txBody>
          <a:bodyPr wrap="square" lIns="0" tIns="0" rIns="0" bIns="0" rtlCol="0" anchor="t"/>
          <a:lstStyle/>
          <a:p>
            <a:pPr indent="0" marL="0">
              <a:lnSpc>
                <a:spcPct val="120000"/>
              </a:lnSpc>
              <a:buNone/>
            </a:pPr>
            <a:r>
              <a:rPr lang="en-US" sz="1700" dirty="0">
                <a:solidFill>
                  <a:srgbClr val="B9B4E0"/>
                </a:solidFill>
                <a:latin typeface="Calibri" pitchFamily="34" charset="0"/>
                <a:ea typeface="Calibri" pitchFamily="34" charset="-122"/>
                <a:cs typeface="Calibri" pitchFamily="34" charset="-120"/>
              </a:rPr>
              <a:t>Every notebook stays yours after today. The loop you wrote by hand is still the fastest way to explain any layer above it — including the ones that do not exist yet.</a:t>
            </a:r>
            <a:endParaRPr lang="en-US" sz="1700" dirty="0"/>
          </a:p>
        </p:txBody>
      </p:sp>
      <p:sp>
        <p:nvSpPr>
          <p:cNvPr id="6" name="Shape 3"/>
          <p:cNvSpPr/>
          <p:nvPr/>
        </p:nvSpPr>
        <p:spPr>
          <a:xfrm>
            <a:off x="566928" y="4864608"/>
            <a:ext cx="3171139" cy="420624"/>
          </a:xfrm>
          <a:prstGeom prst="roundRect">
            <a:avLst>
              <a:gd name="adj" fmla="val 50000"/>
            </a:avLst>
          </a:prstGeom>
          <a:solidFill>
            <a:srgbClr val="FFFFFF">
              <a:alpha val="11000"/>
            </a:srgbClr>
          </a:solidFill>
          <a:ln w="12700">
            <a:solidFill>
              <a:srgbClr val="6E5FD8"/>
            </a:solidFill>
            <a:prstDash val="solid"/>
          </a:ln>
        </p:spPr>
      </p:sp>
      <p:sp>
        <p:nvSpPr>
          <p:cNvPr id="7" name="Text 4"/>
          <p:cNvSpPr/>
          <p:nvPr/>
        </p:nvSpPr>
        <p:spPr>
          <a:xfrm>
            <a:off x="566928" y="4864608"/>
            <a:ext cx="3171139" cy="42062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Re-run module 03 with your own tools</a:t>
            </a:r>
            <a:endParaRPr lang="en-US" sz="1100" dirty="0"/>
          </a:p>
        </p:txBody>
      </p:sp>
      <p:sp>
        <p:nvSpPr>
          <p:cNvPr id="8" name="Shape 5"/>
          <p:cNvSpPr/>
          <p:nvPr/>
        </p:nvSpPr>
        <p:spPr>
          <a:xfrm>
            <a:off x="3902659" y="4864608"/>
            <a:ext cx="3332074" cy="420624"/>
          </a:xfrm>
          <a:prstGeom prst="roundRect">
            <a:avLst>
              <a:gd name="adj" fmla="val 50000"/>
            </a:avLst>
          </a:prstGeom>
          <a:solidFill>
            <a:srgbClr val="FFFFFF">
              <a:alpha val="11000"/>
            </a:srgbClr>
          </a:solidFill>
          <a:ln w="12700">
            <a:solidFill>
              <a:srgbClr val="6E5FD8"/>
            </a:solidFill>
            <a:prstDash val="solid"/>
          </a:ln>
        </p:spPr>
      </p:sp>
      <p:sp>
        <p:nvSpPr>
          <p:cNvPr id="9" name="Text 6"/>
          <p:cNvSpPr/>
          <p:nvPr/>
        </p:nvSpPr>
        <p:spPr>
          <a:xfrm>
            <a:off x="3902659" y="4864608"/>
            <a:ext cx="3332074" cy="42062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Wrap one internal API as an MCP server</a:t>
            </a:r>
            <a:endParaRPr lang="en-US" sz="1100" dirty="0"/>
          </a:p>
        </p:txBody>
      </p:sp>
      <p:sp>
        <p:nvSpPr>
          <p:cNvPr id="10" name="Shape 7"/>
          <p:cNvSpPr/>
          <p:nvPr/>
        </p:nvSpPr>
        <p:spPr>
          <a:xfrm>
            <a:off x="7399325" y="4864608"/>
            <a:ext cx="3895344" cy="420624"/>
          </a:xfrm>
          <a:prstGeom prst="roundRect">
            <a:avLst>
              <a:gd name="adj" fmla="val 50000"/>
            </a:avLst>
          </a:prstGeom>
          <a:solidFill>
            <a:srgbClr val="FFFFFF">
              <a:alpha val="11000"/>
            </a:srgbClr>
          </a:solidFill>
          <a:ln w="12700">
            <a:solidFill>
              <a:srgbClr val="6E5FD8"/>
            </a:solidFill>
            <a:prstDash val="solid"/>
          </a:ln>
        </p:spPr>
      </p:sp>
      <p:sp>
        <p:nvSpPr>
          <p:cNvPr id="11" name="Text 8"/>
          <p:cNvSpPr/>
          <p:nvPr/>
        </p:nvSpPr>
        <p:spPr>
          <a:xfrm>
            <a:off x="7399325" y="4864608"/>
            <a:ext cx="3895344" cy="42062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Write twenty golden questions for one process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111</vt:i4>
      </vt:variant>
    </vt:vector>
  </HeadingPairs>
  <TitlesOfParts>
    <vt:vector size="1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vector>
  </TitlesOfParts>
  <Company>AI Agents in Practice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in Practice — Foundations, Frameworks, Protocols &amp; Production</dc:title>
  <dc:subject>PptxGenJS Presentation</dc:subject>
  <dc:creator>Tarek Atwan</dc:creator>
  <cp:lastModifiedBy>Tarek Atwan</cp:lastModifiedBy>
  <cp:revision>1</cp:revision>
  <dcterms:created xsi:type="dcterms:W3CDTF">2026-08-18T20:32:56Z</dcterms:created>
  <dcterms:modified xsi:type="dcterms:W3CDTF">2026-08-18T20:32:56Z</dcterms:modified>
</cp:coreProperties>
</file>