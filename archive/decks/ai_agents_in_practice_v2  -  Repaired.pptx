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charts/chart1.xml" ContentType="application/vnd.openxmlformats-officedocument.drawingml.chart+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charts/chart2.xml" ContentType="application/vnd.openxmlformats-officedocument.drawingml.chart+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264"/>
    <p:restoredTop sz="94610"/>
  </p:normalViewPr>
  <p:slideViewPr>
    <p:cSldViewPr snapToGrid="0" snapToObjects="1">
      <p:cViewPr varScale="1">
        <p:scale>
          <a:sx n="156" d="100"/>
          <a:sy n="156" d="100"/>
        </p:scale>
        <p:origin x="672"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notesMaster" Target="notesMasters/notesMaster1.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presProps" Target="pres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viewProps" Target="viewProp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Tokens sent on this turn</c:v>
                </c:pt>
              </c:strCache>
            </c:strRef>
          </c:tx>
          <c:spPr>
            <a:solidFill>
              <a:srgbClr val="C7C2F7"/>
            </a:solidFill>
            <a:effectLst/>
          </c:spPr>
          <c:invertIfNegative val="0"/>
          <c:dPt>
            <c:idx val="0"/>
            <c:invertIfNegative val="0"/>
            <c:bubble3D val="0"/>
            <c:extLst>
              <c:ext xmlns:c16="http://schemas.microsoft.com/office/drawing/2014/chart" uri="{C3380CC4-5D6E-409C-BE32-E72D297353CC}">
                <c16:uniqueId val="{00000001-F0FC-6345-9EC3-BA8CC0AE520B}"/>
              </c:ext>
            </c:extLst>
          </c:dPt>
          <c:dPt>
            <c:idx val="1"/>
            <c:invertIfNegative val="0"/>
            <c:bubble3D val="0"/>
            <c:spPr>
              <a:solidFill>
                <a:srgbClr val="A79EF2"/>
              </a:solidFill>
              <a:effectLst/>
            </c:spPr>
            <c:extLst>
              <c:ext xmlns:c16="http://schemas.microsoft.com/office/drawing/2014/chart" uri="{C3380CC4-5D6E-409C-BE32-E72D297353CC}">
                <c16:uniqueId val="{00000003-F0FC-6345-9EC3-BA8CC0AE520B}"/>
              </c:ext>
            </c:extLst>
          </c:dPt>
          <c:dPt>
            <c:idx val="2"/>
            <c:invertIfNegative val="0"/>
            <c:bubble3D val="0"/>
            <c:spPr>
              <a:solidFill>
                <a:srgbClr val="8E82F5"/>
              </a:solidFill>
              <a:effectLst/>
            </c:spPr>
            <c:extLst>
              <c:ext xmlns:c16="http://schemas.microsoft.com/office/drawing/2014/chart" uri="{C3380CC4-5D6E-409C-BE32-E72D297353CC}">
                <c16:uniqueId val="{00000005-F0FC-6345-9EC3-BA8CC0AE520B}"/>
              </c:ext>
            </c:extLst>
          </c:dPt>
          <c:dPt>
            <c:idx val="3"/>
            <c:invertIfNegative val="0"/>
            <c:bubble3D val="0"/>
            <c:spPr>
              <a:solidFill>
                <a:srgbClr val="6E5FE8"/>
              </a:solidFill>
              <a:effectLst/>
            </c:spPr>
            <c:extLst>
              <c:ext xmlns:c16="http://schemas.microsoft.com/office/drawing/2014/chart" uri="{C3380CC4-5D6E-409C-BE32-E72D297353CC}">
                <c16:uniqueId val="{00000007-F0FC-6345-9EC3-BA8CC0AE520B}"/>
              </c:ext>
            </c:extLst>
          </c:dPt>
          <c:dPt>
            <c:idx val="4"/>
            <c:invertIfNegative val="0"/>
            <c:bubble3D val="0"/>
            <c:spPr>
              <a:solidFill>
                <a:srgbClr val="4A38D9"/>
              </a:solidFill>
              <a:effectLst/>
            </c:spPr>
            <c:extLst>
              <c:ext xmlns:c16="http://schemas.microsoft.com/office/drawing/2014/chart" uri="{C3380CC4-5D6E-409C-BE32-E72D297353CC}">
                <c16:uniqueId val="{00000009-F0FC-6345-9EC3-BA8CC0AE520B}"/>
              </c:ext>
            </c:extLst>
          </c:dPt>
          <c:dPt>
            <c:idx val="5"/>
            <c:invertIfNegative val="0"/>
            <c:bubble3D val="0"/>
            <c:spPr>
              <a:solidFill>
                <a:srgbClr val="E08700"/>
              </a:solidFill>
              <a:effectLst/>
            </c:spPr>
            <c:extLst>
              <c:ext xmlns:c16="http://schemas.microsoft.com/office/drawing/2014/chart" uri="{C3380CC4-5D6E-409C-BE32-E72D297353CC}">
                <c16:uniqueId val="{0000000B-F0FC-6345-9EC3-BA8CC0AE520B}"/>
              </c:ext>
            </c:extLst>
          </c:dPt>
          <c:dLbls>
            <c:numFmt formatCode="#,##0" sourceLinked="0"/>
            <c:spPr>
              <a:noFill/>
              <a:ln>
                <a:noFill/>
              </a:ln>
              <a:effectLst/>
            </c:spPr>
            <c:txPr>
              <a:bodyPr/>
              <a:lstStyle/>
              <a:p>
                <a:pPr>
                  <a:defRPr sz="1000" b="0" i="0" u="none" strike="noStrike">
                    <a:solidFill>
                      <a:srgbClr val="6E6B8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Turn 1</c:v>
                </c:pt>
                <c:pt idx="1">
                  <c:v>Turn 2</c:v>
                </c:pt>
                <c:pt idx="2">
                  <c:v>Turn 3</c:v>
                </c:pt>
                <c:pt idx="3">
                  <c:v>Turn 4</c:v>
                </c:pt>
                <c:pt idx="4">
                  <c:v>Turn 5</c:v>
                </c:pt>
                <c:pt idx="5">
                  <c:v>Turn 5
compacted</c:v>
                </c:pt>
              </c:strCache>
            </c:strRef>
          </c:cat>
          <c:val>
            <c:numRef>
              <c:f>Sheet1!$B$2:$B$7</c:f>
              <c:numCache>
                <c:formatCode>General</c:formatCode>
                <c:ptCount val="6"/>
                <c:pt idx="0">
                  <c:v>1200</c:v>
                </c:pt>
                <c:pt idx="1">
                  <c:v>2600</c:v>
                </c:pt>
                <c:pt idx="2">
                  <c:v>4400</c:v>
                </c:pt>
                <c:pt idx="3">
                  <c:v>6900</c:v>
                </c:pt>
                <c:pt idx="4">
                  <c:v>10200</c:v>
                </c:pt>
                <c:pt idx="5">
                  <c:v>3100</c:v>
                </c:pt>
              </c:numCache>
            </c:numRef>
          </c:val>
          <c:extLst>
            <c:ext xmlns:c16="http://schemas.microsoft.com/office/drawing/2014/chart" uri="{C3380CC4-5D6E-409C-BE32-E72D297353CC}">
              <c16:uniqueId val="{0000000C-F0FC-6345-9EC3-BA8CC0AE520B}"/>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B8A"/>
                </a:solidFill>
                <a:latin typeface="Arial"/>
              </a:defRPr>
            </a:pPr>
            <a:endParaRPr lang="en-US"/>
          </a:p>
        </c:txPr>
        <c:crossAx val="2094734552"/>
        <c:crosses val="autoZero"/>
        <c:auto val="1"/>
        <c:lblAlgn val="ctr"/>
        <c:lblOffset val="100"/>
        <c:noMultiLvlLbl val="1"/>
      </c:catAx>
      <c:valAx>
        <c:axId val="2094734552"/>
        <c:scaling>
          <c:orientation val="minMax"/>
          <c:max val="12000"/>
          <c:min val="0"/>
        </c:scaling>
        <c:delete val="0"/>
        <c:axPos val="l"/>
        <c:majorGridlines>
          <c:spPr>
            <a:ln w="12700" cap="flat">
              <a:solidFill>
                <a:srgbClr val="EDEEF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9B98B4"/>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Wall-clock seconds</c:v>
                </c:pt>
              </c:strCache>
            </c:strRef>
          </c:tx>
          <c:spPr>
            <a:solidFill>
              <a:srgbClr val="C7C2F7"/>
            </a:solidFill>
            <a:effectLst/>
          </c:spPr>
          <c:invertIfNegative val="0"/>
          <c:dPt>
            <c:idx val="0"/>
            <c:invertIfNegative val="0"/>
            <c:bubble3D val="0"/>
            <c:extLst>
              <c:ext xmlns:c16="http://schemas.microsoft.com/office/drawing/2014/chart" uri="{C3380CC4-5D6E-409C-BE32-E72D297353CC}">
                <c16:uniqueId val="{00000001-6634-D54B-8DB4-9C2C13559FA8}"/>
              </c:ext>
            </c:extLst>
          </c:dPt>
          <c:dPt>
            <c:idx val="1"/>
            <c:invertIfNegative val="0"/>
            <c:bubble3D val="0"/>
            <c:spPr>
              <a:solidFill>
                <a:srgbClr val="4A38D9"/>
              </a:solidFill>
              <a:effectLst/>
            </c:spPr>
            <c:extLst>
              <c:ext xmlns:c16="http://schemas.microsoft.com/office/drawing/2014/chart" uri="{C3380CC4-5D6E-409C-BE32-E72D297353CC}">
                <c16:uniqueId val="{00000003-6634-D54B-8DB4-9C2C13559FA8}"/>
              </c:ext>
            </c:extLst>
          </c:dPt>
          <c:dLbls>
            <c:numFmt formatCode="0.0&quot;s&quot;" sourceLinked="0"/>
            <c:spPr>
              <a:noFill/>
              <a:ln>
                <a:noFill/>
              </a:ln>
              <a:effectLst/>
            </c:spPr>
            <c:txPr>
              <a:bodyPr/>
              <a:lstStyle/>
              <a:p>
                <a:pPr>
                  <a:defRPr sz="1300" b="0" i="0" u="none" strike="noStrike">
                    <a:solidFill>
                      <a:srgbClr val="3B376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Sequential</c:v>
                </c:pt>
                <c:pt idx="1">
                  <c:v>Concurrent</c:v>
                </c:pt>
              </c:strCache>
            </c:strRef>
          </c:cat>
          <c:val>
            <c:numRef>
              <c:f>Sheet1!$B$2:$B$3</c:f>
              <c:numCache>
                <c:formatCode>General</c:formatCode>
                <c:ptCount val="2"/>
                <c:pt idx="0">
                  <c:v>3</c:v>
                </c:pt>
                <c:pt idx="1">
                  <c:v>1.1000000000000001</c:v>
                </c:pt>
              </c:numCache>
            </c:numRef>
          </c:val>
          <c:extLst>
            <c:ext xmlns:c16="http://schemas.microsoft.com/office/drawing/2014/chart" uri="{C3380CC4-5D6E-409C-BE32-E72D297353CC}">
              <c16:uniqueId val="{00000004-6634-D54B-8DB4-9C2C13559FA8}"/>
            </c:ext>
          </c:extLst>
        </c:ser>
        <c:dLbls>
          <c:showLegendKey val="0"/>
          <c:showVal val="1"/>
          <c:showCatName val="0"/>
          <c:showSerName val="0"/>
          <c:showPercent val="0"/>
          <c:showBubbleSize val="0"/>
        </c:dLbls>
        <c:gapWidth val="9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B3760"/>
                </a:solidFill>
                <a:latin typeface="Arial"/>
              </a:defRPr>
            </a:pPr>
            <a:endParaRPr lang="en-US"/>
          </a:p>
        </c:txPr>
        <c:crossAx val="2094734552"/>
        <c:crosses val="autoZero"/>
        <c:auto val="1"/>
        <c:lblAlgn val="ctr"/>
        <c:lblOffset val="100"/>
        <c:noMultiLvlLbl val="1"/>
      </c:catAx>
      <c:valAx>
        <c:axId val="2094734552"/>
        <c:scaling>
          <c:orientation val="minMax"/>
          <c:max val="3.6"/>
          <c:min val="0"/>
        </c:scaling>
        <c:delete val="0"/>
        <c:axPos val="l"/>
        <c:majorGridlines>
          <c:spPr>
            <a:ln w="12700" cap="flat">
              <a:solidFill>
                <a:srgbClr val="EDEEF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9B98B4"/>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760043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Two days. Mornings build the concepts from these slides, afternoons are hands-on labs in the notebooks. No prior agent experience assumed. The room is deliberately mixed — engineers and non-engineers — and the slides are built for both.</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out loud on slide 2 and mean it. It buys you permission to go deep later without losing half the room. Point at the yellow band so they know what to look for.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out loud and come back to it at every transition. Each layer exists because the one before it left a problem open. If someone asks 'why not just start with a framework' — this slide is the answer.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early. No typing while I talk. Non-coders are not spectators in phase 3 — the notebooks are prose-heavy and the challenges have a discussion form.</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an honest tone before the hype. IMPORTANT: this replaces the old unsourced '88%' slide — that number circulates on blogs with no traceable primary source (you can find 78, 86, 88, 89 and 95 all asserted). Gartner is citable and someone in the room will check. 'Agent washing' is the phrase that lands with the business half of the room.</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wakes the room up — spend three or four minutes on it. Ask which row people's own function sits in; you will get the whole spread and that tells you how to pitch the rest of the two days. The bottom line is the teaching point: it is one loop, and the tools are the variable. Everything in this course generalises across all eight boxes.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antidote to 'my developers use Claude Code, why can't finance have the same thing'. Walk the five and let the room score their own domain out loud — it is the most useful ninety seconds in the opening. Callback: this comes back in module 01 as the three wrong-default reasons, and in module 17 as the decision flow.</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no-code risk out loud and do not soften it: the shadow-AI problem is real, and the people in the room who own governance will thank you for naming it. But do not sneer at no-code either — for a small departmental process with a tiny blast radius it is genuinely the right call, and half your room may already be using it.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minutes here prevents a derail later when someone mentions the low-code tool their department already bought. Acknowledge those tools as legitimate; the course teaches the layer underneath them. Pair this with the previous slide: that one was how you build, this one is who you are.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ASIDE, and it will get raised whether or not you plan for it — every enterprise room has someone who owns an RPA estate. Two things to land: (1) unattended is autonomy, not agency; RPA is a workflow by module 01's test, because you wrote the steps. (2) Do not let the room think agents replace RPA. Every RPA vendor has bolted an agentic layer on, and the honest production pattern is a hybrid: judgment from the agent, execution from the deterministic bot. Also worth saying: RPA's brittleness is a feature of its determinism, and an agent's robustness is bought with non-determinism. You are trading one maintenance cost for another.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module, but everything downstream is a delta against it. Do not skip it even for a senior room — the response object comes back in module 02 with one new field.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dump raw JSON on screen. Names only. Plant the dashed box: the same message object grows a tool_calls field in module 02, and that is the entire mechanism of tool use. NOTEBOOK after this slide.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riddle demo: the last line comes from the system role, not the user role. Ask the room which one after the first cell — it separates people who have read the docs from people who have used the API.</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NOTEBOOK. After the forget cell: the list is the memory. After Prague: whatever number they got was not fetched, it was generated. This is the single most useful thing a non-technical attendee can take away today.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Landing slide for module 00. Mention reasoning_effort: pin it to none on a two-line riddle. Cost comes back properly in module 15, but plant the vocabulary here so the finance-minded people in the room have a hook.</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module is for the non-technical half of the room as much as for the builders. The vocabulary set here is what the closing workshop in module 17 grades on.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it, then wait. This is the sentence the rest of the course reuses, and the one your risk function will hear again in module 17. Do not rush past it.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RPA is a workflow that drives a user interface — same test, you wrote the steps. Do not let anyone leave thinking 'agent' is the goal. The hero card is the agent because that's what the course builds, not because it's the right answer to every problem.</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drift, then land on the third row and keep that sentence available for the rest of the course. Gartner's 'agent washing' line from the opening slide is the same point told from the buyer's side.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of this slide for the business half of the room: an agent is mostly boring software. The model is one component, and it is the only one you did not write. That is why the failure modes later are all software failure modes.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words are the grading scale for the closing workshop and the approval-gate map in module 14. Make the room say them back. A chatbot is usually suggest; a nightly export is usually act-with-audit.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honest reasons to stay with a script or a human. Reason 3 is the one that quietly kills pilots — and it is a data and process problem, not a model problem. Foreshadow module 17 here.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KEY, do not show: 1 and 5 are workflows on act-with-audit. 2 is a chatbot. 3 and 6 are agents; keep 6 on suggest. 4 looks like an agent and must not be on act — draft, or a rules workflow with a human above the limit. That is the risk sentence of the whole course. 5 splits the room: classifier plus queues is a workflow, the leftovers are an agent.</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Kill the misconception before anything else makes sense. Security, sandboxing, MCP and the whole of Day 2 depend on the room believing this slide.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move on until someone in the room says this back to you. Prompt injection is not the model doing something — it is YOUR code doing something because the model asked. That sentence is the whole of module 14.</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cell that matters in the notebook is the one where you pass tools= and then STOP before running anything. Look at the object. Do not run it yet. That pause is the lesson.</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SLIDE — this was missing from the original deck. It matters because half the 'agent' use cases people bring to you are actually structured extraction, which needs no loop and no tools at all. Naming that early saves them money. Also note it's the same JSON Schema machinery as tool definitions, so it costs no new concept.</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NOTEBOOK. Show step 3 deliberately: parse the arguments string, print it, THEN run. Also show what happens if you send back a lie — the model repeats it. That is a five-second demo that lands the trust boundary permanently.</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Plant this hard for the security module. When a tool call looks wrong, refusing it is not a hack or a workaround — it is the design.</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Largest module of Day 1. Three parts: ReAct in the open, ReAct wrapped in a class, then the official tool-calling loop. Do not call the official loop ReAct.</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ReAct = Reason + Act. It is not 'another way to call tools'. In module 02 the reasoning happened too — it just never surfaced. NOTEBOOK Part 1: the cell that matters is the SECOND thought, after the first observation. If it names the destination city, ReAct worked.</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label the right-hand column ReAct. Students should be able to name both and say which one they are looking at. This distinction is why 'we use ReAct' is a meaningless statement in most architecture reviews.</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SLIDE — the original deck never discussed model selection, which is the first question a real team hits. Tie it to the course: MODEL_DEFAULT and MODEL_STRONG live in .env precisely so you re-pin in one place rather than in twenty notebooks.</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actual numbers from the notebook run out loud. Abstract cost warnings do nothing; a real dollar figure on a trivial question changes behaviour.</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the engineers will photograph. Emphasise failure 3: an error is information, not an exception. Handing the error text back to the model is what makes an agent recover.</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out loud and mean it. It reframes the rest of the course from 'more tools to learn' to 'variations on something you already understand'.</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minutes on why it broke is worth an hour of slides. Both failures preview module 14.</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the read/write split. Ask the room which two tools they would want an approval gate on before running unattended. That question is module 14, answered a day early by the room itself.</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the ten minutes on WHY, not on the fix. Ask the room to predict what happens before you run it. Both failures are named again on Day 2, and the callback is what makes those slides land.</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failure mode that quietly ends most enterprise pilots: context fills, cost climbs, and the agent gets worse the longer it runs.</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 to this slide in every later module and point at which row you are changing. It converts a course full of separate topics into one picture.</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highest-leverage cost technique in the course and it costs nothing to adopt. Frame it as an index versus a mailed manual.</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token count before and after a summarisation pass in the notebook and replace these illustrative numbers verbally with the real ones. The final bar is the whole slide.</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the people who have already tried and failed will nod at. Ask if anyone has seen it happen — you usually get a story.</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tool in module 04 was wired by hand, to one agent, in one process. That is the problem MCP solves — and only that problem.</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Resist the urge to make MCP sound magical. It is a plug standard. The value is entirely in not writing the same integration N times and in being able to govern one boundary instead of many.</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filesystem reference server, inspected live, demystifies this in five minutes. Show tools/list first — the room sees that discovery is just a request.</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SLIDE — the original deck never named JSON-RPC, which left MCP feeling like magic. Five minutes watching the raw traffic in the inspector demystifies the protocol completely, and it reassures the security people in the room that there is nothing exotic to review.</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SLIDE. The statelessness point is the one that matters to a platform team: it removes the main operational objection to running MCP servers at scale. Do not teach HTTP+SSE — it is deprecated.</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control column is the part people miss. Ask: who decided this was in context? Tools = the model asked. Resources = your app attached it. Prompts = the user chose it. Elicitation reverses the direction entirely.</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SLIDE — the original deck had nothing on authorisation, which is the very first thing a risk function asks about MCP. Agent identity is picked up properly in module 14; this slide just makes sure nobody leaves thinking MCP has no auth story.</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attack anything here, just name the four. The detonation is module 14 and it hits much harder when it is their own corpus and their own agent.</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side-by-side slide fixes this confusion permanently. The Linux Foundation detail matters to procurement: A2A is not a single vendor's protocol, and saying so answers a question you will otherwise get in the corridor.</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module where the agent does something a business would actually pay for. Chinook is a digital music shop; the questions are ordinary support questions.</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design point explicitly: 'give the model SQL access' is the demo everyone builds and the thing nobody should ship. Narrow tools are auditable, cacheable, and testable.</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single reply can carry several tool calls. Module 02 ran them one at a time; this module fixes that and shows where it bites back.</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it live rather than trusting the chart. Replace the numbers verbally with what the room actually sees.</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Python primer can be compressed if the room is behind. The rule of thumb is the durable takeaway.</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bite in production and both have one-line fixes. return_exceptions=True and a semaphore. Show the failure first, then the fix.</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signature module of Day 1. Fill the tier table in live from what the room actually measures — lines of code, tokens, whether it can pause and resume.</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signature artifact of the course. Do not lecture the table — build one row live from a measurement the room just watched. Tier 4 is where lock-in lives, which is the bridge into module 16.</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SLIDE — students always ask 'which framework should we use' and a name-by-name tour is the wrong answer. Placing them on the tier ladder converts an unanswerable question into a decision about how much control they want to keep. Say out loud that this list will be different in a year and the tiers will not.</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SLIDE. The strongest practical advice in the course: build tier 0 once, then adopt a framework for the specific capability you found you needed. Teams that start at tier 3 cannot tell whether their problems come from the model, their code, or the framework.</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SLIDE. Question 4 is the one that resonates with the non-technical half of the room; question 1 is the one that actually decides it most often in practice.</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Own line, not a citation. Ask the room which tier they could debug during an outage — it reframes framework choice as an operations decision rather than a taste one.</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Day 2 with a five-minute recap of the spine slide, then move straight into what happens when the model needs data it was never trained on.</a:t>
            </a:r>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 and charting use case, and the safe-execution question it forces. Sandboxing stops being theoretical the moment an agent writes matplotlib.</a:t>
            </a:r>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same tool with and without a container boundary and show what an unconstrained agent can reach — environment variables, the filesystem, the network. It takes thirty seconds and it is unforgettable.</a:t>
            </a:r>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moralise. Containers are a perfectly reasonable answer for most internal tooling. The point is that 'bare process' is a decision somebody made by not deciding.</a:t>
            </a:r>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Egress is the one people forget and it is the one that matters most for exfiltration. Ask the room how many of their existing containers restrict outbound network — the answer is usually none.</a:t>
            </a:r>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Move from context in general to retrieval specifically: unstructured text the model cannot otherwise reach. Build from scratch first so nobody thinks a vector store is magic.</a:t>
            </a:r>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sets up module 12. If the room accepts that these four question types are common, agentic RAG sells itself.</a:t>
            </a:r>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scratch first, always. Ten lines of cosine similarity permanently removes the mystique, and it makes the vendor conversation on Day 2 far more sober.</a:t>
            </a:r>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slide most courses skip. A surprising number of enterprise RAG projects are re-implementing a SELECT statement badly.</a:t>
            </a:r>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retrieval as a lookup to retrieval as its own agentic loop. The assess step is what a naive pipeline never does.</a:t>
            </a:r>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assess step is the slide. Everything else is module 11 with extra steps. Also flag the cost honestly — agentic RAG is not free and sometimes the naive version is good enough.</a:t>
            </a:r>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evaluation habit you most want them to take home. Every corpus they build should have known-unanswerable questions in the test set.</a:t>
            </a:r>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reveal which document is poisoned. The reveal in module 14 is far more effective when they discover it happening to their own agent.</a:t>
            </a:r>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agent cannot hold the whole job forever. But the org-chart metaphor seduces teams into a distributed systems problem they did not need.</a:t>
            </a:r>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Trade-offs in latency, token cost and debuggability, not just topology. Ask which of these five they would want to explain to an auditor.</a:t>
            </a:r>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line they remember. Say it, pause, then go to the next slide — which is the honest list of when splitting genuinely does pay.</a:t>
            </a:r>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honest reasons, and only these four. If a proposal does not match one of them, the answer is one agent with more tools.</a:t>
            </a:r>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Verify before delivery: the weaker router must actually misroute when descriptions overlap, or the lesson does not land. Re-pin the model in .env if it stops failing.</a:t>
            </a:r>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highest-retention module in the course, because it is their own agent from module 12 that gets attacked.</a:t>
            </a:r>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every card back to module 02 explicitly. If the room accepted that slide, none of these five should feel like a surprise — and that is the point.</a:t>
            </a:r>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Verify before delivery: the unguarded RAG agent MUST obey the planted instruction, or this module has no punchline. Test it the morning of.</a:t>
            </a:r>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SLIDE — the original deck had an autonomy spectrum but never said how a gate is actually built. Approval fatigue is the point the business half of the room recognises immediately from other systems they already have.</a:t>
            </a:r>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topic a risk or compliance function asks about first, and it is a familiar problem with a familiar answer — which is a comfortable thing to be able to say.</a:t>
            </a:r>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cost-to-build column explicit. Teams promise 'a human will review it' without budgeting the queue, the UI, and the resumable run that promise requires.</a:t>
            </a:r>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measure, how to measure it, where the money goes, and what actually fixes it.</a:t>
            </a:r>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room's own multi-agent run from module 13 is the trace to show here. Use their numbers, not invented ones.</a:t>
            </a:r>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SLIDE — the original deck listed what to measure but never how. Step 3 is the one to caveat hardest: an uncalibrated LLM judge gives teams false confidence, which is worse than no eval at all.</a:t>
            </a:r>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SLIDE — observability was mentioned in the original deck but never taught. The vendor-neutral angle matters: if they instrument with OpenTelemetry they are not locked into whichever LLM-observability startup they trial first.</a:t>
            </a:r>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rough order of how often they are actually used. Lever 3 is the one that turns a scary story into a bounded one — a runaway loop with a per-task cap is a bug report, not an incident.</a:t>
            </a:r>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six-layer table slowly. The teaching point is which rows are open standards you already built, and which rows are genuinely sticky.</a:t>
            </a:r>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 durable handout of the course. It answers 'what applies to me' for someone on any cloud, and it survives the vendors renaming their products next quarter.</a:t>
            </a:r>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genuinely useful thing an architect takes back to their own organisation. It is also the slide most likely to get you invited back.</a:t>
            </a:r>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module the business half of the room came for. Everything technical from the last two days becomes an input to one decision.</a:t>
            </a:r>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two 'stop here' lines out loud. In a room of enthusiastic people, permission to build the boring version is the most valuable thing you can hand out.</a:t>
            </a:r>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SLIDE, and the one the business half of the room came for. Walk it top to bottom out loud. Question 2 is where most real proposals die, and it dies for reasons that have nothing to do with AI. Question 5 is the one nobody asks and everybody regrets.</a:t>
            </a:r>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Deliberate callback to module 01's three failure modes. Point out that the technical content of two days did not change the judgement criteria at all.</a:t>
            </a:r>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 minutes is the minimum that produces anything real. Circulate. The most common stall is groups mapping the process they wish they had rather than the one they have.</a:t>
            </a:r>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before they start, not after. It gives permission for the honest answer, which is the answer that saves the most money.</a:t>
            </a:r>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closing callback. Read it in order. Then hand over to questions.</a:t>
            </a:r>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room. Leave real time for questions — the best ones always come after the last slide. The three chips are the three things most likely to actually get done in the week after a course.</a:t>
            </a:r>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6.png"/><Relationship Id="rId7"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png"/><Relationship Id="rId7"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1.png"/><Relationship Id="rId10" Type="http://schemas.openxmlformats.org/officeDocument/2006/relationships/image" Target="../media/image18.png"/><Relationship Id="rId4" Type="http://schemas.openxmlformats.org/officeDocument/2006/relationships/image" Target="../media/image2.png"/><Relationship Id="rId9" Type="http://schemas.openxmlformats.org/officeDocument/2006/relationships/image" Target="../media/image17.png"/></Relationships>
</file>

<file path=ppt/slides/_rels/slide7.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20.png"/><Relationship Id="rId7"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16.png"/><Relationship Id="rId4" Type="http://schemas.openxmlformats.org/officeDocument/2006/relationships/image" Target="../media/image21.png"/><Relationship Id="rId9"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2.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28.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31.png"/><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11.png"/><Relationship Id="rId7" Type="http://schemas.openxmlformats.org/officeDocument/2006/relationships/image" Target="../media/image33.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6.png"/><Relationship Id="rId4" Type="http://schemas.openxmlformats.org/officeDocument/2006/relationships/image" Target="../media/image25.png"/><Relationship Id="rId9" Type="http://schemas.openxmlformats.org/officeDocument/2006/relationships/image" Target="../media/image35.png"/></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28.png"/><Relationship Id="rId7"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36.png"/><Relationship Id="rId4" Type="http://schemas.openxmlformats.org/officeDocument/2006/relationships/image" Target="../media/image27.png"/><Relationship Id="rId9" Type="http://schemas.openxmlformats.org/officeDocument/2006/relationships/image" Target="../media/image5.png"/></Relationships>
</file>

<file path=ppt/slides/_rels/slide21.xml.rels><?xml version="1.0" encoding="UTF-8" standalone="yes"?>
<Relationships xmlns="http://schemas.openxmlformats.org/package/2006/relationships"><Relationship Id="rId3" Type="http://schemas.openxmlformats.org/officeDocument/2006/relationships/image" Target="../media/image38.png"/><Relationship Id="rId7"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40.png"/><Relationship Id="rId5" Type="http://schemas.openxmlformats.org/officeDocument/2006/relationships/image" Target="../media/image31.png"/><Relationship Id="rId4" Type="http://schemas.openxmlformats.org/officeDocument/2006/relationships/image" Target="../media/image39.png"/></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14.png"/><Relationship Id="rId4" Type="http://schemas.openxmlformats.org/officeDocument/2006/relationships/image" Target="../media/image23.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36.png"/></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5.xml"/><Relationship Id="rId1" Type="http://schemas.openxmlformats.org/officeDocument/2006/relationships/slideLayout" Target="../slideLayouts/slideLayout1.xml"/><Relationship Id="rId5" Type="http://schemas.openxmlformats.org/officeDocument/2006/relationships/image" Target="../media/image42.png"/><Relationship Id="rId4" Type="http://schemas.openxmlformats.org/officeDocument/2006/relationships/image" Target="../media/image41.png"/></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3.png"/><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4.png"/><Relationship Id="rId4" Type="http://schemas.openxmlformats.org/officeDocument/2006/relationships/image" Target="../media/image20.png"/></Relationships>
</file>

<file path=ppt/slides/_rels/slide28.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6.png"/><Relationship Id="rId7" Type="http://schemas.openxmlformats.org/officeDocument/2006/relationships/image" Target="../media/image11.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36.png"/><Relationship Id="rId5" Type="http://schemas.openxmlformats.org/officeDocument/2006/relationships/image" Target="../media/image45.png"/><Relationship Id="rId4" Type="http://schemas.openxmlformats.org/officeDocument/2006/relationships/image" Target="../media/image28.png"/></Relationships>
</file>

<file path=ppt/slides/_rels/slide2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31.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5.png"/><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0.png"/><Relationship Id="rId4" Type="http://schemas.openxmlformats.org/officeDocument/2006/relationships/image" Target="../media/image11.png"/></Relationships>
</file>

<file path=ppt/slides/_rels/slide3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44.png"/><Relationship Id="rId7" Type="http://schemas.openxmlformats.org/officeDocument/2006/relationships/image" Target="../media/image5.png"/><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17.png"/><Relationship Id="rId4" Type="http://schemas.openxmlformats.org/officeDocument/2006/relationships/image" Target="../media/image30.png"/></Relationships>
</file>

<file path=ppt/slides/_rels/slide3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23.png"/><Relationship Id="rId4" Type="http://schemas.openxmlformats.org/officeDocument/2006/relationships/image" Target="../media/image25.png"/></Relationships>
</file>

<file path=ppt/slides/_rels/slide3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38.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46.png"/><Relationship Id="rId7" Type="http://schemas.openxmlformats.org/officeDocument/2006/relationships/image" Target="../media/image12.png"/><Relationship Id="rId2" Type="http://schemas.openxmlformats.org/officeDocument/2006/relationships/notesSlide" Target="../notesSlides/notesSlide38.xml"/><Relationship Id="rId1" Type="http://schemas.openxmlformats.org/officeDocument/2006/relationships/slideLayout" Target="../slideLayouts/slideLayout1.xml"/><Relationship Id="rId6" Type="http://schemas.openxmlformats.org/officeDocument/2006/relationships/image" Target="../media/image39.png"/><Relationship Id="rId5" Type="http://schemas.openxmlformats.org/officeDocument/2006/relationships/image" Target="../media/image14.png"/><Relationship Id="rId4" Type="http://schemas.openxmlformats.org/officeDocument/2006/relationships/image" Target="../media/image16.png"/><Relationship Id="rId9" Type="http://schemas.openxmlformats.org/officeDocument/2006/relationships/image" Target="../media/image5.png"/></Relationships>
</file>

<file path=ppt/slides/_rels/slide3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10.png"/><Relationship Id="rId4" Type="http://schemas.openxmlformats.org/officeDocument/2006/relationships/image" Target="../media/image48.png"/></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41.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27.png"/><Relationship Id="rId7" Type="http://schemas.openxmlformats.org/officeDocument/2006/relationships/image" Target="../media/image25.png"/><Relationship Id="rId2" Type="http://schemas.openxmlformats.org/officeDocument/2006/relationships/notesSlide" Target="../notesSlides/notesSlide41.xml"/><Relationship Id="rId1" Type="http://schemas.openxmlformats.org/officeDocument/2006/relationships/slideLayout" Target="../slideLayouts/slideLayout1.xml"/><Relationship Id="rId6" Type="http://schemas.openxmlformats.org/officeDocument/2006/relationships/image" Target="../media/image24.png"/><Relationship Id="rId11" Type="http://schemas.openxmlformats.org/officeDocument/2006/relationships/image" Target="../media/image5.png"/><Relationship Id="rId5" Type="http://schemas.openxmlformats.org/officeDocument/2006/relationships/image" Target="../media/image36.png"/><Relationship Id="rId10" Type="http://schemas.openxmlformats.org/officeDocument/2006/relationships/image" Target="../media/image30.png"/><Relationship Id="rId4" Type="http://schemas.openxmlformats.org/officeDocument/2006/relationships/image" Target="../media/image11.png"/><Relationship Id="rId9" Type="http://schemas.openxmlformats.org/officeDocument/2006/relationships/image" Target="../media/image14.png"/></Relationships>
</file>

<file path=ppt/slides/_rels/slide4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2.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5.png"/></Relationships>
</file>

<file path=ppt/slides/_rels/slide43.xml.rels><?xml version="1.0" encoding="UTF-8" standalone="yes"?>
<Relationships xmlns="http://schemas.openxmlformats.org/package/2006/relationships"><Relationship Id="rId3" Type="http://schemas.openxmlformats.org/officeDocument/2006/relationships/chart" Target="../charts/chart1.xml"/><Relationship Id="rId7" Type="http://schemas.openxmlformats.org/officeDocument/2006/relationships/image" Target="../media/image5.png"/><Relationship Id="rId2" Type="http://schemas.openxmlformats.org/officeDocument/2006/relationships/notesSlide" Target="../notesSlides/notesSlide43.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51.png"/><Relationship Id="rId4" Type="http://schemas.openxmlformats.org/officeDocument/2006/relationships/image" Target="../media/image50.png"/></Relationships>
</file>

<file path=ppt/slides/_rels/slide4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5.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4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5.png"/><Relationship Id="rId2" Type="http://schemas.openxmlformats.org/officeDocument/2006/relationships/notesSlide" Target="../notesSlides/notesSlide47.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52.png"/><Relationship Id="rId4" Type="http://schemas.openxmlformats.org/officeDocument/2006/relationships/image" Target="../media/image7.png"/></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31.png"/><Relationship Id="rId4" Type="http://schemas.openxmlformats.org/officeDocument/2006/relationships/image" Target="../media/image25.png"/></Relationships>
</file>

<file path=ppt/slides/_rels/slide4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8.png"/><Relationship Id="rId4" Type="http://schemas.openxmlformats.org/officeDocument/2006/relationships/image" Target="../media/image18.png"/></Relationships>
</file>

<file path=ppt/slides/_rels/slide50.xml.rels><?xml version="1.0" encoding="UTF-8" standalone="yes"?>
<Relationships xmlns="http://schemas.openxmlformats.org/package/2006/relationships"><Relationship Id="rId3" Type="http://schemas.openxmlformats.org/officeDocument/2006/relationships/image" Target="../media/image36.png"/><Relationship Id="rId7" Type="http://schemas.openxmlformats.org/officeDocument/2006/relationships/image" Target="../media/image5.png"/><Relationship Id="rId2" Type="http://schemas.openxmlformats.org/officeDocument/2006/relationships/notesSlide" Target="../notesSlides/notesSlide50.xml"/><Relationship Id="rId1" Type="http://schemas.openxmlformats.org/officeDocument/2006/relationships/slideLayout" Target="../slideLayouts/slideLayout1.xml"/><Relationship Id="rId6" Type="http://schemas.openxmlformats.org/officeDocument/2006/relationships/image" Target="../media/image38.png"/><Relationship Id="rId5" Type="http://schemas.openxmlformats.org/officeDocument/2006/relationships/image" Target="../media/image11.png"/><Relationship Id="rId4" Type="http://schemas.openxmlformats.org/officeDocument/2006/relationships/image" Target="../media/image16.png"/></Relationships>
</file>

<file path=ppt/slides/_rels/slide5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5.png"/><Relationship Id="rId4" Type="http://schemas.openxmlformats.org/officeDocument/2006/relationships/image" Target="../media/image3.png"/></Relationships>
</file>

<file path=ppt/slides/_rels/slide52.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5.png"/><Relationship Id="rId2" Type="http://schemas.openxmlformats.org/officeDocument/2006/relationships/notesSlide" Target="../notesSlides/notesSlide52.xml"/><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47.png"/><Relationship Id="rId4" Type="http://schemas.openxmlformats.org/officeDocument/2006/relationships/image" Target="../media/image11.png"/></Relationships>
</file>

<file path=ppt/slides/_rels/slide5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3.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5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4.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55.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5.png"/><Relationship Id="rId2" Type="http://schemas.openxmlformats.org/officeDocument/2006/relationships/notesSlide" Target="../notesSlides/notesSlide55.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3.png"/><Relationship Id="rId4" Type="http://schemas.openxmlformats.org/officeDocument/2006/relationships/image" Target="../media/image16.png"/></Relationships>
</file>

<file path=ppt/slides/_rels/slide5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6.xml"/><Relationship Id="rId1" Type="http://schemas.openxmlformats.org/officeDocument/2006/relationships/slideLayout" Target="../slideLayouts/slideLayout1.xml"/><Relationship Id="rId4" Type="http://schemas.openxmlformats.org/officeDocument/2006/relationships/image" Target="../media/image40.png"/></Relationships>
</file>

<file path=ppt/slides/_rels/slide57.xml.rels><?xml version="1.0" encoding="UTF-8" standalone="yes"?>
<Relationships xmlns="http://schemas.openxmlformats.org/package/2006/relationships"><Relationship Id="rId3" Type="http://schemas.openxmlformats.org/officeDocument/2006/relationships/chart" Target="../charts/chart2.xml"/><Relationship Id="rId7" Type="http://schemas.openxmlformats.org/officeDocument/2006/relationships/image" Target="../media/image5.png"/><Relationship Id="rId2" Type="http://schemas.openxmlformats.org/officeDocument/2006/relationships/notesSlide" Target="../notesSlides/notesSlide57.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48.png"/><Relationship Id="rId4" Type="http://schemas.openxmlformats.org/officeDocument/2006/relationships/image" Target="../media/image22.png"/></Relationships>
</file>

<file path=ppt/slides/_rels/slide5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9.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37.png"/></Relationships>
</file>

<file path=ppt/slides/_rels/slide6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0.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3.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8.png"/></Relationships>
</file>

<file path=ppt/slides/_rels/slide64.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22.png"/><Relationship Id="rId7" Type="http://schemas.openxmlformats.org/officeDocument/2006/relationships/image" Target="../media/image53.png"/><Relationship Id="rId2" Type="http://schemas.openxmlformats.org/officeDocument/2006/relationships/notesSlide" Target="../notesSlides/notesSlide64.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36.png"/><Relationship Id="rId4" Type="http://schemas.openxmlformats.org/officeDocument/2006/relationships/image" Target="../media/image4.png"/><Relationship Id="rId9" Type="http://schemas.openxmlformats.org/officeDocument/2006/relationships/image" Target="../media/image5.png"/></Relationships>
</file>

<file path=ppt/slides/_rels/slide6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7.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68.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5.png"/><Relationship Id="rId2" Type="http://schemas.openxmlformats.org/officeDocument/2006/relationships/notesSlide" Target="../notesSlides/notesSlide68.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23.png"/><Relationship Id="rId4" Type="http://schemas.openxmlformats.org/officeDocument/2006/relationships/image" Target="../media/image2.png"/></Relationships>
</file>

<file path=ppt/slides/_rels/slide69.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5.png"/><Relationship Id="rId2" Type="http://schemas.openxmlformats.org/officeDocument/2006/relationships/notesSlide" Target="../notesSlides/notesSlide69.xml"/><Relationship Id="rId1" Type="http://schemas.openxmlformats.org/officeDocument/2006/relationships/slideLayout" Target="../slideLayouts/slideLayout1.xml"/><Relationship Id="rId6" Type="http://schemas.openxmlformats.org/officeDocument/2006/relationships/image" Target="../media/image53.png"/><Relationship Id="rId5" Type="http://schemas.openxmlformats.org/officeDocument/2006/relationships/image" Target="../media/image10.png"/><Relationship Id="rId4" Type="http://schemas.openxmlformats.org/officeDocument/2006/relationships/image" Target="../media/image54.png"/></Relationships>
</file>

<file path=ppt/slides/_rels/slide70.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5.png"/><Relationship Id="rId2" Type="http://schemas.openxmlformats.org/officeDocument/2006/relationships/notesSlide" Target="../notesSlides/notesSlide70.xml"/><Relationship Id="rId1" Type="http://schemas.openxmlformats.org/officeDocument/2006/relationships/slideLayout" Target="../slideLayouts/slideLayout1.xml"/><Relationship Id="rId6" Type="http://schemas.openxmlformats.org/officeDocument/2006/relationships/image" Target="../media/image46.png"/><Relationship Id="rId5" Type="http://schemas.openxmlformats.org/officeDocument/2006/relationships/image" Target="../media/image18.png"/><Relationship Id="rId4" Type="http://schemas.openxmlformats.org/officeDocument/2006/relationships/image" Target="../media/image28.png"/></Relationships>
</file>

<file path=ppt/slides/_rels/slide7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1.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72.xml.rels><?xml version="1.0" encoding="UTF-8" standalone="yes"?>
<Relationships xmlns="http://schemas.openxmlformats.org/package/2006/relationships"><Relationship Id="rId3" Type="http://schemas.openxmlformats.org/officeDocument/2006/relationships/image" Target="../media/image48.png"/><Relationship Id="rId7" Type="http://schemas.openxmlformats.org/officeDocument/2006/relationships/image" Target="../media/image5.png"/><Relationship Id="rId2" Type="http://schemas.openxmlformats.org/officeDocument/2006/relationships/notesSlide" Target="../notesSlides/notesSlide72.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4.png"/><Relationship Id="rId4" Type="http://schemas.openxmlformats.org/officeDocument/2006/relationships/image" Target="../media/image11.png"/></Relationships>
</file>

<file path=ppt/slides/_rels/slide7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3.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7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5.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76.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39.png"/><Relationship Id="rId7" Type="http://schemas.openxmlformats.org/officeDocument/2006/relationships/image" Target="../media/image16.png"/><Relationship Id="rId2" Type="http://schemas.openxmlformats.org/officeDocument/2006/relationships/notesSlide" Target="../notesSlides/notesSlide76.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31.png"/><Relationship Id="rId4" Type="http://schemas.openxmlformats.org/officeDocument/2006/relationships/image" Target="../media/image14.png"/></Relationships>
</file>

<file path=ppt/slides/_rels/slide7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7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20.png"/><Relationship Id="rId4" Type="http://schemas.openxmlformats.org/officeDocument/2006/relationships/image" Target="../media/image29.png"/></Relationships>
</file>

<file path=ppt/slides/_rels/slide7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78.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23.png"/></Relationships>
</file>

<file path=ppt/slides/_rels/slide7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9.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80.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19.png"/><Relationship Id="rId7" Type="http://schemas.openxmlformats.org/officeDocument/2006/relationships/image" Target="../media/image24.png"/><Relationship Id="rId2" Type="http://schemas.openxmlformats.org/officeDocument/2006/relationships/notesSlide" Target="../notesSlides/notesSlide80.xml"/><Relationship Id="rId1" Type="http://schemas.openxmlformats.org/officeDocument/2006/relationships/slideLayout" Target="../slideLayouts/slideLayout1.xml"/><Relationship Id="rId6" Type="http://schemas.openxmlformats.org/officeDocument/2006/relationships/image" Target="../media/image55.png"/><Relationship Id="rId5" Type="http://schemas.openxmlformats.org/officeDocument/2006/relationships/image" Target="../media/image8.png"/><Relationship Id="rId4" Type="http://schemas.openxmlformats.org/officeDocument/2006/relationships/image" Target="../media/image25.png"/><Relationship Id="rId9" Type="http://schemas.openxmlformats.org/officeDocument/2006/relationships/image" Target="../media/image5.png"/></Relationships>
</file>

<file path=ppt/slides/_rels/slide8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3" Type="http://schemas.openxmlformats.org/officeDocument/2006/relationships/image" Target="../media/image36.png"/><Relationship Id="rId7" Type="http://schemas.openxmlformats.org/officeDocument/2006/relationships/image" Target="../media/image5.png"/><Relationship Id="rId2" Type="http://schemas.openxmlformats.org/officeDocument/2006/relationships/notesSlide" Target="../notesSlides/notesSlide82.xml"/><Relationship Id="rId1" Type="http://schemas.openxmlformats.org/officeDocument/2006/relationships/slideLayout" Target="../slideLayouts/slideLayout1.xml"/><Relationship Id="rId6" Type="http://schemas.openxmlformats.org/officeDocument/2006/relationships/image" Target="../media/image50.png"/><Relationship Id="rId5" Type="http://schemas.openxmlformats.org/officeDocument/2006/relationships/image" Target="../media/image47.png"/><Relationship Id="rId4" Type="http://schemas.openxmlformats.org/officeDocument/2006/relationships/image" Target="../media/image28.png"/></Relationships>
</file>

<file path=ppt/slides/_rels/slide8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17.png"/><Relationship Id="rId4" Type="http://schemas.openxmlformats.org/officeDocument/2006/relationships/image" Target="../media/image23.png"/></Relationships>
</file>

<file path=ppt/slides/_rels/slide8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4.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85.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11.png"/><Relationship Id="rId7" Type="http://schemas.openxmlformats.org/officeDocument/2006/relationships/image" Target="../media/image3.png"/><Relationship Id="rId2" Type="http://schemas.openxmlformats.org/officeDocument/2006/relationships/notesSlide" Target="../notesSlides/notesSlide85.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6.png"/><Relationship Id="rId4" Type="http://schemas.openxmlformats.org/officeDocument/2006/relationships/image" Target="../media/image49.png"/><Relationship Id="rId9" Type="http://schemas.openxmlformats.org/officeDocument/2006/relationships/image" Target="../media/image5.png"/></Relationships>
</file>

<file path=ppt/slides/_rels/slide8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10.png"/><Relationship Id="rId4" Type="http://schemas.openxmlformats.org/officeDocument/2006/relationships/image" Target="../media/image23.png"/></Relationships>
</file>

<file path=ppt/slides/_rels/slide87.xml.rels><?xml version="1.0" encoding="UTF-8" standalone="yes"?>
<Relationships xmlns="http://schemas.openxmlformats.org/package/2006/relationships"><Relationship Id="rId3" Type="http://schemas.openxmlformats.org/officeDocument/2006/relationships/image" Target="../media/image56.png"/><Relationship Id="rId7" Type="http://schemas.openxmlformats.org/officeDocument/2006/relationships/image" Target="../media/image5.png"/><Relationship Id="rId2" Type="http://schemas.openxmlformats.org/officeDocument/2006/relationships/notesSlide" Target="../notesSlides/notesSlide87.xml"/><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57.png"/><Relationship Id="rId4" Type="http://schemas.openxmlformats.org/officeDocument/2006/relationships/image" Target="../media/image16.png"/></Relationships>
</file>

<file path=ppt/slides/_rels/slide8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53.png"/><Relationship Id="rId4" Type="http://schemas.openxmlformats.org/officeDocument/2006/relationships/image" Target="../media/image43.png"/></Relationships>
</file>

<file path=ppt/slides/_rels/slide8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9.xml"/><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0.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91.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20.png"/><Relationship Id="rId7" Type="http://schemas.openxmlformats.org/officeDocument/2006/relationships/image" Target="../media/image22.png"/><Relationship Id="rId2" Type="http://schemas.openxmlformats.org/officeDocument/2006/relationships/notesSlide" Target="../notesSlides/notesSlide91.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16.png"/><Relationship Id="rId4" Type="http://schemas.openxmlformats.org/officeDocument/2006/relationships/image" Target="../media/image36.png"/><Relationship Id="rId9" Type="http://schemas.openxmlformats.org/officeDocument/2006/relationships/image" Target="../media/image5.png"/></Relationships>
</file>

<file path=ppt/slides/_rels/slide92.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5.png"/><Relationship Id="rId2" Type="http://schemas.openxmlformats.org/officeDocument/2006/relationships/notesSlide" Target="../notesSlides/notesSlide92.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17.png"/><Relationship Id="rId4" Type="http://schemas.openxmlformats.org/officeDocument/2006/relationships/image" Target="../media/image48.png"/></Relationships>
</file>

<file path=ppt/slides/_rels/slide93.xml.rels><?xml version="1.0" encoding="UTF-8" standalone="yes"?>
<Relationships xmlns="http://schemas.openxmlformats.org/package/2006/relationships"><Relationship Id="rId3" Type="http://schemas.openxmlformats.org/officeDocument/2006/relationships/image" Target="../media/image55.png"/><Relationship Id="rId7" Type="http://schemas.openxmlformats.org/officeDocument/2006/relationships/image" Target="../media/image5.png"/><Relationship Id="rId2" Type="http://schemas.openxmlformats.org/officeDocument/2006/relationships/notesSlide" Target="../notesSlides/notesSlide93.xml"/><Relationship Id="rId1" Type="http://schemas.openxmlformats.org/officeDocument/2006/relationships/slideLayout" Target="../slideLayouts/slideLayout1.xml"/><Relationship Id="rId6" Type="http://schemas.openxmlformats.org/officeDocument/2006/relationships/image" Target="../media/image47.png"/><Relationship Id="rId5" Type="http://schemas.openxmlformats.org/officeDocument/2006/relationships/image" Target="../media/image31.png"/><Relationship Id="rId4" Type="http://schemas.openxmlformats.org/officeDocument/2006/relationships/image" Target="../media/image7.png"/></Relationships>
</file>

<file path=ppt/slides/_rels/slide9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9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37.png"/><Relationship Id="rId4" Type="http://schemas.openxmlformats.org/officeDocument/2006/relationships/image" Target="../media/image48.png"/></Relationships>
</file>

<file path=ppt/slides/_rels/slide9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5.xml"/><Relationship Id="rId1" Type="http://schemas.openxmlformats.org/officeDocument/2006/relationships/slideLayout" Target="../slideLayouts/slideLayout1.xml"/><Relationship Id="rId4" Type="http://schemas.openxmlformats.org/officeDocument/2006/relationships/image" Target="../media/image53.png"/></Relationships>
</file>

<file path=ppt/slides/_rels/slide9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6.xml"/><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7.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7.png"/></Relationships>
</file>

<file path=ppt/slides/_rels/slide9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8.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9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9.xml"/><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00.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20.png"/></Relationships>
</file>

<file path=ppt/slides/_rels/slide10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1.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29.png"/></Relationships>
</file>

<file path=ppt/slides/_rels/slide10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25.png"/><Relationship Id="rId7" Type="http://schemas.openxmlformats.org/officeDocument/2006/relationships/image" Target="../media/image19.png"/><Relationship Id="rId2" Type="http://schemas.openxmlformats.org/officeDocument/2006/relationships/notesSlide" Target="../notesSlides/notesSlide102.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9.png"/><Relationship Id="rId4" Type="http://schemas.openxmlformats.org/officeDocument/2006/relationships/image" Target="../media/image17.png"/><Relationship Id="rId9" Type="http://schemas.openxmlformats.org/officeDocument/2006/relationships/image" Target="../media/image5.png"/></Relationships>
</file>

<file path=ppt/slides/_rels/slide10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03.xml"/><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6.png"/><Relationship Id="rId7" Type="http://schemas.openxmlformats.org/officeDocument/2006/relationships/image" Target="../media/image4.png"/><Relationship Id="rId2" Type="http://schemas.openxmlformats.org/officeDocument/2006/relationships/notesSlide" Target="../notesSlides/notesSlide104.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10" Type="http://schemas.openxmlformats.org/officeDocument/2006/relationships/image" Target="../media/image5.png"/><Relationship Id="rId4" Type="http://schemas.openxmlformats.org/officeDocument/2006/relationships/image" Target="../media/image7.png"/><Relationship Id="rId9" Type="http://schemas.openxmlformats.org/officeDocument/2006/relationships/image" Target="../media/image19.png"/></Relationships>
</file>

<file path=ppt/slides/_rels/slide10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A22"/>
        </a:solidFill>
        <a:effectLst/>
      </p:bgPr>
    </p:bg>
    <p:spTree>
      <p:nvGrpSpPr>
        <p:cNvPr id="1" name=""/>
        <p:cNvGrpSpPr/>
        <p:nvPr/>
      </p:nvGrpSpPr>
      <p:grpSpPr>
        <a:xfrm>
          <a:off x="0" y="0"/>
          <a:ext cx="0" cy="0"/>
          <a:chOff x="0" y="0"/>
          <a:chExt cx="0" cy="0"/>
        </a:xfrm>
      </p:grpSpPr>
      <p:pic>
        <p:nvPicPr>
          <p:cNvPr id="2" name="Image 0" descr="/home/claude/work/bg_dark.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66928" y="2121408"/>
            <a:ext cx="8229600" cy="274320"/>
          </a:xfrm>
          <a:prstGeom prst="rect">
            <a:avLst/>
          </a:prstGeom>
          <a:noFill/>
          <a:ln/>
        </p:spPr>
        <p:txBody>
          <a:bodyPr wrap="square" lIns="0" tIns="0" rIns="0" bIns="0" rtlCol="0" anchor="ctr"/>
          <a:lstStyle/>
          <a:p>
            <a:pPr marL="0" indent="0">
              <a:buNone/>
            </a:pPr>
            <a:r>
              <a:rPr lang="en-US" sz="1200" b="1" kern="0" spc="300" dirty="0">
                <a:solidFill>
                  <a:srgbClr val="F5A524"/>
                </a:solidFill>
                <a:latin typeface="Calibri" pitchFamily="34" charset="0"/>
                <a:ea typeface="Calibri" pitchFamily="34" charset="-122"/>
                <a:cs typeface="Calibri" pitchFamily="34" charset="-120"/>
              </a:rPr>
              <a:t>TWO-DAY ENTERPRISE WORKSHOP</a:t>
            </a:r>
            <a:endParaRPr lang="en-US" sz="1200" dirty="0"/>
          </a:p>
        </p:txBody>
      </p:sp>
      <p:sp>
        <p:nvSpPr>
          <p:cNvPr id="4" name="Text 1"/>
          <p:cNvSpPr/>
          <p:nvPr/>
        </p:nvSpPr>
        <p:spPr>
          <a:xfrm>
            <a:off x="530352" y="2505456"/>
            <a:ext cx="10424160" cy="1234440"/>
          </a:xfrm>
          <a:prstGeom prst="rect">
            <a:avLst/>
          </a:prstGeom>
          <a:noFill/>
          <a:ln/>
        </p:spPr>
        <p:txBody>
          <a:bodyPr wrap="square" lIns="0" tIns="0" rIns="0" bIns="0" rtlCol="0" anchor="t"/>
          <a:lstStyle/>
          <a:p>
            <a:pPr marL="0" indent="0">
              <a:buNone/>
            </a:pPr>
            <a:r>
              <a:rPr lang="en-US" sz="6200" b="1" dirty="0">
                <a:solidFill>
                  <a:srgbClr val="FFFFFF"/>
                </a:solidFill>
                <a:latin typeface="Cambria" pitchFamily="34" charset="0"/>
                <a:ea typeface="Cambria" pitchFamily="34" charset="-122"/>
                <a:cs typeface="Cambria" pitchFamily="34" charset="-120"/>
              </a:rPr>
              <a:t>AI Agents in Practice</a:t>
            </a:r>
            <a:endParaRPr lang="en-US" sz="6200" dirty="0"/>
          </a:p>
        </p:txBody>
      </p:sp>
      <p:sp>
        <p:nvSpPr>
          <p:cNvPr id="5" name="Text 2"/>
          <p:cNvSpPr/>
          <p:nvPr/>
        </p:nvSpPr>
        <p:spPr>
          <a:xfrm>
            <a:off x="566928" y="3785616"/>
            <a:ext cx="10058400" cy="411480"/>
          </a:xfrm>
          <a:prstGeom prst="rect">
            <a:avLst/>
          </a:prstGeom>
          <a:noFill/>
          <a:ln/>
        </p:spPr>
        <p:txBody>
          <a:bodyPr wrap="square" lIns="0" tIns="0" rIns="0" bIns="0" rtlCol="0" anchor="ctr"/>
          <a:lstStyle/>
          <a:p>
            <a:pPr marL="0" indent="0">
              <a:buNone/>
            </a:pPr>
            <a:r>
              <a:rPr lang="en-US" sz="1900" dirty="0">
                <a:solidFill>
                  <a:srgbClr val="B9B4E0"/>
                </a:solidFill>
                <a:latin typeface="Calibri" pitchFamily="34" charset="0"/>
                <a:ea typeface="Calibri" pitchFamily="34" charset="-122"/>
                <a:cs typeface="Calibri" pitchFamily="34" charset="-120"/>
              </a:rPr>
              <a:t>Foundations · Frameworks · Protocols · Production</a:t>
            </a:r>
            <a:endParaRPr lang="en-US" sz="1900" dirty="0"/>
          </a:p>
        </p:txBody>
      </p:sp>
      <p:sp>
        <p:nvSpPr>
          <p:cNvPr id="6" name="Shape 3"/>
          <p:cNvSpPr/>
          <p:nvPr/>
        </p:nvSpPr>
        <p:spPr>
          <a:xfrm>
            <a:off x="566928" y="4443984"/>
            <a:ext cx="2227478" cy="402336"/>
          </a:xfrm>
          <a:prstGeom prst="roundRect">
            <a:avLst>
              <a:gd name="adj" fmla="val 50000"/>
            </a:avLst>
          </a:prstGeom>
          <a:solidFill>
            <a:srgbClr val="FFFFFF">
              <a:alpha val="12000"/>
            </a:srgbClr>
          </a:solidFill>
          <a:ln w="12700">
            <a:solidFill>
              <a:srgbClr val="8E82F5"/>
            </a:solidFill>
            <a:prstDash val="solid"/>
          </a:ln>
        </p:spPr>
        <p:txBody>
          <a:bodyPr/>
          <a:lstStyle/>
          <a:p>
            <a:endParaRPr lang="en-US"/>
          </a:p>
        </p:txBody>
      </p:sp>
      <p:sp>
        <p:nvSpPr>
          <p:cNvPr id="7" name="Text 4"/>
          <p:cNvSpPr/>
          <p:nvPr/>
        </p:nvSpPr>
        <p:spPr>
          <a:xfrm>
            <a:off x="566928" y="4443984"/>
            <a:ext cx="2227478" cy="402336"/>
          </a:xfrm>
          <a:prstGeom prst="rect">
            <a:avLst/>
          </a:prstGeom>
          <a:noFill/>
          <a:ln/>
        </p:spPr>
        <p:txBody>
          <a:bodyPr wrap="square" lIns="0" tIns="0" rIns="0" bIns="0" rtlCol="0" anchor="ctr"/>
          <a:lstStyle/>
          <a:p>
            <a:pPr marL="0" indent="0" algn="ctr">
              <a:buNone/>
            </a:pPr>
            <a:r>
              <a:rPr lang="en-US" sz="1150" dirty="0">
                <a:solidFill>
                  <a:srgbClr val="FFFFFF"/>
                </a:solidFill>
                <a:latin typeface="Calibri" pitchFamily="34" charset="0"/>
                <a:ea typeface="Calibri" pitchFamily="34" charset="-122"/>
                <a:cs typeface="Calibri" pitchFamily="34" charset="-120"/>
              </a:rPr>
              <a:t>Day 1 — build the loop</a:t>
            </a:r>
            <a:endParaRPr lang="en-US" sz="1150" dirty="0"/>
          </a:p>
        </p:txBody>
      </p:sp>
      <p:sp>
        <p:nvSpPr>
          <p:cNvPr id="8" name="Shape 5"/>
          <p:cNvSpPr/>
          <p:nvPr/>
        </p:nvSpPr>
        <p:spPr>
          <a:xfrm>
            <a:off x="2977286" y="4443984"/>
            <a:ext cx="3661258" cy="402336"/>
          </a:xfrm>
          <a:prstGeom prst="roundRect">
            <a:avLst>
              <a:gd name="adj" fmla="val 50000"/>
            </a:avLst>
          </a:prstGeom>
          <a:solidFill>
            <a:srgbClr val="FFFFFF">
              <a:alpha val="12000"/>
            </a:srgbClr>
          </a:solidFill>
          <a:ln w="12700">
            <a:solidFill>
              <a:srgbClr val="8E82F5"/>
            </a:solidFill>
            <a:prstDash val="solid"/>
          </a:ln>
        </p:spPr>
        <p:txBody>
          <a:bodyPr/>
          <a:lstStyle/>
          <a:p>
            <a:endParaRPr lang="en-US"/>
          </a:p>
        </p:txBody>
      </p:sp>
      <p:sp>
        <p:nvSpPr>
          <p:cNvPr id="9" name="Text 6"/>
          <p:cNvSpPr/>
          <p:nvPr/>
        </p:nvSpPr>
        <p:spPr>
          <a:xfrm>
            <a:off x="2977286" y="4443984"/>
            <a:ext cx="3661258" cy="402336"/>
          </a:xfrm>
          <a:prstGeom prst="rect">
            <a:avLst/>
          </a:prstGeom>
          <a:noFill/>
          <a:ln/>
        </p:spPr>
        <p:txBody>
          <a:bodyPr wrap="square" lIns="0" tIns="0" rIns="0" bIns="0" rtlCol="0" anchor="ctr"/>
          <a:lstStyle/>
          <a:p>
            <a:pPr marL="0" indent="0" algn="ctr">
              <a:buNone/>
            </a:pPr>
            <a:r>
              <a:rPr lang="en-US" sz="1150" dirty="0">
                <a:solidFill>
                  <a:srgbClr val="FFFFFF"/>
                </a:solidFill>
                <a:latin typeface="Calibri" pitchFamily="34" charset="0"/>
                <a:ea typeface="Calibri" pitchFamily="34" charset="-122"/>
                <a:cs typeface="Calibri" pitchFamily="34" charset="-120"/>
              </a:rPr>
              <a:t>Day 2 — ground it, scale it, govern it</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BEFORE WE START</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2800" b="1" dirty="0">
                <a:solidFill>
                  <a:srgbClr val="141235"/>
                </a:solidFill>
                <a:latin typeface="Cambria" pitchFamily="34" charset="0"/>
                <a:ea typeface="Cambria" pitchFamily="34" charset="-122"/>
                <a:cs typeface="Cambria" pitchFamily="34" charset="-120"/>
              </a:rPr>
              <a:t>This room is mixed on purpose, and so are these slides</a:t>
            </a:r>
            <a:endParaRPr lang="en-US" sz="2800" dirty="0"/>
          </a:p>
        </p:txBody>
      </p:sp>
      <p:sp>
        <p:nvSpPr>
          <p:cNvPr id="4" name="Text 2"/>
          <p:cNvSpPr/>
          <p:nvPr/>
        </p:nvSpPr>
        <p:spPr>
          <a:xfrm>
            <a:off x="566928" y="1371600"/>
            <a:ext cx="11057839" cy="310896"/>
          </a:xfrm>
          <a:prstGeom prst="rect">
            <a:avLst/>
          </a:prstGeom>
          <a:noFill/>
          <a:ln/>
        </p:spPr>
        <p:txBody>
          <a:bodyPr wrap="square" lIns="0" tIns="0" rIns="0" bIns="0" rtlCol="0" anchor="t"/>
          <a:lstStyle/>
          <a:p>
            <a:pPr marL="0" indent="0">
              <a:buNone/>
            </a:pPr>
            <a:r>
              <a:rPr lang="en-US" sz="1400" dirty="0">
                <a:solidFill>
                  <a:srgbClr val="3B3760"/>
                </a:solidFill>
                <a:latin typeface="Calibri" pitchFamily="34" charset="0"/>
                <a:ea typeface="Calibri" pitchFamily="34" charset="-122"/>
                <a:cs typeface="Calibri" pitchFamily="34" charset="-120"/>
              </a:rPr>
              <a:t>Every technical slide carries a plain-language restatement. Nobody has to pretend to follow, and nobody has to sit through a watered-down version.</a:t>
            </a:r>
            <a:endParaRPr lang="en-US" sz="1400" dirty="0"/>
          </a:p>
        </p:txBody>
      </p:sp>
      <p:sp>
        <p:nvSpPr>
          <p:cNvPr id="5" name="Shape 3"/>
          <p:cNvSpPr/>
          <p:nvPr/>
        </p:nvSpPr>
        <p:spPr>
          <a:xfrm>
            <a:off x="566928" y="2670185"/>
            <a:ext cx="3527450" cy="1974830"/>
          </a:xfrm>
          <a:prstGeom prst="roundRect">
            <a:avLst>
              <a:gd name="adj" fmla="val 4167"/>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6" name="Shape 4"/>
          <p:cNvSpPr/>
          <p:nvPr/>
        </p:nvSpPr>
        <p:spPr>
          <a:xfrm>
            <a:off x="804672" y="2889641"/>
            <a:ext cx="365760" cy="365760"/>
          </a:xfrm>
          <a:prstGeom prst="ellipse">
            <a:avLst/>
          </a:prstGeom>
          <a:solidFill>
            <a:srgbClr val="5B4BE8"/>
          </a:solidFill>
          <a:ln w="12700">
            <a:solidFill>
              <a:srgbClr val="5B4BE8"/>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896112" y="2981081"/>
            <a:ext cx="182880" cy="182880"/>
          </a:xfrm>
          <a:prstGeom prst="rect">
            <a:avLst/>
          </a:prstGeom>
        </p:spPr>
      </p:pic>
      <p:sp>
        <p:nvSpPr>
          <p:cNvPr id="8" name="Text 5"/>
          <p:cNvSpPr/>
          <p:nvPr/>
        </p:nvSpPr>
        <p:spPr>
          <a:xfrm>
            <a:off x="1298448" y="2880497"/>
            <a:ext cx="2558186"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IF YOU WRITE CODE</a:t>
            </a:r>
            <a:endParaRPr lang="en-US" sz="850" dirty="0"/>
          </a:p>
        </p:txBody>
      </p:sp>
      <p:sp>
        <p:nvSpPr>
          <p:cNvPr id="9" name="Text 6"/>
          <p:cNvSpPr/>
          <p:nvPr/>
        </p:nvSpPr>
        <p:spPr>
          <a:xfrm>
            <a:off x="1298448" y="3099953"/>
            <a:ext cx="2558186" cy="338511"/>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The precise names</a:t>
            </a:r>
            <a:endParaRPr lang="en-US" sz="1450" dirty="0"/>
          </a:p>
        </p:txBody>
      </p:sp>
      <p:sp>
        <p:nvSpPr>
          <p:cNvPr id="10" name="Text 7"/>
          <p:cNvSpPr/>
          <p:nvPr/>
        </p:nvSpPr>
        <p:spPr>
          <a:xfrm>
            <a:off x="1298448" y="3447608"/>
            <a:ext cx="2558186" cy="1014527"/>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Real field names, real message shapes, real protocol methods. Everything on a slide appears in a notebook you will run this afternoon.</a:t>
            </a:r>
            <a:endParaRPr lang="en-US" sz="1150" dirty="0"/>
          </a:p>
        </p:txBody>
      </p:sp>
      <p:sp>
        <p:nvSpPr>
          <p:cNvPr id="11" name="Shape 8"/>
          <p:cNvSpPr/>
          <p:nvPr/>
        </p:nvSpPr>
        <p:spPr>
          <a:xfrm>
            <a:off x="4332122" y="2670185"/>
            <a:ext cx="3527450" cy="1974830"/>
          </a:xfrm>
          <a:prstGeom prst="roundRect">
            <a:avLst>
              <a:gd name="adj" fmla="val 4167"/>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2" name="Shape 9"/>
          <p:cNvSpPr/>
          <p:nvPr/>
        </p:nvSpPr>
        <p:spPr>
          <a:xfrm>
            <a:off x="4569866" y="2889641"/>
            <a:ext cx="365760" cy="365760"/>
          </a:xfrm>
          <a:prstGeom prst="ellipse">
            <a:avLst/>
          </a:prstGeom>
          <a:solidFill>
            <a:srgbClr val="5B4BE8"/>
          </a:solidFill>
          <a:ln w="12700">
            <a:solidFill>
              <a:srgbClr val="5B4BE8"/>
            </a:solidFill>
            <a:prstDash val="solid"/>
          </a:ln>
        </p:spPr>
        <p:txBody>
          <a:bodyPr/>
          <a:lstStyle/>
          <a:p>
            <a:endParaRPr lang="en-US"/>
          </a:p>
        </p:txBody>
      </p:sp>
      <p:pic>
        <p:nvPicPr>
          <p:cNvPr id="13" name="Image 1" descr="preencoded.png"/>
          <p:cNvPicPr>
            <a:picLocks noChangeAspect="1"/>
          </p:cNvPicPr>
          <p:nvPr/>
        </p:nvPicPr>
        <p:blipFill>
          <a:blip r:embed="rId4"/>
          <a:stretch>
            <a:fillRect/>
          </a:stretch>
        </p:blipFill>
        <p:spPr>
          <a:xfrm>
            <a:off x="4661306" y="2981081"/>
            <a:ext cx="182880" cy="182880"/>
          </a:xfrm>
          <a:prstGeom prst="rect">
            <a:avLst/>
          </a:prstGeom>
        </p:spPr>
      </p:pic>
      <p:sp>
        <p:nvSpPr>
          <p:cNvPr id="14" name="Text 10"/>
          <p:cNvSpPr/>
          <p:nvPr/>
        </p:nvSpPr>
        <p:spPr>
          <a:xfrm>
            <a:off x="5063642" y="2880497"/>
            <a:ext cx="2558186"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IF YOU DON'T</a:t>
            </a:r>
            <a:endParaRPr lang="en-US" sz="850" dirty="0"/>
          </a:p>
        </p:txBody>
      </p:sp>
      <p:sp>
        <p:nvSpPr>
          <p:cNvPr id="15" name="Text 11"/>
          <p:cNvSpPr/>
          <p:nvPr/>
        </p:nvSpPr>
        <p:spPr>
          <a:xfrm>
            <a:off x="5063642" y="3099953"/>
            <a:ext cx="2558186" cy="338511"/>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The plain restatement</a:t>
            </a:r>
            <a:endParaRPr lang="en-US" sz="1450" dirty="0"/>
          </a:p>
        </p:txBody>
      </p:sp>
      <p:sp>
        <p:nvSpPr>
          <p:cNvPr id="16" name="Text 12"/>
          <p:cNvSpPr/>
          <p:nvPr/>
        </p:nvSpPr>
        <p:spPr>
          <a:xfrm>
            <a:off x="5063642" y="3447608"/>
            <a:ext cx="2558186" cy="1014527"/>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Every technical slide ends with a yellow line. That line is the whole point of the slide. If you take only that away, you can still hold your end of the conversation.</a:t>
            </a:r>
            <a:endParaRPr lang="en-US" sz="1150" dirty="0"/>
          </a:p>
        </p:txBody>
      </p:sp>
      <p:sp>
        <p:nvSpPr>
          <p:cNvPr id="17" name="Shape 13"/>
          <p:cNvSpPr/>
          <p:nvPr/>
        </p:nvSpPr>
        <p:spPr>
          <a:xfrm>
            <a:off x="8097317" y="2670185"/>
            <a:ext cx="3527450" cy="1974830"/>
          </a:xfrm>
          <a:prstGeom prst="roundRect">
            <a:avLst>
              <a:gd name="adj" fmla="val 4167"/>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8" name="Shape 14"/>
          <p:cNvSpPr/>
          <p:nvPr/>
        </p:nvSpPr>
        <p:spPr>
          <a:xfrm>
            <a:off x="8335061" y="2889641"/>
            <a:ext cx="365760" cy="365760"/>
          </a:xfrm>
          <a:prstGeom prst="ellipse">
            <a:avLst/>
          </a:prstGeom>
          <a:solidFill>
            <a:srgbClr val="5B4BE8"/>
          </a:solidFill>
          <a:ln w="12700">
            <a:solidFill>
              <a:srgbClr val="5B4BE8"/>
            </a:solidFill>
            <a:prstDash val="solid"/>
          </a:ln>
        </p:spPr>
        <p:txBody>
          <a:bodyPr/>
          <a:lstStyle/>
          <a:p>
            <a:endParaRPr lang="en-US"/>
          </a:p>
        </p:txBody>
      </p:sp>
      <p:pic>
        <p:nvPicPr>
          <p:cNvPr id="19" name="Image 2" descr="preencoded.png"/>
          <p:cNvPicPr>
            <a:picLocks noChangeAspect="1"/>
          </p:cNvPicPr>
          <p:nvPr/>
        </p:nvPicPr>
        <p:blipFill>
          <a:blip r:embed="rId5"/>
          <a:stretch>
            <a:fillRect/>
          </a:stretch>
        </p:blipFill>
        <p:spPr>
          <a:xfrm>
            <a:off x="8426501" y="2981081"/>
            <a:ext cx="182880" cy="182880"/>
          </a:xfrm>
          <a:prstGeom prst="rect">
            <a:avLst/>
          </a:prstGeom>
        </p:spPr>
      </p:pic>
      <p:sp>
        <p:nvSpPr>
          <p:cNvPr id="20" name="Text 15"/>
          <p:cNvSpPr/>
          <p:nvPr/>
        </p:nvSpPr>
        <p:spPr>
          <a:xfrm>
            <a:off x="8828837" y="2880497"/>
            <a:ext cx="2558186"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EVERYONE</a:t>
            </a:r>
            <a:endParaRPr lang="en-US" sz="850" dirty="0"/>
          </a:p>
        </p:txBody>
      </p:sp>
      <p:sp>
        <p:nvSpPr>
          <p:cNvPr id="21" name="Text 16"/>
          <p:cNvSpPr/>
          <p:nvPr/>
        </p:nvSpPr>
        <p:spPr>
          <a:xfrm>
            <a:off x="8828837" y="3099953"/>
            <a:ext cx="2558186" cy="338511"/>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The decision language</a:t>
            </a:r>
            <a:endParaRPr lang="en-US" sz="1450" dirty="0"/>
          </a:p>
        </p:txBody>
      </p:sp>
      <p:sp>
        <p:nvSpPr>
          <p:cNvPr id="22" name="Text 17"/>
          <p:cNvSpPr/>
          <p:nvPr/>
        </p:nvSpPr>
        <p:spPr>
          <a:xfrm>
            <a:off x="8828837" y="3447608"/>
            <a:ext cx="2558186" cy="1014527"/>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Shape, autonomy, and cost of a wrong step. This vocabulary is what the closing workshop grades on, and what your risk function will ask you about.</a:t>
            </a:r>
            <a:endParaRPr lang="en-US" sz="1150" dirty="0"/>
          </a:p>
        </p:txBody>
      </p:sp>
      <p:sp>
        <p:nvSpPr>
          <p:cNvPr id="23" name="Shape 18"/>
          <p:cNvSpPr/>
          <p:nvPr/>
        </p:nvSpPr>
        <p:spPr>
          <a:xfrm>
            <a:off x="566928" y="5541264"/>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24" name="Shape 19"/>
          <p:cNvSpPr/>
          <p:nvPr/>
        </p:nvSpPr>
        <p:spPr>
          <a:xfrm>
            <a:off x="841248" y="5760720"/>
            <a:ext cx="384048" cy="384048"/>
          </a:xfrm>
          <a:prstGeom prst="ellipse">
            <a:avLst/>
          </a:prstGeom>
          <a:solidFill>
            <a:srgbClr val="F5A524"/>
          </a:solidFill>
          <a:ln w="12700">
            <a:solidFill>
              <a:srgbClr val="F5A524"/>
            </a:solidFill>
            <a:prstDash val="solid"/>
          </a:ln>
        </p:spPr>
        <p:txBody>
          <a:bodyPr/>
          <a:lstStyle/>
          <a:p>
            <a:endParaRPr lang="en-US"/>
          </a:p>
        </p:txBody>
      </p:sp>
      <p:pic>
        <p:nvPicPr>
          <p:cNvPr id="25" name="Image 3" descr="preencoded.png"/>
          <p:cNvPicPr>
            <a:picLocks noChangeAspect="1"/>
          </p:cNvPicPr>
          <p:nvPr/>
        </p:nvPicPr>
        <p:blipFill>
          <a:blip r:embed="rId6"/>
          <a:stretch>
            <a:fillRect/>
          </a:stretch>
        </p:blipFill>
        <p:spPr>
          <a:xfrm>
            <a:off x="937260" y="5856732"/>
            <a:ext cx="192024" cy="192024"/>
          </a:xfrm>
          <a:prstGeom prst="rect">
            <a:avLst/>
          </a:prstGeom>
        </p:spPr>
      </p:pic>
      <p:sp>
        <p:nvSpPr>
          <p:cNvPr id="26" name="Text 20"/>
          <p:cNvSpPr/>
          <p:nvPr/>
        </p:nvSpPr>
        <p:spPr>
          <a:xfrm>
            <a:off x="1371600" y="5596128"/>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Yellow line = the takeaway. If a slide gets too technical, wait nine seconds and it will be restated.</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THE SPINE</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2600" b="1" dirty="0">
                <a:solidFill>
                  <a:srgbClr val="141235"/>
                </a:solidFill>
                <a:latin typeface="Cambria" pitchFamily="34" charset="0"/>
                <a:ea typeface="Cambria" pitchFamily="34" charset="-122"/>
                <a:cs typeface="Cambria" pitchFamily="34" charset="-120"/>
              </a:rPr>
              <a:t>Each layer exists because the one before it left a problem open</a:t>
            </a:r>
            <a:endParaRPr lang="en-US" sz="2600" dirty="0"/>
          </a:p>
        </p:txBody>
      </p:sp>
      <p:sp>
        <p:nvSpPr>
          <p:cNvPr id="4" name="Shape 2"/>
          <p:cNvSpPr/>
          <p:nvPr/>
        </p:nvSpPr>
        <p:spPr>
          <a:xfrm>
            <a:off x="566928" y="2048256"/>
            <a:ext cx="1675333" cy="2286000"/>
          </a:xfrm>
          <a:prstGeom prst="roundRect">
            <a:avLst>
              <a:gd name="adj" fmla="val 5458"/>
            </a:avLst>
          </a:prstGeom>
          <a:solidFill>
            <a:srgbClr val="FFFFFF"/>
          </a:solidFill>
          <a:ln w="12700">
            <a:solidFill>
              <a:srgbClr val="E3E4F2"/>
            </a:solidFill>
            <a:prstDash val="solid"/>
          </a:ln>
          <a:effectLst>
            <a:outerShdw blurRad="114300" dist="572" dir="5400000" algn="bl" rotWithShape="0">
              <a:srgbClr val="1B1A4A">
                <a:alpha val="8000"/>
              </a:srgbClr>
            </a:outerShdw>
          </a:effectLst>
        </p:spPr>
        <p:txBody>
          <a:bodyPr/>
          <a:lstStyle/>
          <a:p>
            <a:endParaRPr lang="en-US"/>
          </a:p>
        </p:txBody>
      </p:sp>
      <p:sp>
        <p:nvSpPr>
          <p:cNvPr id="5" name="Shape 3"/>
          <p:cNvSpPr/>
          <p:nvPr/>
        </p:nvSpPr>
        <p:spPr>
          <a:xfrm>
            <a:off x="1203427" y="2267712"/>
            <a:ext cx="402336" cy="402336"/>
          </a:xfrm>
          <a:prstGeom prst="ellipse">
            <a:avLst/>
          </a:prstGeom>
          <a:solidFill>
            <a:srgbClr val="5B4BE8"/>
          </a:solidFill>
          <a:ln w="12700">
            <a:solidFill>
              <a:srgbClr val="5B4BE8"/>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1304011" y="2368296"/>
            <a:ext cx="201168" cy="201168"/>
          </a:xfrm>
          <a:prstGeom prst="rect">
            <a:avLst/>
          </a:prstGeom>
        </p:spPr>
      </p:pic>
      <p:sp>
        <p:nvSpPr>
          <p:cNvPr id="7" name="Text 4"/>
          <p:cNvSpPr/>
          <p:nvPr/>
        </p:nvSpPr>
        <p:spPr>
          <a:xfrm>
            <a:off x="658368" y="2798064"/>
            <a:ext cx="1492453" cy="621792"/>
          </a:xfrm>
          <a:prstGeom prst="rect">
            <a:avLst/>
          </a:prstGeom>
          <a:noFill/>
          <a:ln/>
        </p:spPr>
        <p:txBody>
          <a:bodyPr wrap="square" lIns="0" tIns="0" rIns="0" bIns="0" rtlCol="0" anchor="t"/>
          <a:lstStyle/>
          <a:p>
            <a:pPr marL="0" indent="0" algn="ctr">
              <a:lnSpc>
                <a:spcPct val="105000"/>
              </a:lnSpc>
              <a:buNone/>
            </a:pPr>
            <a:r>
              <a:rPr lang="en-US" sz="1250" b="1" dirty="0">
                <a:solidFill>
                  <a:srgbClr val="141235"/>
                </a:solidFill>
                <a:latin typeface="Calibri" pitchFamily="34" charset="0"/>
                <a:ea typeface="Calibri" pitchFamily="34" charset="-122"/>
                <a:cs typeface="Calibri" pitchFamily="34" charset="-120"/>
              </a:rPr>
              <a:t>A hand-written loop</a:t>
            </a:r>
            <a:endParaRPr lang="en-US" sz="1250" dirty="0"/>
          </a:p>
        </p:txBody>
      </p:sp>
      <p:sp>
        <p:nvSpPr>
          <p:cNvPr id="8" name="Text 5"/>
          <p:cNvSpPr/>
          <p:nvPr/>
        </p:nvSpPr>
        <p:spPr>
          <a:xfrm>
            <a:off x="676656" y="3438144"/>
            <a:ext cx="1455877" cy="786384"/>
          </a:xfrm>
          <a:prstGeom prst="rect">
            <a:avLst/>
          </a:prstGeom>
          <a:noFill/>
          <a:ln/>
        </p:spPr>
        <p:txBody>
          <a:bodyPr wrap="square" lIns="0" tIns="0" rIns="0" bIns="0" rtlCol="0" anchor="t"/>
          <a:lstStyle/>
          <a:p>
            <a:pPr marL="0" indent="0" algn="ctr">
              <a:lnSpc>
                <a:spcPct val="110000"/>
              </a:lnSpc>
              <a:buNone/>
            </a:pPr>
            <a:r>
              <a:rPr lang="en-US" sz="1000" i="1" dirty="0">
                <a:solidFill>
                  <a:srgbClr val="6E6B8A"/>
                </a:solidFill>
                <a:latin typeface="Calibri" pitchFamily="34" charset="0"/>
                <a:ea typeface="Calibri" pitchFamily="34" charset="-122"/>
                <a:cs typeface="Calibri" pitchFamily="34" charset="-120"/>
              </a:rPr>
              <a:t>tools are wired by hand, to one agent</a:t>
            </a:r>
            <a:endParaRPr lang="en-US" sz="1000" dirty="0"/>
          </a:p>
        </p:txBody>
      </p:sp>
      <p:sp>
        <p:nvSpPr>
          <p:cNvPr id="9" name="Shape 6"/>
          <p:cNvSpPr/>
          <p:nvPr/>
        </p:nvSpPr>
        <p:spPr>
          <a:xfrm>
            <a:off x="2269693" y="3191256"/>
            <a:ext cx="146304" cy="0"/>
          </a:xfrm>
          <a:prstGeom prst="line">
            <a:avLst/>
          </a:prstGeom>
          <a:noFill/>
          <a:ln w="25400">
            <a:solidFill>
              <a:srgbClr val="8E82F5"/>
            </a:solidFill>
            <a:prstDash val="solid"/>
            <a:headEnd type="none"/>
            <a:tailEnd type="triangle"/>
          </a:ln>
        </p:spPr>
        <p:txBody>
          <a:bodyPr/>
          <a:lstStyle/>
          <a:p>
            <a:endParaRPr lang="en-US"/>
          </a:p>
        </p:txBody>
      </p:sp>
      <p:sp>
        <p:nvSpPr>
          <p:cNvPr id="10" name="Shape 7"/>
          <p:cNvSpPr/>
          <p:nvPr/>
        </p:nvSpPr>
        <p:spPr>
          <a:xfrm>
            <a:off x="2443429" y="2048256"/>
            <a:ext cx="1675333" cy="2286000"/>
          </a:xfrm>
          <a:prstGeom prst="roundRect">
            <a:avLst>
              <a:gd name="adj" fmla="val 5458"/>
            </a:avLst>
          </a:prstGeom>
          <a:solidFill>
            <a:srgbClr val="FFFFFF"/>
          </a:solidFill>
          <a:ln w="12700">
            <a:solidFill>
              <a:srgbClr val="E3E4F2"/>
            </a:solidFill>
            <a:prstDash val="solid"/>
          </a:ln>
          <a:effectLst>
            <a:outerShdw blurRad="114300" dist="572" dir="5400000" algn="bl" rotWithShape="0">
              <a:srgbClr val="1B1A4A">
                <a:alpha val="8000"/>
              </a:srgbClr>
            </a:outerShdw>
          </a:effectLst>
        </p:spPr>
        <p:txBody>
          <a:bodyPr/>
          <a:lstStyle/>
          <a:p>
            <a:endParaRPr lang="en-US"/>
          </a:p>
        </p:txBody>
      </p:sp>
      <p:sp>
        <p:nvSpPr>
          <p:cNvPr id="11" name="Shape 8"/>
          <p:cNvSpPr/>
          <p:nvPr/>
        </p:nvSpPr>
        <p:spPr>
          <a:xfrm>
            <a:off x="3079928" y="2267712"/>
            <a:ext cx="402336" cy="402336"/>
          </a:xfrm>
          <a:prstGeom prst="ellipse">
            <a:avLst/>
          </a:prstGeom>
          <a:solidFill>
            <a:srgbClr val="5B4BE8"/>
          </a:solidFill>
          <a:ln w="12700">
            <a:solidFill>
              <a:srgbClr val="5B4BE8"/>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3180512" y="2368296"/>
            <a:ext cx="201168" cy="201168"/>
          </a:xfrm>
          <a:prstGeom prst="rect">
            <a:avLst/>
          </a:prstGeom>
        </p:spPr>
      </p:pic>
      <p:sp>
        <p:nvSpPr>
          <p:cNvPr id="13" name="Text 9"/>
          <p:cNvSpPr/>
          <p:nvPr/>
        </p:nvSpPr>
        <p:spPr>
          <a:xfrm>
            <a:off x="2534869" y="2798064"/>
            <a:ext cx="1492453" cy="621792"/>
          </a:xfrm>
          <a:prstGeom prst="rect">
            <a:avLst/>
          </a:prstGeom>
          <a:noFill/>
          <a:ln/>
        </p:spPr>
        <p:txBody>
          <a:bodyPr wrap="square" lIns="0" tIns="0" rIns="0" bIns="0" rtlCol="0" anchor="t"/>
          <a:lstStyle/>
          <a:p>
            <a:pPr marL="0" indent="0" algn="ctr">
              <a:lnSpc>
                <a:spcPct val="105000"/>
              </a:lnSpc>
              <a:buNone/>
            </a:pPr>
            <a:r>
              <a:rPr lang="en-US" sz="1250" b="1" dirty="0">
                <a:solidFill>
                  <a:srgbClr val="141235"/>
                </a:solidFill>
                <a:latin typeface="Calibri" pitchFamily="34" charset="0"/>
                <a:ea typeface="Calibri" pitchFamily="34" charset="-122"/>
                <a:cs typeface="Calibri" pitchFamily="34" charset="-120"/>
              </a:rPr>
              <a:t>A tool protocol (MCP)</a:t>
            </a:r>
            <a:endParaRPr lang="en-US" sz="1250" dirty="0"/>
          </a:p>
        </p:txBody>
      </p:sp>
      <p:sp>
        <p:nvSpPr>
          <p:cNvPr id="14" name="Text 10"/>
          <p:cNvSpPr/>
          <p:nvPr/>
        </p:nvSpPr>
        <p:spPr>
          <a:xfrm>
            <a:off x="2553157" y="3438144"/>
            <a:ext cx="1455877" cy="786384"/>
          </a:xfrm>
          <a:prstGeom prst="rect">
            <a:avLst/>
          </a:prstGeom>
          <a:noFill/>
          <a:ln/>
        </p:spPr>
        <p:txBody>
          <a:bodyPr wrap="square" lIns="0" tIns="0" rIns="0" bIns="0" rtlCol="0" anchor="t"/>
          <a:lstStyle/>
          <a:p>
            <a:pPr marL="0" indent="0" algn="ctr">
              <a:lnSpc>
                <a:spcPct val="110000"/>
              </a:lnSpc>
              <a:buNone/>
            </a:pPr>
            <a:r>
              <a:rPr lang="en-US" sz="1000" i="1" dirty="0">
                <a:solidFill>
                  <a:srgbClr val="6E6B8A"/>
                </a:solidFill>
                <a:latin typeface="Calibri" pitchFamily="34" charset="0"/>
                <a:ea typeface="Calibri" pitchFamily="34" charset="-122"/>
                <a:cs typeface="Calibri" pitchFamily="34" charset="-120"/>
              </a:rPr>
              <a:t>the loop itself is fragile</a:t>
            </a:r>
            <a:endParaRPr lang="en-US" sz="1000" dirty="0"/>
          </a:p>
        </p:txBody>
      </p:sp>
      <p:sp>
        <p:nvSpPr>
          <p:cNvPr id="15" name="Shape 11"/>
          <p:cNvSpPr/>
          <p:nvPr/>
        </p:nvSpPr>
        <p:spPr>
          <a:xfrm>
            <a:off x="4146194" y="3191256"/>
            <a:ext cx="146304" cy="0"/>
          </a:xfrm>
          <a:prstGeom prst="line">
            <a:avLst/>
          </a:prstGeom>
          <a:noFill/>
          <a:ln w="25400">
            <a:solidFill>
              <a:srgbClr val="8E82F5"/>
            </a:solidFill>
            <a:prstDash val="solid"/>
            <a:headEnd type="none"/>
            <a:tailEnd type="triangle"/>
          </a:ln>
        </p:spPr>
        <p:txBody>
          <a:bodyPr/>
          <a:lstStyle/>
          <a:p>
            <a:endParaRPr lang="en-US"/>
          </a:p>
        </p:txBody>
      </p:sp>
      <p:sp>
        <p:nvSpPr>
          <p:cNvPr id="16" name="Shape 12"/>
          <p:cNvSpPr/>
          <p:nvPr/>
        </p:nvSpPr>
        <p:spPr>
          <a:xfrm>
            <a:off x="4319930" y="2048256"/>
            <a:ext cx="1675333" cy="2286000"/>
          </a:xfrm>
          <a:prstGeom prst="roundRect">
            <a:avLst>
              <a:gd name="adj" fmla="val 5458"/>
            </a:avLst>
          </a:prstGeom>
          <a:solidFill>
            <a:srgbClr val="FFFFFF"/>
          </a:solidFill>
          <a:ln w="12700">
            <a:solidFill>
              <a:srgbClr val="E3E4F2"/>
            </a:solidFill>
            <a:prstDash val="solid"/>
          </a:ln>
          <a:effectLst>
            <a:outerShdw blurRad="114300" dist="572" dir="5400000" algn="bl" rotWithShape="0">
              <a:srgbClr val="1B1A4A">
                <a:alpha val="8000"/>
              </a:srgbClr>
            </a:outerShdw>
          </a:effectLst>
        </p:spPr>
        <p:txBody>
          <a:bodyPr/>
          <a:lstStyle/>
          <a:p>
            <a:endParaRPr lang="en-US"/>
          </a:p>
        </p:txBody>
      </p:sp>
      <p:sp>
        <p:nvSpPr>
          <p:cNvPr id="17" name="Shape 13"/>
          <p:cNvSpPr/>
          <p:nvPr/>
        </p:nvSpPr>
        <p:spPr>
          <a:xfrm>
            <a:off x="4956429" y="2267712"/>
            <a:ext cx="402336" cy="402336"/>
          </a:xfrm>
          <a:prstGeom prst="ellipse">
            <a:avLst/>
          </a:prstGeom>
          <a:solidFill>
            <a:srgbClr val="5B4BE8"/>
          </a:solidFill>
          <a:ln w="12700">
            <a:solidFill>
              <a:srgbClr val="5B4BE8"/>
            </a:solidFill>
            <a:prstDash val="solid"/>
          </a:ln>
        </p:spPr>
        <p:txBody>
          <a:bodyPr/>
          <a:lstStyle/>
          <a:p>
            <a:endParaRPr lang="en-US"/>
          </a:p>
        </p:txBody>
      </p:sp>
      <p:pic>
        <p:nvPicPr>
          <p:cNvPr id="18" name="Image 2" descr="preencoded.png"/>
          <p:cNvPicPr>
            <a:picLocks noChangeAspect="1"/>
          </p:cNvPicPr>
          <p:nvPr/>
        </p:nvPicPr>
        <p:blipFill>
          <a:blip r:embed="rId5"/>
          <a:stretch>
            <a:fillRect/>
          </a:stretch>
        </p:blipFill>
        <p:spPr>
          <a:xfrm>
            <a:off x="5057013" y="2368296"/>
            <a:ext cx="201168" cy="201168"/>
          </a:xfrm>
          <a:prstGeom prst="rect">
            <a:avLst/>
          </a:prstGeom>
        </p:spPr>
      </p:pic>
      <p:sp>
        <p:nvSpPr>
          <p:cNvPr id="19" name="Text 14"/>
          <p:cNvSpPr/>
          <p:nvPr/>
        </p:nvSpPr>
        <p:spPr>
          <a:xfrm>
            <a:off x="4411370" y="2798064"/>
            <a:ext cx="1492453" cy="621792"/>
          </a:xfrm>
          <a:prstGeom prst="rect">
            <a:avLst/>
          </a:prstGeom>
          <a:noFill/>
          <a:ln/>
        </p:spPr>
        <p:txBody>
          <a:bodyPr wrap="square" lIns="0" tIns="0" rIns="0" bIns="0" rtlCol="0" anchor="t"/>
          <a:lstStyle/>
          <a:p>
            <a:pPr marL="0" indent="0" algn="ctr">
              <a:lnSpc>
                <a:spcPct val="105000"/>
              </a:lnSpc>
              <a:buNone/>
            </a:pPr>
            <a:r>
              <a:rPr lang="en-US" sz="1250" b="1" dirty="0">
                <a:solidFill>
                  <a:srgbClr val="141235"/>
                </a:solidFill>
                <a:latin typeface="Calibri" pitchFamily="34" charset="0"/>
                <a:ea typeface="Calibri" pitchFamily="34" charset="-122"/>
                <a:cs typeface="Calibri" pitchFamily="34" charset="-120"/>
              </a:rPr>
              <a:t>A framework</a:t>
            </a:r>
            <a:endParaRPr lang="en-US" sz="1250" dirty="0"/>
          </a:p>
        </p:txBody>
      </p:sp>
      <p:sp>
        <p:nvSpPr>
          <p:cNvPr id="20" name="Text 15"/>
          <p:cNvSpPr/>
          <p:nvPr/>
        </p:nvSpPr>
        <p:spPr>
          <a:xfrm>
            <a:off x="4429658" y="3438144"/>
            <a:ext cx="1455877" cy="786384"/>
          </a:xfrm>
          <a:prstGeom prst="rect">
            <a:avLst/>
          </a:prstGeom>
          <a:noFill/>
          <a:ln/>
        </p:spPr>
        <p:txBody>
          <a:bodyPr wrap="square" lIns="0" tIns="0" rIns="0" bIns="0" rtlCol="0" anchor="t"/>
          <a:lstStyle/>
          <a:p>
            <a:pPr marL="0" indent="0" algn="ctr">
              <a:lnSpc>
                <a:spcPct val="110000"/>
              </a:lnSpc>
              <a:buNone/>
            </a:pPr>
            <a:r>
              <a:rPr lang="en-US" sz="1000" i="1" dirty="0">
                <a:solidFill>
                  <a:srgbClr val="6E6B8A"/>
                </a:solidFill>
                <a:latin typeface="Calibri" pitchFamily="34" charset="0"/>
                <a:ea typeface="Calibri" pitchFamily="34" charset="-122"/>
                <a:cs typeface="Calibri" pitchFamily="34" charset="-120"/>
              </a:rPr>
              <a:t>the model doesn't know your data</a:t>
            </a:r>
            <a:endParaRPr lang="en-US" sz="1000" dirty="0"/>
          </a:p>
        </p:txBody>
      </p:sp>
      <p:sp>
        <p:nvSpPr>
          <p:cNvPr id="21" name="Shape 16"/>
          <p:cNvSpPr/>
          <p:nvPr/>
        </p:nvSpPr>
        <p:spPr>
          <a:xfrm>
            <a:off x="6022696" y="3191256"/>
            <a:ext cx="146304" cy="0"/>
          </a:xfrm>
          <a:prstGeom prst="line">
            <a:avLst/>
          </a:prstGeom>
          <a:noFill/>
          <a:ln w="25400">
            <a:solidFill>
              <a:srgbClr val="8E82F5"/>
            </a:solidFill>
            <a:prstDash val="solid"/>
            <a:headEnd type="none"/>
            <a:tailEnd type="triangle"/>
          </a:ln>
        </p:spPr>
        <p:txBody>
          <a:bodyPr/>
          <a:lstStyle/>
          <a:p>
            <a:endParaRPr lang="en-US"/>
          </a:p>
        </p:txBody>
      </p:sp>
      <p:sp>
        <p:nvSpPr>
          <p:cNvPr id="22" name="Shape 17"/>
          <p:cNvSpPr/>
          <p:nvPr/>
        </p:nvSpPr>
        <p:spPr>
          <a:xfrm>
            <a:off x="6196432" y="2048256"/>
            <a:ext cx="1675333" cy="2286000"/>
          </a:xfrm>
          <a:prstGeom prst="roundRect">
            <a:avLst>
              <a:gd name="adj" fmla="val 5458"/>
            </a:avLst>
          </a:prstGeom>
          <a:solidFill>
            <a:srgbClr val="FFFFFF"/>
          </a:solidFill>
          <a:ln w="12700">
            <a:solidFill>
              <a:srgbClr val="E3E4F2"/>
            </a:solidFill>
            <a:prstDash val="solid"/>
          </a:ln>
          <a:effectLst>
            <a:outerShdw blurRad="114300" dist="572" dir="5400000" algn="bl" rotWithShape="0">
              <a:srgbClr val="1B1A4A">
                <a:alpha val="8000"/>
              </a:srgbClr>
            </a:outerShdw>
          </a:effectLst>
        </p:spPr>
        <p:txBody>
          <a:bodyPr/>
          <a:lstStyle/>
          <a:p>
            <a:endParaRPr lang="en-US"/>
          </a:p>
        </p:txBody>
      </p:sp>
      <p:sp>
        <p:nvSpPr>
          <p:cNvPr id="23" name="Shape 18"/>
          <p:cNvSpPr/>
          <p:nvPr/>
        </p:nvSpPr>
        <p:spPr>
          <a:xfrm>
            <a:off x="6832930" y="2267712"/>
            <a:ext cx="402336" cy="402336"/>
          </a:xfrm>
          <a:prstGeom prst="ellipse">
            <a:avLst/>
          </a:prstGeom>
          <a:solidFill>
            <a:srgbClr val="5B4BE8"/>
          </a:solidFill>
          <a:ln w="12700">
            <a:solidFill>
              <a:srgbClr val="5B4BE8"/>
            </a:solidFill>
            <a:prstDash val="solid"/>
          </a:ln>
        </p:spPr>
        <p:txBody>
          <a:bodyPr/>
          <a:lstStyle/>
          <a:p>
            <a:endParaRPr lang="en-US"/>
          </a:p>
        </p:txBody>
      </p:sp>
      <p:pic>
        <p:nvPicPr>
          <p:cNvPr id="24" name="Image 3" descr="preencoded.png"/>
          <p:cNvPicPr>
            <a:picLocks noChangeAspect="1"/>
          </p:cNvPicPr>
          <p:nvPr/>
        </p:nvPicPr>
        <p:blipFill>
          <a:blip r:embed="rId6"/>
          <a:stretch>
            <a:fillRect/>
          </a:stretch>
        </p:blipFill>
        <p:spPr>
          <a:xfrm>
            <a:off x="6933514" y="2368296"/>
            <a:ext cx="201168" cy="201168"/>
          </a:xfrm>
          <a:prstGeom prst="rect">
            <a:avLst/>
          </a:prstGeom>
        </p:spPr>
      </p:pic>
      <p:sp>
        <p:nvSpPr>
          <p:cNvPr id="25" name="Text 19"/>
          <p:cNvSpPr/>
          <p:nvPr/>
        </p:nvSpPr>
        <p:spPr>
          <a:xfrm>
            <a:off x="6287872" y="2798064"/>
            <a:ext cx="1492453" cy="621792"/>
          </a:xfrm>
          <a:prstGeom prst="rect">
            <a:avLst/>
          </a:prstGeom>
          <a:noFill/>
          <a:ln/>
        </p:spPr>
        <p:txBody>
          <a:bodyPr wrap="square" lIns="0" tIns="0" rIns="0" bIns="0" rtlCol="0" anchor="t"/>
          <a:lstStyle/>
          <a:p>
            <a:pPr marL="0" indent="0" algn="ctr">
              <a:lnSpc>
                <a:spcPct val="105000"/>
              </a:lnSpc>
              <a:buNone/>
            </a:pPr>
            <a:r>
              <a:rPr lang="en-US" sz="1250" b="1" dirty="0">
                <a:solidFill>
                  <a:srgbClr val="141235"/>
                </a:solidFill>
                <a:latin typeface="Calibri" pitchFamily="34" charset="0"/>
                <a:ea typeface="Calibri" pitchFamily="34" charset="-122"/>
                <a:cs typeface="Calibri" pitchFamily="34" charset="-120"/>
              </a:rPr>
              <a:t>Retrieval and memory</a:t>
            </a:r>
            <a:endParaRPr lang="en-US" sz="1250" dirty="0"/>
          </a:p>
        </p:txBody>
      </p:sp>
      <p:sp>
        <p:nvSpPr>
          <p:cNvPr id="26" name="Text 20"/>
          <p:cNvSpPr/>
          <p:nvPr/>
        </p:nvSpPr>
        <p:spPr>
          <a:xfrm>
            <a:off x="6306160" y="3438144"/>
            <a:ext cx="1455877" cy="786384"/>
          </a:xfrm>
          <a:prstGeom prst="rect">
            <a:avLst/>
          </a:prstGeom>
          <a:noFill/>
          <a:ln/>
        </p:spPr>
        <p:txBody>
          <a:bodyPr wrap="square" lIns="0" tIns="0" rIns="0" bIns="0" rtlCol="0" anchor="t"/>
          <a:lstStyle/>
          <a:p>
            <a:pPr marL="0" indent="0" algn="ctr">
              <a:lnSpc>
                <a:spcPct val="110000"/>
              </a:lnSpc>
              <a:buNone/>
            </a:pPr>
            <a:r>
              <a:rPr lang="en-US" sz="1000" i="1" dirty="0">
                <a:solidFill>
                  <a:srgbClr val="6E6B8A"/>
                </a:solidFill>
                <a:latin typeface="Calibri" pitchFamily="34" charset="0"/>
                <a:ea typeface="Calibri" pitchFamily="34" charset="-122"/>
                <a:cs typeface="Calibri" pitchFamily="34" charset="-120"/>
              </a:rPr>
              <a:t>one agent can't hold the whole job</a:t>
            </a:r>
            <a:endParaRPr lang="en-US" sz="1000" dirty="0"/>
          </a:p>
        </p:txBody>
      </p:sp>
      <p:sp>
        <p:nvSpPr>
          <p:cNvPr id="27" name="Shape 21"/>
          <p:cNvSpPr/>
          <p:nvPr/>
        </p:nvSpPr>
        <p:spPr>
          <a:xfrm>
            <a:off x="7899197" y="3191256"/>
            <a:ext cx="146304" cy="0"/>
          </a:xfrm>
          <a:prstGeom prst="line">
            <a:avLst/>
          </a:prstGeom>
          <a:noFill/>
          <a:ln w="25400">
            <a:solidFill>
              <a:srgbClr val="8E82F5"/>
            </a:solidFill>
            <a:prstDash val="solid"/>
            <a:headEnd type="none"/>
            <a:tailEnd type="triangle"/>
          </a:ln>
        </p:spPr>
        <p:txBody>
          <a:bodyPr/>
          <a:lstStyle/>
          <a:p>
            <a:endParaRPr lang="en-US"/>
          </a:p>
        </p:txBody>
      </p:sp>
      <p:sp>
        <p:nvSpPr>
          <p:cNvPr id="28" name="Shape 22"/>
          <p:cNvSpPr/>
          <p:nvPr/>
        </p:nvSpPr>
        <p:spPr>
          <a:xfrm>
            <a:off x="8072933" y="2048256"/>
            <a:ext cx="1675333" cy="2286000"/>
          </a:xfrm>
          <a:prstGeom prst="roundRect">
            <a:avLst>
              <a:gd name="adj" fmla="val 5458"/>
            </a:avLst>
          </a:prstGeom>
          <a:solidFill>
            <a:srgbClr val="FFFFFF"/>
          </a:solidFill>
          <a:ln w="12700">
            <a:solidFill>
              <a:srgbClr val="E3E4F2"/>
            </a:solidFill>
            <a:prstDash val="solid"/>
          </a:ln>
          <a:effectLst>
            <a:outerShdw blurRad="114300" dist="572" dir="5400000" algn="bl" rotWithShape="0">
              <a:srgbClr val="1B1A4A">
                <a:alpha val="8000"/>
              </a:srgbClr>
            </a:outerShdw>
          </a:effectLst>
        </p:spPr>
        <p:txBody>
          <a:bodyPr/>
          <a:lstStyle/>
          <a:p>
            <a:endParaRPr lang="en-US"/>
          </a:p>
        </p:txBody>
      </p:sp>
      <p:sp>
        <p:nvSpPr>
          <p:cNvPr id="29" name="Shape 23"/>
          <p:cNvSpPr/>
          <p:nvPr/>
        </p:nvSpPr>
        <p:spPr>
          <a:xfrm>
            <a:off x="8709431" y="2267712"/>
            <a:ext cx="402336" cy="402336"/>
          </a:xfrm>
          <a:prstGeom prst="ellipse">
            <a:avLst/>
          </a:prstGeom>
          <a:solidFill>
            <a:srgbClr val="5B4BE8"/>
          </a:solidFill>
          <a:ln w="12700">
            <a:solidFill>
              <a:srgbClr val="5B4BE8"/>
            </a:solidFill>
            <a:prstDash val="solid"/>
          </a:ln>
        </p:spPr>
        <p:txBody>
          <a:bodyPr/>
          <a:lstStyle/>
          <a:p>
            <a:endParaRPr lang="en-US"/>
          </a:p>
        </p:txBody>
      </p:sp>
      <p:pic>
        <p:nvPicPr>
          <p:cNvPr id="30" name="Image 4" descr="preencoded.png"/>
          <p:cNvPicPr>
            <a:picLocks noChangeAspect="1"/>
          </p:cNvPicPr>
          <p:nvPr/>
        </p:nvPicPr>
        <p:blipFill>
          <a:blip r:embed="rId7"/>
          <a:stretch>
            <a:fillRect/>
          </a:stretch>
        </p:blipFill>
        <p:spPr>
          <a:xfrm>
            <a:off x="8810015" y="2368296"/>
            <a:ext cx="201168" cy="201168"/>
          </a:xfrm>
          <a:prstGeom prst="rect">
            <a:avLst/>
          </a:prstGeom>
        </p:spPr>
      </p:pic>
      <p:sp>
        <p:nvSpPr>
          <p:cNvPr id="31" name="Text 24"/>
          <p:cNvSpPr/>
          <p:nvPr/>
        </p:nvSpPr>
        <p:spPr>
          <a:xfrm>
            <a:off x="8164373" y="2798064"/>
            <a:ext cx="1492453" cy="621792"/>
          </a:xfrm>
          <a:prstGeom prst="rect">
            <a:avLst/>
          </a:prstGeom>
          <a:noFill/>
          <a:ln/>
        </p:spPr>
        <p:txBody>
          <a:bodyPr wrap="square" lIns="0" tIns="0" rIns="0" bIns="0" rtlCol="0" anchor="t"/>
          <a:lstStyle/>
          <a:p>
            <a:pPr marL="0" indent="0" algn="ctr">
              <a:lnSpc>
                <a:spcPct val="105000"/>
              </a:lnSpc>
              <a:buNone/>
            </a:pPr>
            <a:r>
              <a:rPr lang="en-US" sz="1250" b="1" dirty="0">
                <a:solidFill>
                  <a:srgbClr val="141235"/>
                </a:solidFill>
                <a:latin typeface="Calibri" pitchFamily="34" charset="0"/>
                <a:ea typeface="Calibri" pitchFamily="34" charset="-122"/>
                <a:cs typeface="Calibri" pitchFamily="34" charset="-120"/>
              </a:rPr>
              <a:t>Delegation</a:t>
            </a:r>
            <a:endParaRPr lang="en-US" sz="1250" dirty="0"/>
          </a:p>
        </p:txBody>
      </p:sp>
      <p:sp>
        <p:nvSpPr>
          <p:cNvPr id="32" name="Text 25"/>
          <p:cNvSpPr/>
          <p:nvPr/>
        </p:nvSpPr>
        <p:spPr>
          <a:xfrm>
            <a:off x="8182661" y="3438144"/>
            <a:ext cx="1455877" cy="786384"/>
          </a:xfrm>
          <a:prstGeom prst="rect">
            <a:avLst/>
          </a:prstGeom>
          <a:noFill/>
          <a:ln/>
        </p:spPr>
        <p:txBody>
          <a:bodyPr wrap="square" lIns="0" tIns="0" rIns="0" bIns="0" rtlCol="0" anchor="t"/>
          <a:lstStyle/>
          <a:p>
            <a:pPr marL="0" indent="0" algn="ctr">
              <a:lnSpc>
                <a:spcPct val="110000"/>
              </a:lnSpc>
              <a:buNone/>
            </a:pPr>
            <a:r>
              <a:rPr lang="en-US" sz="1000" i="1" dirty="0">
                <a:solidFill>
                  <a:srgbClr val="6E6B8A"/>
                </a:solidFill>
                <a:latin typeface="Calibri" pitchFamily="34" charset="0"/>
                <a:ea typeface="Calibri" pitchFamily="34" charset="-122"/>
                <a:cs typeface="Calibri" pitchFamily="34" charset="-120"/>
              </a:rPr>
              <a:t>nobody can prove it behaved</a:t>
            </a:r>
            <a:endParaRPr lang="en-US" sz="1000" dirty="0"/>
          </a:p>
        </p:txBody>
      </p:sp>
      <p:sp>
        <p:nvSpPr>
          <p:cNvPr id="33" name="Shape 26"/>
          <p:cNvSpPr/>
          <p:nvPr/>
        </p:nvSpPr>
        <p:spPr>
          <a:xfrm>
            <a:off x="9775698" y="3191256"/>
            <a:ext cx="146304" cy="0"/>
          </a:xfrm>
          <a:prstGeom prst="line">
            <a:avLst/>
          </a:prstGeom>
          <a:noFill/>
          <a:ln w="25400">
            <a:solidFill>
              <a:srgbClr val="8E82F5"/>
            </a:solidFill>
            <a:prstDash val="solid"/>
            <a:headEnd type="none"/>
            <a:tailEnd type="triangle"/>
          </a:ln>
        </p:spPr>
        <p:txBody>
          <a:bodyPr/>
          <a:lstStyle/>
          <a:p>
            <a:endParaRPr lang="en-US"/>
          </a:p>
        </p:txBody>
      </p:sp>
      <p:sp>
        <p:nvSpPr>
          <p:cNvPr id="34" name="Shape 27"/>
          <p:cNvSpPr/>
          <p:nvPr/>
        </p:nvSpPr>
        <p:spPr>
          <a:xfrm>
            <a:off x="9949434" y="2048256"/>
            <a:ext cx="1675333" cy="2286000"/>
          </a:xfrm>
          <a:prstGeom prst="roundRect">
            <a:avLst>
              <a:gd name="adj" fmla="val 5458"/>
            </a:avLst>
          </a:prstGeom>
          <a:solidFill>
            <a:srgbClr val="5B4BE8"/>
          </a:solidFill>
          <a:ln w="12700">
            <a:solidFill>
              <a:srgbClr val="5B4BE8"/>
            </a:solidFill>
            <a:prstDash val="solid"/>
          </a:ln>
          <a:effectLst>
            <a:outerShdw blurRad="114300" dist="572" dir="5400000" algn="bl" rotWithShape="0">
              <a:srgbClr val="1B1A4A">
                <a:alpha val="8000"/>
              </a:srgbClr>
            </a:outerShdw>
          </a:effectLst>
        </p:spPr>
        <p:txBody>
          <a:bodyPr/>
          <a:lstStyle/>
          <a:p>
            <a:endParaRPr lang="en-US"/>
          </a:p>
        </p:txBody>
      </p:sp>
      <p:sp>
        <p:nvSpPr>
          <p:cNvPr id="35" name="Shape 28"/>
          <p:cNvSpPr/>
          <p:nvPr/>
        </p:nvSpPr>
        <p:spPr>
          <a:xfrm>
            <a:off x="10585933" y="2267712"/>
            <a:ext cx="402336" cy="402336"/>
          </a:xfrm>
          <a:prstGeom prst="ellipse">
            <a:avLst/>
          </a:prstGeom>
          <a:solidFill>
            <a:srgbClr val="F5A524"/>
          </a:solidFill>
          <a:ln w="12700">
            <a:solidFill>
              <a:srgbClr val="F5A524"/>
            </a:solidFill>
            <a:prstDash val="solid"/>
          </a:ln>
        </p:spPr>
        <p:txBody>
          <a:bodyPr/>
          <a:lstStyle/>
          <a:p>
            <a:endParaRPr lang="en-US"/>
          </a:p>
        </p:txBody>
      </p:sp>
      <p:pic>
        <p:nvPicPr>
          <p:cNvPr id="36" name="Image 5" descr="preencoded.png"/>
          <p:cNvPicPr>
            <a:picLocks noChangeAspect="1"/>
          </p:cNvPicPr>
          <p:nvPr/>
        </p:nvPicPr>
        <p:blipFill>
          <a:blip r:embed="rId8"/>
          <a:stretch>
            <a:fillRect/>
          </a:stretch>
        </p:blipFill>
        <p:spPr>
          <a:xfrm>
            <a:off x="10686517" y="2368296"/>
            <a:ext cx="201168" cy="201168"/>
          </a:xfrm>
          <a:prstGeom prst="rect">
            <a:avLst/>
          </a:prstGeom>
        </p:spPr>
      </p:pic>
      <p:sp>
        <p:nvSpPr>
          <p:cNvPr id="37" name="Text 29"/>
          <p:cNvSpPr/>
          <p:nvPr/>
        </p:nvSpPr>
        <p:spPr>
          <a:xfrm>
            <a:off x="10040874" y="2798064"/>
            <a:ext cx="1492453" cy="621792"/>
          </a:xfrm>
          <a:prstGeom prst="rect">
            <a:avLst/>
          </a:prstGeom>
          <a:noFill/>
          <a:ln/>
        </p:spPr>
        <p:txBody>
          <a:bodyPr wrap="square" lIns="0" tIns="0" rIns="0" bIns="0" rtlCol="0" anchor="t"/>
          <a:lstStyle/>
          <a:p>
            <a:pPr marL="0" indent="0" algn="ctr">
              <a:lnSpc>
                <a:spcPct val="105000"/>
              </a:lnSpc>
              <a:buNone/>
            </a:pPr>
            <a:r>
              <a:rPr lang="en-US" sz="1250" b="1" dirty="0">
                <a:solidFill>
                  <a:srgbClr val="FFFFFF"/>
                </a:solidFill>
                <a:latin typeface="Calibri" pitchFamily="34" charset="0"/>
                <a:ea typeface="Calibri" pitchFamily="34" charset="-122"/>
                <a:cs typeface="Calibri" pitchFamily="34" charset="-120"/>
              </a:rPr>
              <a:t>Governance</a:t>
            </a:r>
            <a:endParaRPr lang="en-US" sz="1250" dirty="0"/>
          </a:p>
        </p:txBody>
      </p:sp>
      <p:sp>
        <p:nvSpPr>
          <p:cNvPr id="38" name="Text 30"/>
          <p:cNvSpPr/>
          <p:nvPr/>
        </p:nvSpPr>
        <p:spPr>
          <a:xfrm>
            <a:off x="10059162" y="3438144"/>
            <a:ext cx="1455877" cy="786384"/>
          </a:xfrm>
          <a:prstGeom prst="rect">
            <a:avLst/>
          </a:prstGeom>
          <a:noFill/>
          <a:ln/>
        </p:spPr>
        <p:txBody>
          <a:bodyPr wrap="square" lIns="0" tIns="0" rIns="0" bIns="0" rtlCol="0" anchor="t"/>
          <a:lstStyle/>
          <a:p>
            <a:pPr marL="0" indent="0" algn="ctr">
              <a:lnSpc>
                <a:spcPct val="110000"/>
              </a:lnSpc>
              <a:buNone/>
            </a:pPr>
            <a:r>
              <a:rPr lang="en-US" sz="1000" i="1" dirty="0">
                <a:solidFill>
                  <a:srgbClr val="DCD8FF"/>
                </a:solidFill>
                <a:latin typeface="Calibri" pitchFamily="34" charset="0"/>
                <a:ea typeface="Calibri" pitchFamily="34" charset="-122"/>
                <a:cs typeface="Calibri" pitchFamily="34" charset="-120"/>
              </a:rPr>
              <a:t>…so what should we automate at all?</a:t>
            </a:r>
            <a:endParaRPr lang="en-US" sz="1000" dirty="0"/>
          </a:p>
        </p:txBody>
      </p:sp>
      <p:sp>
        <p:nvSpPr>
          <p:cNvPr id="39" name="Shape 31"/>
          <p:cNvSpPr/>
          <p:nvPr/>
        </p:nvSpPr>
        <p:spPr>
          <a:xfrm>
            <a:off x="566928" y="4626864"/>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40" name="Shape 32"/>
          <p:cNvSpPr/>
          <p:nvPr/>
        </p:nvSpPr>
        <p:spPr>
          <a:xfrm>
            <a:off x="841248" y="4846320"/>
            <a:ext cx="384048" cy="384048"/>
          </a:xfrm>
          <a:prstGeom prst="ellipse">
            <a:avLst/>
          </a:prstGeom>
          <a:solidFill>
            <a:srgbClr val="F5A524"/>
          </a:solidFill>
          <a:ln w="12700">
            <a:solidFill>
              <a:srgbClr val="F5A524"/>
            </a:solidFill>
            <a:prstDash val="solid"/>
          </a:ln>
        </p:spPr>
        <p:txBody>
          <a:bodyPr/>
          <a:lstStyle/>
          <a:p>
            <a:endParaRPr lang="en-US"/>
          </a:p>
        </p:txBody>
      </p:sp>
      <p:pic>
        <p:nvPicPr>
          <p:cNvPr id="41" name="Image 6" descr="preencoded.png"/>
          <p:cNvPicPr>
            <a:picLocks noChangeAspect="1"/>
          </p:cNvPicPr>
          <p:nvPr/>
        </p:nvPicPr>
        <p:blipFill>
          <a:blip r:embed="rId9"/>
          <a:stretch>
            <a:fillRect/>
          </a:stretch>
        </p:blipFill>
        <p:spPr>
          <a:xfrm>
            <a:off x="937260" y="4942332"/>
            <a:ext cx="192024" cy="192024"/>
          </a:xfrm>
          <a:prstGeom prst="rect">
            <a:avLst/>
          </a:prstGeom>
        </p:spPr>
      </p:pic>
      <p:sp>
        <p:nvSpPr>
          <p:cNvPr id="42" name="Text 33"/>
          <p:cNvSpPr/>
          <p:nvPr/>
        </p:nvSpPr>
        <p:spPr>
          <a:xfrm>
            <a:off x="1371600" y="4681728"/>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Nothing here is a shopping list of tools. Each box is the answer to a specific thing that broke in the box to its left.</a:t>
            </a:r>
            <a:endParaRPr lang="en-US" sz="1050" dirty="0"/>
          </a:p>
        </p:txBody>
      </p:sp>
      <p:sp>
        <p:nvSpPr>
          <p:cNvPr id="43" name="Text 34"/>
          <p:cNvSpPr/>
          <p:nvPr/>
        </p:nvSpPr>
        <p:spPr>
          <a:xfrm>
            <a:off x="566928" y="5632704"/>
            <a:ext cx="11057839" cy="256032"/>
          </a:xfrm>
          <a:prstGeom prst="rect">
            <a:avLst/>
          </a:prstGeom>
          <a:noFill/>
          <a:ln/>
        </p:spPr>
        <p:txBody>
          <a:bodyPr wrap="square" lIns="0" tIns="0" rIns="0" bIns="0" rtlCol="0" anchor="ctr"/>
          <a:lstStyle/>
          <a:p>
            <a:pPr marL="0" indent="0">
              <a:buNone/>
            </a:pPr>
            <a:r>
              <a:rPr lang="en-US" sz="950" i="1" dirty="0">
                <a:solidFill>
                  <a:srgbClr val="9B98B4"/>
                </a:solidFill>
                <a:latin typeface="Calibri" pitchFamily="34" charset="0"/>
                <a:ea typeface="Calibri" pitchFamily="34" charset="-122"/>
                <a:cs typeface="Calibri" pitchFamily="34" charset="-120"/>
              </a:rPr>
              <a:t>Return to this slide at every module transition. It is the only map they need.</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HOW WE WORK</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3000" b="1" dirty="0">
                <a:solidFill>
                  <a:srgbClr val="141235"/>
                </a:solidFill>
                <a:latin typeface="Cambria" pitchFamily="34" charset="0"/>
                <a:ea typeface="Cambria" pitchFamily="34" charset="-122"/>
                <a:cs typeface="Cambria" pitchFamily="34" charset="-120"/>
              </a:rPr>
              <a:t>Talk, watch, then hands on the keyboard</a:t>
            </a:r>
            <a:endParaRPr lang="en-US" sz="3000" dirty="0"/>
          </a:p>
        </p:txBody>
      </p:sp>
      <p:sp>
        <p:nvSpPr>
          <p:cNvPr id="4" name="Text 2"/>
          <p:cNvSpPr/>
          <p:nvPr/>
        </p:nvSpPr>
        <p:spPr>
          <a:xfrm>
            <a:off x="566928" y="1371600"/>
            <a:ext cx="11057839" cy="310896"/>
          </a:xfrm>
          <a:prstGeom prst="rect">
            <a:avLst/>
          </a:prstGeom>
          <a:noFill/>
          <a:ln/>
        </p:spPr>
        <p:txBody>
          <a:bodyPr wrap="square" lIns="0" tIns="0" rIns="0" bIns="0" rtlCol="0" anchor="t"/>
          <a:lstStyle/>
          <a:p>
            <a:pPr marL="0" indent="0">
              <a:buNone/>
            </a:pPr>
            <a:r>
              <a:rPr lang="en-US" sz="1400" dirty="0">
                <a:solidFill>
                  <a:srgbClr val="3B3760"/>
                </a:solidFill>
                <a:latin typeface="Calibri" pitchFamily="34" charset="0"/>
                <a:ea typeface="Calibri" pitchFamily="34" charset="-122"/>
                <a:cs typeface="Calibri" pitchFamily="34" charset="-120"/>
              </a:rPr>
              <a:t>There is no code-along. Watching and doing are separate on purpose — you cannot follow a demo and type at the same time.</a:t>
            </a:r>
            <a:endParaRPr lang="en-US" sz="1400" dirty="0"/>
          </a:p>
        </p:txBody>
      </p:sp>
      <p:sp>
        <p:nvSpPr>
          <p:cNvPr id="5" name="Shape 3"/>
          <p:cNvSpPr/>
          <p:nvPr/>
        </p:nvSpPr>
        <p:spPr>
          <a:xfrm>
            <a:off x="566928" y="2847487"/>
            <a:ext cx="3527450" cy="1583649"/>
          </a:xfrm>
          <a:prstGeom prst="roundRect">
            <a:avLst>
              <a:gd name="adj" fmla="val 5197"/>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6" name="Shape 4"/>
          <p:cNvSpPr/>
          <p:nvPr/>
        </p:nvSpPr>
        <p:spPr>
          <a:xfrm>
            <a:off x="804672" y="3066943"/>
            <a:ext cx="365760" cy="365760"/>
          </a:xfrm>
          <a:prstGeom prst="ellipse">
            <a:avLst/>
          </a:prstGeom>
          <a:solidFill>
            <a:srgbClr val="5B4BE8"/>
          </a:solidFill>
          <a:ln w="12700">
            <a:solidFill>
              <a:srgbClr val="5B4BE8"/>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896112" y="3158383"/>
            <a:ext cx="182880" cy="182880"/>
          </a:xfrm>
          <a:prstGeom prst="rect">
            <a:avLst/>
          </a:prstGeom>
        </p:spPr>
      </p:pic>
      <p:sp>
        <p:nvSpPr>
          <p:cNvPr id="8" name="Text 5"/>
          <p:cNvSpPr/>
          <p:nvPr/>
        </p:nvSpPr>
        <p:spPr>
          <a:xfrm>
            <a:off x="1298448" y="3057799"/>
            <a:ext cx="2558186"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PHASE 1</a:t>
            </a:r>
            <a:endParaRPr lang="en-US" sz="850" dirty="0"/>
          </a:p>
        </p:txBody>
      </p:sp>
      <p:sp>
        <p:nvSpPr>
          <p:cNvPr id="9" name="Text 6"/>
          <p:cNvSpPr/>
          <p:nvPr/>
        </p:nvSpPr>
        <p:spPr>
          <a:xfrm>
            <a:off x="1298448" y="3277255"/>
            <a:ext cx="2558186" cy="338511"/>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I talk</a:t>
            </a:r>
            <a:endParaRPr lang="en-US" sz="1450" dirty="0"/>
          </a:p>
        </p:txBody>
      </p:sp>
      <p:sp>
        <p:nvSpPr>
          <p:cNvPr id="10" name="Text 7"/>
          <p:cNvSpPr/>
          <p:nvPr/>
        </p:nvSpPr>
        <p:spPr>
          <a:xfrm>
            <a:off x="1298448" y="3624910"/>
            <a:ext cx="2558186" cy="623346"/>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The concept, on these slides. What it is, and what breaks without it. Ten to twenty minutes.</a:t>
            </a:r>
            <a:endParaRPr lang="en-US" sz="1150" dirty="0"/>
          </a:p>
        </p:txBody>
      </p:sp>
      <p:sp>
        <p:nvSpPr>
          <p:cNvPr id="11" name="Shape 8"/>
          <p:cNvSpPr/>
          <p:nvPr/>
        </p:nvSpPr>
        <p:spPr>
          <a:xfrm>
            <a:off x="4332122" y="2847487"/>
            <a:ext cx="3527450" cy="1583649"/>
          </a:xfrm>
          <a:prstGeom prst="roundRect">
            <a:avLst>
              <a:gd name="adj" fmla="val 5197"/>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2" name="Shape 9"/>
          <p:cNvSpPr/>
          <p:nvPr/>
        </p:nvSpPr>
        <p:spPr>
          <a:xfrm>
            <a:off x="4569866" y="3066943"/>
            <a:ext cx="365760" cy="365760"/>
          </a:xfrm>
          <a:prstGeom prst="ellipse">
            <a:avLst/>
          </a:prstGeom>
          <a:solidFill>
            <a:srgbClr val="5B4BE8"/>
          </a:solidFill>
          <a:ln w="12700">
            <a:solidFill>
              <a:srgbClr val="5B4BE8"/>
            </a:solidFill>
            <a:prstDash val="solid"/>
          </a:ln>
        </p:spPr>
        <p:txBody>
          <a:bodyPr/>
          <a:lstStyle/>
          <a:p>
            <a:endParaRPr lang="en-US"/>
          </a:p>
        </p:txBody>
      </p:sp>
      <p:pic>
        <p:nvPicPr>
          <p:cNvPr id="13" name="Image 1" descr="preencoded.png"/>
          <p:cNvPicPr>
            <a:picLocks noChangeAspect="1"/>
          </p:cNvPicPr>
          <p:nvPr/>
        </p:nvPicPr>
        <p:blipFill>
          <a:blip r:embed="rId4"/>
          <a:stretch>
            <a:fillRect/>
          </a:stretch>
        </p:blipFill>
        <p:spPr>
          <a:xfrm>
            <a:off x="4661306" y="3158383"/>
            <a:ext cx="182880" cy="182880"/>
          </a:xfrm>
          <a:prstGeom prst="rect">
            <a:avLst/>
          </a:prstGeom>
        </p:spPr>
      </p:pic>
      <p:sp>
        <p:nvSpPr>
          <p:cNvPr id="14" name="Text 10"/>
          <p:cNvSpPr/>
          <p:nvPr/>
        </p:nvSpPr>
        <p:spPr>
          <a:xfrm>
            <a:off x="5063642" y="3057799"/>
            <a:ext cx="2558186"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PHASE 2</a:t>
            </a:r>
            <a:endParaRPr lang="en-US" sz="850" dirty="0"/>
          </a:p>
        </p:txBody>
      </p:sp>
      <p:sp>
        <p:nvSpPr>
          <p:cNvPr id="15" name="Text 11"/>
          <p:cNvSpPr/>
          <p:nvPr/>
        </p:nvSpPr>
        <p:spPr>
          <a:xfrm>
            <a:off x="5063642" y="3277255"/>
            <a:ext cx="2558186" cy="338511"/>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I show</a:t>
            </a:r>
            <a:endParaRPr lang="en-US" sz="1450" dirty="0"/>
          </a:p>
        </p:txBody>
      </p:sp>
      <p:sp>
        <p:nvSpPr>
          <p:cNvPr id="16" name="Text 12"/>
          <p:cNvSpPr/>
          <p:nvPr/>
        </p:nvSpPr>
        <p:spPr>
          <a:xfrm>
            <a:off x="5063642" y="3624910"/>
            <a:ext cx="2558186" cy="623346"/>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I drive the notebook at the front of the room. Nobody types. Watch what the model actually returns.</a:t>
            </a:r>
            <a:endParaRPr lang="en-US" sz="1150" dirty="0"/>
          </a:p>
        </p:txBody>
      </p:sp>
      <p:sp>
        <p:nvSpPr>
          <p:cNvPr id="17" name="Shape 13"/>
          <p:cNvSpPr/>
          <p:nvPr/>
        </p:nvSpPr>
        <p:spPr>
          <a:xfrm>
            <a:off x="8097317" y="2847487"/>
            <a:ext cx="3527450" cy="1583649"/>
          </a:xfrm>
          <a:prstGeom prst="roundRect">
            <a:avLst>
              <a:gd name="adj" fmla="val 5197"/>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8" name="Shape 14"/>
          <p:cNvSpPr/>
          <p:nvPr/>
        </p:nvSpPr>
        <p:spPr>
          <a:xfrm>
            <a:off x="8335061" y="3066943"/>
            <a:ext cx="365760" cy="365760"/>
          </a:xfrm>
          <a:prstGeom prst="ellipse">
            <a:avLst/>
          </a:prstGeom>
          <a:solidFill>
            <a:srgbClr val="5B4BE8"/>
          </a:solidFill>
          <a:ln w="12700">
            <a:solidFill>
              <a:srgbClr val="5B4BE8"/>
            </a:solidFill>
            <a:prstDash val="solid"/>
          </a:ln>
        </p:spPr>
        <p:txBody>
          <a:bodyPr/>
          <a:lstStyle/>
          <a:p>
            <a:endParaRPr lang="en-US"/>
          </a:p>
        </p:txBody>
      </p:sp>
      <p:pic>
        <p:nvPicPr>
          <p:cNvPr id="19" name="Image 2" descr="preencoded.png"/>
          <p:cNvPicPr>
            <a:picLocks noChangeAspect="1"/>
          </p:cNvPicPr>
          <p:nvPr/>
        </p:nvPicPr>
        <p:blipFill>
          <a:blip r:embed="rId5"/>
          <a:stretch>
            <a:fillRect/>
          </a:stretch>
        </p:blipFill>
        <p:spPr>
          <a:xfrm>
            <a:off x="8426501" y="3158383"/>
            <a:ext cx="182880" cy="182880"/>
          </a:xfrm>
          <a:prstGeom prst="rect">
            <a:avLst/>
          </a:prstGeom>
        </p:spPr>
      </p:pic>
      <p:sp>
        <p:nvSpPr>
          <p:cNvPr id="20" name="Text 15"/>
          <p:cNvSpPr/>
          <p:nvPr/>
        </p:nvSpPr>
        <p:spPr>
          <a:xfrm>
            <a:off x="8828837" y="3057799"/>
            <a:ext cx="2558186"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PHASE 3</a:t>
            </a:r>
            <a:endParaRPr lang="en-US" sz="850" dirty="0"/>
          </a:p>
        </p:txBody>
      </p:sp>
      <p:sp>
        <p:nvSpPr>
          <p:cNvPr id="21" name="Text 16"/>
          <p:cNvSpPr/>
          <p:nvPr/>
        </p:nvSpPr>
        <p:spPr>
          <a:xfrm>
            <a:off x="8828837" y="3277255"/>
            <a:ext cx="2558186" cy="338511"/>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You do it</a:t>
            </a:r>
            <a:endParaRPr lang="en-US" sz="1450" dirty="0"/>
          </a:p>
        </p:txBody>
      </p:sp>
      <p:sp>
        <p:nvSpPr>
          <p:cNvPr id="22" name="Text 17"/>
          <p:cNvSpPr/>
          <p:nvPr/>
        </p:nvSpPr>
        <p:spPr>
          <a:xfrm>
            <a:off x="8828837" y="3624910"/>
            <a:ext cx="2558186" cy="623346"/>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The same notebook, your own pace. A challenge at the end, then a debrief with the solution.</a:t>
            </a:r>
            <a:endParaRPr lang="en-US" sz="1150" dirty="0"/>
          </a:p>
        </p:txBody>
      </p:sp>
      <p:sp>
        <p:nvSpPr>
          <p:cNvPr id="23" name="Shape 18"/>
          <p:cNvSpPr/>
          <p:nvPr/>
        </p:nvSpPr>
        <p:spPr>
          <a:xfrm>
            <a:off x="566928" y="5541264"/>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24" name="Shape 19"/>
          <p:cNvSpPr/>
          <p:nvPr/>
        </p:nvSpPr>
        <p:spPr>
          <a:xfrm>
            <a:off x="841248" y="5760720"/>
            <a:ext cx="384048" cy="384048"/>
          </a:xfrm>
          <a:prstGeom prst="ellipse">
            <a:avLst/>
          </a:prstGeom>
          <a:solidFill>
            <a:srgbClr val="F5A524"/>
          </a:solidFill>
          <a:ln w="12700">
            <a:solidFill>
              <a:srgbClr val="F5A524"/>
            </a:solidFill>
            <a:prstDash val="solid"/>
          </a:ln>
        </p:spPr>
        <p:txBody>
          <a:bodyPr/>
          <a:lstStyle/>
          <a:p>
            <a:endParaRPr lang="en-US"/>
          </a:p>
        </p:txBody>
      </p:sp>
      <p:pic>
        <p:nvPicPr>
          <p:cNvPr id="25" name="Image 3" descr="preencoded.png"/>
          <p:cNvPicPr>
            <a:picLocks noChangeAspect="1"/>
          </p:cNvPicPr>
          <p:nvPr/>
        </p:nvPicPr>
        <p:blipFill>
          <a:blip r:embed="rId6"/>
          <a:stretch>
            <a:fillRect/>
          </a:stretch>
        </p:blipFill>
        <p:spPr>
          <a:xfrm>
            <a:off x="937260" y="5856732"/>
            <a:ext cx="192024" cy="192024"/>
          </a:xfrm>
          <a:prstGeom prst="rect">
            <a:avLst/>
          </a:prstGeom>
        </p:spPr>
      </p:pic>
      <p:sp>
        <p:nvSpPr>
          <p:cNvPr id="26" name="Text 20"/>
          <p:cNvSpPr/>
          <p:nvPr/>
        </p:nvSpPr>
        <p:spPr>
          <a:xfrm>
            <a:off x="1371600" y="5596128"/>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If you don't write code, phase 3 is your reading and discussion time — the notebooks are written to be read, not only run.</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A22"/>
        </a:solidFill>
        <a:effectLst/>
      </p:bgPr>
    </p:bg>
    <p:spTree>
      <p:nvGrpSpPr>
        <p:cNvPr id="1" name=""/>
        <p:cNvGrpSpPr/>
        <p:nvPr/>
      </p:nvGrpSpPr>
      <p:grpSpPr>
        <a:xfrm>
          <a:off x="0" y="0"/>
          <a:ext cx="0" cy="0"/>
          <a:chOff x="0" y="0"/>
          <a:chExt cx="0" cy="0"/>
        </a:xfrm>
      </p:grpSpPr>
      <p:pic>
        <p:nvPicPr>
          <p:cNvPr id="2" name="Image 0" descr="/home/claude/work/bg_dark.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66928" y="566928"/>
            <a:ext cx="7315200" cy="274320"/>
          </a:xfrm>
          <a:prstGeom prst="rect">
            <a:avLst/>
          </a:prstGeom>
          <a:noFill/>
          <a:ln/>
        </p:spPr>
        <p:txBody>
          <a:bodyPr wrap="square" lIns="0" tIns="0" rIns="0" bIns="0" rtlCol="0" anchor="ctr"/>
          <a:lstStyle/>
          <a:p>
            <a:pPr marL="0" indent="0">
              <a:buNone/>
            </a:pPr>
            <a:r>
              <a:rPr lang="en-US" sz="1100" b="1" kern="0" spc="260" dirty="0">
                <a:solidFill>
                  <a:srgbClr val="F5A524"/>
                </a:solidFill>
                <a:latin typeface="Calibri" pitchFamily="34" charset="0"/>
                <a:ea typeface="Calibri" pitchFamily="34" charset="-122"/>
                <a:cs typeface="Calibri" pitchFamily="34" charset="-120"/>
              </a:rPr>
              <a:t>THE HONEST OPENING</a:t>
            </a:r>
            <a:endParaRPr lang="en-US" sz="1100" dirty="0"/>
          </a:p>
        </p:txBody>
      </p:sp>
      <p:sp>
        <p:nvSpPr>
          <p:cNvPr id="4" name="Text 1"/>
          <p:cNvSpPr/>
          <p:nvPr/>
        </p:nvSpPr>
        <p:spPr>
          <a:xfrm>
            <a:off x="566928" y="932688"/>
            <a:ext cx="10607040" cy="868680"/>
          </a:xfrm>
          <a:prstGeom prst="rect">
            <a:avLst/>
          </a:prstGeom>
          <a:noFill/>
          <a:ln/>
        </p:spPr>
        <p:txBody>
          <a:bodyPr wrap="square" lIns="0" tIns="0" rIns="0" bIns="0" rtlCol="0" anchor="t"/>
          <a:lstStyle/>
          <a:p>
            <a:pPr marL="0" indent="0">
              <a:buNone/>
            </a:pPr>
            <a:r>
              <a:rPr lang="en-US" sz="3400" b="1" dirty="0">
                <a:solidFill>
                  <a:srgbClr val="FFFFFF"/>
                </a:solidFill>
                <a:latin typeface="Cambria" pitchFamily="34" charset="0"/>
                <a:ea typeface="Cambria" pitchFamily="34" charset="-122"/>
                <a:cs typeface="Cambria" pitchFamily="34" charset="-120"/>
              </a:rPr>
              <a:t>Most agent projects being started right now will be cancelled</a:t>
            </a:r>
            <a:endParaRPr lang="en-US" sz="3400" dirty="0"/>
          </a:p>
        </p:txBody>
      </p:sp>
      <p:sp>
        <p:nvSpPr>
          <p:cNvPr id="5" name="Shape 2"/>
          <p:cNvSpPr/>
          <p:nvPr/>
        </p:nvSpPr>
        <p:spPr>
          <a:xfrm>
            <a:off x="566928" y="2084832"/>
            <a:ext cx="3503066" cy="2889504"/>
          </a:xfrm>
          <a:prstGeom prst="roundRect">
            <a:avLst>
              <a:gd name="adj" fmla="val 3165"/>
            </a:avLst>
          </a:prstGeom>
          <a:solidFill>
            <a:srgbClr val="FFFFFF">
              <a:alpha val="9000"/>
            </a:srgbClr>
          </a:solidFill>
          <a:ln w="12700">
            <a:solidFill>
              <a:srgbClr val="6E5FD8"/>
            </a:solidFill>
            <a:prstDash val="solid"/>
          </a:ln>
        </p:spPr>
        <p:txBody>
          <a:bodyPr/>
          <a:lstStyle/>
          <a:p>
            <a:endParaRPr lang="en-US"/>
          </a:p>
        </p:txBody>
      </p:sp>
      <p:sp>
        <p:nvSpPr>
          <p:cNvPr id="6" name="Text 3"/>
          <p:cNvSpPr/>
          <p:nvPr/>
        </p:nvSpPr>
        <p:spPr>
          <a:xfrm>
            <a:off x="822960" y="2231136"/>
            <a:ext cx="3045866" cy="932688"/>
          </a:xfrm>
          <a:prstGeom prst="rect">
            <a:avLst/>
          </a:prstGeom>
          <a:noFill/>
          <a:ln/>
        </p:spPr>
        <p:txBody>
          <a:bodyPr wrap="square" lIns="0" tIns="0" rIns="0" bIns="0" rtlCol="0" anchor="ctr"/>
          <a:lstStyle/>
          <a:p>
            <a:pPr marL="0" indent="0">
              <a:buNone/>
            </a:pPr>
            <a:r>
              <a:rPr lang="en-US" sz="5000" b="1" dirty="0">
                <a:solidFill>
                  <a:srgbClr val="FFFFFF"/>
                </a:solidFill>
                <a:latin typeface="Cambria" pitchFamily="34" charset="0"/>
                <a:ea typeface="Cambria" pitchFamily="34" charset="-122"/>
                <a:cs typeface="Cambria" pitchFamily="34" charset="-120"/>
              </a:rPr>
              <a:t>40%+</a:t>
            </a:r>
            <a:endParaRPr lang="en-US" sz="5000" dirty="0"/>
          </a:p>
        </p:txBody>
      </p:sp>
      <p:sp>
        <p:nvSpPr>
          <p:cNvPr id="7" name="Text 4"/>
          <p:cNvSpPr/>
          <p:nvPr/>
        </p:nvSpPr>
        <p:spPr>
          <a:xfrm>
            <a:off x="822960" y="3218688"/>
            <a:ext cx="2991002" cy="859536"/>
          </a:xfrm>
          <a:prstGeom prst="rect">
            <a:avLst/>
          </a:prstGeom>
          <a:noFill/>
          <a:ln/>
        </p:spPr>
        <p:txBody>
          <a:bodyPr wrap="square" lIns="0" tIns="0" rIns="0" bIns="0" rtlCol="0" anchor="t"/>
          <a:lstStyle/>
          <a:p>
            <a:pPr marL="0" indent="0">
              <a:lnSpc>
                <a:spcPct val="112000"/>
              </a:lnSpc>
              <a:buNone/>
            </a:pPr>
            <a:r>
              <a:rPr lang="en-US" sz="1250" b="1" dirty="0">
                <a:solidFill>
                  <a:srgbClr val="FFFFFF"/>
                </a:solidFill>
                <a:latin typeface="Calibri" pitchFamily="34" charset="0"/>
                <a:ea typeface="Calibri" pitchFamily="34" charset="-122"/>
                <a:cs typeface="Calibri" pitchFamily="34" charset="-120"/>
              </a:rPr>
              <a:t>of agentic AI projects will be cancelled by the end of 2027</a:t>
            </a:r>
            <a:endParaRPr lang="en-US" sz="1250" dirty="0"/>
          </a:p>
        </p:txBody>
      </p:sp>
      <p:sp>
        <p:nvSpPr>
          <p:cNvPr id="8" name="Text 5"/>
          <p:cNvSpPr/>
          <p:nvPr/>
        </p:nvSpPr>
        <p:spPr>
          <a:xfrm>
            <a:off x="822960" y="4114800"/>
            <a:ext cx="2991002" cy="749808"/>
          </a:xfrm>
          <a:prstGeom prst="rect">
            <a:avLst/>
          </a:prstGeom>
          <a:noFill/>
          <a:ln/>
        </p:spPr>
        <p:txBody>
          <a:bodyPr wrap="square" lIns="0" tIns="0" rIns="0" bIns="0" rtlCol="0" anchor="t"/>
          <a:lstStyle/>
          <a:p>
            <a:pPr marL="0" indent="0">
              <a:lnSpc>
                <a:spcPct val="112000"/>
              </a:lnSpc>
              <a:buNone/>
            </a:pPr>
            <a:r>
              <a:rPr lang="en-US" sz="1050" dirty="0">
                <a:solidFill>
                  <a:srgbClr val="B9B4E0"/>
                </a:solidFill>
                <a:latin typeface="Calibri" pitchFamily="34" charset="0"/>
                <a:ea typeface="Calibri" pitchFamily="34" charset="-122"/>
                <a:cs typeface="Calibri" pitchFamily="34" charset="-120"/>
              </a:rPr>
              <a:t>Escalating cost, unclear business value, inadequate risk controls.</a:t>
            </a:r>
            <a:endParaRPr lang="en-US" sz="1050" dirty="0"/>
          </a:p>
        </p:txBody>
      </p:sp>
      <p:sp>
        <p:nvSpPr>
          <p:cNvPr id="9" name="Shape 6"/>
          <p:cNvSpPr/>
          <p:nvPr/>
        </p:nvSpPr>
        <p:spPr>
          <a:xfrm>
            <a:off x="4344314" y="2084832"/>
            <a:ext cx="3503066" cy="2889504"/>
          </a:xfrm>
          <a:prstGeom prst="roundRect">
            <a:avLst>
              <a:gd name="adj" fmla="val 3165"/>
            </a:avLst>
          </a:prstGeom>
          <a:solidFill>
            <a:srgbClr val="FFFFFF">
              <a:alpha val="9000"/>
            </a:srgbClr>
          </a:solidFill>
          <a:ln w="12700">
            <a:solidFill>
              <a:srgbClr val="6E5FD8"/>
            </a:solidFill>
            <a:prstDash val="solid"/>
          </a:ln>
        </p:spPr>
        <p:txBody>
          <a:bodyPr/>
          <a:lstStyle/>
          <a:p>
            <a:endParaRPr lang="en-US"/>
          </a:p>
        </p:txBody>
      </p:sp>
      <p:sp>
        <p:nvSpPr>
          <p:cNvPr id="10" name="Text 7"/>
          <p:cNvSpPr/>
          <p:nvPr/>
        </p:nvSpPr>
        <p:spPr>
          <a:xfrm>
            <a:off x="4600346" y="2231136"/>
            <a:ext cx="3045866" cy="932688"/>
          </a:xfrm>
          <a:prstGeom prst="rect">
            <a:avLst/>
          </a:prstGeom>
          <a:noFill/>
          <a:ln/>
        </p:spPr>
        <p:txBody>
          <a:bodyPr wrap="square" lIns="0" tIns="0" rIns="0" bIns="0" rtlCol="0" anchor="ctr"/>
          <a:lstStyle/>
          <a:p>
            <a:pPr marL="0" indent="0">
              <a:buNone/>
            </a:pPr>
            <a:r>
              <a:rPr lang="en-US" sz="5000" b="1" dirty="0">
                <a:solidFill>
                  <a:srgbClr val="F5A524"/>
                </a:solidFill>
                <a:latin typeface="Cambria" pitchFamily="34" charset="0"/>
                <a:ea typeface="Cambria" pitchFamily="34" charset="-122"/>
                <a:cs typeface="Cambria" pitchFamily="34" charset="-120"/>
              </a:rPr>
              <a:t>~130</a:t>
            </a:r>
            <a:endParaRPr lang="en-US" sz="5000" dirty="0"/>
          </a:p>
        </p:txBody>
      </p:sp>
      <p:sp>
        <p:nvSpPr>
          <p:cNvPr id="11" name="Text 8"/>
          <p:cNvSpPr/>
          <p:nvPr/>
        </p:nvSpPr>
        <p:spPr>
          <a:xfrm>
            <a:off x="4600346" y="3218688"/>
            <a:ext cx="2991002" cy="859536"/>
          </a:xfrm>
          <a:prstGeom prst="rect">
            <a:avLst/>
          </a:prstGeom>
          <a:noFill/>
          <a:ln/>
        </p:spPr>
        <p:txBody>
          <a:bodyPr wrap="square" lIns="0" tIns="0" rIns="0" bIns="0" rtlCol="0" anchor="t"/>
          <a:lstStyle/>
          <a:p>
            <a:pPr marL="0" indent="0">
              <a:lnSpc>
                <a:spcPct val="112000"/>
              </a:lnSpc>
              <a:buNone/>
            </a:pPr>
            <a:r>
              <a:rPr lang="en-US" sz="1250" b="1" dirty="0">
                <a:solidFill>
                  <a:srgbClr val="FFFFFF"/>
                </a:solidFill>
                <a:latin typeface="Calibri" pitchFamily="34" charset="0"/>
                <a:ea typeface="Calibri" pitchFamily="34" charset="-122"/>
                <a:cs typeface="Calibri" pitchFamily="34" charset="-120"/>
              </a:rPr>
              <a:t>of thousands of self-described agentic AI vendors are the real thing</a:t>
            </a:r>
            <a:endParaRPr lang="en-US" sz="1250" dirty="0"/>
          </a:p>
        </p:txBody>
      </p:sp>
      <p:sp>
        <p:nvSpPr>
          <p:cNvPr id="12" name="Text 9"/>
          <p:cNvSpPr/>
          <p:nvPr/>
        </p:nvSpPr>
        <p:spPr>
          <a:xfrm>
            <a:off x="4600346" y="4114800"/>
            <a:ext cx="2991002" cy="749808"/>
          </a:xfrm>
          <a:prstGeom prst="rect">
            <a:avLst/>
          </a:prstGeom>
          <a:noFill/>
          <a:ln/>
        </p:spPr>
        <p:txBody>
          <a:bodyPr wrap="square" lIns="0" tIns="0" rIns="0" bIns="0" rtlCol="0" anchor="t"/>
          <a:lstStyle/>
          <a:p>
            <a:pPr marL="0" indent="0">
              <a:lnSpc>
                <a:spcPct val="112000"/>
              </a:lnSpc>
              <a:buNone/>
            </a:pPr>
            <a:r>
              <a:rPr lang="en-US" sz="1050" dirty="0">
                <a:solidFill>
                  <a:srgbClr val="B9B4E0"/>
                </a:solidFill>
                <a:latin typeface="Calibri" pitchFamily="34" charset="0"/>
                <a:ea typeface="Calibri" pitchFamily="34" charset="-122"/>
                <a:cs typeface="Calibri" pitchFamily="34" charset="-120"/>
              </a:rPr>
              <a:t>The rest is “agent washing” — rebranded chatbots, assistants and RPA.</a:t>
            </a:r>
            <a:endParaRPr lang="en-US" sz="1050" dirty="0"/>
          </a:p>
        </p:txBody>
      </p:sp>
      <p:sp>
        <p:nvSpPr>
          <p:cNvPr id="13" name="Shape 10"/>
          <p:cNvSpPr/>
          <p:nvPr/>
        </p:nvSpPr>
        <p:spPr>
          <a:xfrm>
            <a:off x="8121701" y="2084832"/>
            <a:ext cx="3503066" cy="2889504"/>
          </a:xfrm>
          <a:prstGeom prst="roundRect">
            <a:avLst>
              <a:gd name="adj" fmla="val 3165"/>
            </a:avLst>
          </a:prstGeom>
          <a:solidFill>
            <a:srgbClr val="FFFFFF">
              <a:alpha val="9000"/>
            </a:srgbClr>
          </a:solidFill>
          <a:ln w="12700">
            <a:solidFill>
              <a:srgbClr val="6E5FD8"/>
            </a:solidFill>
            <a:prstDash val="solid"/>
          </a:ln>
        </p:spPr>
        <p:txBody>
          <a:bodyPr/>
          <a:lstStyle/>
          <a:p>
            <a:endParaRPr lang="en-US"/>
          </a:p>
        </p:txBody>
      </p:sp>
      <p:sp>
        <p:nvSpPr>
          <p:cNvPr id="14" name="Text 11"/>
          <p:cNvSpPr/>
          <p:nvPr/>
        </p:nvSpPr>
        <p:spPr>
          <a:xfrm>
            <a:off x="8377733" y="2231136"/>
            <a:ext cx="3045866" cy="932688"/>
          </a:xfrm>
          <a:prstGeom prst="rect">
            <a:avLst/>
          </a:prstGeom>
          <a:noFill/>
          <a:ln/>
        </p:spPr>
        <p:txBody>
          <a:bodyPr wrap="square" lIns="0" tIns="0" rIns="0" bIns="0" rtlCol="0" anchor="ctr"/>
          <a:lstStyle/>
          <a:p>
            <a:pPr marL="0" indent="0">
              <a:buNone/>
            </a:pPr>
            <a:r>
              <a:rPr lang="en-US" sz="5000" b="1" dirty="0">
                <a:solidFill>
                  <a:srgbClr val="FFFFFF"/>
                </a:solidFill>
                <a:latin typeface="Cambria" pitchFamily="34" charset="0"/>
                <a:ea typeface="Cambria" pitchFamily="34" charset="-122"/>
                <a:cs typeface="Cambria" pitchFamily="34" charset="-120"/>
              </a:rPr>
              <a:t>15%</a:t>
            </a:r>
            <a:endParaRPr lang="en-US" sz="5000" dirty="0"/>
          </a:p>
        </p:txBody>
      </p:sp>
      <p:sp>
        <p:nvSpPr>
          <p:cNvPr id="15" name="Text 12"/>
          <p:cNvSpPr/>
          <p:nvPr/>
        </p:nvSpPr>
        <p:spPr>
          <a:xfrm>
            <a:off x="8377733" y="3218688"/>
            <a:ext cx="2991002" cy="859536"/>
          </a:xfrm>
          <a:prstGeom prst="rect">
            <a:avLst/>
          </a:prstGeom>
          <a:noFill/>
          <a:ln/>
        </p:spPr>
        <p:txBody>
          <a:bodyPr wrap="square" lIns="0" tIns="0" rIns="0" bIns="0" rtlCol="0" anchor="t"/>
          <a:lstStyle/>
          <a:p>
            <a:pPr marL="0" indent="0">
              <a:lnSpc>
                <a:spcPct val="112000"/>
              </a:lnSpc>
              <a:buNone/>
            </a:pPr>
            <a:r>
              <a:rPr lang="en-US" sz="1250" b="1" dirty="0">
                <a:solidFill>
                  <a:srgbClr val="FFFFFF"/>
                </a:solidFill>
                <a:latin typeface="Calibri" pitchFamily="34" charset="0"/>
                <a:ea typeface="Calibri" pitchFamily="34" charset="-122"/>
                <a:cs typeface="Calibri" pitchFamily="34" charset="-120"/>
              </a:rPr>
              <a:t>of day-to-day work decisions made autonomously by 2028</a:t>
            </a:r>
            <a:endParaRPr lang="en-US" sz="1250" dirty="0"/>
          </a:p>
        </p:txBody>
      </p:sp>
      <p:sp>
        <p:nvSpPr>
          <p:cNvPr id="16" name="Text 13"/>
          <p:cNvSpPr/>
          <p:nvPr/>
        </p:nvSpPr>
        <p:spPr>
          <a:xfrm>
            <a:off x="8377733" y="4114800"/>
            <a:ext cx="2991002" cy="749808"/>
          </a:xfrm>
          <a:prstGeom prst="rect">
            <a:avLst/>
          </a:prstGeom>
          <a:noFill/>
          <a:ln/>
        </p:spPr>
        <p:txBody>
          <a:bodyPr wrap="square" lIns="0" tIns="0" rIns="0" bIns="0" rtlCol="0" anchor="t"/>
          <a:lstStyle/>
          <a:p>
            <a:pPr marL="0" indent="0">
              <a:lnSpc>
                <a:spcPct val="112000"/>
              </a:lnSpc>
              <a:buNone/>
            </a:pPr>
            <a:r>
              <a:rPr lang="en-US" sz="1050" dirty="0">
                <a:solidFill>
                  <a:srgbClr val="B9B4E0"/>
                </a:solidFill>
                <a:latin typeface="Calibri" pitchFamily="34" charset="0"/>
                <a:ea typeface="Calibri" pitchFamily="34" charset="-122"/>
                <a:cs typeface="Calibri" pitchFamily="34" charset="-120"/>
              </a:rPr>
              <a:t>Up from effectively zero in 2024. The direction is not in doubt. The execution is.</a:t>
            </a:r>
            <a:endParaRPr lang="en-US" sz="1050" dirty="0"/>
          </a:p>
        </p:txBody>
      </p:sp>
      <p:sp>
        <p:nvSpPr>
          <p:cNvPr id="17" name="Text 14"/>
          <p:cNvSpPr/>
          <p:nvPr/>
        </p:nvSpPr>
        <p:spPr>
          <a:xfrm>
            <a:off x="566928" y="5175504"/>
            <a:ext cx="11057839" cy="457200"/>
          </a:xfrm>
          <a:prstGeom prst="rect">
            <a:avLst/>
          </a:prstGeom>
          <a:noFill/>
          <a:ln/>
        </p:spPr>
        <p:txBody>
          <a:bodyPr wrap="square" lIns="0" tIns="0" rIns="0" bIns="0" rtlCol="0" anchor="ctr"/>
          <a:lstStyle/>
          <a:p>
            <a:pPr marL="0" indent="0">
              <a:buNone/>
            </a:pPr>
            <a:r>
              <a:rPr lang="en-US" sz="1500" i="1" dirty="0">
                <a:solidFill>
                  <a:srgbClr val="DCD8FF"/>
                </a:solidFill>
                <a:latin typeface="Calibri" pitchFamily="34" charset="0"/>
                <a:ea typeface="Calibri" pitchFamily="34" charset="-122"/>
                <a:cs typeface="Calibri" pitchFamily="34" charset="-120"/>
              </a:rPr>
              <a:t>The gap is almost never the model. It is evaluation, observability, cost control, and a process nobody had written down.</a:t>
            </a:r>
            <a:endParaRPr lang="en-US" sz="1500" dirty="0"/>
          </a:p>
        </p:txBody>
      </p:sp>
      <p:sp>
        <p:nvSpPr>
          <p:cNvPr id="18" name="Text 15"/>
          <p:cNvSpPr/>
          <p:nvPr/>
        </p:nvSpPr>
        <p:spPr>
          <a:xfrm>
            <a:off x="566928" y="5888736"/>
            <a:ext cx="11057839" cy="256032"/>
          </a:xfrm>
          <a:prstGeom prst="rect">
            <a:avLst/>
          </a:prstGeom>
          <a:noFill/>
          <a:ln/>
        </p:spPr>
        <p:txBody>
          <a:bodyPr wrap="square" lIns="0" tIns="0" rIns="0" bIns="0" rtlCol="0" anchor="ctr"/>
          <a:lstStyle/>
          <a:p>
            <a:pPr marL="0" indent="0">
              <a:buNone/>
            </a:pPr>
            <a:r>
              <a:rPr lang="en-US" sz="950" dirty="0">
                <a:solidFill>
                  <a:srgbClr val="8B86C0"/>
                </a:solidFill>
                <a:latin typeface="Calibri" pitchFamily="34" charset="0"/>
                <a:ea typeface="Calibri" pitchFamily="34" charset="-122"/>
                <a:cs typeface="Calibri" pitchFamily="34" charset="-120"/>
              </a:rPr>
              <a:t>Source: Gartner press release, 25 June 2025 — “Gartner Predicts Over 40% of Agentic AI Projects Will Be Canceled by End of 2027”.</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A22"/>
        </a:solidFill>
        <a:effectLst/>
      </p:bgPr>
    </p:bg>
    <p:spTree>
      <p:nvGrpSpPr>
        <p:cNvPr id="1" name=""/>
        <p:cNvGrpSpPr/>
        <p:nvPr/>
      </p:nvGrpSpPr>
      <p:grpSpPr>
        <a:xfrm>
          <a:off x="0" y="0"/>
          <a:ext cx="0" cy="0"/>
          <a:chOff x="0" y="0"/>
          <a:chExt cx="0" cy="0"/>
        </a:xfrm>
      </p:grpSpPr>
      <p:pic>
        <p:nvPicPr>
          <p:cNvPr id="2" name="Image 0" descr="/home/claude/work/bg_dark.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66928" y="457200"/>
            <a:ext cx="7315200" cy="274320"/>
          </a:xfrm>
          <a:prstGeom prst="rect">
            <a:avLst/>
          </a:prstGeom>
          <a:noFill/>
          <a:ln/>
        </p:spPr>
        <p:txBody>
          <a:bodyPr wrap="square" lIns="0" tIns="0" rIns="0" bIns="0" rtlCol="0" anchor="ctr"/>
          <a:lstStyle/>
          <a:p>
            <a:pPr marL="0" indent="0">
              <a:buNone/>
            </a:pPr>
            <a:r>
              <a:rPr lang="en-US" sz="1100" b="1" kern="0" spc="260" dirty="0">
                <a:solidFill>
                  <a:srgbClr val="F5A524"/>
                </a:solidFill>
                <a:latin typeface="Calibri" pitchFamily="34" charset="0"/>
                <a:ea typeface="Calibri" pitchFamily="34" charset="-122"/>
                <a:cs typeface="Calibri" pitchFamily="34" charset="-120"/>
              </a:rPr>
              <a:t>ORIENTATION</a:t>
            </a:r>
            <a:endParaRPr lang="en-US" sz="1100" dirty="0"/>
          </a:p>
        </p:txBody>
      </p:sp>
      <p:sp>
        <p:nvSpPr>
          <p:cNvPr id="4" name="Text 1"/>
          <p:cNvSpPr/>
          <p:nvPr/>
        </p:nvSpPr>
        <p:spPr>
          <a:xfrm>
            <a:off x="566928" y="786384"/>
            <a:ext cx="10607040" cy="640080"/>
          </a:xfrm>
          <a:prstGeom prst="rect">
            <a:avLst/>
          </a:prstGeom>
          <a:noFill/>
          <a:ln/>
        </p:spPr>
        <p:txBody>
          <a:bodyPr wrap="square" lIns="0" tIns="0" rIns="0" bIns="0" rtlCol="0" anchor="t"/>
          <a:lstStyle/>
          <a:p>
            <a:pPr marL="0" indent="0">
              <a:buNone/>
            </a:pPr>
            <a:r>
              <a:rPr lang="en-US" sz="3400" b="1" dirty="0">
                <a:solidFill>
                  <a:srgbClr val="FFFFFF"/>
                </a:solidFill>
                <a:latin typeface="Cambria" pitchFamily="34" charset="0"/>
                <a:ea typeface="Cambria" pitchFamily="34" charset="-122"/>
                <a:cs typeface="Cambria" pitchFamily="34" charset="-120"/>
              </a:rPr>
              <a:t>The agentic AI landscape, in one picture</a:t>
            </a:r>
            <a:endParaRPr lang="en-US" sz="3400" dirty="0"/>
          </a:p>
        </p:txBody>
      </p:sp>
      <p:sp>
        <p:nvSpPr>
          <p:cNvPr id="5" name="Shape 2"/>
          <p:cNvSpPr/>
          <p:nvPr/>
        </p:nvSpPr>
        <p:spPr>
          <a:xfrm>
            <a:off x="566928" y="1627632"/>
            <a:ext cx="2613584" cy="1883664"/>
          </a:xfrm>
          <a:prstGeom prst="roundRect">
            <a:avLst>
              <a:gd name="adj" fmla="val 4854"/>
            </a:avLst>
          </a:prstGeom>
          <a:solidFill>
            <a:srgbClr val="FFFFFF">
              <a:alpha val="9000"/>
            </a:srgbClr>
          </a:solidFill>
          <a:ln w="12700">
            <a:solidFill>
              <a:srgbClr val="6E5FD8"/>
            </a:solidFill>
            <a:prstDash val="solid"/>
          </a:ln>
        </p:spPr>
        <p:txBody>
          <a:bodyPr/>
          <a:lstStyle/>
          <a:p>
            <a:endParaRPr lang="en-US"/>
          </a:p>
        </p:txBody>
      </p:sp>
      <p:sp>
        <p:nvSpPr>
          <p:cNvPr id="6" name="Shape 3"/>
          <p:cNvSpPr/>
          <p:nvPr/>
        </p:nvSpPr>
        <p:spPr>
          <a:xfrm>
            <a:off x="786384" y="1828800"/>
            <a:ext cx="384048" cy="384048"/>
          </a:xfrm>
          <a:prstGeom prst="ellipse">
            <a:avLst/>
          </a:prstGeom>
          <a:solidFill>
            <a:srgbClr val="5B4BE8"/>
          </a:solidFill>
          <a:ln w="12700">
            <a:solidFill>
              <a:srgbClr val="5B4BE8"/>
            </a:solidFill>
            <a:prstDash val="solid"/>
          </a:ln>
        </p:spPr>
        <p:txBody>
          <a:bodyPr/>
          <a:lstStyle/>
          <a:p>
            <a:endParaRPr lang="en-US"/>
          </a:p>
        </p:txBody>
      </p:sp>
      <p:pic>
        <p:nvPicPr>
          <p:cNvPr id="7" name="Image 1" descr="preencoded.png"/>
          <p:cNvPicPr>
            <a:picLocks noChangeAspect="1"/>
          </p:cNvPicPr>
          <p:nvPr/>
        </p:nvPicPr>
        <p:blipFill>
          <a:blip r:embed="rId4"/>
          <a:stretch>
            <a:fillRect/>
          </a:stretch>
        </p:blipFill>
        <p:spPr>
          <a:xfrm>
            <a:off x="882396" y="1924812"/>
            <a:ext cx="192024" cy="192024"/>
          </a:xfrm>
          <a:prstGeom prst="rect">
            <a:avLst/>
          </a:prstGeom>
        </p:spPr>
      </p:pic>
      <p:sp>
        <p:nvSpPr>
          <p:cNvPr id="8" name="Text 4"/>
          <p:cNvSpPr/>
          <p:nvPr/>
        </p:nvSpPr>
        <p:spPr>
          <a:xfrm>
            <a:off x="1662608" y="1901952"/>
            <a:ext cx="1298448" cy="219456"/>
          </a:xfrm>
          <a:prstGeom prst="rect">
            <a:avLst/>
          </a:prstGeom>
          <a:noFill/>
          <a:ln/>
        </p:spPr>
        <p:txBody>
          <a:bodyPr wrap="square" lIns="0" tIns="0" rIns="0" bIns="0" rtlCol="0" anchor="ctr"/>
          <a:lstStyle/>
          <a:p>
            <a:pPr marL="0" indent="0" algn="r">
              <a:buNone/>
            </a:pPr>
            <a:r>
              <a:rPr lang="en-US" sz="800" b="1" kern="0" spc="120" dirty="0">
                <a:solidFill>
                  <a:srgbClr val="0E9F6E"/>
                </a:solidFill>
                <a:latin typeface="Calibri" pitchFamily="34" charset="0"/>
                <a:ea typeface="Calibri" pitchFamily="34" charset="-122"/>
                <a:cs typeface="Calibri" pitchFamily="34" charset="-120"/>
              </a:rPr>
              <a:t>IN PRODUCTION</a:t>
            </a:r>
            <a:endParaRPr lang="en-US" sz="800" dirty="0"/>
          </a:p>
        </p:txBody>
      </p:sp>
      <p:sp>
        <p:nvSpPr>
          <p:cNvPr id="9" name="Text 5"/>
          <p:cNvSpPr/>
          <p:nvPr/>
        </p:nvSpPr>
        <p:spPr>
          <a:xfrm>
            <a:off x="786384" y="2322576"/>
            <a:ext cx="2174672" cy="292608"/>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Coding and software</a:t>
            </a:r>
            <a:endParaRPr lang="en-US" sz="1350" dirty="0"/>
          </a:p>
        </p:txBody>
      </p:sp>
      <p:sp>
        <p:nvSpPr>
          <p:cNvPr id="10" name="Text 6"/>
          <p:cNvSpPr/>
          <p:nvPr/>
        </p:nvSpPr>
        <p:spPr>
          <a:xfrm>
            <a:off x="786384" y="2633472"/>
            <a:ext cx="2174672" cy="566928"/>
          </a:xfrm>
          <a:prstGeom prst="rect">
            <a:avLst/>
          </a:prstGeom>
          <a:noFill/>
          <a:ln/>
        </p:spPr>
        <p:txBody>
          <a:bodyPr wrap="square" lIns="0" tIns="0" rIns="0" bIns="0" rtlCol="0" anchor="t"/>
          <a:lstStyle/>
          <a:p>
            <a:pPr marL="0" indent="0">
              <a:lnSpc>
                <a:spcPct val="112000"/>
              </a:lnSpc>
              <a:buNone/>
            </a:pPr>
            <a:r>
              <a:rPr lang="en-US" sz="1050" dirty="0">
                <a:solidFill>
                  <a:srgbClr val="B9B4E0"/>
                </a:solidFill>
                <a:latin typeface="Calibri" pitchFamily="34" charset="0"/>
                <a:ea typeface="Calibri" pitchFamily="34" charset="-122"/>
                <a:cs typeface="Calibri" pitchFamily="34" charset="-120"/>
              </a:rPr>
              <a:t>Read a repo, write a patch, run the tests, open the pull request.</a:t>
            </a:r>
            <a:endParaRPr lang="en-US" sz="1050" dirty="0"/>
          </a:p>
        </p:txBody>
      </p:sp>
      <p:sp>
        <p:nvSpPr>
          <p:cNvPr id="11" name="Text 7"/>
          <p:cNvSpPr/>
          <p:nvPr/>
        </p:nvSpPr>
        <p:spPr>
          <a:xfrm>
            <a:off x="786384" y="3163824"/>
            <a:ext cx="2174672" cy="237744"/>
          </a:xfrm>
          <a:prstGeom prst="rect">
            <a:avLst/>
          </a:prstGeom>
          <a:noFill/>
          <a:ln/>
        </p:spPr>
        <p:txBody>
          <a:bodyPr wrap="square" lIns="0" tIns="0" rIns="0" bIns="0" rtlCol="0" anchor="ctr"/>
          <a:lstStyle/>
          <a:p>
            <a:pPr marL="0" indent="0">
              <a:buNone/>
            </a:pPr>
            <a:r>
              <a:rPr lang="en-US" sz="850" dirty="0">
                <a:solidFill>
                  <a:srgbClr val="F5A524"/>
                </a:solidFill>
                <a:latin typeface="Courier New" pitchFamily="34" charset="0"/>
                <a:ea typeface="Courier New" pitchFamily="34" charset="-122"/>
                <a:cs typeface="Courier New" pitchFamily="34" charset="-120"/>
              </a:rPr>
              <a:t>files · shell · tests · git</a:t>
            </a:r>
            <a:endParaRPr lang="en-US" sz="850" dirty="0"/>
          </a:p>
        </p:txBody>
      </p:sp>
      <p:sp>
        <p:nvSpPr>
          <p:cNvPr id="12" name="Shape 8"/>
          <p:cNvSpPr/>
          <p:nvPr/>
        </p:nvSpPr>
        <p:spPr>
          <a:xfrm>
            <a:off x="3381680" y="1627632"/>
            <a:ext cx="2613584" cy="1883664"/>
          </a:xfrm>
          <a:prstGeom prst="roundRect">
            <a:avLst>
              <a:gd name="adj" fmla="val 4854"/>
            </a:avLst>
          </a:prstGeom>
          <a:solidFill>
            <a:srgbClr val="FFFFFF">
              <a:alpha val="9000"/>
            </a:srgbClr>
          </a:solidFill>
          <a:ln w="12700">
            <a:solidFill>
              <a:srgbClr val="6E5FD8"/>
            </a:solidFill>
            <a:prstDash val="solid"/>
          </a:ln>
        </p:spPr>
        <p:txBody>
          <a:bodyPr/>
          <a:lstStyle/>
          <a:p>
            <a:endParaRPr lang="en-US"/>
          </a:p>
        </p:txBody>
      </p:sp>
      <p:sp>
        <p:nvSpPr>
          <p:cNvPr id="13" name="Shape 9"/>
          <p:cNvSpPr/>
          <p:nvPr/>
        </p:nvSpPr>
        <p:spPr>
          <a:xfrm>
            <a:off x="3601136" y="1828800"/>
            <a:ext cx="384048" cy="384048"/>
          </a:xfrm>
          <a:prstGeom prst="ellipse">
            <a:avLst/>
          </a:prstGeom>
          <a:solidFill>
            <a:srgbClr val="5B4BE8"/>
          </a:solidFill>
          <a:ln w="12700">
            <a:solidFill>
              <a:srgbClr val="5B4BE8"/>
            </a:solidFill>
            <a:prstDash val="solid"/>
          </a:ln>
        </p:spPr>
        <p:txBody>
          <a:bodyPr/>
          <a:lstStyle/>
          <a:p>
            <a:endParaRPr lang="en-US"/>
          </a:p>
        </p:txBody>
      </p:sp>
      <p:pic>
        <p:nvPicPr>
          <p:cNvPr id="14" name="Image 2" descr="preencoded.png"/>
          <p:cNvPicPr>
            <a:picLocks noChangeAspect="1"/>
          </p:cNvPicPr>
          <p:nvPr/>
        </p:nvPicPr>
        <p:blipFill>
          <a:blip r:embed="rId5"/>
          <a:stretch>
            <a:fillRect/>
          </a:stretch>
        </p:blipFill>
        <p:spPr>
          <a:xfrm>
            <a:off x="3697148" y="1924812"/>
            <a:ext cx="192024" cy="192024"/>
          </a:xfrm>
          <a:prstGeom prst="rect">
            <a:avLst/>
          </a:prstGeom>
        </p:spPr>
      </p:pic>
      <p:sp>
        <p:nvSpPr>
          <p:cNvPr id="15" name="Text 10"/>
          <p:cNvSpPr/>
          <p:nvPr/>
        </p:nvSpPr>
        <p:spPr>
          <a:xfrm>
            <a:off x="4477360" y="1901952"/>
            <a:ext cx="1298448" cy="219456"/>
          </a:xfrm>
          <a:prstGeom prst="rect">
            <a:avLst/>
          </a:prstGeom>
          <a:noFill/>
          <a:ln/>
        </p:spPr>
        <p:txBody>
          <a:bodyPr wrap="square" lIns="0" tIns="0" rIns="0" bIns="0" rtlCol="0" anchor="ctr"/>
          <a:lstStyle/>
          <a:p>
            <a:pPr marL="0" indent="0" algn="r">
              <a:buNone/>
            </a:pPr>
            <a:r>
              <a:rPr lang="en-US" sz="800" b="1" kern="0" spc="120" dirty="0">
                <a:solidFill>
                  <a:srgbClr val="0E9F6E"/>
                </a:solidFill>
                <a:latin typeface="Calibri" pitchFamily="34" charset="0"/>
                <a:ea typeface="Calibri" pitchFamily="34" charset="-122"/>
                <a:cs typeface="Calibri" pitchFamily="34" charset="-120"/>
              </a:rPr>
              <a:t>IN PRODUCTION</a:t>
            </a:r>
            <a:endParaRPr lang="en-US" sz="800" dirty="0"/>
          </a:p>
        </p:txBody>
      </p:sp>
      <p:sp>
        <p:nvSpPr>
          <p:cNvPr id="16" name="Text 11"/>
          <p:cNvSpPr/>
          <p:nvPr/>
        </p:nvSpPr>
        <p:spPr>
          <a:xfrm>
            <a:off x="3601136" y="2322576"/>
            <a:ext cx="2174672" cy="292608"/>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Customer support</a:t>
            </a:r>
            <a:endParaRPr lang="en-US" sz="1350" dirty="0"/>
          </a:p>
        </p:txBody>
      </p:sp>
      <p:sp>
        <p:nvSpPr>
          <p:cNvPr id="17" name="Text 12"/>
          <p:cNvSpPr/>
          <p:nvPr/>
        </p:nvSpPr>
        <p:spPr>
          <a:xfrm>
            <a:off x="3601136" y="2633472"/>
            <a:ext cx="2174672" cy="566928"/>
          </a:xfrm>
          <a:prstGeom prst="rect">
            <a:avLst/>
          </a:prstGeom>
          <a:noFill/>
          <a:ln/>
        </p:spPr>
        <p:txBody>
          <a:bodyPr wrap="square" lIns="0" tIns="0" rIns="0" bIns="0" rtlCol="0" anchor="t"/>
          <a:lstStyle/>
          <a:p>
            <a:pPr marL="0" indent="0">
              <a:lnSpc>
                <a:spcPct val="112000"/>
              </a:lnSpc>
              <a:buNone/>
            </a:pPr>
            <a:r>
              <a:rPr lang="en-US" sz="1050" dirty="0">
                <a:solidFill>
                  <a:srgbClr val="B9B4E0"/>
                </a:solidFill>
                <a:latin typeface="Calibri" pitchFamily="34" charset="0"/>
                <a:ea typeface="Calibri" pitchFamily="34" charset="-122"/>
                <a:cs typeface="Calibri" pitchFamily="34" charset="-120"/>
              </a:rPr>
              <a:t>Answer from your own documentation and account data, escalate when unsure.</a:t>
            </a:r>
            <a:endParaRPr lang="en-US" sz="1050" dirty="0"/>
          </a:p>
        </p:txBody>
      </p:sp>
      <p:sp>
        <p:nvSpPr>
          <p:cNvPr id="18" name="Text 13"/>
          <p:cNvSpPr/>
          <p:nvPr/>
        </p:nvSpPr>
        <p:spPr>
          <a:xfrm>
            <a:off x="3601136" y="3163824"/>
            <a:ext cx="2174672" cy="237744"/>
          </a:xfrm>
          <a:prstGeom prst="rect">
            <a:avLst/>
          </a:prstGeom>
          <a:noFill/>
          <a:ln/>
        </p:spPr>
        <p:txBody>
          <a:bodyPr wrap="square" lIns="0" tIns="0" rIns="0" bIns="0" rtlCol="0" anchor="ctr"/>
          <a:lstStyle/>
          <a:p>
            <a:pPr marL="0" indent="0">
              <a:buNone/>
            </a:pPr>
            <a:r>
              <a:rPr lang="en-US" sz="850" dirty="0">
                <a:solidFill>
                  <a:srgbClr val="F5A524"/>
                </a:solidFill>
                <a:latin typeface="Courier New" pitchFamily="34" charset="0"/>
                <a:ea typeface="Courier New" pitchFamily="34" charset="-122"/>
                <a:cs typeface="Courier New" pitchFamily="34" charset="-120"/>
              </a:rPr>
              <a:t>search · CRM · ticketing</a:t>
            </a:r>
            <a:endParaRPr lang="en-US" sz="850" dirty="0"/>
          </a:p>
        </p:txBody>
      </p:sp>
      <p:sp>
        <p:nvSpPr>
          <p:cNvPr id="19" name="Shape 14"/>
          <p:cNvSpPr/>
          <p:nvPr/>
        </p:nvSpPr>
        <p:spPr>
          <a:xfrm>
            <a:off x="6196432" y="1627632"/>
            <a:ext cx="2613584" cy="1883664"/>
          </a:xfrm>
          <a:prstGeom prst="roundRect">
            <a:avLst>
              <a:gd name="adj" fmla="val 4854"/>
            </a:avLst>
          </a:prstGeom>
          <a:solidFill>
            <a:srgbClr val="FFFFFF">
              <a:alpha val="9000"/>
            </a:srgbClr>
          </a:solidFill>
          <a:ln w="12700">
            <a:solidFill>
              <a:srgbClr val="6E5FD8"/>
            </a:solidFill>
            <a:prstDash val="solid"/>
          </a:ln>
        </p:spPr>
        <p:txBody>
          <a:bodyPr/>
          <a:lstStyle/>
          <a:p>
            <a:endParaRPr lang="en-US"/>
          </a:p>
        </p:txBody>
      </p:sp>
      <p:sp>
        <p:nvSpPr>
          <p:cNvPr id="20" name="Shape 15"/>
          <p:cNvSpPr/>
          <p:nvPr/>
        </p:nvSpPr>
        <p:spPr>
          <a:xfrm>
            <a:off x="6415888" y="1828800"/>
            <a:ext cx="384048" cy="384048"/>
          </a:xfrm>
          <a:prstGeom prst="ellipse">
            <a:avLst/>
          </a:prstGeom>
          <a:solidFill>
            <a:srgbClr val="5B4BE8"/>
          </a:solidFill>
          <a:ln w="12700">
            <a:solidFill>
              <a:srgbClr val="5B4BE8"/>
            </a:solidFill>
            <a:prstDash val="solid"/>
          </a:ln>
        </p:spPr>
        <p:txBody>
          <a:bodyPr/>
          <a:lstStyle/>
          <a:p>
            <a:endParaRPr lang="en-US"/>
          </a:p>
        </p:txBody>
      </p:sp>
      <p:pic>
        <p:nvPicPr>
          <p:cNvPr id="21" name="Image 3" descr="preencoded.png"/>
          <p:cNvPicPr>
            <a:picLocks noChangeAspect="1"/>
          </p:cNvPicPr>
          <p:nvPr/>
        </p:nvPicPr>
        <p:blipFill>
          <a:blip r:embed="rId6"/>
          <a:stretch>
            <a:fillRect/>
          </a:stretch>
        </p:blipFill>
        <p:spPr>
          <a:xfrm>
            <a:off x="6511900" y="1924812"/>
            <a:ext cx="192024" cy="192024"/>
          </a:xfrm>
          <a:prstGeom prst="rect">
            <a:avLst/>
          </a:prstGeom>
        </p:spPr>
      </p:pic>
      <p:sp>
        <p:nvSpPr>
          <p:cNvPr id="22" name="Text 16"/>
          <p:cNvSpPr/>
          <p:nvPr/>
        </p:nvSpPr>
        <p:spPr>
          <a:xfrm>
            <a:off x="7292111" y="1901952"/>
            <a:ext cx="1298448" cy="219456"/>
          </a:xfrm>
          <a:prstGeom prst="rect">
            <a:avLst/>
          </a:prstGeom>
          <a:noFill/>
          <a:ln/>
        </p:spPr>
        <p:txBody>
          <a:bodyPr wrap="square" lIns="0" tIns="0" rIns="0" bIns="0" rtlCol="0" anchor="ctr"/>
          <a:lstStyle/>
          <a:p>
            <a:pPr marL="0" indent="0" algn="r">
              <a:buNone/>
            </a:pPr>
            <a:r>
              <a:rPr lang="en-US" sz="800" b="1" kern="0" spc="120" dirty="0">
                <a:solidFill>
                  <a:srgbClr val="0E9F6E"/>
                </a:solidFill>
                <a:latin typeface="Calibri" pitchFamily="34" charset="0"/>
                <a:ea typeface="Calibri" pitchFamily="34" charset="-122"/>
                <a:cs typeface="Calibri" pitchFamily="34" charset="-120"/>
              </a:rPr>
              <a:t>IN PRODUCTION</a:t>
            </a:r>
            <a:endParaRPr lang="en-US" sz="800" dirty="0"/>
          </a:p>
        </p:txBody>
      </p:sp>
      <p:sp>
        <p:nvSpPr>
          <p:cNvPr id="23" name="Text 17"/>
          <p:cNvSpPr/>
          <p:nvPr/>
        </p:nvSpPr>
        <p:spPr>
          <a:xfrm>
            <a:off x="6415888" y="2322576"/>
            <a:ext cx="2174672" cy="292608"/>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Research and analysis</a:t>
            </a:r>
            <a:endParaRPr lang="en-US" sz="1350" dirty="0"/>
          </a:p>
        </p:txBody>
      </p:sp>
      <p:sp>
        <p:nvSpPr>
          <p:cNvPr id="24" name="Text 18"/>
          <p:cNvSpPr/>
          <p:nvPr/>
        </p:nvSpPr>
        <p:spPr>
          <a:xfrm>
            <a:off x="6415888" y="2633472"/>
            <a:ext cx="2174672" cy="566928"/>
          </a:xfrm>
          <a:prstGeom prst="rect">
            <a:avLst/>
          </a:prstGeom>
          <a:noFill/>
          <a:ln/>
        </p:spPr>
        <p:txBody>
          <a:bodyPr wrap="square" lIns="0" tIns="0" rIns="0" bIns="0" rtlCol="0" anchor="t"/>
          <a:lstStyle/>
          <a:p>
            <a:pPr marL="0" indent="0">
              <a:lnSpc>
                <a:spcPct val="112000"/>
              </a:lnSpc>
              <a:buNone/>
            </a:pPr>
            <a:r>
              <a:rPr lang="en-US" sz="1050" dirty="0">
                <a:solidFill>
                  <a:srgbClr val="B9B4E0"/>
                </a:solidFill>
                <a:latin typeface="Calibri" pitchFamily="34" charset="0"/>
                <a:ea typeface="Calibri" pitchFamily="34" charset="-122"/>
                <a:cs typeface="Calibri" pitchFamily="34" charset="-120"/>
              </a:rPr>
              <a:t>Decompose a question, read many sources, come back with a cited answer.</a:t>
            </a:r>
            <a:endParaRPr lang="en-US" sz="1050" dirty="0"/>
          </a:p>
        </p:txBody>
      </p:sp>
      <p:sp>
        <p:nvSpPr>
          <p:cNvPr id="25" name="Text 19"/>
          <p:cNvSpPr/>
          <p:nvPr/>
        </p:nvSpPr>
        <p:spPr>
          <a:xfrm>
            <a:off x="6415888" y="3163824"/>
            <a:ext cx="2174672" cy="237744"/>
          </a:xfrm>
          <a:prstGeom prst="rect">
            <a:avLst/>
          </a:prstGeom>
          <a:noFill/>
          <a:ln/>
        </p:spPr>
        <p:txBody>
          <a:bodyPr wrap="square" lIns="0" tIns="0" rIns="0" bIns="0" rtlCol="0" anchor="ctr"/>
          <a:lstStyle/>
          <a:p>
            <a:pPr marL="0" indent="0">
              <a:buNone/>
            </a:pPr>
            <a:r>
              <a:rPr lang="en-US" sz="850" dirty="0">
                <a:solidFill>
                  <a:srgbClr val="F5A524"/>
                </a:solidFill>
                <a:latin typeface="Courier New" pitchFamily="34" charset="0"/>
                <a:ea typeface="Courier New" pitchFamily="34" charset="-122"/>
                <a:cs typeface="Courier New" pitchFamily="34" charset="-120"/>
              </a:rPr>
              <a:t>web · documents · corpora</a:t>
            </a:r>
            <a:endParaRPr lang="en-US" sz="850" dirty="0"/>
          </a:p>
        </p:txBody>
      </p:sp>
      <p:sp>
        <p:nvSpPr>
          <p:cNvPr id="26" name="Shape 20"/>
          <p:cNvSpPr/>
          <p:nvPr/>
        </p:nvSpPr>
        <p:spPr>
          <a:xfrm>
            <a:off x="9011183" y="1627632"/>
            <a:ext cx="2613584" cy="1883664"/>
          </a:xfrm>
          <a:prstGeom prst="roundRect">
            <a:avLst>
              <a:gd name="adj" fmla="val 4854"/>
            </a:avLst>
          </a:prstGeom>
          <a:solidFill>
            <a:srgbClr val="FFFFFF">
              <a:alpha val="9000"/>
            </a:srgbClr>
          </a:solidFill>
          <a:ln w="12700">
            <a:solidFill>
              <a:srgbClr val="6E5FD8"/>
            </a:solidFill>
            <a:prstDash val="solid"/>
          </a:ln>
        </p:spPr>
        <p:txBody>
          <a:bodyPr/>
          <a:lstStyle/>
          <a:p>
            <a:endParaRPr lang="en-US"/>
          </a:p>
        </p:txBody>
      </p:sp>
      <p:sp>
        <p:nvSpPr>
          <p:cNvPr id="27" name="Shape 21"/>
          <p:cNvSpPr/>
          <p:nvPr/>
        </p:nvSpPr>
        <p:spPr>
          <a:xfrm>
            <a:off x="9230639" y="1828800"/>
            <a:ext cx="384048" cy="384048"/>
          </a:xfrm>
          <a:prstGeom prst="ellipse">
            <a:avLst/>
          </a:prstGeom>
          <a:solidFill>
            <a:srgbClr val="5B4BE8"/>
          </a:solidFill>
          <a:ln w="12700">
            <a:solidFill>
              <a:srgbClr val="5B4BE8"/>
            </a:solidFill>
            <a:prstDash val="solid"/>
          </a:ln>
        </p:spPr>
        <p:txBody>
          <a:bodyPr/>
          <a:lstStyle/>
          <a:p>
            <a:endParaRPr lang="en-US"/>
          </a:p>
        </p:txBody>
      </p:sp>
      <p:pic>
        <p:nvPicPr>
          <p:cNvPr id="28" name="Image 4" descr="preencoded.png"/>
          <p:cNvPicPr>
            <a:picLocks noChangeAspect="1"/>
          </p:cNvPicPr>
          <p:nvPr/>
        </p:nvPicPr>
        <p:blipFill>
          <a:blip r:embed="rId7"/>
          <a:stretch>
            <a:fillRect/>
          </a:stretch>
        </p:blipFill>
        <p:spPr>
          <a:xfrm>
            <a:off x="9326651" y="1924812"/>
            <a:ext cx="192024" cy="192024"/>
          </a:xfrm>
          <a:prstGeom prst="rect">
            <a:avLst/>
          </a:prstGeom>
        </p:spPr>
      </p:pic>
      <p:sp>
        <p:nvSpPr>
          <p:cNvPr id="29" name="Text 22"/>
          <p:cNvSpPr/>
          <p:nvPr/>
        </p:nvSpPr>
        <p:spPr>
          <a:xfrm>
            <a:off x="10106863" y="1901952"/>
            <a:ext cx="1298448" cy="219456"/>
          </a:xfrm>
          <a:prstGeom prst="rect">
            <a:avLst/>
          </a:prstGeom>
          <a:noFill/>
          <a:ln/>
        </p:spPr>
        <p:txBody>
          <a:bodyPr wrap="square" lIns="0" tIns="0" rIns="0" bIns="0" rtlCol="0" anchor="ctr"/>
          <a:lstStyle/>
          <a:p>
            <a:pPr marL="0" indent="0" algn="r">
              <a:buNone/>
            </a:pPr>
            <a:r>
              <a:rPr lang="en-US" sz="800" b="1" kern="0" spc="120" dirty="0">
                <a:solidFill>
                  <a:srgbClr val="F5A524"/>
                </a:solidFill>
                <a:latin typeface="Calibri" pitchFamily="34" charset="0"/>
                <a:ea typeface="Calibri" pitchFamily="34" charset="-122"/>
                <a:cs typeface="Calibri" pitchFamily="34" charset="-120"/>
              </a:rPr>
              <a:t>EMERGING</a:t>
            </a:r>
            <a:endParaRPr lang="en-US" sz="800" dirty="0"/>
          </a:p>
        </p:txBody>
      </p:sp>
      <p:sp>
        <p:nvSpPr>
          <p:cNvPr id="30" name="Text 23"/>
          <p:cNvSpPr/>
          <p:nvPr/>
        </p:nvSpPr>
        <p:spPr>
          <a:xfrm>
            <a:off x="9230639" y="2322576"/>
            <a:ext cx="2174672" cy="292608"/>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Data and BI</a:t>
            </a:r>
            <a:endParaRPr lang="en-US" sz="1350" dirty="0"/>
          </a:p>
        </p:txBody>
      </p:sp>
      <p:sp>
        <p:nvSpPr>
          <p:cNvPr id="31" name="Text 24"/>
          <p:cNvSpPr/>
          <p:nvPr/>
        </p:nvSpPr>
        <p:spPr>
          <a:xfrm>
            <a:off x="9230639" y="2633472"/>
            <a:ext cx="2174672" cy="566928"/>
          </a:xfrm>
          <a:prstGeom prst="rect">
            <a:avLst/>
          </a:prstGeom>
          <a:noFill/>
          <a:ln/>
        </p:spPr>
        <p:txBody>
          <a:bodyPr wrap="square" lIns="0" tIns="0" rIns="0" bIns="0" rtlCol="0" anchor="t"/>
          <a:lstStyle/>
          <a:p>
            <a:pPr marL="0" indent="0">
              <a:lnSpc>
                <a:spcPct val="112000"/>
              </a:lnSpc>
              <a:buNone/>
            </a:pPr>
            <a:r>
              <a:rPr lang="en-US" sz="1050" dirty="0">
                <a:solidFill>
                  <a:srgbClr val="B9B4E0"/>
                </a:solidFill>
                <a:latin typeface="Calibri" pitchFamily="34" charset="0"/>
                <a:ea typeface="Calibri" pitchFamily="34" charset="-122"/>
                <a:cs typeface="Calibri" pitchFamily="34" charset="-120"/>
              </a:rPr>
              <a:t>Turn a business question into a query and a chart, then explain the result.</a:t>
            </a:r>
            <a:endParaRPr lang="en-US" sz="1050" dirty="0"/>
          </a:p>
        </p:txBody>
      </p:sp>
      <p:sp>
        <p:nvSpPr>
          <p:cNvPr id="32" name="Text 25"/>
          <p:cNvSpPr/>
          <p:nvPr/>
        </p:nvSpPr>
        <p:spPr>
          <a:xfrm>
            <a:off x="9230639" y="3163824"/>
            <a:ext cx="2174672" cy="237744"/>
          </a:xfrm>
          <a:prstGeom prst="rect">
            <a:avLst/>
          </a:prstGeom>
          <a:noFill/>
          <a:ln/>
        </p:spPr>
        <p:txBody>
          <a:bodyPr wrap="square" lIns="0" tIns="0" rIns="0" bIns="0" rtlCol="0" anchor="ctr"/>
          <a:lstStyle/>
          <a:p>
            <a:pPr marL="0" indent="0">
              <a:buNone/>
            </a:pPr>
            <a:r>
              <a:rPr lang="en-US" sz="850" dirty="0">
                <a:solidFill>
                  <a:srgbClr val="F5A524"/>
                </a:solidFill>
                <a:latin typeface="Courier New" pitchFamily="34" charset="0"/>
                <a:ea typeface="Courier New" pitchFamily="34" charset="-122"/>
                <a:cs typeface="Courier New" pitchFamily="34" charset="-120"/>
              </a:rPr>
              <a:t>SQL · notebooks · charts</a:t>
            </a:r>
            <a:endParaRPr lang="en-US" sz="850" dirty="0"/>
          </a:p>
        </p:txBody>
      </p:sp>
      <p:sp>
        <p:nvSpPr>
          <p:cNvPr id="33" name="Shape 26"/>
          <p:cNvSpPr/>
          <p:nvPr/>
        </p:nvSpPr>
        <p:spPr>
          <a:xfrm>
            <a:off x="566928" y="3712464"/>
            <a:ext cx="2613584" cy="1883664"/>
          </a:xfrm>
          <a:prstGeom prst="roundRect">
            <a:avLst>
              <a:gd name="adj" fmla="val 4854"/>
            </a:avLst>
          </a:prstGeom>
          <a:solidFill>
            <a:srgbClr val="FFFFFF">
              <a:alpha val="9000"/>
            </a:srgbClr>
          </a:solidFill>
          <a:ln w="12700">
            <a:solidFill>
              <a:srgbClr val="6E5FD8"/>
            </a:solidFill>
            <a:prstDash val="solid"/>
          </a:ln>
        </p:spPr>
        <p:txBody>
          <a:bodyPr/>
          <a:lstStyle/>
          <a:p>
            <a:endParaRPr lang="en-US"/>
          </a:p>
        </p:txBody>
      </p:sp>
      <p:sp>
        <p:nvSpPr>
          <p:cNvPr id="34" name="Shape 27"/>
          <p:cNvSpPr/>
          <p:nvPr/>
        </p:nvSpPr>
        <p:spPr>
          <a:xfrm>
            <a:off x="786384" y="3913632"/>
            <a:ext cx="384048" cy="384048"/>
          </a:xfrm>
          <a:prstGeom prst="ellipse">
            <a:avLst/>
          </a:prstGeom>
          <a:solidFill>
            <a:srgbClr val="5B4BE8"/>
          </a:solidFill>
          <a:ln w="12700">
            <a:solidFill>
              <a:srgbClr val="5B4BE8"/>
            </a:solidFill>
            <a:prstDash val="solid"/>
          </a:ln>
        </p:spPr>
        <p:txBody>
          <a:bodyPr/>
          <a:lstStyle/>
          <a:p>
            <a:endParaRPr lang="en-US"/>
          </a:p>
        </p:txBody>
      </p:sp>
      <p:pic>
        <p:nvPicPr>
          <p:cNvPr id="35" name="Image 5" descr="preencoded.png"/>
          <p:cNvPicPr>
            <a:picLocks noChangeAspect="1"/>
          </p:cNvPicPr>
          <p:nvPr/>
        </p:nvPicPr>
        <p:blipFill>
          <a:blip r:embed="rId8"/>
          <a:stretch>
            <a:fillRect/>
          </a:stretch>
        </p:blipFill>
        <p:spPr>
          <a:xfrm>
            <a:off x="882396" y="4009644"/>
            <a:ext cx="192024" cy="192024"/>
          </a:xfrm>
          <a:prstGeom prst="rect">
            <a:avLst/>
          </a:prstGeom>
        </p:spPr>
      </p:pic>
      <p:sp>
        <p:nvSpPr>
          <p:cNvPr id="36" name="Text 28"/>
          <p:cNvSpPr/>
          <p:nvPr/>
        </p:nvSpPr>
        <p:spPr>
          <a:xfrm>
            <a:off x="1662608" y="3986784"/>
            <a:ext cx="1298448" cy="219456"/>
          </a:xfrm>
          <a:prstGeom prst="rect">
            <a:avLst/>
          </a:prstGeom>
          <a:noFill/>
          <a:ln/>
        </p:spPr>
        <p:txBody>
          <a:bodyPr wrap="square" lIns="0" tIns="0" rIns="0" bIns="0" rtlCol="0" anchor="ctr"/>
          <a:lstStyle/>
          <a:p>
            <a:pPr marL="0" indent="0" algn="r">
              <a:buNone/>
            </a:pPr>
            <a:r>
              <a:rPr lang="en-US" sz="800" b="1" kern="0" spc="120" dirty="0">
                <a:solidFill>
                  <a:srgbClr val="F5A524"/>
                </a:solidFill>
                <a:latin typeface="Calibri" pitchFamily="34" charset="0"/>
                <a:ea typeface="Calibri" pitchFamily="34" charset="-122"/>
                <a:cs typeface="Calibri" pitchFamily="34" charset="-120"/>
              </a:rPr>
              <a:t>EMERGING</a:t>
            </a:r>
            <a:endParaRPr lang="en-US" sz="800" dirty="0"/>
          </a:p>
        </p:txBody>
      </p:sp>
      <p:sp>
        <p:nvSpPr>
          <p:cNvPr id="37" name="Text 29"/>
          <p:cNvSpPr/>
          <p:nvPr/>
        </p:nvSpPr>
        <p:spPr>
          <a:xfrm>
            <a:off x="786384" y="4407408"/>
            <a:ext cx="2174672" cy="292608"/>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Back office and finance</a:t>
            </a:r>
            <a:endParaRPr lang="en-US" sz="1350" dirty="0"/>
          </a:p>
        </p:txBody>
      </p:sp>
      <p:sp>
        <p:nvSpPr>
          <p:cNvPr id="38" name="Text 30"/>
          <p:cNvSpPr/>
          <p:nvPr/>
        </p:nvSpPr>
        <p:spPr>
          <a:xfrm>
            <a:off x="786384" y="4718304"/>
            <a:ext cx="2174672" cy="566928"/>
          </a:xfrm>
          <a:prstGeom prst="rect">
            <a:avLst/>
          </a:prstGeom>
          <a:noFill/>
          <a:ln/>
        </p:spPr>
        <p:txBody>
          <a:bodyPr wrap="square" lIns="0" tIns="0" rIns="0" bIns="0" rtlCol="0" anchor="t"/>
          <a:lstStyle/>
          <a:p>
            <a:pPr marL="0" indent="0">
              <a:lnSpc>
                <a:spcPct val="112000"/>
              </a:lnSpc>
              <a:buNone/>
            </a:pPr>
            <a:r>
              <a:rPr lang="en-US" sz="1050" dirty="0">
                <a:solidFill>
                  <a:srgbClr val="B9B4E0"/>
                </a:solidFill>
                <a:latin typeface="Calibri" pitchFamily="34" charset="0"/>
                <a:ea typeface="Calibri" pitchFamily="34" charset="-122"/>
                <a:cs typeface="Calibri" pitchFamily="34" charset="-120"/>
              </a:rPr>
              <a:t>Read a messy document, reconcile it, propose the entry for approval.</a:t>
            </a:r>
            <a:endParaRPr lang="en-US" sz="1050" dirty="0"/>
          </a:p>
        </p:txBody>
      </p:sp>
      <p:sp>
        <p:nvSpPr>
          <p:cNvPr id="39" name="Text 31"/>
          <p:cNvSpPr/>
          <p:nvPr/>
        </p:nvSpPr>
        <p:spPr>
          <a:xfrm>
            <a:off x="786384" y="5248656"/>
            <a:ext cx="2174672" cy="237744"/>
          </a:xfrm>
          <a:prstGeom prst="rect">
            <a:avLst/>
          </a:prstGeom>
          <a:noFill/>
          <a:ln/>
        </p:spPr>
        <p:txBody>
          <a:bodyPr wrap="square" lIns="0" tIns="0" rIns="0" bIns="0" rtlCol="0" anchor="ctr"/>
          <a:lstStyle/>
          <a:p>
            <a:pPr marL="0" indent="0">
              <a:buNone/>
            </a:pPr>
            <a:r>
              <a:rPr lang="en-US" sz="850" dirty="0">
                <a:solidFill>
                  <a:srgbClr val="F5A524"/>
                </a:solidFill>
                <a:latin typeface="Courier New" pitchFamily="34" charset="0"/>
                <a:ea typeface="Courier New" pitchFamily="34" charset="-122"/>
                <a:cs typeface="Courier New" pitchFamily="34" charset="-120"/>
              </a:rPr>
              <a:t>ERP · documents · email</a:t>
            </a:r>
            <a:endParaRPr lang="en-US" sz="850" dirty="0"/>
          </a:p>
        </p:txBody>
      </p:sp>
      <p:sp>
        <p:nvSpPr>
          <p:cNvPr id="40" name="Shape 32"/>
          <p:cNvSpPr/>
          <p:nvPr/>
        </p:nvSpPr>
        <p:spPr>
          <a:xfrm>
            <a:off x="3381680" y="3712464"/>
            <a:ext cx="2613584" cy="1883664"/>
          </a:xfrm>
          <a:prstGeom prst="roundRect">
            <a:avLst>
              <a:gd name="adj" fmla="val 4854"/>
            </a:avLst>
          </a:prstGeom>
          <a:solidFill>
            <a:srgbClr val="FFFFFF">
              <a:alpha val="9000"/>
            </a:srgbClr>
          </a:solidFill>
          <a:ln w="12700">
            <a:solidFill>
              <a:srgbClr val="6E5FD8"/>
            </a:solidFill>
            <a:prstDash val="solid"/>
          </a:ln>
        </p:spPr>
        <p:txBody>
          <a:bodyPr/>
          <a:lstStyle/>
          <a:p>
            <a:endParaRPr lang="en-US"/>
          </a:p>
        </p:txBody>
      </p:sp>
      <p:sp>
        <p:nvSpPr>
          <p:cNvPr id="41" name="Shape 33"/>
          <p:cNvSpPr/>
          <p:nvPr/>
        </p:nvSpPr>
        <p:spPr>
          <a:xfrm>
            <a:off x="3601136" y="3913632"/>
            <a:ext cx="384048" cy="384048"/>
          </a:xfrm>
          <a:prstGeom prst="ellipse">
            <a:avLst/>
          </a:prstGeom>
          <a:solidFill>
            <a:srgbClr val="5B4BE8"/>
          </a:solidFill>
          <a:ln w="12700">
            <a:solidFill>
              <a:srgbClr val="5B4BE8"/>
            </a:solidFill>
            <a:prstDash val="solid"/>
          </a:ln>
        </p:spPr>
        <p:txBody>
          <a:bodyPr/>
          <a:lstStyle/>
          <a:p>
            <a:endParaRPr lang="en-US"/>
          </a:p>
        </p:txBody>
      </p:sp>
      <p:pic>
        <p:nvPicPr>
          <p:cNvPr id="42" name="Image 6" descr="preencoded.png"/>
          <p:cNvPicPr>
            <a:picLocks noChangeAspect="1"/>
          </p:cNvPicPr>
          <p:nvPr/>
        </p:nvPicPr>
        <p:blipFill>
          <a:blip r:embed="rId9"/>
          <a:stretch>
            <a:fillRect/>
          </a:stretch>
        </p:blipFill>
        <p:spPr>
          <a:xfrm>
            <a:off x="3697148" y="4009644"/>
            <a:ext cx="192024" cy="192024"/>
          </a:xfrm>
          <a:prstGeom prst="rect">
            <a:avLst/>
          </a:prstGeom>
        </p:spPr>
      </p:pic>
      <p:sp>
        <p:nvSpPr>
          <p:cNvPr id="43" name="Text 34"/>
          <p:cNvSpPr/>
          <p:nvPr/>
        </p:nvSpPr>
        <p:spPr>
          <a:xfrm>
            <a:off x="4477360" y="3986784"/>
            <a:ext cx="1298448" cy="219456"/>
          </a:xfrm>
          <a:prstGeom prst="rect">
            <a:avLst/>
          </a:prstGeom>
          <a:noFill/>
          <a:ln/>
        </p:spPr>
        <p:txBody>
          <a:bodyPr wrap="square" lIns="0" tIns="0" rIns="0" bIns="0" rtlCol="0" anchor="ctr"/>
          <a:lstStyle/>
          <a:p>
            <a:pPr marL="0" indent="0" algn="r">
              <a:buNone/>
            </a:pPr>
            <a:r>
              <a:rPr lang="en-US" sz="800" b="1" kern="0" spc="120" dirty="0">
                <a:solidFill>
                  <a:srgbClr val="F5A524"/>
                </a:solidFill>
                <a:latin typeface="Calibri" pitchFamily="34" charset="0"/>
                <a:ea typeface="Calibri" pitchFamily="34" charset="-122"/>
                <a:cs typeface="Calibri" pitchFamily="34" charset="-120"/>
              </a:rPr>
              <a:t>EMERGING</a:t>
            </a:r>
            <a:endParaRPr lang="en-US" sz="800" dirty="0"/>
          </a:p>
        </p:txBody>
      </p:sp>
      <p:sp>
        <p:nvSpPr>
          <p:cNvPr id="44" name="Text 35"/>
          <p:cNvSpPr/>
          <p:nvPr/>
        </p:nvSpPr>
        <p:spPr>
          <a:xfrm>
            <a:off x="3601136" y="4407408"/>
            <a:ext cx="2174672" cy="292608"/>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Ops, SRE and security</a:t>
            </a:r>
            <a:endParaRPr lang="en-US" sz="1350" dirty="0"/>
          </a:p>
        </p:txBody>
      </p:sp>
      <p:sp>
        <p:nvSpPr>
          <p:cNvPr id="45" name="Text 36"/>
          <p:cNvSpPr/>
          <p:nvPr/>
        </p:nvSpPr>
        <p:spPr>
          <a:xfrm>
            <a:off x="3601136" y="4718304"/>
            <a:ext cx="2174672" cy="566928"/>
          </a:xfrm>
          <a:prstGeom prst="rect">
            <a:avLst/>
          </a:prstGeom>
          <a:noFill/>
          <a:ln/>
        </p:spPr>
        <p:txBody>
          <a:bodyPr wrap="square" lIns="0" tIns="0" rIns="0" bIns="0" rtlCol="0" anchor="t"/>
          <a:lstStyle/>
          <a:p>
            <a:pPr marL="0" indent="0">
              <a:lnSpc>
                <a:spcPct val="112000"/>
              </a:lnSpc>
              <a:buNone/>
            </a:pPr>
            <a:r>
              <a:rPr lang="en-US" sz="1050" dirty="0">
                <a:solidFill>
                  <a:srgbClr val="B9B4E0"/>
                </a:solidFill>
                <a:latin typeface="Calibri" pitchFamily="34" charset="0"/>
                <a:ea typeface="Calibri" pitchFamily="34" charset="-122"/>
                <a:cs typeface="Calibri" pitchFamily="34" charset="-120"/>
              </a:rPr>
              <a:t>Triage an alert, correlate logs, propose or apply a remediation.</a:t>
            </a:r>
            <a:endParaRPr lang="en-US" sz="1050" dirty="0"/>
          </a:p>
        </p:txBody>
      </p:sp>
      <p:sp>
        <p:nvSpPr>
          <p:cNvPr id="46" name="Text 37"/>
          <p:cNvSpPr/>
          <p:nvPr/>
        </p:nvSpPr>
        <p:spPr>
          <a:xfrm>
            <a:off x="3601136" y="5248656"/>
            <a:ext cx="2174672" cy="237744"/>
          </a:xfrm>
          <a:prstGeom prst="rect">
            <a:avLst/>
          </a:prstGeom>
          <a:noFill/>
          <a:ln/>
        </p:spPr>
        <p:txBody>
          <a:bodyPr wrap="square" lIns="0" tIns="0" rIns="0" bIns="0" rtlCol="0" anchor="ctr"/>
          <a:lstStyle/>
          <a:p>
            <a:pPr marL="0" indent="0">
              <a:buNone/>
            </a:pPr>
            <a:r>
              <a:rPr lang="en-US" sz="850" dirty="0">
                <a:solidFill>
                  <a:srgbClr val="F5A524"/>
                </a:solidFill>
                <a:latin typeface="Courier New" pitchFamily="34" charset="0"/>
                <a:ea typeface="Courier New" pitchFamily="34" charset="-122"/>
                <a:cs typeface="Courier New" pitchFamily="34" charset="-120"/>
              </a:rPr>
              <a:t>telemetry · runbooks · APIs</a:t>
            </a:r>
            <a:endParaRPr lang="en-US" sz="850" dirty="0"/>
          </a:p>
        </p:txBody>
      </p:sp>
      <p:sp>
        <p:nvSpPr>
          <p:cNvPr id="47" name="Shape 38"/>
          <p:cNvSpPr/>
          <p:nvPr/>
        </p:nvSpPr>
        <p:spPr>
          <a:xfrm>
            <a:off x="6196432" y="3712464"/>
            <a:ext cx="2613584" cy="1883664"/>
          </a:xfrm>
          <a:prstGeom prst="roundRect">
            <a:avLst>
              <a:gd name="adj" fmla="val 4854"/>
            </a:avLst>
          </a:prstGeom>
          <a:solidFill>
            <a:srgbClr val="FFFFFF">
              <a:alpha val="9000"/>
            </a:srgbClr>
          </a:solidFill>
          <a:ln w="12700">
            <a:solidFill>
              <a:srgbClr val="6E5FD8"/>
            </a:solidFill>
            <a:prstDash val="solid"/>
          </a:ln>
        </p:spPr>
        <p:txBody>
          <a:bodyPr/>
          <a:lstStyle/>
          <a:p>
            <a:endParaRPr lang="en-US"/>
          </a:p>
        </p:txBody>
      </p:sp>
      <p:sp>
        <p:nvSpPr>
          <p:cNvPr id="48" name="Shape 39"/>
          <p:cNvSpPr/>
          <p:nvPr/>
        </p:nvSpPr>
        <p:spPr>
          <a:xfrm>
            <a:off x="6415888" y="3913632"/>
            <a:ext cx="384048" cy="384048"/>
          </a:xfrm>
          <a:prstGeom prst="ellipse">
            <a:avLst/>
          </a:prstGeom>
          <a:solidFill>
            <a:srgbClr val="5B4BE8"/>
          </a:solidFill>
          <a:ln w="12700">
            <a:solidFill>
              <a:srgbClr val="5B4BE8"/>
            </a:solidFill>
            <a:prstDash val="solid"/>
          </a:ln>
        </p:spPr>
        <p:txBody>
          <a:bodyPr/>
          <a:lstStyle/>
          <a:p>
            <a:endParaRPr lang="en-US"/>
          </a:p>
        </p:txBody>
      </p:sp>
      <p:pic>
        <p:nvPicPr>
          <p:cNvPr id="49" name="Image 7" descr="preencoded.png"/>
          <p:cNvPicPr>
            <a:picLocks noChangeAspect="1"/>
          </p:cNvPicPr>
          <p:nvPr/>
        </p:nvPicPr>
        <p:blipFill>
          <a:blip r:embed="rId10"/>
          <a:stretch>
            <a:fillRect/>
          </a:stretch>
        </p:blipFill>
        <p:spPr>
          <a:xfrm>
            <a:off x="6511900" y="4009644"/>
            <a:ext cx="192024" cy="192024"/>
          </a:xfrm>
          <a:prstGeom prst="rect">
            <a:avLst/>
          </a:prstGeom>
        </p:spPr>
      </p:pic>
      <p:sp>
        <p:nvSpPr>
          <p:cNvPr id="50" name="Text 40"/>
          <p:cNvSpPr/>
          <p:nvPr/>
        </p:nvSpPr>
        <p:spPr>
          <a:xfrm>
            <a:off x="7292111" y="3986784"/>
            <a:ext cx="1298448" cy="219456"/>
          </a:xfrm>
          <a:prstGeom prst="rect">
            <a:avLst/>
          </a:prstGeom>
          <a:noFill/>
          <a:ln/>
        </p:spPr>
        <p:txBody>
          <a:bodyPr wrap="square" lIns="0" tIns="0" rIns="0" bIns="0" rtlCol="0" anchor="ctr"/>
          <a:lstStyle/>
          <a:p>
            <a:pPr marL="0" indent="0" algn="r">
              <a:buNone/>
            </a:pPr>
            <a:r>
              <a:rPr lang="en-US" sz="800" b="1" kern="0" spc="120" dirty="0">
                <a:solidFill>
                  <a:srgbClr val="9B98B4"/>
                </a:solidFill>
                <a:latin typeface="Calibri" pitchFamily="34" charset="0"/>
                <a:ea typeface="Calibri" pitchFamily="34" charset="-122"/>
                <a:cs typeface="Calibri" pitchFamily="34" charset="-120"/>
              </a:rPr>
              <a:t>EARLY</a:t>
            </a:r>
            <a:endParaRPr lang="en-US" sz="800" dirty="0"/>
          </a:p>
        </p:txBody>
      </p:sp>
      <p:sp>
        <p:nvSpPr>
          <p:cNvPr id="51" name="Text 41"/>
          <p:cNvSpPr/>
          <p:nvPr/>
        </p:nvSpPr>
        <p:spPr>
          <a:xfrm>
            <a:off x="6415888" y="4407408"/>
            <a:ext cx="2174672" cy="292608"/>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Browser and computer use</a:t>
            </a:r>
            <a:endParaRPr lang="en-US" sz="1350" dirty="0"/>
          </a:p>
        </p:txBody>
      </p:sp>
      <p:sp>
        <p:nvSpPr>
          <p:cNvPr id="52" name="Text 42"/>
          <p:cNvSpPr/>
          <p:nvPr/>
        </p:nvSpPr>
        <p:spPr>
          <a:xfrm>
            <a:off x="6415888" y="4718304"/>
            <a:ext cx="2174672" cy="566928"/>
          </a:xfrm>
          <a:prstGeom prst="rect">
            <a:avLst/>
          </a:prstGeom>
          <a:noFill/>
          <a:ln/>
        </p:spPr>
        <p:txBody>
          <a:bodyPr wrap="square" lIns="0" tIns="0" rIns="0" bIns="0" rtlCol="0" anchor="t"/>
          <a:lstStyle/>
          <a:p>
            <a:pPr marL="0" indent="0">
              <a:lnSpc>
                <a:spcPct val="112000"/>
              </a:lnSpc>
              <a:buNone/>
            </a:pPr>
            <a:r>
              <a:rPr lang="en-US" sz="1050" dirty="0">
                <a:solidFill>
                  <a:srgbClr val="B9B4E0"/>
                </a:solidFill>
                <a:latin typeface="Calibri" pitchFamily="34" charset="0"/>
                <a:ea typeface="Calibri" pitchFamily="34" charset="-122"/>
                <a:cs typeface="Calibri" pitchFamily="34" charset="-120"/>
              </a:rPr>
              <a:t>Drive a real interface when there is no API to call.</a:t>
            </a:r>
            <a:endParaRPr lang="en-US" sz="1050" dirty="0"/>
          </a:p>
        </p:txBody>
      </p:sp>
      <p:sp>
        <p:nvSpPr>
          <p:cNvPr id="53" name="Text 43"/>
          <p:cNvSpPr/>
          <p:nvPr/>
        </p:nvSpPr>
        <p:spPr>
          <a:xfrm>
            <a:off x="6415888" y="5248656"/>
            <a:ext cx="2174672" cy="237744"/>
          </a:xfrm>
          <a:prstGeom prst="rect">
            <a:avLst/>
          </a:prstGeom>
          <a:noFill/>
          <a:ln/>
        </p:spPr>
        <p:txBody>
          <a:bodyPr wrap="square" lIns="0" tIns="0" rIns="0" bIns="0" rtlCol="0" anchor="ctr"/>
          <a:lstStyle/>
          <a:p>
            <a:pPr marL="0" indent="0">
              <a:buNone/>
            </a:pPr>
            <a:r>
              <a:rPr lang="en-US" sz="850" dirty="0">
                <a:solidFill>
                  <a:srgbClr val="F5A524"/>
                </a:solidFill>
                <a:latin typeface="Courier New" pitchFamily="34" charset="0"/>
                <a:ea typeface="Courier New" pitchFamily="34" charset="-122"/>
                <a:cs typeface="Courier New" pitchFamily="34" charset="-120"/>
              </a:rPr>
              <a:t>screen · keyboard · mouse</a:t>
            </a:r>
            <a:endParaRPr lang="en-US" sz="850" dirty="0"/>
          </a:p>
        </p:txBody>
      </p:sp>
      <p:sp>
        <p:nvSpPr>
          <p:cNvPr id="54" name="Shape 44"/>
          <p:cNvSpPr/>
          <p:nvPr/>
        </p:nvSpPr>
        <p:spPr>
          <a:xfrm>
            <a:off x="9011183" y="3712464"/>
            <a:ext cx="2613584" cy="1883664"/>
          </a:xfrm>
          <a:prstGeom prst="roundRect">
            <a:avLst>
              <a:gd name="adj" fmla="val 4854"/>
            </a:avLst>
          </a:prstGeom>
          <a:solidFill>
            <a:srgbClr val="FFFFFF">
              <a:alpha val="9000"/>
            </a:srgbClr>
          </a:solidFill>
          <a:ln w="12700">
            <a:solidFill>
              <a:srgbClr val="6E5FD8"/>
            </a:solidFill>
            <a:prstDash val="solid"/>
          </a:ln>
        </p:spPr>
        <p:txBody>
          <a:bodyPr/>
          <a:lstStyle/>
          <a:p>
            <a:endParaRPr lang="en-US"/>
          </a:p>
        </p:txBody>
      </p:sp>
      <p:sp>
        <p:nvSpPr>
          <p:cNvPr id="55" name="Shape 45"/>
          <p:cNvSpPr/>
          <p:nvPr/>
        </p:nvSpPr>
        <p:spPr>
          <a:xfrm>
            <a:off x="9230639" y="3913632"/>
            <a:ext cx="384048" cy="384048"/>
          </a:xfrm>
          <a:prstGeom prst="ellipse">
            <a:avLst/>
          </a:prstGeom>
          <a:solidFill>
            <a:srgbClr val="5B4BE8"/>
          </a:solidFill>
          <a:ln w="12700">
            <a:solidFill>
              <a:srgbClr val="5B4BE8"/>
            </a:solidFill>
            <a:prstDash val="solid"/>
          </a:ln>
        </p:spPr>
        <p:txBody>
          <a:bodyPr/>
          <a:lstStyle/>
          <a:p>
            <a:endParaRPr lang="en-US"/>
          </a:p>
        </p:txBody>
      </p:sp>
      <p:pic>
        <p:nvPicPr>
          <p:cNvPr id="56" name="Image 8" descr="preencoded.png"/>
          <p:cNvPicPr>
            <a:picLocks noChangeAspect="1"/>
          </p:cNvPicPr>
          <p:nvPr/>
        </p:nvPicPr>
        <p:blipFill>
          <a:blip r:embed="rId11"/>
          <a:stretch>
            <a:fillRect/>
          </a:stretch>
        </p:blipFill>
        <p:spPr>
          <a:xfrm>
            <a:off x="9326651" y="4009644"/>
            <a:ext cx="192024" cy="192024"/>
          </a:xfrm>
          <a:prstGeom prst="rect">
            <a:avLst/>
          </a:prstGeom>
        </p:spPr>
      </p:pic>
      <p:sp>
        <p:nvSpPr>
          <p:cNvPr id="57" name="Text 46"/>
          <p:cNvSpPr/>
          <p:nvPr/>
        </p:nvSpPr>
        <p:spPr>
          <a:xfrm>
            <a:off x="10106863" y="3986784"/>
            <a:ext cx="1298448" cy="219456"/>
          </a:xfrm>
          <a:prstGeom prst="rect">
            <a:avLst/>
          </a:prstGeom>
          <a:noFill/>
          <a:ln/>
        </p:spPr>
        <p:txBody>
          <a:bodyPr wrap="square" lIns="0" tIns="0" rIns="0" bIns="0" rtlCol="0" anchor="ctr"/>
          <a:lstStyle/>
          <a:p>
            <a:pPr marL="0" indent="0" algn="r">
              <a:buNone/>
            </a:pPr>
            <a:r>
              <a:rPr lang="en-US" sz="800" b="1" kern="0" spc="120" dirty="0">
                <a:solidFill>
                  <a:srgbClr val="9B98B4"/>
                </a:solidFill>
                <a:latin typeface="Calibri" pitchFamily="34" charset="0"/>
                <a:ea typeface="Calibri" pitchFamily="34" charset="-122"/>
                <a:cs typeface="Calibri" pitchFamily="34" charset="-120"/>
              </a:rPr>
              <a:t>EARLY</a:t>
            </a:r>
            <a:endParaRPr lang="en-US" sz="800" dirty="0"/>
          </a:p>
        </p:txBody>
      </p:sp>
      <p:sp>
        <p:nvSpPr>
          <p:cNvPr id="58" name="Text 47"/>
          <p:cNvSpPr/>
          <p:nvPr/>
        </p:nvSpPr>
        <p:spPr>
          <a:xfrm>
            <a:off x="9230639" y="4407408"/>
            <a:ext cx="2174672" cy="292608"/>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Physical and embodied</a:t>
            </a:r>
            <a:endParaRPr lang="en-US" sz="1350" dirty="0"/>
          </a:p>
        </p:txBody>
      </p:sp>
      <p:sp>
        <p:nvSpPr>
          <p:cNvPr id="59" name="Text 48"/>
          <p:cNvSpPr/>
          <p:nvPr/>
        </p:nvSpPr>
        <p:spPr>
          <a:xfrm>
            <a:off x="9230639" y="4718304"/>
            <a:ext cx="2174672" cy="566928"/>
          </a:xfrm>
          <a:prstGeom prst="rect">
            <a:avLst/>
          </a:prstGeom>
          <a:noFill/>
          <a:ln/>
        </p:spPr>
        <p:txBody>
          <a:bodyPr wrap="square" lIns="0" tIns="0" rIns="0" bIns="0" rtlCol="0" anchor="t"/>
          <a:lstStyle/>
          <a:p>
            <a:pPr marL="0" indent="0">
              <a:lnSpc>
                <a:spcPct val="112000"/>
              </a:lnSpc>
              <a:buNone/>
            </a:pPr>
            <a:r>
              <a:rPr lang="en-US" sz="1050" dirty="0">
                <a:solidFill>
                  <a:srgbClr val="B9B4E0"/>
                </a:solidFill>
                <a:latin typeface="Calibri" pitchFamily="34" charset="0"/>
                <a:ea typeface="Calibri" pitchFamily="34" charset="-122"/>
                <a:cs typeface="Calibri" pitchFamily="34" charset="-120"/>
              </a:rPr>
              <a:t>Perception and action in the world rather than in software.</a:t>
            </a:r>
            <a:endParaRPr lang="en-US" sz="1050" dirty="0"/>
          </a:p>
        </p:txBody>
      </p:sp>
      <p:sp>
        <p:nvSpPr>
          <p:cNvPr id="60" name="Text 49"/>
          <p:cNvSpPr/>
          <p:nvPr/>
        </p:nvSpPr>
        <p:spPr>
          <a:xfrm>
            <a:off x="9230639" y="5248656"/>
            <a:ext cx="2174672" cy="237744"/>
          </a:xfrm>
          <a:prstGeom prst="rect">
            <a:avLst/>
          </a:prstGeom>
          <a:noFill/>
          <a:ln/>
        </p:spPr>
        <p:txBody>
          <a:bodyPr wrap="square" lIns="0" tIns="0" rIns="0" bIns="0" rtlCol="0" anchor="ctr"/>
          <a:lstStyle/>
          <a:p>
            <a:pPr marL="0" indent="0">
              <a:buNone/>
            </a:pPr>
            <a:r>
              <a:rPr lang="en-US" sz="850" dirty="0">
                <a:solidFill>
                  <a:srgbClr val="F5A524"/>
                </a:solidFill>
                <a:latin typeface="Courier New" pitchFamily="34" charset="0"/>
                <a:ea typeface="Courier New" pitchFamily="34" charset="-122"/>
                <a:cs typeface="Courier New" pitchFamily="34" charset="-120"/>
              </a:rPr>
              <a:t>sensors · actuators</a:t>
            </a:r>
            <a:endParaRPr lang="en-US" sz="850" dirty="0"/>
          </a:p>
        </p:txBody>
      </p:sp>
      <p:sp>
        <p:nvSpPr>
          <p:cNvPr id="61" name="Text 50"/>
          <p:cNvSpPr/>
          <p:nvPr/>
        </p:nvSpPr>
        <p:spPr>
          <a:xfrm>
            <a:off x="566928" y="5669280"/>
            <a:ext cx="11057839" cy="310896"/>
          </a:xfrm>
          <a:prstGeom prst="rect">
            <a:avLst/>
          </a:prstGeom>
          <a:noFill/>
          <a:ln/>
        </p:spPr>
        <p:txBody>
          <a:bodyPr wrap="square" lIns="0" tIns="0" rIns="0" bIns="0" rtlCol="0" anchor="ctr"/>
          <a:lstStyle/>
          <a:p>
            <a:pPr marL="0" indent="0">
              <a:buNone/>
            </a:pPr>
            <a:r>
              <a:rPr lang="en-US" sz="1400" i="1" dirty="0">
                <a:solidFill>
                  <a:srgbClr val="DCD8FF"/>
                </a:solidFill>
                <a:latin typeface="Calibri" pitchFamily="34" charset="0"/>
                <a:ea typeface="Calibri" pitchFamily="34" charset="-122"/>
                <a:cs typeface="Calibri" pitchFamily="34" charset="-120"/>
              </a:rPr>
              <a:t>Same loop underneath all eight. What changes is the tools it can reach — and how expensive it is to be wrong.</a:t>
            </a:r>
            <a:endParaRPr lang="en-US" sz="1400" dirty="0"/>
          </a:p>
        </p:txBody>
      </p:sp>
      <p:sp>
        <p:nvSpPr>
          <p:cNvPr id="62" name="Text 51"/>
          <p:cNvSpPr/>
          <p:nvPr/>
        </p:nvSpPr>
        <p:spPr>
          <a:xfrm>
            <a:off x="566928" y="6035040"/>
            <a:ext cx="11057839" cy="256032"/>
          </a:xfrm>
          <a:prstGeom prst="rect">
            <a:avLst/>
          </a:prstGeom>
          <a:noFill/>
          <a:ln/>
        </p:spPr>
        <p:txBody>
          <a:bodyPr wrap="square" lIns="0" tIns="0" rIns="0" bIns="0" rtlCol="0" anchor="ctr"/>
          <a:lstStyle/>
          <a:p>
            <a:pPr marL="0" indent="0">
              <a:buNone/>
            </a:pPr>
            <a:r>
              <a:rPr lang="en-US" sz="950" dirty="0">
                <a:solidFill>
                  <a:srgbClr val="8B86C0"/>
                </a:solidFill>
                <a:latin typeface="Calibri" pitchFamily="34" charset="0"/>
                <a:ea typeface="Calibri" pitchFamily="34" charset="-122"/>
                <a:cs typeface="Calibri" pitchFamily="34" charset="-120"/>
              </a:rPr>
              <a:t>Maturity is my read as of August 2026, not a published index. The top row is where enterprises are already running things unattended; the bottom row is where the demos are.</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ORIENTATION</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2600" b="1" dirty="0">
                <a:solidFill>
                  <a:srgbClr val="141235"/>
                </a:solidFill>
                <a:latin typeface="Cambria" pitchFamily="34" charset="0"/>
                <a:ea typeface="Cambria" pitchFamily="34" charset="-122"/>
                <a:cs typeface="Cambria" pitchFamily="34" charset="-120"/>
              </a:rPr>
              <a:t>Coding agents got there first, and that is not a coincidence</a:t>
            </a:r>
            <a:endParaRPr lang="en-US" sz="2600" dirty="0"/>
          </a:p>
        </p:txBody>
      </p:sp>
      <p:sp>
        <p:nvSpPr>
          <p:cNvPr id="4" name="Text 2"/>
          <p:cNvSpPr/>
          <p:nvPr/>
        </p:nvSpPr>
        <p:spPr>
          <a:xfrm>
            <a:off x="566928" y="1371600"/>
            <a:ext cx="11057839" cy="310896"/>
          </a:xfrm>
          <a:prstGeom prst="rect">
            <a:avLst/>
          </a:prstGeom>
          <a:noFill/>
          <a:ln/>
        </p:spPr>
        <p:txBody>
          <a:bodyPr wrap="square" lIns="0" tIns="0" rIns="0" bIns="0" rtlCol="0" anchor="t"/>
          <a:lstStyle/>
          <a:p>
            <a:pPr marL="0" indent="0">
              <a:buNone/>
            </a:pPr>
            <a:r>
              <a:rPr lang="en-US" sz="1400" dirty="0">
                <a:solidFill>
                  <a:srgbClr val="3B3760"/>
                </a:solidFill>
                <a:latin typeface="Calibri" pitchFamily="34" charset="0"/>
                <a:ea typeface="Calibri" pitchFamily="34" charset="-122"/>
                <a:cs typeface="Calibri" pitchFamily="34" charset="-120"/>
              </a:rPr>
              <a:t>Software happened to have five properties almost no other domain has. Knowing which ones your domain is missing tells you how hard your project will be.</a:t>
            </a:r>
            <a:endParaRPr lang="en-US" sz="1400" dirty="0"/>
          </a:p>
        </p:txBody>
      </p:sp>
      <p:sp>
        <p:nvSpPr>
          <p:cNvPr id="5" name="Shape 3"/>
          <p:cNvSpPr/>
          <p:nvPr/>
        </p:nvSpPr>
        <p:spPr>
          <a:xfrm>
            <a:off x="566928" y="1975104"/>
            <a:ext cx="3527450" cy="1591056"/>
          </a:xfrm>
          <a:prstGeom prst="roundRect">
            <a:avLst>
              <a:gd name="adj" fmla="val 5172"/>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6" name="Shape 4"/>
          <p:cNvSpPr/>
          <p:nvPr/>
        </p:nvSpPr>
        <p:spPr>
          <a:xfrm>
            <a:off x="804672" y="2194560"/>
            <a:ext cx="365760" cy="365760"/>
          </a:xfrm>
          <a:prstGeom prst="ellipse">
            <a:avLst/>
          </a:prstGeom>
          <a:solidFill>
            <a:srgbClr val="0E9F6E"/>
          </a:solidFill>
          <a:ln w="12700">
            <a:solidFill>
              <a:srgbClr val="0E9F6E"/>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896112" y="2286000"/>
            <a:ext cx="182880" cy="182880"/>
          </a:xfrm>
          <a:prstGeom prst="rect">
            <a:avLst/>
          </a:prstGeom>
        </p:spPr>
      </p:pic>
      <p:sp>
        <p:nvSpPr>
          <p:cNvPr id="8" name="Text 5"/>
          <p:cNvSpPr/>
          <p:nvPr/>
        </p:nvSpPr>
        <p:spPr>
          <a:xfrm>
            <a:off x="1298448" y="2185416"/>
            <a:ext cx="2558186"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PROPERTY 1</a:t>
            </a:r>
            <a:endParaRPr lang="en-US" sz="850" dirty="0"/>
          </a:p>
        </p:txBody>
      </p:sp>
      <p:sp>
        <p:nvSpPr>
          <p:cNvPr id="9" name="Text 6"/>
          <p:cNvSpPr/>
          <p:nvPr/>
        </p:nvSpPr>
        <p:spPr>
          <a:xfrm>
            <a:off x="1298448" y="2404872"/>
            <a:ext cx="2558186" cy="322417"/>
          </a:xfrm>
          <a:prstGeom prst="rect">
            <a:avLst/>
          </a:prstGeom>
          <a:noFill/>
          <a:ln/>
        </p:spPr>
        <p:txBody>
          <a:bodyPr wrap="square" lIns="0" tIns="0" rIns="0" bIns="0" rtlCol="0" anchor="t"/>
          <a:lstStyle/>
          <a:p>
            <a:pPr marL="0" indent="0">
              <a:lnSpc>
                <a:spcPct val="105000"/>
              </a:lnSpc>
              <a:buNone/>
            </a:pPr>
            <a:r>
              <a:rPr lang="en-US" sz="1350" b="1" dirty="0">
                <a:solidFill>
                  <a:srgbClr val="141235"/>
                </a:solidFill>
                <a:latin typeface="Calibri" pitchFamily="34" charset="0"/>
                <a:ea typeface="Calibri" pitchFamily="34" charset="-122"/>
                <a:cs typeface="Calibri" pitchFamily="34" charset="-120"/>
              </a:rPr>
              <a:t>A built-in oracle</a:t>
            </a:r>
            <a:endParaRPr lang="en-US" sz="1350" dirty="0"/>
          </a:p>
        </p:txBody>
      </p:sp>
      <p:sp>
        <p:nvSpPr>
          <p:cNvPr id="10" name="Text 7"/>
          <p:cNvSpPr/>
          <p:nvPr/>
        </p:nvSpPr>
        <p:spPr>
          <a:xfrm>
            <a:off x="1298448" y="2736433"/>
            <a:ext cx="2558186" cy="646847"/>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Tests, compilers and type checkers say “wrong” without a human. The agent can grade itself and try again. Most domains have no equivalent.</a:t>
            </a:r>
            <a:endParaRPr lang="en-US" sz="1100" dirty="0"/>
          </a:p>
        </p:txBody>
      </p:sp>
      <p:sp>
        <p:nvSpPr>
          <p:cNvPr id="11" name="Shape 8"/>
          <p:cNvSpPr/>
          <p:nvPr/>
        </p:nvSpPr>
        <p:spPr>
          <a:xfrm>
            <a:off x="4332122" y="1975104"/>
            <a:ext cx="3527450" cy="1591056"/>
          </a:xfrm>
          <a:prstGeom prst="roundRect">
            <a:avLst>
              <a:gd name="adj" fmla="val 5172"/>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2" name="Shape 9"/>
          <p:cNvSpPr/>
          <p:nvPr/>
        </p:nvSpPr>
        <p:spPr>
          <a:xfrm>
            <a:off x="4569866" y="2194560"/>
            <a:ext cx="365760" cy="365760"/>
          </a:xfrm>
          <a:prstGeom prst="ellipse">
            <a:avLst/>
          </a:prstGeom>
          <a:solidFill>
            <a:srgbClr val="0E9F6E"/>
          </a:solidFill>
          <a:ln w="12700">
            <a:solidFill>
              <a:srgbClr val="0E9F6E"/>
            </a:solidFill>
            <a:prstDash val="solid"/>
          </a:ln>
        </p:spPr>
        <p:txBody>
          <a:bodyPr/>
          <a:lstStyle/>
          <a:p>
            <a:endParaRPr lang="en-US"/>
          </a:p>
        </p:txBody>
      </p:sp>
      <p:pic>
        <p:nvPicPr>
          <p:cNvPr id="13" name="Image 1" descr="preencoded.png"/>
          <p:cNvPicPr>
            <a:picLocks noChangeAspect="1"/>
          </p:cNvPicPr>
          <p:nvPr/>
        </p:nvPicPr>
        <p:blipFill>
          <a:blip r:embed="rId4"/>
          <a:stretch>
            <a:fillRect/>
          </a:stretch>
        </p:blipFill>
        <p:spPr>
          <a:xfrm>
            <a:off x="4661306" y="2286000"/>
            <a:ext cx="182880" cy="182880"/>
          </a:xfrm>
          <a:prstGeom prst="rect">
            <a:avLst/>
          </a:prstGeom>
        </p:spPr>
      </p:pic>
      <p:sp>
        <p:nvSpPr>
          <p:cNvPr id="14" name="Text 10"/>
          <p:cNvSpPr/>
          <p:nvPr/>
        </p:nvSpPr>
        <p:spPr>
          <a:xfrm>
            <a:off x="5063642" y="2185416"/>
            <a:ext cx="2558186"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PROPERTY 2</a:t>
            </a:r>
            <a:endParaRPr lang="en-US" sz="850" dirty="0"/>
          </a:p>
        </p:txBody>
      </p:sp>
      <p:sp>
        <p:nvSpPr>
          <p:cNvPr id="15" name="Text 11"/>
          <p:cNvSpPr/>
          <p:nvPr/>
        </p:nvSpPr>
        <p:spPr>
          <a:xfrm>
            <a:off x="5063642" y="2404872"/>
            <a:ext cx="2558186" cy="322417"/>
          </a:xfrm>
          <a:prstGeom prst="rect">
            <a:avLst/>
          </a:prstGeom>
          <a:noFill/>
          <a:ln/>
        </p:spPr>
        <p:txBody>
          <a:bodyPr wrap="square" lIns="0" tIns="0" rIns="0" bIns="0" rtlCol="0" anchor="t"/>
          <a:lstStyle/>
          <a:p>
            <a:pPr marL="0" indent="0">
              <a:lnSpc>
                <a:spcPct val="105000"/>
              </a:lnSpc>
              <a:buNone/>
            </a:pPr>
            <a:r>
              <a:rPr lang="en-US" sz="1350" b="1" dirty="0">
                <a:solidFill>
                  <a:srgbClr val="141235"/>
                </a:solidFill>
                <a:latin typeface="Calibri" pitchFamily="34" charset="0"/>
                <a:ea typeface="Calibri" pitchFamily="34" charset="-122"/>
                <a:cs typeface="Calibri" pitchFamily="34" charset="-120"/>
              </a:rPr>
              <a:t>Cheap, total undo</a:t>
            </a:r>
            <a:endParaRPr lang="en-US" sz="1350" dirty="0"/>
          </a:p>
        </p:txBody>
      </p:sp>
      <p:sp>
        <p:nvSpPr>
          <p:cNvPr id="16" name="Text 12"/>
          <p:cNvSpPr/>
          <p:nvPr/>
        </p:nvSpPr>
        <p:spPr>
          <a:xfrm>
            <a:off x="5063642" y="2736433"/>
            <a:ext cx="2558186" cy="646847"/>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Version control means a wrong step costs a revert. Compare that with a refund issued or an email sent to a customer.</a:t>
            </a:r>
            <a:endParaRPr lang="en-US" sz="1100" dirty="0"/>
          </a:p>
        </p:txBody>
      </p:sp>
      <p:sp>
        <p:nvSpPr>
          <p:cNvPr id="17" name="Shape 13"/>
          <p:cNvSpPr/>
          <p:nvPr/>
        </p:nvSpPr>
        <p:spPr>
          <a:xfrm>
            <a:off x="8097317" y="1975104"/>
            <a:ext cx="3527450" cy="1591056"/>
          </a:xfrm>
          <a:prstGeom prst="roundRect">
            <a:avLst>
              <a:gd name="adj" fmla="val 5172"/>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8" name="Shape 14"/>
          <p:cNvSpPr/>
          <p:nvPr/>
        </p:nvSpPr>
        <p:spPr>
          <a:xfrm>
            <a:off x="8335061" y="2194560"/>
            <a:ext cx="365760" cy="365760"/>
          </a:xfrm>
          <a:prstGeom prst="ellipse">
            <a:avLst/>
          </a:prstGeom>
          <a:solidFill>
            <a:srgbClr val="0E9F6E"/>
          </a:solidFill>
          <a:ln w="12700">
            <a:solidFill>
              <a:srgbClr val="0E9F6E"/>
            </a:solidFill>
            <a:prstDash val="solid"/>
          </a:ln>
        </p:spPr>
        <p:txBody>
          <a:bodyPr/>
          <a:lstStyle/>
          <a:p>
            <a:endParaRPr lang="en-US"/>
          </a:p>
        </p:txBody>
      </p:sp>
      <p:pic>
        <p:nvPicPr>
          <p:cNvPr id="19" name="Image 2" descr="preencoded.png"/>
          <p:cNvPicPr>
            <a:picLocks noChangeAspect="1"/>
          </p:cNvPicPr>
          <p:nvPr/>
        </p:nvPicPr>
        <p:blipFill>
          <a:blip r:embed="rId5"/>
          <a:stretch>
            <a:fillRect/>
          </a:stretch>
        </p:blipFill>
        <p:spPr>
          <a:xfrm>
            <a:off x="8426501" y="2286000"/>
            <a:ext cx="182880" cy="182880"/>
          </a:xfrm>
          <a:prstGeom prst="rect">
            <a:avLst/>
          </a:prstGeom>
        </p:spPr>
      </p:pic>
      <p:sp>
        <p:nvSpPr>
          <p:cNvPr id="20" name="Text 15"/>
          <p:cNvSpPr/>
          <p:nvPr/>
        </p:nvSpPr>
        <p:spPr>
          <a:xfrm>
            <a:off x="8828837" y="2185416"/>
            <a:ext cx="2558186"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PROPERTY 3</a:t>
            </a:r>
            <a:endParaRPr lang="en-US" sz="850" dirty="0"/>
          </a:p>
        </p:txBody>
      </p:sp>
      <p:sp>
        <p:nvSpPr>
          <p:cNvPr id="21" name="Text 16"/>
          <p:cNvSpPr/>
          <p:nvPr/>
        </p:nvSpPr>
        <p:spPr>
          <a:xfrm>
            <a:off x="8828837" y="2404872"/>
            <a:ext cx="2558186" cy="322417"/>
          </a:xfrm>
          <a:prstGeom prst="rect">
            <a:avLst/>
          </a:prstGeom>
          <a:noFill/>
          <a:ln/>
        </p:spPr>
        <p:txBody>
          <a:bodyPr wrap="square" lIns="0" tIns="0" rIns="0" bIns="0" rtlCol="0" anchor="t"/>
          <a:lstStyle/>
          <a:p>
            <a:pPr marL="0" indent="0">
              <a:lnSpc>
                <a:spcPct val="105000"/>
              </a:lnSpc>
              <a:buNone/>
            </a:pPr>
            <a:r>
              <a:rPr lang="en-US" sz="1350" b="1" dirty="0">
                <a:solidFill>
                  <a:srgbClr val="141235"/>
                </a:solidFill>
                <a:latin typeface="Calibri" pitchFamily="34" charset="0"/>
                <a:ea typeface="Calibri" pitchFamily="34" charset="-122"/>
                <a:cs typeface="Calibri" pitchFamily="34" charset="-120"/>
              </a:rPr>
              <a:t>The whole domain is text</a:t>
            </a:r>
            <a:endParaRPr lang="en-US" sz="1350" dirty="0"/>
          </a:p>
        </p:txBody>
      </p:sp>
      <p:sp>
        <p:nvSpPr>
          <p:cNvPr id="22" name="Text 17"/>
          <p:cNvSpPr/>
          <p:nvPr/>
        </p:nvSpPr>
        <p:spPr>
          <a:xfrm>
            <a:off x="8828837" y="2736433"/>
            <a:ext cx="2558186" cy="646847"/>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Code, logs, diffs, docs, stack traces. No OCR, no schema mapping, no scanned PDF from 2011 with a coffee stain on it.</a:t>
            </a:r>
            <a:endParaRPr lang="en-US" sz="1100" dirty="0"/>
          </a:p>
        </p:txBody>
      </p:sp>
      <p:sp>
        <p:nvSpPr>
          <p:cNvPr id="23" name="Shape 18"/>
          <p:cNvSpPr/>
          <p:nvPr/>
        </p:nvSpPr>
        <p:spPr>
          <a:xfrm>
            <a:off x="566928" y="3803904"/>
            <a:ext cx="3527450" cy="1591056"/>
          </a:xfrm>
          <a:prstGeom prst="roundRect">
            <a:avLst>
              <a:gd name="adj" fmla="val 5172"/>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24" name="Shape 19"/>
          <p:cNvSpPr/>
          <p:nvPr/>
        </p:nvSpPr>
        <p:spPr>
          <a:xfrm>
            <a:off x="804672" y="4023360"/>
            <a:ext cx="365760" cy="365760"/>
          </a:xfrm>
          <a:prstGeom prst="ellipse">
            <a:avLst/>
          </a:prstGeom>
          <a:solidFill>
            <a:srgbClr val="0E9F6E"/>
          </a:solidFill>
          <a:ln w="12700">
            <a:solidFill>
              <a:srgbClr val="0E9F6E"/>
            </a:solidFill>
            <a:prstDash val="solid"/>
          </a:ln>
        </p:spPr>
        <p:txBody>
          <a:bodyPr/>
          <a:lstStyle/>
          <a:p>
            <a:endParaRPr lang="en-US"/>
          </a:p>
        </p:txBody>
      </p:sp>
      <p:pic>
        <p:nvPicPr>
          <p:cNvPr id="25" name="Image 3" descr="preencoded.png"/>
          <p:cNvPicPr>
            <a:picLocks noChangeAspect="1"/>
          </p:cNvPicPr>
          <p:nvPr/>
        </p:nvPicPr>
        <p:blipFill>
          <a:blip r:embed="rId6"/>
          <a:stretch>
            <a:fillRect/>
          </a:stretch>
        </p:blipFill>
        <p:spPr>
          <a:xfrm>
            <a:off x="896112" y="4114800"/>
            <a:ext cx="182880" cy="182880"/>
          </a:xfrm>
          <a:prstGeom prst="rect">
            <a:avLst/>
          </a:prstGeom>
        </p:spPr>
      </p:pic>
      <p:sp>
        <p:nvSpPr>
          <p:cNvPr id="26" name="Text 20"/>
          <p:cNvSpPr/>
          <p:nvPr/>
        </p:nvSpPr>
        <p:spPr>
          <a:xfrm>
            <a:off x="1298448" y="4014216"/>
            <a:ext cx="2558186"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PROPERTY 4</a:t>
            </a:r>
            <a:endParaRPr lang="en-US" sz="850" dirty="0"/>
          </a:p>
        </p:txBody>
      </p:sp>
      <p:sp>
        <p:nvSpPr>
          <p:cNvPr id="27" name="Text 21"/>
          <p:cNvSpPr/>
          <p:nvPr/>
        </p:nvSpPr>
        <p:spPr>
          <a:xfrm>
            <a:off x="1298448" y="4233672"/>
            <a:ext cx="2558186" cy="322417"/>
          </a:xfrm>
          <a:prstGeom prst="rect">
            <a:avLst/>
          </a:prstGeom>
          <a:noFill/>
          <a:ln/>
        </p:spPr>
        <p:txBody>
          <a:bodyPr wrap="square" lIns="0" tIns="0" rIns="0" bIns="0" rtlCol="0" anchor="t"/>
          <a:lstStyle/>
          <a:p>
            <a:pPr marL="0" indent="0">
              <a:lnSpc>
                <a:spcPct val="105000"/>
              </a:lnSpc>
              <a:buNone/>
            </a:pPr>
            <a:r>
              <a:rPr lang="en-US" sz="1350" b="1" dirty="0">
                <a:solidFill>
                  <a:srgbClr val="141235"/>
                </a:solidFill>
                <a:latin typeface="Calibri" pitchFamily="34" charset="0"/>
                <a:ea typeface="Calibri" pitchFamily="34" charset="-122"/>
                <a:cs typeface="Calibri" pitchFamily="34" charset="-120"/>
              </a:rPr>
              <a:t>A feedback loop in seconds</a:t>
            </a:r>
            <a:endParaRPr lang="en-US" sz="1350" dirty="0"/>
          </a:p>
        </p:txBody>
      </p:sp>
      <p:sp>
        <p:nvSpPr>
          <p:cNvPr id="28" name="Text 22"/>
          <p:cNvSpPr/>
          <p:nvPr/>
        </p:nvSpPr>
        <p:spPr>
          <a:xfrm>
            <a:off x="1298448" y="4565233"/>
            <a:ext cx="2558186" cy="646847"/>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You find out immediately whether it worked. In most business processes the ground truth arrives days later, or never.</a:t>
            </a:r>
            <a:endParaRPr lang="en-US" sz="1100" dirty="0"/>
          </a:p>
        </p:txBody>
      </p:sp>
      <p:sp>
        <p:nvSpPr>
          <p:cNvPr id="29" name="Shape 23"/>
          <p:cNvSpPr/>
          <p:nvPr/>
        </p:nvSpPr>
        <p:spPr>
          <a:xfrm>
            <a:off x="4332122" y="3803904"/>
            <a:ext cx="3527450" cy="1591056"/>
          </a:xfrm>
          <a:prstGeom prst="roundRect">
            <a:avLst>
              <a:gd name="adj" fmla="val 5172"/>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30" name="Shape 24"/>
          <p:cNvSpPr/>
          <p:nvPr/>
        </p:nvSpPr>
        <p:spPr>
          <a:xfrm>
            <a:off x="4569866" y="4023360"/>
            <a:ext cx="365760" cy="365760"/>
          </a:xfrm>
          <a:prstGeom prst="ellipse">
            <a:avLst/>
          </a:prstGeom>
          <a:solidFill>
            <a:srgbClr val="0E9F6E"/>
          </a:solidFill>
          <a:ln w="12700">
            <a:solidFill>
              <a:srgbClr val="0E9F6E"/>
            </a:solidFill>
            <a:prstDash val="solid"/>
          </a:ln>
        </p:spPr>
        <p:txBody>
          <a:bodyPr/>
          <a:lstStyle/>
          <a:p>
            <a:endParaRPr lang="en-US"/>
          </a:p>
        </p:txBody>
      </p:sp>
      <p:pic>
        <p:nvPicPr>
          <p:cNvPr id="31" name="Image 4" descr="preencoded.png"/>
          <p:cNvPicPr>
            <a:picLocks noChangeAspect="1"/>
          </p:cNvPicPr>
          <p:nvPr/>
        </p:nvPicPr>
        <p:blipFill>
          <a:blip r:embed="rId7"/>
          <a:stretch>
            <a:fillRect/>
          </a:stretch>
        </p:blipFill>
        <p:spPr>
          <a:xfrm>
            <a:off x="4661306" y="4114800"/>
            <a:ext cx="182880" cy="182880"/>
          </a:xfrm>
          <a:prstGeom prst="rect">
            <a:avLst/>
          </a:prstGeom>
        </p:spPr>
      </p:pic>
      <p:sp>
        <p:nvSpPr>
          <p:cNvPr id="32" name="Text 25"/>
          <p:cNvSpPr/>
          <p:nvPr/>
        </p:nvSpPr>
        <p:spPr>
          <a:xfrm>
            <a:off x="5063642" y="4014216"/>
            <a:ext cx="2558186"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PROPERTY 5</a:t>
            </a:r>
            <a:endParaRPr lang="en-US" sz="850" dirty="0"/>
          </a:p>
        </p:txBody>
      </p:sp>
      <p:sp>
        <p:nvSpPr>
          <p:cNvPr id="33" name="Text 26"/>
          <p:cNvSpPr/>
          <p:nvPr/>
        </p:nvSpPr>
        <p:spPr>
          <a:xfrm>
            <a:off x="5063642" y="4233672"/>
            <a:ext cx="2558186" cy="322417"/>
          </a:xfrm>
          <a:prstGeom prst="rect">
            <a:avLst/>
          </a:prstGeom>
          <a:noFill/>
          <a:ln/>
        </p:spPr>
        <p:txBody>
          <a:bodyPr wrap="square" lIns="0" tIns="0" rIns="0" bIns="0" rtlCol="0" anchor="t"/>
          <a:lstStyle/>
          <a:p>
            <a:pPr marL="0" indent="0">
              <a:lnSpc>
                <a:spcPct val="105000"/>
              </a:lnSpc>
              <a:buNone/>
            </a:pPr>
            <a:r>
              <a:rPr lang="en-US" sz="1350" b="1" dirty="0">
                <a:solidFill>
                  <a:srgbClr val="141235"/>
                </a:solidFill>
                <a:latin typeface="Calibri" pitchFamily="34" charset="0"/>
                <a:ea typeface="Calibri" pitchFamily="34" charset="-122"/>
                <a:cs typeface="Calibri" pitchFamily="34" charset="-120"/>
              </a:rPr>
              <a:t>Unusually tolerant users</a:t>
            </a:r>
            <a:endParaRPr lang="en-US" sz="1350" dirty="0"/>
          </a:p>
        </p:txBody>
      </p:sp>
      <p:sp>
        <p:nvSpPr>
          <p:cNvPr id="34" name="Text 27"/>
          <p:cNvSpPr/>
          <p:nvPr/>
        </p:nvSpPr>
        <p:spPr>
          <a:xfrm>
            <a:off x="5063642" y="4565233"/>
            <a:ext cx="2558186" cy="646847"/>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Developers debug, retry and read the trace. They are the most forgiving early users any product has ever had.</a:t>
            </a:r>
            <a:endParaRPr lang="en-US" sz="1100" dirty="0"/>
          </a:p>
        </p:txBody>
      </p:sp>
      <p:sp>
        <p:nvSpPr>
          <p:cNvPr id="35" name="Shape 28"/>
          <p:cNvSpPr/>
          <p:nvPr/>
        </p:nvSpPr>
        <p:spPr>
          <a:xfrm>
            <a:off x="8097317" y="3803904"/>
            <a:ext cx="3527450" cy="1591056"/>
          </a:xfrm>
          <a:prstGeom prst="roundRect">
            <a:avLst>
              <a:gd name="adj" fmla="val 5172"/>
            </a:avLst>
          </a:prstGeom>
          <a:solidFill>
            <a:srgbClr val="FFF4E0"/>
          </a:solidFill>
          <a:ln w="12700">
            <a:solidFill>
              <a:srgbClr val="F3DCB0"/>
            </a:solidFill>
            <a:prstDash val="solid"/>
          </a:ln>
          <a:effectLst>
            <a:outerShdw blurRad="114300" dist="572" dir="5400000" algn="bl" rotWithShape="0">
              <a:srgbClr val="1B1A4A">
                <a:alpha val="7000"/>
              </a:srgbClr>
            </a:outerShdw>
          </a:effectLst>
        </p:spPr>
        <p:txBody>
          <a:bodyPr/>
          <a:lstStyle/>
          <a:p>
            <a:endParaRPr lang="en-US"/>
          </a:p>
        </p:txBody>
      </p:sp>
      <p:sp>
        <p:nvSpPr>
          <p:cNvPr id="36" name="Shape 29"/>
          <p:cNvSpPr/>
          <p:nvPr/>
        </p:nvSpPr>
        <p:spPr>
          <a:xfrm>
            <a:off x="8335061" y="4023360"/>
            <a:ext cx="365760" cy="365760"/>
          </a:xfrm>
          <a:prstGeom prst="ellipse">
            <a:avLst/>
          </a:prstGeom>
          <a:solidFill>
            <a:srgbClr val="F5A524"/>
          </a:solidFill>
          <a:ln w="12700">
            <a:solidFill>
              <a:srgbClr val="F5A524"/>
            </a:solidFill>
            <a:prstDash val="solid"/>
          </a:ln>
        </p:spPr>
        <p:txBody>
          <a:bodyPr/>
          <a:lstStyle/>
          <a:p>
            <a:endParaRPr lang="en-US"/>
          </a:p>
        </p:txBody>
      </p:sp>
      <p:pic>
        <p:nvPicPr>
          <p:cNvPr id="37" name="Image 5" descr="preencoded.png"/>
          <p:cNvPicPr>
            <a:picLocks noChangeAspect="1"/>
          </p:cNvPicPr>
          <p:nvPr/>
        </p:nvPicPr>
        <p:blipFill>
          <a:blip r:embed="rId8"/>
          <a:stretch>
            <a:fillRect/>
          </a:stretch>
        </p:blipFill>
        <p:spPr>
          <a:xfrm>
            <a:off x="8426501" y="4114800"/>
            <a:ext cx="182880" cy="182880"/>
          </a:xfrm>
          <a:prstGeom prst="rect">
            <a:avLst/>
          </a:prstGeom>
        </p:spPr>
      </p:pic>
      <p:sp>
        <p:nvSpPr>
          <p:cNvPr id="38" name="Text 30"/>
          <p:cNvSpPr/>
          <p:nvPr/>
        </p:nvSpPr>
        <p:spPr>
          <a:xfrm>
            <a:off x="8828837" y="4014216"/>
            <a:ext cx="2558186"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THE COROLLARY</a:t>
            </a:r>
            <a:endParaRPr lang="en-US" sz="850" dirty="0"/>
          </a:p>
        </p:txBody>
      </p:sp>
      <p:sp>
        <p:nvSpPr>
          <p:cNvPr id="39" name="Text 31"/>
          <p:cNvSpPr/>
          <p:nvPr/>
        </p:nvSpPr>
        <p:spPr>
          <a:xfrm>
            <a:off x="8828837" y="4233672"/>
            <a:ext cx="2558186" cy="589971"/>
          </a:xfrm>
          <a:prstGeom prst="rect">
            <a:avLst/>
          </a:prstGeom>
          <a:noFill/>
          <a:ln/>
        </p:spPr>
        <p:txBody>
          <a:bodyPr wrap="square" lIns="0" tIns="0" rIns="0" bIns="0" rtlCol="0" anchor="t"/>
          <a:lstStyle/>
          <a:p>
            <a:pPr marL="0" indent="0">
              <a:lnSpc>
                <a:spcPct val="105000"/>
              </a:lnSpc>
              <a:buNone/>
            </a:pPr>
            <a:r>
              <a:rPr lang="en-US" sz="1350" b="1" dirty="0">
                <a:solidFill>
                  <a:srgbClr val="141235"/>
                </a:solidFill>
                <a:latin typeface="Calibri" pitchFamily="34" charset="0"/>
                <a:ea typeface="Calibri" pitchFamily="34" charset="-122"/>
                <a:cs typeface="Calibri" pitchFamily="34" charset="-120"/>
              </a:rPr>
              <a:t>Score your own domain out of five</a:t>
            </a:r>
            <a:endParaRPr lang="en-US" sz="1350" dirty="0"/>
          </a:p>
        </p:txBody>
      </p:sp>
      <p:sp>
        <p:nvSpPr>
          <p:cNvPr id="40" name="Text 32"/>
          <p:cNvSpPr/>
          <p:nvPr/>
        </p:nvSpPr>
        <p:spPr>
          <a:xfrm>
            <a:off x="8828837" y="4832787"/>
            <a:ext cx="2558186" cy="379293"/>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Every property you are missing is real work you will have to build: an eval set, an undo path, a document pipeline, a review queue.</a:t>
            </a:r>
            <a:endParaRPr lang="en-US" sz="1100" dirty="0"/>
          </a:p>
        </p:txBody>
      </p:sp>
      <p:sp>
        <p:nvSpPr>
          <p:cNvPr id="41" name="Shape 33"/>
          <p:cNvSpPr/>
          <p:nvPr/>
        </p:nvSpPr>
        <p:spPr>
          <a:xfrm>
            <a:off x="566928" y="5541264"/>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42" name="Shape 34"/>
          <p:cNvSpPr/>
          <p:nvPr/>
        </p:nvSpPr>
        <p:spPr>
          <a:xfrm>
            <a:off x="841248" y="5760720"/>
            <a:ext cx="384048" cy="384048"/>
          </a:xfrm>
          <a:prstGeom prst="ellipse">
            <a:avLst/>
          </a:prstGeom>
          <a:solidFill>
            <a:srgbClr val="F5A524"/>
          </a:solidFill>
          <a:ln w="12700">
            <a:solidFill>
              <a:srgbClr val="F5A524"/>
            </a:solidFill>
            <a:prstDash val="solid"/>
          </a:ln>
        </p:spPr>
        <p:txBody>
          <a:bodyPr/>
          <a:lstStyle/>
          <a:p>
            <a:endParaRPr lang="en-US"/>
          </a:p>
        </p:txBody>
      </p:sp>
      <p:pic>
        <p:nvPicPr>
          <p:cNvPr id="43" name="Image 6" descr="preencoded.png"/>
          <p:cNvPicPr>
            <a:picLocks noChangeAspect="1"/>
          </p:cNvPicPr>
          <p:nvPr/>
        </p:nvPicPr>
        <p:blipFill>
          <a:blip r:embed="rId9"/>
          <a:stretch>
            <a:fillRect/>
          </a:stretch>
        </p:blipFill>
        <p:spPr>
          <a:xfrm>
            <a:off x="937260" y="5856732"/>
            <a:ext cx="192024" cy="192024"/>
          </a:xfrm>
          <a:prstGeom prst="rect">
            <a:avLst/>
          </a:prstGeom>
        </p:spPr>
      </p:pic>
      <p:sp>
        <p:nvSpPr>
          <p:cNvPr id="44" name="Text 35"/>
          <p:cNvSpPr/>
          <p:nvPr/>
        </p:nvSpPr>
        <p:spPr>
          <a:xfrm>
            <a:off x="1371600" y="5596128"/>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Coding agents are not proof that agents are ready everywhere. They are proof that agents work where you can check the answer instantly and undo it for free.</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ORIENTATION</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3000" b="1" dirty="0">
                <a:solidFill>
                  <a:srgbClr val="141235"/>
                </a:solidFill>
                <a:latin typeface="Cambria" pitchFamily="34" charset="0"/>
                <a:ea typeface="Cambria" pitchFamily="34" charset="-122"/>
                <a:cs typeface="Cambria" pitchFamily="34" charset="-120"/>
              </a:rPr>
              <a:t>Three ways to build one, and they fail differently</a:t>
            </a:r>
            <a:endParaRPr lang="en-US" sz="3000" dirty="0"/>
          </a:p>
        </p:txBody>
      </p:sp>
      <p:sp>
        <p:nvSpPr>
          <p:cNvPr id="4" name="Shape 2"/>
          <p:cNvSpPr/>
          <p:nvPr/>
        </p:nvSpPr>
        <p:spPr>
          <a:xfrm>
            <a:off x="566928" y="1810512"/>
            <a:ext cx="3527450" cy="3675888"/>
          </a:xfrm>
          <a:prstGeom prst="roundRect">
            <a:avLst>
              <a:gd name="adj" fmla="val 2592"/>
            </a:avLst>
          </a:prstGeom>
          <a:solidFill>
            <a:srgbClr val="FFFFFF"/>
          </a:solidFill>
          <a:ln w="17780">
            <a:solidFill>
              <a:srgbClr val="A9DCE3"/>
            </a:solidFill>
            <a:prstDash val="solid"/>
          </a:ln>
          <a:effectLst>
            <a:outerShdw blurRad="114300" dist="572" dir="5400000" algn="bl" rotWithShape="0">
              <a:srgbClr val="1B1A4A">
                <a:alpha val="7000"/>
              </a:srgbClr>
            </a:outerShdw>
          </a:effectLst>
        </p:spPr>
        <p:txBody>
          <a:bodyPr/>
          <a:lstStyle/>
          <a:p>
            <a:endParaRPr lang="en-US"/>
          </a:p>
        </p:txBody>
      </p:sp>
      <p:sp>
        <p:nvSpPr>
          <p:cNvPr id="5" name="Shape 3"/>
          <p:cNvSpPr/>
          <p:nvPr/>
        </p:nvSpPr>
        <p:spPr>
          <a:xfrm>
            <a:off x="804672" y="1975104"/>
            <a:ext cx="402336" cy="402336"/>
          </a:xfrm>
          <a:prstGeom prst="ellipse">
            <a:avLst/>
          </a:prstGeom>
          <a:solidFill>
            <a:srgbClr val="0E8C9E"/>
          </a:solidFill>
          <a:ln w="12700">
            <a:solidFill>
              <a:srgbClr val="0E8C9E"/>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905256" y="2075688"/>
            <a:ext cx="201168" cy="201168"/>
          </a:xfrm>
          <a:prstGeom prst="rect">
            <a:avLst/>
          </a:prstGeom>
        </p:spPr>
      </p:pic>
      <p:sp>
        <p:nvSpPr>
          <p:cNvPr id="7" name="Text 4"/>
          <p:cNvSpPr/>
          <p:nvPr/>
        </p:nvSpPr>
        <p:spPr>
          <a:xfrm>
            <a:off x="1335024" y="1975104"/>
            <a:ext cx="2521610" cy="274320"/>
          </a:xfrm>
          <a:prstGeom prst="rect">
            <a:avLst/>
          </a:prstGeom>
          <a:noFill/>
          <a:ln/>
        </p:spPr>
        <p:txBody>
          <a:bodyPr wrap="square" lIns="0" tIns="0" rIns="0" bIns="0" rtlCol="0" anchor="ctr"/>
          <a:lstStyle/>
          <a:p>
            <a:pPr marL="0" indent="0">
              <a:buNone/>
            </a:pPr>
            <a:r>
              <a:rPr lang="en-US" sz="1700" b="1" dirty="0">
                <a:solidFill>
                  <a:srgbClr val="141235"/>
                </a:solidFill>
                <a:latin typeface="Calibri" pitchFamily="34" charset="0"/>
                <a:ea typeface="Calibri" pitchFamily="34" charset="-122"/>
                <a:cs typeface="Calibri" pitchFamily="34" charset="-120"/>
              </a:rPr>
              <a:t>No-code</a:t>
            </a:r>
            <a:endParaRPr lang="en-US" sz="1700" dirty="0"/>
          </a:p>
        </p:txBody>
      </p:sp>
      <p:sp>
        <p:nvSpPr>
          <p:cNvPr id="8" name="Text 5"/>
          <p:cNvSpPr/>
          <p:nvPr/>
        </p:nvSpPr>
        <p:spPr>
          <a:xfrm>
            <a:off x="1335024" y="2249424"/>
            <a:ext cx="2567330" cy="237744"/>
          </a:xfrm>
          <a:prstGeom prst="rect">
            <a:avLst/>
          </a:prstGeom>
          <a:noFill/>
          <a:ln/>
        </p:spPr>
        <p:txBody>
          <a:bodyPr wrap="square" lIns="0" tIns="0" rIns="0" bIns="0" rtlCol="0" anchor="ctr"/>
          <a:lstStyle/>
          <a:p>
            <a:pPr marL="0" indent="0">
              <a:buNone/>
            </a:pPr>
            <a:r>
              <a:rPr lang="en-US" sz="1000" i="1" dirty="0">
                <a:solidFill>
                  <a:srgbClr val="0E8C9E"/>
                </a:solidFill>
                <a:latin typeface="Calibri" pitchFamily="34" charset="0"/>
                <a:ea typeface="Calibri" pitchFamily="34" charset="-122"/>
                <a:cs typeface="Calibri" pitchFamily="34" charset="-120"/>
              </a:rPr>
              <a:t>a visual builder, or a packaged agent product</a:t>
            </a:r>
            <a:endParaRPr lang="en-US" sz="1000" dirty="0"/>
          </a:p>
        </p:txBody>
      </p:sp>
      <p:sp>
        <p:nvSpPr>
          <p:cNvPr id="9" name="Shape 6"/>
          <p:cNvSpPr/>
          <p:nvPr/>
        </p:nvSpPr>
        <p:spPr>
          <a:xfrm>
            <a:off x="786384" y="2578608"/>
            <a:ext cx="3088538" cy="621792"/>
          </a:xfrm>
          <a:prstGeom prst="roundRect">
            <a:avLst>
              <a:gd name="adj" fmla="val 8824"/>
            </a:avLst>
          </a:prstGeom>
          <a:solidFill>
            <a:srgbClr val="E4F4F6"/>
          </a:solidFill>
          <a:ln w="12700">
            <a:solidFill>
              <a:srgbClr val="A9DCE3"/>
            </a:solidFill>
            <a:prstDash val="solid"/>
          </a:ln>
        </p:spPr>
        <p:txBody>
          <a:bodyPr/>
          <a:lstStyle/>
          <a:p>
            <a:endParaRPr lang="en-US"/>
          </a:p>
        </p:txBody>
      </p:sp>
      <p:sp>
        <p:nvSpPr>
          <p:cNvPr id="10" name="Text 7"/>
          <p:cNvSpPr/>
          <p:nvPr/>
        </p:nvSpPr>
        <p:spPr>
          <a:xfrm>
            <a:off x="841248" y="2615184"/>
            <a:ext cx="938073" cy="548640"/>
          </a:xfrm>
          <a:prstGeom prst="rect">
            <a:avLst/>
          </a:prstGeom>
          <a:noFill/>
          <a:ln/>
        </p:spPr>
        <p:txBody>
          <a:bodyPr wrap="square" lIns="0" tIns="0" rIns="0" bIns="0" rtlCol="0" anchor="ctr"/>
          <a:lstStyle/>
          <a:p>
            <a:pPr marL="0" indent="0" algn="ctr">
              <a:lnSpc>
                <a:spcPct val="102000"/>
              </a:lnSpc>
              <a:buNone/>
            </a:pPr>
            <a:r>
              <a:rPr lang="en-US" sz="700" b="1" kern="0" spc="80" dirty="0">
                <a:solidFill>
                  <a:srgbClr val="9B98B4"/>
                </a:solidFill>
                <a:latin typeface="Calibri" pitchFamily="34" charset="0"/>
                <a:ea typeface="Calibri" pitchFamily="34" charset="-122"/>
                <a:cs typeface="Calibri" pitchFamily="34" charset="-120"/>
              </a:rPr>
              <a:t>WHO</a:t>
            </a:r>
            <a:endParaRPr lang="en-US" sz="700" dirty="0"/>
          </a:p>
          <a:p>
            <a:pPr marL="0" indent="0" algn="ctr">
              <a:lnSpc>
                <a:spcPct val="102000"/>
              </a:lnSpc>
              <a:buNone/>
            </a:pPr>
            <a:r>
              <a:rPr lang="en-US" sz="900" b="1" dirty="0">
                <a:solidFill>
                  <a:srgbClr val="3B3760"/>
                </a:solidFill>
                <a:latin typeface="Calibri" pitchFamily="34" charset="0"/>
                <a:ea typeface="Calibri" pitchFamily="34" charset="-122"/>
                <a:cs typeface="Calibri" pitchFamily="34" charset="-120"/>
              </a:rPr>
              <a:t>Business and ops teams</a:t>
            </a:r>
            <a:endParaRPr lang="en-US" sz="700" dirty="0"/>
          </a:p>
        </p:txBody>
      </p:sp>
      <p:sp>
        <p:nvSpPr>
          <p:cNvPr id="11" name="Text 8"/>
          <p:cNvSpPr/>
          <p:nvPr/>
        </p:nvSpPr>
        <p:spPr>
          <a:xfrm>
            <a:off x="1870761" y="2615184"/>
            <a:ext cx="938073" cy="548640"/>
          </a:xfrm>
          <a:prstGeom prst="rect">
            <a:avLst/>
          </a:prstGeom>
          <a:noFill/>
          <a:ln/>
        </p:spPr>
        <p:txBody>
          <a:bodyPr wrap="square" lIns="0" tIns="0" rIns="0" bIns="0" rtlCol="0" anchor="ctr"/>
          <a:lstStyle/>
          <a:p>
            <a:pPr marL="0" indent="0" algn="ctr">
              <a:lnSpc>
                <a:spcPct val="102000"/>
              </a:lnSpc>
              <a:buNone/>
            </a:pPr>
            <a:r>
              <a:rPr lang="en-US" sz="700" b="1" kern="0" spc="80" dirty="0">
                <a:solidFill>
                  <a:srgbClr val="9B98B4"/>
                </a:solidFill>
                <a:latin typeface="Calibri" pitchFamily="34" charset="0"/>
                <a:ea typeface="Calibri" pitchFamily="34" charset="-122"/>
                <a:cs typeface="Calibri" pitchFamily="34" charset="-120"/>
              </a:rPr>
              <a:t>FIRST AGENT</a:t>
            </a:r>
            <a:endParaRPr lang="en-US" sz="700" dirty="0"/>
          </a:p>
          <a:p>
            <a:pPr marL="0" indent="0" algn="ctr">
              <a:lnSpc>
                <a:spcPct val="102000"/>
              </a:lnSpc>
              <a:buNone/>
            </a:pPr>
            <a:r>
              <a:rPr lang="en-US" sz="900" b="1" dirty="0">
                <a:solidFill>
                  <a:srgbClr val="3B3760"/>
                </a:solidFill>
                <a:latin typeface="Calibri" pitchFamily="34" charset="0"/>
                <a:ea typeface="Calibri" pitchFamily="34" charset="-122"/>
                <a:cs typeface="Calibri" pitchFamily="34" charset="-120"/>
              </a:rPr>
              <a:t>Hours</a:t>
            </a:r>
            <a:endParaRPr lang="en-US" sz="700" dirty="0"/>
          </a:p>
        </p:txBody>
      </p:sp>
      <p:sp>
        <p:nvSpPr>
          <p:cNvPr id="12" name="Text 9"/>
          <p:cNvSpPr/>
          <p:nvPr/>
        </p:nvSpPr>
        <p:spPr>
          <a:xfrm>
            <a:off x="2900274" y="2615184"/>
            <a:ext cx="938073" cy="548640"/>
          </a:xfrm>
          <a:prstGeom prst="rect">
            <a:avLst/>
          </a:prstGeom>
          <a:noFill/>
          <a:ln/>
        </p:spPr>
        <p:txBody>
          <a:bodyPr wrap="square" lIns="0" tIns="0" rIns="0" bIns="0" rtlCol="0" anchor="ctr"/>
          <a:lstStyle/>
          <a:p>
            <a:pPr marL="0" indent="0" algn="ctr">
              <a:lnSpc>
                <a:spcPct val="102000"/>
              </a:lnSpc>
              <a:buNone/>
            </a:pPr>
            <a:r>
              <a:rPr lang="en-US" sz="700" b="1" kern="0" spc="80" dirty="0">
                <a:solidFill>
                  <a:srgbClr val="9B98B4"/>
                </a:solidFill>
                <a:latin typeface="Calibri" pitchFamily="34" charset="0"/>
                <a:ea typeface="Calibri" pitchFamily="34" charset="-122"/>
                <a:cs typeface="Calibri" pitchFamily="34" charset="-120"/>
              </a:rPr>
              <a:t>YOU CONTROL</a:t>
            </a:r>
            <a:endParaRPr lang="en-US" sz="700" dirty="0"/>
          </a:p>
          <a:p>
            <a:pPr marL="0" indent="0" algn="ctr">
              <a:lnSpc>
                <a:spcPct val="102000"/>
              </a:lnSpc>
              <a:buNone/>
            </a:pPr>
            <a:r>
              <a:rPr lang="en-US" sz="900" b="1" dirty="0">
                <a:solidFill>
                  <a:srgbClr val="3B3760"/>
                </a:solidFill>
                <a:latin typeface="Calibri" pitchFamily="34" charset="0"/>
                <a:ea typeface="Calibri" pitchFamily="34" charset="-122"/>
                <a:cs typeface="Calibri" pitchFamily="34" charset="-120"/>
              </a:rPr>
              <a:t>Configuration only</a:t>
            </a:r>
            <a:endParaRPr lang="en-US" sz="700" dirty="0"/>
          </a:p>
        </p:txBody>
      </p:sp>
      <p:sp>
        <p:nvSpPr>
          <p:cNvPr id="13" name="Text 10"/>
          <p:cNvSpPr/>
          <p:nvPr/>
        </p:nvSpPr>
        <p:spPr>
          <a:xfrm>
            <a:off x="804672" y="3310128"/>
            <a:ext cx="3051962" cy="201168"/>
          </a:xfrm>
          <a:prstGeom prst="rect">
            <a:avLst/>
          </a:prstGeom>
          <a:noFill/>
          <a:ln/>
        </p:spPr>
        <p:txBody>
          <a:bodyPr wrap="square" lIns="0" tIns="0" rIns="0" bIns="0" rtlCol="0" anchor="ctr"/>
          <a:lstStyle/>
          <a:p>
            <a:pPr marL="0" indent="0">
              <a:buNone/>
            </a:pPr>
            <a:r>
              <a:rPr lang="en-US" sz="850" b="1" kern="0" spc="130" dirty="0">
                <a:solidFill>
                  <a:srgbClr val="0E9F6E"/>
                </a:solidFill>
                <a:latin typeface="Calibri" pitchFamily="34" charset="0"/>
                <a:ea typeface="Calibri" pitchFamily="34" charset="-122"/>
                <a:cs typeface="Calibri" pitchFamily="34" charset="-120"/>
              </a:rPr>
              <a:t>GOOD FOR</a:t>
            </a:r>
            <a:endParaRPr lang="en-US" sz="850" dirty="0"/>
          </a:p>
        </p:txBody>
      </p:sp>
      <p:sp>
        <p:nvSpPr>
          <p:cNvPr id="14" name="Text 11"/>
          <p:cNvSpPr/>
          <p:nvPr/>
        </p:nvSpPr>
        <p:spPr>
          <a:xfrm>
            <a:off x="804672" y="3502152"/>
            <a:ext cx="3051962" cy="566928"/>
          </a:xfrm>
          <a:prstGeom prst="rect">
            <a:avLst/>
          </a:prstGeom>
          <a:noFill/>
          <a:ln/>
        </p:spPr>
        <p:txBody>
          <a:bodyPr wrap="square" lIns="0" tIns="0" rIns="0" bIns="0" rtlCol="0" anchor="t"/>
          <a:lstStyle/>
          <a:p>
            <a:pPr marL="0" indent="0">
              <a:lnSpc>
                <a:spcPct val="110000"/>
              </a:lnSpc>
              <a:buNone/>
            </a:pPr>
            <a:r>
              <a:rPr lang="en-US" sz="1050" dirty="0">
                <a:solidFill>
                  <a:srgbClr val="6E6B8A"/>
                </a:solidFill>
                <a:latin typeface="Calibri" pitchFamily="34" charset="0"/>
                <a:ea typeface="Calibri" pitchFamily="34" charset="-122"/>
                <a:cs typeface="Calibri" pitchFamily="34" charset="-120"/>
              </a:rPr>
              <a:t>Departmental, repetitive, low stakes. Genuinely the right answer when the process is small and the blast radius is tiny.</a:t>
            </a:r>
            <a:endParaRPr lang="en-US" sz="1050" dirty="0"/>
          </a:p>
        </p:txBody>
      </p:sp>
      <p:sp>
        <p:nvSpPr>
          <p:cNvPr id="15" name="Text 12"/>
          <p:cNvSpPr/>
          <p:nvPr/>
        </p:nvSpPr>
        <p:spPr>
          <a:xfrm>
            <a:off x="804672" y="4041648"/>
            <a:ext cx="3051962" cy="201168"/>
          </a:xfrm>
          <a:prstGeom prst="rect">
            <a:avLst/>
          </a:prstGeom>
          <a:noFill/>
          <a:ln/>
        </p:spPr>
        <p:txBody>
          <a:bodyPr wrap="square" lIns="0" tIns="0" rIns="0" bIns="0" rtlCol="0" anchor="ctr"/>
          <a:lstStyle/>
          <a:p>
            <a:pPr marL="0" indent="0">
              <a:buNone/>
            </a:pPr>
            <a:r>
              <a:rPr lang="en-US" sz="850" b="1" kern="0" spc="130" dirty="0">
                <a:solidFill>
                  <a:srgbClr val="D93A3F"/>
                </a:solidFill>
                <a:latin typeface="Calibri" pitchFamily="34" charset="0"/>
                <a:ea typeface="Calibri" pitchFamily="34" charset="-122"/>
                <a:cs typeface="Calibri" pitchFamily="34" charset="-120"/>
              </a:rPr>
              <a:t>WHERE IT BREAKS</a:t>
            </a:r>
            <a:endParaRPr lang="en-US" sz="850" dirty="0"/>
          </a:p>
        </p:txBody>
      </p:sp>
      <p:sp>
        <p:nvSpPr>
          <p:cNvPr id="16" name="Text 13"/>
          <p:cNvSpPr/>
          <p:nvPr/>
        </p:nvSpPr>
        <p:spPr>
          <a:xfrm>
            <a:off x="804672" y="4233672"/>
            <a:ext cx="3051962" cy="566928"/>
          </a:xfrm>
          <a:prstGeom prst="rect">
            <a:avLst/>
          </a:prstGeom>
          <a:noFill/>
          <a:ln/>
        </p:spPr>
        <p:txBody>
          <a:bodyPr wrap="square" lIns="0" tIns="0" rIns="0" bIns="0" rtlCol="0" anchor="t"/>
          <a:lstStyle/>
          <a:p>
            <a:pPr marL="0" indent="0">
              <a:lnSpc>
                <a:spcPct val="110000"/>
              </a:lnSpc>
              <a:buNone/>
            </a:pPr>
            <a:r>
              <a:rPr lang="en-US" sz="1050" dirty="0">
                <a:solidFill>
                  <a:srgbClr val="6E6B8A"/>
                </a:solidFill>
                <a:latin typeface="Calibri" pitchFamily="34" charset="0"/>
                <a:ea typeface="Calibri" pitchFamily="34" charset="-122"/>
                <a:cs typeface="Calibri" pitchFamily="34" charset="-120"/>
              </a:rPr>
              <a:t>Anything the vendor did not anticipate. Testing, versioning and rollback are usually weak or absent.</a:t>
            </a:r>
            <a:endParaRPr lang="en-US" sz="1050" dirty="0"/>
          </a:p>
        </p:txBody>
      </p:sp>
      <p:sp>
        <p:nvSpPr>
          <p:cNvPr id="17" name="Text 14"/>
          <p:cNvSpPr/>
          <p:nvPr/>
        </p:nvSpPr>
        <p:spPr>
          <a:xfrm>
            <a:off x="804672" y="4773168"/>
            <a:ext cx="3051962" cy="201168"/>
          </a:xfrm>
          <a:prstGeom prst="rect">
            <a:avLst/>
          </a:prstGeom>
          <a:noFill/>
          <a:ln/>
        </p:spPr>
        <p:txBody>
          <a:bodyPr wrap="square" lIns="0" tIns="0" rIns="0" bIns="0" rtlCol="0" anchor="ctr"/>
          <a:lstStyle/>
          <a:p>
            <a:pPr marL="0" indent="0">
              <a:buNone/>
            </a:pPr>
            <a:r>
              <a:rPr lang="en-US" sz="850" b="1" kern="0" spc="130" dirty="0">
                <a:solidFill>
                  <a:srgbClr val="E08700"/>
                </a:solidFill>
                <a:latin typeface="Calibri" pitchFamily="34" charset="0"/>
                <a:ea typeface="Calibri" pitchFamily="34" charset="-122"/>
                <a:cs typeface="Calibri" pitchFamily="34" charset="-120"/>
              </a:rPr>
              <a:t>THE HONEST RISK</a:t>
            </a:r>
            <a:endParaRPr lang="en-US" sz="850" dirty="0"/>
          </a:p>
        </p:txBody>
      </p:sp>
      <p:sp>
        <p:nvSpPr>
          <p:cNvPr id="18" name="Text 15"/>
          <p:cNvSpPr/>
          <p:nvPr/>
        </p:nvSpPr>
        <p:spPr>
          <a:xfrm>
            <a:off x="804672" y="4965192"/>
            <a:ext cx="3051962" cy="566928"/>
          </a:xfrm>
          <a:prstGeom prst="rect">
            <a:avLst/>
          </a:prstGeom>
          <a:noFill/>
          <a:ln/>
        </p:spPr>
        <p:txBody>
          <a:bodyPr wrap="square" lIns="0" tIns="0" rIns="0" bIns="0" rtlCol="0" anchor="t"/>
          <a:lstStyle/>
          <a:p>
            <a:pPr marL="0" indent="0">
              <a:lnSpc>
                <a:spcPct val="110000"/>
              </a:lnSpc>
              <a:buNone/>
            </a:pPr>
            <a:r>
              <a:rPr lang="en-US" sz="1050" dirty="0">
                <a:solidFill>
                  <a:srgbClr val="6E6B8A"/>
                </a:solidFill>
                <a:latin typeface="Calibri" pitchFamily="34" charset="0"/>
                <a:ea typeface="Calibri" pitchFamily="34" charset="-122"/>
                <a:cs typeface="Calibri" pitchFamily="34" charset="-120"/>
              </a:rPr>
              <a:t>This is where ungoverned agents appear, because they never pass through your software delivery process.</a:t>
            </a:r>
            <a:endParaRPr lang="en-US" sz="1050" dirty="0"/>
          </a:p>
        </p:txBody>
      </p:sp>
      <p:sp>
        <p:nvSpPr>
          <p:cNvPr id="19" name="Shape 16"/>
          <p:cNvSpPr/>
          <p:nvPr/>
        </p:nvSpPr>
        <p:spPr>
          <a:xfrm>
            <a:off x="4332122" y="1810512"/>
            <a:ext cx="3527450" cy="3675888"/>
          </a:xfrm>
          <a:prstGeom prst="roundRect">
            <a:avLst>
              <a:gd name="adj" fmla="val 2592"/>
            </a:avLst>
          </a:prstGeom>
          <a:solidFill>
            <a:srgbClr val="FFFFFF"/>
          </a:solidFill>
          <a:ln w="17780">
            <a:solidFill>
              <a:srgbClr val="8E82F5"/>
            </a:solidFill>
            <a:prstDash val="solid"/>
          </a:ln>
          <a:effectLst>
            <a:outerShdw blurRad="114300" dist="572" dir="5400000" algn="bl" rotWithShape="0">
              <a:srgbClr val="1B1A4A">
                <a:alpha val="7000"/>
              </a:srgbClr>
            </a:outerShdw>
          </a:effectLst>
        </p:spPr>
        <p:txBody>
          <a:bodyPr/>
          <a:lstStyle/>
          <a:p>
            <a:endParaRPr lang="en-US"/>
          </a:p>
        </p:txBody>
      </p:sp>
      <p:sp>
        <p:nvSpPr>
          <p:cNvPr id="20" name="Shape 17"/>
          <p:cNvSpPr/>
          <p:nvPr/>
        </p:nvSpPr>
        <p:spPr>
          <a:xfrm>
            <a:off x="4569866" y="1975104"/>
            <a:ext cx="402336" cy="402336"/>
          </a:xfrm>
          <a:prstGeom prst="ellipse">
            <a:avLst/>
          </a:prstGeom>
          <a:solidFill>
            <a:srgbClr val="5B4BE8"/>
          </a:solidFill>
          <a:ln w="12700">
            <a:solidFill>
              <a:srgbClr val="5B4BE8"/>
            </a:solidFill>
            <a:prstDash val="solid"/>
          </a:ln>
        </p:spPr>
        <p:txBody>
          <a:bodyPr/>
          <a:lstStyle/>
          <a:p>
            <a:endParaRPr lang="en-US"/>
          </a:p>
        </p:txBody>
      </p:sp>
      <p:pic>
        <p:nvPicPr>
          <p:cNvPr id="21" name="Image 1" descr="preencoded.png"/>
          <p:cNvPicPr>
            <a:picLocks noChangeAspect="1"/>
          </p:cNvPicPr>
          <p:nvPr/>
        </p:nvPicPr>
        <p:blipFill>
          <a:blip r:embed="rId4"/>
          <a:stretch>
            <a:fillRect/>
          </a:stretch>
        </p:blipFill>
        <p:spPr>
          <a:xfrm>
            <a:off x="4670450" y="2075688"/>
            <a:ext cx="201168" cy="201168"/>
          </a:xfrm>
          <a:prstGeom prst="rect">
            <a:avLst/>
          </a:prstGeom>
        </p:spPr>
      </p:pic>
      <p:sp>
        <p:nvSpPr>
          <p:cNvPr id="22" name="Text 18"/>
          <p:cNvSpPr/>
          <p:nvPr/>
        </p:nvSpPr>
        <p:spPr>
          <a:xfrm>
            <a:off x="5100218" y="1975104"/>
            <a:ext cx="2521610" cy="274320"/>
          </a:xfrm>
          <a:prstGeom prst="rect">
            <a:avLst/>
          </a:prstGeom>
          <a:noFill/>
          <a:ln/>
        </p:spPr>
        <p:txBody>
          <a:bodyPr wrap="square" lIns="0" tIns="0" rIns="0" bIns="0" rtlCol="0" anchor="ctr"/>
          <a:lstStyle/>
          <a:p>
            <a:pPr marL="0" indent="0">
              <a:buNone/>
            </a:pPr>
            <a:r>
              <a:rPr lang="en-US" sz="1700" b="1" dirty="0">
                <a:solidFill>
                  <a:srgbClr val="141235"/>
                </a:solidFill>
                <a:latin typeface="Calibri" pitchFamily="34" charset="0"/>
                <a:ea typeface="Calibri" pitchFamily="34" charset="-122"/>
                <a:cs typeface="Calibri" pitchFamily="34" charset="-120"/>
              </a:rPr>
              <a:t>Low-code</a:t>
            </a:r>
            <a:endParaRPr lang="en-US" sz="1700" dirty="0"/>
          </a:p>
        </p:txBody>
      </p:sp>
      <p:sp>
        <p:nvSpPr>
          <p:cNvPr id="23" name="Text 19"/>
          <p:cNvSpPr/>
          <p:nvPr/>
        </p:nvSpPr>
        <p:spPr>
          <a:xfrm>
            <a:off x="5100218" y="2249424"/>
            <a:ext cx="2567330" cy="237744"/>
          </a:xfrm>
          <a:prstGeom prst="rect">
            <a:avLst/>
          </a:prstGeom>
          <a:noFill/>
          <a:ln/>
        </p:spPr>
        <p:txBody>
          <a:bodyPr wrap="square" lIns="0" tIns="0" rIns="0" bIns="0" rtlCol="0" anchor="ctr"/>
          <a:lstStyle/>
          <a:p>
            <a:pPr marL="0" indent="0">
              <a:buNone/>
            </a:pPr>
            <a:r>
              <a:rPr lang="en-US" sz="1000" i="1" dirty="0">
                <a:solidFill>
                  <a:srgbClr val="5B4BE8"/>
                </a:solidFill>
                <a:latin typeface="Calibri" pitchFamily="34" charset="0"/>
                <a:ea typeface="Calibri" pitchFamily="34" charset="-122"/>
                <a:cs typeface="Calibri" pitchFamily="34" charset="-120"/>
              </a:rPr>
              <a:t>a framework — tiers 1 to 3 of module 09</a:t>
            </a:r>
            <a:endParaRPr lang="en-US" sz="1000" dirty="0"/>
          </a:p>
        </p:txBody>
      </p:sp>
      <p:sp>
        <p:nvSpPr>
          <p:cNvPr id="24" name="Shape 20"/>
          <p:cNvSpPr/>
          <p:nvPr/>
        </p:nvSpPr>
        <p:spPr>
          <a:xfrm>
            <a:off x="4551578" y="2578608"/>
            <a:ext cx="3088538" cy="621792"/>
          </a:xfrm>
          <a:prstGeom prst="roundRect">
            <a:avLst>
              <a:gd name="adj" fmla="val 8824"/>
            </a:avLst>
          </a:prstGeom>
          <a:solidFill>
            <a:srgbClr val="EEEDFE"/>
          </a:solidFill>
          <a:ln w="12700">
            <a:solidFill>
              <a:srgbClr val="8E82F5"/>
            </a:solidFill>
            <a:prstDash val="solid"/>
          </a:ln>
        </p:spPr>
        <p:txBody>
          <a:bodyPr/>
          <a:lstStyle/>
          <a:p>
            <a:endParaRPr lang="en-US"/>
          </a:p>
        </p:txBody>
      </p:sp>
      <p:sp>
        <p:nvSpPr>
          <p:cNvPr id="25" name="Text 21"/>
          <p:cNvSpPr/>
          <p:nvPr/>
        </p:nvSpPr>
        <p:spPr>
          <a:xfrm>
            <a:off x="4606442" y="2615184"/>
            <a:ext cx="938073" cy="548640"/>
          </a:xfrm>
          <a:prstGeom prst="rect">
            <a:avLst/>
          </a:prstGeom>
          <a:noFill/>
          <a:ln/>
        </p:spPr>
        <p:txBody>
          <a:bodyPr wrap="square" lIns="0" tIns="0" rIns="0" bIns="0" rtlCol="0" anchor="ctr"/>
          <a:lstStyle/>
          <a:p>
            <a:pPr marL="0" indent="0" algn="ctr">
              <a:lnSpc>
                <a:spcPct val="102000"/>
              </a:lnSpc>
              <a:buNone/>
            </a:pPr>
            <a:r>
              <a:rPr lang="en-US" sz="700" b="1" kern="0" spc="80" dirty="0">
                <a:solidFill>
                  <a:srgbClr val="9B98B4"/>
                </a:solidFill>
                <a:latin typeface="Calibri" pitchFamily="34" charset="0"/>
                <a:ea typeface="Calibri" pitchFamily="34" charset="-122"/>
                <a:cs typeface="Calibri" pitchFamily="34" charset="-120"/>
              </a:rPr>
              <a:t>WHO</a:t>
            </a:r>
            <a:endParaRPr lang="en-US" sz="700" dirty="0"/>
          </a:p>
          <a:p>
            <a:pPr marL="0" indent="0" algn="ctr">
              <a:lnSpc>
                <a:spcPct val="102000"/>
              </a:lnSpc>
              <a:buNone/>
            </a:pPr>
            <a:r>
              <a:rPr lang="en-US" sz="900" b="1" dirty="0">
                <a:solidFill>
                  <a:srgbClr val="3B3760"/>
                </a:solidFill>
                <a:latin typeface="Calibri" pitchFamily="34" charset="0"/>
                <a:ea typeface="Calibri" pitchFamily="34" charset="-122"/>
                <a:cs typeface="Calibri" pitchFamily="34" charset="-120"/>
              </a:rPr>
              <a:t>Developers</a:t>
            </a:r>
            <a:endParaRPr lang="en-US" sz="700" dirty="0"/>
          </a:p>
        </p:txBody>
      </p:sp>
      <p:sp>
        <p:nvSpPr>
          <p:cNvPr id="26" name="Text 22"/>
          <p:cNvSpPr/>
          <p:nvPr/>
        </p:nvSpPr>
        <p:spPr>
          <a:xfrm>
            <a:off x="5635955" y="2615184"/>
            <a:ext cx="938073" cy="548640"/>
          </a:xfrm>
          <a:prstGeom prst="rect">
            <a:avLst/>
          </a:prstGeom>
          <a:noFill/>
          <a:ln/>
        </p:spPr>
        <p:txBody>
          <a:bodyPr wrap="square" lIns="0" tIns="0" rIns="0" bIns="0" rtlCol="0" anchor="ctr"/>
          <a:lstStyle/>
          <a:p>
            <a:pPr marL="0" indent="0" algn="ctr">
              <a:lnSpc>
                <a:spcPct val="102000"/>
              </a:lnSpc>
              <a:buNone/>
            </a:pPr>
            <a:r>
              <a:rPr lang="en-US" sz="700" b="1" kern="0" spc="80" dirty="0">
                <a:solidFill>
                  <a:srgbClr val="9B98B4"/>
                </a:solidFill>
                <a:latin typeface="Calibri" pitchFamily="34" charset="0"/>
                <a:ea typeface="Calibri" pitchFamily="34" charset="-122"/>
                <a:cs typeface="Calibri" pitchFamily="34" charset="-120"/>
              </a:rPr>
              <a:t>FIRST AGENT</a:t>
            </a:r>
            <a:endParaRPr lang="en-US" sz="700" dirty="0"/>
          </a:p>
          <a:p>
            <a:pPr marL="0" indent="0" algn="ctr">
              <a:lnSpc>
                <a:spcPct val="102000"/>
              </a:lnSpc>
              <a:buNone/>
            </a:pPr>
            <a:r>
              <a:rPr lang="en-US" sz="900" b="1" dirty="0">
                <a:solidFill>
                  <a:srgbClr val="3B3760"/>
                </a:solidFill>
                <a:latin typeface="Calibri" pitchFamily="34" charset="0"/>
                <a:ea typeface="Calibri" pitchFamily="34" charset="-122"/>
                <a:cs typeface="Calibri" pitchFamily="34" charset="-120"/>
              </a:rPr>
              <a:t>Days</a:t>
            </a:r>
            <a:endParaRPr lang="en-US" sz="700" dirty="0"/>
          </a:p>
        </p:txBody>
      </p:sp>
      <p:sp>
        <p:nvSpPr>
          <p:cNvPr id="27" name="Text 23"/>
          <p:cNvSpPr/>
          <p:nvPr/>
        </p:nvSpPr>
        <p:spPr>
          <a:xfrm>
            <a:off x="6665468" y="2615184"/>
            <a:ext cx="938073" cy="548640"/>
          </a:xfrm>
          <a:prstGeom prst="rect">
            <a:avLst/>
          </a:prstGeom>
          <a:noFill/>
          <a:ln/>
        </p:spPr>
        <p:txBody>
          <a:bodyPr wrap="square" lIns="0" tIns="0" rIns="0" bIns="0" rtlCol="0" anchor="ctr"/>
          <a:lstStyle/>
          <a:p>
            <a:pPr marL="0" indent="0" algn="ctr">
              <a:lnSpc>
                <a:spcPct val="102000"/>
              </a:lnSpc>
              <a:buNone/>
            </a:pPr>
            <a:r>
              <a:rPr lang="en-US" sz="700" b="1" kern="0" spc="80" dirty="0">
                <a:solidFill>
                  <a:srgbClr val="9B98B4"/>
                </a:solidFill>
                <a:latin typeface="Calibri" pitchFamily="34" charset="0"/>
                <a:ea typeface="Calibri" pitchFamily="34" charset="-122"/>
                <a:cs typeface="Calibri" pitchFamily="34" charset="-120"/>
              </a:rPr>
              <a:t>YOU CONTROL</a:t>
            </a:r>
            <a:endParaRPr lang="en-US" sz="700" dirty="0"/>
          </a:p>
          <a:p>
            <a:pPr marL="0" indent="0" algn="ctr">
              <a:lnSpc>
                <a:spcPct val="102000"/>
              </a:lnSpc>
              <a:buNone/>
            </a:pPr>
            <a:r>
              <a:rPr lang="en-US" sz="900" b="1" dirty="0">
                <a:solidFill>
                  <a:srgbClr val="3B3760"/>
                </a:solidFill>
                <a:latin typeface="Calibri" pitchFamily="34" charset="0"/>
                <a:ea typeface="Calibri" pitchFamily="34" charset="-122"/>
                <a:cs typeface="Calibri" pitchFamily="34" charset="-120"/>
              </a:rPr>
              <a:t>The loop’s shape</a:t>
            </a:r>
            <a:endParaRPr lang="en-US" sz="700" dirty="0"/>
          </a:p>
        </p:txBody>
      </p:sp>
      <p:sp>
        <p:nvSpPr>
          <p:cNvPr id="28" name="Text 24"/>
          <p:cNvSpPr/>
          <p:nvPr/>
        </p:nvSpPr>
        <p:spPr>
          <a:xfrm>
            <a:off x="4569866" y="3310128"/>
            <a:ext cx="3051962" cy="201168"/>
          </a:xfrm>
          <a:prstGeom prst="rect">
            <a:avLst/>
          </a:prstGeom>
          <a:noFill/>
          <a:ln/>
        </p:spPr>
        <p:txBody>
          <a:bodyPr wrap="square" lIns="0" tIns="0" rIns="0" bIns="0" rtlCol="0" anchor="ctr"/>
          <a:lstStyle/>
          <a:p>
            <a:pPr marL="0" indent="0">
              <a:buNone/>
            </a:pPr>
            <a:r>
              <a:rPr lang="en-US" sz="850" b="1" kern="0" spc="130" dirty="0">
                <a:solidFill>
                  <a:srgbClr val="0E9F6E"/>
                </a:solidFill>
                <a:latin typeface="Calibri" pitchFamily="34" charset="0"/>
                <a:ea typeface="Calibri" pitchFamily="34" charset="-122"/>
                <a:cs typeface="Calibri" pitchFamily="34" charset="-120"/>
              </a:rPr>
              <a:t>GOOD FOR</a:t>
            </a:r>
            <a:endParaRPr lang="en-US" sz="850" dirty="0"/>
          </a:p>
        </p:txBody>
      </p:sp>
      <p:sp>
        <p:nvSpPr>
          <p:cNvPr id="29" name="Text 25"/>
          <p:cNvSpPr/>
          <p:nvPr/>
        </p:nvSpPr>
        <p:spPr>
          <a:xfrm>
            <a:off x="4569866" y="3502152"/>
            <a:ext cx="3051962" cy="566928"/>
          </a:xfrm>
          <a:prstGeom prst="rect">
            <a:avLst/>
          </a:prstGeom>
          <a:noFill/>
          <a:ln/>
        </p:spPr>
        <p:txBody>
          <a:bodyPr wrap="square" lIns="0" tIns="0" rIns="0" bIns="0" rtlCol="0" anchor="t"/>
          <a:lstStyle/>
          <a:p>
            <a:pPr marL="0" indent="0">
              <a:lnSpc>
                <a:spcPct val="110000"/>
              </a:lnSpc>
              <a:buNone/>
            </a:pPr>
            <a:r>
              <a:rPr lang="en-US" sz="1050" dirty="0">
                <a:solidFill>
                  <a:srgbClr val="6E6B8A"/>
                </a:solidFill>
                <a:latin typeface="Calibri" pitchFamily="34" charset="0"/>
                <a:ea typeface="Calibri" pitchFamily="34" charset="-122"/>
                <a:cs typeface="Calibri" pitchFamily="34" charset="-120"/>
              </a:rPr>
              <a:t>Most production work. You get checkpointing, resumability, tracing and human-in-the-loop pauses without writing them.</a:t>
            </a:r>
            <a:endParaRPr lang="en-US" sz="1050" dirty="0"/>
          </a:p>
        </p:txBody>
      </p:sp>
      <p:sp>
        <p:nvSpPr>
          <p:cNvPr id="30" name="Text 26"/>
          <p:cNvSpPr/>
          <p:nvPr/>
        </p:nvSpPr>
        <p:spPr>
          <a:xfrm>
            <a:off x="4569866" y="4041648"/>
            <a:ext cx="3051962" cy="201168"/>
          </a:xfrm>
          <a:prstGeom prst="rect">
            <a:avLst/>
          </a:prstGeom>
          <a:noFill/>
          <a:ln/>
        </p:spPr>
        <p:txBody>
          <a:bodyPr wrap="square" lIns="0" tIns="0" rIns="0" bIns="0" rtlCol="0" anchor="ctr"/>
          <a:lstStyle/>
          <a:p>
            <a:pPr marL="0" indent="0">
              <a:buNone/>
            </a:pPr>
            <a:r>
              <a:rPr lang="en-US" sz="850" b="1" kern="0" spc="130" dirty="0">
                <a:solidFill>
                  <a:srgbClr val="D93A3F"/>
                </a:solidFill>
                <a:latin typeface="Calibri" pitchFamily="34" charset="0"/>
                <a:ea typeface="Calibri" pitchFamily="34" charset="-122"/>
                <a:cs typeface="Calibri" pitchFamily="34" charset="-120"/>
              </a:rPr>
              <a:t>WHERE IT BREAKS</a:t>
            </a:r>
            <a:endParaRPr lang="en-US" sz="850" dirty="0"/>
          </a:p>
        </p:txBody>
      </p:sp>
      <p:sp>
        <p:nvSpPr>
          <p:cNvPr id="31" name="Text 27"/>
          <p:cNvSpPr/>
          <p:nvPr/>
        </p:nvSpPr>
        <p:spPr>
          <a:xfrm>
            <a:off x="4569866" y="4233672"/>
            <a:ext cx="3051962" cy="566928"/>
          </a:xfrm>
          <a:prstGeom prst="rect">
            <a:avLst/>
          </a:prstGeom>
          <a:noFill/>
          <a:ln/>
        </p:spPr>
        <p:txBody>
          <a:bodyPr wrap="square" lIns="0" tIns="0" rIns="0" bIns="0" rtlCol="0" anchor="t"/>
          <a:lstStyle/>
          <a:p>
            <a:pPr marL="0" indent="0">
              <a:lnSpc>
                <a:spcPct val="110000"/>
              </a:lnSpc>
              <a:buNone/>
            </a:pPr>
            <a:r>
              <a:rPr lang="en-US" sz="1050" dirty="0">
                <a:solidFill>
                  <a:srgbClr val="6E6B8A"/>
                </a:solidFill>
                <a:latin typeface="Calibri" pitchFamily="34" charset="0"/>
                <a:ea typeface="Calibri" pitchFamily="34" charset="-122"/>
                <a:cs typeface="Calibri" pitchFamily="34" charset="-120"/>
              </a:rPr>
              <a:t>An abstraction to learn on top of the concept, and breaking changes on somebody else's schedule.</a:t>
            </a:r>
            <a:endParaRPr lang="en-US" sz="1050" dirty="0"/>
          </a:p>
        </p:txBody>
      </p:sp>
      <p:sp>
        <p:nvSpPr>
          <p:cNvPr id="32" name="Text 28"/>
          <p:cNvSpPr/>
          <p:nvPr/>
        </p:nvSpPr>
        <p:spPr>
          <a:xfrm>
            <a:off x="4569866" y="4773168"/>
            <a:ext cx="3051962" cy="201168"/>
          </a:xfrm>
          <a:prstGeom prst="rect">
            <a:avLst/>
          </a:prstGeom>
          <a:noFill/>
          <a:ln/>
        </p:spPr>
        <p:txBody>
          <a:bodyPr wrap="square" lIns="0" tIns="0" rIns="0" bIns="0" rtlCol="0" anchor="ctr"/>
          <a:lstStyle/>
          <a:p>
            <a:pPr marL="0" indent="0">
              <a:buNone/>
            </a:pPr>
            <a:r>
              <a:rPr lang="en-US" sz="850" b="1" kern="0" spc="130" dirty="0">
                <a:solidFill>
                  <a:srgbClr val="E08700"/>
                </a:solidFill>
                <a:latin typeface="Calibri" pitchFamily="34" charset="0"/>
                <a:ea typeface="Calibri" pitchFamily="34" charset="-122"/>
                <a:cs typeface="Calibri" pitchFamily="34" charset="-120"/>
              </a:rPr>
              <a:t>THE HONEST RISK</a:t>
            </a:r>
            <a:endParaRPr lang="en-US" sz="850" dirty="0"/>
          </a:p>
        </p:txBody>
      </p:sp>
      <p:sp>
        <p:nvSpPr>
          <p:cNvPr id="33" name="Text 29"/>
          <p:cNvSpPr/>
          <p:nvPr/>
        </p:nvSpPr>
        <p:spPr>
          <a:xfrm>
            <a:off x="4569866" y="4965192"/>
            <a:ext cx="3051962" cy="566928"/>
          </a:xfrm>
          <a:prstGeom prst="rect">
            <a:avLst/>
          </a:prstGeom>
          <a:noFill/>
          <a:ln/>
        </p:spPr>
        <p:txBody>
          <a:bodyPr wrap="square" lIns="0" tIns="0" rIns="0" bIns="0" rtlCol="0" anchor="t"/>
          <a:lstStyle/>
          <a:p>
            <a:pPr marL="0" indent="0">
              <a:lnSpc>
                <a:spcPct val="110000"/>
              </a:lnSpc>
              <a:buNone/>
            </a:pPr>
            <a:r>
              <a:rPr lang="en-US" sz="1050" dirty="0">
                <a:solidFill>
                  <a:srgbClr val="6E6B8A"/>
                </a:solidFill>
                <a:latin typeface="Calibri" pitchFamily="34" charset="0"/>
                <a:ea typeface="Calibri" pitchFamily="34" charset="-122"/>
                <a:cs typeface="Calibri" pitchFamily="34" charset="-120"/>
              </a:rPr>
              <a:t>Easy to adopt an org-chart framework for a problem that was one agent with four tools.</a:t>
            </a:r>
            <a:endParaRPr lang="en-US" sz="1050" dirty="0"/>
          </a:p>
        </p:txBody>
      </p:sp>
      <p:sp>
        <p:nvSpPr>
          <p:cNvPr id="34" name="Shape 30"/>
          <p:cNvSpPr/>
          <p:nvPr/>
        </p:nvSpPr>
        <p:spPr>
          <a:xfrm>
            <a:off x="8097317" y="1810512"/>
            <a:ext cx="3527450" cy="3675888"/>
          </a:xfrm>
          <a:prstGeom prst="roundRect">
            <a:avLst>
              <a:gd name="adj" fmla="val 2592"/>
            </a:avLst>
          </a:prstGeom>
          <a:solidFill>
            <a:srgbClr val="FFFFFF"/>
          </a:solidFill>
          <a:ln w="17780">
            <a:solidFill>
              <a:srgbClr val="F0D5A6"/>
            </a:solidFill>
            <a:prstDash val="solid"/>
          </a:ln>
          <a:effectLst>
            <a:outerShdw blurRad="114300" dist="572" dir="5400000" algn="bl" rotWithShape="0">
              <a:srgbClr val="1B1A4A">
                <a:alpha val="7000"/>
              </a:srgbClr>
            </a:outerShdw>
          </a:effectLst>
        </p:spPr>
        <p:txBody>
          <a:bodyPr/>
          <a:lstStyle/>
          <a:p>
            <a:endParaRPr lang="en-US"/>
          </a:p>
        </p:txBody>
      </p:sp>
      <p:sp>
        <p:nvSpPr>
          <p:cNvPr id="35" name="Shape 31"/>
          <p:cNvSpPr/>
          <p:nvPr/>
        </p:nvSpPr>
        <p:spPr>
          <a:xfrm>
            <a:off x="8335061" y="1975104"/>
            <a:ext cx="402336" cy="402336"/>
          </a:xfrm>
          <a:prstGeom prst="ellipse">
            <a:avLst/>
          </a:prstGeom>
          <a:solidFill>
            <a:srgbClr val="E08700"/>
          </a:solidFill>
          <a:ln w="12700">
            <a:solidFill>
              <a:srgbClr val="E08700"/>
            </a:solidFill>
            <a:prstDash val="solid"/>
          </a:ln>
        </p:spPr>
        <p:txBody>
          <a:bodyPr/>
          <a:lstStyle/>
          <a:p>
            <a:endParaRPr lang="en-US"/>
          </a:p>
        </p:txBody>
      </p:sp>
      <p:pic>
        <p:nvPicPr>
          <p:cNvPr id="36" name="Image 2" descr="preencoded.png"/>
          <p:cNvPicPr>
            <a:picLocks noChangeAspect="1"/>
          </p:cNvPicPr>
          <p:nvPr/>
        </p:nvPicPr>
        <p:blipFill>
          <a:blip r:embed="rId5"/>
          <a:stretch>
            <a:fillRect/>
          </a:stretch>
        </p:blipFill>
        <p:spPr>
          <a:xfrm>
            <a:off x="8435645" y="2075688"/>
            <a:ext cx="201168" cy="201168"/>
          </a:xfrm>
          <a:prstGeom prst="rect">
            <a:avLst/>
          </a:prstGeom>
        </p:spPr>
      </p:pic>
      <p:sp>
        <p:nvSpPr>
          <p:cNvPr id="37" name="Text 32"/>
          <p:cNvSpPr/>
          <p:nvPr/>
        </p:nvSpPr>
        <p:spPr>
          <a:xfrm>
            <a:off x="8865413" y="1975104"/>
            <a:ext cx="2521610" cy="274320"/>
          </a:xfrm>
          <a:prstGeom prst="rect">
            <a:avLst/>
          </a:prstGeom>
          <a:noFill/>
          <a:ln/>
        </p:spPr>
        <p:txBody>
          <a:bodyPr wrap="square" lIns="0" tIns="0" rIns="0" bIns="0" rtlCol="0" anchor="ctr"/>
          <a:lstStyle/>
          <a:p>
            <a:pPr marL="0" indent="0">
              <a:buNone/>
            </a:pPr>
            <a:r>
              <a:rPr lang="en-US" sz="1700" b="1" dirty="0">
                <a:solidFill>
                  <a:srgbClr val="141235"/>
                </a:solidFill>
                <a:latin typeface="Calibri" pitchFamily="34" charset="0"/>
                <a:ea typeface="Calibri" pitchFamily="34" charset="-122"/>
                <a:cs typeface="Calibri" pitchFamily="34" charset="-120"/>
              </a:rPr>
              <a:t>Pro-code</a:t>
            </a:r>
            <a:endParaRPr lang="en-US" sz="1700" dirty="0"/>
          </a:p>
        </p:txBody>
      </p:sp>
      <p:sp>
        <p:nvSpPr>
          <p:cNvPr id="38" name="Text 33"/>
          <p:cNvSpPr/>
          <p:nvPr/>
        </p:nvSpPr>
        <p:spPr>
          <a:xfrm>
            <a:off x="8865413" y="2249424"/>
            <a:ext cx="2567330" cy="237744"/>
          </a:xfrm>
          <a:prstGeom prst="rect">
            <a:avLst/>
          </a:prstGeom>
          <a:noFill/>
          <a:ln/>
        </p:spPr>
        <p:txBody>
          <a:bodyPr wrap="square" lIns="0" tIns="0" rIns="0" bIns="0" rtlCol="0" anchor="ctr"/>
          <a:lstStyle/>
          <a:p>
            <a:pPr marL="0" indent="0">
              <a:buNone/>
            </a:pPr>
            <a:r>
              <a:rPr lang="en-US" sz="1000" i="1" dirty="0">
                <a:solidFill>
                  <a:srgbClr val="E08700"/>
                </a:solidFill>
                <a:latin typeface="Calibri" pitchFamily="34" charset="0"/>
                <a:ea typeface="Calibri" pitchFamily="34" charset="-122"/>
                <a:cs typeface="Calibri" pitchFamily="34" charset="-120"/>
              </a:rPr>
              <a:t>your own loop — tier 0</a:t>
            </a:r>
            <a:endParaRPr lang="en-US" sz="1000" dirty="0"/>
          </a:p>
        </p:txBody>
      </p:sp>
      <p:sp>
        <p:nvSpPr>
          <p:cNvPr id="39" name="Shape 34"/>
          <p:cNvSpPr/>
          <p:nvPr/>
        </p:nvSpPr>
        <p:spPr>
          <a:xfrm>
            <a:off x="8316773" y="2578608"/>
            <a:ext cx="3088538" cy="621792"/>
          </a:xfrm>
          <a:prstGeom prst="roundRect">
            <a:avLst>
              <a:gd name="adj" fmla="val 8824"/>
            </a:avLst>
          </a:prstGeom>
          <a:solidFill>
            <a:srgbClr val="FFF4E0"/>
          </a:solidFill>
          <a:ln w="12700">
            <a:solidFill>
              <a:srgbClr val="F0D5A6"/>
            </a:solidFill>
            <a:prstDash val="solid"/>
          </a:ln>
        </p:spPr>
        <p:txBody>
          <a:bodyPr/>
          <a:lstStyle/>
          <a:p>
            <a:endParaRPr lang="en-US"/>
          </a:p>
        </p:txBody>
      </p:sp>
      <p:sp>
        <p:nvSpPr>
          <p:cNvPr id="40" name="Text 35"/>
          <p:cNvSpPr/>
          <p:nvPr/>
        </p:nvSpPr>
        <p:spPr>
          <a:xfrm>
            <a:off x="8371637" y="2615184"/>
            <a:ext cx="938073" cy="548640"/>
          </a:xfrm>
          <a:prstGeom prst="rect">
            <a:avLst/>
          </a:prstGeom>
          <a:noFill/>
          <a:ln/>
        </p:spPr>
        <p:txBody>
          <a:bodyPr wrap="square" lIns="0" tIns="0" rIns="0" bIns="0" rtlCol="0" anchor="ctr"/>
          <a:lstStyle/>
          <a:p>
            <a:pPr marL="0" indent="0" algn="ctr">
              <a:lnSpc>
                <a:spcPct val="102000"/>
              </a:lnSpc>
              <a:buNone/>
            </a:pPr>
            <a:r>
              <a:rPr lang="en-US" sz="700" b="1" kern="0" spc="80" dirty="0">
                <a:solidFill>
                  <a:srgbClr val="9B98B4"/>
                </a:solidFill>
                <a:latin typeface="Calibri" pitchFamily="34" charset="0"/>
                <a:ea typeface="Calibri" pitchFamily="34" charset="-122"/>
                <a:cs typeface="Calibri" pitchFamily="34" charset="-120"/>
              </a:rPr>
              <a:t>WHO</a:t>
            </a:r>
            <a:endParaRPr lang="en-US" sz="700" dirty="0"/>
          </a:p>
          <a:p>
            <a:pPr marL="0" indent="0" algn="ctr">
              <a:lnSpc>
                <a:spcPct val="102000"/>
              </a:lnSpc>
              <a:buNone/>
            </a:pPr>
            <a:r>
              <a:rPr lang="en-US" sz="900" b="1" dirty="0">
                <a:solidFill>
                  <a:srgbClr val="3B3760"/>
                </a:solidFill>
                <a:latin typeface="Calibri" pitchFamily="34" charset="0"/>
                <a:ea typeface="Calibri" pitchFamily="34" charset="-122"/>
                <a:cs typeface="Calibri" pitchFamily="34" charset="-120"/>
              </a:rPr>
              <a:t>Engineering teams</a:t>
            </a:r>
            <a:endParaRPr lang="en-US" sz="700" dirty="0"/>
          </a:p>
        </p:txBody>
      </p:sp>
      <p:sp>
        <p:nvSpPr>
          <p:cNvPr id="41" name="Text 36"/>
          <p:cNvSpPr/>
          <p:nvPr/>
        </p:nvSpPr>
        <p:spPr>
          <a:xfrm>
            <a:off x="9401150" y="2615184"/>
            <a:ext cx="938073" cy="548640"/>
          </a:xfrm>
          <a:prstGeom prst="rect">
            <a:avLst/>
          </a:prstGeom>
          <a:noFill/>
          <a:ln/>
        </p:spPr>
        <p:txBody>
          <a:bodyPr wrap="square" lIns="0" tIns="0" rIns="0" bIns="0" rtlCol="0" anchor="ctr"/>
          <a:lstStyle/>
          <a:p>
            <a:pPr marL="0" indent="0" algn="ctr">
              <a:lnSpc>
                <a:spcPct val="102000"/>
              </a:lnSpc>
              <a:buNone/>
            </a:pPr>
            <a:r>
              <a:rPr lang="en-US" sz="700" b="1" kern="0" spc="80" dirty="0">
                <a:solidFill>
                  <a:srgbClr val="9B98B4"/>
                </a:solidFill>
                <a:latin typeface="Calibri" pitchFamily="34" charset="0"/>
                <a:ea typeface="Calibri" pitchFamily="34" charset="-122"/>
                <a:cs typeface="Calibri" pitchFamily="34" charset="-120"/>
              </a:rPr>
              <a:t>FIRST AGENT</a:t>
            </a:r>
            <a:endParaRPr lang="en-US" sz="700" dirty="0"/>
          </a:p>
          <a:p>
            <a:pPr marL="0" indent="0" algn="ctr">
              <a:lnSpc>
                <a:spcPct val="102000"/>
              </a:lnSpc>
              <a:buNone/>
            </a:pPr>
            <a:r>
              <a:rPr lang="en-US" sz="900" b="1" dirty="0">
                <a:solidFill>
                  <a:srgbClr val="3B3760"/>
                </a:solidFill>
                <a:latin typeface="Calibri" pitchFamily="34" charset="0"/>
                <a:ea typeface="Calibri" pitchFamily="34" charset="-122"/>
                <a:cs typeface="Calibri" pitchFamily="34" charset="-120"/>
              </a:rPr>
              <a:t>Days to weeks</a:t>
            </a:r>
            <a:endParaRPr lang="en-US" sz="700" dirty="0"/>
          </a:p>
        </p:txBody>
      </p:sp>
      <p:sp>
        <p:nvSpPr>
          <p:cNvPr id="42" name="Text 37"/>
          <p:cNvSpPr/>
          <p:nvPr/>
        </p:nvSpPr>
        <p:spPr>
          <a:xfrm>
            <a:off x="10430662" y="2615184"/>
            <a:ext cx="938073" cy="548640"/>
          </a:xfrm>
          <a:prstGeom prst="rect">
            <a:avLst/>
          </a:prstGeom>
          <a:noFill/>
          <a:ln/>
        </p:spPr>
        <p:txBody>
          <a:bodyPr wrap="square" lIns="0" tIns="0" rIns="0" bIns="0" rtlCol="0" anchor="ctr"/>
          <a:lstStyle/>
          <a:p>
            <a:pPr marL="0" indent="0" algn="ctr">
              <a:lnSpc>
                <a:spcPct val="102000"/>
              </a:lnSpc>
              <a:buNone/>
            </a:pPr>
            <a:r>
              <a:rPr lang="en-US" sz="700" b="1" kern="0" spc="80" dirty="0">
                <a:solidFill>
                  <a:srgbClr val="9B98B4"/>
                </a:solidFill>
                <a:latin typeface="Calibri" pitchFamily="34" charset="0"/>
                <a:ea typeface="Calibri" pitchFamily="34" charset="-122"/>
                <a:cs typeface="Calibri" pitchFamily="34" charset="-120"/>
              </a:rPr>
              <a:t>YOU CONTROL</a:t>
            </a:r>
            <a:endParaRPr lang="en-US" sz="700" dirty="0"/>
          </a:p>
          <a:p>
            <a:pPr marL="0" indent="0" algn="ctr">
              <a:lnSpc>
                <a:spcPct val="102000"/>
              </a:lnSpc>
              <a:buNone/>
            </a:pPr>
            <a:r>
              <a:rPr lang="en-US" sz="900" b="1" dirty="0">
                <a:solidFill>
                  <a:srgbClr val="3B3760"/>
                </a:solidFill>
                <a:latin typeface="Calibri" pitchFamily="34" charset="0"/>
                <a:ea typeface="Calibri" pitchFamily="34" charset="-122"/>
                <a:cs typeface="Calibri" pitchFamily="34" charset="-120"/>
              </a:rPr>
              <a:t>Everything</a:t>
            </a:r>
            <a:endParaRPr lang="en-US" sz="700" dirty="0"/>
          </a:p>
        </p:txBody>
      </p:sp>
      <p:sp>
        <p:nvSpPr>
          <p:cNvPr id="43" name="Text 38"/>
          <p:cNvSpPr/>
          <p:nvPr/>
        </p:nvSpPr>
        <p:spPr>
          <a:xfrm>
            <a:off x="8335061" y="3310128"/>
            <a:ext cx="3051962" cy="201168"/>
          </a:xfrm>
          <a:prstGeom prst="rect">
            <a:avLst/>
          </a:prstGeom>
          <a:noFill/>
          <a:ln/>
        </p:spPr>
        <p:txBody>
          <a:bodyPr wrap="square" lIns="0" tIns="0" rIns="0" bIns="0" rtlCol="0" anchor="ctr"/>
          <a:lstStyle/>
          <a:p>
            <a:pPr marL="0" indent="0">
              <a:buNone/>
            </a:pPr>
            <a:r>
              <a:rPr lang="en-US" sz="850" b="1" kern="0" spc="130" dirty="0">
                <a:solidFill>
                  <a:srgbClr val="0E9F6E"/>
                </a:solidFill>
                <a:latin typeface="Calibri" pitchFamily="34" charset="0"/>
                <a:ea typeface="Calibri" pitchFamily="34" charset="-122"/>
                <a:cs typeface="Calibri" pitchFamily="34" charset="-120"/>
              </a:rPr>
              <a:t>GOOD FOR</a:t>
            </a:r>
            <a:endParaRPr lang="en-US" sz="850" dirty="0"/>
          </a:p>
        </p:txBody>
      </p:sp>
      <p:sp>
        <p:nvSpPr>
          <p:cNvPr id="44" name="Text 39"/>
          <p:cNvSpPr/>
          <p:nvPr/>
        </p:nvSpPr>
        <p:spPr>
          <a:xfrm>
            <a:off x="8335061" y="3502152"/>
            <a:ext cx="3051962" cy="566928"/>
          </a:xfrm>
          <a:prstGeom prst="rect">
            <a:avLst/>
          </a:prstGeom>
          <a:noFill/>
          <a:ln/>
        </p:spPr>
        <p:txBody>
          <a:bodyPr wrap="square" lIns="0" tIns="0" rIns="0" bIns="0" rtlCol="0" anchor="t"/>
          <a:lstStyle/>
          <a:p>
            <a:pPr marL="0" indent="0">
              <a:lnSpc>
                <a:spcPct val="110000"/>
              </a:lnSpc>
              <a:buNone/>
            </a:pPr>
            <a:r>
              <a:rPr lang="en-US" sz="1050" dirty="0">
                <a:solidFill>
                  <a:srgbClr val="6E6B8A"/>
                </a:solidFill>
                <a:latin typeface="Calibri" pitchFamily="34" charset="0"/>
                <a:ea typeface="Calibri" pitchFamily="34" charset="-122"/>
                <a:cs typeface="Calibri" pitchFamily="34" charset="-120"/>
              </a:rPr>
              <a:t>Regulated, high stakes, or genuinely unusual. Also: whenever you are still working out what the problem is.</a:t>
            </a:r>
            <a:endParaRPr lang="en-US" sz="1050" dirty="0"/>
          </a:p>
        </p:txBody>
      </p:sp>
      <p:sp>
        <p:nvSpPr>
          <p:cNvPr id="45" name="Text 40"/>
          <p:cNvSpPr/>
          <p:nvPr/>
        </p:nvSpPr>
        <p:spPr>
          <a:xfrm>
            <a:off x="8335061" y="4041648"/>
            <a:ext cx="3051962" cy="201168"/>
          </a:xfrm>
          <a:prstGeom prst="rect">
            <a:avLst/>
          </a:prstGeom>
          <a:noFill/>
          <a:ln/>
        </p:spPr>
        <p:txBody>
          <a:bodyPr wrap="square" lIns="0" tIns="0" rIns="0" bIns="0" rtlCol="0" anchor="ctr"/>
          <a:lstStyle/>
          <a:p>
            <a:pPr marL="0" indent="0">
              <a:buNone/>
            </a:pPr>
            <a:r>
              <a:rPr lang="en-US" sz="850" b="1" kern="0" spc="130" dirty="0">
                <a:solidFill>
                  <a:srgbClr val="D93A3F"/>
                </a:solidFill>
                <a:latin typeface="Calibri" pitchFamily="34" charset="0"/>
                <a:ea typeface="Calibri" pitchFamily="34" charset="-122"/>
                <a:cs typeface="Calibri" pitchFamily="34" charset="-120"/>
              </a:rPr>
              <a:t>WHERE IT BREAKS</a:t>
            </a:r>
            <a:endParaRPr lang="en-US" sz="850" dirty="0"/>
          </a:p>
        </p:txBody>
      </p:sp>
      <p:sp>
        <p:nvSpPr>
          <p:cNvPr id="46" name="Text 41"/>
          <p:cNvSpPr/>
          <p:nvPr/>
        </p:nvSpPr>
        <p:spPr>
          <a:xfrm>
            <a:off x="8335061" y="4233672"/>
            <a:ext cx="3051962" cy="566928"/>
          </a:xfrm>
          <a:prstGeom prst="rect">
            <a:avLst/>
          </a:prstGeom>
          <a:noFill/>
          <a:ln/>
        </p:spPr>
        <p:txBody>
          <a:bodyPr wrap="square" lIns="0" tIns="0" rIns="0" bIns="0" rtlCol="0" anchor="t"/>
          <a:lstStyle/>
          <a:p>
            <a:pPr marL="0" indent="0">
              <a:lnSpc>
                <a:spcPct val="110000"/>
              </a:lnSpc>
              <a:buNone/>
            </a:pPr>
            <a:r>
              <a:rPr lang="en-US" sz="1050" dirty="0">
                <a:solidFill>
                  <a:srgbClr val="6E6B8A"/>
                </a:solidFill>
                <a:latin typeface="Calibri" pitchFamily="34" charset="0"/>
                <a:ea typeface="Calibri" pitchFamily="34" charset="-122"/>
                <a:cs typeface="Calibri" pitchFamily="34" charset="-120"/>
              </a:rPr>
              <a:t>You write state, retries, dispatch and resumability yourself, and you own every failure.</a:t>
            </a:r>
            <a:endParaRPr lang="en-US" sz="1050" dirty="0"/>
          </a:p>
        </p:txBody>
      </p:sp>
      <p:sp>
        <p:nvSpPr>
          <p:cNvPr id="47" name="Text 42"/>
          <p:cNvSpPr/>
          <p:nvPr/>
        </p:nvSpPr>
        <p:spPr>
          <a:xfrm>
            <a:off x="8335061" y="4773168"/>
            <a:ext cx="3051962" cy="201168"/>
          </a:xfrm>
          <a:prstGeom prst="rect">
            <a:avLst/>
          </a:prstGeom>
          <a:noFill/>
          <a:ln/>
        </p:spPr>
        <p:txBody>
          <a:bodyPr wrap="square" lIns="0" tIns="0" rIns="0" bIns="0" rtlCol="0" anchor="ctr"/>
          <a:lstStyle/>
          <a:p>
            <a:pPr marL="0" indent="0">
              <a:buNone/>
            </a:pPr>
            <a:r>
              <a:rPr lang="en-US" sz="850" b="1" kern="0" spc="130" dirty="0">
                <a:solidFill>
                  <a:srgbClr val="E08700"/>
                </a:solidFill>
                <a:latin typeface="Calibri" pitchFamily="34" charset="0"/>
                <a:ea typeface="Calibri" pitchFamily="34" charset="-122"/>
                <a:cs typeface="Calibri" pitchFamily="34" charset="-120"/>
              </a:rPr>
              <a:t>THE HONEST RISK</a:t>
            </a:r>
            <a:endParaRPr lang="en-US" sz="850" dirty="0"/>
          </a:p>
        </p:txBody>
      </p:sp>
      <p:sp>
        <p:nvSpPr>
          <p:cNvPr id="48" name="Text 43"/>
          <p:cNvSpPr/>
          <p:nvPr/>
        </p:nvSpPr>
        <p:spPr>
          <a:xfrm>
            <a:off x="8335061" y="4965192"/>
            <a:ext cx="3051962" cy="566928"/>
          </a:xfrm>
          <a:prstGeom prst="rect">
            <a:avLst/>
          </a:prstGeom>
          <a:noFill/>
          <a:ln/>
        </p:spPr>
        <p:txBody>
          <a:bodyPr wrap="square" lIns="0" tIns="0" rIns="0" bIns="0" rtlCol="0" anchor="t"/>
          <a:lstStyle/>
          <a:p>
            <a:pPr marL="0" indent="0">
              <a:lnSpc>
                <a:spcPct val="110000"/>
              </a:lnSpc>
              <a:buNone/>
            </a:pPr>
            <a:r>
              <a:rPr lang="en-US" sz="1050" dirty="0">
                <a:solidFill>
                  <a:srgbClr val="6E6B8A"/>
                </a:solidFill>
                <a:latin typeface="Calibri" pitchFamily="34" charset="0"/>
                <a:ea typeface="Calibri" pitchFamily="34" charset="-122"/>
                <a:cs typeface="Calibri" pitchFamily="34" charset="-120"/>
              </a:rPr>
              <a:t>Reinventing helpers that a framework already gives you, forever, in every team.</a:t>
            </a:r>
            <a:endParaRPr lang="en-US" sz="1050" dirty="0"/>
          </a:p>
        </p:txBody>
      </p:sp>
      <p:sp>
        <p:nvSpPr>
          <p:cNvPr id="49" name="Shape 44"/>
          <p:cNvSpPr/>
          <p:nvPr/>
        </p:nvSpPr>
        <p:spPr>
          <a:xfrm>
            <a:off x="566928" y="5596128"/>
            <a:ext cx="11057839" cy="749808"/>
          </a:xfrm>
          <a:prstGeom prst="roundRect">
            <a:avLst>
              <a:gd name="adj" fmla="val 10976"/>
            </a:avLst>
          </a:prstGeom>
          <a:solidFill>
            <a:srgbClr val="FFF4E0"/>
          </a:solidFill>
          <a:ln w="12700">
            <a:solidFill>
              <a:srgbClr val="F3DCB0"/>
            </a:solidFill>
            <a:prstDash val="solid"/>
          </a:ln>
        </p:spPr>
        <p:txBody>
          <a:bodyPr/>
          <a:lstStyle/>
          <a:p>
            <a:endParaRPr lang="en-US"/>
          </a:p>
        </p:txBody>
      </p:sp>
      <p:sp>
        <p:nvSpPr>
          <p:cNvPr id="50" name="Shape 45"/>
          <p:cNvSpPr/>
          <p:nvPr/>
        </p:nvSpPr>
        <p:spPr>
          <a:xfrm>
            <a:off x="841248" y="5779008"/>
            <a:ext cx="384048" cy="384048"/>
          </a:xfrm>
          <a:prstGeom prst="ellipse">
            <a:avLst/>
          </a:prstGeom>
          <a:solidFill>
            <a:srgbClr val="F5A524"/>
          </a:solidFill>
          <a:ln w="12700">
            <a:solidFill>
              <a:srgbClr val="F5A524"/>
            </a:solidFill>
            <a:prstDash val="solid"/>
          </a:ln>
        </p:spPr>
        <p:txBody>
          <a:bodyPr/>
          <a:lstStyle/>
          <a:p>
            <a:endParaRPr lang="en-US"/>
          </a:p>
        </p:txBody>
      </p:sp>
      <p:pic>
        <p:nvPicPr>
          <p:cNvPr id="51" name="Image 3" descr="preencoded.png"/>
          <p:cNvPicPr>
            <a:picLocks noChangeAspect="1"/>
          </p:cNvPicPr>
          <p:nvPr/>
        </p:nvPicPr>
        <p:blipFill>
          <a:blip r:embed="rId6"/>
          <a:stretch>
            <a:fillRect/>
          </a:stretch>
        </p:blipFill>
        <p:spPr>
          <a:xfrm>
            <a:off x="937260" y="5875020"/>
            <a:ext cx="192024" cy="192024"/>
          </a:xfrm>
          <a:prstGeom prst="rect">
            <a:avLst/>
          </a:prstGeom>
        </p:spPr>
      </p:pic>
      <p:sp>
        <p:nvSpPr>
          <p:cNvPr id="52" name="Text 46"/>
          <p:cNvSpPr/>
          <p:nvPr/>
        </p:nvSpPr>
        <p:spPr>
          <a:xfrm>
            <a:off x="1371600" y="5650992"/>
            <a:ext cx="9960559" cy="640080"/>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All three are legitimate. The mistake is not picking the wrong one — it is picking one without noticing that its failure mode is now your problem.</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ORIENTATION</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2800" b="1" dirty="0">
                <a:solidFill>
                  <a:srgbClr val="141235"/>
                </a:solidFill>
                <a:latin typeface="Cambria" pitchFamily="34" charset="0"/>
                <a:ea typeface="Cambria" pitchFamily="34" charset="-122"/>
                <a:cs typeface="Cambria" pitchFamily="34" charset="-120"/>
              </a:rPr>
              <a:t>Two axes explain most of the confusion in the market</a:t>
            </a:r>
            <a:endParaRPr lang="en-US" sz="2800" dirty="0"/>
          </a:p>
        </p:txBody>
      </p:sp>
      <p:sp>
        <p:nvSpPr>
          <p:cNvPr id="4" name="Shape 2"/>
          <p:cNvSpPr/>
          <p:nvPr/>
        </p:nvSpPr>
        <p:spPr>
          <a:xfrm>
            <a:off x="2148840" y="1883664"/>
            <a:ext cx="4315968" cy="1700784"/>
          </a:xfrm>
          <a:prstGeom prst="roundRect">
            <a:avLst>
              <a:gd name="adj" fmla="val 4839"/>
            </a:avLst>
          </a:prstGeom>
          <a:solidFill>
            <a:srgbClr val="FFFFFF"/>
          </a:solidFill>
          <a:ln w="12700">
            <a:solidFill>
              <a:srgbClr val="E3E4F2"/>
            </a:solidFill>
            <a:prstDash val="solid"/>
          </a:ln>
          <a:effectLst>
            <a:outerShdw blurRad="101600" dist="508" dir="5400000" algn="bl" rotWithShape="0">
              <a:srgbClr val="1B1A4A">
                <a:alpha val="7000"/>
              </a:srgbClr>
            </a:outerShdw>
          </a:effectLst>
        </p:spPr>
        <p:txBody>
          <a:bodyPr/>
          <a:lstStyle/>
          <a:p>
            <a:endParaRPr lang="en-US"/>
          </a:p>
        </p:txBody>
      </p:sp>
      <p:sp>
        <p:nvSpPr>
          <p:cNvPr id="5" name="Text 3"/>
          <p:cNvSpPr/>
          <p:nvPr/>
        </p:nvSpPr>
        <p:spPr>
          <a:xfrm>
            <a:off x="2386584" y="2066544"/>
            <a:ext cx="3840480" cy="274320"/>
          </a:xfrm>
          <a:prstGeom prst="rect">
            <a:avLst/>
          </a:prstGeom>
          <a:noFill/>
          <a:ln/>
        </p:spPr>
        <p:txBody>
          <a:bodyPr wrap="square" lIns="0" tIns="0" rIns="0" bIns="0" rtlCol="0" anchor="ctr"/>
          <a:lstStyle/>
          <a:p>
            <a:pPr marL="0" indent="0">
              <a:buNone/>
            </a:pPr>
            <a:r>
              <a:rPr lang="en-US" sz="1350" b="1" dirty="0">
                <a:solidFill>
                  <a:srgbClr val="141235"/>
                </a:solidFill>
                <a:latin typeface="Calibri" pitchFamily="34" charset="0"/>
                <a:ea typeface="Calibri" pitchFamily="34" charset="-122"/>
                <a:cs typeface="Calibri" pitchFamily="34" charset="-120"/>
              </a:rPr>
              <a:t>Builds agents · non-technical</a:t>
            </a:r>
            <a:endParaRPr lang="en-US" sz="1350" dirty="0"/>
          </a:p>
        </p:txBody>
      </p:sp>
      <p:sp>
        <p:nvSpPr>
          <p:cNvPr id="6" name="Text 4"/>
          <p:cNvSpPr/>
          <p:nvPr/>
        </p:nvSpPr>
        <p:spPr>
          <a:xfrm>
            <a:off x="2386584" y="2395728"/>
            <a:ext cx="3840480" cy="822960"/>
          </a:xfrm>
          <a:prstGeom prst="rect">
            <a:avLst/>
          </a:prstGeom>
          <a:noFill/>
          <a:ln/>
        </p:spPr>
        <p:txBody>
          <a:bodyPr wrap="square" lIns="0" tIns="0" rIns="0" bIns="0" rtlCol="0" anchor="t"/>
          <a:lstStyle/>
          <a:p>
            <a:pPr marL="0" indent="0">
              <a:lnSpc>
                <a:spcPct val="110000"/>
              </a:lnSpc>
              <a:buNone/>
            </a:pPr>
            <a:r>
              <a:rPr lang="en-US" sz="1100" dirty="0">
                <a:solidFill>
                  <a:srgbClr val="6E6B8A"/>
                </a:solidFill>
                <a:latin typeface="Calibri" pitchFamily="34" charset="0"/>
                <a:ea typeface="Calibri" pitchFamily="34" charset="-122"/>
                <a:cs typeface="Calibri" pitchFamily="34" charset="-120"/>
              </a:rPr>
              <a:t>No-code builders, workflow automation tools. Fast to start, hard to test or govern.</a:t>
            </a:r>
            <a:endParaRPr lang="en-US" sz="1100" dirty="0"/>
          </a:p>
        </p:txBody>
      </p:sp>
      <p:sp>
        <p:nvSpPr>
          <p:cNvPr id="7" name="Shape 5"/>
          <p:cNvSpPr/>
          <p:nvPr/>
        </p:nvSpPr>
        <p:spPr>
          <a:xfrm>
            <a:off x="6611112" y="1883664"/>
            <a:ext cx="4315968" cy="1700784"/>
          </a:xfrm>
          <a:prstGeom prst="roundRect">
            <a:avLst>
              <a:gd name="adj" fmla="val 4839"/>
            </a:avLst>
          </a:prstGeom>
          <a:solidFill>
            <a:srgbClr val="FFFFFF"/>
          </a:solidFill>
          <a:ln w="12700">
            <a:solidFill>
              <a:srgbClr val="E3E4F2"/>
            </a:solidFill>
            <a:prstDash val="solid"/>
          </a:ln>
          <a:effectLst>
            <a:outerShdw blurRad="101600" dist="508" dir="5400000" algn="bl" rotWithShape="0">
              <a:srgbClr val="1B1A4A">
                <a:alpha val="7000"/>
              </a:srgbClr>
            </a:outerShdw>
          </a:effectLst>
        </p:spPr>
        <p:txBody>
          <a:bodyPr/>
          <a:lstStyle/>
          <a:p>
            <a:endParaRPr lang="en-US"/>
          </a:p>
        </p:txBody>
      </p:sp>
      <p:sp>
        <p:nvSpPr>
          <p:cNvPr id="8" name="Text 6"/>
          <p:cNvSpPr/>
          <p:nvPr/>
        </p:nvSpPr>
        <p:spPr>
          <a:xfrm>
            <a:off x="6848856" y="2066544"/>
            <a:ext cx="3840480" cy="274320"/>
          </a:xfrm>
          <a:prstGeom prst="rect">
            <a:avLst/>
          </a:prstGeom>
          <a:noFill/>
          <a:ln/>
        </p:spPr>
        <p:txBody>
          <a:bodyPr wrap="square" lIns="0" tIns="0" rIns="0" bIns="0" rtlCol="0" anchor="ctr"/>
          <a:lstStyle/>
          <a:p>
            <a:pPr marL="0" indent="0">
              <a:buNone/>
            </a:pPr>
            <a:r>
              <a:rPr lang="en-US" sz="1350" b="1" dirty="0">
                <a:solidFill>
                  <a:srgbClr val="141235"/>
                </a:solidFill>
                <a:latin typeface="Calibri" pitchFamily="34" charset="0"/>
                <a:ea typeface="Calibri" pitchFamily="34" charset="-122"/>
                <a:cs typeface="Calibri" pitchFamily="34" charset="-120"/>
              </a:rPr>
              <a:t>Runs agents · non-technical</a:t>
            </a:r>
            <a:endParaRPr lang="en-US" sz="1350" dirty="0"/>
          </a:p>
        </p:txBody>
      </p:sp>
      <p:sp>
        <p:nvSpPr>
          <p:cNvPr id="9" name="Text 7"/>
          <p:cNvSpPr/>
          <p:nvPr/>
        </p:nvSpPr>
        <p:spPr>
          <a:xfrm>
            <a:off x="6848856" y="2395728"/>
            <a:ext cx="3840480" cy="822960"/>
          </a:xfrm>
          <a:prstGeom prst="rect">
            <a:avLst/>
          </a:prstGeom>
          <a:noFill/>
          <a:ln/>
        </p:spPr>
        <p:txBody>
          <a:bodyPr wrap="square" lIns="0" tIns="0" rIns="0" bIns="0" rtlCol="0" anchor="t"/>
          <a:lstStyle/>
          <a:p>
            <a:pPr marL="0" indent="0">
              <a:lnSpc>
                <a:spcPct val="110000"/>
              </a:lnSpc>
              <a:buNone/>
            </a:pPr>
            <a:r>
              <a:rPr lang="en-US" sz="1100" dirty="0">
                <a:solidFill>
                  <a:srgbClr val="6E6B8A"/>
                </a:solidFill>
                <a:latin typeface="Calibri" pitchFamily="34" charset="0"/>
                <a:ea typeface="Calibri" pitchFamily="34" charset="-122"/>
                <a:cs typeface="Calibri" pitchFamily="34" charset="-120"/>
              </a:rPr>
              <a:t>Packaged assistants and agent products, used as-is. Someone else owns the loop.</a:t>
            </a:r>
            <a:endParaRPr lang="en-US" sz="1100" dirty="0"/>
          </a:p>
        </p:txBody>
      </p:sp>
      <p:sp>
        <p:nvSpPr>
          <p:cNvPr id="10" name="Shape 8"/>
          <p:cNvSpPr/>
          <p:nvPr/>
        </p:nvSpPr>
        <p:spPr>
          <a:xfrm>
            <a:off x="2148840" y="3730752"/>
            <a:ext cx="4315968" cy="1700784"/>
          </a:xfrm>
          <a:prstGeom prst="roundRect">
            <a:avLst>
              <a:gd name="adj" fmla="val 4839"/>
            </a:avLst>
          </a:prstGeom>
          <a:solidFill>
            <a:srgbClr val="5B4BE8"/>
          </a:solidFill>
          <a:ln w="12700">
            <a:solidFill>
              <a:srgbClr val="5B4BE8"/>
            </a:solidFill>
            <a:prstDash val="solid"/>
          </a:ln>
          <a:effectLst>
            <a:outerShdw blurRad="101600" dist="508" dir="5400000" algn="bl" rotWithShape="0">
              <a:srgbClr val="1B1A4A">
                <a:alpha val="7000"/>
              </a:srgbClr>
            </a:outerShdw>
          </a:effectLst>
        </p:spPr>
        <p:txBody>
          <a:bodyPr/>
          <a:lstStyle/>
          <a:p>
            <a:endParaRPr lang="en-US"/>
          </a:p>
        </p:txBody>
      </p:sp>
      <p:sp>
        <p:nvSpPr>
          <p:cNvPr id="11" name="Text 9"/>
          <p:cNvSpPr/>
          <p:nvPr/>
        </p:nvSpPr>
        <p:spPr>
          <a:xfrm>
            <a:off x="2386584" y="3913632"/>
            <a:ext cx="3840480" cy="27432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Builds agents · technical</a:t>
            </a:r>
            <a:endParaRPr lang="en-US" sz="1350" dirty="0"/>
          </a:p>
        </p:txBody>
      </p:sp>
      <p:sp>
        <p:nvSpPr>
          <p:cNvPr id="12" name="Text 10"/>
          <p:cNvSpPr/>
          <p:nvPr/>
        </p:nvSpPr>
        <p:spPr>
          <a:xfrm>
            <a:off x="2386584" y="4242816"/>
            <a:ext cx="3840480" cy="822960"/>
          </a:xfrm>
          <a:prstGeom prst="rect">
            <a:avLst/>
          </a:prstGeom>
          <a:noFill/>
          <a:ln/>
        </p:spPr>
        <p:txBody>
          <a:bodyPr wrap="square" lIns="0" tIns="0" rIns="0" bIns="0" rtlCol="0" anchor="t"/>
          <a:lstStyle/>
          <a:p>
            <a:pPr marL="0" indent="0">
              <a:lnSpc>
                <a:spcPct val="110000"/>
              </a:lnSpc>
              <a:buNone/>
            </a:pPr>
            <a:r>
              <a:rPr lang="en-US" sz="1100" dirty="0">
                <a:solidFill>
                  <a:srgbClr val="D8D3FF"/>
                </a:solidFill>
                <a:latin typeface="Calibri" pitchFamily="34" charset="0"/>
                <a:ea typeface="Calibri" pitchFamily="34" charset="-122"/>
                <a:cs typeface="Calibri" pitchFamily="34" charset="-120"/>
              </a:rPr>
              <a:t>Open frameworks, hand-written loops, open protocols.</a:t>
            </a:r>
            <a:endParaRPr lang="en-US" sz="1100" dirty="0"/>
          </a:p>
        </p:txBody>
      </p:sp>
      <p:sp>
        <p:nvSpPr>
          <p:cNvPr id="13" name="Text 11"/>
          <p:cNvSpPr/>
          <p:nvPr/>
        </p:nvSpPr>
        <p:spPr>
          <a:xfrm>
            <a:off x="2386584" y="5010912"/>
            <a:ext cx="3840480" cy="237744"/>
          </a:xfrm>
          <a:prstGeom prst="rect">
            <a:avLst/>
          </a:prstGeom>
          <a:noFill/>
          <a:ln/>
        </p:spPr>
        <p:txBody>
          <a:bodyPr wrap="square" lIns="0" tIns="0" rIns="0" bIns="0" rtlCol="0" anchor="ctr"/>
          <a:lstStyle/>
          <a:p>
            <a:pPr marL="0" indent="0">
              <a:buNone/>
            </a:pPr>
            <a:r>
              <a:rPr lang="en-US" sz="950" b="1" kern="0" spc="200" dirty="0">
                <a:solidFill>
                  <a:srgbClr val="F5A524"/>
                </a:solidFill>
                <a:latin typeface="Calibri" pitchFamily="34" charset="0"/>
                <a:ea typeface="Calibri" pitchFamily="34" charset="-122"/>
                <a:cs typeface="Calibri" pitchFamily="34" charset="-120"/>
              </a:rPr>
              <a:t>YOU ARE HERE</a:t>
            </a:r>
            <a:endParaRPr lang="en-US" sz="950" dirty="0"/>
          </a:p>
        </p:txBody>
      </p:sp>
      <p:sp>
        <p:nvSpPr>
          <p:cNvPr id="14" name="Shape 12"/>
          <p:cNvSpPr/>
          <p:nvPr/>
        </p:nvSpPr>
        <p:spPr>
          <a:xfrm>
            <a:off x="6611112" y="3730752"/>
            <a:ext cx="4315968" cy="1700784"/>
          </a:xfrm>
          <a:prstGeom prst="roundRect">
            <a:avLst>
              <a:gd name="adj" fmla="val 4839"/>
            </a:avLst>
          </a:prstGeom>
          <a:solidFill>
            <a:srgbClr val="EEEDFE"/>
          </a:solidFill>
          <a:ln w="12700">
            <a:solidFill>
              <a:srgbClr val="8E82F5"/>
            </a:solidFill>
            <a:prstDash val="solid"/>
          </a:ln>
          <a:effectLst>
            <a:outerShdw blurRad="101600" dist="508" dir="5400000" algn="bl" rotWithShape="0">
              <a:srgbClr val="1B1A4A">
                <a:alpha val="7000"/>
              </a:srgbClr>
            </a:outerShdw>
          </a:effectLst>
        </p:spPr>
        <p:txBody>
          <a:bodyPr/>
          <a:lstStyle/>
          <a:p>
            <a:endParaRPr lang="en-US"/>
          </a:p>
        </p:txBody>
      </p:sp>
      <p:sp>
        <p:nvSpPr>
          <p:cNvPr id="15" name="Text 13"/>
          <p:cNvSpPr/>
          <p:nvPr/>
        </p:nvSpPr>
        <p:spPr>
          <a:xfrm>
            <a:off x="6848856" y="3913632"/>
            <a:ext cx="3840480" cy="274320"/>
          </a:xfrm>
          <a:prstGeom prst="rect">
            <a:avLst/>
          </a:prstGeom>
          <a:noFill/>
          <a:ln/>
        </p:spPr>
        <p:txBody>
          <a:bodyPr wrap="square" lIns="0" tIns="0" rIns="0" bIns="0" rtlCol="0" anchor="ctr"/>
          <a:lstStyle/>
          <a:p>
            <a:pPr marL="0" indent="0">
              <a:buNone/>
            </a:pPr>
            <a:r>
              <a:rPr lang="en-US" sz="1350" b="1" dirty="0">
                <a:solidFill>
                  <a:srgbClr val="141235"/>
                </a:solidFill>
                <a:latin typeface="Calibri" pitchFamily="34" charset="0"/>
                <a:ea typeface="Calibri" pitchFamily="34" charset="-122"/>
                <a:cs typeface="Calibri" pitchFamily="34" charset="-120"/>
              </a:rPr>
              <a:t>Runs agents · technical</a:t>
            </a:r>
            <a:endParaRPr lang="en-US" sz="1350" dirty="0"/>
          </a:p>
        </p:txBody>
      </p:sp>
      <p:sp>
        <p:nvSpPr>
          <p:cNvPr id="16" name="Text 14"/>
          <p:cNvSpPr/>
          <p:nvPr/>
        </p:nvSpPr>
        <p:spPr>
          <a:xfrm>
            <a:off x="6848856" y="4242816"/>
            <a:ext cx="3840480" cy="822960"/>
          </a:xfrm>
          <a:prstGeom prst="rect">
            <a:avLst/>
          </a:prstGeom>
          <a:noFill/>
          <a:ln/>
        </p:spPr>
        <p:txBody>
          <a:bodyPr wrap="square" lIns="0" tIns="0" rIns="0" bIns="0" rtlCol="0" anchor="t"/>
          <a:lstStyle/>
          <a:p>
            <a:pPr marL="0" indent="0">
              <a:lnSpc>
                <a:spcPct val="110000"/>
              </a:lnSpc>
              <a:buNone/>
            </a:pPr>
            <a:r>
              <a:rPr lang="en-US" sz="1100" dirty="0">
                <a:solidFill>
                  <a:srgbClr val="6E6B8A"/>
                </a:solidFill>
                <a:latin typeface="Calibri" pitchFamily="34" charset="0"/>
                <a:ea typeface="Calibri" pitchFamily="34" charset="-122"/>
                <a:cs typeface="Calibri" pitchFamily="34" charset="-120"/>
              </a:rPr>
              <a:t>Managed runtimes and platform services, operated in production. We visit here on Day 2.</a:t>
            </a:r>
            <a:endParaRPr lang="en-US" sz="1100" dirty="0"/>
          </a:p>
        </p:txBody>
      </p:sp>
      <p:sp>
        <p:nvSpPr>
          <p:cNvPr id="17" name="Text 15"/>
          <p:cNvSpPr/>
          <p:nvPr/>
        </p:nvSpPr>
        <p:spPr>
          <a:xfrm>
            <a:off x="502920" y="2386584"/>
            <a:ext cx="1554480" cy="274320"/>
          </a:xfrm>
          <a:prstGeom prst="rect">
            <a:avLst/>
          </a:prstGeom>
          <a:noFill/>
          <a:ln/>
        </p:spPr>
        <p:txBody>
          <a:bodyPr wrap="square" lIns="0" tIns="0" rIns="0" bIns="0" rtlCol="0" anchor="ctr"/>
          <a:lstStyle/>
          <a:p>
            <a:pPr marL="0" indent="0" algn="r">
              <a:buNone/>
            </a:pPr>
            <a:r>
              <a:rPr lang="en-US" sz="1000" b="1" kern="0" spc="160" dirty="0">
                <a:solidFill>
                  <a:srgbClr val="9B98B4"/>
                </a:solidFill>
                <a:latin typeface="Calibri" pitchFamily="34" charset="0"/>
                <a:ea typeface="Calibri" pitchFamily="34" charset="-122"/>
                <a:cs typeface="Calibri" pitchFamily="34" charset="-120"/>
              </a:rPr>
              <a:t>BUILDS IT</a:t>
            </a:r>
            <a:endParaRPr lang="en-US" sz="1000" dirty="0"/>
          </a:p>
        </p:txBody>
      </p:sp>
      <p:sp>
        <p:nvSpPr>
          <p:cNvPr id="18" name="Text 16"/>
          <p:cNvSpPr/>
          <p:nvPr/>
        </p:nvSpPr>
        <p:spPr>
          <a:xfrm>
            <a:off x="502920" y="4233672"/>
            <a:ext cx="1554480" cy="274320"/>
          </a:xfrm>
          <a:prstGeom prst="rect">
            <a:avLst/>
          </a:prstGeom>
          <a:noFill/>
          <a:ln/>
        </p:spPr>
        <p:txBody>
          <a:bodyPr wrap="square" lIns="0" tIns="0" rIns="0" bIns="0" rtlCol="0" anchor="ctr"/>
          <a:lstStyle/>
          <a:p>
            <a:pPr marL="0" indent="0" algn="r">
              <a:buNone/>
            </a:pPr>
            <a:r>
              <a:rPr lang="en-US" sz="1000" b="1" kern="0" spc="160" dirty="0">
                <a:solidFill>
                  <a:srgbClr val="9B98B4"/>
                </a:solidFill>
                <a:latin typeface="Calibri" pitchFamily="34" charset="0"/>
                <a:ea typeface="Calibri" pitchFamily="34" charset="-122"/>
                <a:cs typeface="Calibri" pitchFamily="34" charset="-120"/>
              </a:rPr>
              <a:t>RUNS IT</a:t>
            </a:r>
            <a:endParaRPr lang="en-US" sz="1000" dirty="0"/>
          </a:p>
        </p:txBody>
      </p:sp>
      <p:sp>
        <p:nvSpPr>
          <p:cNvPr id="19" name="Text 17"/>
          <p:cNvSpPr/>
          <p:nvPr/>
        </p:nvSpPr>
        <p:spPr>
          <a:xfrm>
            <a:off x="2148840" y="5559552"/>
            <a:ext cx="4315968" cy="256032"/>
          </a:xfrm>
          <a:prstGeom prst="rect">
            <a:avLst/>
          </a:prstGeom>
          <a:noFill/>
          <a:ln/>
        </p:spPr>
        <p:txBody>
          <a:bodyPr wrap="square" lIns="0" tIns="0" rIns="0" bIns="0" rtlCol="0" anchor="ctr"/>
          <a:lstStyle/>
          <a:p>
            <a:pPr marL="0" indent="0" algn="ctr">
              <a:buNone/>
            </a:pPr>
            <a:r>
              <a:rPr lang="en-US" sz="1000" b="1" kern="0" spc="160" dirty="0">
                <a:solidFill>
                  <a:srgbClr val="9B98B4"/>
                </a:solidFill>
                <a:latin typeface="Calibri" pitchFamily="34" charset="0"/>
                <a:ea typeface="Calibri" pitchFamily="34" charset="-122"/>
                <a:cs typeface="Calibri" pitchFamily="34" charset="-120"/>
              </a:rPr>
              <a:t>NON-TECHNICAL</a:t>
            </a:r>
            <a:endParaRPr lang="en-US" sz="1000" dirty="0"/>
          </a:p>
        </p:txBody>
      </p:sp>
      <p:sp>
        <p:nvSpPr>
          <p:cNvPr id="20" name="Text 18"/>
          <p:cNvSpPr/>
          <p:nvPr/>
        </p:nvSpPr>
        <p:spPr>
          <a:xfrm>
            <a:off x="6611112" y="5559552"/>
            <a:ext cx="4315968" cy="256032"/>
          </a:xfrm>
          <a:prstGeom prst="rect">
            <a:avLst/>
          </a:prstGeom>
          <a:noFill/>
          <a:ln/>
        </p:spPr>
        <p:txBody>
          <a:bodyPr wrap="square" lIns="0" tIns="0" rIns="0" bIns="0" rtlCol="0" anchor="ctr"/>
          <a:lstStyle/>
          <a:p>
            <a:pPr marL="0" indent="0" algn="ctr">
              <a:buNone/>
            </a:pPr>
            <a:r>
              <a:rPr lang="en-US" sz="1000" b="1" kern="0" spc="160" dirty="0">
                <a:solidFill>
                  <a:srgbClr val="9B98B4"/>
                </a:solidFill>
                <a:latin typeface="Calibri" pitchFamily="34" charset="0"/>
                <a:ea typeface="Calibri" pitchFamily="34" charset="-122"/>
                <a:cs typeface="Calibri" pitchFamily="34" charset="-120"/>
              </a:rPr>
              <a:t>TECHNICAL</a:t>
            </a:r>
            <a:endParaRPr lang="en-US" sz="1000" dirty="0"/>
          </a:p>
        </p:txBody>
      </p:sp>
      <p:sp>
        <p:nvSpPr>
          <p:cNvPr id="21" name="Shape 19"/>
          <p:cNvSpPr/>
          <p:nvPr/>
        </p:nvSpPr>
        <p:spPr>
          <a:xfrm>
            <a:off x="566928" y="5541264"/>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22" name="Shape 20"/>
          <p:cNvSpPr/>
          <p:nvPr/>
        </p:nvSpPr>
        <p:spPr>
          <a:xfrm>
            <a:off x="841248" y="5760720"/>
            <a:ext cx="384048" cy="384048"/>
          </a:xfrm>
          <a:prstGeom prst="ellipse">
            <a:avLst/>
          </a:prstGeom>
          <a:solidFill>
            <a:srgbClr val="F5A524"/>
          </a:solidFill>
          <a:ln w="12700">
            <a:solidFill>
              <a:srgbClr val="F5A524"/>
            </a:solidFill>
            <a:prstDash val="solid"/>
          </a:ln>
        </p:spPr>
        <p:txBody>
          <a:bodyPr/>
          <a:lstStyle/>
          <a:p>
            <a:endParaRPr lang="en-US"/>
          </a:p>
        </p:txBody>
      </p:sp>
      <p:pic>
        <p:nvPicPr>
          <p:cNvPr id="23" name="Image 0" descr="preencoded.png"/>
          <p:cNvPicPr>
            <a:picLocks noChangeAspect="1"/>
          </p:cNvPicPr>
          <p:nvPr/>
        </p:nvPicPr>
        <p:blipFill>
          <a:blip r:embed="rId3"/>
          <a:stretch>
            <a:fillRect/>
          </a:stretch>
        </p:blipFill>
        <p:spPr>
          <a:xfrm>
            <a:off x="937260" y="5856732"/>
            <a:ext cx="192024" cy="192024"/>
          </a:xfrm>
          <a:prstGeom prst="rect">
            <a:avLst/>
          </a:prstGeom>
        </p:spPr>
      </p:pic>
      <p:sp>
        <p:nvSpPr>
          <p:cNvPr id="24" name="Text 21"/>
          <p:cNvSpPr/>
          <p:nvPr/>
        </p:nvSpPr>
        <p:spPr>
          <a:xfrm>
            <a:off x="1371600" y="5596128"/>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Nobody is in the wrong quadrant. But a tool built in one quadrant usually cannot be governed from another — that is where most enterprise arguments about agents actually come from.</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ORIENTATION · THE ASIDE EVERYONE NEEDS</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3000" b="1" dirty="0">
                <a:solidFill>
                  <a:srgbClr val="141235"/>
                </a:solidFill>
                <a:latin typeface="Cambria" pitchFamily="34" charset="0"/>
                <a:ea typeface="Cambria" pitchFamily="34" charset="-122"/>
                <a:cs typeface="Cambria" pitchFamily="34" charset="-120"/>
              </a:rPr>
              <a:t>Unattended is not the same as agentic</a:t>
            </a:r>
            <a:endParaRPr lang="en-US" sz="3000" dirty="0"/>
          </a:p>
        </p:txBody>
      </p:sp>
      <p:sp>
        <p:nvSpPr>
          <p:cNvPr id="4" name="Text 2"/>
          <p:cNvSpPr/>
          <p:nvPr/>
        </p:nvSpPr>
        <p:spPr>
          <a:xfrm>
            <a:off x="566928" y="1371600"/>
            <a:ext cx="11057839" cy="310896"/>
          </a:xfrm>
          <a:prstGeom prst="rect">
            <a:avLst/>
          </a:prstGeom>
          <a:noFill/>
          <a:ln/>
        </p:spPr>
        <p:txBody>
          <a:bodyPr wrap="square" lIns="0" tIns="0" rIns="0" bIns="0" rtlCol="0" anchor="t"/>
          <a:lstStyle/>
          <a:p>
            <a:pPr marL="0" indent="0">
              <a:buNone/>
            </a:pPr>
            <a:r>
              <a:rPr lang="en-US" sz="1400" dirty="0">
                <a:solidFill>
                  <a:srgbClr val="3B3760"/>
                </a:solidFill>
                <a:latin typeface="Calibri" pitchFamily="34" charset="0"/>
                <a:ea typeface="Calibri" pitchFamily="34" charset="-122"/>
                <a:cs typeface="Calibri" pitchFamily="34" charset="-120"/>
              </a:rPr>
              <a:t>You almost certainly already automate things. The confusion is that RPA runs at 3am with nobody watching, so it feels autonomous — but nothing in it ever decides anything.</a:t>
            </a:r>
            <a:endParaRPr lang="en-US" sz="1400" dirty="0"/>
          </a:p>
        </p:txBody>
      </p:sp>
      <p:sp>
        <p:nvSpPr>
          <p:cNvPr id="5" name="Shape 3"/>
          <p:cNvSpPr/>
          <p:nvPr/>
        </p:nvSpPr>
        <p:spPr>
          <a:xfrm>
            <a:off x="566928" y="2084832"/>
            <a:ext cx="5391760" cy="3218688"/>
          </a:xfrm>
          <a:prstGeom prst="roundRect">
            <a:avLst>
              <a:gd name="adj" fmla="val 2841"/>
            </a:avLst>
          </a:prstGeom>
          <a:solidFill>
            <a:srgbClr val="FFFFFF"/>
          </a:solidFill>
          <a:ln w="17780">
            <a:solidFill>
              <a:srgbClr val="A9DCE3"/>
            </a:solidFill>
            <a:prstDash val="solid"/>
          </a:ln>
          <a:effectLst>
            <a:outerShdw blurRad="114300" dist="572" dir="5400000" algn="bl" rotWithShape="0">
              <a:srgbClr val="1B1A4A">
                <a:alpha val="7000"/>
              </a:srgbClr>
            </a:outerShdw>
          </a:effectLst>
        </p:spPr>
        <p:txBody>
          <a:bodyPr/>
          <a:lstStyle/>
          <a:p>
            <a:endParaRPr lang="en-US"/>
          </a:p>
        </p:txBody>
      </p:sp>
      <p:sp>
        <p:nvSpPr>
          <p:cNvPr id="6" name="Shape 4"/>
          <p:cNvSpPr/>
          <p:nvPr/>
        </p:nvSpPr>
        <p:spPr>
          <a:xfrm>
            <a:off x="804672" y="2231136"/>
            <a:ext cx="402336" cy="402336"/>
          </a:xfrm>
          <a:prstGeom prst="ellipse">
            <a:avLst/>
          </a:prstGeom>
          <a:solidFill>
            <a:srgbClr val="0E8C9E"/>
          </a:solidFill>
          <a:ln w="12700">
            <a:solidFill>
              <a:srgbClr val="0E8C9E"/>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905256" y="2331720"/>
            <a:ext cx="201168" cy="201168"/>
          </a:xfrm>
          <a:prstGeom prst="rect">
            <a:avLst/>
          </a:prstGeom>
        </p:spPr>
      </p:pic>
      <p:sp>
        <p:nvSpPr>
          <p:cNvPr id="8" name="Text 5"/>
          <p:cNvSpPr/>
          <p:nvPr/>
        </p:nvSpPr>
        <p:spPr>
          <a:xfrm>
            <a:off x="1335024" y="2231136"/>
            <a:ext cx="4385920" cy="274320"/>
          </a:xfrm>
          <a:prstGeom prst="rect">
            <a:avLst/>
          </a:prstGeom>
          <a:noFill/>
          <a:ln/>
        </p:spPr>
        <p:txBody>
          <a:bodyPr wrap="square" lIns="0" tIns="0" rIns="0" bIns="0" rtlCol="0" anchor="ctr"/>
          <a:lstStyle/>
          <a:p>
            <a:pPr marL="0" indent="0">
              <a:buNone/>
            </a:pPr>
            <a:r>
              <a:rPr lang="en-US" sz="1550" b="1" dirty="0">
                <a:solidFill>
                  <a:srgbClr val="141235"/>
                </a:solidFill>
                <a:latin typeface="Calibri" pitchFamily="34" charset="0"/>
                <a:ea typeface="Calibri" pitchFamily="34" charset="-122"/>
                <a:cs typeface="Calibri" pitchFamily="34" charset="-120"/>
              </a:rPr>
              <a:t>RPA and workflow automation</a:t>
            </a:r>
            <a:endParaRPr lang="en-US" sz="1550" dirty="0"/>
          </a:p>
        </p:txBody>
      </p:sp>
      <p:sp>
        <p:nvSpPr>
          <p:cNvPr id="9" name="Text 6"/>
          <p:cNvSpPr/>
          <p:nvPr/>
        </p:nvSpPr>
        <p:spPr>
          <a:xfrm>
            <a:off x="1335024" y="2505456"/>
            <a:ext cx="4385920" cy="237744"/>
          </a:xfrm>
          <a:prstGeom prst="rect">
            <a:avLst/>
          </a:prstGeom>
          <a:noFill/>
          <a:ln/>
        </p:spPr>
        <p:txBody>
          <a:bodyPr wrap="square" lIns="0" tIns="0" rIns="0" bIns="0" rtlCol="0" anchor="ctr"/>
          <a:lstStyle/>
          <a:p>
            <a:pPr marL="0" indent="0">
              <a:buNone/>
            </a:pPr>
            <a:r>
              <a:rPr lang="en-US" sz="1050" i="1" dirty="0">
                <a:solidFill>
                  <a:srgbClr val="0E8C9E"/>
                </a:solidFill>
                <a:latin typeface="Calibri" pitchFamily="34" charset="0"/>
                <a:ea typeface="Calibri" pitchFamily="34" charset="-122"/>
                <a:cs typeface="Calibri" pitchFamily="34" charset="-120"/>
              </a:rPr>
              <a:t>you wrote every step</a:t>
            </a:r>
            <a:endParaRPr lang="en-US" sz="1050" dirty="0"/>
          </a:p>
        </p:txBody>
      </p:sp>
      <p:sp>
        <p:nvSpPr>
          <p:cNvPr id="10" name="Shape 7"/>
          <p:cNvSpPr/>
          <p:nvPr/>
        </p:nvSpPr>
        <p:spPr>
          <a:xfrm>
            <a:off x="749808" y="2852928"/>
            <a:ext cx="5026000" cy="365760"/>
          </a:xfrm>
          <a:prstGeom prst="roundRect">
            <a:avLst>
              <a:gd name="adj" fmla="val 12500"/>
            </a:avLst>
          </a:prstGeom>
          <a:solidFill>
            <a:srgbClr val="F5F6FC"/>
          </a:solidFill>
          <a:ln w="12700">
            <a:solidFill>
              <a:srgbClr val="F5F6FC"/>
            </a:solidFill>
            <a:prstDash val="solid"/>
          </a:ln>
        </p:spPr>
        <p:txBody>
          <a:bodyPr/>
          <a:lstStyle/>
          <a:p>
            <a:endParaRPr lang="en-US"/>
          </a:p>
        </p:txBody>
      </p:sp>
      <p:sp>
        <p:nvSpPr>
          <p:cNvPr id="11" name="Text 8"/>
          <p:cNvSpPr/>
          <p:nvPr/>
        </p:nvSpPr>
        <p:spPr>
          <a:xfrm>
            <a:off x="859536" y="2852928"/>
            <a:ext cx="2103120" cy="365760"/>
          </a:xfrm>
          <a:prstGeom prst="rect">
            <a:avLst/>
          </a:prstGeom>
          <a:noFill/>
          <a:ln/>
        </p:spPr>
        <p:txBody>
          <a:bodyPr wrap="square" lIns="0" tIns="0" rIns="0" bIns="0" rtlCol="0" anchor="ctr"/>
          <a:lstStyle/>
          <a:p>
            <a:pPr marL="0" indent="0">
              <a:buNone/>
            </a:pPr>
            <a:r>
              <a:rPr lang="en-US" sz="1000" dirty="0">
                <a:solidFill>
                  <a:srgbClr val="9B98B4"/>
                </a:solidFill>
                <a:latin typeface="Calibri" pitchFamily="34" charset="0"/>
                <a:ea typeface="Calibri" pitchFamily="34" charset="-122"/>
                <a:cs typeface="Calibri" pitchFamily="34" charset="-120"/>
              </a:rPr>
              <a:t>Decides the next step</a:t>
            </a:r>
            <a:endParaRPr lang="en-US" sz="1000" dirty="0"/>
          </a:p>
        </p:txBody>
      </p:sp>
      <p:sp>
        <p:nvSpPr>
          <p:cNvPr id="12" name="Text 9"/>
          <p:cNvSpPr/>
          <p:nvPr/>
        </p:nvSpPr>
        <p:spPr>
          <a:xfrm>
            <a:off x="3017520" y="2852928"/>
            <a:ext cx="2740000" cy="365760"/>
          </a:xfrm>
          <a:prstGeom prst="rect">
            <a:avLst/>
          </a:prstGeom>
          <a:noFill/>
          <a:ln/>
        </p:spPr>
        <p:txBody>
          <a:bodyPr wrap="square" lIns="0" tIns="0" rIns="0" bIns="0" rtlCol="0" anchor="ctr"/>
          <a:lstStyle/>
          <a:p>
            <a:pPr marL="0" indent="0">
              <a:buNone/>
            </a:pPr>
            <a:r>
              <a:rPr lang="en-US" sz="1100" b="1" dirty="0">
                <a:solidFill>
                  <a:srgbClr val="3B3760"/>
                </a:solidFill>
                <a:latin typeface="Calibri" pitchFamily="34" charset="0"/>
                <a:ea typeface="Calibri" pitchFamily="34" charset="-122"/>
                <a:cs typeface="Calibri" pitchFamily="34" charset="-120"/>
              </a:rPr>
              <a:t>You did, at design time</a:t>
            </a:r>
            <a:endParaRPr lang="en-US" sz="1100" dirty="0"/>
          </a:p>
        </p:txBody>
      </p:sp>
      <p:sp>
        <p:nvSpPr>
          <p:cNvPr id="13" name="Text 10"/>
          <p:cNvSpPr/>
          <p:nvPr/>
        </p:nvSpPr>
        <p:spPr>
          <a:xfrm>
            <a:off x="859536" y="3255264"/>
            <a:ext cx="2103120" cy="365760"/>
          </a:xfrm>
          <a:prstGeom prst="rect">
            <a:avLst/>
          </a:prstGeom>
          <a:noFill/>
          <a:ln/>
        </p:spPr>
        <p:txBody>
          <a:bodyPr wrap="square" lIns="0" tIns="0" rIns="0" bIns="0" rtlCol="0" anchor="ctr"/>
          <a:lstStyle/>
          <a:p>
            <a:pPr marL="0" indent="0">
              <a:buNone/>
            </a:pPr>
            <a:r>
              <a:rPr lang="en-US" sz="1000" dirty="0">
                <a:solidFill>
                  <a:srgbClr val="9B98B4"/>
                </a:solidFill>
                <a:latin typeface="Calibri" pitchFamily="34" charset="0"/>
                <a:ea typeface="Calibri" pitchFamily="34" charset="-122"/>
                <a:cs typeface="Calibri" pitchFamily="34" charset="-120"/>
              </a:rPr>
              <a:t>Input it can handle</a:t>
            </a:r>
            <a:endParaRPr lang="en-US" sz="1000" dirty="0"/>
          </a:p>
        </p:txBody>
      </p:sp>
      <p:sp>
        <p:nvSpPr>
          <p:cNvPr id="14" name="Text 11"/>
          <p:cNvSpPr/>
          <p:nvPr/>
        </p:nvSpPr>
        <p:spPr>
          <a:xfrm>
            <a:off x="3017520" y="3255264"/>
            <a:ext cx="2740000" cy="365760"/>
          </a:xfrm>
          <a:prstGeom prst="rect">
            <a:avLst/>
          </a:prstGeom>
          <a:noFill/>
          <a:ln/>
        </p:spPr>
        <p:txBody>
          <a:bodyPr wrap="square" lIns="0" tIns="0" rIns="0" bIns="0" rtlCol="0" anchor="ctr"/>
          <a:lstStyle/>
          <a:p>
            <a:pPr marL="0" indent="0">
              <a:buNone/>
            </a:pPr>
            <a:r>
              <a:rPr lang="en-US" sz="1100" b="1" dirty="0">
                <a:solidFill>
                  <a:srgbClr val="3B3760"/>
                </a:solidFill>
                <a:latin typeface="Calibri" pitchFamily="34" charset="0"/>
                <a:ea typeface="Calibri" pitchFamily="34" charset="-122"/>
                <a:cs typeface="Calibri" pitchFamily="34" charset="-120"/>
              </a:rPr>
              <a:t>Structured and predictable</a:t>
            </a:r>
            <a:endParaRPr lang="en-US" sz="1100" dirty="0"/>
          </a:p>
        </p:txBody>
      </p:sp>
      <p:sp>
        <p:nvSpPr>
          <p:cNvPr id="15" name="Shape 12"/>
          <p:cNvSpPr/>
          <p:nvPr/>
        </p:nvSpPr>
        <p:spPr>
          <a:xfrm>
            <a:off x="749808" y="3657600"/>
            <a:ext cx="5026000" cy="365760"/>
          </a:xfrm>
          <a:prstGeom prst="roundRect">
            <a:avLst>
              <a:gd name="adj" fmla="val 12500"/>
            </a:avLst>
          </a:prstGeom>
          <a:solidFill>
            <a:srgbClr val="F5F6FC"/>
          </a:solidFill>
          <a:ln w="12700">
            <a:solidFill>
              <a:srgbClr val="F5F6FC"/>
            </a:solidFill>
            <a:prstDash val="solid"/>
          </a:ln>
        </p:spPr>
        <p:txBody>
          <a:bodyPr/>
          <a:lstStyle/>
          <a:p>
            <a:endParaRPr lang="en-US"/>
          </a:p>
        </p:txBody>
      </p:sp>
      <p:sp>
        <p:nvSpPr>
          <p:cNvPr id="16" name="Text 13"/>
          <p:cNvSpPr/>
          <p:nvPr/>
        </p:nvSpPr>
        <p:spPr>
          <a:xfrm>
            <a:off x="859536" y="3657600"/>
            <a:ext cx="2103120" cy="365760"/>
          </a:xfrm>
          <a:prstGeom prst="rect">
            <a:avLst/>
          </a:prstGeom>
          <a:noFill/>
          <a:ln/>
        </p:spPr>
        <p:txBody>
          <a:bodyPr wrap="square" lIns="0" tIns="0" rIns="0" bIns="0" rtlCol="0" anchor="ctr"/>
          <a:lstStyle/>
          <a:p>
            <a:pPr marL="0" indent="0">
              <a:buNone/>
            </a:pPr>
            <a:r>
              <a:rPr lang="en-US" sz="1000" dirty="0">
                <a:solidFill>
                  <a:srgbClr val="9B98B4"/>
                </a:solidFill>
                <a:latin typeface="Calibri" pitchFamily="34" charset="0"/>
                <a:ea typeface="Calibri" pitchFamily="34" charset="-122"/>
                <a:cs typeface="Calibri" pitchFamily="34" charset="-120"/>
              </a:rPr>
              <a:t>Same input twice</a:t>
            </a:r>
            <a:endParaRPr lang="en-US" sz="1000" dirty="0"/>
          </a:p>
        </p:txBody>
      </p:sp>
      <p:sp>
        <p:nvSpPr>
          <p:cNvPr id="17" name="Text 14"/>
          <p:cNvSpPr/>
          <p:nvPr/>
        </p:nvSpPr>
        <p:spPr>
          <a:xfrm>
            <a:off x="3017520" y="3657600"/>
            <a:ext cx="2740000" cy="365760"/>
          </a:xfrm>
          <a:prstGeom prst="rect">
            <a:avLst/>
          </a:prstGeom>
          <a:noFill/>
          <a:ln/>
        </p:spPr>
        <p:txBody>
          <a:bodyPr wrap="square" lIns="0" tIns="0" rIns="0" bIns="0" rtlCol="0" anchor="ctr"/>
          <a:lstStyle/>
          <a:p>
            <a:pPr marL="0" indent="0">
              <a:buNone/>
            </a:pPr>
            <a:r>
              <a:rPr lang="en-US" sz="1100" b="1" dirty="0">
                <a:solidFill>
                  <a:srgbClr val="3B3760"/>
                </a:solidFill>
                <a:latin typeface="Calibri" pitchFamily="34" charset="0"/>
                <a:ea typeface="Calibri" pitchFamily="34" charset="-122"/>
                <a:cs typeface="Calibri" pitchFamily="34" charset="-120"/>
              </a:rPr>
              <a:t>Identical output, every time</a:t>
            </a:r>
            <a:endParaRPr lang="en-US" sz="1100" dirty="0"/>
          </a:p>
        </p:txBody>
      </p:sp>
      <p:sp>
        <p:nvSpPr>
          <p:cNvPr id="18" name="Text 15"/>
          <p:cNvSpPr/>
          <p:nvPr/>
        </p:nvSpPr>
        <p:spPr>
          <a:xfrm>
            <a:off x="859536" y="4059936"/>
            <a:ext cx="2103120" cy="365760"/>
          </a:xfrm>
          <a:prstGeom prst="rect">
            <a:avLst/>
          </a:prstGeom>
          <a:noFill/>
          <a:ln/>
        </p:spPr>
        <p:txBody>
          <a:bodyPr wrap="square" lIns="0" tIns="0" rIns="0" bIns="0" rtlCol="0" anchor="ctr"/>
          <a:lstStyle/>
          <a:p>
            <a:pPr marL="0" indent="0">
              <a:buNone/>
            </a:pPr>
            <a:r>
              <a:rPr lang="en-US" sz="1000" dirty="0">
                <a:solidFill>
                  <a:srgbClr val="9B98B4"/>
                </a:solidFill>
                <a:latin typeface="Calibri" pitchFamily="34" charset="0"/>
                <a:ea typeface="Calibri" pitchFamily="34" charset="-122"/>
                <a:cs typeface="Calibri" pitchFamily="34" charset="-120"/>
              </a:rPr>
              <a:t>Breaks when</a:t>
            </a:r>
            <a:endParaRPr lang="en-US" sz="1000" dirty="0"/>
          </a:p>
        </p:txBody>
      </p:sp>
      <p:sp>
        <p:nvSpPr>
          <p:cNvPr id="19" name="Text 16"/>
          <p:cNvSpPr/>
          <p:nvPr/>
        </p:nvSpPr>
        <p:spPr>
          <a:xfrm>
            <a:off x="3017520" y="4059936"/>
            <a:ext cx="2740000" cy="365760"/>
          </a:xfrm>
          <a:prstGeom prst="rect">
            <a:avLst/>
          </a:prstGeom>
          <a:noFill/>
          <a:ln/>
        </p:spPr>
        <p:txBody>
          <a:bodyPr wrap="square" lIns="0" tIns="0" rIns="0" bIns="0" rtlCol="0" anchor="ctr"/>
          <a:lstStyle/>
          <a:p>
            <a:pPr marL="0" indent="0">
              <a:buNone/>
            </a:pPr>
            <a:r>
              <a:rPr lang="en-US" sz="1100" b="1" dirty="0">
                <a:solidFill>
                  <a:srgbClr val="3B3760"/>
                </a:solidFill>
                <a:latin typeface="Calibri" pitchFamily="34" charset="0"/>
                <a:ea typeface="Calibri" pitchFamily="34" charset="-122"/>
                <a:cs typeface="Calibri" pitchFamily="34" charset="-120"/>
              </a:rPr>
              <a:t>The screen or the form changes</a:t>
            </a:r>
            <a:endParaRPr lang="en-US" sz="1100" dirty="0"/>
          </a:p>
        </p:txBody>
      </p:sp>
      <p:sp>
        <p:nvSpPr>
          <p:cNvPr id="20" name="Shape 17"/>
          <p:cNvSpPr/>
          <p:nvPr/>
        </p:nvSpPr>
        <p:spPr>
          <a:xfrm>
            <a:off x="749808" y="4462272"/>
            <a:ext cx="5026000" cy="365760"/>
          </a:xfrm>
          <a:prstGeom prst="roundRect">
            <a:avLst>
              <a:gd name="adj" fmla="val 12500"/>
            </a:avLst>
          </a:prstGeom>
          <a:solidFill>
            <a:srgbClr val="F5F6FC"/>
          </a:solidFill>
          <a:ln w="12700">
            <a:solidFill>
              <a:srgbClr val="F5F6FC"/>
            </a:solidFill>
            <a:prstDash val="solid"/>
          </a:ln>
        </p:spPr>
        <p:txBody>
          <a:bodyPr/>
          <a:lstStyle/>
          <a:p>
            <a:endParaRPr lang="en-US"/>
          </a:p>
        </p:txBody>
      </p:sp>
      <p:sp>
        <p:nvSpPr>
          <p:cNvPr id="21" name="Text 18"/>
          <p:cNvSpPr/>
          <p:nvPr/>
        </p:nvSpPr>
        <p:spPr>
          <a:xfrm>
            <a:off x="859536" y="4462272"/>
            <a:ext cx="2103120" cy="365760"/>
          </a:xfrm>
          <a:prstGeom prst="rect">
            <a:avLst/>
          </a:prstGeom>
          <a:noFill/>
          <a:ln/>
        </p:spPr>
        <p:txBody>
          <a:bodyPr wrap="square" lIns="0" tIns="0" rIns="0" bIns="0" rtlCol="0" anchor="ctr"/>
          <a:lstStyle/>
          <a:p>
            <a:pPr marL="0" indent="0">
              <a:buNone/>
            </a:pPr>
            <a:r>
              <a:rPr lang="en-US" sz="1000" dirty="0">
                <a:solidFill>
                  <a:srgbClr val="9B98B4"/>
                </a:solidFill>
                <a:latin typeface="Calibri" pitchFamily="34" charset="0"/>
                <a:ea typeface="Calibri" pitchFamily="34" charset="-122"/>
                <a:cs typeface="Calibri" pitchFamily="34" charset="-120"/>
              </a:rPr>
              <a:t>Cost per run</a:t>
            </a:r>
            <a:endParaRPr lang="en-US" sz="1000" dirty="0"/>
          </a:p>
        </p:txBody>
      </p:sp>
      <p:sp>
        <p:nvSpPr>
          <p:cNvPr id="22" name="Text 19"/>
          <p:cNvSpPr/>
          <p:nvPr/>
        </p:nvSpPr>
        <p:spPr>
          <a:xfrm>
            <a:off x="3017520" y="4462272"/>
            <a:ext cx="2740000" cy="365760"/>
          </a:xfrm>
          <a:prstGeom prst="rect">
            <a:avLst/>
          </a:prstGeom>
          <a:noFill/>
          <a:ln/>
        </p:spPr>
        <p:txBody>
          <a:bodyPr wrap="square" lIns="0" tIns="0" rIns="0" bIns="0" rtlCol="0" anchor="ctr"/>
          <a:lstStyle/>
          <a:p>
            <a:pPr marL="0" indent="0">
              <a:buNone/>
            </a:pPr>
            <a:r>
              <a:rPr lang="en-US" sz="1100" b="1" dirty="0">
                <a:solidFill>
                  <a:srgbClr val="3B3760"/>
                </a:solidFill>
                <a:latin typeface="Calibri" pitchFamily="34" charset="0"/>
                <a:ea typeface="Calibri" pitchFamily="34" charset="-122"/>
                <a:cs typeface="Calibri" pitchFamily="34" charset="-120"/>
              </a:rPr>
              <a:t>Effectively zero</a:t>
            </a:r>
            <a:endParaRPr lang="en-US" sz="1100" dirty="0"/>
          </a:p>
        </p:txBody>
      </p:sp>
      <p:sp>
        <p:nvSpPr>
          <p:cNvPr id="23" name="Text 20"/>
          <p:cNvSpPr/>
          <p:nvPr/>
        </p:nvSpPr>
        <p:spPr>
          <a:xfrm>
            <a:off x="859536" y="4864608"/>
            <a:ext cx="2103120" cy="365760"/>
          </a:xfrm>
          <a:prstGeom prst="rect">
            <a:avLst/>
          </a:prstGeom>
          <a:noFill/>
          <a:ln/>
        </p:spPr>
        <p:txBody>
          <a:bodyPr wrap="square" lIns="0" tIns="0" rIns="0" bIns="0" rtlCol="0" anchor="ctr"/>
          <a:lstStyle/>
          <a:p>
            <a:pPr marL="0" indent="0">
              <a:buNone/>
            </a:pPr>
            <a:r>
              <a:rPr lang="en-US" sz="1000" dirty="0">
                <a:solidFill>
                  <a:srgbClr val="9B98B4"/>
                </a:solidFill>
                <a:latin typeface="Calibri" pitchFamily="34" charset="0"/>
                <a:ea typeface="Calibri" pitchFamily="34" charset="-122"/>
                <a:cs typeface="Calibri" pitchFamily="34" charset="-120"/>
              </a:rPr>
              <a:t>Auditability</a:t>
            </a:r>
            <a:endParaRPr lang="en-US" sz="1000" dirty="0"/>
          </a:p>
        </p:txBody>
      </p:sp>
      <p:sp>
        <p:nvSpPr>
          <p:cNvPr id="24" name="Text 21"/>
          <p:cNvSpPr/>
          <p:nvPr/>
        </p:nvSpPr>
        <p:spPr>
          <a:xfrm>
            <a:off x="3017520" y="4864608"/>
            <a:ext cx="2740000" cy="365760"/>
          </a:xfrm>
          <a:prstGeom prst="rect">
            <a:avLst/>
          </a:prstGeom>
          <a:noFill/>
          <a:ln/>
        </p:spPr>
        <p:txBody>
          <a:bodyPr wrap="square" lIns="0" tIns="0" rIns="0" bIns="0" rtlCol="0" anchor="ctr"/>
          <a:lstStyle/>
          <a:p>
            <a:pPr marL="0" indent="0">
              <a:buNone/>
            </a:pPr>
            <a:r>
              <a:rPr lang="en-US" sz="1100" b="1" dirty="0">
                <a:solidFill>
                  <a:srgbClr val="3B3760"/>
                </a:solidFill>
                <a:latin typeface="Calibri" pitchFamily="34" charset="0"/>
                <a:ea typeface="Calibri" pitchFamily="34" charset="-122"/>
                <a:cs typeface="Calibri" pitchFamily="34" charset="-120"/>
              </a:rPr>
              <a:t>Perfect, by construction</a:t>
            </a:r>
            <a:endParaRPr lang="en-US" sz="1100" dirty="0"/>
          </a:p>
        </p:txBody>
      </p:sp>
      <p:sp>
        <p:nvSpPr>
          <p:cNvPr id="25" name="Shape 22"/>
          <p:cNvSpPr/>
          <p:nvPr/>
        </p:nvSpPr>
        <p:spPr>
          <a:xfrm>
            <a:off x="6233008" y="2084832"/>
            <a:ext cx="5391760" cy="3218688"/>
          </a:xfrm>
          <a:prstGeom prst="roundRect">
            <a:avLst>
              <a:gd name="adj" fmla="val 2841"/>
            </a:avLst>
          </a:prstGeom>
          <a:solidFill>
            <a:srgbClr val="FFFFFF"/>
          </a:solidFill>
          <a:ln w="17780">
            <a:solidFill>
              <a:srgbClr val="8E82F5"/>
            </a:solidFill>
            <a:prstDash val="solid"/>
          </a:ln>
          <a:effectLst>
            <a:outerShdw blurRad="114300" dist="572" dir="5400000" algn="bl" rotWithShape="0">
              <a:srgbClr val="1B1A4A">
                <a:alpha val="7000"/>
              </a:srgbClr>
            </a:outerShdw>
          </a:effectLst>
        </p:spPr>
        <p:txBody>
          <a:bodyPr/>
          <a:lstStyle/>
          <a:p>
            <a:endParaRPr lang="en-US"/>
          </a:p>
        </p:txBody>
      </p:sp>
      <p:sp>
        <p:nvSpPr>
          <p:cNvPr id="26" name="Shape 23"/>
          <p:cNvSpPr/>
          <p:nvPr/>
        </p:nvSpPr>
        <p:spPr>
          <a:xfrm>
            <a:off x="6470752" y="2231136"/>
            <a:ext cx="402336" cy="402336"/>
          </a:xfrm>
          <a:prstGeom prst="ellipse">
            <a:avLst/>
          </a:prstGeom>
          <a:solidFill>
            <a:srgbClr val="5B4BE8"/>
          </a:solidFill>
          <a:ln w="12700">
            <a:solidFill>
              <a:srgbClr val="5B4BE8"/>
            </a:solidFill>
            <a:prstDash val="solid"/>
          </a:ln>
        </p:spPr>
        <p:txBody>
          <a:bodyPr/>
          <a:lstStyle/>
          <a:p>
            <a:endParaRPr lang="en-US"/>
          </a:p>
        </p:txBody>
      </p:sp>
      <p:pic>
        <p:nvPicPr>
          <p:cNvPr id="27" name="Image 1" descr="preencoded.png"/>
          <p:cNvPicPr>
            <a:picLocks noChangeAspect="1"/>
          </p:cNvPicPr>
          <p:nvPr/>
        </p:nvPicPr>
        <p:blipFill>
          <a:blip r:embed="rId4"/>
          <a:stretch>
            <a:fillRect/>
          </a:stretch>
        </p:blipFill>
        <p:spPr>
          <a:xfrm>
            <a:off x="6571336" y="2331720"/>
            <a:ext cx="201168" cy="201168"/>
          </a:xfrm>
          <a:prstGeom prst="rect">
            <a:avLst/>
          </a:prstGeom>
        </p:spPr>
      </p:pic>
      <p:sp>
        <p:nvSpPr>
          <p:cNvPr id="28" name="Text 24"/>
          <p:cNvSpPr/>
          <p:nvPr/>
        </p:nvSpPr>
        <p:spPr>
          <a:xfrm>
            <a:off x="7001104" y="2231136"/>
            <a:ext cx="4385920" cy="274320"/>
          </a:xfrm>
          <a:prstGeom prst="rect">
            <a:avLst/>
          </a:prstGeom>
          <a:noFill/>
          <a:ln/>
        </p:spPr>
        <p:txBody>
          <a:bodyPr wrap="square" lIns="0" tIns="0" rIns="0" bIns="0" rtlCol="0" anchor="ctr"/>
          <a:lstStyle/>
          <a:p>
            <a:pPr marL="0" indent="0">
              <a:buNone/>
            </a:pPr>
            <a:r>
              <a:rPr lang="en-US" sz="1550" b="1" dirty="0">
                <a:solidFill>
                  <a:srgbClr val="141235"/>
                </a:solidFill>
                <a:latin typeface="Calibri" pitchFamily="34" charset="0"/>
                <a:ea typeface="Calibri" pitchFamily="34" charset="-122"/>
                <a:cs typeface="Calibri" pitchFamily="34" charset="-120"/>
              </a:rPr>
              <a:t>An agent</a:t>
            </a:r>
            <a:endParaRPr lang="en-US" sz="1550" dirty="0"/>
          </a:p>
        </p:txBody>
      </p:sp>
      <p:sp>
        <p:nvSpPr>
          <p:cNvPr id="29" name="Text 25"/>
          <p:cNvSpPr/>
          <p:nvPr/>
        </p:nvSpPr>
        <p:spPr>
          <a:xfrm>
            <a:off x="7001104" y="2505456"/>
            <a:ext cx="4385920" cy="237744"/>
          </a:xfrm>
          <a:prstGeom prst="rect">
            <a:avLst/>
          </a:prstGeom>
          <a:noFill/>
          <a:ln/>
        </p:spPr>
        <p:txBody>
          <a:bodyPr wrap="square" lIns="0" tIns="0" rIns="0" bIns="0" rtlCol="0" anchor="ctr"/>
          <a:lstStyle/>
          <a:p>
            <a:pPr marL="0" indent="0">
              <a:buNone/>
            </a:pPr>
            <a:r>
              <a:rPr lang="en-US" sz="1050" i="1" dirty="0">
                <a:solidFill>
                  <a:srgbClr val="5B4BE8"/>
                </a:solidFill>
                <a:latin typeface="Calibri" pitchFamily="34" charset="0"/>
                <a:ea typeface="Calibri" pitchFamily="34" charset="-122"/>
                <a:cs typeface="Calibri" pitchFamily="34" charset="-120"/>
              </a:rPr>
              <a:t>the model picks the next step</a:t>
            </a:r>
            <a:endParaRPr lang="en-US" sz="1050" dirty="0"/>
          </a:p>
        </p:txBody>
      </p:sp>
      <p:sp>
        <p:nvSpPr>
          <p:cNvPr id="30" name="Shape 26"/>
          <p:cNvSpPr/>
          <p:nvPr/>
        </p:nvSpPr>
        <p:spPr>
          <a:xfrm>
            <a:off x="6415888" y="2852928"/>
            <a:ext cx="5026000" cy="365760"/>
          </a:xfrm>
          <a:prstGeom prst="roundRect">
            <a:avLst>
              <a:gd name="adj" fmla="val 12500"/>
            </a:avLst>
          </a:prstGeom>
          <a:solidFill>
            <a:srgbClr val="F5F6FC"/>
          </a:solidFill>
          <a:ln w="12700">
            <a:solidFill>
              <a:srgbClr val="F5F6FC"/>
            </a:solidFill>
            <a:prstDash val="solid"/>
          </a:ln>
        </p:spPr>
        <p:txBody>
          <a:bodyPr/>
          <a:lstStyle/>
          <a:p>
            <a:endParaRPr lang="en-US"/>
          </a:p>
        </p:txBody>
      </p:sp>
      <p:sp>
        <p:nvSpPr>
          <p:cNvPr id="31" name="Text 27"/>
          <p:cNvSpPr/>
          <p:nvPr/>
        </p:nvSpPr>
        <p:spPr>
          <a:xfrm>
            <a:off x="6525616" y="2852928"/>
            <a:ext cx="2103120" cy="365760"/>
          </a:xfrm>
          <a:prstGeom prst="rect">
            <a:avLst/>
          </a:prstGeom>
          <a:noFill/>
          <a:ln/>
        </p:spPr>
        <p:txBody>
          <a:bodyPr wrap="square" lIns="0" tIns="0" rIns="0" bIns="0" rtlCol="0" anchor="ctr"/>
          <a:lstStyle/>
          <a:p>
            <a:pPr marL="0" indent="0">
              <a:buNone/>
            </a:pPr>
            <a:r>
              <a:rPr lang="en-US" sz="1000" dirty="0">
                <a:solidFill>
                  <a:srgbClr val="9B98B4"/>
                </a:solidFill>
                <a:latin typeface="Calibri" pitchFamily="34" charset="0"/>
                <a:ea typeface="Calibri" pitchFamily="34" charset="-122"/>
                <a:cs typeface="Calibri" pitchFamily="34" charset="-120"/>
              </a:rPr>
              <a:t>Decides the next step</a:t>
            </a:r>
            <a:endParaRPr lang="en-US" sz="1000" dirty="0"/>
          </a:p>
        </p:txBody>
      </p:sp>
      <p:sp>
        <p:nvSpPr>
          <p:cNvPr id="32" name="Text 28"/>
          <p:cNvSpPr/>
          <p:nvPr/>
        </p:nvSpPr>
        <p:spPr>
          <a:xfrm>
            <a:off x="8683600" y="2852928"/>
            <a:ext cx="2740000" cy="365760"/>
          </a:xfrm>
          <a:prstGeom prst="rect">
            <a:avLst/>
          </a:prstGeom>
          <a:noFill/>
          <a:ln/>
        </p:spPr>
        <p:txBody>
          <a:bodyPr wrap="square" lIns="0" tIns="0" rIns="0" bIns="0" rtlCol="0" anchor="ctr"/>
          <a:lstStyle/>
          <a:p>
            <a:pPr marL="0" indent="0">
              <a:buNone/>
            </a:pPr>
            <a:r>
              <a:rPr lang="en-US" sz="1100" b="1" dirty="0">
                <a:solidFill>
                  <a:srgbClr val="3B3760"/>
                </a:solidFill>
                <a:latin typeface="Calibri" pitchFamily="34" charset="0"/>
                <a:ea typeface="Calibri" pitchFamily="34" charset="-122"/>
                <a:cs typeface="Calibri" pitchFamily="34" charset="-120"/>
              </a:rPr>
              <a:t>The model does, at run time</a:t>
            </a:r>
            <a:endParaRPr lang="en-US" sz="1100" dirty="0"/>
          </a:p>
        </p:txBody>
      </p:sp>
      <p:sp>
        <p:nvSpPr>
          <p:cNvPr id="33" name="Text 29"/>
          <p:cNvSpPr/>
          <p:nvPr/>
        </p:nvSpPr>
        <p:spPr>
          <a:xfrm>
            <a:off x="6525616" y="3255264"/>
            <a:ext cx="2103120" cy="365760"/>
          </a:xfrm>
          <a:prstGeom prst="rect">
            <a:avLst/>
          </a:prstGeom>
          <a:noFill/>
          <a:ln/>
        </p:spPr>
        <p:txBody>
          <a:bodyPr wrap="square" lIns="0" tIns="0" rIns="0" bIns="0" rtlCol="0" anchor="ctr"/>
          <a:lstStyle/>
          <a:p>
            <a:pPr marL="0" indent="0">
              <a:buNone/>
            </a:pPr>
            <a:r>
              <a:rPr lang="en-US" sz="1000" dirty="0">
                <a:solidFill>
                  <a:srgbClr val="9B98B4"/>
                </a:solidFill>
                <a:latin typeface="Calibri" pitchFamily="34" charset="0"/>
                <a:ea typeface="Calibri" pitchFamily="34" charset="-122"/>
                <a:cs typeface="Calibri" pitchFamily="34" charset="-120"/>
              </a:rPr>
              <a:t>Input it can handle</a:t>
            </a:r>
            <a:endParaRPr lang="en-US" sz="1000" dirty="0"/>
          </a:p>
        </p:txBody>
      </p:sp>
      <p:sp>
        <p:nvSpPr>
          <p:cNvPr id="34" name="Text 30"/>
          <p:cNvSpPr/>
          <p:nvPr/>
        </p:nvSpPr>
        <p:spPr>
          <a:xfrm>
            <a:off x="8683600" y="3255264"/>
            <a:ext cx="2740000" cy="365760"/>
          </a:xfrm>
          <a:prstGeom prst="rect">
            <a:avLst/>
          </a:prstGeom>
          <a:noFill/>
          <a:ln/>
        </p:spPr>
        <p:txBody>
          <a:bodyPr wrap="square" lIns="0" tIns="0" rIns="0" bIns="0" rtlCol="0" anchor="ctr"/>
          <a:lstStyle/>
          <a:p>
            <a:pPr marL="0" indent="0">
              <a:buNone/>
            </a:pPr>
            <a:r>
              <a:rPr lang="en-US" sz="1100" b="1" dirty="0">
                <a:solidFill>
                  <a:srgbClr val="3B3760"/>
                </a:solidFill>
                <a:latin typeface="Calibri" pitchFamily="34" charset="0"/>
                <a:ea typeface="Calibri" pitchFamily="34" charset="-122"/>
                <a:cs typeface="Calibri" pitchFamily="34" charset="-120"/>
              </a:rPr>
              <a:t>Messy, varied, unseen before</a:t>
            </a:r>
            <a:endParaRPr lang="en-US" sz="1100" dirty="0"/>
          </a:p>
        </p:txBody>
      </p:sp>
      <p:sp>
        <p:nvSpPr>
          <p:cNvPr id="35" name="Shape 31"/>
          <p:cNvSpPr/>
          <p:nvPr/>
        </p:nvSpPr>
        <p:spPr>
          <a:xfrm>
            <a:off x="6415888" y="3657600"/>
            <a:ext cx="5026000" cy="365760"/>
          </a:xfrm>
          <a:prstGeom prst="roundRect">
            <a:avLst>
              <a:gd name="adj" fmla="val 12500"/>
            </a:avLst>
          </a:prstGeom>
          <a:solidFill>
            <a:srgbClr val="F5F6FC"/>
          </a:solidFill>
          <a:ln w="12700">
            <a:solidFill>
              <a:srgbClr val="F5F6FC"/>
            </a:solidFill>
            <a:prstDash val="solid"/>
          </a:ln>
        </p:spPr>
        <p:txBody>
          <a:bodyPr/>
          <a:lstStyle/>
          <a:p>
            <a:endParaRPr lang="en-US"/>
          </a:p>
        </p:txBody>
      </p:sp>
      <p:sp>
        <p:nvSpPr>
          <p:cNvPr id="36" name="Text 32"/>
          <p:cNvSpPr/>
          <p:nvPr/>
        </p:nvSpPr>
        <p:spPr>
          <a:xfrm>
            <a:off x="6525616" y="3657600"/>
            <a:ext cx="2103120" cy="365760"/>
          </a:xfrm>
          <a:prstGeom prst="rect">
            <a:avLst/>
          </a:prstGeom>
          <a:noFill/>
          <a:ln/>
        </p:spPr>
        <p:txBody>
          <a:bodyPr wrap="square" lIns="0" tIns="0" rIns="0" bIns="0" rtlCol="0" anchor="ctr"/>
          <a:lstStyle/>
          <a:p>
            <a:pPr marL="0" indent="0">
              <a:buNone/>
            </a:pPr>
            <a:r>
              <a:rPr lang="en-US" sz="1000" dirty="0">
                <a:solidFill>
                  <a:srgbClr val="9B98B4"/>
                </a:solidFill>
                <a:latin typeface="Calibri" pitchFamily="34" charset="0"/>
                <a:ea typeface="Calibri" pitchFamily="34" charset="-122"/>
                <a:cs typeface="Calibri" pitchFamily="34" charset="-120"/>
              </a:rPr>
              <a:t>Same input twice</a:t>
            </a:r>
            <a:endParaRPr lang="en-US" sz="1000" dirty="0"/>
          </a:p>
        </p:txBody>
      </p:sp>
      <p:sp>
        <p:nvSpPr>
          <p:cNvPr id="37" name="Text 33"/>
          <p:cNvSpPr/>
          <p:nvPr/>
        </p:nvSpPr>
        <p:spPr>
          <a:xfrm>
            <a:off x="8683600" y="3657600"/>
            <a:ext cx="2740000" cy="365760"/>
          </a:xfrm>
          <a:prstGeom prst="rect">
            <a:avLst/>
          </a:prstGeom>
          <a:noFill/>
          <a:ln/>
        </p:spPr>
        <p:txBody>
          <a:bodyPr wrap="square" lIns="0" tIns="0" rIns="0" bIns="0" rtlCol="0" anchor="ctr"/>
          <a:lstStyle/>
          <a:p>
            <a:pPr marL="0" indent="0">
              <a:buNone/>
            </a:pPr>
            <a:r>
              <a:rPr lang="en-US" sz="1100" b="1" dirty="0">
                <a:solidFill>
                  <a:srgbClr val="3B3760"/>
                </a:solidFill>
                <a:latin typeface="Calibri" pitchFamily="34" charset="0"/>
                <a:ea typeface="Calibri" pitchFamily="34" charset="-122"/>
                <a:cs typeface="Calibri" pitchFamily="34" charset="-120"/>
              </a:rPr>
              <a:t>Possibly a different path</a:t>
            </a:r>
            <a:endParaRPr lang="en-US" sz="1100" dirty="0"/>
          </a:p>
        </p:txBody>
      </p:sp>
      <p:sp>
        <p:nvSpPr>
          <p:cNvPr id="38" name="Text 34"/>
          <p:cNvSpPr/>
          <p:nvPr/>
        </p:nvSpPr>
        <p:spPr>
          <a:xfrm>
            <a:off x="6525616" y="4059936"/>
            <a:ext cx="2103120" cy="365760"/>
          </a:xfrm>
          <a:prstGeom prst="rect">
            <a:avLst/>
          </a:prstGeom>
          <a:noFill/>
          <a:ln/>
        </p:spPr>
        <p:txBody>
          <a:bodyPr wrap="square" lIns="0" tIns="0" rIns="0" bIns="0" rtlCol="0" anchor="ctr"/>
          <a:lstStyle/>
          <a:p>
            <a:pPr marL="0" indent="0">
              <a:buNone/>
            </a:pPr>
            <a:r>
              <a:rPr lang="en-US" sz="1000" dirty="0">
                <a:solidFill>
                  <a:srgbClr val="9B98B4"/>
                </a:solidFill>
                <a:latin typeface="Calibri" pitchFamily="34" charset="0"/>
                <a:ea typeface="Calibri" pitchFamily="34" charset="-122"/>
                <a:cs typeface="Calibri" pitchFamily="34" charset="-120"/>
              </a:rPr>
              <a:t>Breaks when</a:t>
            </a:r>
            <a:endParaRPr lang="en-US" sz="1000" dirty="0"/>
          </a:p>
        </p:txBody>
      </p:sp>
      <p:sp>
        <p:nvSpPr>
          <p:cNvPr id="39" name="Text 35"/>
          <p:cNvSpPr/>
          <p:nvPr/>
        </p:nvSpPr>
        <p:spPr>
          <a:xfrm>
            <a:off x="8683600" y="4059936"/>
            <a:ext cx="2740000" cy="365760"/>
          </a:xfrm>
          <a:prstGeom prst="rect">
            <a:avLst/>
          </a:prstGeom>
          <a:noFill/>
          <a:ln/>
        </p:spPr>
        <p:txBody>
          <a:bodyPr wrap="square" lIns="0" tIns="0" rIns="0" bIns="0" rtlCol="0" anchor="ctr"/>
          <a:lstStyle/>
          <a:p>
            <a:pPr marL="0" indent="0">
              <a:buNone/>
            </a:pPr>
            <a:r>
              <a:rPr lang="en-US" sz="1100" b="1" dirty="0">
                <a:solidFill>
                  <a:srgbClr val="3B3760"/>
                </a:solidFill>
                <a:latin typeface="Calibri" pitchFamily="34" charset="0"/>
                <a:ea typeface="Calibri" pitchFamily="34" charset="-122"/>
                <a:cs typeface="Calibri" pitchFamily="34" charset="-120"/>
              </a:rPr>
              <a:t>The judgment was wrong</a:t>
            </a:r>
            <a:endParaRPr lang="en-US" sz="1100" dirty="0"/>
          </a:p>
        </p:txBody>
      </p:sp>
      <p:sp>
        <p:nvSpPr>
          <p:cNvPr id="40" name="Shape 36"/>
          <p:cNvSpPr/>
          <p:nvPr/>
        </p:nvSpPr>
        <p:spPr>
          <a:xfrm>
            <a:off x="6415888" y="4462272"/>
            <a:ext cx="5026000" cy="365760"/>
          </a:xfrm>
          <a:prstGeom prst="roundRect">
            <a:avLst>
              <a:gd name="adj" fmla="val 12500"/>
            </a:avLst>
          </a:prstGeom>
          <a:solidFill>
            <a:srgbClr val="F5F6FC"/>
          </a:solidFill>
          <a:ln w="12700">
            <a:solidFill>
              <a:srgbClr val="F5F6FC"/>
            </a:solidFill>
            <a:prstDash val="solid"/>
          </a:ln>
        </p:spPr>
        <p:txBody>
          <a:bodyPr/>
          <a:lstStyle/>
          <a:p>
            <a:endParaRPr lang="en-US"/>
          </a:p>
        </p:txBody>
      </p:sp>
      <p:sp>
        <p:nvSpPr>
          <p:cNvPr id="41" name="Text 37"/>
          <p:cNvSpPr/>
          <p:nvPr/>
        </p:nvSpPr>
        <p:spPr>
          <a:xfrm>
            <a:off x="6525616" y="4462272"/>
            <a:ext cx="2103120" cy="365760"/>
          </a:xfrm>
          <a:prstGeom prst="rect">
            <a:avLst/>
          </a:prstGeom>
          <a:noFill/>
          <a:ln/>
        </p:spPr>
        <p:txBody>
          <a:bodyPr wrap="square" lIns="0" tIns="0" rIns="0" bIns="0" rtlCol="0" anchor="ctr"/>
          <a:lstStyle/>
          <a:p>
            <a:pPr marL="0" indent="0">
              <a:buNone/>
            </a:pPr>
            <a:r>
              <a:rPr lang="en-US" sz="1000" dirty="0">
                <a:solidFill>
                  <a:srgbClr val="9B98B4"/>
                </a:solidFill>
                <a:latin typeface="Calibri" pitchFamily="34" charset="0"/>
                <a:ea typeface="Calibri" pitchFamily="34" charset="-122"/>
                <a:cs typeface="Calibri" pitchFamily="34" charset="-120"/>
              </a:rPr>
              <a:t>Cost per run</a:t>
            </a:r>
            <a:endParaRPr lang="en-US" sz="1000" dirty="0"/>
          </a:p>
        </p:txBody>
      </p:sp>
      <p:sp>
        <p:nvSpPr>
          <p:cNvPr id="42" name="Text 38"/>
          <p:cNvSpPr/>
          <p:nvPr/>
        </p:nvSpPr>
        <p:spPr>
          <a:xfrm>
            <a:off x="8683600" y="4462272"/>
            <a:ext cx="2740000" cy="365760"/>
          </a:xfrm>
          <a:prstGeom prst="rect">
            <a:avLst/>
          </a:prstGeom>
          <a:noFill/>
          <a:ln/>
        </p:spPr>
        <p:txBody>
          <a:bodyPr wrap="square" lIns="0" tIns="0" rIns="0" bIns="0" rtlCol="0" anchor="ctr"/>
          <a:lstStyle/>
          <a:p>
            <a:pPr marL="0" indent="0">
              <a:buNone/>
            </a:pPr>
            <a:r>
              <a:rPr lang="en-US" sz="1100" b="1" dirty="0">
                <a:solidFill>
                  <a:srgbClr val="3B3760"/>
                </a:solidFill>
                <a:latin typeface="Calibri" pitchFamily="34" charset="0"/>
                <a:ea typeface="Calibri" pitchFamily="34" charset="-122"/>
                <a:cs typeface="Calibri" pitchFamily="34" charset="-120"/>
              </a:rPr>
              <a:t>Real, and it scales with turns</a:t>
            </a:r>
            <a:endParaRPr lang="en-US" sz="1100" dirty="0"/>
          </a:p>
        </p:txBody>
      </p:sp>
      <p:sp>
        <p:nvSpPr>
          <p:cNvPr id="43" name="Text 39"/>
          <p:cNvSpPr/>
          <p:nvPr/>
        </p:nvSpPr>
        <p:spPr>
          <a:xfrm>
            <a:off x="6525616" y="4864608"/>
            <a:ext cx="2103120" cy="365760"/>
          </a:xfrm>
          <a:prstGeom prst="rect">
            <a:avLst/>
          </a:prstGeom>
          <a:noFill/>
          <a:ln/>
        </p:spPr>
        <p:txBody>
          <a:bodyPr wrap="square" lIns="0" tIns="0" rIns="0" bIns="0" rtlCol="0" anchor="ctr"/>
          <a:lstStyle/>
          <a:p>
            <a:pPr marL="0" indent="0">
              <a:buNone/>
            </a:pPr>
            <a:r>
              <a:rPr lang="en-US" sz="1000" dirty="0">
                <a:solidFill>
                  <a:srgbClr val="9B98B4"/>
                </a:solidFill>
                <a:latin typeface="Calibri" pitchFamily="34" charset="0"/>
                <a:ea typeface="Calibri" pitchFamily="34" charset="-122"/>
                <a:cs typeface="Calibri" pitchFamily="34" charset="-120"/>
              </a:rPr>
              <a:t>Auditability</a:t>
            </a:r>
            <a:endParaRPr lang="en-US" sz="1000" dirty="0"/>
          </a:p>
        </p:txBody>
      </p:sp>
      <p:sp>
        <p:nvSpPr>
          <p:cNvPr id="44" name="Text 40"/>
          <p:cNvSpPr/>
          <p:nvPr/>
        </p:nvSpPr>
        <p:spPr>
          <a:xfrm>
            <a:off x="8683600" y="4864608"/>
            <a:ext cx="2740000" cy="365760"/>
          </a:xfrm>
          <a:prstGeom prst="rect">
            <a:avLst/>
          </a:prstGeom>
          <a:noFill/>
          <a:ln/>
        </p:spPr>
        <p:txBody>
          <a:bodyPr wrap="square" lIns="0" tIns="0" rIns="0" bIns="0" rtlCol="0" anchor="ctr"/>
          <a:lstStyle/>
          <a:p>
            <a:pPr marL="0" indent="0">
              <a:buNone/>
            </a:pPr>
            <a:r>
              <a:rPr lang="en-US" sz="1100" b="1" dirty="0">
                <a:solidFill>
                  <a:srgbClr val="3B3760"/>
                </a:solidFill>
                <a:latin typeface="Calibri" pitchFamily="34" charset="0"/>
                <a:ea typeface="Calibri" pitchFamily="34" charset="-122"/>
                <a:cs typeface="Calibri" pitchFamily="34" charset="-120"/>
              </a:rPr>
              <a:t>Only if you built the traces</a:t>
            </a:r>
            <a:endParaRPr lang="en-US" sz="1100" dirty="0"/>
          </a:p>
        </p:txBody>
      </p:sp>
      <p:sp>
        <p:nvSpPr>
          <p:cNvPr id="45" name="Text 41"/>
          <p:cNvSpPr/>
          <p:nvPr/>
        </p:nvSpPr>
        <p:spPr>
          <a:xfrm>
            <a:off x="566928" y="5413248"/>
            <a:ext cx="11057839" cy="310896"/>
          </a:xfrm>
          <a:prstGeom prst="rect">
            <a:avLst/>
          </a:prstGeom>
          <a:noFill/>
          <a:ln/>
        </p:spPr>
        <p:txBody>
          <a:bodyPr wrap="square" lIns="0" tIns="0" rIns="0" bIns="0" rtlCol="0" anchor="ctr"/>
          <a:lstStyle/>
          <a:p>
            <a:pPr marL="0" indent="0" algn="ctr">
              <a:buNone/>
            </a:pPr>
            <a:r>
              <a:rPr lang="en-US" sz="1350" i="1" dirty="0">
                <a:solidFill>
                  <a:srgbClr val="3B3760"/>
                </a:solidFill>
                <a:latin typeface="Calibri" pitchFamily="34" charset="0"/>
                <a:ea typeface="Calibri" pitchFamily="34" charset="-122"/>
                <a:cs typeface="Calibri" pitchFamily="34" charset="-120"/>
              </a:rPr>
              <a:t>In production the answer is usually both: an agent for the step that needs judgment, deterministic automation for the steps that do not.</a:t>
            </a:r>
            <a:endParaRPr lang="en-US" sz="1350" dirty="0"/>
          </a:p>
        </p:txBody>
      </p:sp>
      <p:sp>
        <p:nvSpPr>
          <p:cNvPr id="46" name="Shape 42"/>
          <p:cNvSpPr/>
          <p:nvPr/>
        </p:nvSpPr>
        <p:spPr>
          <a:xfrm>
            <a:off x="566928" y="5797296"/>
            <a:ext cx="11057839" cy="676656"/>
          </a:xfrm>
          <a:prstGeom prst="roundRect">
            <a:avLst>
              <a:gd name="adj" fmla="val 12162"/>
            </a:avLst>
          </a:prstGeom>
          <a:solidFill>
            <a:srgbClr val="FFF4E0"/>
          </a:solidFill>
          <a:ln w="12700">
            <a:solidFill>
              <a:srgbClr val="F3DCB0"/>
            </a:solidFill>
            <a:prstDash val="solid"/>
          </a:ln>
        </p:spPr>
        <p:txBody>
          <a:bodyPr/>
          <a:lstStyle/>
          <a:p>
            <a:endParaRPr lang="en-US"/>
          </a:p>
        </p:txBody>
      </p:sp>
      <p:sp>
        <p:nvSpPr>
          <p:cNvPr id="47" name="Shape 43"/>
          <p:cNvSpPr/>
          <p:nvPr/>
        </p:nvSpPr>
        <p:spPr>
          <a:xfrm>
            <a:off x="841248" y="5943600"/>
            <a:ext cx="384048" cy="384048"/>
          </a:xfrm>
          <a:prstGeom prst="ellipse">
            <a:avLst/>
          </a:prstGeom>
          <a:solidFill>
            <a:srgbClr val="F5A524"/>
          </a:solidFill>
          <a:ln w="12700">
            <a:solidFill>
              <a:srgbClr val="F5A524"/>
            </a:solidFill>
            <a:prstDash val="solid"/>
          </a:ln>
        </p:spPr>
        <p:txBody>
          <a:bodyPr/>
          <a:lstStyle/>
          <a:p>
            <a:endParaRPr lang="en-US"/>
          </a:p>
        </p:txBody>
      </p:sp>
      <p:pic>
        <p:nvPicPr>
          <p:cNvPr id="48" name="Image 2" descr="preencoded.png"/>
          <p:cNvPicPr>
            <a:picLocks noChangeAspect="1"/>
          </p:cNvPicPr>
          <p:nvPr/>
        </p:nvPicPr>
        <p:blipFill>
          <a:blip r:embed="rId5"/>
          <a:stretch>
            <a:fillRect/>
          </a:stretch>
        </p:blipFill>
        <p:spPr>
          <a:xfrm>
            <a:off x="937260" y="6039612"/>
            <a:ext cx="192024" cy="192024"/>
          </a:xfrm>
          <a:prstGeom prst="rect">
            <a:avLst/>
          </a:prstGeom>
        </p:spPr>
      </p:pic>
      <p:sp>
        <p:nvSpPr>
          <p:cNvPr id="49" name="Text 44"/>
          <p:cNvSpPr/>
          <p:nvPr/>
        </p:nvSpPr>
        <p:spPr>
          <a:xfrm>
            <a:off x="1371600" y="5852160"/>
            <a:ext cx="9960559" cy="566928"/>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RPA is a very fast clerk following a checklist you wrote. An agent is a junior colleague deciding what to do next. One never surprises you; the other is only worth having because it sometimes does.</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0A22"/>
        </a:solidFill>
        <a:effectLst/>
      </p:bgPr>
    </p:bg>
    <p:spTree>
      <p:nvGrpSpPr>
        <p:cNvPr id="1" name=""/>
        <p:cNvGrpSpPr/>
        <p:nvPr/>
      </p:nvGrpSpPr>
      <p:grpSpPr>
        <a:xfrm>
          <a:off x="0" y="0"/>
          <a:ext cx="0" cy="0"/>
          <a:chOff x="0" y="0"/>
          <a:chExt cx="0" cy="0"/>
        </a:xfrm>
      </p:grpSpPr>
      <p:pic>
        <p:nvPicPr>
          <p:cNvPr id="2" name="Image 0" descr="/home/claude/work/bg_dark.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6126480" y="1234440"/>
            <a:ext cx="5486400" cy="2743200"/>
          </a:xfrm>
          <a:prstGeom prst="rect">
            <a:avLst/>
          </a:prstGeom>
          <a:noFill/>
          <a:ln/>
        </p:spPr>
        <p:txBody>
          <a:bodyPr wrap="square" lIns="0" tIns="0" rIns="0" bIns="0" rtlCol="0" anchor="ctr"/>
          <a:lstStyle/>
          <a:p>
            <a:pPr marL="0" indent="0" algn="r">
              <a:buNone/>
            </a:pPr>
            <a:r>
              <a:rPr lang="en-US" sz="17600" b="1" dirty="0">
                <a:solidFill>
                  <a:srgbClr val="5B4BE8">
                    <a:alpha val="30000"/>
                  </a:srgbClr>
                </a:solidFill>
                <a:latin typeface="Cambria" pitchFamily="34" charset="0"/>
                <a:ea typeface="Cambria" pitchFamily="34" charset="-122"/>
                <a:cs typeface="Cambria" pitchFamily="34" charset="-120"/>
              </a:rPr>
              <a:t>00</a:t>
            </a:r>
            <a:endParaRPr lang="en-US" sz="17600" dirty="0"/>
          </a:p>
        </p:txBody>
      </p:sp>
      <p:sp>
        <p:nvSpPr>
          <p:cNvPr id="4" name="Shape 1"/>
          <p:cNvSpPr/>
          <p:nvPr/>
        </p:nvSpPr>
        <p:spPr>
          <a:xfrm>
            <a:off x="566928" y="2084832"/>
            <a:ext cx="566928" cy="566928"/>
          </a:xfrm>
          <a:prstGeom prst="ellipse">
            <a:avLst/>
          </a:prstGeom>
          <a:solidFill>
            <a:srgbClr val="F5A524"/>
          </a:solidFill>
          <a:ln w="12700">
            <a:solidFill>
              <a:srgbClr val="F5A524"/>
            </a:solidFill>
            <a:prstDash val="solid"/>
          </a:ln>
        </p:spPr>
        <p:txBody>
          <a:bodyPr/>
          <a:lstStyle/>
          <a:p>
            <a:endParaRPr lang="en-US"/>
          </a:p>
        </p:txBody>
      </p:sp>
      <p:pic>
        <p:nvPicPr>
          <p:cNvPr id="5" name="Image 1" descr="preencoded.png"/>
          <p:cNvPicPr>
            <a:picLocks noChangeAspect="1"/>
          </p:cNvPicPr>
          <p:nvPr/>
        </p:nvPicPr>
        <p:blipFill>
          <a:blip r:embed="rId4"/>
          <a:stretch>
            <a:fillRect/>
          </a:stretch>
        </p:blipFill>
        <p:spPr>
          <a:xfrm>
            <a:off x="708660" y="2226564"/>
            <a:ext cx="283464" cy="283464"/>
          </a:xfrm>
          <a:prstGeom prst="rect">
            <a:avLst/>
          </a:prstGeom>
        </p:spPr>
      </p:pic>
      <p:sp>
        <p:nvSpPr>
          <p:cNvPr id="6" name="Text 2"/>
          <p:cNvSpPr/>
          <p:nvPr/>
        </p:nvSpPr>
        <p:spPr>
          <a:xfrm>
            <a:off x="566928" y="2852928"/>
            <a:ext cx="7315200" cy="256032"/>
          </a:xfrm>
          <a:prstGeom prst="rect">
            <a:avLst/>
          </a:prstGeom>
          <a:noFill/>
          <a:ln/>
        </p:spPr>
        <p:txBody>
          <a:bodyPr wrap="square" lIns="0" tIns="0" rIns="0" bIns="0" rtlCol="0" anchor="ctr"/>
          <a:lstStyle/>
          <a:p>
            <a:pPr marL="0" indent="0">
              <a:buNone/>
            </a:pPr>
            <a:r>
              <a:rPr lang="en-US" sz="1100" b="1" kern="0" spc="240" dirty="0">
                <a:solidFill>
                  <a:srgbClr val="F5A524"/>
                </a:solidFill>
                <a:latin typeface="Calibri" pitchFamily="34" charset="0"/>
                <a:ea typeface="Calibri" pitchFamily="34" charset="-122"/>
                <a:cs typeface="Calibri" pitchFamily="34" charset="-120"/>
              </a:rPr>
              <a:t>MODULE 00</a:t>
            </a:r>
            <a:endParaRPr lang="en-US" sz="1100" dirty="0"/>
          </a:p>
        </p:txBody>
      </p:sp>
      <p:sp>
        <p:nvSpPr>
          <p:cNvPr id="7" name="Text 3"/>
          <p:cNvSpPr/>
          <p:nvPr/>
        </p:nvSpPr>
        <p:spPr>
          <a:xfrm>
            <a:off x="566928" y="3145536"/>
            <a:ext cx="8595360" cy="914400"/>
          </a:xfrm>
          <a:prstGeom prst="rect">
            <a:avLst/>
          </a:prstGeom>
          <a:noFill/>
          <a:ln/>
        </p:spPr>
        <p:txBody>
          <a:bodyPr wrap="square" lIns="0" tIns="0" rIns="0" bIns="0" rtlCol="0" anchor="t"/>
          <a:lstStyle/>
          <a:p>
            <a:pPr marL="0" indent="0">
              <a:buNone/>
            </a:pPr>
            <a:r>
              <a:rPr lang="en-US" sz="4600" b="1" dirty="0">
                <a:solidFill>
                  <a:srgbClr val="FFFFFF"/>
                </a:solidFill>
                <a:latin typeface="Cambria" pitchFamily="34" charset="0"/>
                <a:ea typeface="Cambria" pitchFamily="34" charset="-122"/>
                <a:cs typeface="Cambria" pitchFamily="34" charset="-120"/>
              </a:rPr>
              <a:t>The API, once clearly</a:t>
            </a:r>
            <a:endParaRPr lang="en-US" sz="4600" dirty="0"/>
          </a:p>
        </p:txBody>
      </p:sp>
      <p:sp>
        <p:nvSpPr>
          <p:cNvPr id="8" name="Text 4"/>
          <p:cNvSpPr/>
          <p:nvPr/>
        </p:nvSpPr>
        <p:spPr>
          <a:xfrm>
            <a:off x="566928" y="4169664"/>
            <a:ext cx="7863840" cy="731520"/>
          </a:xfrm>
          <a:prstGeom prst="rect">
            <a:avLst/>
          </a:prstGeom>
          <a:noFill/>
          <a:ln/>
        </p:spPr>
        <p:txBody>
          <a:bodyPr wrap="square" lIns="0" tIns="0" rIns="0" bIns="0" rtlCol="0" anchor="t"/>
          <a:lstStyle/>
          <a:p>
            <a:pPr marL="0" indent="0">
              <a:lnSpc>
                <a:spcPct val="120000"/>
              </a:lnSpc>
              <a:buNone/>
            </a:pPr>
            <a:r>
              <a:rPr lang="en-US" sz="1600" dirty="0">
                <a:solidFill>
                  <a:srgbClr val="B9B4E0"/>
                </a:solidFill>
                <a:latin typeface="Calibri" pitchFamily="34" charset="0"/>
                <a:ea typeface="Calibri" pitchFamily="34" charset="-122"/>
                <a:cs typeface="Calibri" pitchFamily="34" charset="-120"/>
              </a:rPr>
              <a:t>One call. One object back. No memory, no hands, and a meter running.</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00 · THE API</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3000" b="1" dirty="0">
                <a:solidFill>
                  <a:srgbClr val="141235"/>
                </a:solidFill>
                <a:latin typeface="Cambria" pitchFamily="34" charset="0"/>
                <a:ea typeface="Cambria" pitchFamily="34" charset="-122"/>
                <a:cs typeface="Cambria" pitchFamily="34" charset="-120"/>
              </a:rPr>
              <a:t>You send a list. You get one object back.</a:t>
            </a:r>
            <a:endParaRPr lang="en-US" sz="3000" dirty="0"/>
          </a:p>
        </p:txBody>
      </p:sp>
      <p:sp>
        <p:nvSpPr>
          <p:cNvPr id="4" name="Shape 2"/>
          <p:cNvSpPr/>
          <p:nvPr/>
        </p:nvSpPr>
        <p:spPr>
          <a:xfrm>
            <a:off x="960120" y="2286000"/>
            <a:ext cx="1874520" cy="530352"/>
          </a:xfrm>
          <a:prstGeom prst="roundRect">
            <a:avLst>
              <a:gd name="adj" fmla="val 13793"/>
            </a:avLst>
          </a:prstGeom>
          <a:solidFill>
            <a:srgbClr val="FFFFFF"/>
          </a:solidFill>
          <a:ln w="19050">
            <a:solidFill>
              <a:srgbClr val="5B4BE8"/>
            </a:solidFill>
            <a:prstDash val="solid"/>
          </a:ln>
          <a:effectLst>
            <a:outerShdw blurRad="101600" dist="508" dir="5400000" algn="bl" rotWithShape="0">
              <a:srgbClr val="1B1A4A">
                <a:alpha val="8000"/>
              </a:srgbClr>
            </a:outerShdw>
          </a:effectLst>
        </p:spPr>
        <p:txBody>
          <a:bodyPr/>
          <a:lstStyle/>
          <a:p>
            <a:endParaRPr lang="en-US"/>
          </a:p>
        </p:txBody>
      </p:sp>
      <p:sp>
        <p:nvSpPr>
          <p:cNvPr id="5" name="Text 3"/>
          <p:cNvSpPr/>
          <p:nvPr/>
        </p:nvSpPr>
        <p:spPr>
          <a:xfrm>
            <a:off x="960120" y="2286000"/>
            <a:ext cx="1874520" cy="530352"/>
          </a:xfrm>
          <a:prstGeom prst="rect">
            <a:avLst/>
          </a:prstGeom>
          <a:noFill/>
          <a:ln/>
        </p:spPr>
        <p:txBody>
          <a:bodyPr wrap="square" lIns="635" tIns="635" rIns="635" bIns="635" rtlCol="0" anchor="ctr"/>
          <a:lstStyle/>
          <a:p>
            <a:pPr marL="0" indent="0" algn="ctr">
              <a:lnSpc>
                <a:spcPct val="110000"/>
              </a:lnSpc>
              <a:buNone/>
            </a:pPr>
            <a:r>
              <a:rPr lang="en-US" sz="1250" b="1" dirty="0">
                <a:solidFill>
                  <a:srgbClr val="141235"/>
                </a:solidFill>
                <a:latin typeface="Calibri" pitchFamily="34" charset="0"/>
                <a:ea typeface="Calibri" pitchFamily="34" charset="-122"/>
                <a:cs typeface="Calibri" pitchFamily="34" charset="-120"/>
              </a:rPr>
              <a:t>system</a:t>
            </a:r>
            <a:endParaRPr lang="en-US" sz="1250" dirty="0"/>
          </a:p>
        </p:txBody>
      </p:sp>
      <p:sp>
        <p:nvSpPr>
          <p:cNvPr id="6" name="Shape 4"/>
          <p:cNvSpPr/>
          <p:nvPr/>
        </p:nvSpPr>
        <p:spPr>
          <a:xfrm>
            <a:off x="960120" y="2944368"/>
            <a:ext cx="1874520" cy="530352"/>
          </a:xfrm>
          <a:prstGeom prst="roundRect">
            <a:avLst>
              <a:gd name="adj" fmla="val 13793"/>
            </a:avLst>
          </a:prstGeom>
          <a:solidFill>
            <a:srgbClr val="FFFFFF"/>
          </a:solidFill>
          <a:ln w="19050">
            <a:solidFill>
              <a:srgbClr val="5B4BE8"/>
            </a:solidFill>
            <a:prstDash val="solid"/>
          </a:ln>
          <a:effectLst>
            <a:outerShdw blurRad="101600" dist="508" dir="5400000" algn="bl" rotWithShape="0">
              <a:srgbClr val="1B1A4A">
                <a:alpha val="8000"/>
              </a:srgbClr>
            </a:outerShdw>
          </a:effectLst>
        </p:spPr>
        <p:txBody>
          <a:bodyPr/>
          <a:lstStyle/>
          <a:p>
            <a:endParaRPr lang="en-US"/>
          </a:p>
        </p:txBody>
      </p:sp>
      <p:sp>
        <p:nvSpPr>
          <p:cNvPr id="7" name="Text 5"/>
          <p:cNvSpPr/>
          <p:nvPr/>
        </p:nvSpPr>
        <p:spPr>
          <a:xfrm>
            <a:off x="960120" y="2944368"/>
            <a:ext cx="1874520" cy="530352"/>
          </a:xfrm>
          <a:prstGeom prst="rect">
            <a:avLst/>
          </a:prstGeom>
          <a:noFill/>
          <a:ln/>
        </p:spPr>
        <p:txBody>
          <a:bodyPr wrap="square" lIns="635" tIns="635" rIns="635" bIns="635" rtlCol="0" anchor="ctr"/>
          <a:lstStyle/>
          <a:p>
            <a:pPr marL="0" indent="0" algn="ctr">
              <a:lnSpc>
                <a:spcPct val="110000"/>
              </a:lnSpc>
              <a:buNone/>
            </a:pPr>
            <a:r>
              <a:rPr lang="en-US" sz="1250" b="1" dirty="0">
                <a:solidFill>
                  <a:srgbClr val="141235"/>
                </a:solidFill>
                <a:latin typeface="Calibri" pitchFamily="34" charset="0"/>
                <a:ea typeface="Calibri" pitchFamily="34" charset="-122"/>
                <a:cs typeface="Calibri" pitchFamily="34" charset="-120"/>
              </a:rPr>
              <a:t>user</a:t>
            </a:r>
            <a:endParaRPr lang="en-US" sz="1250" dirty="0"/>
          </a:p>
        </p:txBody>
      </p:sp>
      <p:sp>
        <p:nvSpPr>
          <p:cNvPr id="8" name="Shape 6"/>
          <p:cNvSpPr/>
          <p:nvPr/>
        </p:nvSpPr>
        <p:spPr>
          <a:xfrm>
            <a:off x="960120" y="3602736"/>
            <a:ext cx="1874520" cy="530352"/>
          </a:xfrm>
          <a:prstGeom prst="roundRect">
            <a:avLst>
              <a:gd name="adj" fmla="val 13793"/>
            </a:avLst>
          </a:prstGeom>
          <a:solidFill>
            <a:srgbClr val="FFFFFF"/>
          </a:solidFill>
          <a:ln w="19050">
            <a:solidFill>
              <a:srgbClr val="E3E4F2"/>
            </a:solidFill>
            <a:prstDash val="solid"/>
          </a:ln>
          <a:effectLst>
            <a:outerShdw blurRad="101600" dist="508" dir="5400000" algn="bl" rotWithShape="0">
              <a:srgbClr val="1B1A4A">
                <a:alpha val="8000"/>
              </a:srgbClr>
            </a:outerShdw>
          </a:effectLst>
        </p:spPr>
        <p:txBody>
          <a:bodyPr/>
          <a:lstStyle/>
          <a:p>
            <a:endParaRPr lang="en-US"/>
          </a:p>
        </p:txBody>
      </p:sp>
      <p:sp>
        <p:nvSpPr>
          <p:cNvPr id="9" name="Text 7"/>
          <p:cNvSpPr/>
          <p:nvPr/>
        </p:nvSpPr>
        <p:spPr>
          <a:xfrm>
            <a:off x="960120" y="3602736"/>
            <a:ext cx="1874520" cy="530352"/>
          </a:xfrm>
          <a:prstGeom prst="rect">
            <a:avLst/>
          </a:prstGeom>
          <a:noFill/>
          <a:ln/>
        </p:spPr>
        <p:txBody>
          <a:bodyPr wrap="square" lIns="635" tIns="635" rIns="635" bIns="635" rtlCol="0" anchor="ctr"/>
          <a:lstStyle/>
          <a:p>
            <a:pPr marL="0" indent="0" algn="ctr">
              <a:lnSpc>
                <a:spcPct val="110000"/>
              </a:lnSpc>
              <a:buNone/>
            </a:pPr>
            <a:r>
              <a:rPr lang="en-US" sz="1250" b="1" dirty="0">
                <a:solidFill>
                  <a:srgbClr val="6E6B8A"/>
                </a:solidFill>
                <a:latin typeface="Calibri" pitchFamily="34" charset="0"/>
                <a:ea typeface="Calibri" pitchFamily="34" charset="-122"/>
                <a:cs typeface="Calibri" pitchFamily="34" charset="-120"/>
              </a:rPr>
              <a:t>assistant</a:t>
            </a:r>
            <a:endParaRPr lang="en-US" sz="1250" dirty="0"/>
          </a:p>
        </p:txBody>
      </p:sp>
      <p:sp>
        <p:nvSpPr>
          <p:cNvPr id="10" name="Text 8"/>
          <p:cNvSpPr/>
          <p:nvPr/>
        </p:nvSpPr>
        <p:spPr>
          <a:xfrm>
            <a:off x="960120" y="4334256"/>
            <a:ext cx="1874520" cy="274320"/>
          </a:xfrm>
          <a:prstGeom prst="rect">
            <a:avLst/>
          </a:prstGeom>
          <a:noFill/>
          <a:ln/>
        </p:spPr>
        <p:txBody>
          <a:bodyPr wrap="square" lIns="0" tIns="0" rIns="0" bIns="0" rtlCol="0" anchor="ctr"/>
          <a:lstStyle/>
          <a:p>
            <a:pPr marL="0" indent="0" algn="ctr">
              <a:buNone/>
            </a:pPr>
            <a:r>
              <a:rPr lang="en-US" sz="1050" dirty="0">
                <a:solidFill>
                  <a:srgbClr val="6E6B8A"/>
                </a:solidFill>
                <a:latin typeface="Courier New" pitchFamily="34" charset="0"/>
                <a:ea typeface="Courier New" pitchFamily="34" charset="-122"/>
                <a:cs typeface="Courier New" pitchFamily="34" charset="-120"/>
              </a:rPr>
              <a:t>messages = [ … ]</a:t>
            </a:r>
            <a:endParaRPr lang="en-US" sz="1050" dirty="0"/>
          </a:p>
        </p:txBody>
      </p:sp>
      <p:sp>
        <p:nvSpPr>
          <p:cNvPr id="11" name="Shape 9"/>
          <p:cNvSpPr/>
          <p:nvPr/>
        </p:nvSpPr>
        <p:spPr>
          <a:xfrm>
            <a:off x="2953512" y="3273552"/>
            <a:ext cx="566928" cy="0"/>
          </a:xfrm>
          <a:prstGeom prst="line">
            <a:avLst/>
          </a:prstGeom>
          <a:noFill/>
          <a:ln w="27940">
            <a:solidFill>
              <a:srgbClr val="8E82F5"/>
            </a:solidFill>
            <a:prstDash val="solid"/>
            <a:headEnd type="none"/>
            <a:tailEnd type="triangle"/>
          </a:ln>
        </p:spPr>
        <p:txBody>
          <a:bodyPr/>
          <a:lstStyle/>
          <a:p>
            <a:endParaRPr lang="en-US"/>
          </a:p>
        </p:txBody>
      </p:sp>
      <p:sp>
        <p:nvSpPr>
          <p:cNvPr id="12" name="Shape 10"/>
          <p:cNvSpPr/>
          <p:nvPr/>
        </p:nvSpPr>
        <p:spPr>
          <a:xfrm>
            <a:off x="3611880" y="2615184"/>
            <a:ext cx="2286000" cy="1316736"/>
          </a:xfrm>
          <a:prstGeom prst="roundRect">
            <a:avLst>
              <a:gd name="adj" fmla="val 5556"/>
            </a:avLst>
          </a:prstGeom>
          <a:solidFill>
            <a:srgbClr val="5B4BE8"/>
          </a:solidFill>
          <a:ln w="19050">
            <a:solidFill>
              <a:srgbClr val="5B4BE8"/>
            </a:solidFill>
            <a:prstDash val="solid"/>
          </a:ln>
        </p:spPr>
        <p:txBody>
          <a:bodyPr/>
          <a:lstStyle/>
          <a:p>
            <a:endParaRPr lang="en-US"/>
          </a:p>
        </p:txBody>
      </p:sp>
      <p:sp>
        <p:nvSpPr>
          <p:cNvPr id="13" name="Text 11"/>
          <p:cNvSpPr/>
          <p:nvPr/>
        </p:nvSpPr>
        <p:spPr>
          <a:xfrm>
            <a:off x="3611880" y="2615184"/>
            <a:ext cx="2286000" cy="1316736"/>
          </a:xfrm>
          <a:prstGeom prst="rect">
            <a:avLst/>
          </a:prstGeom>
          <a:noFill/>
          <a:ln/>
        </p:spPr>
        <p:txBody>
          <a:bodyPr wrap="square" lIns="635" tIns="635" rIns="635" bIns="635" rtlCol="0" anchor="ctr"/>
          <a:lstStyle/>
          <a:p>
            <a:pPr marL="0" indent="0" algn="ctr">
              <a:lnSpc>
                <a:spcPct val="110000"/>
              </a:lnSpc>
              <a:buNone/>
            </a:pPr>
            <a:r>
              <a:rPr lang="en-US" sz="1250" b="1" dirty="0">
                <a:solidFill>
                  <a:srgbClr val="FFFFFF"/>
                </a:solidFill>
                <a:latin typeface="Calibri" pitchFamily="34" charset="0"/>
                <a:ea typeface="Calibri" pitchFamily="34" charset="-122"/>
                <a:cs typeface="Calibri" pitchFamily="34" charset="-120"/>
              </a:rPr>
              <a:t>client.chat</a:t>
            </a:r>
            <a:endParaRPr lang="en-US" sz="1250" dirty="0"/>
          </a:p>
          <a:p>
            <a:pPr marL="0" indent="0" algn="ctr">
              <a:lnSpc>
                <a:spcPct val="110000"/>
              </a:lnSpc>
              <a:buNone/>
            </a:pPr>
            <a:r>
              <a:rPr lang="en-US" sz="1250" b="1" dirty="0">
                <a:solidFill>
                  <a:srgbClr val="FFFFFF"/>
                </a:solidFill>
                <a:latin typeface="Calibri" pitchFamily="34" charset="0"/>
                <a:ea typeface="Calibri" pitchFamily="34" charset="-122"/>
                <a:cs typeface="Calibri" pitchFamily="34" charset="-120"/>
              </a:rPr>
              <a:t>.completions</a:t>
            </a:r>
            <a:endParaRPr lang="en-US" sz="1250" dirty="0"/>
          </a:p>
          <a:p>
            <a:pPr marL="0" indent="0" algn="ctr">
              <a:lnSpc>
                <a:spcPct val="110000"/>
              </a:lnSpc>
              <a:buNone/>
            </a:pPr>
            <a:r>
              <a:rPr lang="en-US" sz="1250" b="1" dirty="0">
                <a:solidFill>
                  <a:srgbClr val="FFFFFF"/>
                </a:solidFill>
                <a:latin typeface="Calibri" pitchFamily="34" charset="0"/>
                <a:ea typeface="Calibri" pitchFamily="34" charset="-122"/>
                <a:cs typeface="Calibri" pitchFamily="34" charset="-120"/>
              </a:rPr>
              <a:t>.create()</a:t>
            </a:r>
            <a:endParaRPr lang="en-US" sz="1250" dirty="0"/>
          </a:p>
        </p:txBody>
      </p:sp>
      <p:sp>
        <p:nvSpPr>
          <p:cNvPr id="14" name="Shape 12"/>
          <p:cNvSpPr/>
          <p:nvPr/>
        </p:nvSpPr>
        <p:spPr>
          <a:xfrm>
            <a:off x="6035040" y="3273552"/>
            <a:ext cx="566928" cy="0"/>
          </a:xfrm>
          <a:prstGeom prst="line">
            <a:avLst/>
          </a:prstGeom>
          <a:noFill/>
          <a:ln w="27940">
            <a:solidFill>
              <a:srgbClr val="8E82F5"/>
            </a:solidFill>
            <a:prstDash val="solid"/>
            <a:headEnd type="none"/>
            <a:tailEnd type="triangle"/>
          </a:ln>
        </p:spPr>
        <p:txBody>
          <a:bodyPr/>
          <a:lstStyle/>
          <a:p>
            <a:endParaRPr lang="en-US"/>
          </a:p>
        </p:txBody>
      </p:sp>
      <p:sp>
        <p:nvSpPr>
          <p:cNvPr id="15" name="Shape 13"/>
          <p:cNvSpPr/>
          <p:nvPr/>
        </p:nvSpPr>
        <p:spPr>
          <a:xfrm>
            <a:off x="6729984" y="2304288"/>
            <a:ext cx="2743200" cy="1938528"/>
          </a:xfrm>
          <a:prstGeom prst="roundRect">
            <a:avLst>
              <a:gd name="adj" fmla="val 3774"/>
            </a:avLst>
          </a:prstGeom>
          <a:solidFill>
            <a:srgbClr val="FFFFFF"/>
          </a:solidFill>
          <a:ln w="19050">
            <a:solidFill>
              <a:srgbClr val="E08700"/>
            </a:solidFill>
            <a:prstDash val="solid"/>
          </a:ln>
          <a:effectLst>
            <a:outerShdw blurRad="101600" dist="508" dir="5400000" algn="bl" rotWithShape="0">
              <a:srgbClr val="1B1A4A">
                <a:alpha val="8000"/>
              </a:srgbClr>
            </a:outerShdw>
          </a:effectLst>
        </p:spPr>
        <p:txBody>
          <a:bodyPr/>
          <a:lstStyle/>
          <a:p>
            <a:endParaRPr lang="en-US"/>
          </a:p>
        </p:txBody>
      </p:sp>
      <p:sp>
        <p:nvSpPr>
          <p:cNvPr id="16" name="Text 14"/>
          <p:cNvSpPr/>
          <p:nvPr/>
        </p:nvSpPr>
        <p:spPr>
          <a:xfrm>
            <a:off x="6729984" y="2304288"/>
            <a:ext cx="2743200" cy="1938528"/>
          </a:xfrm>
          <a:prstGeom prst="rect">
            <a:avLst/>
          </a:prstGeom>
          <a:noFill/>
          <a:ln/>
        </p:spPr>
        <p:txBody>
          <a:bodyPr wrap="square" lIns="635" tIns="635" rIns="635" bIns="635" rtlCol="0" anchor="ctr"/>
          <a:lstStyle/>
          <a:p>
            <a:pPr marL="0" indent="0" algn="ctr">
              <a:lnSpc>
                <a:spcPct val="110000"/>
              </a:lnSpc>
              <a:buNone/>
            </a:pPr>
            <a:r>
              <a:rPr lang="en-US" sz="1300" b="1" dirty="0">
                <a:solidFill>
                  <a:srgbClr val="141235"/>
                </a:solidFill>
                <a:latin typeface="Calibri" pitchFamily="34" charset="0"/>
                <a:ea typeface="Calibri" pitchFamily="34" charset="-122"/>
                <a:cs typeface="Calibri" pitchFamily="34" charset="-120"/>
              </a:rPr>
              <a:t>ChatCompletion</a:t>
            </a:r>
            <a:endParaRPr lang="en-US" sz="1300" dirty="0"/>
          </a:p>
          <a:p>
            <a:pPr marL="0" indent="0" algn="ctr">
              <a:lnSpc>
                <a:spcPct val="110000"/>
              </a:lnSpc>
              <a:buNone/>
            </a:pPr>
            <a:r>
              <a:rPr lang="en-US" sz="950" dirty="0">
                <a:solidFill>
                  <a:srgbClr val="6E6B8A"/>
                </a:solidFill>
                <a:latin typeface="Calibri" pitchFamily="34" charset="0"/>
                <a:ea typeface="Calibri" pitchFamily="34" charset="-122"/>
                <a:cs typeface="Calibri" pitchFamily="34" charset="-120"/>
              </a:rPr>
              <a:t>one object, once</a:t>
            </a:r>
            <a:endParaRPr lang="en-US" sz="1300" dirty="0"/>
          </a:p>
        </p:txBody>
      </p:sp>
      <p:sp>
        <p:nvSpPr>
          <p:cNvPr id="17" name="Text 15"/>
          <p:cNvSpPr/>
          <p:nvPr/>
        </p:nvSpPr>
        <p:spPr>
          <a:xfrm>
            <a:off x="6967728" y="2962656"/>
            <a:ext cx="2377440" cy="219456"/>
          </a:xfrm>
          <a:prstGeom prst="rect">
            <a:avLst/>
          </a:prstGeom>
          <a:noFill/>
          <a:ln/>
        </p:spPr>
        <p:txBody>
          <a:bodyPr wrap="square" lIns="0" tIns="0" rIns="0" bIns="0" rtlCol="0" anchor="ctr"/>
          <a:lstStyle/>
          <a:p>
            <a:pPr marL="0" indent="0">
              <a:buNone/>
            </a:pPr>
            <a:r>
              <a:rPr lang="en-US" sz="1000" dirty="0">
                <a:solidFill>
                  <a:srgbClr val="6E6B8A"/>
                </a:solidFill>
                <a:latin typeface="Courier New" pitchFamily="34" charset="0"/>
                <a:ea typeface="Courier New" pitchFamily="34" charset="-122"/>
                <a:cs typeface="Courier New" pitchFamily="34" charset="-120"/>
              </a:rPr>
              <a:t>· id</a:t>
            </a:r>
            <a:endParaRPr lang="en-US" sz="1000" dirty="0"/>
          </a:p>
        </p:txBody>
      </p:sp>
      <p:sp>
        <p:nvSpPr>
          <p:cNvPr id="18" name="Text 16"/>
          <p:cNvSpPr/>
          <p:nvPr/>
        </p:nvSpPr>
        <p:spPr>
          <a:xfrm>
            <a:off x="6967728" y="3200400"/>
            <a:ext cx="2377440" cy="219456"/>
          </a:xfrm>
          <a:prstGeom prst="rect">
            <a:avLst/>
          </a:prstGeom>
          <a:noFill/>
          <a:ln/>
        </p:spPr>
        <p:txBody>
          <a:bodyPr wrap="square" lIns="0" tIns="0" rIns="0" bIns="0" rtlCol="0" anchor="ctr"/>
          <a:lstStyle/>
          <a:p>
            <a:pPr marL="0" indent="0">
              <a:buNone/>
            </a:pPr>
            <a:r>
              <a:rPr lang="en-US" sz="1000" dirty="0">
                <a:solidFill>
                  <a:srgbClr val="6E6B8A"/>
                </a:solidFill>
                <a:latin typeface="Courier New" pitchFamily="34" charset="0"/>
                <a:ea typeface="Courier New" pitchFamily="34" charset="-122"/>
                <a:cs typeface="Courier New" pitchFamily="34" charset="-120"/>
              </a:rPr>
              <a:t>· model</a:t>
            </a:r>
            <a:endParaRPr lang="en-US" sz="1000" dirty="0"/>
          </a:p>
        </p:txBody>
      </p:sp>
      <p:sp>
        <p:nvSpPr>
          <p:cNvPr id="19" name="Text 17"/>
          <p:cNvSpPr/>
          <p:nvPr/>
        </p:nvSpPr>
        <p:spPr>
          <a:xfrm>
            <a:off x="6967728" y="3438144"/>
            <a:ext cx="2377440" cy="219456"/>
          </a:xfrm>
          <a:prstGeom prst="rect">
            <a:avLst/>
          </a:prstGeom>
          <a:noFill/>
          <a:ln/>
        </p:spPr>
        <p:txBody>
          <a:bodyPr wrap="square" lIns="0" tIns="0" rIns="0" bIns="0" rtlCol="0" anchor="ctr"/>
          <a:lstStyle/>
          <a:p>
            <a:pPr marL="0" indent="0">
              <a:buNone/>
            </a:pPr>
            <a:r>
              <a:rPr lang="en-US" sz="1000" b="1" dirty="0">
                <a:solidFill>
                  <a:srgbClr val="E08700"/>
                </a:solidFill>
                <a:latin typeface="Courier New" pitchFamily="34" charset="0"/>
                <a:ea typeface="Courier New" pitchFamily="34" charset="-122"/>
                <a:cs typeface="Courier New" pitchFamily="34" charset="-120"/>
              </a:rPr>
              <a:t>· choices[0].message</a:t>
            </a:r>
            <a:endParaRPr lang="en-US" sz="1000" dirty="0"/>
          </a:p>
        </p:txBody>
      </p:sp>
      <p:sp>
        <p:nvSpPr>
          <p:cNvPr id="20" name="Text 18"/>
          <p:cNvSpPr/>
          <p:nvPr/>
        </p:nvSpPr>
        <p:spPr>
          <a:xfrm>
            <a:off x="6967728" y="3675888"/>
            <a:ext cx="2377440" cy="219456"/>
          </a:xfrm>
          <a:prstGeom prst="rect">
            <a:avLst/>
          </a:prstGeom>
          <a:noFill/>
          <a:ln/>
        </p:spPr>
        <p:txBody>
          <a:bodyPr wrap="square" lIns="0" tIns="0" rIns="0" bIns="0" rtlCol="0" anchor="ctr"/>
          <a:lstStyle/>
          <a:p>
            <a:pPr marL="0" indent="0">
              <a:buNone/>
            </a:pPr>
            <a:r>
              <a:rPr lang="en-US" sz="1000" dirty="0">
                <a:solidFill>
                  <a:srgbClr val="6E6B8A"/>
                </a:solidFill>
                <a:latin typeface="Courier New" pitchFamily="34" charset="0"/>
                <a:ea typeface="Courier New" pitchFamily="34" charset="-122"/>
                <a:cs typeface="Courier New" pitchFamily="34" charset="-120"/>
              </a:rPr>
              <a:t>· finish_reason</a:t>
            </a:r>
            <a:endParaRPr lang="en-US" sz="1000" dirty="0"/>
          </a:p>
        </p:txBody>
      </p:sp>
      <p:sp>
        <p:nvSpPr>
          <p:cNvPr id="21" name="Text 19"/>
          <p:cNvSpPr/>
          <p:nvPr/>
        </p:nvSpPr>
        <p:spPr>
          <a:xfrm>
            <a:off x="6967728" y="3913632"/>
            <a:ext cx="2377440" cy="219456"/>
          </a:xfrm>
          <a:prstGeom prst="rect">
            <a:avLst/>
          </a:prstGeom>
          <a:noFill/>
          <a:ln/>
        </p:spPr>
        <p:txBody>
          <a:bodyPr wrap="square" lIns="0" tIns="0" rIns="0" bIns="0" rtlCol="0" anchor="ctr"/>
          <a:lstStyle/>
          <a:p>
            <a:pPr marL="0" indent="0">
              <a:buNone/>
            </a:pPr>
            <a:r>
              <a:rPr lang="en-US" sz="1000" dirty="0">
                <a:solidFill>
                  <a:srgbClr val="6E6B8A"/>
                </a:solidFill>
                <a:latin typeface="Courier New" pitchFamily="34" charset="0"/>
                <a:ea typeface="Courier New" pitchFamily="34" charset="-122"/>
                <a:cs typeface="Courier New" pitchFamily="34" charset="-120"/>
              </a:rPr>
              <a:t>· usage</a:t>
            </a:r>
            <a:endParaRPr lang="en-US" sz="1000" dirty="0"/>
          </a:p>
        </p:txBody>
      </p:sp>
      <p:sp>
        <p:nvSpPr>
          <p:cNvPr id="22" name="Shape 20"/>
          <p:cNvSpPr/>
          <p:nvPr/>
        </p:nvSpPr>
        <p:spPr>
          <a:xfrm>
            <a:off x="9710928" y="2761488"/>
            <a:ext cx="1920240" cy="1005840"/>
          </a:xfrm>
          <a:prstGeom prst="roundRect">
            <a:avLst>
              <a:gd name="adj" fmla="val 7273"/>
            </a:avLst>
          </a:prstGeom>
          <a:solidFill>
            <a:srgbClr val="FFF4E0"/>
          </a:solidFill>
          <a:ln w="19050">
            <a:solidFill>
              <a:srgbClr val="E08700"/>
            </a:solidFill>
            <a:prstDash val="dash"/>
          </a:ln>
        </p:spPr>
        <p:txBody>
          <a:bodyPr/>
          <a:lstStyle/>
          <a:p>
            <a:endParaRPr lang="en-US"/>
          </a:p>
        </p:txBody>
      </p:sp>
      <p:sp>
        <p:nvSpPr>
          <p:cNvPr id="23" name="Text 21"/>
          <p:cNvSpPr/>
          <p:nvPr/>
        </p:nvSpPr>
        <p:spPr>
          <a:xfrm>
            <a:off x="9710928" y="2761488"/>
            <a:ext cx="1920240" cy="1005840"/>
          </a:xfrm>
          <a:prstGeom prst="rect">
            <a:avLst/>
          </a:prstGeom>
          <a:noFill/>
          <a:ln/>
        </p:spPr>
        <p:txBody>
          <a:bodyPr wrap="square" lIns="635" tIns="635" rIns="635" bIns="635" rtlCol="0" anchor="ctr"/>
          <a:lstStyle/>
          <a:p>
            <a:pPr marL="0" indent="0" algn="ctr">
              <a:lnSpc>
                <a:spcPct val="110000"/>
              </a:lnSpc>
              <a:buNone/>
            </a:pPr>
            <a:r>
              <a:rPr lang="en-US" sz="1200" b="1" dirty="0">
                <a:solidFill>
                  <a:srgbClr val="E08700"/>
                </a:solidFill>
                <a:latin typeface="Calibri" pitchFamily="34" charset="0"/>
                <a:ea typeface="Calibri" pitchFamily="34" charset="-122"/>
                <a:cs typeface="Calibri" pitchFamily="34" charset="-120"/>
              </a:rPr>
              <a:t>tool_calls</a:t>
            </a:r>
            <a:endParaRPr lang="en-US" sz="1200" dirty="0"/>
          </a:p>
          <a:p>
            <a:pPr marL="0" indent="0" algn="ctr">
              <a:lnSpc>
                <a:spcPct val="110000"/>
              </a:lnSpc>
              <a:buNone/>
            </a:pPr>
            <a:r>
              <a:rPr lang="en-US" sz="950" dirty="0">
                <a:solidFill>
                  <a:srgbClr val="6E6B8A"/>
                </a:solidFill>
                <a:latin typeface="Calibri" pitchFamily="34" charset="0"/>
                <a:ea typeface="Calibri" pitchFamily="34" charset="-122"/>
                <a:cs typeface="Calibri" pitchFamily="34" charset="-120"/>
              </a:rPr>
              <a:t>appears here in module 02</a:t>
            </a:r>
            <a:endParaRPr lang="en-US" sz="1200" dirty="0"/>
          </a:p>
        </p:txBody>
      </p:sp>
      <p:sp>
        <p:nvSpPr>
          <p:cNvPr id="24" name="Shape 22"/>
          <p:cNvSpPr/>
          <p:nvPr/>
        </p:nvSpPr>
        <p:spPr>
          <a:xfrm>
            <a:off x="9528048" y="3264408"/>
            <a:ext cx="128016" cy="0"/>
          </a:xfrm>
          <a:prstGeom prst="line">
            <a:avLst/>
          </a:prstGeom>
          <a:noFill/>
          <a:ln w="19050">
            <a:solidFill>
              <a:srgbClr val="E08700"/>
            </a:solidFill>
            <a:prstDash val="dash"/>
            <a:headEnd type="none"/>
            <a:tailEnd type="triangle"/>
          </a:ln>
        </p:spPr>
        <p:txBody>
          <a:bodyPr/>
          <a:lstStyle/>
          <a:p>
            <a:endParaRPr lang="en-US"/>
          </a:p>
        </p:txBody>
      </p:sp>
      <p:sp>
        <p:nvSpPr>
          <p:cNvPr id="25" name="Shape 23"/>
          <p:cNvSpPr/>
          <p:nvPr/>
        </p:nvSpPr>
        <p:spPr>
          <a:xfrm>
            <a:off x="566928" y="5541264"/>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26" name="Shape 24"/>
          <p:cNvSpPr/>
          <p:nvPr/>
        </p:nvSpPr>
        <p:spPr>
          <a:xfrm>
            <a:off x="841248" y="5760720"/>
            <a:ext cx="384048" cy="384048"/>
          </a:xfrm>
          <a:prstGeom prst="ellipse">
            <a:avLst/>
          </a:prstGeom>
          <a:solidFill>
            <a:srgbClr val="F5A524"/>
          </a:solidFill>
          <a:ln w="12700">
            <a:solidFill>
              <a:srgbClr val="F5A524"/>
            </a:solidFill>
            <a:prstDash val="solid"/>
          </a:ln>
        </p:spPr>
        <p:txBody>
          <a:bodyPr/>
          <a:lstStyle/>
          <a:p>
            <a:endParaRPr lang="en-US"/>
          </a:p>
        </p:txBody>
      </p:sp>
      <p:pic>
        <p:nvPicPr>
          <p:cNvPr id="27" name="Image 0" descr="preencoded.png"/>
          <p:cNvPicPr>
            <a:picLocks noChangeAspect="1"/>
          </p:cNvPicPr>
          <p:nvPr/>
        </p:nvPicPr>
        <p:blipFill>
          <a:blip r:embed="rId3"/>
          <a:stretch>
            <a:fillRect/>
          </a:stretch>
        </p:blipFill>
        <p:spPr>
          <a:xfrm>
            <a:off x="937260" y="5856732"/>
            <a:ext cx="192024" cy="192024"/>
          </a:xfrm>
          <a:prstGeom prst="rect">
            <a:avLst/>
          </a:prstGeom>
        </p:spPr>
      </p:pic>
      <p:sp>
        <p:nvSpPr>
          <p:cNvPr id="28" name="Text 25"/>
          <p:cNvSpPr/>
          <p:nvPr/>
        </p:nvSpPr>
        <p:spPr>
          <a:xfrm>
            <a:off x="1371600" y="5596128"/>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A model call is a vending machine, not a conversation. You put the whole history in, you get one answer out, and the machine forgets you immediately.</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00 · THE API</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3000" b="1" dirty="0">
                <a:solidFill>
                  <a:srgbClr val="141235"/>
                </a:solidFill>
                <a:latin typeface="Cambria" pitchFamily="34" charset="0"/>
                <a:ea typeface="Cambria" pitchFamily="34" charset="-122"/>
                <a:cs typeface="Cambria" pitchFamily="34" charset="-120"/>
              </a:rPr>
              <a:t>Three roles, and only one of them is you</a:t>
            </a:r>
            <a:endParaRPr lang="en-US" sz="3000" dirty="0"/>
          </a:p>
        </p:txBody>
      </p:sp>
      <p:sp>
        <p:nvSpPr>
          <p:cNvPr id="4" name="Shape 2"/>
          <p:cNvSpPr/>
          <p:nvPr/>
        </p:nvSpPr>
        <p:spPr>
          <a:xfrm>
            <a:off x="566928" y="2767980"/>
            <a:ext cx="3527450" cy="1779240"/>
          </a:xfrm>
          <a:prstGeom prst="roundRect">
            <a:avLst>
              <a:gd name="adj" fmla="val 4625"/>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5" name="Shape 3"/>
          <p:cNvSpPr/>
          <p:nvPr/>
        </p:nvSpPr>
        <p:spPr>
          <a:xfrm>
            <a:off x="804672" y="2987436"/>
            <a:ext cx="365760" cy="365760"/>
          </a:xfrm>
          <a:prstGeom prst="ellipse">
            <a:avLst/>
          </a:prstGeom>
          <a:solidFill>
            <a:srgbClr val="5B4BE8"/>
          </a:solidFill>
          <a:ln w="12700">
            <a:solidFill>
              <a:srgbClr val="5B4BE8"/>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896112" y="3078876"/>
            <a:ext cx="182880" cy="182880"/>
          </a:xfrm>
          <a:prstGeom prst="rect">
            <a:avLst/>
          </a:prstGeom>
        </p:spPr>
      </p:pic>
      <p:sp>
        <p:nvSpPr>
          <p:cNvPr id="7" name="Text 4"/>
          <p:cNvSpPr/>
          <p:nvPr/>
        </p:nvSpPr>
        <p:spPr>
          <a:xfrm>
            <a:off x="1298448" y="2978292"/>
            <a:ext cx="2558186"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ROLE: SYSTEM</a:t>
            </a:r>
            <a:endParaRPr lang="en-US" sz="850" dirty="0"/>
          </a:p>
        </p:txBody>
      </p:sp>
      <p:sp>
        <p:nvSpPr>
          <p:cNvPr id="8" name="Text 5"/>
          <p:cNvSpPr/>
          <p:nvPr/>
        </p:nvSpPr>
        <p:spPr>
          <a:xfrm>
            <a:off x="1298448" y="3197748"/>
            <a:ext cx="2558186" cy="338511"/>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The standing instruction</a:t>
            </a:r>
            <a:endParaRPr lang="en-US" sz="1450" dirty="0"/>
          </a:p>
        </p:txBody>
      </p:sp>
      <p:sp>
        <p:nvSpPr>
          <p:cNvPr id="9" name="Text 6"/>
          <p:cNvSpPr/>
          <p:nvPr/>
        </p:nvSpPr>
        <p:spPr>
          <a:xfrm>
            <a:off x="1298448" y="3545403"/>
            <a:ext cx="2558186" cy="818937"/>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How it should behave, who it is, what it must never do. It is not stored anywhere. If you want it on the next call, you send it again.</a:t>
            </a:r>
            <a:endParaRPr lang="en-US" sz="1150" dirty="0"/>
          </a:p>
        </p:txBody>
      </p:sp>
      <p:sp>
        <p:nvSpPr>
          <p:cNvPr id="10" name="Shape 7"/>
          <p:cNvSpPr/>
          <p:nvPr/>
        </p:nvSpPr>
        <p:spPr>
          <a:xfrm>
            <a:off x="4332122" y="2767980"/>
            <a:ext cx="3527450" cy="1779240"/>
          </a:xfrm>
          <a:prstGeom prst="roundRect">
            <a:avLst>
              <a:gd name="adj" fmla="val 4625"/>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1" name="Shape 8"/>
          <p:cNvSpPr/>
          <p:nvPr/>
        </p:nvSpPr>
        <p:spPr>
          <a:xfrm>
            <a:off x="4569866" y="2987436"/>
            <a:ext cx="365760" cy="365760"/>
          </a:xfrm>
          <a:prstGeom prst="ellipse">
            <a:avLst/>
          </a:prstGeom>
          <a:solidFill>
            <a:srgbClr val="5B4BE8"/>
          </a:solidFill>
          <a:ln w="12700">
            <a:solidFill>
              <a:srgbClr val="5B4BE8"/>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4661306" y="3078876"/>
            <a:ext cx="182880" cy="182880"/>
          </a:xfrm>
          <a:prstGeom prst="rect">
            <a:avLst/>
          </a:prstGeom>
        </p:spPr>
      </p:pic>
      <p:sp>
        <p:nvSpPr>
          <p:cNvPr id="13" name="Text 9"/>
          <p:cNvSpPr/>
          <p:nvPr/>
        </p:nvSpPr>
        <p:spPr>
          <a:xfrm>
            <a:off x="5063642" y="2978292"/>
            <a:ext cx="2558186"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ROLE: USER</a:t>
            </a:r>
            <a:endParaRPr lang="en-US" sz="850" dirty="0"/>
          </a:p>
        </p:txBody>
      </p:sp>
      <p:sp>
        <p:nvSpPr>
          <p:cNvPr id="14" name="Text 10"/>
          <p:cNvSpPr/>
          <p:nvPr/>
        </p:nvSpPr>
        <p:spPr>
          <a:xfrm>
            <a:off x="5063642" y="3197748"/>
            <a:ext cx="2558186" cy="338511"/>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This turn's request</a:t>
            </a:r>
            <a:endParaRPr lang="en-US" sz="1450" dirty="0"/>
          </a:p>
        </p:txBody>
      </p:sp>
      <p:sp>
        <p:nvSpPr>
          <p:cNvPr id="15" name="Text 11"/>
          <p:cNvSpPr/>
          <p:nvPr/>
        </p:nvSpPr>
        <p:spPr>
          <a:xfrm>
            <a:off x="5063642" y="3545403"/>
            <a:ext cx="2558186" cy="818937"/>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What the person actually asked, right now. In an agent this is often the only thing a human wrote.</a:t>
            </a:r>
            <a:endParaRPr lang="en-US" sz="1150" dirty="0"/>
          </a:p>
        </p:txBody>
      </p:sp>
      <p:sp>
        <p:nvSpPr>
          <p:cNvPr id="16" name="Shape 12"/>
          <p:cNvSpPr/>
          <p:nvPr/>
        </p:nvSpPr>
        <p:spPr>
          <a:xfrm>
            <a:off x="8097317" y="2767980"/>
            <a:ext cx="3527450" cy="1779240"/>
          </a:xfrm>
          <a:prstGeom prst="roundRect">
            <a:avLst>
              <a:gd name="adj" fmla="val 4625"/>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7" name="Shape 13"/>
          <p:cNvSpPr/>
          <p:nvPr/>
        </p:nvSpPr>
        <p:spPr>
          <a:xfrm>
            <a:off x="8335061" y="2987436"/>
            <a:ext cx="365760" cy="365760"/>
          </a:xfrm>
          <a:prstGeom prst="ellipse">
            <a:avLst/>
          </a:prstGeom>
          <a:solidFill>
            <a:srgbClr val="5B4BE8"/>
          </a:solidFill>
          <a:ln w="12700">
            <a:solidFill>
              <a:srgbClr val="5B4BE8"/>
            </a:solidFill>
            <a:prstDash val="solid"/>
          </a:ln>
        </p:spPr>
        <p:txBody>
          <a:bodyPr/>
          <a:lstStyle/>
          <a:p>
            <a:endParaRPr lang="en-US"/>
          </a:p>
        </p:txBody>
      </p:sp>
      <p:pic>
        <p:nvPicPr>
          <p:cNvPr id="18" name="Image 2" descr="preencoded.png"/>
          <p:cNvPicPr>
            <a:picLocks noChangeAspect="1"/>
          </p:cNvPicPr>
          <p:nvPr/>
        </p:nvPicPr>
        <p:blipFill>
          <a:blip r:embed="rId5"/>
          <a:stretch>
            <a:fillRect/>
          </a:stretch>
        </p:blipFill>
        <p:spPr>
          <a:xfrm>
            <a:off x="8426501" y="3078876"/>
            <a:ext cx="182880" cy="182880"/>
          </a:xfrm>
          <a:prstGeom prst="rect">
            <a:avLst/>
          </a:prstGeom>
        </p:spPr>
      </p:pic>
      <p:sp>
        <p:nvSpPr>
          <p:cNvPr id="19" name="Text 14"/>
          <p:cNvSpPr/>
          <p:nvPr/>
        </p:nvSpPr>
        <p:spPr>
          <a:xfrm>
            <a:off x="8828837" y="2978292"/>
            <a:ext cx="2558186"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ROLE: ASSISTANT</a:t>
            </a:r>
            <a:endParaRPr lang="en-US" sz="850" dirty="0"/>
          </a:p>
        </p:txBody>
      </p:sp>
      <p:sp>
        <p:nvSpPr>
          <p:cNvPr id="20" name="Text 15"/>
          <p:cNvSpPr/>
          <p:nvPr/>
        </p:nvSpPr>
        <p:spPr>
          <a:xfrm>
            <a:off x="8828837" y="3197748"/>
            <a:ext cx="2558186" cy="338511"/>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What it said last time</a:t>
            </a:r>
            <a:endParaRPr lang="en-US" sz="1450" dirty="0"/>
          </a:p>
        </p:txBody>
      </p:sp>
      <p:sp>
        <p:nvSpPr>
          <p:cNvPr id="21" name="Text 16"/>
          <p:cNvSpPr/>
          <p:nvPr/>
        </p:nvSpPr>
        <p:spPr>
          <a:xfrm>
            <a:off x="8828837" y="3545403"/>
            <a:ext cx="2558186" cy="818937"/>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You send the model's own previous replies back to it. That, and nothing else, is what makes a conversation feel continuous.</a:t>
            </a:r>
            <a:endParaRPr lang="en-US" sz="1150" dirty="0"/>
          </a:p>
        </p:txBody>
      </p:sp>
      <p:sp>
        <p:nvSpPr>
          <p:cNvPr id="22" name="Shape 17"/>
          <p:cNvSpPr/>
          <p:nvPr/>
        </p:nvSpPr>
        <p:spPr>
          <a:xfrm>
            <a:off x="566928" y="5541264"/>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23" name="Shape 18"/>
          <p:cNvSpPr/>
          <p:nvPr/>
        </p:nvSpPr>
        <p:spPr>
          <a:xfrm>
            <a:off x="841248" y="5760720"/>
            <a:ext cx="384048" cy="384048"/>
          </a:xfrm>
          <a:prstGeom prst="ellipse">
            <a:avLst/>
          </a:prstGeom>
          <a:solidFill>
            <a:srgbClr val="F5A524"/>
          </a:solidFill>
          <a:ln w="12700">
            <a:solidFill>
              <a:srgbClr val="F5A524"/>
            </a:solidFill>
            <a:prstDash val="solid"/>
          </a:ln>
        </p:spPr>
        <p:txBody>
          <a:bodyPr/>
          <a:lstStyle/>
          <a:p>
            <a:endParaRPr lang="en-US"/>
          </a:p>
        </p:txBody>
      </p:sp>
      <p:pic>
        <p:nvPicPr>
          <p:cNvPr id="24" name="Image 3" descr="preencoded.png"/>
          <p:cNvPicPr>
            <a:picLocks noChangeAspect="1"/>
          </p:cNvPicPr>
          <p:nvPr/>
        </p:nvPicPr>
        <p:blipFill>
          <a:blip r:embed="rId6"/>
          <a:stretch>
            <a:fillRect/>
          </a:stretch>
        </p:blipFill>
        <p:spPr>
          <a:xfrm>
            <a:off x="937260" y="5856732"/>
            <a:ext cx="192024" cy="192024"/>
          </a:xfrm>
          <a:prstGeom prst="rect">
            <a:avLst/>
          </a:prstGeom>
        </p:spPr>
      </p:pic>
      <p:sp>
        <p:nvSpPr>
          <p:cNvPr id="25" name="Text 19"/>
          <p:cNvSpPr/>
          <p:nvPr/>
        </p:nvSpPr>
        <p:spPr>
          <a:xfrm>
            <a:off x="1371600" y="5596128"/>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The model has no memory. What looks like memory is your program re-sending the whole transcript every single time.</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00 · THE API</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3000" b="1" dirty="0">
                <a:solidFill>
                  <a:srgbClr val="141235"/>
                </a:solidFill>
                <a:latin typeface="Cambria" pitchFamily="34" charset="0"/>
                <a:ea typeface="Cambria" pitchFamily="34" charset="-122"/>
                <a:cs typeface="Cambria" pitchFamily="34" charset="-120"/>
              </a:rPr>
              <a:t>Two holes a bare model call cannot fill</a:t>
            </a:r>
            <a:endParaRPr lang="en-US" sz="3000" dirty="0"/>
          </a:p>
        </p:txBody>
      </p:sp>
      <p:sp>
        <p:nvSpPr>
          <p:cNvPr id="4" name="Shape 2"/>
          <p:cNvSpPr/>
          <p:nvPr/>
        </p:nvSpPr>
        <p:spPr>
          <a:xfrm>
            <a:off x="566928" y="2073768"/>
            <a:ext cx="5410048" cy="1887504"/>
          </a:xfrm>
          <a:prstGeom prst="roundRect">
            <a:avLst>
              <a:gd name="adj" fmla="val 4360"/>
            </a:avLst>
          </a:prstGeom>
          <a:solidFill>
            <a:srgbClr val="FDECEC"/>
          </a:solidFill>
          <a:ln w="12700">
            <a:solidFill>
              <a:srgbClr val="F3C9C9"/>
            </a:solidFill>
            <a:prstDash val="solid"/>
          </a:ln>
          <a:effectLst>
            <a:outerShdw blurRad="114300" dist="572" dir="5400000" algn="bl" rotWithShape="0">
              <a:srgbClr val="1B1A4A">
                <a:alpha val="7000"/>
              </a:srgbClr>
            </a:outerShdw>
          </a:effectLst>
        </p:spPr>
        <p:txBody>
          <a:bodyPr/>
          <a:lstStyle/>
          <a:p>
            <a:endParaRPr lang="en-US"/>
          </a:p>
        </p:txBody>
      </p:sp>
      <p:sp>
        <p:nvSpPr>
          <p:cNvPr id="5" name="Shape 3"/>
          <p:cNvSpPr/>
          <p:nvPr/>
        </p:nvSpPr>
        <p:spPr>
          <a:xfrm>
            <a:off x="804672" y="2293224"/>
            <a:ext cx="365760" cy="365760"/>
          </a:xfrm>
          <a:prstGeom prst="ellipse">
            <a:avLst/>
          </a:prstGeom>
          <a:solidFill>
            <a:srgbClr val="D93A3F"/>
          </a:solidFill>
          <a:ln w="12700">
            <a:solidFill>
              <a:srgbClr val="D93A3F"/>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896112" y="2384664"/>
            <a:ext cx="182880" cy="182880"/>
          </a:xfrm>
          <a:prstGeom prst="rect">
            <a:avLst/>
          </a:prstGeom>
        </p:spPr>
      </p:pic>
      <p:sp>
        <p:nvSpPr>
          <p:cNvPr id="7" name="Text 4"/>
          <p:cNvSpPr/>
          <p:nvPr/>
        </p:nvSpPr>
        <p:spPr>
          <a:xfrm>
            <a:off x="1298448" y="2284080"/>
            <a:ext cx="4440784" cy="182880"/>
          </a:xfrm>
          <a:prstGeom prst="rect">
            <a:avLst/>
          </a:prstGeom>
          <a:noFill/>
          <a:ln/>
        </p:spPr>
        <p:txBody>
          <a:bodyPr wrap="square" lIns="0" tIns="0" rIns="0" bIns="0" rtlCol="0" anchor="ctr"/>
          <a:lstStyle/>
          <a:p>
            <a:pPr marL="0" indent="0">
              <a:buNone/>
            </a:pPr>
            <a:r>
              <a:rPr lang="en-US" sz="850" b="1" kern="0" spc="160" dirty="0">
                <a:solidFill>
                  <a:srgbClr val="D93A3F"/>
                </a:solidFill>
                <a:latin typeface="Calibri" pitchFamily="34" charset="0"/>
                <a:ea typeface="Calibri" pitchFamily="34" charset="-122"/>
                <a:cs typeface="Calibri" pitchFamily="34" charset="-120"/>
              </a:rPr>
              <a:t>HOLE 1</a:t>
            </a:r>
            <a:endParaRPr lang="en-US" sz="850" dirty="0"/>
          </a:p>
        </p:txBody>
      </p:sp>
      <p:sp>
        <p:nvSpPr>
          <p:cNvPr id="8" name="Text 5"/>
          <p:cNvSpPr/>
          <p:nvPr/>
        </p:nvSpPr>
        <p:spPr>
          <a:xfrm>
            <a:off x="1298448" y="2503536"/>
            <a:ext cx="4440784" cy="378744"/>
          </a:xfrm>
          <a:prstGeom prst="rect">
            <a:avLst/>
          </a:prstGeom>
          <a:noFill/>
          <a:ln/>
        </p:spPr>
        <p:txBody>
          <a:bodyPr wrap="square" lIns="0" tIns="0" rIns="0" bIns="0" rtlCol="0" anchor="t"/>
          <a:lstStyle/>
          <a:p>
            <a:pPr marL="0" indent="0">
              <a:lnSpc>
                <a:spcPct val="105000"/>
              </a:lnSpc>
              <a:buNone/>
            </a:pPr>
            <a:r>
              <a:rPr lang="en-US" sz="1700" b="1" dirty="0">
                <a:solidFill>
                  <a:srgbClr val="141235"/>
                </a:solidFill>
                <a:latin typeface="Calibri" pitchFamily="34" charset="0"/>
                <a:ea typeface="Calibri" pitchFamily="34" charset="-122"/>
                <a:cs typeface="Calibri" pitchFamily="34" charset="-120"/>
              </a:rPr>
              <a:t>No memory</a:t>
            </a:r>
            <a:endParaRPr lang="en-US" sz="1700" dirty="0"/>
          </a:p>
        </p:txBody>
      </p:sp>
      <p:sp>
        <p:nvSpPr>
          <p:cNvPr id="9" name="Text 6"/>
          <p:cNvSpPr/>
          <p:nvPr/>
        </p:nvSpPr>
        <p:spPr>
          <a:xfrm>
            <a:off x="1298448" y="2891424"/>
            <a:ext cx="4440784" cy="886968"/>
          </a:xfrm>
          <a:prstGeom prst="rect">
            <a:avLst/>
          </a:prstGeom>
          <a:noFill/>
          <a:ln/>
        </p:spPr>
        <p:txBody>
          <a:bodyPr wrap="square" lIns="0" tIns="0" rIns="0" bIns="0" rtlCol="0" anchor="t"/>
          <a:lstStyle/>
          <a:p>
            <a:pPr marL="0" indent="0">
              <a:lnSpc>
                <a:spcPct val="113000"/>
              </a:lnSpc>
              <a:buNone/>
            </a:pPr>
            <a:r>
              <a:rPr lang="en-US" sz="1250" dirty="0">
                <a:solidFill>
                  <a:srgbClr val="6E6B8A"/>
                </a:solidFill>
                <a:latin typeface="Calibri" pitchFamily="34" charset="0"/>
                <a:ea typeface="Calibri" pitchFamily="34" charset="-122"/>
                <a:cs typeface="Calibri" pitchFamily="34" charset="-120"/>
              </a:rPr>
              <a:t>Ask again in a fresh call and the previous turn is simply gone. There is no server-side conversation. The Python list you keep IS the memory — lose it and the agent has amnesia.</a:t>
            </a:r>
            <a:endParaRPr lang="en-US" sz="1250" dirty="0"/>
          </a:p>
        </p:txBody>
      </p:sp>
      <p:sp>
        <p:nvSpPr>
          <p:cNvPr id="10" name="Shape 7"/>
          <p:cNvSpPr/>
          <p:nvPr/>
        </p:nvSpPr>
        <p:spPr>
          <a:xfrm>
            <a:off x="6214720" y="2073768"/>
            <a:ext cx="5410048" cy="1887504"/>
          </a:xfrm>
          <a:prstGeom prst="roundRect">
            <a:avLst>
              <a:gd name="adj" fmla="val 4360"/>
            </a:avLst>
          </a:prstGeom>
          <a:solidFill>
            <a:srgbClr val="FDECEC"/>
          </a:solidFill>
          <a:ln w="12700">
            <a:solidFill>
              <a:srgbClr val="F3C9C9"/>
            </a:solidFill>
            <a:prstDash val="solid"/>
          </a:ln>
          <a:effectLst>
            <a:outerShdw blurRad="114300" dist="572" dir="5400000" algn="bl" rotWithShape="0">
              <a:srgbClr val="1B1A4A">
                <a:alpha val="7000"/>
              </a:srgbClr>
            </a:outerShdw>
          </a:effectLst>
        </p:spPr>
        <p:txBody>
          <a:bodyPr/>
          <a:lstStyle/>
          <a:p>
            <a:endParaRPr lang="en-US"/>
          </a:p>
        </p:txBody>
      </p:sp>
      <p:sp>
        <p:nvSpPr>
          <p:cNvPr id="11" name="Shape 8"/>
          <p:cNvSpPr/>
          <p:nvPr/>
        </p:nvSpPr>
        <p:spPr>
          <a:xfrm>
            <a:off x="6452464" y="2293224"/>
            <a:ext cx="365760" cy="365760"/>
          </a:xfrm>
          <a:prstGeom prst="ellipse">
            <a:avLst/>
          </a:prstGeom>
          <a:solidFill>
            <a:srgbClr val="D93A3F"/>
          </a:solidFill>
          <a:ln w="12700">
            <a:solidFill>
              <a:srgbClr val="D93A3F"/>
            </a:solidFill>
            <a:prstDash val="solid"/>
          </a:ln>
        </p:spPr>
        <p:txBody>
          <a:bodyPr/>
          <a:lstStyle/>
          <a:p>
            <a:endParaRPr lang="en-US"/>
          </a:p>
        </p:txBody>
      </p:sp>
      <p:pic>
        <p:nvPicPr>
          <p:cNvPr id="12" name="Image 1" descr="preencoded.png"/>
          <p:cNvPicPr>
            <a:picLocks noChangeAspect="1"/>
          </p:cNvPicPr>
          <p:nvPr/>
        </p:nvPicPr>
        <p:blipFill>
          <a:blip r:embed="rId3"/>
          <a:stretch>
            <a:fillRect/>
          </a:stretch>
        </p:blipFill>
        <p:spPr>
          <a:xfrm>
            <a:off x="6543904" y="2384664"/>
            <a:ext cx="182880" cy="182880"/>
          </a:xfrm>
          <a:prstGeom prst="rect">
            <a:avLst/>
          </a:prstGeom>
        </p:spPr>
      </p:pic>
      <p:sp>
        <p:nvSpPr>
          <p:cNvPr id="13" name="Text 9"/>
          <p:cNvSpPr/>
          <p:nvPr/>
        </p:nvSpPr>
        <p:spPr>
          <a:xfrm>
            <a:off x="6946240" y="2284080"/>
            <a:ext cx="4440784" cy="182880"/>
          </a:xfrm>
          <a:prstGeom prst="rect">
            <a:avLst/>
          </a:prstGeom>
          <a:noFill/>
          <a:ln/>
        </p:spPr>
        <p:txBody>
          <a:bodyPr wrap="square" lIns="0" tIns="0" rIns="0" bIns="0" rtlCol="0" anchor="ctr"/>
          <a:lstStyle/>
          <a:p>
            <a:pPr marL="0" indent="0">
              <a:buNone/>
            </a:pPr>
            <a:r>
              <a:rPr lang="en-US" sz="850" b="1" kern="0" spc="160" dirty="0">
                <a:solidFill>
                  <a:srgbClr val="D93A3F"/>
                </a:solidFill>
                <a:latin typeface="Calibri" pitchFamily="34" charset="0"/>
                <a:ea typeface="Calibri" pitchFamily="34" charset="-122"/>
                <a:cs typeface="Calibri" pitchFamily="34" charset="-120"/>
              </a:rPr>
              <a:t>HOLE 2</a:t>
            </a:r>
            <a:endParaRPr lang="en-US" sz="850" dirty="0"/>
          </a:p>
        </p:txBody>
      </p:sp>
      <p:sp>
        <p:nvSpPr>
          <p:cNvPr id="14" name="Text 10"/>
          <p:cNvSpPr/>
          <p:nvPr/>
        </p:nvSpPr>
        <p:spPr>
          <a:xfrm>
            <a:off x="6946240" y="2503536"/>
            <a:ext cx="4440784" cy="378744"/>
          </a:xfrm>
          <a:prstGeom prst="rect">
            <a:avLst/>
          </a:prstGeom>
          <a:noFill/>
          <a:ln/>
        </p:spPr>
        <p:txBody>
          <a:bodyPr wrap="square" lIns="0" tIns="0" rIns="0" bIns="0" rtlCol="0" anchor="t"/>
          <a:lstStyle/>
          <a:p>
            <a:pPr marL="0" indent="0">
              <a:lnSpc>
                <a:spcPct val="105000"/>
              </a:lnSpc>
              <a:buNone/>
            </a:pPr>
            <a:r>
              <a:rPr lang="en-US" sz="1700" b="1" dirty="0">
                <a:solidFill>
                  <a:srgbClr val="141235"/>
                </a:solidFill>
                <a:latin typeface="Calibri" pitchFamily="34" charset="0"/>
                <a:ea typeface="Calibri" pitchFamily="34" charset="-122"/>
                <a:cs typeface="Calibri" pitchFamily="34" charset="-120"/>
              </a:rPr>
              <a:t>No hands</a:t>
            </a:r>
            <a:endParaRPr lang="en-US" sz="1700" dirty="0"/>
          </a:p>
        </p:txBody>
      </p:sp>
      <p:sp>
        <p:nvSpPr>
          <p:cNvPr id="15" name="Text 11"/>
          <p:cNvSpPr/>
          <p:nvPr/>
        </p:nvSpPr>
        <p:spPr>
          <a:xfrm>
            <a:off x="6946240" y="2891424"/>
            <a:ext cx="4440784" cy="886968"/>
          </a:xfrm>
          <a:prstGeom prst="rect">
            <a:avLst/>
          </a:prstGeom>
          <a:noFill/>
          <a:ln/>
        </p:spPr>
        <p:txBody>
          <a:bodyPr wrap="square" lIns="0" tIns="0" rIns="0" bIns="0" rtlCol="0" anchor="t"/>
          <a:lstStyle/>
          <a:p>
            <a:pPr marL="0" indent="0">
              <a:lnSpc>
                <a:spcPct val="113000"/>
              </a:lnSpc>
              <a:buNone/>
            </a:pPr>
            <a:r>
              <a:rPr lang="en-US" sz="1250" dirty="0">
                <a:solidFill>
                  <a:srgbClr val="6E6B8A"/>
                </a:solidFill>
                <a:latin typeface="Calibri" pitchFamily="34" charset="0"/>
                <a:ea typeface="Calibri" pitchFamily="34" charset="-122"/>
                <a:cs typeface="Calibri" pitchFamily="34" charset="-120"/>
              </a:rPr>
              <a:t>Ask for the weather in Prague right now and it will invent a plausible number, confidently. It has no clock, no network, no database. Flight status fails the same way.</a:t>
            </a:r>
            <a:endParaRPr lang="en-US" sz="1250" dirty="0"/>
          </a:p>
        </p:txBody>
      </p:sp>
      <p:sp>
        <p:nvSpPr>
          <p:cNvPr id="16" name="Shape 12"/>
          <p:cNvSpPr/>
          <p:nvPr/>
        </p:nvSpPr>
        <p:spPr>
          <a:xfrm>
            <a:off x="566928" y="4389852"/>
            <a:ext cx="5410048" cy="967801"/>
          </a:xfrm>
          <a:prstGeom prst="roundRect">
            <a:avLst>
              <a:gd name="adj" fmla="val 8503"/>
            </a:avLst>
          </a:prstGeom>
          <a:solidFill>
            <a:srgbClr val="E7F7F1"/>
          </a:solidFill>
          <a:ln w="12700">
            <a:solidFill>
              <a:srgbClr val="C6E9DA"/>
            </a:solidFill>
            <a:prstDash val="solid"/>
          </a:ln>
          <a:effectLst>
            <a:outerShdw blurRad="114300" dist="572" dir="5400000" algn="bl" rotWithShape="0">
              <a:srgbClr val="1B1A4A">
                <a:alpha val="7000"/>
              </a:srgbClr>
            </a:outerShdw>
          </a:effectLst>
        </p:spPr>
        <p:txBody>
          <a:bodyPr/>
          <a:lstStyle/>
          <a:p>
            <a:endParaRPr lang="en-US"/>
          </a:p>
        </p:txBody>
      </p:sp>
      <p:sp>
        <p:nvSpPr>
          <p:cNvPr id="17" name="Shape 13"/>
          <p:cNvSpPr/>
          <p:nvPr/>
        </p:nvSpPr>
        <p:spPr>
          <a:xfrm>
            <a:off x="804672" y="4609308"/>
            <a:ext cx="365760" cy="365760"/>
          </a:xfrm>
          <a:prstGeom prst="ellipse">
            <a:avLst/>
          </a:prstGeom>
          <a:solidFill>
            <a:srgbClr val="0E9F6E"/>
          </a:solidFill>
          <a:ln w="12700">
            <a:solidFill>
              <a:srgbClr val="0E9F6E"/>
            </a:solidFill>
            <a:prstDash val="solid"/>
          </a:ln>
        </p:spPr>
        <p:txBody>
          <a:bodyPr/>
          <a:lstStyle/>
          <a:p>
            <a:endParaRPr lang="en-US"/>
          </a:p>
        </p:txBody>
      </p:sp>
      <p:pic>
        <p:nvPicPr>
          <p:cNvPr id="18" name="Image 2" descr="preencoded.png"/>
          <p:cNvPicPr>
            <a:picLocks noChangeAspect="1"/>
          </p:cNvPicPr>
          <p:nvPr/>
        </p:nvPicPr>
        <p:blipFill>
          <a:blip r:embed="rId4"/>
          <a:stretch>
            <a:fillRect/>
          </a:stretch>
        </p:blipFill>
        <p:spPr>
          <a:xfrm>
            <a:off x="896112" y="4700748"/>
            <a:ext cx="182880" cy="182880"/>
          </a:xfrm>
          <a:prstGeom prst="rect">
            <a:avLst/>
          </a:prstGeom>
        </p:spPr>
      </p:pic>
      <p:sp>
        <p:nvSpPr>
          <p:cNvPr id="19" name="Text 14"/>
          <p:cNvSpPr/>
          <p:nvPr/>
        </p:nvSpPr>
        <p:spPr>
          <a:xfrm>
            <a:off x="1298448" y="4627596"/>
            <a:ext cx="4440784" cy="314371"/>
          </a:xfrm>
          <a:prstGeom prst="rect">
            <a:avLst/>
          </a:prstGeom>
          <a:noFill/>
          <a:ln/>
        </p:spPr>
        <p:txBody>
          <a:bodyPr wrap="square" lIns="0" tIns="0" rIns="0" bIns="0" rtlCol="0" anchor="t"/>
          <a:lstStyle/>
          <a:p>
            <a:pPr marL="0" indent="0">
              <a:lnSpc>
                <a:spcPct val="105000"/>
              </a:lnSpc>
              <a:buNone/>
            </a:pPr>
            <a:r>
              <a:rPr lang="en-US" sz="1300" b="1" dirty="0">
                <a:solidFill>
                  <a:srgbClr val="141235"/>
                </a:solidFill>
                <a:latin typeface="Calibri" pitchFamily="34" charset="0"/>
                <a:ea typeface="Calibri" pitchFamily="34" charset="-122"/>
                <a:cs typeface="Calibri" pitchFamily="34" charset="-120"/>
              </a:rPr>
              <a:t>Module 02 closes hole 2</a:t>
            </a:r>
            <a:endParaRPr lang="en-US" sz="1300" dirty="0"/>
          </a:p>
        </p:txBody>
      </p:sp>
      <p:sp>
        <p:nvSpPr>
          <p:cNvPr id="20" name="Text 15"/>
          <p:cNvSpPr/>
          <p:nvPr/>
        </p:nvSpPr>
        <p:spPr>
          <a:xfrm>
            <a:off x="1298448" y="4951110"/>
            <a:ext cx="4440784" cy="223662"/>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Tools. Your code fetches, the model reads the result.</a:t>
            </a:r>
            <a:endParaRPr lang="en-US" sz="1100" dirty="0"/>
          </a:p>
        </p:txBody>
      </p:sp>
      <p:sp>
        <p:nvSpPr>
          <p:cNvPr id="21" name="Shape 16"/>
          <p:cNvSpPr/>
          <p:nvPr/>
        </p:nvSpPr>
        <p:spPr>
          <a:xfrm>
            <a:off x="6214720" y="4389852"/>
            <a:ext cx="5410048" cy="967801"/>
          </a:xfrm>
          <a:prstGeom prst="roundRect">
            <a:avLst>
              <a:gd name="adj" fmla="val 8503"/>
            </a:avLst>
          </a:prstGeom>
          <a:solidFill>
            <a:srgbClr val="E7F7F1"/>
          </a:solidFill>
          <a:ln w="12700">
            <a:solidFill>
              <a:srgbClr val="C6E9DA"/>
            </a:solidFill>
            <a:prstDash val="solid"/>
          </a:ln>
          <a:effectLst>
            <a:outerShdw blurRad="114300" dist="572" dir="5400000" algn="bl" rotWithShape="0">
              <a:srgbClr val="1B1A4A">
                <a:alpha val="7000"/>
              </a:srgbClr>
            </a:outerShdw>
          </a:effectLst>
        </p:spPr>
        <p:txBody>
          <a:bodyPr/>
          <a:lstStyle/>
          <a:p>
            <a:endParaRPr lang="en-US"/>
          </a:p>
        </p:txBody>
      </p:sp>
      <p:sp>
        <p:nvSpPr>
          <p:cNvPr id="22" name="Shape 17"/>
          <p:cNvSpPr/>
          <p:nvPr/>
        </p:nvSpPr>
        <p:spPr>
          <a:xfrm>
            <a:off x="6452464" y="4609308"/>
            <a:ext cx="365760" cy="365760"/>
          </a:xfrm>
          <a:prstGeom prst="ellipse">
            <a:avLst/>
          </a:prstGeom>
          <a:solidFill>
            <a:srgbClr val="0E9F6E"/>
          </a:solidFill>
          <a:ln w="12700">
            <a:solidFill>
              <a:srgbClr val="0E9F6E"/>
            </a:solidFill>
            <a:prstDash val="solid"/>
          </a:ln>
        </p:spPr>
        <p:txBody>
          <a:bodyPr/>
          <a:lstStyle/>
          <a:p>
            <a:endParaRPr lang="en-US"/>
          </a:p>
        </p:txBody>
      </p:sp>
      <p:pic>
        <p:nvPicPr>
          <p:cNvPr id="23" name="Image 3" descr="preencoded.png"/>
          <p:cNvPicPr>
            <a:picLocks noChangeAspect="1"/>
          </p:cNvPicPr>
          <p:nvPr/>
        </p:nvPicPr>
        <p:blipFill>
          <a:blip r:embed="rId4"/>
          <a:stretch>
            <a:fillRect/>
          </a:stretch>
        </p:blipFill>
        <p:spPr>
          <a:xfrm>
            <a:off x="6543904" y="4700748"/>
            <a:ext cx="182880" cy="182880"/>
          </a:xfrm>
          <a:prstGeom prst="rect">
            <a:avLst/>
          </a:prstGeom>
        </p:spPr>
      </p:pic>
      <p:sp>
        <p:nvSpPr>
          <p:cNvPr id="24" name="Text 18"/>
          <p:cNvSpPr/>
          <p:nvPr/>
        </p:nvSpPr>
        <p:spPr>
          <a:xfrm>
            <a:off x="6946240" y="4627596"/>
            <a:ext cx="4440784" cy="314371"/>
          </a:xfrm>
          <a:prstGeom prst="rect">
            <a:avLst/>
          </a:prstGeom>
          <a:noFill/>
          <a:ln/>
        </p:spPr>
        <p:txBody>
          <a:bodyPr wrap="square" lIns="0" tIns="0" rIns="0" bIns="0" rtlCol="0" anchor="t"/>
          <a:lstStyle/>
          <a:p>
            <a:pPr marL="0" indent="0">
              <a:lnSpc>
                <a:spcPct val="105000"/>
              </a:lnSpc>
              <a:buNone/>
            </a:pPr>
            <a:r>
              <a:rPr lang="en-US" sz="1300" b="1" dirty="0">
                <a:solidFill>
                  <a:srgbClr val="141235"/>
                </a:solidFill>
                <a:latin typeface="Calibri" pitchFamily="34" charset="0"/>
                <a:ea typeface="Calibri" pitchFamily="34" charset="-122"/>
                <a:cs typeface="Calibri" pitchFamily="34" charset="-120"/>
              </a:rPr>
              <a:t>Module 05 makes hole 1 affordable</a:t>
            </a:r>
            <a:endParaRPr lang="en-US" sz="1300" dirty="0"/>
          </a:p>
        </p:txBody>
      </p:sp>
      <p:sp>
        <p:nvSpPr>
          <p:cNvPr id="25" name="Text 19"/>
          <p:cNvSpPr/>
          <p:nvPr/>
        </p:nvSpPr>
        <p:spPr>
          <a:xfrm>
            <a:off x="6946240" y="4951110"/>
            <a:ext cx="4440784" cy="223662"/>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Context engineering. Memory costs money per turn.</a:t>
            </a:r>
            <a:endParaRPr lang="en-US" sz="1100" dirty="0"/>
          </a:p>
        </p:txBody>
      </p:sp>
      <p:sp>
        <p:nvSpPr>
          <p:cNvPr id="26" name="Shape 20"/>
          <p:cNvSpPr/>
          <p:nvPr/>
        </p:nvSpPr>
        <p:spPr>
          <a:xfrm>
            <a:off x="566928" y="5541264"/>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27" name="Shape 21"/>
          <p:cNvSpPr/>
          <p:nvPr/>
        </p:nvSpPr>
        <p:spPr>
          <a:xfrm>
            <a:off x="841248" y="5760720"/>
            <a:ext cx="384048" cy="384048"/>
          </a:xfrm>
          <a:prstGeom prst="ellipse">
            <a:avLst/>
          </a:prstGeom>
          <a:solidFill>
            <a:srgbClr val="F5A524"/>
          </a:solidFill>
          <a:ln w="12700">
            <a:solidFill>
              <a:srgbClr val="F5A524"/>
            </a:solidFill>
            <a:prstDash val="solid"/>
          </a:ln>
        </p:spPr>
        <p:txBody>
          <a:bodyPr/>
          <a:lstStyle/>
          <a:p>
            <a:endParaRPr lang="en-US"/>
          </a:p>
        </p:txBody>
      </p:sp>
      <p:pic>
        <p:nvPicPr>
          <p:cNvPr id="28" name="Image 4" descr="preencoded.png"/>
          <p:cNvPicPr>
            <a:picLocks noChangeAspect="1"/>
          </p:cNvPicPr>
          <p:nvPr/>
        </p:nvPicPr>
        <p:blipFill>
          <a:blip r:embed="rId5"/>
          <a:stretch>
            <a:fillRect/>
          </a:stretch>
        </p:blipFill>
        <p:spPr>
          <a:xfrm>
            <a:off x="937260" y="5856732"/>
            <a:ext cx="192024" cy="192024"/>
          </a:xfrm>
          <a:prstGeom prst="rect">
            <a:avLst/>
          </a:prstGeom>
        </p:spPr>
      </p:pic>
      <p:sp>
        <p:nvSpPr>
          <p:cNvPr id="29" name="Text 22"/>
          <p:cNvSpPr/>
          <p:nvPr/>
        </p:nvSpPr>
        <p:spPr>
          <a:xfrm>
            <a:off x="1371600" y="5596128"/>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Everything you have ever seen an AI agent do is one of these two holes being patched by ordinary software around the model.</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00 · THE API</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3000" b="1" dirty="0">
                <a:solidFill>
                  <a:srgbClr val="141235"/>
                </a:solidFill>
                <a:latin typeface="Cambria" pitchFamily="34" charset="0"/>
                <a:ea typeface="Cambria" pitchFamily="34" charset="-122"/>
                <a:cs typeface="Cambria" pitchFamily="34" charset="-120"/>
              </a:rPr>
              <a:t>Tokens are the meter, and agents run it in a loop</a:t>
            </a:r>
            <a:endParaRPr lang="en-US" sz="3000" dirty="0"/>
          </a:p>
        </p:txBody>
      </p:sp>
      <p:sp>
        <p:nvSpPr>
          <p:cNvPr id="4" name="Text 2"/>
          <p:cNvSpPr/>
          <p:nvPr/>
        </p:nvSpPr>
        <p:spPr>
          <a:xfrm>
            <a:off x="566928" y="1371600"/>
            <a:ext cx="11057839" cy="310896"/>
          </a:xfrm>
          <a:prstGeom prst="rect">
            <a:avLst/>
          </a:prstGeom>
          <a:noFill/>
          <a:ln/>
        </p:spPr>
        <p:txBody>
          <a:bodyPr wrap="square" lIns="0" tIns="0" rIns="0" bIns="0" rtlCol="0" anchor="t"/>
          <a:lstStyle/>
          <a:p>
            <a:pPr marL="0" indent="0">
              <a:buNone/>
            </a:pPr>
            <a:r>
              <a:rPr lang="en-US" sz="1400" dirty="0">
                <a:solidFill>
                  <a:srgbClr val="3B3760"/>
                </a:solidFill>
                <a:latin typeface="Calibri" pitchFamily="34" charset="0"/>
                <a:ea typeface="Calibri" pitchFamily="34" charset="-122"/>
                <a:cs typeface="Calibri" pitchFamily="34" charset="-120"/>
              </a:rPr>
              <a:t>One call is a fraction of a cent. That is exactly why nobody budgets for it — and then a loop runs it ten thousand times.</a:t>
            </a:r>
            <a:endParaRPr lang="en-US" sz="1400" dirty="0"/>
          </a:p>
        </p:txBody>
      </p:sp>
      <p:sp>
        <p:nvSpPr>
          <p:cNvPr id="5" name="Shape 3"/>
          <p:cNvSpPr/>
          <p:nvPr/>
        </p:nvSpPr>
        <p:spPr>
          <a:xfrm>
            <a:off x="566928" y="2549622"/>
            <a:ext cx="2586152" cy="2215957"/>
          </a:xfrm>
          <a:prstGeom prst="roundRect">
            <a:avLst>
              <a:gd name="adj" fmla="val 3714"/>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6" name="Shape 4"/>
          <p:cNvSpPr/>
          <p:nvPr/>
        </p:nvSpPr>
        <p:spPr>
          <a:xfrm>
            <a:off x="804672" y="2769078"/>
            <a:ext cx="365760" cy="365760"/>
          </a:xfrm>
          <a:prstGeom prst="ellipse">
            <a:avLst/>
          </a:prstGeom>
          <a:solidFill>
            <a:srgbClr val="5B4BE8"/>
          </a:solidFill>
          <a:ln w="12700">
            <a:solidFill>
              <a:srgbClr val="5B4BE8"/>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896112" y="2860518"/>
            <a:ext cx="182880" cy="182880"/>
          </a:xfrm>
          <a:prstGeom prst="rect">
            <a:avLst/>
          </a:prstGeom>
        </p:spPr>
      </p:pic>
      <p:sp>
        <p:nvSpPr>
          <p:cNvPr id="8" name="Text 5"/>
          <p:cNvSpPr/>
          <p:nvPr/>
        </p:nvSpPr>
        <p:spPr>
          <a:xfrm>
            <a:off x="1298448" y="2759934"/>
            <a:ext cx="1616888"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INPUT TOKENS</a:t>
            </a:r>
            <a:endParaRPr lang="en-US" sz="850" dirty="0"/>
          </a:p>
        </p:txBody>
      </p:sp>
      <p:sp>
        <p:nvSpPr>
          <p:cNvPr id="9" name="Text 6"/>
          <p:cNvSpPr/>
          <p:nvPr/>
        </p:nvSpPr>
        <p:spPr>
          <a:xfrm>
            <a:off x="1298448" y="2979390"/>
            <a:ext cx="1616888" cy="622158"/>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Everything you send</a:t>
            </a:r>
            <a:endParaRPr lang="en-US" sz="1450" dirty="0"/>
          </a:p>
        </p:txBody>
      </p:sp>
      <p:sp>
        <p:nvSpPr>
          <p:cNvPr id="10" name="Text 7"/>
          <p:cNvSpPr/>
          <p:nvPr/>
        </p:nvSpPr>
        <p:spPr>
          <a:xfrm>
            <a:off x="1298448" y="3610691"/>
            <a:ext cx="1616888" cy="972007"/>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System prompt, whole history, every tool schema, every tool result. It all gets re-sent on every single turn.</a:t>
            </a:r>
            <a:endParaRPr lang="en-US" sz="1100" dirty="0"/>
          </a:p>
        </p:txBody>
      </p:sp>
      <p:sp>
        <p:nvSpPr>
          <p:cNvPr id="11" name="Shape 8"/>
          <p:cNvSpPr/>
          <p:nvPr/>
        </p:nvSpPr>
        <p:spPr>
          <a:xfrm>
            <a:off x="3390824" y="2549622"/>
            <a:ext cx="2586152" cy="2215957"/>
          </a:xfrm>
          <a:prstGeom prst="roundRect">
            <a:avLst>
              <a:gd name="adj" fmla="val 3714"/>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2" name="Shape 9"/>
          <p:cNvSpPr/>
          <p:nvPr/>
        </p:nvSpPr>
        <p:spPr>
          <a:xfrm>
            <a:off x="3628568" y="2769078"/>
            <a:ext cx="365760" cy="365760"/>
          </a:xfrm>
          <a:prstGeom prst="ellipse">
            <a:avLst/>
          </a:prstGeom>
          <a:solidFill>
            <a:srgbClr val="5B4BE8"/>
          </a:solidFill>
          <a:ln w="12700">
            <a:solidFill>
              <a:srgbClr val="5B4BE8"/>
            </a:solidFill>
            <a:prstDash val="solid"/>
          </a:ln>
        </p:spPr>
        <p:txBody>
          <a:bodyPr/>
          <a:lstStyle/>
          <a:p>
            <a:endParaRPr lang="en-US"/>
          </a:p>
        </p:txBody>
      </p:sp>
      <p:pic>
        <p:nvPicPr>
          <p:cNvPr id="13" name="Image 1" descr="preencoded.png"/>
          <p:cNvPicPr>
            <a:picLocks noChangeAspect="1"/>
          </p:cNvPicPr>
          <p:nvPr/>
        </p:nvPicPr>
        <p:blipFill>
          <a:blip r:embed="rId4"/>
          <a:stretch>
            <a:fillRect/>
          </a:stretch>
        </p:blipFill>
        <p:spPr>
          <a:xfrm>
            <a:off x="3720008" y="2860518"/>
            <a:ext cx="182880" cy="182880"/>
          </a:xfrm>
          <a:prstGeom prst="rect">
            <a:avLst/>
          </a:prstGeom>
        </p:spPr>
      </p:pic>
      <p:sp>
        <p:nvSpPr>
          <p:cNvPr id="14" name="Text 10"/>
          <p:cNvSpPr/>
          <p:nvPr/>
        </p:nvSpPr>
        <p:spPr>
          <a:xfrm>
            <a:off x="4122344" y="2759934"/>
            <a:ext cx="1616888"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OUTPUT TOKENS</a:t>
            </a:r>
            <a:endParaRPr lang="en-US" sz="850" dirty="0"/>
          </a:p>
        </p:txBody>
      </p:sp>
      <p:sp>
        <p:nvSpPr>
          <p:cNvPr id="15" name="Text 11"/>
          <p:cNvSpPr/>
          <p:nvPr/>
        </p:nvSpPr>
        <p:spPr>
          <a:xfrm>
            <a:off x="4122344" y="2979390"/>
            <a:ext cx="1616888" cy="622158"/>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Everything it writes</a:t>
            </a:r>
            <a:endParaRPr lang="en-US" sz="1450" dirty="0"/>
          </a:p>
        </p:txBody>
      </p:sp>
      <p:sp>
        <p:nvSpPr>
          <p:cNvPr id="16" name="Text 12"/>
          <p:cNvSpPr/>
          <p:nvPr/>
        </p:nvSpPr>
        <p:spPr>
          <a:xfrm>
            <a:off x="4122344" y="3610691"/>
            <a:ext cx="1616888" cy="972007"/>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Including the tool call it asks for. Cheaper per call than input, usually — but you pay for every retry.</a:t>
            </a:r>
            <a:endParaRPr lang="en-US" sz="1100" dirty="0"/>
          </a:p>
        </p:txBody>
      </p:sp>
      <p:sp>
        <p:nvSpPr>
          <p:cNvPr id="17" name="Shape 13"/>
          <p:cNvSpPr/>
          <p:nvPr/>
        </p:nvSpPr>
        <p:spPr>
          <a:xfrm>
            <a:off x="6214720" y="2549622"/>
            <a:ext cx="2586152" cy="2215957"/>
          </a:xfrm>
          <a:prstGeom prst="roundRect">
            <a:avLst>
              <a:gd name="adj" fmla="val 3714"/>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8" name="Shape 14"/>
          <p:cNvSpPr/>
          <p:nvPr/>
        </p:nvSpPr>
        <p:spPr>
          <a:xfrm>
            <a:off x="6452464" y="2769078"/>
            <a:ext cx="365760" cy="365760"/>
          </a:xfrm>
          <a:prstGeom prst="ellipse">
            <a:avLst/>
          </a:prstGeom>
          <a:solidFill>
            <a:srgbClr val="5B4BE8"/>
          </a:solidFill>
          <a:ln w="12700">
            <a:solidFill>
              <a:srgbClr val="5B4BE8"/>
            </a:solidFill>
            <a:prstDash val="solid"/>
          </a:ln>
        </p:spPr>
        <p:txBody>
          <a:bodyPr/>
          <a:lstStyle/>
          <a:p>
            <a:endParaRPr lang="en-US"/>
          </a:p>
        </p:txBody>
      </p:sp>
      <p:pic>
        <p:nvPicPr>
          <p:cNvPr id="19" name="Image 2" descr="preencoded.png"/>
          <p:cNvPicPr>
            <a:picLocks noChangeAspect="1"/>
          </p:cNvPicPr>
          <p:nvPr/>
        </p:nvPicPr>
        <p:blipFill>
          <a:blip r:embed="rId5"/>
          <a:stretch>
            <a:fillRect/>
          </a:stretch>
        </p:blipFill>
        <p:spPr>
          <a:xfrm>
            <a:off x="6543904" y="2860518"/>
            <a:ext cx="182880" cy="182880"/>
          </a:xfrm>
          <a:prstGeom prst="rect">
            <a:avLst/>
          </a:prstGeom>
        </p:spPr>
      </p:pic>
      <p:sp>
        <p:nvSpPr>
          <p:cNvPr id="20" name="Text 15"/>
          <p:cNvSpPr/>
          <p:nvPr/>
        </p:nvSpPr>
        <p:spPr>
          <a:xfrm>
            <a:off x="6946240" y="2759934"/>
            <a:ext cx="1616888"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REASONING TOKENS</a:t>
            </a:r>
            <a:endParaRPr lang="en-US" sz="850" dirty="0"/>
          </a:p>
        </p:txBody>
      </p:sp>
      <p:sp>
        <p:nvSpPr>
          <p:cNvPr id="21" name="Text 16"/>
          <p:cNvSpPr/>
          <p:nvPr/>
        </p:nvSpPr>
        <p:spPr>
          <a:xfrm>
            <a:off x="6946240" y="2979390"/>
            <a:ext cx="1616888" cy="622158"/>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Thinking you never see</a:t>
            </a:r>
            <a:endParaRPr lang="en-US" sz="1450" dirty="0"/>
          </a:p>
        </p:txBody>
      </p:sp>
      <p:sp>
        <p:nvSpPr>
          <p:cNvPr id="22" name="Text 17"/>
          <p:cNvSpPr/>
          <p:nvPr/>
        </p:nvSpPr>
        <p:spPr>
          <a:xfrm>
            <a:off x="6946240" y="3610691"/>
            <a:ext cx="1616888" cy="972007"/>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Billed as output even when the text is never returned to you. This is the line item that surprises finance.</a:t>
            </a:r>
            <a:endParaRPr lang="en-US" sz="1100" dirty="0"/>
          </a:p>
        </p:txBody>
      </p:sp>
      <p:sp>
        <p:nvSpPr>
          <p:cNvPr id="23" name="Shape 18"/>
          <p:cNvSpPr/>
          <p:nvPr/>
        </p:nvSpPr>
        <p:spPr>
          <a:xfrm>
            <a:off x="9038615" y="2549622"/>
            <a:ext cx="2586152" cy="2215957"/>
          </a:xfrm>
          <a:prstGeom prst="roundRect">
            <a:avLst>
              <a:gd name="adj" fmla="val 3714"/>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24" name="Shape 19"/>
          <p:cNvSpPr/>
          <p:nvPr/>
        </p:nvSpPr>
        <p:spPr>
          <a:xfrm>
            <a:off x="9276359" y="2769078"/>
            <a:ext cx="365760" cy="365760"/>
          </a:xfrm>
          <a:prstGeom prst="ellipse">
            <a:avLst/>
          </a:prstGeom>
          <a:solidFill>
            <a:srgbClr val="F5A524"/>
          </a:solidFill>
          <a:ln w="12700">
            <a:solidFill>
              <a:srgbClr val="F5A524"/>
            </a:solidFill>
            <a:prstDash val="solid"/>
          </a:ln>
        </p:spPr>
        <p:txBody>
          <a:bodyPr/>
          <a:lstStyle/>
          <a:p>
            <a:endParaRPr lang="en-US"/>
          </a:p>
        </p:txBody>
      </p:sp>
      <p:pic>
        <p:nvPicPr>
          <p:cNvPr id="25" name="Image 3" descr="preencoded.png"/>
          <p:cNvPicPr>
            <a:picLocks noChangeAspect="1"/>
          </p:cNvPicPr>
          <p:nvPr/>
        </p:nvPicPr>
        <p:blipFill>
          <a:blip r:embed="rId6"/>
          <a:stretch>
            <a:fillRect/>
          </a:stretch>
        </p:blipFill>
        <p:spPr>
          <a:xfrm>
            <a:off x="9367799" y="2860518"/>
            <a:ext cx="182880" cy="182880"/>
          </a:xfrm>
          <a:prstGeom prst="rect">
            <a:avLst/>
          </a:prstGeom>
        </p:spPr>
      </p:pic>
      <p:sp>
        <p:nvSpPr>
          <p:cNvPr id="26" name="Text 20"/>
          <p:cNvSpPr/>
          <p:nvPr/>
        </p:nvSpPr>
        <p:spPr>
          <a:xfrm>
            <a:off x="9770135" y="2759934"/>
            <a:ext cx="1616888"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THE MULTIPLIER</a:t>
            </a:r>
            <a:endParaRPr lang="en-US" sz="850" dirty="0"/>
          </a:p>
        </p:txBody>
      </p:sp>
      <p:sp>
        <p:nvSpPr>
          <p:cNvPr id="27" name="Text 21"/>
          <p:cNvSpPr/>
          <p:nvPr/>
        </p:nvSpPr>
        <p:spPr>
          <a:xfrm>
            <a:off x="9770135" y="2979390"/>
            <a:ext cx="1616888" cy="622158"/>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 every user, × every turn</a:t>
            </a:r>
            <a:endParaRPr lang="en-US" sz="1450" dirty="0"/>
          </a:p>
        </p:txBody>
      </p:sp>
      <p:sp>
        <p:nvSpPr>
          <p:cNvPr id="28" name="Text 22"/>
          <p:cNvSpPr/>
          <p:nvPr/>
        </p:nvSpPr>
        <p:spPr>
          <a:xfrm>
            <a:off x="9770135" y="3610691"/>
            <a:ext cx="1616888" cy="972007"/>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A page-load assistant, or a retry loop with no cap, is where a fraction of a cent becomes a real invoice.</a:t>
            </a:r>
            <a:endParaRPr lang="en-US" sz="1100" dirty="0"/>
          </a:p>
        </p:txBody>
      </p:sp>
      <p:sp>
        <p:nvSpPr>
          <p:cNvPr id="29" name="Shape 23"/>
          <p:cNvSpPr/>
          <p:nvPr/>
        </p:nvSpPr>
        <p:spPr>
          <a:xfrm>
            <a:off x="566928" y="5541264"/>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30" name="Shape 24"/>
          <p:cNvSpPr/>
          <p:nvPr/>
        </p:nvSpPr>
        <p:spPr>
          <a:xfrm>
            <a:off x="841248" y="5760720"/>
            <a:ext cx="384048" cy="384048"/>
          </a:xfrm>
          <a:prstGeom prst="ellipse">
            <a:avLst/>
          </a:prstGeom>
          <a:solidFill>
            <a:srgbClr val="F5A524"/>
          </a:solidFill>
          <a:ln w="12700">
            <a:solidFill>
              <a:srgbClr val="F5A524"/>
            </a:solidFill>
            <a:prstDash val="solid"/>
          </a:ln>
        </p:spPr>
        <p:txBody>
          <a:bodyPr/>
          <a:lstStyle/>
          <a:p>
            <a:endParaRPr lang="en-US"/>
          </a:p>
        </p:txBody>
      </p:sp>
      <p:pic>
        <p:nvPicPr>
          <p:cNvPr id="31" name="Image 4" descr="preencoded.png"/>
          <p:cNvPicPr>
            <a:picLocks noChangeAspect="1"/>
          </p:cNvPicPr>
          <p:nvPr/>
        </p:nvPicPr>
        <p:blipFill>
          <a:blip r:embed="rId7"/>
          <a:stretch>
            <a:fillRect/>
          </a:stretch>
        </p:blipFill>
        <p:spPr>
          <a:xfrm>
            <a:off x="937260" y="5856732"/>
            <a:ext cx="192024" cy="192024"/>
          </a:xfrm>
          <a:prstGeom prst="rect">
            <a:avLst/>
          </a:prstGeom>
        </p:spPr>
      </p:pic>
      <p:sp>
        <p:nvSpPr>
          <p:cNvPr id="32" name="Text 25"/>
          <p:cNvSpPr/>
          <p:nvPr/>
        </p:nvSpPr>
        <p:spPr>
          <a:xfrm>
            <a:off x="1371600" y="5596128"/>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You are not billed per question. You are billed per word in and per word out, every time round the loop — so a chatty agent is literally a more expensive agent.</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0A22"/>
        </a:solidFill>
        <a:effectLst/>
      </p:bgPr>
    </p:bg>
    <p:spTree>
      <p:nvGrpSpPr>
        <p:cNvPr id="1" name=""/>
        <p:cNvGrpSpPr/>
        <p:nvPr/>
      </p:nvGrpSpPr>
      <p:grpSpPr>
        <a:xfrm>
          <a:off x="0" y="0"/>
          <a:ext cx="0" cy="0"/>
          <a:chOff x="0" y="0"/>
          <a:chExt cx="0" cy="0"/>
        </a:xfrm>
      </p:grpSpPr>
      <p:pic>
        <p:nvPicPr>
          <p:cNvPr id="2" name="Image 0" descr="/home/claude/work/bg_dark.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6126480" y="1234440"/>
            <a:ext cx="5486400" cy="2743200"/>
          </a:xfrm>
          <a:prstGeom prst="rect">
            <a:avLst/>
          </a:prstGeom>
          <a:noFill/>
          <a:ln/>
        </p:spPr>
        <p:txBody>
          <a:bodyPr wrap="square" lIns="0" tIns="0" rIns="0" bIns="0" rtlCol="0" anchor="ctr"/>
          <a:lstStyle/>
          <a:p>
            <a:pPr marL="0" indent="0" algn="r">
              <a:buNone/>
            </a:pPr>
            <a:r>
              <a:rPr lang="en-US" sz="17600" b="1" dirty="0">
                <a:solidFill>
                  <a:srgbClr val="5B4BE8">
                    <a:alpha val="30000"/>
                  </a:srgbClr>
                </a:solidFill>
                <a:latin typeface="Cambria" pitchFamily="34" charset="0"/>
                <a:ea typeface="Cambria" pitchFamily="34" charset="-122"/>
                <a:cs typeface="Cambria" pitchFamily="34" charset="-120"/>
              </a:rPr>
              <a:t>01</a:t>
            </a:r>
            <a:endParaRPr lang="en-US" sz="17600" dirty="0"/>
          </a:p>
        </p:txBody>
      </p:sp>
      <p:sp>
        <p:nvSpPr>
          <p:cNvPr id="4" name="Shape 1"/>
          <p:cNvSpPr/>
          <p:nvPr/>
        </p:nvSpPr>
        <p:spPr>
          <a:xfrm>
            <a:off x="566928" y="2084832"/>
            <a:ext cx="566928" cy="566928"/>
          </a:xfrm>
          <a:prstGeom prst="ellipse">
            <a:avLst/>
          </a:prstGeom>
          <a:solidFill>
            <a:srgbClr val="F5A524"/>
          </a:solidFill>
          <a:ln w="12700">
            <a:solidFill>
              <a:srgbClr val="F5A524"/>
            </a:solidFill>
            <a:prstDash val="solid"/>
          </a:ln>
        </p:spPr>
        <p:txBody>
          <a:bodyPr/>
          <a:lstStyle/>
          <a:p>
            <a:endParaRPr lang="en-US"/>
          </a:p>
        </p:txBody>
      </p:sp>
      <p:pic>
        <p:nvPicPr>
          <p:cNvPr id="5" name="Image 1" descr="preencoded.png"/>
          <p:cNvPicPr>
            <a:picLocks noChangeAspect="1"/>
          </p:cNvPicPr>
          <p:nvPr/>
        </p:nvPicPr>
        <p:blipFill>
          <a:blip r:embed="rId4"/>
          <a:stretch>
            <a:fillRect/>
          </a:stretch>
        </p:blipFill>
        <p:spPr>
          <a:xfrm>
            <a:off x="708660" y="2226564"/>
            <a:ext cx="283464" cy="283464"/>
          </a:xfrm>
          <a:prstGeom prst="rect">
            <a:avLst/>
          </a:prstGeom>
        </p:spPr>
      </p:pic>
      <p:sp>
        <p:nvSpPr>
          <p:cNvPr id="6" name="Text 2"/>
          <p:cNvSpPr/>
          <p:nvPr/>
        </p:nvSpPr>
        <p:spPr>
          <a:xfrm>
            <a:off x="566928" y="2852928"/>
            <a:ext cx="7315200" cy="256032"/>
          </a:xfrm>
          <a:prstGeom prst="rect">
            <a:avLst/>
          </a:prstGeom>
          <a:noFill/>
          <a:ln/>
        </p:spPr>
        <p:txBody>
          <a:bodyPr wrap="square" lIns="0" tIns="0" rIns="0" bIns="0" rtlCol="0" anchor="ctr"/>
          <a:lstStyle/>
          <a:p>
            <a:pPr marL="0" indent="0">
              <a:buNone/>
            </a:pPr>
            <a:r>
              <a:rPr lang="en-US" sz="1100" b="1" kern="0" spc="240" dirty="0">
                <a:solidFill>
                  <a:srgbClr val="F5A524"/>
                </a:solidFill>
                <a:latin typeface="Calibri" pitchFamily="34" charset="0"/>
                <a:ea typeface="Calibri" pitchFamily="34" charset="-122"/>
                <a:cs typeface="Calibri" pitchFamily="34" charset="-120"/>
              </a:rPr>
              <a:t>MODULE 01</a:t>
            </a:r>
            <a:endParaRPr lang="en-US" sz="1100" dirty="0"/>
          </a:p>
        </p:txBody>
      </p:sp>
      <p:sp>
        <p:nvSpPr>
          <p:cNvPr id="7" name="Text 3"/>
          <p:cNvSpPr/>
          <p:nvPr/>
        </p:nvSpPr>
        <p:spPr>
          <a:xfrm>
            <a:off x="566928" y="3145536"/>
            <a:ext cx="8595360" cy="914400"/>
          </a:xfrm>
          <a:prstGeom prst="rect">
            <a:avLst/>
          </a:prstGeom>
          <a:noFill/>
          <a:ln/>
        </p:spPr>
        <p:txBody>
          <a:bodyPr wrap="square" lIns="0" tIns="0" rIns="0" bIns="0" rtlCol="0" anchor="t"/>
          <a:lstStyle/>
          <a:p>
            <a:pPr marL="0" indent="0">
              <a:buNone/>
            </a:pPr>
            <a:r>
              <a:rPr lang="en-US" sz="4600" b="1" dirty="0">
                <a:solidFill>
                  <a:srgbClr val="FFFFFF"/>
                </a:solidFill>
                <a:latin typeface="Cambria" pitchFamily="34" charset="0"/>
                <a:ea typeface="Cambria" pitchFamily="34" charset="-122"/>
                <a:cs typeface="Cambria" pitchFamily="34" charset="-120"/>
              </a:rPr>
              <a:t>What an agent is</a:t>
            </a:r>
            <a:endParaRPr lang="en-US" sz="4600" dirty="0"/>
          </a:p>
        </p:txBody>
      </p:sp>
      <p:sp>
        <p:nvSpPr>
          <p:cNvPr id="8" name="Text 4"/>
          <p:cNvSpPr/>
          <p:nvPr/>
        </p:nvSpPr>
        <p:spPr>
          <a:xfrm>
            <a:off x="566928" y="4169664"/>
            <a:ext cx="7863840" cy="731520"/>
          </a:xfrm>
          <a:prstGeom prst="rect">
            <a:avLst/>
          </a:prstGeom>
          <a:noFill/>
          <a:ln/>
        </p:spPr>
        <p:txBody>
          <a:bodyPr wrap="square" lIns="0" tIns="0" rIns="0" bIns="0" rtlCol="0" anchor="t"/>
          <a:lstStyle/>
          <a:p>
            <a:pPr marL="0" indent="0">
              <a:lnSpc>
                <a:spcPct val="120000"/>
              </a:lnSpc>
              <a:buNone/>
            </a:pPr>
            <a:r>
              <a:rPr lang="en-US" sz="1600" dirty="0">
                <a:solidFill>
                  <a:srgbClr val="B9B4E0"/>
                </a:solidFill>
                <a:latin typeface="Calibri" pitchFamily="34" charset="0"/>
                <a:ea typeface="Calibri" pitchFamily="34" charset="-122"/>
                <a:cs typeface="Calibri" pitchFamily="34" charset="-120"/>
              </a:rPr>
              <a:t>One test, three shapes, and an honest look at when it should not be one.</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0A22"/>
        </a:solidFill>
        <a:effectLst/>
      </p:bgPr>
    </p:bg>
    <p:spTree>
      <p:nvGrpSpPr>
        <p:cNvPr id="1" name=""/>
        <p:cNvGrpSpPr/>
        <p:nvPr/>
      </p:nvGrpSpPr>
      <p:grpSpPr>
        <a:xfrm>
          <a:off x="0" y="0"/>
          <a:ext cx="0" cy="0"/>
          <a:chOff x="0" y="0"/>
          <a:chExt cx="0" cy="0"/>
        </a:xfrm>
      </p:grpSpPr>
      <p:pic>
        <p:nvPicPr>
          <p:cNvPr id="2" name="Image 0" descr="/home/claude/work/bg_quote.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612648" y="1371600"/>
            <a:ext cx="11057839" cy="274320"/>
          </a:xfrm>
          <a:prstGeom prst="rect">
            <a:avLst/>
          </a:prstGeom>
          <a:noFill/>
          <a:ln/>
        </p:spPr>
        <p:txBody>
          <a:bodyPr wrap="square" lIns="0" tIns="0" rIns="0" bIns="0" rtlCol="0" anchor="ctr"/>
          <a:lstStyle/>
          <a:p>
            <a:pPr marL="0" indent="0">
              <a:buNone/>
            </a:pPr>
            <a:r>
              <a:rPr lang="en-US" sz="1050" b="1" kern="0" spc="220" dirty="0">
                <a:solidFill>
                  <a:srgbClr val="F5A524"/>
                </a:solidFill>
                <a:latin typeface="Calibri" pitchFamily="34" charset="0"/>
                <a:ea typeface="Calibri" pitchFamily="34" charset="-122"/>
                <a:cs typeface="Calibri" pitchFamily="34" charset="-120"/>
              </a:rPr>
              <a:t>01 · WHAT AN AGENT IS</a:t>
            </a:r>
            <a:endParaRPr lang="en-US" sz="1050" dirty="0"/>
          </a:p>
        </p:txBody>
      </p:sp>
      <p:sp>
        <p:nvSpPr>
          <p:cNvPr id="4" name="Text 1"/>
          <p:cNvSpPr/>
          <p:nvPr/>
        </p:nvSpPr>
        <p:spPr>
          <a:xfrm>
            <a:off x="420624" y="1481328"/>
            <a:ext cx="1463040" cy="1463040"/>
          </a:xfrm>
          <a:prstGeom prst="rect">
            <a:avLst/>
          </a:prstGeom>
          <a:noFill/>
          <a:ln/>
        </p:spPr>
        <p:txBody>
          <a:bodyPr wrap="square" lIns="0" tIns="0" rIns="0" bIns="0" rtlCol="0" anchor="ctr"/>
          <a:lstStyle/>
          <a:p>
            <a:pPr marL="0" indent="0">
              <a:buNone/>
            </a:pPr>
            <a:r>
              <a:rPr lang="en-US" sz="15000" b="1" dirty="0">
                <a:solidFill>
                  <a:srgbClr val="8E82F5">
                    <a:alpha val="38000"/>
                  </a:srgbClr>
                </a:solidFill>
                <a:latin typeface="Cambria" pitchFamily="34" charset="0"/>
                <a:ea typeface="Cambria" pitchFamily="34" charset="-122"/>
                <a:cs typeface="Cambria" pitchFamily="34" charset="-120"/>
              </a:rPr>
              <a:t>“</a:t>
            </a:r>
            <a:endParaRPr lang="en-US" sz="15000" dirty="0"/>
          </a:p>
        </p:txBody>
      </p:sp>
      <p:sp>
        <p:nvSpPr>
          <p:cNvPr id="5" name="Text 2"/>
          <p:cNvSpPr/>
          <p:nvPr/>
        </p:nvSpPr>
        <p:spPr>
          <a:xfrm>
            <a:off x="612648" y="2212848"/>
            <a:ext cx="9960559" cy="2377440"/>
          </a:xfrm>
          <a:prstGeom prst="rect">
            <a:avLst/>
          </a:prstGeom>
          <a:noFill/>
          <a:ln/>
        </p:spPr>
        <p:txBody>
          <a:bodyPr wrap="square" lIns="0" tIns="0" rIns="0" bIns="0" rtlCol="0" anchor="t"/>
          <a:lstStyle/>
          <a:p>
            <a:pPr marL="0" indent="0">
              <a:lnSpc>
                <a:spcPct val="116000"/>
              </a:lnSpc>
              <a:buNone/>
            </a:pPr>
            <a:r>
              <a:rPr lang="en-US" sz="4200" b="1" dirty="0">
                <a:solidFill>
                  <a:srgbClr val="FFFFFF"/>
                </a:solidFill>
                <a:latin typeface="Cambria" pitchFamily="34" charset="0"/>
                <a:ea typeface="Cambria" pitchFamily="34" charset="-122"/>
                <a:cs typeface="Cambria" pitchFamily="34" charset="-120"/>
              </a:rPr>
              <a:t>Who decides the next step —</a:t>
            </a:r>
            <a:endParaRPr lang="en-US" sz="4200" dirty="0"/>
          </a:p>
          <a:p>
            <a:pPr marL="0" indent="0">
              <a:lnSpc>
                <a:spcPct val="116000"/>
              </a:lnSpc>
              <a:buNone/>
            </a:pPr>
            <a:r>
              <a:rPr lang="en-US" sz="4200" b="1" dirty="0">
                <a:solidFill>
                  <a:srgbClr val="FFFFFF"/>
                </a:solidFill>
                <a:latin typeface="Cambria" pitchFamily="34" charset="0"/>
                <a:ea typeface="Cambria" pitchFamily="34" charset="-122"/>
                <a:cs typeface="Cambria" pitchFamily="34" charset="-120"/>
              </a:rPr>
              <a:t>you, or the model?</a:t>
            </a:r>
            <a:endParaRPr lang="en-US" sz="4200" dirty="0"/>
          </a:p>
        </p:txBody>
      </p:sp>
      <p:sp>
        <p:nvSpPr>
          <p:cNvPr id="6" name="Text 3"/>
          <p:cNvSpPr/>
          <p:nvPr/>
        </p:nvSpPr>
        <p:spPr>
          <a:xfrm>
            <a:off x="612648" y="4718304"/>
            <a:ext cx="9777679" cy="822960"/>
          </a:xfrm>
          <a:prstGeom prst="rect">
            <a:avLst/>
          </a:prstGeom>
          <a:noFill/>
          <a:ln/>
        </p:spPr>
        <p:txBody>
          <a:bodyPr wrap="square" lIns="0" tIns="0" rIns="0" bIns="0" rtlCol="0" anchor="t"/>
          <a:lstStyle/>
          <a:p>
            <a:pPr marL="0" indent="0">
              <a:lnSpc>
                <a:spcPct val="120000"/>
              </a:lnSpc>
              <a:buNone/>
            </a:pPr>
            <a:r>
              <a:rPr lang="en-US" sz="1450" dirty="0">
                <a:solidFill>
                  <a:srgbClr val="B9B4E0"/>
                </a:solidFill>
                <a:latin typeface="Calibri" pitchFamily="34" charset="0"/>
                <a:ea typeface="Calibri" pitchFamily="34" charset="-122"/>
                <a:cs typeface="Calibri" pitchFamily="34" charset="-120"/>
              </a:rPr>
              <a:t>This is the whole test. Everything else — frameworks, protocols, topologies — is downstream of the answer.</a:t>
            </a:r>
            <a:endParaRPr lang="en-US" sz="14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01 · WHAT AN AGENT IS</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2800" b="1" dirty="0">
                <a:solidFill>
                  <a:srgbClr val="141235"/>
                </a:solidFill>
                <a:latin typeface="Cambria" pitchFamily="34" charset="0"/>
                <a:ea typeface="Cambria" pitchFamily="34" charset="-122"/>
                <a:cs typeface="Cambria" pitchFamily="34" charset="-120"/>
              </a:rPr>
              <a:t>Chatbot, workflow, or agent — told apart by one question</a:t>
            </a:r>
            <a:endParaRPr lang="en-US" sz="2800" dirty="0"/>
          </a:p>
        </p:txBody>
      </p:sp>
      <p:sp>
        <p:nvSpPr>
          <p:cNvPr id="4" name="Shape 2"/>
          <p:cNvSpPr/>
          <p:nvPr/>
        </p:nvSpPr>
        <p:spPr>
          <a:xfrm>
            <a:off x="566928" y="1847088"/>
            <a:ext cx="3503066" cy="3566160"/>
          </a:xfrm>
          <a:prstGeom prst="roundRect">
            <a:avLst>
              <a:gd name="adj" fmla="val 2610"/>
            </a:avLst>
          </a:prstGeom>
          <a:solidFill>
            <a:srgbClr val="FFFFFF"/>
          </a:solidFill>
          <a:ln w="12700">
            <a:solidFill>
              <a:srgbClr val="E3E4F2"/>
            </a:solidFill>
            <a:prstDash val="solid"/>
          </a:ln>
          <a:effectLst>
            <a:outerShdw blurRad="114300" dist="572" dir="5400000" algn="bl" rotWithShape="0">
              <a:srgbClr val="1B1A4A">
                <a:alpha val="8000"/>
              </a:srgbClr>
            </a:outerShdw>
          </a:effectLst>
        </p:spPr>
        <p:txBody>
          <a:bodyPr/>
          <a:lstStyle/>
          <a:p>
            <a:endParaRPr lang="en-US"/>
          </a:p>
        </p:txBody>
      </p:sp>
      <p:sp>
        <p:nvSpPr>
          <p:cNvPr id="5" name="Shape 3"/>
          <p:cNvSpPr/>
          <p:nvPr/>
        </p:nvSpPr>
        <p:spPr>
          <a:xfrm>
            <a:off x="804672" y="2048256"/>
            <a:ext cx="402336" cy="402336"/>
          </a:xfrm>
          <a:prstGeom prst="ellipse">
            <a:avLst/>
          </a:prstGeom>
          <a:solidFill>
            <a:srgbClr val="8E82F5"/>
          </a:solidFill>
          <a:ln w="12700">
            <a:solidFill>
              <a:srgbClr val="8E82F5"/>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905256" y="2148840"/>
            <a:ext cx="201168" cy="201168"/>
          </a:xfrm>
          <a:prstGeom prst="rect">
            <a:avLst/>
          </a:prstGeom>
        </p:spPr>
      </p:pic>
      <p:sp>
        <p:nvSpPr>
          <p:cNvPr id="7" name="Text 4"/>
          <p:cNvSpPr/>
          <p:nvPr/>
        </p:nvSpPr>
        <p:spPr>
          <a:xfrm>
            <a:off x="1316736" y="2084832"/>
            <a:ext cx="2497226" cy="329184"/>
          </a:xfrm>
          <a:prstGeom prst="rect">
            <a:avLst/>
          </a:prstGeom>
          <a:noFill/>
          <a:ln/>
        </p:spPr>
        <p:txBody>
          <a:bodyPr wrap="square" lIns="0" tIns="0" rIns="0" bIns="0" rtlCol="0" anchor="ctr"/>
          <a:lstStyle/>
          <a:p>
            <a:pPr marL="0" indent="0">
              <a:buNone/>
            </a:pPr>
            <a:r>
              <a:rPr lang="en-US" sz="1700" b="1" dirty="0">
                <a:solidFill>
                  <a:srgbClr val="141235"/>
                </a:solidFill>
                <a:latin typeface="Calibri" pitchFamily="34" charset="0"/>
                <a:ea typeface="Calibri" pitchFamily="34" charset="-122"/>
                <a:cs typeface="Calibri" pitchFamily="34" charset="-120"/>
              </a:rPr>
              <a:t>Chatbot</a:t>
            </a:r>
            <a:endParaRPr lang="en-US" sz="1700" dirty="0"/>
          </a:p>
        </p:txBody>
      </p:sp>
      <p:sp>
        <p:nvSpPr>
          <p:cNvPr id="14" name="Text 11"/>
          <p:cNvSpPr/>
          <p:nvPr/>
        </p:nvSpPr>
        <p:spPr>
          <a:xfrm>
            <a:off x="822960" y="4187299"/>
            <a:ext cx="2991002" cy="786384"/>
          </a:xfrm>
          <a:prstGeom prst="rect">
            <a:avLst/>
          </a:prstGeom>
          <a:noFill/>
          <a:ln/>
        </p:spPr>
        <p:txBody>
          <a:bodyPr wrap="square" lIns="0" tIns="0" rIns="0" bIns="0" rtlCol="0" anchor="t"/>
          <a:lstStyle/>
          <a:p>
            <a:pPr marL="0" indent="0">
              <a:lnSpc>
                <a:spcPct val="112000"/>
              </a:lnSpc>
              <a:buNone/>
            </a:pPr>
            <a:r>
              <a:rPr lang="en-US" sz="950" b="1" kern="0" spc="120" dirty="0">
                <a:solidFill>
                  <a:srgbClr val="E08700"/>
                </a:solidFill>
                <a:latin typeface="Calibri" pitchFamily="34" charset="0"/>
                <a:ea typeface="Calibri" pitchFamily="34" charset="-122"/>
                <a:cs typeface="Calibri" pitchFamily="34" charset="-120"/>
              </a:rPr>
              <a:t>Who decides?</a:t>
            </a:r>
            <a:endParaRPr lang="en-US" sz="950" dirty="0"/>
          </a:p>
          <a:p>
            <a:pPr marL="0" indent="0">
              <a:lnSpc>
                <a:spcPct val="112000"/>
              </a:lnSpc>
              <a:buNone/>
            </a:pPr>
            <a:r>
              <a:rPr lang="en-US" sz="1150" dirty="0">
                <a:solidFill>
                  <a:srgbClr val="3B3760"/>
                </a:solidFill>
                <a:latin typeface="Calibri" pitchFamily="34" charset="0"/>
                <a:ea typeface="Calibri" pitchFamily="34" charset="-122"/>
                <a:cs typeface="Calibri" pitchFamily="34" charset="-120"/>
              </a:rPr>
              <a:t>Nobody decides — there are no steps</a:t>
            </a:r>
            <a:endParaRPr lang="en-US" sz="950" dirty="0"/>
          </a:p>
        </p:txBody>
      </p:sp>
      <p:sp>
        <p:nvSpPr>
          <p:cNvPr id="15" name="Text 12"/>
          <p:cNvSpPr/>
          <p:nvPr/>
        </p:nvSpPr>
        <p:spPr>
          <a:xfrm>
            <a:off x="822960" y="4763371"/>
            <a:ext cx="2991002" cy="640080"/>
          </a:xfrm>
          <a:prstGeom prst="rect">
            <a:avLst/>
          </a:prstGeom>
          <a:noFill/>
          <a:ln/>
        </p:spPr>
        <p:txBody>
          <a:bodyPr wrap="square" lIns="0" tIns="0" rIns="0" bIns="0" rtlCol="0" anchor="t"/>
          <a:lstStyle/>
          <a:p>
            <a:pPr marL="0" indent="0">
              <a:lnSpc>
                <a:spcPct val="110000"/>
              </a:lnSpc>
              <a:buNone/>
            </a:pPr>
            <a:r>
              <a:rPr lang="en-US" sz="1100" dirty="0">
                <a:solidFill>
                  <a:srgbClr val="6E6B8A"/>
                </a:solidFill>
                <a:latin typeface="Calibri" pitchFamily="34" charset="0"/>
                <a:ea typeface="Calibri" pitchFamily="34" charset="-122"/>
                <a:cs typeface="Calibri" pitchFamily="34" charset="-120"/>
              </a:rPr>
              <a:t>Talk only. No tools, no loop.</a:t>
            </a:r>
            <a:endParaRPr lang="en-US" sz="1100" dirty="0"/>
          </a:p>
        </p:txBody>
      </p:sp>
      <p:sp>
        <p:nvSpPr>
          <p:cNvPr id="16" name="Shape 13"/>
          <p:cNvSpPr/>
          <p:nvPr/>
        </p:nvSpPr>
        <p:spPr>
          <a:xfrm>
            <a:off x="4344314" y="1847088"/>
            <a:ext cx="3503066" cy="3566160"/>
          </a:xfrm>
          <a:prstGeom prst="roundRect">
            <a:avLst>
              <a:gd name="adj" fmla="val 2610"/>
            </a:avLst>
          </a:prstGeom>
          <a:solidFill>
            <a:srgbClr val="FFFFFF"/>
          </a:solidFill>
          <a:ln w="12700">
            <a:solidFill>
              <a:srgbClr val="E3E4F2"/>
            </a:solidFill>
            <a:prstDash val="solid"/>
          </a:ln>
          <a:effectLst>
            <a:outerShdw blurRad="114300" dist="572" dir="5400000" algn="bl" rotWithShape="0">
              <a:srgbClr val="1B1A4A">
                <a:alpha val="8000"/>
              </a:srgbClr>
            </a:outerShdw>
          </a:effectLst>
        </p:spPr>
        <p:txBody>
          <a:bodyPr/>
          <a:lstStyle/>
          <a:p>
            <a:endParaRPr lang="en-US"/>
          </a:p>
        </p:txBody>
      </p:sp>
      <p:sp>
        <p:nvSpPr>
          <p:cNvPr id="17" name="Shape 14"/>
          <p:cNvSpPr/>
          <p:nvPr/>
        </p:nvSpPr>
        <p:spPr>
          <a:xfrm>
            <a:off x="4582058" y="2048256"/>
            <a:ext cx="402336" cy="402336"/>
          </a:xfrm>
          <a:prstGeom prst="ellipse">
            <a:avLst/>
          </a:prstGeom>
          <a:solidFill>
            <a:srgbClr val="8E82F5"/>
          </a:solidFill>
          <a:ln w="12700">
            <a:solidFill>
              <a:srgbClr val="8E82F5"/>
            </a:solidFill>
            <a:prstDash val="solid"/>
          </a:ln>
        </p:spPr>
        <p:txBody>
          <a:bodyPr/>
          <a:lstStyle/>
          <a:p>
            <a:endParaRPr lang="en-US"/>
          </a:p>
        </p:txBody>
      </p:sp>
      <p:pic>
        <p:nvPicPr>
          <p:cNvPr id="18" name="Image 1" descr="preencoded.png"/>
          <p:cNvPicPr>
            <a:picLocks noChangeAspect="1"/>
          </p:cNvPicPr>
          <p:nvPr/>
        </p:nvPicPr>
        <p:blipFill>
          <a:blip r:embed="rId4"/>
          <a:stretch>
            <a:fillRect/>
          </a:stretch>
        </p:blipFill>
        <p:spPr>
          <a:xfrm>
            <a:off x="4682642" y="2148840"/>
            <a:ext cx="201168" cy="201168"/>
          </a:xfrm>
          <a:prstGeom prst="rect">
            <a:avLst/>
          </a:prstGeom>
        </p:spPr>
      </p:pic>
      <p:sp>
        <p:nvSpPr>
          <p:cNvPr id="19" name="Text 15"/>
          <p:cNvSpPr/>
          <p:nvPr/>
        </p:nvSpPr>
        <p:spPr>
          <a:xfrm>
            <a:off x="5094122" y="2084832"/>
            <a:ext cx="2497226" cy="329184"/>
          </a:xfrm>
          <a:prstGeom prst="rect">
            <a:avLst/>
          </a:prstGeom>
          <a:noFill/>
          <a:ln/>
        </p:spPr>
        <p:txBody>
          <a:bodyPr wrap="square" lIns="0" tIns="0" rIns="0" bIns="0" rtlCol="0" anchor="ctr"/>
          <a:lstStyle/>
          <a:p>
            <a:pPr marL="0" indent="0">
              <a:buNone/>
            </a:pPr>
            <a:r>
              <a:rPr lang="en-US" sz="1700" b="1" dirty="0">
                <a:solidFill>
                  <a:srgbClr val="141235"/>
                </a:solidFill>
                <a:latin typeface="Calibri" pitchFamily="34" charset="0"/>
                <a:ea typeface="Calibri" pitchFamily="34" charset="-122"/>
                <a:cs typeface="Calibri" pitchFamily="34" charset="-120"/>
              </a:rPr>
              <a:t>Workflow</a:t>
            </a:r>
            <a:endParaRPr lang="en-US" sz="1700" dirty="0"/>
          </a:p>
        </p:txBody>
      </p:sp>
      <p:sp>
        <p:nvSpPr>
          <p:cNvPr id="28" name="Text 24"/>
          <p:cNvSpPr/>
          <p:nvPr/>
        </p:nvSpPr>
        <p:spPr>
          <a:xfrm>
            <a:off x="4596013" y="3897038"/>
            <a:ext cx="2991002" cy="237744"/>
          </a:xfrm>
          <a:prstGeom prst="rect">
            <a:avLst/>
          </a:prstGeom>
          <a:noFill/>
          <a:ln/>
        </p:spPr>
        <p:txBody>
          <a:bodyPr wrap="square" lIns="0" tIns="0" rIns="0" bIns="0" rtlCol="0" anchor="ctr"/>
          <a:lstStyle/>
          <a:p>
            <a:pPr marL="0" indent="0" algn="ctr">
              <a:buNone/>
            </a:pPr>
            <a:r>
              <a:rPr lang="en-US" sz="950" i="1" dirty="0">
                <a:solidFill>
                  <a:srgbClr val="6E6B8A"/>
                </a:solidFill>
                <a:latin typeface="Calibri" pitchFamily="34" charset="0"/>
                <a:ea typeface="Calibri" pitchFamily="34" charset="-122"/>
                <a:cs typeface="Calibri" pitchFamily="34" charset="-120"/>
              </a:rPr>
              <a:t>a path you wrote in advance</a:t>
            </a:r>
            <a:endParaRPr lang="en-US" sz="950" dirty="0"/>
          </a:p>
        </p:txBody>
      </p:sp>
      <p:sp>
        <p:nvSpPr>
          <p:cNvPr id="29" name="Text 25"/>
          <p:cNvSpPr/>
          <p:nvPr/>
        </p:nvSpPr>
        <p:spPr>
          <a:xfrm>
            <a:off x="4596013" y="4204393"/>
            <a:ext cx="2991002" cy="786384"/>
          </a:xfrm>
          <a:prstGeom prst="rect">
            <a:avLst/>
          </a:prstGeom>
          <a:noFill/>
          <a:ln/>
        </p:spPr>
        <p:txBody>
          <a:bodyPr wrap="square" lIns="0" tIns="0" rIns="0" bIns="0" rtlCol="0" anchor="t"/>
          <a:lstStyle/>
          <a:p>
            <a:pPr marL="0" indent="0">
              <a:lnSpc>
                <a:spcPct val="112000"/>
              </a:lnSpc>
              <a:buNone/>
            </a:pPr>
            <a:r>
              <a:rPr lang="en-US" sz="950" b="1" kern="0" spc="120" dirty="0">
                <a:solidFill>
                  <a:srgbClr val="E08700"/>
                </a:solidFill>
                <a:latin typeface="Calibri" pitchFamily="34" charset="0"/>
                <a:ea typeface="Calibri" pitchFamily="34" charset="-122"/>
                <a:cs typeface="Calibri" pitchFamily="34" charset="-120"/>
              </a:rPr>
              <a:t>Who decides?</a:t>
            </a:r>
            <a:endParaRPr lang="en-US" sz="950" dirty="0"/>
          </a:p>
          <a:p>
            <a:pPr marL="0" indent="0">
              <a:lnSpc>
                <a:spcPct val="112000"/>
              </a:lnSpc>
              <a:buNone/>
            </a:pPr>
            <a:r>
              <a:rPr lang="en-US" sz="1150" dirty="0">
                <a:solidFill>
                  <a:srgbClr val="3B3760"/>
                </a:solidFill>
                <a:latin typeface="Calibri" pitchFamily="34" charset="0"/>
                <a:ea typeface="Calibri" pitchFamily="34" charset="-122"/>
                <a:cs typeface="Calibri" pitchFamily="34" charset="-120"/>
              </a:rPr>
              <a:t>You decided, in advance, in code</a:t>
            </a:r>
            <a:endParaRPr lang="en-US" sz="950" dirty="0"/>
          </a:p>
        </p:txBody>
      </p:sp>
      <p:sp>
        <p:nvSpPr>
          <p:cNvPr id="30" name="Text 26"/>
          <p:cNvSpPr/>
          <p:nvPr/>
        </p:nvSpPr>
        <p:spPr>
          <a:xfrm>
            <a:off x="4596013" y="4753360"/>
            <a:ext cx="2991002" cy="640080"/>
          </a:xfrm>
          <a:prstGeom prst="rect">
            <a:avLst/>
          </a:prstGeom>
          <a:noFill/>
          <a:ln/>
        </p:spPr>
        <p:txBody>
          <a:bodyPr wrap="square" lIns="0" tIns="0" rIns="0" bIns="0" rtlCol="0" anchor="t"/>
          <a:lstStyle/>
          <a:p>
            <a:pPr marL="0" indent="0">
              <a:lnSpc>
                <a:spcPct val="110000"/>
              </a:lnSpc>
              <a:buNone/>
            </a:pPr>
            <a:r>
              <a:rPr lang="en-US" sz="1100" dirty="0">
                <a:solidFill>
                  <a:srgbClr val="6E6B8A"/>
                </a:solidFill>
                <a:latin typeface="Calibri" pitchFamily="34" charset="0"/>
                <a:ea typeface="Calibri" pitchFamily="34" charset="-122"/>
                <a:cs typeface="Calibri" pitchFamily="34" charset="-120"/>
              </a:rPr>
              <a:t>You wrote the steps. Often no model at all.</a:t>
            </a:r>
            <a:endParaRPr lang="en-US" sz="1100" dirty="0"/>
          </a:p>
        </p:txBody>
      </p:sp>
      <p:sp>
        <p:nvSpPr>
          <p:cNvPr id="31" name="Shape 27"/>
          <p:cNvSpPr/>
          <p:nvPr/>
        </p:nvSpPr>
        <p:spPr>
          <a:xfrm>
            <a:off x="8121701" y="1847088"/>
            <a:ext cx="3503066" cy="3566160"/>
          </a:xfrm>
          <a:prstGeom prst="roundRect">
            <a:avLst>
              <a:gd name="adj" fmla="val 2610"/>
            </a:avLst>
          </a:prstGeom>
          <a:solidFill>
            <a:schemeClr val="bg1"/>
          </a:solidFill>
          <a:ln w="20320">
            <a:solidFill>
              <a:srgbClr val="5B4BE8"/>
            </a:solidFill>
            <a:prstDash val="solid"/>
          </a:ln>
          <a:effectLst>
            <a:outerShdw blurRad="114300" dist="572" dir="5400000" algn="bl" rotWithShape="0">
              <a:srgbClr val="1B1A4A">
                <a:alpha val="8000"/>
              </a:srgbClr>
            </a:outerShdw>
          </a:effectLst>
        </p:spPr>
        <p:txBody>
          <a:bodyPr/>
          <a:lstStyle/>
          <a:p>
            <a:endParaRPr lang="en-US"/>
          </a:p>
        </p:txBody>
      </p:sp>
      <p:sp>
        <p:nvSpPr>
          <p:cNvPr id="32" name="Shape 28"/>
          <p:cNvSpPr/>
          <p:nvPr/>
        </p:nvSpPr>
        <p:spPr>
          <a:xfrm>
            <a:off x="8359445" y="2048256"/>
            <a:ext cx="402336" cy="402336"/>
          </a:xfrm>
          <a:prstGeom prst="ellipse">
            <a:avLst/>
          </a:prstGeom>
          <a:solidFill>
            <a:srgbClr val="5B4BE8"/>
          </a:solidFill>
          <a:ln w="12700">
            <a:solidFill>
              <a:srgbClr val="5B4BE8"/>
            </a:solidFill>
            <a:prstDash val="solid"/>
          </a:ln>
        </p:spPr>
        <p:txBody>
          <a:bodyPr/>
          <a:lstStyle/>
          <a:p>
            <a:endParaRPr lang="en-US"/>
          </a:p>
        </p:txBody>
      </p:sp>
      <p:pic>
        <p:nvPicPr>
          <p:cNvPr id="33" name="Image 2" descr="preencoded.png"/>
          <p:cNvPicPr>
            <a:picLocks noChangeAspect="1"/>
          </p:cNvPicPr>
          <p:nvPr/>
        </p:nvPicPr>
        <p:blipFill>
          <a:blip r:embed="rId5"/>
          <a:stretch>
            <a:fillRect/>
          </a:stretch>
        </p:blipFill>
        <p:spPr>
          <a:xfrm>
            <a:off x="8460029" y="2148840"/>
            <a:ext cx="201168" cy="201168"/>
          </a:xfrm>
          <a:prstGeom prst="rect">
            <a:avLst/>
          </a:prstGeom>
        </p:spPr>
      </p:pic>
      <p:sp>
        <p:nvSpPr>
          <p:cNvPr id="34" name="Text 29"/>
          <p:cNvSpPr/>
          <p:nvPr/>
        </p:nvSpPr>
        <p:spPr>
          <a:xfrm>
            <a:off x="8871509" y="2084832"/>
            <a:ext cx="2497226" cy="329184"/>
          </a:xfrm>
          <a:prstGeom prst="rect">
            <a:avLst/>
          </a:prstGeom>
          <a:noFill/>
          <a:ln/>
        </p:spPr>
        <p:txBody>
          <a:bodyPr wrap="square" lIns="0" tIns="0" rIns="0" bIns="0" rtlCol="0" anchor="ctr"/>
          <a:lstStyle/>
          <a:p>
            <a:pPr marL="0" indent="0">
              <a:buNone/>
            </a:pPr>
            <a:r>
              <a:rPr lang="en-US" sz="1700" b="1" dirty="0">
                <a:solidFill>
                  <a:srgbClr val="141235"/>
                </a:solidFill>
                <a:latin typeface="Calibri" pitchFamily="34" charset="0"/>
                <a:ea typeface="Calibri" pitchFamily="34" charset="-122"/>
                <a:cs typeface="Calibri" pitchFamily="34" charset="-120"/>
              </a:rPr>
              <a:t>Agent</a:t>
            </a:r>
            <a:endParaRPr lang="en-US" sz="1700" dirty="0"/>
          </a:p>
        </p:txBody>
      </p:sp>
      <p:sp>
        <p:nvSpPr>
          <p:cNvPr id="42" name="Text 37"/>
          <p:cNvSpPr/>
          <p:nvPr/>
        </p:nvSpPr>
        <p:spPr>
          <a:xfrm>
            <a:off x="8255269" y="4187299"/>
            <a:ext cx="2991002" cy="786384"/>
          </a:xfrm>
          <a:prstGeom prst="rect">
            <a:avLst/>
          </a:prstGeom>
          <a:noFill/>
          <a:ln/>
        </p:spPr>
        <p:txBody>
          <a:bodyPr wrap="square" lIns="0" tIns="0" rIns="0" bIns="0" rtlCol="0" anchor="t"/>
          <a:lstStyle/>
          <a:p>
            <a:pPr marL="0" indent="0">
              <a:lnSpc>
                <a:spcPct val="112000"/>
              </a:lnSpc>
              <a:buNone/>
            </a:pPr>
            <a:r>
              <a:rPr lang="en-US" sz="950" b="1" kern="0" spc="120" dirty="0">
                <a:solidFill>
                  <a:srgbClr val="E08700"/>
                </a:solidFill>
                <a:latin typeface="Calibri" pitchFamily="34" charset="0"/>
                <a:ea typeface="Calibri" pitchFamily="34" charset="-122"/>
                <a:cs typeface="Calibri" pitchFamily="34" charset="-120"/>
              </a:rPr>
              <a:t>Who decides?</a:t>
            </a:r>
            <a:endParaRPr lang="en-US" sz="950" dirty="0"/>
          </a:p>
          <a:p>
            <a:pPr marL="0" indent="0">
              <a:lnSpc>
                <a:spcPct val="112000"/>
              </a:lnSpc>
              <a:buNone/>
            </a:pPr>
            <a:r>
              <a:rPr lang="en-US" sz="1150" dirty="0">
                <a:solidFill>
                  <a:srgbClr val="3B3760"/>
                </a:solidFill>
                <a:latin typeface="Calibri" pitchFamily="34" charset="0"/>
                <a:ea typeface="Calibri" pitchFamily="34" charset="-122"/>
                <a:cs typeface="Calibri" pitchFamily="34" charset="-120"/>
              </a:rPr>
              <a:t>The model decides, turn by turn</a:t>
            </a:r>
            <a:endParaRPr lang="en-US" sz="950" dirty="0"/>
          </a:p>
        </p:txBody>
      </p:sp>
      <p:sp>
        <p:nvSpPr>
          <p:cNvPr id="43" name="Text 38"/>
          <p:cNvSpPr/>
          <p:nvPr/>
        </p:nvSpPr>
        <p:spPr>
          <a:xfrm>
            <a:off x="8255269" y="4736592"/>
            <a:ext cx="2991002" cy="640080"/>
          </a:xfrm>
          <a:prstGeom prst="rect">
            <a:avLst/>
          </a:prstGeom>
          <a:noFill/>
          <a:ln/>
        </p:spPr>
        <p:txBody>
          <a:bodyPr wrap="square" lIns="0" tIns="0" rIns="0" bIns="0" rtlCol="0" anchor="t"/>
          <a:lstStyle/>
          <a:p>
            <a:pPr marL="0" indent="0">
              <a:lnSpc>
                <a:spcPct val="110000"/>
              </a:lnSpc>
              <a:buNone/>
            </a:pPr>
            <a:r>
              <a:rPr lang="en-US" sz="1100" dirty="0">
                <a:solidFill>
                  <a:srgbClr val="6E6B8A"/>
                </a:solidFill>
                <a:latin typeface="Calibri" pitchFamily="34" charset="0"/>
                <a:ea typeface="Calibri" pitchFamily="34" charset="-122"/>
                <a:cs typeface="Calibri" pitchFamily="34" charset="-120"/>
              </a:rPr>
              <a:t>Your code still runs every tool.</a:t>
            </a:r>
            <a:endParaRPr lang="en-US" sz="1100" dirty="0"/>
          </a:p>
        </p:txBody>
      </p:sp>
      <p:sp>
        <p:nvSpPr>
          <p:cNvPr id="44" name="Shape 39"/>
          <p:cNvSpPr/>
          <p:nvPr/>
        </p:nvSpPr>
        <p:spPr>
          <a:xfrm>
            <a:off x="566928" y="5541264"/>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45" name="Shape 40"/>
          <p:cNvSpPr/>
          <p:nvPr/>
        </p:nvSpPr>
        <p:spPr>
          <a:xfrm>
            <a:off x="841248" y="5760720"/>
            <a:ext cx="384048" cy="384048"/>
          </a:xfrm>
          <a:prstGeom prst="ellipse">
            <a:avLst/>
          </a:prstGeom>
          <a:solidFill>
            <a:srgbClr val="F5A524"/>
          </a:solidFill>
          <a:ln w="12700">
            <a:solidFill>
              <a:srgbClr val="F5A524"/>
            </a:solidFill>
            <a:prstDash val="solid"/>
          </a:ln>
        </p:spPr>
        <p:txBody>
          <a:bodyPr/>
          <a:lstStyle/>
          <a:p>
            <a:endParaRPr lang="en-US"/>
          </a:p>
        </p:txBody>
      </p:sp>
      <p:pic>
        <p:nvPicPr>
          <p:cNvPr id="46" name="Image 3" descr="preencoded.png"/>
          <p:cNvPicPr>
            <a:picLocks noChangeAspect="1"/>
          </p:cNvPicPr>
          <p:nvPr/>
        </p:nvPicPr>
        <p:blipFill>
          <a:blip r:embed="rId6"/>
          <a:stretch>
            <a:fillRect/>
          </a:stretch>
        </p:blipFill>
        <p:spPr>
          <a:xfrm>
            <a:off x="937260" y="5856732"/>
            <a:ext cx="192024" cy="192024"/>
          </a:xfrm>
          <a:prstGeom prst="rect">
            <a:avLst/>
          </a:prstGeom>
        </p:spPr>
      </p:pic>
      <p:sp>
        <p:nvSpPr>
          <p:cNvPr id="47" name="Text 41"/>
          <p:cNvSpPr/>
          <p:nvPr/>
        </p:nvSpPr>
        <p:spPr>
          <a:xfrm>
            <a:off x="1371600" y="5596128"/>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In production you will very often want the middle one. Predictability is not a lesser achievement — a workflow that never surprises anyone is a feature.</a:t>
            </a:r>
            <a:endParaRPr lang="en-US" sz="1050" dirty="0"/>
          </a:p>
        </p:txBody>
      </p:sp>
      <p:pic>
        <p:nvPicPr>
          <p:cNvPr id="48" name="Picture 47">
            <a:extLst>
              <a:ext uri="{FF2B5EF4-FFF2-40B4-BE49-F238E27FC236}">
                <a16:creationId xmlns:a16="http://schemas.microsoft.com/office/drawing/2014/main" id="{15F66CD7-D4E3-9B55-6488-38BBBA7376A0}"/>
              </a:ext>
            </a:extLst>
          </p:cNvPr>
          <p:cNvPicPr>
            <a:picLocks noChangeAspect="1"/>
          </p:cNvPicPr>
          <p:nvPr/>
        </p:nvPicPr>
        <p:blipFill>
          <a:blip r:embed="rId7"/>
          <a:stretch>
            <a:fillRect/>
          </a:stretch>
        </p:blipFill>
        <p:spPr>
          <a:xfrm>
            <a:off x="1341493" y="2449684"/>
            <a:ext cx="1922633" cy="1499786"/>
          </a:xfrm>
          <a:prstGeom prst="rect">
            <a:avLst/>
          </a:prstGeom>
        </p:spPr>
      </p:pic>
      <p:pic>
        <p:nvPicPr>
          <p:cNvPr id="49" name="Picture 48">
            <a:extLst>
              <a:ext uri="{FF2B5EF4-FFF2-40B4-BE49-F238E27FC236}">
                <a16:creationId xmlns:a16="http://schemas.microsoft.com/office/drawing/2014/main" id="{B79EDF4B-C1F3-CD6B-286C-7D6E87B4401C}"/>
              </a:ext>
            </a:extLst>
          </p:cNvPr>
          <p:cNvPicPr>
            <a:picLocks noChangeAspect="1"/>
          </p:cNvPicPr>
          <p:nvPr/>
        </p:nvPicPr>
        <p:blipFill>
          <a:blip r:embed="rId8"/>
          <a:stretch>
            <a:fillRect/>
          </a:stretch>
        </p:blipFill>
        <p:spPr>
          <a:xfrm>
            <a:off x="5094122" y="2396820"/>
            <a:ext cx="2058772" cy="1480624"/>
          </a:xfrm>
          <a:prstGeom prst="rect">
            <a:avLst/>
          </a:prstGeom>
        </p:spPr>
      </p:pic>
      <p:pic>
        <p:nvPicPr>
          <p:cNvPr id="51" name="Picture 50">
            <a:extLst>
              <a:ext uri="{FF2B5EF4-FFF2-40B4-BE49-F238E27FC236}">
                <a16:creationId xmlns:a16="http://schemas.microsoft.com/office/drawing/2014/main" id="{C76FAADA-EB8B-CA24-C621-C17A422111BF}"/>
              </a:ext>
            </a:extLst>
          </p:cNvPr>
          <p:cNvPicPr>
            <a:picLocks noChangeAspect="1"/>
          </p:cNvPicPr>
          <p:nvPr/>
        </p:nvPicPr>
        <p:blipFill>
          <a:blip r:embed="rId9"/>
          <a:stretch>
            <a:fillRect/>
          </a:stretch>
        </p:blipFill>
        <p:spPr>
          <a:xfrm>
            <a:off x="8727648" y="2440025"/>
            <a:ext cx="2291171" cy="1700903"/>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01 · WHAT AN AGENT IS</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3000" b="1" dirty="0">
                <a:solidFill>
                  <a:srgbClr val="141235"/>
                </a:solidFill>
                <a:latin typeface="Cambria" pitchFamily="34" charset="0"/>
                <a:ea typeface="Cambria" pitchFamily="34" charset="-122"/>
                <a:cs typeface="Cambria" pitchFamily="34" charset="-120"/>
              </a:rPr>
              <a:t>There is no settled definition, and that is fine</a:t>
            </a:r>
            <a:endParaRPr lang="en-US" sz="3000" dirty="0"/>
          </a:p>
        </p:txBody>
      </p:sp>
      <p:sp>
        <p:nvSpPr>
          <p:cNvPr id="4" name="Text 2"/>
          <p:cNvSpPr/>
          <p:nvPr/>
        </p:nvSpPr>
        <p:spPr>
          <a:xfrm>
            <a:off x="566928" y="1371600"/>
            <a:ext cx="11057839" cy="310896"/>
          </a:xfrm>
          <a:prstGeom prst="rect">
            <a:avLst/>
          </a:prstGeom>
          <a:noFill/>
          <a:ln/>
        </p:spPr>
        <p:txBody>
          <a:bodyPr wrap="square" lIns="0" tIns="0" rIns="0" bIns="0" rtlCol="0" anchor="t"/>
          <a:lstStyle/>
          <a:p>
            <a:pPr marL="0" indent="0">
              <a:buNone/>
            </a:pPr>
            <a:r>
              <a:rPr lang="en-US" sz="1400" dirty="0">
                <a:solidFill>
                  <a:srgbClr val="3B3760"/>
                </a:solidFill>
                <a:latin typeface="Calibri" pitchFamily="34" charset="0"/>
                <a:ea typeface="Calibri" pitchFamily="34" charset="-122"/>
                <a:cs typeface="Calibri" pitchFamily="34" charset="-120"/>
              </a:rPr>
              <a:t>The word has drifted for three years. Rather than argue about it, we will pick one sentence and hold it for two days.</a:t>
            </a:r>
            <a:endParaRPr lang="en-US" sz="1400" dirty="0"/>
          </a:p>
        </p:txBody>
      </p:sp>
      <p:sp>
        <p:nvSpPr>
          <p:cNvPr id="5" name="Shape 3"/>
          <p:cNvSpPr/>
          <p:nvPr/>
        </p:nvSpPr>
        <p:spPr>
          <a:xfrm>
            <a:off x="566928" y="2084832"/>
            <a:ext cx="11057839" cy="914400"/>
          </a:xfrm>
          <a:prstGeom prst="roundRect">
            <a:avLst>
              <a:gd name="adj" fmla="val 9000"/>
            </a:avLst>
          </a:prstGeom>
          <a:solidFill>
            <a:srgbClr val="FFFFFF"/>
          </a:solidFill>
          <a:ln w="12700">
            <a:solidFill>
              <a:srgbClr val="E3E4F2"/>
            </a:solidFill>
            <a:prstDash val="solid"/>
          </a:ln>
          <a:effectLst>
            <a:outerShdw blurRad="101600" dist="508" dir="5400000" algn="bl" rotWithShape="0">
              <a:srgbClr val="1B1A4A">
                <a:alpha val="7000"/>
              </a:srgbClr>
            </a:outerShdw>
          </a:effectLst>
        </p:spPr>
        <p:txBody>
          <a:bodyPr/>
          <a:lstStyle/>
          <a:p>
            <a:endParaRPr lang="en-US"/>
          </a:p>
        </p:txBody>
      </p:sp>
      <p:sp>
        <p:nvSpPr>
          <p:cNvPr id="6" name="Text 4"/>
          <p:cNvSpPr/>
          <p:nvPr/>
        </p:nvSpPr>
        <p:spPr>
          <a:xfrm>
            <a:off x="859536" y="2176272"/>
            <a:ext cx="2286000" cy="731520"/>
          </a:xfrm>
          <a:prstGeom prst="rect">
            <a:avLst/>
          </a:prstGeom>
          <a:noFill/>
          <a:ln/>
        </p:spPr>
        <p:txBody>
          <a:bodyPr wrap="square" lIns="0" tIns="0" rIns="0" bIns="0" rtlCol="0" anchor="ctr"/>
          <a:lstStyle/>
          <a:p>
            <a:pPr marL="0" indent="0">
              <a:buNone/>
            </a:pPr>
            <a:r>
              <a:rPr lang="en-US" sz="1150" b="1" dirty="0">
                <a:solidFill>
                  <a:srgbClr val="6E6B8A"/>
                </a:solidFill>
                <a:latin typeface="Calibri" pitchFamily="34" charset="0"/>
                <a:ea typeface="Calibri" pitchFamily="34" charset="-122"/>
                <a:cs typeface="Calibri" pitchFamily="34" charset="-120"/>
              </a:rPr>
              <a:t>Early framing</a:t>
            </a:r>
            <a:endParaRPr lang="en-US" sz="1150" dirty="0"/>
          </a:p>
        </p:txBody>
      </p:sp>
      <p:sp>
        <p:nvSpPr>
          <p:cNvPr id="7" name="Text 5"/>
          <p:cNvSpPr/>
          <p:nvPr/>
        </p:nvSpPr>
        <p:spPr>
          <a:xfrm>
            <a:off x="3264408" y="2176272"/>
            <a:ext cx="5029200" cy="731520"/>
          </a:xfrm>
          <a:prstGeom prst="rect">
            <a:avLst/>
          </a:prstGeom>
          <a:noFill/>
          <a:ln/>
        </p:spPr>
        <p:txBody>
          <a:bodyPr wrap="square" lIns="0" tIns="0" rIns="0" bIns="0" rtlCol="0" anchor="ctr"/>
          <a:lstStyle/>
          <a:p>
            <a:pPr marL="0" indent="0">
              <a:buNone/>
            </a:pPr>
            <a:r>
              <a:rPr lang="en-US" sz="1450" dirty="0">
                <a:solidFill>
                  <a:srgbClr val="141235"/>
                </a:solidFill>
                <a:latin typeface="Calibri" pitchFamily="34" charset="0"/>
                <a:ea typeface="Calibri" pitchFamily="34" charset="-122"/>
                <a:cs typeface="Calibri" pitchFamily="34" charset="-120"/>
              </a:rPr>
              <a:t>Systems that do work independently</a:t>
            </a:r>
            <a:endParaRPr lang="en-US" sz="1450" dirty="0"/>
          </a:p>
        </p:txBody>
      </p:sp>
      <p:sp>
        <p:nvSpPr>
          <p:cNvPr id="8" name="Text 6"/>
          <p:cNvSpPr/>
          <p:nvPr/>
        </p:nvSpPr>
        <p:spPr>
          <a:xfrm>
            <a:off x="8430768" y="2176272"/>
            <a:ext cx="2926080" cy="731520"/>
          </a:xfrm>
          <a:prstGeom prst="rect">
            <a:avLst/>
          </a:prstGeom>
          <a:noFill/>
          <a:ln/>
        </p:spPr>
        <p:txBody>
          <a:bodyPr wrap="square" lIns="0" tIns="0" rIns="0" bIns="0" rtlCol="0" anchor="ctr"/>
          <a:lstStyle/>
          <a:p>
            <a:pPr marL="0" indent="0">
              <a:buNone/>
            </a:pPr>
            <a:r>
              <a:rPr lang="en-US" sz="1050" i="1" dirty="0">
                <a:solidFill>
                  <a:srgbClr val="9B98B4"/>
                </a:solidFill>
                <a:latin typeface="Calibri" pitchFamily="34" charset="0"/>
                <a:ea typeface="Calibri" pitchFamily="34" charset="-122"/>
                <a:cs typeface="Calibri" pitchFamily="34" charset="-120"/>
              </a:rPr>
              <a:t>Too broad — a cron job qualifies</a:t>
            </a:r>
            <a:endParaRPr lang="en-US" sz="1050" dirty="0"/>
          </a:p>
        </p:txBody>
      </p:sp>
      <p:sp>
        <p:nvSpPr>
          <p:cNvPr id="9" name="Shape 7"/>
          <p:cNvSpPr/>
          <p:nvPr/>
        </p:nvSpPr>
        <p:spPr>
          <a:xfrm>
            <a:off x="566928" y="3127248"/>
            <a:ext cx="11057839" cy="914400"/>
          </a:xfrm>
          <a:prstGeom prst="roundRect">
            <a:avLst>
              <a:gd name="adj" fmla="val 9000"/>
            </a:avLst>
          </a:prstGeom>
          <a:solidFill>
            <a:srgbClr val="FFFFFF"/>
          </a:solidFill>
          <a:ln w="12700">
            <a:solidFill>
              <a:srgbClr val="E3E4F2"/>
            </a:solidFill>
            <a:prstDash val="solid"/>
          </a:ln>
          <a:effectLst>
            <a:outerShdw blurRad="101600" dist="508" dir="5400000" algn="bl" rotWithShape="0">
              <a:srgbClr val="1B1A4A">
                <a:alpha val="7000"/>
              </a:srgbClr>
            </a:outerShdw>
          </a:effectLst>
        </p:spPr>
        <p:txBody>
          <a:bodyPr/>
          <a:lstStyle/>
          <a:p>
            <a:endParaRPr lang="en-US"/>
          </a:p>
        </p:txBody>
      </p:sp>
      <p:sp>
        <p:nvSpPr>
          <p:cNvPr id="10" name="Text 8"/>
          <p:cNvSpPr/>
          <p:nvPr/>
        </p:nvSpPr>
        <p:spPr>
          <a:xfrm>
            <a:off x="859536" y="3218688"/>
            <a:ext cx="2286000" cy="731520"/>
          </a:xfrm>
          <a:prstGeom prst="rect">
            <a:avLst/>
          </a:prstGeom>
          <a:noFill/>
          <a:ln/>
        </p:spPr>
        <p:txBody>
          <a:bodyPr wrap="square" lIns="0" tIns="0" rIns="0" bIns="0" rtlCol="0" anchor="ctr"/>
          <a:lstStyle/>
          <a:p>
            <a:pPr marL="0" indent="0">
              <a:buNone/>
            </a:pPr>
            <a:r>
              <a:rPr lang="en-US" sz="1150" b="1" dirty="0">
                <a:solidFill>
                  <a:srgbClr val="6E6B8A"/>
                </a:solidFill>
                <a:latin typeface="Calibri" pitchFamily="34" charset="0"/>
                <a:ea typeface="Calibri" pitchFamily="34" charset="-122"/>
                <a:cs typeface="Calibri" pitchFamily="34" charset="-120"/>
              </a:rPr>
              <a:t>A step further</a:t>
            </a:r>
            <a:endParaRPr lang="en-US" sz="1150" dirty="0"/>
          </a:p>
        </p:txBody>
      </p:sp>
      <p:sp>
        <p:nvSpPr>
          <p:cNvPr id="11" name="Text 9"/>
          <p:cNvSpPr/>
          <p:nvPr/>
        </p:nvSpPr>
        <p:spPr>
          <a:xfrm>
            <a:off x="3264408" y="3218688"/>
            <a:ext cx="5029200" cy="731520"/>
          </a:xfrm>
          <a:prstGeom prst="rect">
            <a:avLst/>
          </a:prstGeom>
          <a:noFill/>
          <a:ln/>
        </p:spPr>
        <p:txBody>
          <a:bodyPr wrap="square" lIns="0" tIns="0" rIns="0" bIns="0" rtlCol="0" anchor="ctr"/>
          <a:lstStyle/>
          <a:p>
            <a:pPr marL="0" indent="0">
              <a:buNone/>
            </a:pPr>
            <a:r>
              <a:rPr lang="en-US" sz="1450" dirty="0">
                <a:solidFill>
                  <a:srgbClr val="141235"/>
                </a:solidFill>
                <a:latin typeface="Calibri" pitchFamily="34" charset="0"/>
                <a:ea typeface="Calibri" pitchFamily="34" charset="-122"/>
                <a:cs typeface="Calibri" pitchFamily="34" charset="-120"/>
              </a:rPr>
              <a:t>Systems where the model controls the workflow</a:t>
            </a:r>
            <a:endParaRPr lang="en-US" sz="1450" dirty="0"/>
          </a:p>
        </p:txBody>
      </p:sp>
      <p:sp>
        <p:nvSpPr>
          <p:cNvPr id="12" name="Text 10"/>
          <p:cNvSpPr/>
          <p:nvPr/>
        </p:nvSpPr>
        <p:spPr>
          <a:xfrm>
            <a:off x="8430768" y="3218688"/>
            <a:ext cx="2926080" cy="731520"/>
          </a:xfrm>
          <a:prstGeom prst="rect">
            <a:avLst/>
          </a:prstGeom>
          <a:noFill/>
          <a:ln/>
        </p:spPr>
        <p:txBody>
          <a:bodyPr wrap="square" lIns="0" tIns="0" rIns="0" bIns="0" rtlCol="0" anchor="ctr"/>
          <a:lstStyle/>
          <a:p>
            <a:pPr marL="0" indent="0">
              <a:buNone/>
            </a:pPr>
            <a:r>
              <a:rPr lang="en-US" sz="1050" i="1" dirty="0">
                <a:solidFill>
                  <a:srgbClr val="9B98B4"/>
                </a:solidFill>
                <a:latin typeface="Calibri" pitchFamily="34" charset="0"/>
                <a:ea typeface="Calibri" pitchFamily="34" charset="-122"/>
                <a:cs typeface="Calibri" pitchFamily="34" charset="-120"/>
              </a:rPr>
              <a:t>Better — this is the control question</a:t>
            </a:r>
            <a:endParaRPr lang="en-US" sz="1050" dirty="0"/>
          </a:p>
        </p:txBody>
      </p:sp>
      <p:sp>
        <p:nvSpPr>
          <p:cNvPr id="13" name="Shape 11"/>
          <p:cNvSpPr/>
          <p:nvPr/>
        </p:nvSpPr>
        <p:spPr>
          <a:xfrm>
            <a:off x="566928" y="4169664"/>
            <a:ext cx="11057839" cy="914400"/>
          </a:xfrm>
          <a:prstGeom prst="roundRect">
            <a:avLst>
              <a:gd name="adj" fmla="val 9000"/>
            </a:avLst>
          </a:prstGeom>
          <a:solidFill>
            <a:srgbClr val="5B4BE8"/>
          </a:solidFill>
          <a:ln w="12700">
            <a:solidFill>
              <a:srgbClr val="5B4BE8"/>
            </a:solidFill>
            <a:prstDash val="solid"/>
          </a:ln>
          <a:effectLst>
            <a:outerShdw blurRad="101600" dist="508" dir="5400000" algn="bl" rotWithShape="0">
              <a:srgbClr val="1B1A4A">
                <a:alpha val="7000"/>
              </a:srgbClr>
            </a:outerShdw>
          </a:effectLst>
        </p:spPr>
        <p:txBody>
          <a:bodyPr/>
          <a:lstStyle/>
          <a:p>
            <a:endParaRPr lang="en-US"/>
          </a:p>
        </p:txBody>
      </p:sp>
      <p:sp>
        <p:nvSpPr>
          <p:cNvPr id="14" name="Text 12"/>
          <p:cNvSpPr/>
          <p:nvPr/>
        </p:nvSpPr>
        <p:spPr>
          <a:xfrm>
            <a:off x="859536" y="4261104"/>
            <a:ext cx="2286000" cy="731520"/>
          </a:xfrm>
          <a:prstGeom prst="rect">
            <a:avLst/>
          </a:prstGeom>
          <a:noFill/>
          <a:ln/>
        </p:spPr>
        <p:txBody>
          <a:bodyPr wrap="square" lIns="0" tIns="0" rIns="0" bIns="0" rtlCol="0" anchor="ctr"/>
          <a:lstStyle/>
          <a:p>
            <a:pPr marL="0" indent="0">
              <a:buNone/>
            </a:pPr>
            <a:r>
              <a:rPr lang="en-US" sz="1150" b="1" dirty="0">
                <a:solidFill>
                  <a:srgbClr val="CFC9FF"/>
                </a:solidFill>
                <a:latin typeface="Calibri" pitchFamily="34" charset="0"/>
                <a:ea typeface="Calibri" pitchFamily="34" charset="-122"/>
                <a:cs typeface="Calibri" pitchFamily="34" charset="-120"/>
              </a:rPr>
              <a:t>What we will use</a:t>
            </a:r>
            <a:endParaRPr lang="en-US" sz="1150" dirty="0"/>
          </a:p>
        </p:txBody>
      </p:sp>
      <p:sp>
        <p:nvSpPr>
          <p:cNvPr id="15" name="Text 13"/>
          <p:cNvSpPr/>
          <p:nvPr/>
        </p:nvSpPr>
        <p:spPr>
          <a:xfrm>
            <a:off x="3264408" y="4261104"/>
            <a:ext cx="5029200" cy="73152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A model with tools, in a loop, working toward a goal</a:t>
            </a:r>
            <a:endParaRPr lang="en-US" sz="1600" dirty="0"/>
          </a:p>
        </p:txBody>
      </p:sp>
      <p:sp>
        <p:nvSpPr>
          <p:cNvPr id="16" name="Text 14"/>
          <p:cNvSpPr/>
          <p:nvPr/>
        </p:nvSpPr>
        <p:spPr>
          <a:xfrm>
            <a:off x="8430768" y="4261104"/>
            <a:ext cx="2926080" cy="731520"/>
          </a:xfrm>
          <a:prstGeom prst="rect">
            <a:avLst/>
          </a:prstGeom>
          <a:noFill/>
          <a:ln/>
        </p:spPr>
        <p:txBody>
          <a:bodyPr wrap="square" lIns="0" tIns="0" rIns="0" bIns="0" rtlCol="0" anchor="ctr"/>
          <a:lstStyle/>
          <a:p>
            <a:pPr marL="0" indent="0">
              <a:buNone/>
            </a:pPr>
            <a:r>
              <a:rPr lang="en-US" sz="1050" i="1" dirty="0">
                <a:solidFill>
                  <a:srgbClr val="CFC9FF"/>
                </a:solidFill>
                <a:latin typeface="Calibri" pitchFamily="34" charset="0"/>
                <a:ea typeface="Calibri" pitchFamily="34" charset="-122"/>
                <a:cs typeface="Calibri" pitchFamily="34" charset="-120"/>
              </a:rPr>
              <a:t>Four parts. Every module improves exactly one of them.</a:t>
            </a:r>
            <a:endParaRPr lang="en-US" sz="1050" dirty="0"/>
          </a:p>
        </p:txBody>
      </p:sp>
      <p:sp>
        <p:nvSpPr>
          <p:cNvPr id="17" name="Shape 15"/>
          <p:cNvSpPr/>
          <p:nvPr/>
        </p:nvSpPr>
        <p:spPr>
          <a:xfrm>
            <a:off x="566928" y="5541264"/>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18" name="Shape 16"/>
          <p:cNvSpPr/>
          <p:nvPr/>
        </p:nvSpPr>
        <p:spPr>
          <a:xfrm>
            <a:off x="841248" y="5760720"/>
            <a:ext cx="384048" cy="384048"/>
          </a:xfrm>
          <a:prstGeom prst="ellipse">
            <a:avLst/>
          </a:prstGeom>
          <a:solidFill>
            <a:srgbClr val="F5A524"/>
          </a:solidFill>
          <a:ln w="12700">
            <a:solidFill>
              <a:srgbClr val="F5A524"/>
            </a:solidFill>
            <a:prstDash val="solid"/>
          </a:ln>
        </p:spPr>
        <p:txBody>
          <a:bodyPr/>
          <a:lstStyle/>
          <a:p>
            <a:endParaRPr lang="en-US"/>
          </a:p>
        </p:txBody>
      </p:sp>
      <p:pic>
        <p:nvPicPr>
          <p:cNvPr id="19" name="Image 0" descr="preencoded.png"/>
          <p:cNvPicPr>
            <a:picLocks noChangeAspect="1"/>
          </p:cNvPicPr>
          <p:nvPr/>
        </p:nvPicPr>
        <p:blipFill>
          <a:blip r:embed="rId3"/>
          <a:stretch>
            <a:fillRect/>
          </a:stretch>
        </p:blipFill>
        <p:spPr>
          <a:xfrm>
            <a:off x="937260" y="5856732"/>
            <a:ext cx="192024" cy="192024"/>
          </a:xfrm>
          <a:prstGeom prst="rect">
            <a:avLst/>
          </a:prstGeom>
        </p:spPr>
      </p:pic>
      <p:sp>
        <p:nvSpPr>
          <p:cNvPr id="20" name="Text 17"/>
          <p:cNvSpPr/>
          <p:nvPr/>
        </p:nvSpPr>
        <p:spPr>
          <a:xfrm>
            <a:off x="1371600" y="5596128"/>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If someone tells you their product “is an agent”, ask which of those four words they mean. Most of the time the honest answer is “a model with a prompt”.</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01 · WHAT AN AGENT IS</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3000" b="1" dirty="0">
                <a:solidFill>
                  <a:srgbClr val="141235"/>
                </a:solidFill>
                <a:latin typeface="Cambria" pitchFamily="34" charset="0"/>
                <a:ea typeface="Cambria" pitchFamily="34" charset="-122"/>
                <a:cs typeface="Cambria" pitchFamily="34" charset="-120"/>
              </a:rPr>
              <a:t>Six parts, and only one of them is the model</a:t>
            </a:r>
            <a:endParaRPr lang="en-US" sz="3000" dirty="0"/>
          </a:p>
        </p:txBody>
      </p:sp>
      <p:sp>
        <p:nvSpPr>
          <p:cNvPr id="4" name="Shape 2"/>
          <p:cNvSpPr/>
          <p:nvPr/>
        </p:nvSpPr>
        <p:spPr>
          <a:xfrm>
            <a:off x="566928" y="2485614"/>
            <a:ext cx="3527450" cy="1016538"/>
          </a:xfrm>
          <a:prstGeom prst="roundRect">
            <a:avLst>
              <a:gd name="adj" fmla="val 8096"/>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5" name="Shape 3"/>
          <p:cNvSpPr/>
          <p:nvPr/>
        </p:nvSpPr>
        <p:spPr>
          <a:xfrm>
            <a:off x="804672" y="2705070"/>
            <a:ext cx="365760" cy="365760"/>
          </a:xfrm>
          <a:prstGeom prst="ellipse">
            <a:avLst/>
          </a:prstGeom>
          <a:solidFill>
            <a:srgbClr val="5B4BE8"/>
          </a:solidFill>
          <a:ln w="12700">
            <a:solidFill>
              <a:srgbClr val="5B4BE8"/>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896112" y="2796510"/>
            <a:ext cx="182880" cy="182880"/>
          </a:xfrm>
          <a:prstGeom prst="rect">
            <a:avLst/>
          </a:prstGeom>
        </p:spPr>
      </p:pic>
      <p:sp>
        <p:nvSpPr>
          <p:cNvPr id="7" name="Text 4"/>
          <p:cNvSpPr/>
          <p:nvPr/>
        </p:nvSpPr>
        <p:spPr>
          <a:xfrm>
            <a:off x="1298448" y="2723358"/>
            <a:ext cx="2558186" cy="354604"/>
          </a:xfrm>
          <a:prstGeom prst="rect">
            <a:avLst/>
          </a:prstGeom>
          <a:noFill/>
          <a:ln/>
        </p:spPr>
        <p:txBody>
          <a:bodyPr wrap="square" lIns="0" tIns="0" rIns="0" bIns="0" rtlCol="0" anchor="t"/>
          <a:lstStyle/>
          <a:p>
            <a:pPr marL="0" indent="0">
              <a:lnSpc>
                <a:spcPct val="105000"/>
              </a:lnSpc>
              <a:buNone/>
            </a:pPr>
            <a:r>
              <a:rPr lang="en-US" sz="1550" b="1" dirty="0">
                <a:solidFill>
                  <a:srgbClr val="141235"/>
                </a:solidFill>
                <a:latin typeface="Calibri" pitchFamily="34" charset="0"/>
                <a:ea typeface="Calibri" pitchFamily="34" charset="-122"/>
                <a:cs typeface="Calibri" pitchFamily="34" charset="-120"/>
              </a:rPr>
              <a:t>Model</a:t>
            </a:r>
            <a:endParaRPr lang="en-US" sz="1550" dirty="0"/>
          </a:p>
        </p:txBody>
      </p:sp>
      <p:sp>
        <p:nvSpPr>
          <p:cNvPr id="8" name="Text 5"/>
          <p:cNvSpPr/>
          <p:nvPr/>
        </p:nvSpPr>
        <p:spPr>
          <a:xfrm>
            <a:off x="1298448" y="3087106"/>
            <a:ext cx="2558186" cy="232166"/>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Reasons and chooses the next step</a:t>
            </a:r>
            <a:endParaRPr lang="en-US" sz="1150" dirty="0"/>
          </a:p>
        </p:txBody>
      </p:sp>
      <p:sp>
        <p:nvSpPr>
          <p:cNvPr id="9" name="Shape 6"/>
          <p:cNvSpPr/>
          <p:nvPr/>
        </p:nvSpPr>
        <p:spPr>
          <a:xfrm>
            <a:off x="4332122" y="2485614"/>
            <a:ext cx="3527450" cy="1016538"/>
          </a:xfrm>
          <a:prstGeom prst="roundRect">
            <a:avLst>
              <a:gd name="adj" fmla="val 8096"/>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0" name="Shape 7"/>
          <p:cNvSpPr/>
          <p:nvPr/>
        </p:nvSpPr>
        <p:spPr>
          <a:xfrm>
            <a:off x="4569866" y="2705070"/>
            <a:ext cx="365760" cy="365760"/>
          </a:xfrm>
          <a:prstGeom prst="ellipse">
            <a:avLst/>
          </a:prstGeom>
          <a:solidFill>
            <a:srgbClr val="5B4BE8"/>
          </a:solidFill>
          <a:ln w="12700">
            <a:solidFill>
              <a:srgbClr val="5B4BE8"/>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4661306" y="2796510"/>
            <a:ext cx="182880" cy="182880"/>
          </a:xfrm>
          <a:prstGeom prst="rect">
            <a:avLst/>
          </a:prstGeom>
        </p:spPr>
      </p:pic>
      <p:sp>
        <p:nvSpPr>
          <p:cNvPr id="12" name="Text 8"/>
          <p:cNvSpPr/>
          <p:nvPr/>
        </p:nvSpPr>
        <p:spPr>
          <a:xfrm>
            <a:off x="5063642" y="2723358"/>
            <a:ext cx="2558186" cy="354604"/>
          </a:xfrm>
          <a:prstGeom prst="rect">
            <a:avLst/>
          </a:prstGeom>
          <a:noFill/>
          <a:ln/>
        </p:spPr>
        <p:txBody>
          <a:bodyPr wrap="square" lIns="0" tIns="0" rIns="0" bIns="0" rtlCol="0" anchor="t"/>
          <a:lstStyle/>
          <a:p>
            <a:pPr marL="0" indent="0">
              <a:lnSpc>
                <a:spcPct val="105000"/>
              </a:lnSpc>
              <a:buNone/>
            </a:pPr>
            <a:r>
              <a:rPr lang="en-US" sz="1550" b="1" dirty="0">
                <a:solidFill>
                  <a:srgbClr val="141235"/>
                </a:solidFill>
                <a:latin typeface="Calibri" pitchFamily="34" charset="0"/>
                <a:ea typeface="Calibri" pitchFamily="34" charset="-122"/>
                <a:cs typeface="Calibri" pitchFamily="34" charset="-120"/>
              </a:rPr>
              <a:t>Instructions</a:t>
            </a:r>
            <a:endParaRPr lang="en-US" sz="1550" dirty="0"/>
          </a:p>
        </p:txBody>
      </p:sp>
      <p:sp>
        <p:nvSpPr>
          <p:cNvPr id="13" name="Text 9"/>
          <p:cNvSpPr/>
          <p:nvPr/>
        </p:nvSpPr>
        <p:spPr>
          <a:xfrm>
            <a:off x="5063642" y="3087106"/>
            <a:ext cx="2558186" cy="232166"/>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What it should and must not do</a:t>
            </a:r>
            <a:endParaRPr lang="en-US" sz="1150" dirty="0"/>
          </a:p>
        </p:txBody>
      </p:sp>
      <p:sp>
        <p:nvSpPr>
          <p:cNvPr id="14" name="Shape 10"/>
          <p:cNvSpPr/>
          <p:nvPr/>
        </p:nvSpPr>
        <p:spPr>
          <a:xfrm>
            <a:off x="8097317" y="2485614"/>
            <a:ext cx="3527450" cy="1016538"/>
          </a:xfrm>
          <a:prstGeom prst="roundRect">
            <a:avLst>
              <a:gd name="adj" fmla="val 8096"/>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5" name="Shape 11"/>
          <p:cNvSpPr/>
          <p:nvPr/>
        </p:nvSpPr>
        <p:spPr>
          <a:xfrm>
            <a:off x="8335061" y="2705070"/>
            <a:ext cx="365760" cy="365760"/>
          </a:xfrm>
          <a:prstGeom prst="ellipse">
            <a:avLst/>
          </a:prstGeom>
          <a:solidFill>
            <a:srgbClr val="5B4BE8"/>
          </a:solidFill>
          <a:ln w="12700">
            <a:solidFill>
              <a:srgbClr val="5B4BE8"/>
            </a:solidFill>
            <a:prstDash val="solid"/>
          </a:ln>
        </p:spPr>
        <p:txBody>
          <a:bodyPr/>
          <a:lstStyle/>
          <a:p>
            <a:endParaRPr lang="en-US"/>
          </a:p>
        </p:txBody>
      </p:sp>
      <p:pic>
        <p:nvPicPr>
          <p:cNvPr id="16" name="Image 2" descr="preencoded.png"/>
          <p:cNvPicPr>
            <a:picLocks noChangeAspect="1"/>
          </p:cNvPicPr>
          <p:nvPr/>
        </p:nvPicPr>
        <p:blipFill>
          <a:blip r:embed="rId5"/>
          <a:stretch>
            <a:fillRect/>
          </a:stretch>
        </p:blipFill>
        <p:spPr>
          <a:xfrm>
            <a:off x="8426501" y="2796510"/>
            <a:ext cx="182880" cy="182880"/>
          </a:xfrm>
          <a:prstGeom prst="rect">
            <a:avLst/>
          </a:prstGeom>
        </p:spPr>
      </p:pic>
      <p:sp>
        <p:nvSpPr>
          <p:cNvPr id="17" name="Text 12"/>
          <p:cNvSpPr/>
          <p:nvPr/>
        </p:nvSpPr>
        <p:spPr>
          <a:xfrm>
            <a:off x="8828837" y="2723358"/>
            <a:ext cx="2558186" cy="354604"/>
          </a:xfrm>
          <a:prstGeom prst="rect">
            <a:avLst/>
          </a:prstGeom>
          <a:noFill/>
          <a:ln/>
        </p:spPr>
        <p:txBody>
          <a:bodyPr wrap="square" lIns="0" tIns="0" rIns="0" bIns="0" rtlCol="0" anchor="t"/>
          <a:lstStyle/>
          <a:p>
            <a:pPr marL="0" indent="0">
              <a:lnSpc>
                <a:spcPct val="105000"/>
              </a:lnSpc>
              <a:buNone/>
            </a:pPr>
            <a:r>
              <a:rPr lang="en-US" sz="1550" b="1" dirty="0">
                <a:solidFill>
                  <a:srgbClr val="141235"/>
                </a:solidFill>
                <a:latin typeface="Calibri" pitchFamily="34" charset="0"/>
                <a:ea typeface="Calibri" pitchFamily="34" charset="-122"/>
                <a:cs typeface="Calibri" pitchFamily="34" charset="-120"/>
              </a:rPr>
              <a:t>Tools</a:t>
            </a:r>
            <a:endParaRPr lang="en-US" sz="1550" dirty="0"/>
          </a:p>
        </p:txBody>
      </p:sp>
      <p:sp>
        <p:nvSpPr>
          <p:cNvPr id="18" name="Text 13"/>
          <p:cNvSpPr/>
          <p:nvPr/>
        </p:nvSpPr>
        <p:spPr>
          <a:xfrm>
            <a:off x="8828837" y="3087106"/>
            <a:ext cx="2558186" cy="232166"/>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What it can reach — via your code</a:t>
            </a:r>
            <a:endParaRPr lang="en-US" sz="1150" dirty="0"/>
          </a:p>
        </p:txBody>
      </p:sp>
      <p:sp>
        <p:nvSpPr>
          <p:cNvPr id="19" name="Shape 14"/>
          <p:cNvSpPr/>
          <p:nvPr/>
        </p:nvSpPr>
        <p:spPr>
          <a:xfrm>
            <a:off x="566928" y="3739896"/>
            <a:ext cx="3527450" cy="1016538"/>
          </a:xfrm>
          <a:prstGeom prst="roundRect">
            <a:avLst>
              <a:gd name="adj" fmla="val 8096"/>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20" name="Shape 15"/>
          <p:cNvSpPr/>
          <p:nvPr/>
        </p:nvSpPr>
        <p:spPr>
          <a:xfrm>
            <a:off x="804672" y="3959352"/>
            <a:ext cx="365760" cy="365760"/>
          </a:xfrm>
          <a:prstGeom prst="ellipse">
            <a:avLst/>
          </a:prstGeom>
          <a:solidFill>
            <a:srgbClr val="5B4BE8"/>
          </a:solidFill>
          <a:ln w="12700">
            <a:solidFill>
              <a:srgbClr val="5B4BE8"/>
            </a:solidFill>
            <a:prstDash val="solid"/>
          </a:ln>
        </p:spPr>
        <p:txBody>
          <a:bodyPr/>
          <a:lstStyle/>
          <a:p>
            <a:endParaRPr lang="en-US"/>
          </a:p>
        </p:txBody>
      </p:sp>
      <p:pic>
        <p:nvPicPr>
          <p:cNvPr id="21" name="Image 3" descr="preencoded.png"/>
          <p:cNvPicPr>
            <a:picLocks noChangeAspect="1"/>
          </p:cNvPicPr>
          <p:nvPr/>
        </p:nvPicPr>
        <p:blipFill>
          <a:blip r:embed="rId6"/>
          <a:stretch>
            <a:fillRect/>
          </a:stretch>
        </p:blipFill>
        <p:spPr>
          <a:xfrm>
            <a:off x="896112" y="4050792"/>
            <a:ext cx="182880" cy="182880"/>
          </a:xfrm>
          <a:prstGeom prst="rect">
            <a:avLst/>
          </a:prstGeom>
        </p:spPr>
      </p:pic>
      <p:sp>
        <p:nvSpPr>
          <p:cNvPr id="22" name="Text 16"/>
          <p:cNvSpPr/>
          <p:nvPr/>
        </p:nvSpPr>
        <p:spPr>
          <a:xfrm>
            <a:off x="1298448" y="3977640"/>
            <a:ext cx="2558186" cy="354604"/>
          </a:xfrm>
          <a:prstGeom prst="rect">
            <a:avLst/>
          </a:prstGeom>
          <a:noFill/>
          <a:ln/>
        </p:spPr>
        <p:txBody>
          <a:bodyPr wrap="square" lIns="0" tIns="0" rIns="0" bIns="0" rtlCol="0" anchor="t"/>
          <a:lstStyle/>
          <a:p>
            <a:pPr marL="0" indent="0">
              <a:lnSpc>
                <a:spcPct val="105000"/>
              </a:lnSpc>
              <a:buNone/>
            </a:pPr>
            <a:r>
              <a:rPr lang="en-US" sz="1550" b="1" dirty="0">
                <a:solidFill>
                  <a:srgbClr val="141235"/>
                </a:solidFill>
                <a:latin typeface="Calibri" pitchFamily="34" charset="0"/>
                <a:ea typeface="Calibri" pitchFamily="34" charset="-122"/>
                <a:cs typeface="Calibri" pitchFamily="34" charset="-120"/>
              </a:rPr>
              <a:t>Memory</a:t>
            </a:r>
            <a:endParaRPr lang="en-US" sz="1550" dirty="0"/>
          </a:p>
        </p:txBody>
      </p:sp>
      <p:sp>
        <p:nvSpPr>
          <p:cNvPr id="23" name="Text 17"/>
          <p:cNvSpPr/>
          <p:nvPr/>
        </p:nvSpPr>
        <p:spPr>
          <a:xfrm>
            <a:off x="1298448" y="4341388"/>
            <a:ext cx="2558186" cy="232166"/>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The message list, so far</a:t>
            </a:r>
            <a:endParaRPr lang="en-US" sz="1150" dirty="0"/>
          </a:p>
        </p:txBody>
      </p:sp>
      <p:sp>
        <p:nvSpPr>
          <p:cNvPr id="24" name="Shape 18"/>
          <p:cNvSpPr/>
          <p:nvPr/>
        </p:nvSpPr>
        <p:spPr>
          <a:xfrm>
            <a:off x="4332122" y="3739896"/>
            <a:ext cx="3527450" cy="1016538"/>
          </a:xfrm>
          <a:prstGeom prst="roundRect">
            <a:avLst>
              <a:gd name="adj" fmla="val 8096"/>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25" name="Shape 19"/>
          <p:cNvSpPr/>
          <p:nvPr/>
        </p:nvSpPr>
        <p:spPr>
          <a:xfrm>
            <a:off x="4569866" y="3959352"/>
            <a:ext cx="365760" cy="365760"/>
          </a:xfrm>
          <a:prstGeom prst="ellipse">
            <a:avLst/>
          </a:prstGeom>
          <a:solidFill>
            <a:srgbClr val="5B4BE8"/>
          </a:solidFill>
          <a:ln w="12700">
            <a:solidFill>
              <a:srgbClr val="5B4BE8"/>
            </a:solidFill>
            <a:prstDash val="solid"/>
          </a:ln>
        </p:spPr>
        <p:txBody>
          <a:bodyPr/>
          <a:lstStyle/>
          <a:p>
            <a:endParaRPr lang="en-US"/>
          </a:p>
        </p:txBody>
      </p:sp>
      <p:pic>
        <p:nvPicPr>
          <p:cNvPr id="26" name="Image 4" descr="preencoded.png"/>
          <p:cNvPicPr>
            <a:picLocks noChangeAspect="1"/>
          </p:cNvPicPr>
          <p:nvPr/>
        </p:nvPicPr>
        <p:blipFill>
          <a:blip r:embed="rId7"/>
          <a:stretch>
            <a:fillRect/>
          </a:stretch>
        </p:blipFill>
        <p:spPr>
          <a:xfrm>
            <a:off x="4661306" y="4050792"/>
            <a:ext cx="182880" cy="182880"/>
          </a:xfrm>
          <a:prstGeom prst="rect">
            <a:avLst/>
          </a:prstGeom>
        </p:spPr>
      </p:pic>
      <p:sp>
        <p:nvSpPr>
          <p:cNvPr id="27" name="Text 20"/>
          <p:cNvSpPr/>
          <p:nvPr/>
        </p:nvSpPr>
        <p:spPr>
          <a:xfrm>
            <a:off x="5063642" y="3977640"/>
            <a:ext cx="2558186" cy="354604"/>
          </a:xfrm>
          <a:prstGeom prst="rect">
            <a:avLst/>
          </a:prstGeom>
          <a:noFill/>
          <a:ln/>
        </p:spPr>
        <p:txBody>
          <a:bodyPr wrap="square" lIns="0" tIns="0" rIns="0" bIns="0" rtlCol="0" anchor="t"/>
          <a:lstStyle/>
          <a:p>
            <a:pPr marL="0" indent="0">
              <a:lnSpc>
                <a:spcPct val="105000"/>
              </a:lnSpc>
              <a:buNone/>
            </a:pPr>
            <a:r>
              <a:rPr lang="en-US" sz="1550" b="1" dirty="0">
                <a:solidFill>
                  <a:srgbClr val="141235"/>
                </a:solidFill>
                <a:latin typeface="Calibri" pitchFamily="34" charset="0"/>
                <a:ea typeface="Calibri" pitchFamily="34" charset="-122"/>
                <a:cs typeface="Calibri" pitchFamily="34" charset="-120"/>
              </a:rPr>
              <a:t>A loop</a:t>
            </a:r>
            <a:endParaRPr lang="en-US" sz="1550" dirty="0"/>
          </a:p>
        </p:txBody>
      </p:sp>
      <p:sp>
        <p:nvSpPr>
          <p:cNvPr id="28" name="Text 21"/>
          <p:cNvSpPr/>
          <p:nvPr/>
        </p:nvSpPr>
        <p:spPr>
          <a:xfrm>
            <a:off x="5063642" y="4341388"/>
            <a:ext cx="2558186" cy="232166"/>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Code you wrote. Not the model.</a:t>
            </a:r>
            <a:endParaRPr lang="en-US" sz="1150" dirty="0"/>
          </a:p>
        </p:txBody>
      </p:sp>
      <p:sp>
        <p:nvSpPr>
          <p:cNvPr id="29" name="Shape 22"/>
          <p:cNvSpPr/>
          <p:nvPr/>
        </p:nvSpPr>
        <p:spPr>
          <a:xfrm>
            <a:off x="8097317" y="3739896"/>
            <a:ext cx="3527450" cy="1016538"/>
          </a:xfrm>
          <a:prstGeom prst="roundRect">
            <a:avLst>
              <a:gd name="adj" fmla="val 8096"/>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30" name="Shape 23"/>
          <p:cNvSpPr/>
          <p:nvPr/>
        </p:nvSpPr>
        <p:spPr>
          <a:xfrm>
            <a:off x="8335061" y="3959352"/>
            <a:ext cx="365760" cy="365760"/>
          </a:xfrm>
          <a:prstGeom prst="ellipse">
            <a:avLst/>
          </a:prstGeom>
          <a:solidFill>
            <a:srgbClr val="F5A524"/>
          </a:solidFill>
          <a:ln w="12700">
            <a:solidFill>
              <a:srgbClr val="F5A524"/>
            </a:solidFill>
            <a:prstDash val="solid"/>
          </a:ln>
        </p:spPr>
        <p:txBody>
          <a:bodyPr/>
          <a:lstStyle/>
          <a:p>
            <a:endParaRPr lang="en-US"/>
          </a:p>
        </p:txBody>
      </p:sp>
      <p:pic>
        <p:nvPicPr>
          <p:cNvPr id="31" name="Image 5" descr="preencoded.png"/>
          <p:cNvPicPr>
            <a:picLocks noChangeAspect="1"/>
          </p:cNvPicPr>
          <p:nvPr/>
        </p:nvPicPr>
        <p:blipFill>
          <a:blip r:embed="rId8"/>
          <a:stretch>
            <a:fillRect/>
          </a:stretch>
        </p:blipFill>
        <p:spPr>
          <a:xfrm>
            <a:off x="8426501" y="4050792"/>
            <a:ext cx="182880" cy="182880"/>
          </a:xfrm>
          <a:prstGeom prst="rect">
            <a:avLst/>
          </a:prstGeom>
        </p:spPr>
      </p:pic>
      <p:sp>
        <p:nvSpPr>
          <p:cNvPr id="32" name="Text 24"/>
          <p:cNvSpPr/>
          <p:nvPr/>
        </p:nvSpPr>
        <p:spPr>
          <a:xfrm>
            <a:off x="8828837" y="3977640"/>
            <a:ext cx="2558186" cy="354604"/>
          </a:xfrm>
          <a:prstGeom prst="rect">
            <a:avLst/>
          </a:prstGeom>
          <a:noFill/>
          <a:ln/>
        </p:spPr>
        <p:txBody>
          <a:bodyPr wrap="square" lIns="0" tIns="0" rIns="0" bIns="0" rtlCol="0" anchor="t"/>
          <a:lstStyle/>
          <a:p>
            <a:pPr marL="0" indent="0">
              <a:lnSpc>
                <a:spcPct val="105000"/>
              </a:lnSpc>
              <a:buNone/>
            </a:pPr>
            <a:r>
              <a:rPr lang="en-US" sz="1550" b="1" dirty="0">
                <a:solidFill>
                  <a:srgbClr val="141235"/>
                </a:solidFill>
                <a:latin typeface="Calibri" pitchFamily="34" charset="0"/>
                <a:ea typeface="Calibri" pitchFamily="34" charset="-122"/>
                <a:cs typeface="Calibri" pitchFamily="34" charset="-120"/>
              </a:rPr>
              <a:t>A stop condition</a:t>
            </a:r>
            <a:endParaRPr lang="en-US" sz="1550" dirty="0"/>
          </a:p>
        </p:txBody>
      </p:sp>
      <p:sp>
        <p:nvSpPr>
          <p:cNvPr id="33" name="Text 25"/>
          <p:cNvSpPr/>
          <p:nvPr/>
        </p:nvSpPr>
        <p:spPr>
          <a:xfrm>
            <a:off x="8828837" y="4341388"/>
            <a:ext cx="2558186" cy="232166"/>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Or it runs until you pay for it</a:t>
            </a:r>
            <a:endParaRPr lang="en-US" sz="1150" dirty="0"/>
          </a:p>
        </p:txBody>
      </p:sp>
      <p:sp>
        <p:nvSpPr>
          <p:cNvPr id="34" name="Shape 26"/>
          <p:cNvSpPr/>
          <p:nvPr/>
        </p:nvSpPr>
        <p:spPr>
          <a:xfrm>
            <a:off x="566928" y="5541264"/>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35" name="Shape 27"/>
          <p:cNvSpPr/>
          <p:nvPr/>
        </p:nvSpPr>
        <p:spPr>
          <a:xfrm>
            <a:off x="841248" y="5760720"/>
            <a:ext cx="384048" cy="384048"/>
          </a:xfrm>
          <a:prstGeom prst="ellipse">
            <a:avLst/>
          </a:prstGeom>
          <a:solidFill>
            <a:srgbClr val="F5A524"/>
          </a:solidFill>
          <a:ln w="12700">
            <a:solidFill>
              <a:srgbClr val="F5A524"/>
            </a:solidFill>
            <a:prstDash val="solid"/>
          </a:ln>
        </p:spPr>
        <p:txBody>
          <a:bodyPr/>
          <a:lstStyle/>
          <a:p>
            <a:endParaRPr lang="en-US"/>
          </a:p>
        </p:txBody>
      </p:sp>
      <p:pic>
        <p:nvPicPr>
          <p:cNvPr id="36" name="Image 6" descr="preencoded.png"/>
          <p:cNvPicPr>
            <a:picLocks noChangeAspect="1"/>
          </p:cNvPicPr>
          <p:nvPr/>
        </p:nvPicPr>
        <p:blipFill>
          <a:blip r:embed="rId9"/>
          <a:stretch>
            <a:fillRect/>
          </a:stretch>
        </p:blipFill>
        <p:spPr>
          <a:xfrm>
            <a:off x="937260" y="5856732"/>
            <a:ext cx="192024" cy="192024"/>
          </a:xfrm>
          <a:prstGeom prst="rect">
            <a:avLst/>
          </a:prstGeom>
        </p:spPr>
      </p:pic>
      <p:sp>
        <p:nvSpPr>
          <p:cNvPr id="37" name="Text 28"/>
          <p:cNvSpPr/>
          <p:nvPr/>
        </p:nvSpPr>
        <p:spPr>
          <a:xfrm>
            <a:off x="1371600" y="5596128"/>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Five of the six are ordinary software that a normal engineering team already knows how to build, test and review.</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01 · WHAT AN AGENT IS</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3000" b="1" dirty="0">
                <a:solidFill>
                  <a:srgbClr val="141235"/>
                </a:solidFill>
                <a:latin typeface="Cambria" pitchFamily="34" charset="0"/>
                <a:ea typeface="Cambria" pitchFamily="34" charset="-122"/>
                <a:cs typeface="Cambria" pitchFamily="34" charset="-120"/>
              </a:rPr>
              <a:t>Shape is what it is. Autonomy is how much rope.</a:t>
            </a:r>
            <a:endParaRPr lang="en-US" sz="3000" dirty="0"/>
          </a:p>
        </p:txBody>
      </p:sp>
      <p:sp>
        <p:nvSpPr>
          <p:cNvPr id="4" name="Text 2"/>
          <p:cNvSpPr/>
          <p:nvPr/>
        </p:nvSpPr>
        <p:spPr>
          <a:xfrm>
            <a:off x="566928" y="1371600"/>
            <a:ext cx="11057839" cy="310896"/>
          </a:xfrm>
          <a:prstGeom prst="rect">
            <a:avLst/>
          </a:prstGeom>
          <a:noFill/>
          <a:ln/>
        </p:spPr>
        <p:txBody>
          <a:bodyPr wrap="square" lIns="0" tIns="0" rIns="0" bIns="0" rtlCol="0" anchor="t"/>
          <a:lstStyle/>
          <a:p>
            <a:pPr marL="0" indent="0">
              <a:buNone/>
            </a:pPr>
            <a:r>
              <a:rPr lang="en-US" sz="1400" dirty="0">
                <a:solidFill>
                  <a:srgbClr val="3B3760"/>
                </a:solidFill>
                <a:latin typeface="Calibri" pitchFamily="34" charset="0"/>
                <a:ea typeface="Calibri" pitchFamily="34" charset="-122"/>
                <a:cs typeface="Calibri" pitchFamily="34" charset="-120"/>
              </a:rPr>
              <a:t>Two independent questions. A chatbot can be dangerous and an agent can be harmless — it depends entirely on this second axis.</a:t>
            </a:r>
            <a:endParaRPr lang="en-US" sz="1400" dirty="0"/>
          </a:p>
        </p:txBody>
      </p:sp>
      <p:sp>
        <p:nvSpPr>
          <p:cNvPr id="5" name="Shape 3"/>
          <p:cNvSpPr/>
          <p:nvPr/>
        </p:nvSpPr>
        <p:spPr>
          <a:xfrm>
            <a:off x="566928" y="1956816"/>
            <a:ext cx="2599868" cy="201168"/>
          </a:xfrm>
          <a:prstGeom prst="roundRect">
            <a:avLst>
              <a:gd name="adj" fmla="val 50000"/>
            </a:avLst>
          </a:prstGeom>
          <a:solidFill>
            <a:srgbClr val="C7C2F7"/>
          </a:solidFill>
          <a:ln w="12700">
            <a:solidFill>
              <a:srgbClr val="C7C2F7"/>
            </a:solidFill>
            <a:prstDash val="solid"/>
          </a:ln>
        </p:spPr>
        <p:txBody>
          <a:bodyPr/>
          <a:lstStyle/>
          <a:p>
            <a:endParaRPr lang="en-US"/>
          </a:p>
        </p:txBody>
      </p:sp>
      <p:sp>
        <p:nvSpPr>
          <p:cNvPr id="6" name="Shape 4"/>
          <p:cNvSpPr/>
          <p:nvPr/>
        </p:nvSpPr>
        <p:spPr>
          <a:xfrm>
            <a:off x="566928" y="2249424"/>
            <a:ext cx="2599868" cy="2560320"/>
          </a:xfrm>
          <a:prstGeom prst="roundRect">
            <a:avLst>
              <a:gd name="adj" fmla="val 3571"/>
            </a:avLst>
          </a:prstGeom>
          <a:solidFill>
            <a:srgbClr val="FFFFFF"/>
          </a:solidFill>
          <a:ln w="12700">
            <a:solidFill>
              <a:srgbClr val="E3E4F2"/>
            </a:solidFill>
            <a:prstDash val="solid"/>
          </a:ln>
          <a:effectLst>
            <a:outerShdw blurRad="101600" dist="508" dir="5400000" algn="bl" rotWithShape="0">
              <a:srgbClr val="1B1A4A">
                <a:alpha val="7000"/>
              </a:srgbClr>
            </a:outerShdw>
          </a:effectLst>
        </p:spPr>
        <p:txBody>
          <a:bodyPr/>
          <a:lstStyle/>
          <a:p>
            <a:endParaRPr lang="en-US"/>
          </a:p>
        </p:txBody>
      </p:sp>
      <p:sp>
        <p:nvSpPr>
          <p:cNvPr id="7" name="Shape 5"/>
          <p:cNvSpPr/>
          <p:nvPr/>
        </p:nvSpPr>
        <p:spPr>
          <a:xfrm>
            <a:off x="804672" y="2450592"/>
            <a:ext cx="384048" cy="384048"/>
          </a:xfrm>
          <a:prstGeom prst="ellipse">
            <a:avLst/>
          </a:prstGeom>
          <a:solidFill>
            <a:srgbClr val="C7C2F7"/>
          </a:solidFill>
          <a:ln w="12700">
            <a:solidFill>
              <a:srgbClr val="C7C2F7"/>
            </a:solidFill>
            <a:prstDash val="solid"/>
          </a:ln>
        </p:spPr>
        <p:txBody>
          <a:bodyPr/>
          <a:lstStyle/>
          <a:p>
            <a:endParaRPr lang="en-US"/>
          </a:p>
        </p:txBody>
      </p:sp>
      <p:pic>
        <p:nvPicPr>
          <p:cNvPr id="8" name="Image 0" descr="preencoded.png"/>
          <p:cNvPicPr>
            <a:picLocks noChangeAspect="1"/>
          </p:cNvPicPr>
          <p:nvPr/>
        </p:nvPicPr>
        <p:blipFill>
          <a:blip r:embed="rId3"/>
          <a:stretch>
            <a:fillRect/>
          </a:stretch>
        </p:blipFill>
        <p:spPr>
          <a:xfrm>
            <a:off x="900684" y="2546604"/>
            <a:ext cx="192024" cy="192024"/>
          </a:xfrm>
          <a:prstGeom prst="rect">
            <a:avLst/>
          </a:prstGeom>
        </p:spPr>
      </p:pic>
      <p:sp>
        <p:nvSpPr>
          <p:cNvPr id="9" name="Text 6"/>
          <p:cNvSpPr/>
          <p:nvPr/>
        </p:nvSpPr>
        <p:spPr>
          <a:xfrm>
            <a:off x="804672" y="2962656"/>
            <a:ext cx="2124380" cy="292608"/>
          </a:xfrm>
          <a:prstGeom prst="rect">
            <a:avLst/>
          </a:prstGeom>
          <a:noFill/>
          <a:ln/>
        </p:spPr>
        <p:txBody>
          <a:bodyPr wrap="square" lIns="0" tIns="0" rIns="0" bIns="0" rtlCol="0" anchor="ctr"/>
          <a:lstStyle/>
          <a:p>
            <a:pPr marL="0" indent="0">
              <a:buNone/>
            </a:pPr>
            <a:r>
              <a:rPr lang="en-US" sz="1550" b="1" dirty="0">
                <a:solidFill>
                  <a:srgbClr val="141235"/>
                </a:solidFill>
                <a:latin typeface="Calibri" pitchFamily="34" charset="0"/>
                <a:ea typeface="Calibri" pitchFamily="34" charset="-122"/>
                <a:cs typeface="Calibri" pitchFamily="34" charset="-120"/>
              </a:rPr>
              <a:t>Suggest</a:t>
            </a:r>
            <a:endParaRPr lang="en-US" sz="1550" dirty="0"/>
          </a:p>
        </p:txBody>
      </p:sp>
      <p:sp>
        <p:nvSpPr>
          <p:cNvPr id="10" name="Text 7"/>
          <p:cNvSpPr/>
          <p:nvPr/>
        </p:nvSpPr>
        <p:spPr>
          <a:xfrm>
            <a:off x="804672" y="3310128"/>
            <a:ext cx="2124380" cy="786384"/>
          </a:xfrm>
          <a:prstGeom prst="rect">
            <a:avLst/>
          </a:prstGeom>
          <a:noFill/>
          <a:ln/>
        </p:spPr>
        <p:txBody>
          <a:bodyPr wrap="square" lIns="0" tIns="0" rIns="0" bIns="0" rtlCol="0" anchor="t"/>
          <a:lstStyle/>
          <a:p>
            <a:pPr marL="0" indent="0">
              <a:lnSpc>
                <a:spcPct val="112000"/>
              </a:lnSpc>
              <a:buNone/>
            </a:pPr>
            <a:r>
              <a:rPr lang="en-US" sz="1150" dirty="0">
                <a:solidFill>
                  <a:srgbClr val="6E6B8A"/>
                </a:solidFill>
                <a:latin typeface="Calibri" pitchFamily="34" charset="0"/>
                <a:ea typeface="Calibri" pitchFamily="34" charset="-122"/>
                <a:cs typeface="Calibri" pitchFamily="34" charset="-120"/>
              </a:rPr>
              <a:t>It recommends. A person does the thing.</a:t>
            </a:r>
            <a:endParaRPr lang="en-US" sz="1150" dirty="0"/>
          </a:p>
        </p:txBody>
      </p:sp>
      <p:sp>
        <p:nvSpPr>
          <p:cNvPr id="11" name="Text 8"/>
          <p:cNvSpPr/>
          <p:nvPr/>
        </p:nvSpPr>
        <p:spPr>
          <a:xfrm>
            <a:off x="804672" y="4206240"/>
            <a:ext cx="2124380" cy="457200"/>
          </a:xfrm>
          <a:prstGeom prst="rect">
            <a:avLst/>
          </a:prstGeom>
          <a:noFill/>
          <a:ln/>
        </p:spPr>
        <p:txBody>
          <a:bodyPr wrap="square" lIns="0" tIns="0" rIns="0" bIns="0" rtlCol="0" anchor="t"/>
          <a:lstStyle/>
          <a:p>
            <a:pPr marL="0" indent="0">
              <a:buNone/>
            </a:pPr>
            <a:r>
              <a:rPr lang="en-US" sz="1050" i="1" dirty="0">
                <a:solidFill>
                  <a:srgbClr val="E08700"/>
                </a:solidFill>
                <a:latin typeface="Calibri" pitchFamily="34" charset="0"/>
                <a:ea typeface="Calibri" pitchFamily="34" charset="-122"/>
                <a:cs typeface="Calibri" pitchFamily="34" charset="-120"/>
              </a:rPr>
              <a:t>A chatbot. A search result.</a:t>
            </a:r>
            <a:endParaRPr lang="en-US" sz="1050" dirty="0"/>
          </a:p>
        </p:txBody>
      </p:sp>
      <p:sp>
        <p:nvSpPr>
          <p:cNvPr id="12" name="Shape 9"/>
          <p:cNvSpPr/>
          <p:nvPr/>
        </p:nvSpPr>
        <p:spPr>
          <a:xfrm>
            <a:off x="3386252" y="1956816"/>
            <a:ext cx="2599868" cy="201168"/>
          </a:xfrm>
          <a:prstGeom prst="roundRect">
            <a:avLst>
              <a:gd name="adj" fmla="val 50000"/>
            </a:avLst>
          </a:prstGeom>
          <a:solidFill>
            <a:srgbClr val="9E94F0"/>
          </a:solidFill>
          <a:ln w="12700">
            <a:solidFill>
              <a:srgbClr val="9E94F0"/>
            </a:solidFill>
            <a:prstDash val="solid"/>
          </a:ln>
        </p:spPr>
        <p:txBody>
          <a:bodyPr/>
          <a:lstStyle/>
          <a:p>
            <a:endParaRPr lang="en-US"/>
          </a:p>
        </p:txBody>
      </p:sp>
      <p:sp>
        <p:nvSpPr>
          <p:cNvPr id="13" name="Shape 10"/>
          <p:cNvSpPr/>
          <p:nvPr/>
        </p:nvSpPr>
        <p:spPr>
          <a:xfrm>
            <a:off x="3386252" y="2249424"/>
            <a:ext cx="2599868" cy="2560320"/>
          </a:xfrm>
          <a:prstGeom prst="roundRect">
            <a:avLst>
              <a:gd name="adj" fmla="val 3571"/>
            </a:avLst>
          </a:prstGeom>
          <a:solidFill>
            <a:srgbClr val="FFFFFF"/>
          </a:solidFill>
          <a:ln w="12700">
            <a:solidFill>
              <a:srgbClr val="E3E4F2"/>
            </a:solidFill>
            <a:prstDash val="solid"/>
          </a:ln>
          <a:effectLst>
            <a:outerShdw blurRad="101600" dist="508" dir="5400000" algn="bl" rotWithShape="0">
              <a:srgbClr val="1B1A4A">
                <a:alpha val="7000"/>
              </a:srgbClr>
            </a:outerShdw>
          </a:effectLst>
        </p:spPr>
        <p:txBody>
          <a:bodyPr/>
          <a:lstStyle/>
          <a:p>
            <a:endParaRPr lang="en-US"/>
          </a:p>
        </p:txBody>
      </p:sp>
      <p:sp>
        <p:nvSpPr>
          <p:cNvPr id="14" name="Shape 11"/>
          <p:cNvSpPr/>
          <p:nvPr/>
        </p:nvSpPr>
        <p:spPr>
          <a:xfrm>
            <a:off x="3623996" y="2450592"/>
            <a:ext cx="384048" cy="384048"/>
          </a:xfrm>
          <a:prstGeom prst="ellipse">
            <a:avLst/>
          </a:prstGeom>
          <a:solidFill>
            <a:srgbClr val="9E94F0"/>
          </a:solidFill>
          <a:ln w="12700">
            <a:solidFill>
              <a:srgbClr val="9E94F0"/>
            </a:solidFill>
            <a:prstDash val="solid"/>
          </a:ln>
        </p:spPr>
        <p:txBody>
          <a:bodyPr/>
          <a:lstStyle/>
          <a:p>
            <a:endParaRPr lang="en-US"/>
          </a:p>
        </p:txBody>
      </p:sp>
      <p:pic>
        <p:nvPicPr>
          <p:cNvPr id="15" name="Image 1" descr="preencoded.png"/>
          <p:cNvPicPr>
            <a:picLocks noChangeAspect="1"/>
          </p:cNvPicPr>
          <p:nvPr/>
        </p:nvPicPr>
        <p:blipFill>
          <a:blip r:embed="rId4"/>
          <a:stretch>
            <a:fillRect/>
          </a:stretch>
        </p:blipFill>
        <p:spPr>
          <a:xfrm>
            <a:off x="3720008" y="2546604"/>
            <a:ext cx="192024" cy="192024"/>
          </a:xfrm>
          <a:prstGeom prst="rect">
            <a:avLst/>
          </a:prstGeom>
        </p:spPr>
      </p:pic>
      <p:sp>
        <p:nvSpPr>
          <p:cNvPr id="16" name="Text 12"/>
          <p:cNvSpPr/>
          <p:nvPr/>
        </p:nvSpPr>
        <p:spPr>
          <a:xfrm>
            <a:off x="3623996" y="2962656"/>
            <a:ext cx="2124380" cy="292608"/>
          </a:xfrm>
          <a:prstGeom prst="rect">
            <a:avLst/>
          </a:prstGeom>
          <a:noFill/>
          <a:ln/>
        </p:spPr>
        <p:txBody>
          <a:bodyPr wrap="square" lIns="0" tIns="0" rIns="0" bIns="0" rtlCol="0" anchor="ctr"/>
          <a:lstStyle/>
          <a:p>
            <a:pPr marL="0" indent="0">
              <a:buNone/>
            </a:pPr>
            <a:r>
              <a:rPr lang="en-US" sz="1550" b="1" dirty="0">
                <a:solidFill>
                  <a:srgbClr val="141235"/>
                </a:solidFill>
                <a:latin typeface="Calibri" pitchFamily="34" charset="0"/>
                <a:ea typeface="Calibri" pitchFamily="34" charset="-122"/>
                <a:cs typeface="Calibri" pitchFamily="34" charset="-120"/>
              </a:rPr>
              <a:t>Draft</a:t>
            </a:r>
            <a:endParaRPr lang="en-US" sz="1550" dirty="0"/>
          </a:p>
        </p:txBody>
      </p:sp>
      <p:sp>
        <p:nvSpPr>
          <p:cNvPr id="17" name="Text 13"/>
          <p:cNvSpPr/>
          <p:nvPr/>
        </p:nvSpPr>
        <p:spPr>
          <a:xfrm>
            <a:off x="3623996" y="3310128"/>
            <a:ext cx="2124380" cy="786384"/>
          </a:xfrm>
          <a:prstGeom prst="rect">
            <a:avLst/>
          </a:prstGeom>
          <a:noFill/>
          <a:ln/>
        </p:spPr>
        <p:txBody>
          <a:bodyPr wrap="square" lIns="0" tIns="0" rIns="0" bIns="0" rtlCol="0" anchor="t"/>
          <a:lstStyle/>
          <a:p>
            <a:pPr marL="0" indent="0">
              <a:lnSpc>
                <a:spcPct val="112000"/>
              </a:lnSpc>
              <a:buNone/>
            </a:pPr>
            <a:r>
              <a:rPr lang="en-US" sz="1150" dirty="0">
                <a:solidFill>
                  <a:srgbClr val="6E6B8A"/>
                </a:solidFill>
                <a:latin typeface="Calibri" pitchFamily="34" charset="0"/>
                <a:ea typeface="Calibri" pitchFamily="34" charset="-122"/>
                <a:cs typeface="Calibri" pitchFamily="34" charset="-120"/>
              </a:rPr>
              <a:t>It writes the action and waits.</a:t>
            </a:r>
            <a:endParaRPr lang="en-US" sz="1150" dirty="0"/>
          </a:p>
        </p:txBody>
      </p:sp>
      <p:sp>
        <p:nvSpPr>
          <p:cNvPr id="18" name="Text 14"/>
          <p:cNvSpPr/>
          <p:nvPr/>
        </p:nvSpPr>
        <p:spPr>
          <a:xfrm>
            <a:off x="3623996" y="4206240"/>
            <a:ext cx="2124380" cy="457200"/>
          </a:xfrm>
          <a:prstGeom prst="rect">
            <a:avLst/>
          </a:prstGeom>
          <a:noFill/>
          <a:ln/>
        </p:spPr>
        <p:txBody>
          <a:bodyPr wrap="square" lIns="0" tIns="0" rIns="0" bIns="0" rtlCol="0" anchor="t"/>
          <a:lstStyle/>
          <a:p>
            <a:pPr marL="0" indent="0">
              <a:buNone/>
            </a:pPr>
            <a:r>
              <a:rPr lang="en-US" sz="1050" i="1" dirty="0">
                <a:solidFill>
                  <a:srgbClr val="E08700"/>
                </a:solidFill>
                <a:latin typeface="Calibri" pitchFamily="34" charset="0"/>
                <a:ea typeface="Calibri" pitchFamily="34" charset="-122"/>
                <a:cs typeface="Calibri" pitchFamily="34" charset="-120"/>
              </a:rPr>
              <a:t>A reply queued for approval.</a:t>
            </a:r>
            <a:endParaRPr lang="en-US" sz="1050" dirty="0"/>
          </a:p>
        </p:txBody>
      </p:sp>
      <p:sp>
        <p:nvSpPr>
          <p:cNvPr id="19" name="Shape 15"/>
          <p:cNvSpPr/>
          <p:nvPr/>
        </p:nvSpPr>
        <p:spPr>
          <a:xfrm>
            <a:off x="6205576" y="1956816"/>
            <a:ext cx="2599868" cy="201168"/>
          </a:xfrm>
          <a:prstGeom prst="roundRect">
            <a:avLst>
              <a:gd name="adj" fmla="val 50000"/>
            </a:avLst>
          </a:prstGeom>
          <a:solidFill>
            <a:srgbClr val="6E5FE8"/>
          </a:solidFill>
          <a:ln w="12700">
            <a:solidFill>
              <a:srgbClr val="6E5FE8"/>
            </a:solidFill>
            <a:prstDash val="solid"/>
          </a:ln>
        </p:spPr>
        <p:txBody>
          <a:bodyPr/>
          <a:lstStyle/>
          <a:p>
            <a:endParaRPr lang="en-US"/>
          </a:p>
        </p:txBody>
      </p:sp>
      <p:sp>
        <p:nvSpPr>
          <p:cNvPr id="20" name="Shape 16"/>
          <p:cNvSpPr/>
          <p:nvPr/>
        </p:nvSpPr>
        <p:spPr>
          <a:xfrm>
            <a:off x="6205576" y="2249424"/>
            <a:ext cx="2599868" cy="2560320"/>
          </a:xfrm>
          <a:prstGeom prst="roundRect">
            <a:avLst>
              <a:gd name="adj" fmla="val 3571"/>
            </a:avLst>
          </a:prstGeom>
          <a:solidFill>
            <a:srgbClr val="FFFFFF"/>
          </a:solidFill>
          <a:ln w="12700">
            <a:solidFill>
              <a:srgbClr val="E3E4F2"/>
            </a:solidFill>
            <a:prstDash val="solid"/>
          </a:ln>
          <a:effectLst>
            <a:outerShdw blurRad="101600" dist="508" dir="5400000" algn="bl" rotWithShape="0">
              <a:srgbClr val="1B1A4A">
                <a:alpha val="7000"/>
              </a:srgbClr>
            </a:outerShdw>
          </a:effectLst>
        </p:spPr>
        <p:txBody>
          <a:bodyPr/>
          <a:lstStyle/>
          <a:p>
            <a:endParaRPr lang="en-US"/>
          </a:p>
        </p:txBody>
      </p:sp>
      <p:sp>
        <p:nvSpPr>
          <p:cNvPr id="21" name="Shape 17"/>
          <p:cNvSpPr/>
          <p:nvPr/>
        </p:nvSpPr>
        <p:spPr>
          <a:xfrm>
            <a:off x="6443320" y="2450592"/>
            <a:ext cx="384048" cy="384048"/>
          </a:xfrm>
          <a:prstGeom prst="ellipse">
            <a:avLst/>
          </a:prstGeom>
          <a:solidFill>
            <a:srgbClr val="6E5FE8"/>
          </a:solidFill>
          <a:ln w="12700">
            <a:solidFill>
              <a:srgbClr val="6E5FE8"/>
            </a:solidFill>
            <a:prstDash val="solid"/>
          </a:ln>
        </p:spPr>
        <p:txBody>
          <a:bodyPr/>
          <a:lstStyle/>
          <a:p>
            <a:endParaRPr lang="en-US"/>
          </a:p>
        </p:txBody>
      </p:sp>
      <p:pic>
        <p:nvPicPr>
          <p:cNvPr id="22" name="Image 2" descr="preencoded.png"/>
          <p:cNvPicPr>
            <a:picLocks noChangeAspect="1"/>
          </p:cNvPicPr>
          <p:nvPr/>
        </p:nvPicPr>
        <p:blipFill>
          <a:blip r:embed="rId5"/>
          <a:stretch>
            <a:fillRect/>
          </a:stretch>
        </p:blipFill>
        <p:spPr>
          <a:xfrm>
            <a:off x="6539332" y="2546604"/>
            <a:ext cx="192024" cy="192024"/>
          </a:xfrm>
          <a:prstGeom prst="rect">
            <a:avLst/>
          </a:prstGeom>
        </p:spPr>
      </p:pic>
      <p:sp>
        <p:nvSpPr>
          <p:cNvPr id="23" name="Text 18"/>
          <p:cNvSpPr/>
          <p:nvPr/>
        </p:nvSpPr>
        <p:spPr>
          <a:xfrm>
            <a:off x="6443320" y="2962656"/>
            <a:ext cx="2124380" cy="292608"/>
          </a:xfrm>
          <a:prstGeom prst="rect">
            <a:avLst/>
          </a:prstGeom>
          <a:noFill/>
          <a:ln/>
        </p:spPr>
        <p:txBody>
          <a:bodyPr wrap="square" lIns="0" tIns="0" rIns="0" bIns="0" rtlCol="0" anchor="ctr"/>
          <a:lstStyle/>
          <a:p>
            <a:pPr marL="0" indent="0">
              <a:buNone/>
            </a:pPr>
            <a:r>
              <a:rPr lang="en-US" sz="1550" b="1" dirty="0">
                <a:solidFill>
                  <a:srgbClr val="141235"/>
                </a:solidFill>
                <a:latin typeface="Calibri" pitchFamily="34" charset="0"/>
                <a:ea typeface="Calibri" pitchFamily="34" charset="-122"/>
                <a:cs typeface="Calibri" pitchFamily="34" charset="-120"/>
              </a:rPr>
              <a:t>Act with audit</a:t>
            </a:r>
            <a:endParaRPr lang="en-US" sz="1550" dirty="0"/>
          </a:p>
        </p:txBody>
      </p:sp>
      <p:sp>
        <p:nvSpPr>
          <p:cNvPr id="24" name="Text 19"/>
          <p:cNvSpPr/>
          <p:nvPr/>
        </p:nvSpPr>
        <p:spPr>
          <a:xfrm>
            <a:off x="6443320" y="3310128"/>
            <a:ext cx="2124380" cy="786384"/>
          </a:xfrm>
          <a:prstGeom prst="rect">
            <a:avLst/>
          </a:prstGeom>
          <a:noFill/>
          <a:ln/>
        </p:spPr>
        <p:txBody>
          <a:bodyPr wrap="square" lIns="0" tIns="0" rIns="0" bIns="0" rtlCol="0" anchor="t"/>
          <a:lstStyle/>
          <a:p>
            <a:pPr marL="0" indent="0">
              <a:lnSpc>
                <a:spcPct val="112000"/>
              </a:lnSpc>
              <a:buNone/>
            </a:pPr>
            <a:r>
              <a:rPr lang="en-US" sz="1150" dirty="0">
                <a:solidFill>
                  <a:srgbClr val="6E6B8A"/>
                </a:solidFill>
                <a:latin typeface="Calibri" pitchFamily="34" charset="0"/>
                <a:ea typeface="Calibri" pitchFamily="34" charset="-122"/>
                <a:cs typeface="Calibri" pitchFamily="34" charset="-120"/>
              </a:rPr>
              <a:t>It acts. Every step is logged and reversible.</a:t>
            </a:r>
            <a:endParaRPr lang="en-US" sz="1150" dirty="0"/>
          </a:p>
        </p:txBody>
      </p:sp>
      <p:sp>
        <p:nvSpPr>
          <p:cNvPr id="25" name="Text 20"/>
          <p:cNvSpPr/>
          <p:nvPr/>
        </p:nvSpPr>
        <p:spPr>
          <a:xfrm>
            <a:off x="6443320" y="4206240"/>
            <a:ext cx="2124380" cy="457200"/>
          </a:xfrm>
          <a:prstGeom prst="rect">
            <a:avLst/>
          </a:prstGeom>
          <a:noFill/>
          <a:ln/>
        </p:spPr>
        <p:txBody>
          <a:bodyPr wrap="square" lIns="0" tIns="0" rIns="0" bIns="0" rtlCol="0" anchor="t"/>
          <a:lstStyle/>
          <a:p>
            <a:pPr marL="0" indent="0">
              <a:buNone/>
            </a:pPr>
            <a:r>
              <a:rPr lang="en-US" sz="1050" i="1" dirty="0">
                <a:solidFill>
                  <a:srgbClr val="E08700"/>
                </a:solidFill>
                <a:latin typeface="Calibri" pitchFamily="34" charset="0"/>
                <a:ea typeface="Calibri" pitchFamily="34" charset="-122"/>
                <a:cs typeface="Calibri" pitchFamily="34" charset="-120"/>
              </a:rPr>
              <a:t>A nightly export you can re-run.</a:t>
            </a:r>
            <a:endParaRPr lang="en-US" sz="1050" dirty="0"/>
          </a:p>
        </p:txBody>
      </p:sp>
      <p:sp>
        <p:nvSpPr>
          <p:cNvPr id="26" name="Shape 21"/>
          <p:cNvSpPr/>
          <p:nvPr/>
        </p:nvSpPr>
        <p:spPr>
          <a:xfrm>
            <a:off x="9024899" y="1956816"/>
            <a:ext cx="2599868" cy="201168"/>
          </a:xfrm>
          <a:prstGeom prst="roundRect">
            <a:avLst>
              <a:gd name="adj" fmla="val 50000"/>
            </a:avLst>
          </a:prstGeom>
          <a:solidFill>
            <a:srgbClr val="3B2EB8"/>
          </a:solidFill>
          <a:ln w="12700">
            <a:solidFill>
              <a:srgbClr val="3B2EB8"/>
            </a:solidFill>
            <a:prstDash val="solid"/>
          </a:ln>
        </p:spPr>
        <p:txBody>
          <a:bodyPr/>
          <a:lstStyle/>
          <a:p>
            <a:endParaRPr lang="en-US"/>
          </a:p>
        </p:txBody>
      </p:sp>
      <p:sp>
        <p:nvSpPr>
          <p:cNvPr id="27" name="Shape 22"/>
          <p:cNvSpPr/>
          <p:nvPr/>
        </p:nvSpPr>
        <p:spPr>
          <a:xfrm>
            <a:off x="9024899" y="2249424"/>
            <a:ext cx="2599868" cy="2560320"/>
          </a:xfrm>
          <a:prstGeom prst="roundRect">
            <a:avLst>
              <a:gd name="adj" fmla="val 3571"/>
            </a:avLst>
          </a:prstGeom>
          <a:solidFill>
            <a:srgbClr val="FFFFFF"/>
          </a:solidFill>
          <a:ln w="12700">
            <a:solidFill>
              <a:srgbClr val="E3E4F2"/>
            </a:solidFill>
            <a:prstDash val="solid"/>
          </a:ln>
          <a:effectLst>
            <a:outerShdw blurRad="101600" dist="508" dir="5400000" algn="bl" rotWithShape="0">
              <a:srgbClr val="1B1A4A">
                <a:alpha val="7000"/>
              </a:srgbClr>
            </a:outerShdw>
          </a:effectLst>
        </p:spPr>
        <p:txBody>
          <a:bodyPr/>
          <a:lstStyle/>
          <a:p>
            <a:endParaRPr lang="en-US"/>
          </a:p>
        </p:txBody>
      </p:sp>
      <p:sp>
        <p:nvSpPr>
          <p:cNvPr id="28" name="Shape 23"/>
          <p:cNvSpPr/>
          <p:nvPr/>
        </p:nvSpPr>
        <p:spPr>
          <a:xfrm>
            <a:off x="9262643" y="2450592"/>
            <a:ext cx="384048" cy="384048"/>
          </a:xfrm>
          <a:prstGeom prst="ellipse">
            <a:avLst/>
          </a:prstGeom>
          <a:solidFill>
            <a:srgbClr val="3B2EB8"/>
          </a:solidFill>
          <a:ln w="12700">
            <a:solidFill>
              <a:srgbClr val="3B2EB8"/>
            </a:solidFill>
            <a:prstDash val="solid"/>
          </a:ln>
        </p:spPr>
        <p:txBody>
          <a:bodyPr/>
          <a:lstStyle/>
          <a:p>
            <a:endParaRPr lang="en-US"/>
          </a:p>
        </p:txBody>
      </p:sp>
      <p:pic>
        <p:nvPicPr>
          <p:cNvPr id="29" name="Image 3" descr="preencoded.png"/>
          <p:cNvPicPr>
            <a:picLocks noChangeAspect="1"/>
          </p:cNvPicPr>
          <p:nvPr/>
        </p:nvPicPr>
        <p:blipFill>
          <a:blip r:embed="rId6"/>
          <a:stretch>
            <a:fillRect/>
          </a:stretch>
        </p:blipFill>
        <p:spPr>
          <a:xfrm>
            <a:off x="9358655" y="2546604"/>
            <a:ext cx="192024" cy="192024"/>
          </a:xfrm>
          <a:prstGeom prst="rect">
            <a:avLst/>
          </a:prstGeom>
        </p:spPr>
      </p:pic>
      <p:sp>
        <p:nvSpPr>
          <p:cNvPr id="30" name="Text 24"/>
          <p:cNvSpPr/>
          <p:nvPr/>
        </p:nvSpPr>
        <p:spPr>
          <a:xfrm>
            <a:off x="9262643" y="2962656"/>
            <a:ext cx="2124380" cy="292608"/>
          </a:xfrm>
          <a:prstGeom prst="rect">
            <a:avLst/>
          </a:prstGeom>
          <a:noFill/>
          <a:ln/>
        </p:spPr>
        <p:txBody>
          <a:bodyPr wrap="square" lIns="0" tIns="0" rIns="0" bIns="0" rtlCol="0" anchor="ctr"/>
          <a:lstStyle/>
          <a:p>
            <a:pPr marL="0" indent="0">
              <a:buNone/>
            </a:pPr>
            <a:r>
              <a:rPr lang="en-US" sz="1550" b="1" dirty="0">
                <a:solidFill>
                  <a:srgbClr val="141235"/>
                </a:solidFill>
                <a:latin typeface="Calibri" pitchFamily="34" charset="0"/>
                <a:ea typeface="Calibri" pitchFamily="34" charset="-122"/>
                <a:cs typeface="Calibri" pitchFamily="34" charset="-120"/>
              </a:rPr>
              <a:t>Act</a:t>
            </a:r>
            <a:endParaRPr lang="en-US" sz="1550" dirty="0"/>
          </a:p>
        </p:txBody>
      </p:sp>
      <p:sp>
        <p:nvSpPr>
          <p:cNvPr id="31" name="Text 25"/>
          <p:cNvSpPr/>
          <p:nvPr/>
        </p:nvSpPr>
        <p:spPr>
          <a:xfrm>
            <a:off x="9262643" y="3310128"/>
            <a:ext cx="2124380" cy="786384"/>
          </a:xfrm>
          <a:prstGeom prst="rect">
            <a:avLst/>
          </a:prstGeom>
          <a:noFill/>
          <a:ln/>
        </p:spPr>
        <p:txBody>
          <a:bodyPr wrap="square" lIns="0" tIns="0" rIns="0" bIns="0" rtlCol="0" anchor="t"/>
          <a:lstStyle/>
          <a:p>
            <a:pPr marL="0" indent="0">
              <a:lnSpc>
                <a:spcPct val="112000"/>
              </a:lnSpc>
              <a:buNone/>
            </a:pPr>
            <a:r>
              <a:rPr lang="en-US" sz="1150" dirty="0">
                <a:solidFill>
                  <a:srgbClr val="6E6B8A"/>
                </a:solidFill>
                <a:latin typeface="Calibri" pitchFamily="34" charset="0"/>
                <a:ea typeface="Calibri" pitchFamily="34" charset="-122"/>
                <a:cs typeface="Calibri" pitchFamily="34" charset="-120"/>
              </a:rPr>
              <a:t>It acts. No one is in the loop.</a:t>
            </a:r>
            <a:endParaRPr lang="en-US" sz="1150" dirty="0"/>
          </a:p>
        </p:txBody>
      </p:sp>
      <p:sp>
        <p:nvSpPr>
          <p:cNvPr id="32" name="Text 26"/>
          <p:cNvSpPr/>
          <p:nvPr/>
        </p:nvSpPr>
        <p:spPr>
          <a:xfrm>
            <a:off x="9262643" y="4206240"/>
            <a:ext cx="2124380" cy="457200"/>
          </a:xfrm>
          <a:prstGeom prst="rect">
            <a:avLst/>
          </a:prstGeom>
          <a:noFill/>
          <a:ln/>
        </p:spPr>
        <p:txBody>
          <a:bodyPr wrap="square" lIns="0" tIns="0" rIns="0" bIns="0" rtlCol="0" anchor="t"/>
          <a:lstStyle/>
          <a:p>
            <a:pPr marL="0" indent="0">
              <a:buNone/>
            </a:pPr>
            <a:r>
              <a:rPr lang="en-US" sz="1050" i="1" dirty="0">
                <a:solidFill>
                  <a:srgbClr val="E08700"/>
                </a:solidFill>
                <a:latin typeface="Calibri" pitchFamily="34" charset="0"/>
                <a:ea typeface="Calibri" pitchFamily="34" charset="-122"/>
                <a:cs typeface="Calibri" pitchFamily="34" charset="-120"/>
              </a:rPr>
              <a:t>Reserve for the lowest stakes.</a:t>
            </a:r>
            <a:endParaRPr lang="en-US" sz="1050" dirty="0"/>
          </a:p>
        </p:txBody>
      </p:sp>
      <p:sp>
        <p:nvSpPr>
          <p:cNvPr id="33" name="Text 27"/>
          <p:cNvSpPr/>
          <p:nvPr/>
        </p:nvSpPr>
        <p:spPr>
          <a:xfrm>
            <a:off x="566928" y="4956048"/>
            <a:ext cx="11057839" cy="365760"/>
          </a:xfrm>
          <a:prstGeom prst="rect">
            <a:avLst/>
          </a:prstGeom>
          <a:noFill/>
          <a:ln/>
        </p:spPr>
        <p:txBody>
          <a:bodyPr wrap="square" lIns="0" tIns="0" rIns="0" bIns="0" rtlCol="0" anchor="ctr"/>
          <a:lstStyle/>
          <a:p>
            <a:pPr marL="0" indent="0">
              <a:buNone/>
            </a:pPr>
            <a:r>
              <a:rPr lang="en-US" sz="1350" i="1" dirty="0">
                <a:solidFill>
                  <a:srgbClr val="3B3760"/>
                </a:solidFill>
                <a:latin typeface="Calibri" pitchFamily="34" charset="0"/>
                <a:ea typeface="Calibri" pitchFamily="34" charset="-122"/>
                <a:cs typeface="Calibri" pitchFamily="34" charset="-120"/>
              </a:rPr>
              <a:t>An agent that can move money, contact a customer, or change a record should rarely sit on the far right — whatever its shape.</a:t>
            </a:r>
            <a:endParaRPr lang="en-US" sz="1350" dirty="0"/>
          </a:p>
        </p:txBody>
      </p:sp>
      <p:sp>
        <p:nvSpPr>
          <p:cNvPr id="34" name="Shape 28"/>
          <p:cNvSpPr/>
          <p:nvPr/>
        </p:nvSpPr>
        <p:spPr>
          <a:xfrm>
            <a:off x="566928" y="5431536"/>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35" name="Shape 29"/>
          <p:cNvSpPr/>
          <p:nvPr/>
        </p:nvSpPr>
        <p:spPr>
          <a:xfrm>
            <a:off x="841248" y="5650992"/>
            <a:ext cx="384048" cy="384048"/>
          </a:xfrm>
          <a:prstGeom prst="ellipse">
            <a:avLst/>
          </a:prstGeom>
          <a:solidFill>
            <a:srgbClr val="F5A524"/>
          </a:solidFill>
          <a:ln w="12700">
            <a:solidFill>
              <a:srgbClr val="F5A524"/>
            </a:solidFill>
            <a:prstDash val="solid"/>
          </a:ln>
        </p:spPr>
        <p:txBody>
          <a:bodyPr/>
          <a:lstStyle/>
          <a:p>
            <a:endParaRPr lang="en-US"/>
          </a:p>
        </p:txBody>
      </p:sp>
      <p:pic>
        <p:nvPicPr>
          <p:cNvPr id="36" name="Image 4" descr="preencoded.png"/>
          <p:cNvPicPr>
            <a:picLocks noChangeAspect="1"/>
          </p:cNvPicPr>
          <p:nvPr/>
        </p:nvPicPr>
        <p:blipFill>
          <a:blip r:embed="rId7"/>
          <a:stretch>
            <a:fillRect/>
          </a:stretch>
        </p:blipFill>
        <p:spPr>
          <a:xfrm>
            <a:off x="937260" y="5747004"/>
            <a:ext cx="192024" cy="192024"/>
          </a:xfrm>
          <a:prstGeom prst="rect">
            <a:avLst/>
          </a:prstGeom>
        </p:spPr>
      </p:pic>
      <p:sp>
        <p:nvSpPr>
          <p:cNvPr id="37" name="Text 30"/>
          <p:cNvSpPr/>
          <p:nvPr/>
        </p:nvSpPr>
        <p:spPr>
          <a:xfrm>
            <a:off x="1371600" y="5486400"/>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Ask of any AI proposal: if it is wrong at 3am and nobody notices until Monday, what has it already done? That answer picks the tier.</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01 · WHAT AN AGENT IS</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3000" b="1" dirty="0">
                <a:solidFill>
                  <a:srgbClr val="141235"/>
                </a:solidFill>
                <a:latin typeface="Cambria" pitchFamily="34" charset="0"/>
                <a:ea typeface="Cambria" pitchFamily="34" charset="-122"/>
                <a:cs typeface="Cambria" pitchFamily="34" charset="-120"/>
              </a:rPr>
              <a:t>Three places an agent is the wrong default</a:t>
            </a:r>
            <a:endParaRPr lang="en-US" sz="3000" dirty="0"/>
          </a:p>
        </p:txBody>
      </p:sp>
      <p:sp>
        <p:nvSpPr>
          <p:cNvPr id="4" name="Shape 2"/>
          <p:cNvSpPr/>
          <p:nvPr/>
        </p:nvSpPr>
        <p:spPr>
          <a:xfrm>
            <a:off x="566928" y="2378720"/>
            <a:ext cx="3527450" cy="2521184"/>
          </a:xfrm>
          <a:prstGeom prst="roundRect">
            <a:avLst>
              <a:gd name="adj" fmla="val 3264"/>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5" name="Shape 3"/>
          <p:cNvSpPr/>
          <p:nvPr/>
        </p:nvSpPr>
        <p:spPr>
          <a:xfrm>
            <a:off x="804672" y="2598176"/>
            <a:ext cx="365760" cy="365760"/>
          </a:xfrm>
          <a:prstGeom prst="ellipse">
            <a:avLst/>
          </a:prstGeom>
          <a:solidFill>
            <a:srgbClr val="D93A3F"/>
          </a:solidFill>
          <a:ln w="12700">
            <a:solidFill>
              <a:srgbClr val="D93A3F"/>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896112" y="2689616"/>
            <a:ext cx="182880" cy="182880"/>
          </a:xfrm>
          <a:prstGeom prst="rect">
            <a:avLst/>
          </a:prstGeom>
        </p:spPr>
      </p:pic>
      <p:sp>
        <p:nvSpPr>
          <p:cNvPr id="7" name="Text 4"/>
          <p:cNvSpPr/>
          <p:nvPr/>
        </p:nvSpPr>
        <p:spPr>
          <a:xfrm>
            <a:off x="1298448" y="2589032"/>
            <a:ext cx="2558186" cy="182880"/>
          </a:xfrm>
          <a:prstGeom prst="rect">
            <a:avLst/>
          </a:prstGeom>
          <a:noFill/>
          <a:ln/>
        </p:spPr>
        <p:txBody>
          <a:bodyPr wrap="square" lIns="0" tIns="0" rIns="0" bIns="0" rtlCol="0" anchor="ctr"/>
          <a:lstStyle/>
          <a:p>
            <a:pPr marL="0" indent="0">
              <a:buNone/>
            </a:pPr>
            <a:r>
              <a:rPr lang="en-US" sz="850" b="1" kern="0" spc="160" dirty="0">
                <a:solidFill>
                  <a:srgbClr val="D93A3F"/>
                </a:solidFill>
                <a:latin typeface="Calibri" pitchFamily="34" charset="0"/>
                <a:ea typeface="Calibri" pitchFamily="34" charset="-122"/>
                <a:cs typeface="Calibri" pitchFamily="34" charset="-120"/>
              </a:rPr>
              <a:t>REASON 1</a:t>
            </a:r>
            <a:endParaRPr lang="en-US" sz="850" dirty="0"/>
          </a:p>
        </p:txBody>
      </p:sp>
      <p:sp>
        <p:nvSpPr>
          <p:cNvPr id="8" name="Text 5"/>
          <p:cNvSpPr/>
          <p:nvPr/>
        </p:nvSpPr>
        <p:spPr>
          <a:xfrm>
            <a:off x="1298448" y="2808488"/>
            <a:ext cx="2558186" cy="638251"/>
          </a:xfrm>
          <a:prstGeom prst="rect">
            <a:avLst/>
          </a:prstGeom>
          <a:noFill/>
          <a:ln/>
        </p:spPr>
        <p:txBody>
          <a:bodyPr wrap="square" lIns="0" tIns="0" rIns="0" bIns="0" rtlCol="0" anchor="t"/>
          <a:lstStyle/>
          <a:p>
            <a:pPr marL="0" indent="0">
              <a:lnSpc>
                <a:spcPct val="105000"/>
              </a:lnSpc>
              <a:buNone/>
            </a:pPr>
            <a:r>
              <a:rPr lang="en-US" sz="1500" b="1" dirty="0">
                <a:solidFill>
                  <a:srgbClr val="141235"/>
                </a:solidFill>
                <a:latin typeface="Calibri" pitchFamily="34" charset="0"/>
                <a:ea typeface="Calibri" pitchFamily="34" charset="-122"/>
                <a:cs typeface="Calibri" pitchFamily="34" charset="-120"/>
              </a:rPr>
              <a:t>The steps are already known</a:t>
            </a:r>
            <a:endParaRPr lang="en-US" sz="1500" dirty="0"/>
          </a:p>
        </p:txBody>
      </p:sp>
      <p:sp>
        <p:nvSpPr>
          <p:cNvPr id="9" name="Text 6"/>
          <p:cNvSpPr/>
          <p:nvPr/>
        </p:nvSpPr>
        <p:spPr>
          <a:xfrm>
            <a:off x="1298448" y="3455883"/>
            <a:ext cx="2558186" cy="1261140"/>
          </a:xfrm>
          <a:prstGeom prst="rect">
            <a:avLst/>
          </a:prstGeom>
          <a:noFill/>
          <a:ln/>
        </p:spPr>
        <p:txBody>
          <a:bodyPr wrap="square" lIns="0" tIns="0" rIns="0" bIns="0" rtlCol="0" anchor="t"/>
          <a:lstStyle/>
          <a:p>
            <a:pPr marL="0" indent="0">
              <a:lnSpc>
                <a:spcPct val="113000"/>
              </a:lnSpc>
              <a:buNone/>
            </a:pPr>
            <a:r>
              <a:rPr lang="en-US" sz="1200" dirty="0">
                <a:solidFill>
                  <a:srgbClr val="6E6B8A"/>
                </a:solidFill>
                <a:latin typeface="Calibri" pitchFamily="34" charset="0"/>
                <a:ea typeface="Calibri" pitchFamily="34" charset="-122"/>
                <a:cs typeface="Calibri" pitchFamily="34" charset="-120"/>
              </a:rPr>
              <a:t>If you can write the path down, write it down. A script is cheaper, faster, testable, and it does not have a bad day. Reaching for a model here is a tax you pay forever.</a:t>
            </a:r>
            <a:endParaRPr lang="en-US" sz="1200" dirty="0"/>
          </a:p>
        </p:txBody>
      </p:sp>
      <p:sp>
        <p:nvSpPr>
          <p:cNvPr id="10" name="Shape 7"/>
          <p:cNvSpPr/>
          <p:nvPr/>
        </p:nvSpPr>
        <p:spPr>
          <a:xfrm>
            <a:off x="4332122" y="2378720"/>
            <a:ext cx="3527450" cy="2521184"/>
          </a:xfrm>
          <a:prstGeom prst="roundRect">
            <a:avLst>
              <a:gd name="adj" fmla="val 3264"/>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1" name="Shape 8"/>
          <p:cNvSpPr/>
          <p:nvPr/>
        </p:nvSpPr>
        <p:spPr>
          <a:xfrm>
            <a:off x="4569866" y="2598176"/>
            <a:ext cx="365760" cy="365760"/>
          </a:xfrm>
          <a:prstGeom prst="ellipse">
            <a:avLst/>
          </a:prstGeom>
          <a:solidFill>
            <a:srgbClr val="D93A3F"/>
          </a:solidFill>
          <a:ln w="12700">
            <a:solidFill>
              <a:srgbClr val="D93A3F"/>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4661306" y="2689616"/>
            <a:ext cx="182880" cy="182880"/>
          </a:xfrm>
          <a:prstGeom prst="rect">
            <a:avLst/>
          </a:prstGeom>
        </p:spPr>
      </p:pic>
      <p:sp>
        <p:nvSpPr>
          <p:cNvPr id="13" name="Text 9"/>
          <p:cNvSpPr/>
          <p:nvPr/>
        </p:nvSpPr>
        <p:spPr>
          <a:xfrm>
            <a:off x="5063642" y="2589032"/>
            <a:ext cx="2558186" cy="182880"/>
          </a:xfrm>
          <a:prstGeom prst="rect">
            <a:avLst/>
          </a:prstGeom>
          <a:noFill/>
          <a:ln/>
        </p:spPr>
        <p:txBody>
          <a:bodyPr wrap="square" lIns="0" tIns="0" rIns="0" bIns="0" rtlCol="0" anchor="ctr"/>
          <a:lstStyle/>
          <a:p>
            <a:pPr marL="0" indent="0">
              <a:buNone/>
            </a:pPr>
            <a:r>
              <a:rPr lang="en-US" sz="850" b="1" kern="0" spc="160" dirty="0">
                <a:solidFill>
                  <a:srgbClr val="D93A3F"/>
                </a:solidFill>
                <a:latin typeface="Calibri" pitchFamily="34" charset="0"/>
                <a:ea typeface="Calibri" pitchFamily="34" charset="-122"/>
                <a:cs typeface="Calibri" pitchFamily="34" charset="-120"/>
              </a:rPr>
              <a:t>REASON 2</a:t>
            </a:r>
            <a:endParaRPr lang="en-US" sz="850" dirty="0"/>
          </a:p>
        </p:txBody>
      </p:sp>
      <p:sp>
        <p:nvSpPr>
          <p:cNvPr id="14" name="Text 10"/>
          <p:cNvSpPr/>
          <p:nvPr/>
        </p:nvSpPr>
        <p:spPr>
          <a:xfrm>
            <a:off x="5063642" y="2808488"/>
            <a:ext cx="2558186" cy="638251"/>
          </a:xfrm>
          <a:prstGeom prst="rect">
            <a:avLst/>
          </a:prstGeom>
          <a:noFill/>
          <a:ln/>
        </p:spPr>
        <p:txBody>
          <a:bodyPr wrap="square" lIns="0" tIns="0" rIns="0" bIns="0" rtlCol="0" anchor="t"/>
          <a:lstStyle/>
          <a:p>
            <a:pPr marL="0" indent="0">
              <a:lnSpc>
                <a:spcPct val="105000"/>
              </a:lnSpc>
              <a:buNone/>
            </a:pPr>
            <a:r>
              <a:rPr lang="en-US" sz="1500" b="1" dirty="0">
                <a:solidFill>
                  <a:srgbClr val="141235"/>
                </a:solidFill>
                <a:latin typeface="Calibri" pitchFamily="34" charset="0"/>
                <a:ea typeface="Calibri" pitchFamily="34" charset="-122"/>
                <a:cs typeface="Calibri" pitchFamily="34" charset="-120"/>
              </a:rPr>
              <a:t>A wrong action is expensive or hard to undo</a:t>
            </a:r>
            <a:endParaRPr lang="en-US" sz="1500" dirty="0"/>
          </a:p>
        </p:txBody>
      </p:sp>
      <p:sp>
        <p:nvSpPr>
          <p:cNvPr id="15" name="Text 11"/>
          <p:cNvSpPr/>
          <p:nvPr/>
        </p:nvSpPr>
        <p:spPr>
          <a:xfrm>
            <a:off x="5063642" y="3455883"/>
            <a:ext cx="2558186" cy="1261140"/>
          </a:xfrm>
          <a:prstGeom prst="rect">
            <a:avLst/>
          </a:prstGeom>
          <a:noFill/>
          <a:ln/>
        </p:spPr>
        <p:txBody>
          <a:bodyPr wrap="square" lIns="0" tIns="0" rIns="0" bIns="0" rtlCol="0" anchor="t"/>
          <a:lstStyle/>
          <a:p>
            <a:pPr marL="0" indent="0">
              <a:lnSpc>
                <a:spcPct val="113000"/>
              </a:lnSpc>
              <a:buNone/>
            </a:pPr>
            <a:r>
              <a:rPr lang="en-US" sz="1200" dirty="0">
                <a:solidFill>
                  <a:srgbClr val="6E6B8A"/>
                </a:solidFill>
                <a:latin typeface="Calibri" pitchFamily="34" charset="0"/>
                <a:ea typeface="Calibri" pitchFamily="34" charset="-122"/>
                <a:cs typeface="Calibri" pitchFamily="34" charset="-120"/>
              </a:rPr>
              <a:t>Refunds, emails to customers, production writes, anything with a regulator attached. The shape may still be an agent — but not on the far right of the autonomy scale.</a:t>
            </a:r>
            <a:endParaRPr lang="en-US" sz="1200" dirty="0"/>
          </a:p>
        </p:txBody>
      </p:sp>
      <p:sp>
        <p:nvSpPr>
          <p:cNvPr id="16" name="Shape 12"/>
          <p:cNvSpPr/>
          <p:nvPr/>
        </p:nvSpPr>
        <p:spPr>
          <a:xfrm>
            <a:off x="8097317" y="2378720"/>
            <a:ext cx="3527450" cy="2521184"/>
          </a:xfrm>
          <a:prstGeom prst="roundRect">
            <a:avLst>
              <a:gd name="adj" fmla="val 3264"/>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7" name="Shape 13"/>
          <p:cNvSpPr/>
          <p:nvPr/>
        </p:nvSpPr>
        <p:spPr>
          <a:xfrm>
            <a:off x="8335061" y="2598176"/>
            <a:ext cx="365760" cy="365760"/>
          </a:xfrm>
          <a:prstGeom prst="ellipse">
            <a:avLst/>
          </a:prstGeom>
          <a:solidFill>
            <a:srgbClr val="D93A3F"/>
          </a:solidFill>
          <a:ln w="12700">
            <a:solidFill>
              <a:srgbClr val="D93A3F"/>
            </a:solidFill>
            <a:prstDash val="solid"/>
          </a:ln>
        </p:spPr>
        <p:txBody>
          <a:bodyPr/>
          <a:lstStyle/>
          <a:p>
            <a:endParaRPr lang="en-US"/>
          </a:p>
        </p:txBody>
      </p:sp>
      <p:pic>
        <p:nvPicPr>
          <p:cNvPr id="18" name="Image 2" descr="preencoded.png"/>
          <p:cNvPicPr>
            <a:picLocks noChangeAspect="1"/>
          </p:cNvPicPr>
          <p:nvPr/>
        </p:nvPicPr>
        <p:blipFill>
          <a:blip r:embed="rId5"/>
          <a:stretch>
            <a:fillRect/>
          </a:stretch>
        </p:blipFill>
        <p:spPr>
          <a:xfrm>
            <a:off x="8426501" y="2689616"/>
            <a:ext cx="182880" cy="182880"/>
          </a:xfrm>
          <a:prstGeom prst="rect">
            <a:avLst/>
          </a:prstGeom>
        </p:spPr>
      </p:pic>
      <p:sp>
        <p:nvSpPr>
          <p:cNvPr id="19" name="Text 14"/>
          <p:cNvSpPr/>
          <p:nvPr/>
        </p:nvSpPr>
        <p:spPr>
          <a:xfrm>
            <a:off x="8828837" y="2589032"/>
            <a:ext cx="2558186" cy="182880"/>
          </a:xfrm>
          <a:prstGeom prst="rect">
            <a:avLst/>
          </a:prstGeom>
          <a:noFill/>
          <a:ln/>
        </p:spPr>
        <p:txBody>
          <a:bodyPr wrap="square" lIns="0" tIns="0" rIns="0" bIns="0" rtlCol="0" anchor="ctr"/>
          <a:lstStyle/>
          <a:p>
            <a:pPr marL="0" indent="0">
              <a:buNone/>
            </a:pPr>
            <a:r>
              <a:rPr lang="en-US" sz="850" b="1" kern="0" spc="160" dirty="0">
                <a:solidFill>
                  <a:srgbClr val="D93A3F"/>
                </a:solidFill>
                <a:latin typeface="Calibri" pitchFamily="34" charset="0"/>
                <a:ea typeface="Calibri" pitchFamily="34" charset="-122"/>
                <a:cs typeface="Calibri" pitchFamily="34" charset="-120"/>
              </a:rPr>
              <a:t>REASON 3</a:t>
            </a:r>
            <a:endParaRPr lang="en-US" sz="850" dirty="0"/>
          </a:p>
        </p:txBody>
      </p:sp>
      <p:sp>
        <p:nvSpPr>
          <p:cNvPr id="20" name="Text 15"/>
          <p:cNvSpPr/>
          <p:nvPr/>
        </p:nvSpPr>
        <p:spPr>
          <a:xfrm>
            <a:off x="8828837" y="2808488"/>
            <a:ext cx="2558186" cy="638251"/>
          </a:xfrm>
          <a:prstGeom prst="rect">
            <a:avLst/>
          </a:prstGeom>
          <a:noFill/>
          <a:ln/>
        </p:spPr>
        <p:txBody>
          <a:bodyPr wrap="square" lIns="0" tIns="0" rIns="0" bIns="0" rtlCol="0" anchor="t"/>
          <a:lstStyle/>
          <a:p>
            <a:pPr marL="0" indent="0">
              <a:lnSpc>
                <a:spcPct val="105000"/>
              </a:lnSpc>
              <a:buNone/>
            </a:pPr>
            <a:r>
              <a:rPr lang="en-US" sz="1500" b="1" dirty="0">
                <a:solidFill>
                  <a:srgbClr val="141235"/>
                </a:solidFill>
                <a:latin typeface="Calibri" pitchFamily="34" charset="0"/>
                <a:ea typeface="Calibri" pitchFamily="34" charset="-122"/>
                <a:cs typeface="Calibri" pitchFamily="34" charset="-120"/>
              </a:rPr>
              <a:t>The facts were never written down</a:t>
            </a:r>
            <a:endParaRPr lang="en-US" sz="1500" dirty="0"/>
          </a:p>
        </p:txBody>
      </p:sp>
      <p:sp>
        <p:nvSpPr>
          <p:cNvPr id="21" name="Text 16"/>
          <p:cNvSpPr/>
          <p:nvPr/>
        </p:nvSpPr>
        <p:spPr>
          <a:xfrm>
            <a:off x="8828837" y="3455883"/>
            <a:ext cx="2558186" cy="1261140"/>
          </a:xfrm>
          <a:prstGeom prst="rect">
            <a:avLst/>
          </a:prstGeom>
          <a:noFill/>
          <a:ln/>
        </p:spPr>
        <p:txBody>
          <a:bodyPr wrap="square" lIns="0" tIns="0" rIns="0" bIns="0" rtlCol="0" anchor="t"/>
          <a:lstStyle/>
          <a:p>
            <a:pPr marL="0" indent="0">
              <a:lnSpc>
                <a:spcPct val="113000"/>
              </a:lnSpc>
              <a:buNone/>
            </a:pPr>
            <a:r>
              <a:rPr lang="en-US" sz="1200" dirty="0">
                <a:solidFill>
                  <a:srgbClr val="6E6B8A"/>
                </a:solidFill>
                <a:latin typeface="Calibri" pitchFamily="34" charset="0"/>
                <a:ea typeface="Calibri" pitchFamily="34" charset="-122"/>
                <a:cs typeface="Calibri" pitchFamily="34" charset="-120"/>
              </a:rPr>
              <a:t>A tool cannot fetch what nobody stored. If the answer lives only in somebody's head or in a meeting nobody minuted, no amount of retrieval will find it.</a:t>
            </a:r>
            <a:endParaRPr lang="en-US" sz="1200" dirty="0"/>
          </a:p>
        </p:txBody>
      </p:sp>
      <p:sp>
        <p:nvSpPr>
          <p:cNvPr id="22" name="Shape 17"/>
          <p:cNvSpPr/>
          <p:nvPr/>
        </p:nvSpPr>
        <p:spPr>
          <a:xfrm>
            <a:off x="566928" y="5541264"/>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23" name="Shape 18"/>
          <p:cNvSpPr/>
          <p:nvPr/>
        </p:nvSpPr>
        <p:spPr>
          <a:xfrm>
            <a:off x="841248" y="5760720"/>
            <a:ext cx="384048" cy="384048"/>
          </a:xfrm>
          <a:prstGeom prst="ellipse">
            <a:avLst/>
          </a:prstGeom>
          <a:solidFill>
            <a:srgbClr val="F5A524"/>
          </a:solidFill>
          <a:ln w="12700">
            <a:solidFill>
              <a:srgbClr val="F5A524"/>
            </a:solidFill>
            <a:prstDash val="solid"/>
          </a:ln>
        </p:spPr>
        <p:txBody>
          <a:bodyPr/>
          <a:lstStyle/>
          <a:p>
            <a:endParaRPr lang="en-US"/>
          </a:p>
        </p:txBody>
      </p:sp>
      <p:pic>
        <p:nvPicPr>
          <p:cNvPr id="24" name="Image 3" descr="preencoded.png"/>
          <p:cNvPicPr>
            <a:picLocks noChangeAspect="1"/>
          </p:cNvPicPr>
          <p:nvPr/>
        </p:nvPicPr>
        <p:blipFill>
          <a:blip r:embed="rId6"/>
          <a:stretch>
            <a:fillRect/>
          </a:stretch>
        </p:blipFill>
        <p:spPr>
          <a:xfrm>
            <a:off x="937260" y="5856732"/>
            <a:ext cx="192024" cy="192024"/>
          </a:xfrm>
          <a:prstGeom prst="rect">
            <a:avLst/>
          </a:prstGeom>
        </p:spPr>
      </p:pic>
      <p:sp>
        <p:nvSpPr>
          <p:cNvPr id="25" name="Text 19"/>
          <p:cNvSpPr/>
          <p:nvPr/>
        </p:nvSpPr>
        <p:spPr>
          <a:xfrm>
            <a:off x="1371600" y="5596128"/>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Two of these three are not AI problems at all. They are “we never wrote our process down” problems, which is what module 17 is about.</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01 · WHAT AN AGENT IS · EXERCISE</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3000" b="1" dirty="0">
                <a:solidFill>
                  <a:srgbClr val="141235"/>
                </a:solidFill>
                <a:latin typeface="Cambria" pitchFamily="34" charset="0"/>
                <a:ea typeface="Cambria" pitchFamily="34" charset="-122"/>
                <a:cs typeface="Cambria" pitchFamily="34" charset="-120"/>
              </a:rPr>
              <a:t>In pairs: shape and score these jobs</a:t>
            </a:r>
            <a:endParaRPr lang="en-US" sz="3000" dirty="0"/>
          </a:p>
        </p:txBody>
      </p:sp>
      <p:sp>
        <p:nvSpPr>
          <p:cNvPr id="4" name="Text 2"/>
          <p:cNvSpPr/>
          <p:nvPr/>
        </p:nvSpPr>
        <p:spPr>
          <a:xfrm>
            <a:off x="566928" y="1371600"/>
            <a:ext cx="11057839" cy="310896"/>
          </a:xfrm>
          <a:prstGeom prst="rect">
            <a:avLst/>
          </a:prstGeom>
          <a:noFill/>
          <a:ln/>
        </p:spPr>
        <p:txBody>
          <a:bodyPr wrap="square" lIns="0" tIns="0" rIns="0" bIns="0" rtlCol="0" anchor="t"/>
          <a:lstStyle/>
          <a:p>
            <a:pPr marL="0" indent="0">
              <a:buNone/>
            </a:pPr>
            <a:r>
              <a:rPr lang="en-US" sz="1400" dirty="0">
                <a:solidFill>
                  <a:srgbClr val="3B3760"/>
                </a:solidFill>
                <a:latin typeface="Calibri" pitchFamily="34" charset="0"/>
                <a:ea typeface="Calibri" pitchFamily="34" charset="-122"/>
                <a:cs typeface="Calibri" pitchFamily="34" charset="-120"/>
              </a:rPr>
              <a:t>Five to seven minutes. For each row: what shape is it, and how far would you let it go?</a:t>
            </a:r>
            <a:endParaRPr lang="en-US" sz="1400" dirty="0"/>
          </a:p>
        </p:txBody>
      </p:sp>
      <p:sp>
        <p:nvSpPr>
          <p:cNvPr id="5" name="Text 3"/>
          <p:cNvSpPr/>
          <p:nvPr/>
        </p:nvSpPr>
        <p:spPr>
          <a:xfrm>
            <a:off x="841248" y="2011680"/>
            <a:ext cx="6766560" cy="274320"/>
          </a:xfrm>
          <a:prstGeom prst="rect">
            <a:avLst/>
          </a:prstGeom>
          <a:noFill/>
          <a:ln/>
        </p:spPr>
        <p:txBody>
          <a:bodyPr wrap="square" lIns="0" tIns="0" rIns="0" bIns="0" rtlCol="0" anchor="ctr"/>
          <a:lstStyle/>
          <a:p>
            <a:pPr marL="0" indent="0">
              <a:buNone/>
            </a:pPr>
            <a:r>
              <a:rPr lang="en-US" sz="950" b="1" kern="0" spc="180" dirty="0">
                <a:solidFill>
                  <a:srgbClr val="9B98B4"/>
                </a:solidFill>
                <a:latin typeface="Calibri" pitchFamily="34" charset="0"/>
                <a:ea typeface="Calibri" pitchFamily="34" charset="-122"/>
                <a:cs typeface="Calibri" pitchFamily="34" charset="-120"/>
              </a:rPr>
              <a:t>JOB</a:t>
            </a:r>
            <a:endParaRPr lang="en-US" sz="950" dirty="0"/>
          </a:p>
        </p:txBody>
      </p:sp>
      <p:sp>
        <p:nvSpPr>
          <p:cNvPr id="6" name="Text 4"/>
          <p:cNvSpPr/>
          <p:nvPr/>
        </p:nvSpPr>
        <p:spPr>
          <a:xfrm>
            <a:off x="7882128" y="2011680"/>
            <a:ext cx="1737360" cy="274320"/>
          </a:xfrm>
          <a:prstGeom prst="rect">
            <a:avLst/>
          </a:prstGeom>
          <a:noFill/>
          <a:ln/>
        </p:spPr>
        <p:txBody>
          <a:bodyPr wrap="square" lIns="0" tIns="0" rIns="0" bIns="0" rtlCol="0" anchor="ctr"/>
          <a:lstStyle/>
          <a:p>
            <a:pPr marL="0" indent="0">
              <a:buNone/>
            </a:pPr>
            <a:r>
              <a:rPr lang="en-US" sz="950" b="1" kern="0" spc="180" dirty="0">
                <a:solidFill>
                  <a:srgbClr val="9B98B4"/>
                </a:solidFill>
                <a:latin typeface="Calibri" pitchFamily="34" charset="0"/>
                <a:ea typeface="Calibri" pitchFamily="34" charset="-122"/>
                <a:cs typeface="Calibri" pitchFamily="34" charset="-120"/>
              </a:rPr>
              <a:t>SHAPE</a:t>
            </a:r>
            <a:endParaRPr lang="en-US" sz="950" dirty="0"/>
          </a:p>
        </p:txBody>
      </p:sp>
      <p:sp>
        <p:nvSpPr>
          <p:cNvPr id="7" name="Text 5"/>
          <p:cNvSpPr/>
          <p:nvPr/>
        </p:nvSpPr>
        <p:spPr>
          <a:xfrm>
            <a:off x="9710928" y="2011680"/>
            <a:ext cx="1737360" cy="274320"/>
          </a:xfrm>
          <a:prstGeom prst="rect">
            <a:avLst/>
          </a:prstGeom>
          <a:noFill/>
          <a:ln/>
        </p:spPr>
        <p:txBody>
          <a:bodyPr wrap="square" lIns="0" tIns="0" rIns="0" bIns="0" rtlCol="0" anchor="ctr"/>
          <a:lstStyle/>
          <a:p>
            <a:pPr marL="0" indent="0">
              <a:buNone/>
            </a:pPr>
            <a:r>
              <a:rPr lang="en-US" sz="950" b="1" kern="0" spc="180" dirty="0">
                <a:solidFill>
                  <a:srgbClr val="9B98B4"/>
                </a:solidFill>
                <a:latin typeface="Calibri" pitchFamily="34" charset="0"/>
                <a:ea typeface="Calibri" pitchFamily="34" charset="-122"/>
                <a:cs typeface="Calibri" pitchFamily="34" charset="-120"/>
              </a:rPr>
              <a:t>HOW FAR</a:t>
            </a:r>
            <a:endParaRPr lang="en-US" sz="950" dirty="0"/>
          </a:p>
        </p:txBody>
      </p:sp>
      <p:sp>
        <p:nvSpPr>
          <p:cNvPr id="8" name="Shape 6"/>
          <p:cNvSpPr/>
          <p:nvPr/>
        </p:nvSpPr>
        <p:spPr>
          <a:xfrm>
            <a:off x="566928" y="2340864"/>
            <a:ext cx="11057839" cy="438912"/>
          </a:xfrm>
          <a:prstGeom prst="roundRect">
            <a:avLst>
              <a:gd name="adj" fmla="val 12500"/>
            </a:avLst>
          </a:prstGeom>
          <a:solidFill>
            <a:srgbClr val="F5F6FC"/>
          </a:solidFill>
          <a:ln w="12700">
            <a:solidFill>
              <a:srgbClr val="E3E4F2"/>
            </a:solidFill>
            <a:prstDash val="solid"/>
          </a:ln>
        </p:spPr>
        <p:txBody>
          <a:bodyPr/>
          <a:lstStyle/>
          <a:p>
            <a:endParaRPr lang="en-US"/>
          </a:p>
        </p:txBody>
      </p:sp>
      <p:sp>
        <p:nvSpPr>
          <p:cNvPr id="9" name="Text 7"/>
          <p:cNvSpPr/>
          <p:nvPr/>
        </p:nvSpPr>
        <p:spPr>
          <a:xfrm>
            <a:off x="621792" y="2340864"/>
            <a:ext cx="310896" cy="438912"/>
          </a:xfrm>
          <a:prstGeom prst="rect">
            <a:avLst/>
          </a:prstGeom>
          <a:noFill/>
          <a:ln/>
        </p:spPr>
        <p:txBody>
          <a:bodyPr wrap="square" lIns="0" tIns="0" rIns="0" bIns="0" rtlCol="0" anchor="ctr"/>
          <a:lstStyle/>
          <a:p>
            <a:pPr marL="0" indent="0" algn="ctr">
              <a:buNone/>
            </a:pPr>
            <a:r>
              <a:rPr lang="en-US" sz="1100" b="1" dirty="0">
                <a:solidFill>
                  <a:srgbClr val="5B4BE8"/>
                </a:solidFill>
                <a:latin typeface="Calibri" pitchFamily="34" charset="0"/>
                <a:ea typeface="Calibri" pitchFamily="34" charset="-122"/>
                <a:cs typeface="Calibri" pitchFamily="34" charset="-120"/>
              </a:rPr>
              <a:t>1</a:t>
            </a:r>
            <a:endParaRPr lang="en-US" sz="1100" dirty="0"/>
          </a:p>
        </p:txBody>
      </p:sp>
      <p:sp>
        <p:nvSpPr>
          <p:cNvPr id="10" name="Text 8"/>
          <p:cNvSpPr/>
          <p:nvPr/>
        </p:nvSpPr>
        <p:spPr>
          <a:xfrm>
            <a:off x="987552" y="2340864"/>
            <a:ext cx="6675120" cy="438912"/>
          </a:xfrm>
          <a:prstGeom prst="rect">
            <a:avLst/>
          </a:prstGeom>
          <a:noFill/>
          <a:ln/>
        </p:spPr>
        <p:txBody>
          <a:bodyPr wrap="square" lIns="0" tIns="0" rIns="0" bIns="0" rtlCol="0" anchor="ctr"/>
          <a:lstStyle/>
          <a:p>
            <a:pPr marL="0" indent="0">
              <a:buNone/>
            </a:pPr>
            <a:r>
              <a:rPr lang="en-US" sz="1200" dirty="0">
                <a:solidFill>
                  <a:srgbClr val="141235"/>
                </a:solidFill>
                <a:latin typeface="Calibri" pitchFamily="34" charset="0"/>
                <a:ea typeface="Calibri" pitchFamily="34" charset="-122"/>
                <a:cs typeface="Calibri" pitchFamily="34" charset="-120"/>
              </a:rPr>
              <a:t>The same overdue reminder to every account past 30 days</a:t>
            </a:r>
            <a:endParaRPr lang="en-US" sz="1200" dirty="0"/>
          </a:p>
        </p:txBody>
      </p:sp>
      <p:sp>
        <p:nvSpPr>
          <p:cNvPr id="11" name="Text 9"/>
          <p:cNvSpPr/>
          <p:nvPr/>
        </p:nvSpPr>
        <p:spPr>
          <a:xfrm>
            <a:off x="7882128" y="2340864"/>
            <a:ext cx="1737360" cy="438912"/>
          </a:xfrm>
          <a:prstGeom prst="rect">
            <a:avLst/>
          </a:prstGeom>
          <a:noFill/>
          <a:ln/>
        </p:spPr>
        <p:txBody>
          <a:bodyPr wrap="square" lIns="0" tIns="0" rIns="0" bIns="0" rtlCol="0" anchor="ctr"/>
          <a:lstStyle/>
          <a:p>
            <a:pPr marL="0" indent="0">
              <a:buNone/>
            </a:pPr>
            <a:r>
              <a:rPr lang="en-US" sz="1300" dirty="0">
                <a:solidFill>
                  <a:srgbClr val="9B98B4"/>
                </a:solidFill>
                <a:latin typeface="Calibri" pitchFamily="34" charset="0"/>
                <a:ea typeface="Calibri" pitchFamily="34" charset="-122"/>
                <a:cs typeface="Calibri" pitchFamily="34" charset="-120"/>
              </a:rPr>
              <a:t>—</a:t>
            </a:r>
            <a:endParaRPr lang="en-US" sz="1300" dirty="0"/>
          </a:p>
        </p:txBody>
      </p:sp>
      <p:sp>
        <p:nvSpPr>
          <p:cNvPr id="12" name="Text 10"/>
          <p:cNvSpPr/>
          <p:nvPr/>
        </p:nvSpPr>
        <p:spPr>
          <a:xfrm>
            <a:off x="9710928" y="2340864"/>
            <a:ext cx="1737360" cy="438912"/>
          </a:xfrm>
          <a:prstGeom prst="rect">
            <a:avLst/>
          </a:prstGeom>
          <a:noFill/>
          <a:ln/>
        </p:spPr>
        <p:txBody>
          <a:bodyPr wrap="square" lIns="0" tIns="0" rIns="0" bIns="0" rtlCol="0" anchor="ctr"/>
          <a:lstStyle/>
          <a:p>
            <a:pPr marL="0" indent="0">
              <a:buNone/>
            </a:pPr>
            <a:r>
              <a:rPr lang="en-US" sz="1300" dirty="0">
                <a:solidFill>
                  <a:srgbClr val="9B98B4"/>
                </a:solidFill>
                <a:latin typeface="Calibri" pitchFamily="34" charset="0"/>
                <a:ea typeface="Calibri" pitchFamily="34" charset="-122"/>
                <a:cs typeface="Calibri" pitchFamily="34" charset="-120"/>
              </a:rPr>
              <a:t>—</a:t>
            </a:r>
            <a:endParaRPr lang="en-US" sz="1300" dirty="0"/>
          </a:p>
        </p:txBody>
      </p:sp>
      <p:sp>
        <p:nvSpPr>
          <p:cNvPr id="13" name="Shape 11"/>
          <p:cNvSpPr/>
          <p:nvPr/>
        </p:nvSpPr>
        <p:spPr>
          <a:xfrm>
            <a:off x="566928" y="2852928"/>
            <a:ext cx="11057839" cy="438912"/>
          </a:xfrm>
          <a:prstGeom prst="roundRect">
            <a:avLst>
              <a:gd name="adj" fmla="val 12500"/>
            </a:avLst>
          </a:prstGeom>
          <a:solidFill>
            <a:srgbClr val="FFFFFF"/>
          </a:solidFill>
          <a:ln w="12700">
            <a:solidFill>
              <a:srgbClr val="E3E4F2"/>
            </a:solidFill>
            <a:prstDash val="solid"/>
          </a:ln>
        </p:spPr>
        <p:txBody>
          <a:bodyPr/>
          <a:lstStyle/>
          <a:p>
            <a:endParaRPr lang="en-US"/>
          </a:p>
        </p:txBody>
      </p:sp>
      <p:sp>
        <p:nvSpPr>
          <p:cNvPr id="14" name="Text 12"/>
          <p:cNvSpPr/>
          <p:nvPr/>
        </p:nvSpPr>
        <p:spPr>
          <a:xfrm>
            <a:off x="621792" y="2852928"/>
            <a:ext cx="310896" cy="438912"/>
          </a:xfrm>
          <a:prstGeom prst="rect">
            <a:avLst/>
          </a:prstGeom>
          <a:noFill/>
          <a:ln/>
        </p:spPr>
        <p:txBody>
          <a:bodyPr wrap="square" lIns="0" tIns="0" rIns="0" bIns="0" rtlCol="0" anchor="ctr"/>
          <a:lstStyle/>
          <a:p>
            <a:pPr marL="0" indent="0" algn="ctr">
              <a:buNone/>
            </a:pPr>
            <a:r>
              <a:rPr lang="en-US" sz="1100" b="1" dirty="0">
                <a:solidFill>
                  <a:srgbClr val="5B4BE8"/>
                </a:solidFill>
                <a:latin typeface="Calibri" pitchFamily="34" charset="0"/>
                <a:ea typeface="Calibri" pitchFamily="34" charset="-122"/>
                <a:cs typeface="Calibri" pitchFamily="34" charset="-120"/>
              </a:rPr>
              <a:t>2</a:t>
            </a:r>
            <a:endParaRPr lang="en-US" sz="1100" dirty="0"/>
          </a:p>
        </p:txBody>
      </p:sp>
      <p:sp>
        <p:nvSpPr>
          <p:cNvPr id="15" name="Text 13"/>
          <p:cNvSpPr/>
          <p:nvPr/>
        </p:nvSpPr>
        <p:spPr>
          <a:xfrm>
            <a:off x="987552" y="2852928"/>
            <a:ext cx="6675120" cy="438912"/>
          </a:xfrm>
          <a:prstGeom prst="rect">
            <a:avLst/>
          </a:prstGeom>
          <a:noFill/>
          <a:ln/>
        </p:spPr>
        <p:txBody>
          <a:bodyPr wrap="square" lIns="0" tIns="0" rIns="0" bIns="0" rtlCol="0" anchor="ctr"/>
          <a:lstStyle/>
          <a:p>
            <a:pPr marL="0" indent="0">
              <a:buNone/>
            </a:pPr>
            <a:r>
              <a:rPr lang="en-US" sz="1200" dirty="0">
                <a:solidFill>
                  <a:srgbClr val="141235"/>
                </a:solidFill>
                <a:latin typeface="Calibri" pitchFamily="34" charset="0"/>
                <a:ea typeface="Calibri" pitchFamily="34" charset="-122"/>
                <a:cs typeface="Calibri" pitchFamily="34" charset="-120"/>
              </a:rPr>
              <a:t>A visitor asks what jazz fusion is</a:t>
            </a:r>
            <a:endParaRPr lang="en-US" sz="1200" dirty="0"/>
          </a:p>
        </p:txBody>
      </p:sp>
      <p:sp>
        <p:nvSpPr>
          <p:cNvPr id="16" name="Text 14"/>
          <p:cNvSpPr/>
          <p:nvPr/>
        </p:nvSpPr>
        <p:spPr>
          <a:xfrm>
            <a:off x="7882128" y="2852928"/>
            <a:ext cx="1737360" cy="438912"/>
          </a:xfrm>
          <a:prstGeom prst="rect">
            <a:avLst/>
          </a:prstGeom>
          <a:noFill/>
          <a:ln/>
        </p:spPr>
        <p:txBody>
          <a:bodyPr wrap="square" lIns="0" tIns="0" rIns="0" bIns="0" rtlCol="0" anchor="ctr"/>
          <a:lstStyle/>
          <a:p>
            <a:pPr marL="0" indent="0">
              <a:buNone/>
            </a:pPr>
            <a:r>
              <a:rPr lang="en-US" sz="1300" dirty="0">
                <a:solidFill>
                  <a:srgbClr val="9B98B4"/>
                </a:solidFill>
                <a:latin typeface="Calibri" pitchFamily="34" charset="0"/>
                <a:ea typeface="Calibri" pitchFamily="34" charset="-122"/>
                <a:cs typeface="Calibri" pitchFamily="34" charset="-120"/>
              </a:rPr>
              <a:t>—</a:t>
            </a:r>
            <a:endParaRPr lang="en-US" sz="1300" dirty="0"/>
          </a:p>
        </p:txBody>
      </p:sp>
      <p:sp>
        <p:nvSpPr>
          <p:cNvPr id="17" name="Text 15"/>
          <p:cNvSpPr/>
          <p:nvPr/>
        </p:nvSpPr>
        <p:spPr>
          <a:xfrm>
            <a:off x="9710928" y="2852928"/>
            <a:ext cx="1737360" cy="438912"/>
          </a:xfrm>
          <a:prstGeom prst="rect">
            <a:avLst/>
          </a:prstGeom>
          <a:noFill/>
          <a:ln/>
        </p:spPr>
        <p:txBody>
          <a:bodyPr wrap="square" lIns="0" tIns="0" rIns="0" bIns="0" rtlCol="0" anchor="ctr"/>
          <a:lstStyle/>
          <a:p>
            <a:pPr marL="0" indent="0">
              <a:buNone/>
            </a:pPr>
            <a:r>
              <a:rPr lang="en-US" sz="1300" dirty="0">
                <a:solidFill>
                  <a:srgbClr val="9B98B4"/>
                </a:solidFill>
                <a:latin typeface="Calibri" pitchFamily="34" charset="0"/>
                <a:ea typeface="Calibri" pitchFamily="34" charset="-122"/>
                <a:cs typeface="Calibri" pitchFamily="34" charset="-120"/>
              </a:rPr>
              <a:t>—</a:t>
            </a:r>
            <a:endParaRPr lang="en-US" sz="1300" dirty="0"/>
          </a:p>
        </p:txBody>
      </p:sp>
      <p:sp>
        <p:nvSpPr>
          <p:cNvPr id="18" name="Shape 16"/>
          <p:cNvSpPr/>
          <p:nvPr/>
        </p:nvSpPr>
        <p:spPr>
          <a:xfrm>
            <a:off x="566928" y="3364992"/>
            <a:ext cx="11057839" cy="438912"/>
          </a:xfrm>
          <a:prstGeom prst="roundRect">
            <a:avLst>
              <a:gd name="adj" fmla="val 12500"/>
            </a:avLst>
          </a:prstGeom>
          <a:solidFill>
            <a:srgbClr val="F5F6FC"/>
          </a:solidFill>
          <a:ln w="12700">
            <a:solidFill>
              <a:srgbClr val="E3E4F2"/>
            </a:solidFill>
            <a:prstDash val="solid"/>
          </a:ln>
        </p:spPr>
        <p:txBody>
          <a:bodyPr/>
          <a:lstStyle/>
          <a:p>
            <a:endParaRPr lang="en-US"/>
          </a:p>
        </p:txBody>
      </p:sp>
      <p:sp>
        <p:nvSpPr>
          <p:cNvPr id="19" name="Text 17"/>
          <p:cNvSpPr/>
          <p:nvPr/>
        </p:nvSpPr>
        <p:spPr>
          <a:xfrm>
            <a:off x="621792" y="3364992"/>
            <a:ext cx="310896" cy="438912"/>
          </a:xfrm>
          <a:prstGeom prst="rect">
            <a:avLst/>
          </a:prstGeom>
          <a:noFill/>
          <a:ln/>
        </p:spPr>
        <p:txBody>
          <a:bodyPr wrap="square" lIns="0" tIns="0" rIns="0" bIns="0" rtlCol="0" anchor="ctr"/>
          <a:lstStyle/>
          <a:p>
            <a:pPr marL="0" indent="0" algn="ctr">
              <a:buNone/>
            </a:pPr>
            <a:r>
              <a:rPr lang="en-US" sz="1100" b="1" dirty="0">
                <a:solidFill>
                  <a:srgbClr val="5B4BE8"/>
                </a:solidFill>
                <a:latin typeface="Calibri" pitchFamily="34" charset="0"/>
                <a:ea typeface="Calibri" pitchFamily="34" charset="-122"/>
                <a:cs typeface="Calibri" pitchFamily="34" charset="-120"/>
              </a:rPr>
              <a:t>3</a:t>
            </a:r>
            <a:endParaRPr lang="en-US" sz="1100" dirty="0"/>
          </a:p>
        </p:txBody>
      </p:sp>
      <p:sp>
        <p:nvSpPr>
          <p:cNvPr id="20" name="Text 18"/>
          <p:cNvSpPr/>
          <p:nvPr/>
        </p:nvSpPr>
        <p:spPr>
          <a:xfrm>
            <a:off x="987552" y="3364992"/>
            <a:ext cx="6675120" cy="438912"/>
          </a:xfrm>
          <a:prstGeom prst="rect">
            <a:avLst/>
          </a:prstGeom>
          <a:noFill/>
          <a:ln/>
        </p:spPr>
        <p:txBody>
          <a:bodyPr wrap="square" lIns="0" tIns="0" rIns="0" bIns="0" rtlCol="0" anchor="ctr"/>
          <a:lstStyle/>
          <a:p>
            <a:pPr marL="0" indent="0">
              <a:buNone/>
            </a:pPr>
            <a:r>
              <a:rPr lang="en-US" sz="1200" dirty="0">
                <a:solidFill>
                  <a:srgbClr val="141235"/>
                </a:solidFill>
                <a:latin typeface="Calibri" pitchFamily="34" charset="0"/>
                <a:ea typeface="Calibri" pitchFamily="34" charset="-122"/>
                <a:cs typeface="Calibri" pitchFamily="34" charset="-120"/>
              </a:rPr>
              <a:t>A messy email with an invoice, an address change, and a question</a:t>
            </a:r>
            <a:endParaRPr lang="en-US" sz="1200" dirty="0"/>
          </a:p>
        </p:txBody>
      </p:sp>
      <p:sp>
        <p:nvSpPr>
          <p:cNvPr id="21" name="Text 19"/>
          <p:cNvSpPr/>
          <p:nvPr/>
        </p:nvSpPr>
        <p:spPr>
          <a:xfrm>
            <a:off x="7882128" y="3364992"/>
            <a:ext cx="1737360" cy="438912"/>
          </a:xfrm>
          <a:prstGeom prst="rect">
            <a:avLst/>
          </a:prstGeom>
          <a:noFill/>
          <a:ln/>
        </p:spPr>
        <p:txBody>
          <a:bodyPr wrap="square" lIns="0" tIns="0" rIns="0" bIns="0" rtlCol="0" anchor="ctr"/>
          <a:lstStyle/>
          <a:p>
            <a:pPr marL="0" indent="0">
              <a:buNone/>
            </a:pPr>
            <a:r>
              <a:rPr lang="en-US" sz="1300" dirty="0">
                <a:solidFill>
                  <a:srgbClr val="9B98B4"/>
                </a:solidFill>
                <a:latin typeface="Calibri" pitchFamily="34" charset="0"/>
                <a:ea typeface="Calibri" pitchFamily="34" charset="-122"/>
                <a:cs typeface="Calibri" pitchFamily="34" charset="-120"/>
              </a:rPr>
              <a:t>—</a:t>
            </a:r>
            <a:endParaRPr lang="en-US" sz="1300" dirty="0"/>
          </a:p>
        </p:txBody>
      </p:sp>
      <p:sp>
        <p:nvSpPr>
          <p:cNvPr id="22" name="Text 20"/>
          <p:cNvSpPr/>
          <p:nvPr/>
        </p:nvSpPr>
        <p:spPr>
          <a:xfrm>
            <a:off x="9710928" y="3364992"/>
            <a:ext cx="1737360" cy="438912"/>
          </a:xfrm>
          <a:prstGeom prst="rect">
            <a:avLst/>
          </a:prstGeom>
          <a:noFill/>
          <a:ln/>
        </p:spPr>
        <p:txBody>
          <a:bodyPr wrap="square" lIns="0" tIns="0" rIns="0" bIns="0" rtlCol="0" anchor="ctr"/>
          <a:lstStyle/>
          <a:p>
            <a:pPr marL="0" indent="0">
              <a:buNone/>
            </a:pPr>
            <a:r>
              <a:rPr lang="en-US" sz="1300" dirty="0">
                <a:solidFill>
                  <a:srgbClr val="9B98B4"/>
                </a:solidFill>
                <a:latin typeface="Calibri" pitchFamily="34" charset="0"/>
                <a:ea typeface="Calibri" pitchFamily="34" charset="-122"/>
                <a:cs typeface="Calibri" pitchFamily="34" charset="-120"/>
              </a:rPr>
              <a:t>—</a:t>
            </a:r>
            <a:endParaRPr lang="en-US" sz="1300" dirty="0"/>
          </a:p>
        </p:txBody>
      </p:sp>
      <p:sp>
        <p:nvSpPr>
          <p:cNvPr id="23" name="Shape 21"/>
          <p:cNvSpPr/>
          <p:nvPr/>
        </p:nvSpPr>
        <p:spPr>
          <a:xfrm>
            <a:off x="566928" y="3877056"/>
            <a:ext cx="11057839" cy="438912"/>
          </a:xfrm>
          <a:prstGeom prst="roundRect">
            <a:avLst>
              <a:gd name="adj" fmla="val 12500"/>
            </a:avLst>
          </a:prstGeom>
          <a:solidFill>
            <a:srgbClr val="FFFFFF"/>
          </a:solidFill>
          <a:ln w="12700">
            <a:solidFill>
              <a:srgbClr val="E3E4F2"/>
            </a:solidFill>
            <a:prstDash val="solid"/>
          </a:ln>
        </p:spPr>
        <p:txBody>
          <a:bodyPr/>
          <a:lstStyle/>
          <a:p>
            <a:endParaRPr lang="en-US"/>
          </a:p>
        </p:txBody>
      </p:sp>
      <p:sp>
        <p:nvSpPr>
          <p:cNvPr id="24" name="Text 22"/>
          <p:cNvSpPr/>
          <p:nvPr/>
        </p:nvSpPr>
        <p:spPr>
          <a:xfrm>
            <a:off x="621792" y="3877056"/>
            <a:ext cx="310896" cy="438912"/>
          </a:xfrm>
          <a:prstGeom prst="rect">
            <a:avLst/>
          </a:prstGeom>
          <a:noFill/>
          <a:ln/>
        </p:spPr>
        <p:txBody>
          <a:bodyPr wrap="square" lIns="0" tIns="0" rIns="0" bIns="0" rtlCol="0" anchor="ctr"/>
          <a:lstStyle/>
          <a:p>
            <a:pPr marL="0" indent="0" algn="ctr">
              <a:buNone/>
            </a:pPr>
            <a:r>
              <a:rPr lang="en-US" sz="1100" b="1" dirty="0">
                <a:solidFill>
                  <a:srgbClr val="5B4BE8"/>
                </a:solidFill>
                <a:latin typeface="Calibri" pitchFamily="34" charset="0"/>
                <a:ea typeface="Calibri" pitchFamily="34" charset="-122"/>
                <a:cs typeface="Calibri" pitchFamily="34" charset="-120"/>
              </a:rPr>
              <a:t>4</a:t>
            </a:r>
            <a:endParaRPr lang="en-US" sz="1100" dirty="0"/>
          </a:p>
        </p:txBody>
      </p:sp>
      <p:sp>
        <p:nvSpPr>
          <p:cNvPr id="25" name="Text 23"/>
          <p:cNvSpPr/>
          <p:nvPr/>
        </p:nvSpPr>
        <p:spPr>
          <a:xfrm>
            <a:off x="987552" y="3877056"/>
            <a:ext cx="6675120" cy="438912"/>
          </a:xfrm>
          <a:prstGeom prst="rect">
            <a:avLst/>
          </a:prstGeom>
          <a:noFill/>
          <a:ln/>
        </p:spPr>
        <p:txBody>
          <a:bodyPr wrap="square" lIns="0" tIns="0" rIns="0" bIns="0" rtlCol="0" anchor="ctr"/>
          <a:lstStyle/>
          <a:p>
            <a:pPr marL="0" indent="0">
              <a:buNone/>
            </a:pPr>
            <a:r>
              <a:rPr lang="en-US" sz="1200" dirty="0">
                <a:solidFill>
                  <a:srgbClr val="141235"/>
                </a:solidFill>
                <a:latin typeface="Calibri" pitchFamily="34" charset="0"/>
                <a:ea typeface="Calibri" pitchFamily="34" charset="-122"/>
                <a:cs typeface="Calibri" pitchFamily="34" charset="-120"/>
              </a:rPr>
              <a:t>Auto-refund up to a set limit, straight from an inbox, no one in the loop</a:t>
            </a:r>
            <a:endParaRPr lang="en-US" sz="1200" dirty="0"/>
          </a:p>
        </p:txBody>
      </p:sp>
      <p:sp>
        <p:nvSpPr>
          <p:cNvPr id="26" name="Text 24"/>
          <p:cNvSpPr/>
          <p:nvPr/>
        </p:nvSpPr>
        <p:spPr>
          <a:xfrm>
            <a:off x="7882128" y="3877056"/>
            <a:ext cx="1737360" cy="438912"/>
          </a:xfrm>
          <a:prstGeom prst="rect">
            <a:avLst/>
          </a:prstGeom>
          <a:noFill/>
          <a:ln/>
        </p:spPr>
        <p:txBody>
          <a:bodyPr wrap="square" lIns="0" tIns="0" rIns="0" bIns="0" rtlCol="0" anchor="ctr"/>
          <a:lstStyle/>
          <a:p>
            <a:pPr marL="0" indent="0">
              <a:buNone/>
            </a:pPr>
            <a:r>
              <a:rPr lang="en-US" sz="1300" dirty="0">
                <a:solidFill>
                  <a:srgbClr val="9B98B4"/>
                </a:solidFill>
                <a:latin typeface="Calibri" pitchFamily="34" charset="0"/>
                <a:ea typeface="Calibri" pitchFamily="34" charset="-122"/>
                <a:cs typeface="Calibri" pitchFamily="34" charset="-120"/>
              </a:rPr>
              <a:t>—</a:t>
            </a:r>
            <a:endParaRPr lang="en-US" sz="1300" dirty="0"/>
          </a:p>
        </p:txBody>
      </p:sp>
      <p:sp>
        <p:nvSpPr>
          <p:cNvPr id="27" name="Text 25"/>
          <p:cNvSpPr/>
          <p:nvPr/>
        </p:nvSpPr>
        <p:spPr>
          <a:xfrm>
            <a:off x="9710928" y="3877056"/>
            <a:ext cx="1737360" cy="438912"/>
          </a:xfrm>
          <a:prstGeom prst="rect">
            <a:avLst/>
          </a:prstGeom>
          <a:noFill/>
          <a:ln/>
        </p:spPr>
        <p:txBody>
          <a:bodyPr wrap="square" lIns="0" tIns="0" rIns="0" bIns="0" rtlCol="0" anchor="ctr"/>
          <a:lstStyle/>
          <a:p>
            <a:pPr marL="0" indent="0">
              <a:buNone/>
            </a:pPr>
            <a:r>
              <a:rPr lang="en-US" sz="1300" dirty="0">
                <a:solidFill>
                  <a:srgbClr val="9B98B4"/>
                </a:solidFill>
                <a:latin typeface="Calibri" pitchFamily="34" charset="0"/>
                <a:ea typeface="Calibri" pitchFamily="34" charset="-122"/>
                <a:cs typeface="Calibri" pitchFamily="34" charset="-120"/>
              </a:rPr>
              <a:t>—</a:t>
            </a:r>
            <a:endParaRPr lang="en-US" sz="1300" dirty="0"/>
          </a:p>
        </p:txBody>
      </p:sp>
      <p:sp>
        <p:nvSpPr>
          <p:cNvPr id="28" name="Shape 26"/>
          <p:cNvSpPr/>
          <p:nvPr/>
        </p:nvSpPr>
        <p:spPr>
          <a:xfrm>
            <a:off x="566928" y="4389120"/>
            <a:ext cx="11057839" cy="438912"/>
          </a:xfrm>
          <a:prstGeom prst="roundRect">
            <a:avLst>
              <a:gd name="adj" fmla="val 12500"/>
            </a:avLst>
          </a:prstGeom>
          <a:solidFill>
            <a:srgbClr val="F5F6FC"/>
          </a:solidFill>
          <a:ln w="12700">
            <a:solidFill>
              <a:srgbClr val="E3E4F2"/>
            </a:solidFill>
            <a:prstDash val="solid"/>
          </a:ln>
        </p:spPr>
        <p:txBody>
          <a:bodyPr/>
          <a:lstStyle/>
          <a:p>
            <a:endParaRPr lang="en-US"/>
          </a:p>
        </p:txBody>
      </p:sp>
      <p:sp>
        <p:nvSpPr>
          <p:cNvPr id="29" name="Text 27"/>
          <p:cNvSpPr/>
          <p:nvPr/>
        </p:nvSpPr>
        <p:spPr>
          <a:xfrm>
            <a:off x="621792" y="4389120"/>
            <a:ext cx="310896" cy="438912"/>
          </a:xfrm>
          <a:prstGeom prst="rect">
            <a:avLst/>
          </a:prstGeom>
          <a:noFill/>
          <a:ln/>
        </p:spPr>
        <p:txBody>
          <a:bodyPr wrap="square" lIns="0" tIns="0" rIns="0" bIns="0" rtlCol="0" anchor="ctr"/>
          <a:lstStyle/>
          <a:p>
            <a:pPr marL="0" indent="0" algn="ctr">
              <a:buNone/>
            </a:pPr>
            <a:r>
              <a:rPr lang="en-US" sz="1100" b="1" dirty="0">
                <a:solidFill>
                  <a:srgbClr val="5B4BE8"/>
                </a:solidFill>
                <a:latin typeface="Calibri" pitchFamily="34" charset="0"/>
                <a:ea typeface="Calibri" pitchFamily="34" charset="-122"/>
                <a:cs typeface="Calibri" pitchFamily="34" charset="-120"/>
              </a:rPr>
              <a:t>5</a:t>
            </a:r>
            <a:endParaRPr lang="en-US" sz="1100" dirty="0"/>
          </a:p>
        </p:txBody>
      </p:sp>
      <p:sp>
        <p:nvSpPr>
          <p:cNvPr id="30" name="Text 28"/>
          <p:cNvSpPr/>
          <p:nvPr/>
        </p:nvSpPr>
        <p:spPr>
          <a:xfrm>
            <a:off x="987552" y="4389120"/>
            <a:ext cx="6675120" cy="438912"/>
          </a:xfrm>
          <a:prstGeom prst="rect">
            <a:avLst/>
          </a:prstGeom>
          <a:noFill/>
          <a:ln/>
        </p:spPr>
        <p:txBody>
          <a:bodyPr wrap="square" lIns="0" tIns="0" rIns="0" bIns="0" rtlCol="0" anchor="ctr"/>
          <a:lstStyle/>
          <a:p>
            <a:pPr marL="0" indent="0">
              <a:buNone/>
            </a:pPr>
            <a:r>
              <a:rPr lang="en-US" sz="1200" dirty="0">
                <a:solidFill>
                  <a:srgbClr val="141235"/>
                </a:solidFill>
                <a:latin typeface="Calibri" pitchFamily="34" charset="0"/>
                <a:ea typeface="Calibri" pitchFamily="34" charset="-122"/>
                <a:cs typeface="Calibri" pitchFamily="34" charset="-120"/>
              </a:rPr>
              <a:t>Route each incoming request to billing, shipping, or product</a:t>
            </a:r>
            <a:endParaRPr lang="en-US" sz="1200" dirty="0"/>
          </a:p>
        </p:txBody>
      </p:sp>
      <p:sp>
        <p:nvSpPr>
          <p:cNvPr id="31" name="Text 29"/>
          <p:cNvSpPr/>
          <p:nvPr/>
        </p:nvSpPr>
        <p:spPr>
          <a:xfrm>
            <a:off x="7882128" y="4389120"/>
            <a:ext cx="1737360" cy="438912"/>
          </a:xfrm>
          <a:prstGeom prst="rect">
            <a:avLst/>
          </a:prstGeom>
          <a:noFill/>
          <a:ln/>
        </p:spPr>
        <p:txBody>
          <a:bodyPr wrap="square" lIns="0" tIns="0" rIns="0" bIns="0" rtlCol="0" anchor="ctr"/>
          <a:lstStyle/>
          <a:p>
            <a:pPr marL="0" indent="0">
              <a:buNone/>
            </a:pPr>
            <a:r>
              <a:rPr lang="en-US" sz="1300" dirty="0">
                <a:solidFill>
                  <a:srgbClr val="9B98B4"/>
                </a:solidFill>
                <a:latin typeface="Calibri" pitchFamily="34" charset="0"/>
                <a:ea typeface="Calibri" pitchFamily="34" charset="-122"/>
                <a:cs typeface="Calibri" pitchFamily="34" charset="-120"/>
              </a:rPr>
              <a:t>—</a:t>
            </a:r>
            <a:endParaRPr lang="en-US" sz="1300" dirty="0"/>
          </a:p>
        </p:txBody>
      </p:sp>
      <p:sp>
        <p:nvSpPr>
          <p:cNvPr id="32" name="Text 30"/>
          <p:cNvSpPr/>
          <p:nvPr/>
        </p:nvSpPr>
        <p:spPr>
          <a:xfrm>
            <a:off x="9710928" y="4389120"/>
            <a:ext cx="1737360" cy="438912"/>
          </a:xfrm>
          <a:prstGeom prst="rect">
            <a:avLst/>
          </a:prstGeom>
          <a:noFill/>
          <a:ln/>
        </p:spPr>
        <p:txBody>
          <a:bodyPr wrap="square" lIns="0" tIns="0" rIns="0" bIns="0" rtlCol="0" anchor="ctr"/>
          <a:lstStyle/>
          <a:p>
            <a:pPr marL="0" indent="0">
              <a:buNone/>
            </a:pPr>
            <a:r>
              <a:rPr lang="en-US" sz="1300" dirty="0">
                <a:solidFill>
                  <a:srgbClr val="9B98B4"/>
                </a:solidFill>
                <a:latin typeface="Calibri" pitchFamily="34" charset="0"/>
                <a:ea typeface="Calibri" pitchFamily="34" charset="-122"/>
                <a:cs typeface="Calibri" pitchFamily="34" charset="-120"/>
              </a:rPr>
              <a:t>—</a:t>
            </a:r>
            <a:endParaRPr lang="en-US" sz="1300" dirty="0"/>
          </a:p>
        </p:txBody>
      </p:sp>
      <p:sp>
        <p:nvSpPr>
          <p:cNvPr id="33" name="Shape 31"/>
          <p:cNvSpPr/>
          <p:nvPr/>
        </p:nvSpPr>
        <p:spPr>
          <a:xfrm>
            <a:off x="566928" y="4901184"/>
            <a:ext cx="11057839" cy="438912"/>
          </a:xfrm>
          <a:prstGeom prst="roundRect">
            <a:avLst>
              <a:gd name="adj" fmla="val 12500"/>
            </a:avLst>
          </a:prstGeom>
          <a:solidFill>
            <a:srgbClr val="FFFFFF"/>
          </a:solidFill>
          <a:ln w="12700">
            <a:solidFill>
              <a:srgbClr val="E3E4F2"/>
            </a:solidFill>
            <a:prstDash val="solid"/>
          </a:ln>
        </p:spPr>
        <p:txBody>
          <a:bodyPr/>
          <a:lstStyle/>
          <a:p>
            <a:endParaRPr lang="en-US"/>
          </a:p>
        </p:txBody>
      </p:sp>
      <p:sp>
        <p:nvSpPr>
          <p:cNvPr id="34" name="Text 32"/>
          <p:cNvSpPr/>
          <p:nvPr/>
        </p:nvSpPr>
        <p:spPr>
          <a:xfrm>
            <a:off x="621792" y="4901184"/>
            <a:ext cx="310896" cy="438912"/>
          </a:xfrm>
          <a:prstGeom prst="rect">
            <a:avLst/>
          </a:prstGeom>
          <a:noFill/>
          <a:ln/>
        </p:spPr>
        <p:txBody>
          <a:bodyPr wrap="square" lIns="0" tIns="0" rIns="0" bIns="0" rtlCol="0" anchor="ctr"/>
          <a:lstStyle/>
          <a:p>
            <a:pPr marL="0" indent="0" algn="ctr">
              <a:buNone/>
            </a:pPr>
            <a:r>
              <a:rPr lang="en-US" sz="1100" b="1" dirty="0">
                <a:solidFill>
                  <a:srgbClr val="5B4BE8"/>
                </a:solidFill>
                <a:latin typeface="Calibri" pitchFamily="34" charset="0"/>
                <a:ea typeface="Calibri" pitchFamily="34" charset="-122"/>
                <a:cs typeface="Calibri" pitchFamily="34" charset="-120"/>
              </a:rPr>
              <a:t>6</a:t>
            </a:r>
            <a:endParaRPr lang="en-US" sz="1100" dirty="0"/>
          </a:p>
        </p:txBody>
      </p:sp>
      <p:sp>
        <p:nvSpPr>
          <p:cNvPr id="35" name="Text 33"/>
          <p:cNvSpPr/>
          <p:nvPr/>
        </p:nvSpPr>
        <p:spPr>
          <a:xfrm>
            <a:off x="987552" y="4901184"/>
            <a:ext cx="6675120" cy="438912"/>
          </a:xfrm>
          <a:prstGeom prst="rect">
            <a:avLst/>
          </a:prstGeom>
          <a:noFill/>
          <a:ln/>
        </p:spPr>
        <p:txBody>
          <a:bodyPr wrap="square" lIns="0" tIns="0" rIns="0" bIns="0" rtlCol="0" anchor="ctr"/>
          <a:lstStyle/>
          <a:p>
            <a:pPr marL="0" indent="0">
              <a:buNone/>
            </a:pPr>
            <a:r>
              <a:rPr lang="en-US" sz="1200" dirty="0">
                <a:solidFill>
                  <a:srgbClr val="141235"/>
                </a:solidFill>
                <a:latin typeface="Calibri" pitchFamily="34" charset="0"/>
                <a:ea typeface="Calibri" pitchFamily="34" charset="-122"/>
                <a:cs typeface="Calibri" pitchFamily="34" charset="-120"/>
              </a:rPr>
              <a:t>Why is Q3 revenue down?</a:t>
            </a:r>
            <a:endParaRPr lang="en-US" sz="1200" dirty="0"/>
          </a:p>
        </p:txBody>
      </p:sp>
      <p:sp>
        <p:nvSpPr>
          <p:cNvPr id="36" name="Text 34"/>
          <p:cNvSpPr/>
          <p:nvPr/>
        </p:nvSpPr>
        <p:spPr>
          <a:xfrm>
            <a:off x="7882128" y="4901184"/>
            <a:ext cx="1737360" cy="438912"/>
          </a:xfrm>
          <a:prstGeom prst="rect">
            <a:avLst/>
          </a:prstGeom>
          <a:noFill/>
          <a:ln/>
        </p:spPr>
        <p:txBody>
          <a:bodyPr wrap="square" lIns="0" tIns="0" rIns="0" bIns="0" rtlCol="0" anchor="ctr"/>
          <a:lstStyle/>
          <a:p>
            <a:pPr marL="0" indent="0">
              <a:buNone/>
            </a:pPr>
            <a:r>
              <a:rPr lang="en-US" sz="1300" dirty="0">
                <a:solidFill>
                  <a:srgbClr val="9B98B4"/>
                </a:solidFill>
                <a:latin typeface="Calibri" pitchFamily="34" charset="0"/>
                <a:ea typeface="Calibri" pitchFamily="34" charset="-122"/>
                <a:cs typeface="Calibri" pitchFamily="34" charset="-120"/>
              </a:rPr>
              <a:t>—</a:t>
            </a:r>
            <a:endParaRPr lang="en-US" sz="1300" dirty="0"/>
          </a:p>
        </p:txBody>
      </p:sp>
      <p:sp>
        <p:nvSpPr>
          <p:cNvPr id="37" name="Text 35"/>
          <p:cNvSpPr/>
          <p:nvPr/>
        </p:nvSpPr>
        <p:spPr>
          <a:xfrm>
            <a:off x="9710928" y="4901184"/>
            <a:ext cx="1737360" cy="438912"/>
          </a:xfrm>
          <a:prstGeom prst="rect">
            <a:avLst/>
          </a:prstGeom>
          <a:noFill/>
          <a:ln/>
        </p:spPr>
        <p:txBody>
          <a:bodyPr wrap="square" lIns="0" tIns="0" rIns="0" bIns="0" rtlCol="0" anchor="ctr"/>
          <a:lstStyle/>
          <a:p>
            <a:pPr marL="0" indent="0">
              <a:buNone/>
            </a:pPr>
            <a:r>
              <a:rPr lang="en-US" sz="1300" dirty="0">
                <a:solidFill>
                  <a:srgbClr val="9B98B4"/>
                </a:solidFill>
                <a:latin typeface="Calibri" pitchFamily="34" charset="0"/>
                <a:ea typeface="Calibri" pitchFamily="34" charset="-122"/>
                <a:cs typeface="Calibri" pitchFamily="34" charset="-120"/>
              </a:rPr>
              <a:t>—</a:t>
            </a:r>
            <a:endParaRPr lang="en-US" sz="1300" dirty="0"/>
          </a:p>
        </p:txBody>
      </p:sp>
      <p:sp>
        <p:nvSpPr>
          <p:cNvPr id="38" name="Text 36"/>
          <p:cNvSpPr/>
          <p:nvPr/>
        </p:nvSpPr>
        <p:spPr>
          <a:xfrm>
            <a:off x="566928" y="5468112"/>
            <a:ext cx="11057839" cy="256032"/>
          </a:xfrm>
          <a:prstGeom prst="rect">
            <a:avLst/>
          </a:prstGeom>
          <a:noFill/>
          <a:ln/>
        </p:spPr>
        <p:txBody>
          <a:bodyPr wrap="square" lIns="0" tIns="0" rIns="0" bIns="0" rtlCol="0" anchor="ctr"/>
          <a:lstStyle/>
          <a:p>
            <a:pPr marL="0" indent="0">
              <a:buNone/>
            </a:pPr>
            <a:r>
              <a:rPr lang="en-US" sz="950" i="1" dirty="0">
                <a:solidFill>
                  <a:srgbClr val="9B98B4"/>
                </a:solidFill>
                <a:latin typeface="Calibri" pitchFamily="34" charset="0"/>
                <a:ea typeface="Calibri" pitchFamily="34" charset="-122"/>
                <a:cs typeface="Calibri" pitchFamily="34" charset="-120"/>
              </a:rPr>
              <a:t>Score each on volume, judgment required, cost of a wrong step, and whether the context even exists in writing.</a:t>
            </a:r>
            <a:endParaRPr lang="en-US" sz="950" dirty="0"/>
          </a:p>
        </p:txBody>
      </p:sp>
      <p:sp>
        <p:nvSpPr>
          <p:cNvPr id="39" name="Text 37"/>
          <p:cNvSpPr/>
          <p:nvPr/>
        </p:nvSpPr>
        <p:spPr>
          <a:xfrm>
            <a:off x="566928" y="5742432"/>
            <a:ext cx="11057839" cy="256032"/>
          </a:xfrm>
          <a:prstGeom prst="rect">
            <a:avLst/>
          </a:prstGeom>
          <a:noFill/>
          <a:ln/>
        </p:spPr>
        <p:txBody>
          <a:bodyPr wrap="square" lIns="0" tIns="0" rIns="0" bIns="0" rtlCol="0" anchor="ctr"/>
          <a:lstStyle/>
          <a:p>
            <a:pPr marL="0" indent="0">
              <a:buNone/>
            </a:pPr>
            <a:r>
              <a:rPr lang="en-US" sz="950" i="1" dirty="0">
                <a:solidFill>
                  <a:srgbClr val="9B98B4"/>
                </a:solidFill>
                <a:latin typeface="Calibri" pitchFamily="34" charset="0"/>
                <a:ea typeface="Calibri" pitchFamily="34" charset="-122"/>
                <a:cs typeface="Calibri" pitchFamily="34" charset="-120"/>
              </a:rPr>
              <a:t>Mixed pairs work best — put one builder with one non-builder.</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B0A22"/>
        </a:solidFill>
        <a:effectLst/>
      </p:bgPr>
    </p:bg>
    <p:spTree>
      <p:nvGrpSpPr>
        <p:cNvPr id="1" name=""/>
        <p:cNvGrpSpPr/>
        <p:nvPr/>
      </p:nvGrpSpPr>
      <p:grpSpPr>
        <a:xfrm>
          <a:off x="0" y="0"/>
          <a:ext cx="0" cy="0"/>
          <a:chOff x="0" y="0"/>
          <a:chExt cx="0" cy="0"/>
        </a:xfrm>
      </p:grpSpPr>
      <p:pic>
        <p:nvPicPr>
          <p:cNvPr id="2" name="Image 0" descr="/home/claude/work/bg_dark.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6126480" y="1234440"/>
            <a:ext cx="5486400" cy="2743200"/>
          </a:xfrm>
          <a:prstGeom prst="rect">
            <a:avLst/>
          </a:prstGeom>
          <a:noFill/>
          <a:ln/>
        </p:spPr>
        <p:txBody>
          <a:bodyPr wrap="square" lIns="0" tIns="0" rIns="0" bIns="0" rtlCol="0" anchor="ctr"/>
          <a:lstStyle/>
          <a:p>
            <a:pPr marL="0" indent="0" algn="r">
              <a:buNone/>
            </a:pPr>
            <a:r>
              <a:rPr lang="en-US" sz="17600" b="1" dirty="0">
                <a:solidFill>
                  <a:srgbClr val="5B4BE8">
                    <a:alpha val="30000"/>
                  </a:srgbClr>
                </a:solidFill>
                <a:latin typeface="Cambria" pitchFamily="34" charset="0"/>
                <a:ea typeface="Cambria" pitchFamily="34" charset="-122"/>
                <a:cs typeface="Cambria" pitchFamily="34" charset="-120"/>
              </a:rPr>
              <a:t>02</a:t>
            </a:r>
            <a:endParaRPr lang="en-US" sz="17600" dirty="0"/>
          </a:p>
        </p:txBody>
      </p:sp>
      <p:sp>
        <p:nvSpPr>
          <p:cNvPr id="4" name="Shape 1"/>
          <p:cNvSpPr/>
          <p:nvPr/>
        </p:nvSpPr>
        <p:spPr>
          <a:xfrm>
            <a:off x="566928" y="2084832"/>
            <a:ext cx="566928" cy="566928"/>
          </a:xfrm>
          <a:prstGeom prst="ellipse">
            <a:avLst/>
          </a:prstGeom>
          <a:solidFill>
            <a:srgbClr val="F5A524"/>
          </a:solidFill>
          <a:ln w="12700">
            <a:solidFill>
              <a:srgbClr val="F5A524"/>
            </a:solidFill>
            <a:prstDash val="solid"/>
          </a:ln>
        </p:spPr>
        <p:txBody>
          <a:bodyPr/>
          <a:lstStyle/>
          <a:p>
            <a:endParaRPr lang="en-US"/>
          </a:p>
        </p:txBody>
      </p:sp>
      <p:pic>
        <p:nvPicPr>
          <p:cNvPr id="5" name="Image 1" descr="preencoded.png"/>
          <p:cNvPicPr>
            <a:picLocks noChangeAspect="1"/>
          </p:cNvPicPr>
          <p:nvPr/>
        </p:nvPicPr>
        <p:blipFill>
          <a:blip r:embed="rId4"/>
          <a:stretch>
            <a:fillRect/>
          </a:stretch>
        </p:blipFill>
        <p:spPr>
          <a:xfrm>
            <a:off x="708660" y="2226564"/>
            <a:ext cx="283464" cy="283464"/>
          </a:xfrm>
          <a:prstGeom prst="rect">
            <a:avLst/>
          </a:prstGeom>
        </p:spPr>
      </p:pic>
      <p:sp>
        <p:nvSpPr>
          <p:cNvPr id="6" name="Text 2"/>
          <p:cNvSpPr/>
          <p:nvPr/>
        </p:nvSpPr>
        <p:spPr>
          <a:xfrm>
            <a:off x="566928" y="2852928"/>
            <a:ext cx="7315200" cy="256032"/>
          </a:xfrm>
          <a:prstGeom prst="rect">
            <a:avLst/>
          </a:prstGeom>
          <a:noFill/>
          <a:ln/>
        </p:spPr>
        <p:txBody>
          <a:bodyPr wrap="square" lIns="0" tIns="0" rIns="0" bIns="0" rtlCol="0" anchor="ctr"/>
          <a:lstStyle/>
          <a:p>
            <a:pPr marL="0" indent="0">
              <a:buNone/>
            </a:pPr>
            <a:r>
              <a:rPr lang="en-US" sz="1100" b="1" kern="0" spc="240" dirty="0">
                <a:solidFill>
                  <a:srgbClr val="F5A524"/>
                </a:solidFill>
                <a:latin typeface="Calibri" pitchFamily="34" charset="0"/>
                <a:ea typeface="Calibri" pitchFamily="34" charset="-122"/>
                <a:cs typeface="Calibri" pitchFamily="34" charset="-120"/>
              </a:rPr>
              <a:t>MODULE 02</a:t>
            </a:r>
            <a:endParaRPr lang="en-US" sz="1100" dirty="0"/>
          </a:p>
        </p:txBody>
      </p:sp>
      <p:sp>
        <p:nvSpPr>
          <p:cNvPr id="7" name="Text 3"/>
          <p:cNvSpPr/>
          <p:nvPr/>
        </p:nvSpPr>
        <p:spPr>
          <a:xfrm>
            <a:off x="566928" y="3145536"/>
            <a:ext cx="8595360" cy="914400"/>
          </a:xfrm>
          <a:prstGeom prst="rect">
            <a:avLst/>
          </a:prstGeom>
          <a:noFill/>
          <a:ln/>
        </p:spPr>
        <p:txBody>
          <a:bodyPr wrap="square" lIns="0" tIns="0" rIns="0" bIns="0" rtlCol="0" anchor="t"/>
          <a:lstStyle/>
          <a:p>
            <a:pPr marL="0" indent="0">
              <a:buNone/>
            </a:pPr>
            <a:r>
              <a:rPr lang="en-US" sz="4600" b="1" dirty="0">
                <a:solidFill>
                  <a:srgbClr val="FFFFFF"/>
                </a:solidFill>
                <a:latin typeface="Cambria" pitchFamily="34" charset="0"/>
                <a:ea typeface="Cambria" pitchFamily="34" charset="-122"/>
                <a:cs typeface="Cambria" pitchFamily="34" charset="-120"/>
              </a:rPr>
              <a:t>Tool calling</a:t>
            </a:r>
            <a:endParaRPr lang="en-US" sz="4600" dirty="0"/>
          </a:p>
        </p:txBody>
      </p:sp>
      <p:sp>
        <p:nvSpPr>
          <p:cNvPr id="8" name="Text 4"/>
          <p:cNvSpPr/>
          <p:nvPr/>
        </p:nvSpPr>
        <p:spPr>
          <a:xfrm>
            <a:off x="566928" y="4169664"/>
            <a:ext cx="7863840" cy="731520"/>
          </a:xfrm>
          <a:prstGeom prst="rect">
            <a:avLst/>
          </a:prstGeom>
          <a:noFill/>
          <a:ln/>
        </p:spPr>
        <p:txBody>
          <a:bodyPr wrap="square" lIns="0" tIns="0" rIns="0" bIns="0" rtlCol="0" anchor="t"/>
          <a:lstStyle/>
          <a:p>
            <a:pPr marL="0" indent="0">
              <a:lnSpc>
                <a:spcPct val="120000"/>
              </a:lnSpc>
              <a:buNone/>
            </a:pPr>
            <a:r>
              <a:rPr lang="en-US" sz="1600" dirty="0">
                <a:solidFill>
                  <a:srgbClr val="B9B4E0"/>
                </a:solidFill>
                <a:latin typeface="Calibri" pitchFamily="34" charset="0"/>
                <a:ea typeface="Calibri" pitchFamily="34" charset="-122"/>
                <a:cs typeface="Calibri" pitchFamily="34" charset="-120"/>
              </a:rPr>
              <a:t>The model never touches a tool. It only ever asks — and your code decides.</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02 · TOOL CALLING</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3000" b="1" dirty="0">
                <a:solidFill>
                  <a:srgbClr val="141235"/>
                </a:solidFill>
                <a:latin typeface="Cambria" pitchFamily="34" charset="0"/>
                <a:ea typeface="Cambria" pitchFamily="34" charset="-122"/>
                <a:cs typeface="Cambria" pitchFamily="34" charset="-120"/>
              </a:rPr>
              <a:t>What everyone assumes, and what actually happens</a:t>
            </a:r>
            <a:endParaRPr lang="en-US" sz="3000" dirty="0"/>
          </a:p>
        </p:txBody>
      </p:sp>
      <p:sp>
        <p:nvSpPr>
          <p:cNvPr id="4" name="Shape 2"/>
          <p:cNvSpPr/>
          <p:nvPr/>
        </p:nvSpPr>
        <p:spPr>
          <a:xfrm>
            <a:off x="566928" y="1517904"/>
            <a:ext cx="11057839" cy="1517904"/>
          </a:xfrm>
          <a:prstGeom prst="roundRect">
            <a:avLst>
              <a:gd name="adj" fmla="val 6024"/>
            </a:avLst>
          </a:prstGeom>
          <a:solidFill>
            <a:srgbClr val="FDECEC"/>
          </a:solidFill>
          <a:ln w="12700">
            <a:solidFill>
              <a:srgbClr val="F1C9C9"/>
            </a:solidFill>
            <a:prstDash val="solid"/>
          </a:ln>
        </p:spPr>
        <p:txBody>
          <a:bodyPr/>
          <a:lstStyle/>
          <a:p>
            <a:endParaRPr lang="en-US"/>
          </a:p>
        </p:txBody>
      </p:sp>
      <p:sp>
        <p:nvSpPr>
          <p:cNvPr id="5" name="Text 3"/>
          <p:cNvSpPr/>
          <p:nvPr/>
        </p:nvSpPr>
        <p:spPr>
          <a:xfrm>
            <a:off x="841248" y="1682496"/>
            <a:ext cx="1463040" cy="256032"/>
          </a:xfrm>
          <a:prstGeom prst="rect">
            <a:avLst/>
          </a:prstGeom>
          <a:noFill/>
          <a:ln/>
        </p:spPr>
        <p:txBody>
          <a:bodyPr wrap="square" lIns="0" tIns="0" rIns="0" bIns="0" rtlCol="0" anchor="ctr"/>
          <a:lstStyle/>
          <a:p>
            <a:pPr marL="0" indent="0">
              <a:buNone/>
            </a:pPr>
            <a:r>
              <a:rPr lang="en-US" sz="1000" b="1" kern="0" spc="200" dirty="0">
                <a:solidFill>
                  <a:srgbClr val="D93A3F"/>
                </a:solidFill>
                <a:latin typeface="Calibri" pitchFamily="34" charset="0"/>
                <a:ea typeface="Calibri" pitchFamily="34" charset="-122"/>
                <a:cs typeface="Calibri" pitchFamily="34" charset="-120"/>
              </a:rPr>
              <a:t>ASSUMED</a:t>
            </a:r>
            <a:endParaRPr lang="en-US" sz="1000" dirty="0"/>
          </a:p>
        </p:txBody>
      </p:sp>
      <p:sp>
        <p:nvSpPr>
          <p:cNvPr id="17" name="Text 15"/>
          <p:cNvSpPr/>
          <p:nvPr/>
        </p:nvSpPr>
        <p:spPr>
          <a:xfrm>
            <a:off x="841248" y="2724912"/>
            <a:ext cx="10509199" cy="237744"/>
          </a:xfrm>
          <a:prstGeom prst="rect">
            <a:avLst/>
          </a:prstGeom>
          <a:noFill/>
          <a:ln/>
        </p:spPr>
        <p:txBody>
          <a:bodyPr wrap="square" lIns="0" tIns="0" rIns="0" bIns="0" rtlCol="0" anchor="ctr"/>
          <a:lstStyle/>
          <a:p>
            <a:pPr marL="0" indent="0">
              <a:buNone/>
            </a:pPr>
            <a:r>
              <a:rPr lang="en-US" sz="1050" i="1" dirty="0">
                <a:solidFill>
                  <a:srgbClr val="D93A3F"/>
                </a:solidFill>
                <a:latin typeface="Calibri" pitchFamily="34" charset="0"/>
                <a:ea typeface="Calibri" pitchFamily="34" charset="-122"/>
                <a:cs typeface="Calibri" pitchFamily="34" charset="-120"/>
              </a:rPr>
              <a:t>“the model goes and does things”</a:t>
            </a:r>
            <a:endParaRPr lang="en-US" sz="1050" dirty="0"/>
          </a:p>
        </p:txBody>
      </p:sp>
      <p:sp>
        <p:nvSpPr>
          <p:cNvPr id="18" name="Shape 16"/>
          <p:cNvSpPr/>
          <p:nvPr/>
        </p:nvSpPr>
        <p:spPr>
          <a:xfrm>
            <a:off x="566928" y="3200400"/>
            <a:ext cx="11057839" cy="2157984"/>
          </a:xfrm>
          <a:prstGeom prst="roundRect">
            <a:avLst>
              <a:gd name="adj" fmla="val 4237"/>
            </a:avLst>
          </a:prstGeom>
          <a:solidFill>
            <a:srgbClr val="E7F7F1"/>
          </a:solidFill>
          <a:ln w="12700">
            <a:solidFill>
              <a:srgbClr val="C2E6D7"/>
            </a:solidFill>
            <a:prstDash val="solid"/>
          </a:ln>
        </p:spPr>
        <p:txBody>
          <a:bodyPr/>
          <a:lstStyle/>
          <a:p>
            <a:endParaRPr lang="en-US"/>
          </a:p>
        </p:txBody>
      </p:sp>
      <p:sp>
        <p:nvSpPr>
          <p:cNvPr id="19" name="Text 17"/>
          <p:cNvSpPr/>
          <p:nvPr/>
        </p:nvSpPr>
        <p:spPr>
          <a:xfrm>
            <a:off x="841248" y="3346704"/>
            <a:ext cx="1463040" cy="256032"/>
          </a:xfrm>
          <a:prstGeom prst="rect">
            <a:avLst/>
          </a:prstGeom>
          <a:noFill/>
          <a:ln/>
        </p:spPr>
        <p:txBody>
          <a:bodyPr wrap="square" lIns="0" tIns="0" rIns="0" bIns="0" rtlCol="0" anchor="ctr"/>
          <a:lstStyle/>
          <a:p>
            <a:pPr marL="0" indent="0">
              <a:buNone/>
            </a:pPr>
            <a:r>
              <a:rPr lang="en-US" sz="1000" b="1" kern="0" spc="200" dirty="0">
                <a:solidFill>
                  <a:srgbClr val="0E9F6E"/>
                </a:solidFill>
                <a:latin typeface="Calibri" pitchFamily="34" charset="0"/>
                <a:ea typeface="Calibri" pitchFamily="34" charset="-122"/>
                <a:cs typeface="Calibri" pitchFamily="34" charset="-120"/>
              </a:rPr>
              <a:t>ACTUAL</a:t>
            </a:r>
            <a:endParaRPr lang="en-US" sz="1000" dirty="0"/>
          </a:p>
        </p:txBody>
      </p:sp>
      <p:sp>
        <p:nvSpPr>
          <p:cNvPr id="34" name="Shape 32"/>
          <p:cNvSpPr/>
          <p:nvPr/>
        </p:nvSpPr>
        <p:spPr>
          <a:xfrm>
            <a:off x="566928" y="5486400"/>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35" name="Shape 33"/>
          <p:cNvSpPr/>
          <p:nvPr/>
        </p:nvSpPr>
        <p:spPr>
          <a:xfrm>
            <a:off x="841248" y="5705856"/>
            <a:ext cx="384048" cy="384048"/>
          </a:xfrm>
          <a:prstGeom prst="ellipse">
            <a:avLst/>
          </a:prstGeom>
          <a:solidFill>
            <a:srgbClr val="F5A524"/>
          </a:solidFill>
          <a:ln w="12700">
            <a:solidFill>
              <a:srgbClr val="F5A524"/>
            </a:solidFill>
            <a:prstDash val="solid"/>
          </a:ln>
        </p:spPr>
        <p:txBody>
          <a:bodyPr/>
          <a:lstStyle/>
          <a:p>
            <a:endParaRPr lang="en-US"/>
          </a:p>
        </p:txBody>
      </p:sp>
      <p:pic>
        <p:nvPicPr>
          <p:cNvPr id="36" name="Image 0" descr="preencoded.png"/>
          <p:cNvPicPr>
            <a:picLocks noChangeAspect="1"/>
          </p:cNvPicPr>
          <p:nvPr/>
        </p:nvPicPr>
        <p:blipFill>
          <a:blip r:embed="rId3"/>
          <a:stretch>
            <a:fillRect/>
          </a:stretch>
        </p:blipFill>
        <p:spPr>
          <a:xfrm>
            <a:off x="937260" y="5801868"/>
            <a:ext cx="192024" cy="192024"/>
          </a:xfrm>
          <a:prstGeom prst="rect">
            <a:avLst/>
          </a:prstGeom>
        </p:spPr>
      </p:pic>
      <p:sp>
        <p:nvSpPr>
          <p:cNvPr id="37" name="Text 34"/>
          <p:cNvSpPr/>
          <p:nvPr/>
        </p:nvSpPr>
        <p:spPr>
          <a:xfrm>
            <a:off x="1371600" y="5541264"/>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The model is an advisor, not an operator. It can ask for anything; every single thing that actually happens was executed by software your team wrote and controls.</a:t>
            </a:r>
            <a:endParaRPr lang="en-US" sz="1050" dirty="0"/>
          </a:p>
        </p:txBody>
      </p:sp>
      <p:pic>
        <p:nvPicPr>
          <p:cNvPr id="38" name="Picture 37">
            <a:extLst>
              <a:ext uri="{FF2B5EF4-FFF2-40B4-BE49-F238E27FC236}">
                <a16:creationId xmlns:a16="http://schemas.microsoft.com/office/drawing/2014/main" id="{C669855A-9348-2F23-BA35-C074B5F9CB11}"/>
              </a:ext>
            </a:extLst>
          </p:cNvPr>
          <p:cNvPicPr>
            <a:picLocks noChangeAspect="1"/>
          </p:cNvPicPr>
          <p:nvPr/>
        </p:nvPicPr>
        <p:blipFill>
          <a:blip r:embed="rId4"/>
          <a:stretch>
            <a:fillRect/>
          </a:stretch>
        </p:blipFill>
        <p:spPr>
          <a:xfrm>
            <a:off x="2130552" y="1735098"/>
            <a:ext cx="7772400" cy="1025636"/>
          </a:xfrm>
          <a:prstGeom prst="rect">
            <a:avLst/>
          </a:prstGeom>
        </p:spPr>
      </p:pic>
      <p:pic>
        <p:nvPicPr>
          <p:cNvPr id="39" name="Picture 38">
            <a:extLst>
              <a:ext uri="{FF2B5EF4-FFF2-40B4-BE49-F238E27FC236}">
                <a16:creationId xmlns:a16="http://schemas.microsoft.com/office/drawing/2014/main" id="{C605BA01-8830-6C4F-6CA0-AC74E2D3E869}"/>
              </a:ext>
            </a:extLst>
          </p:cNvPr>
          <p:cNvPicPr>
            <a:picLocks noChangeAspect="1"/>
          </p:cNvPicPr>
          <p:nvPr/>
        </p:nvPicPr>
        <p:blipFill>
          <a:blip r:embed="rId5"/>
          <a:stretch>
            <a:fillRect/>
          </a:stretch>
        </p:blipFill>
        <p:spPr>
          <a:xfrm>
            <a:off x="2130552" y="3251515"/>
            <a:ext cx="7772400" cy="2106869"/>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02 · TOOL CALLING</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3000" b="1" dirty="0">
                <a:solidFill>
                  <a:srgbClr val="141235"/>
                </a:solidFill>
                <a:latin typeface="Cambria" pitchFamily="34" charset="0"/>
                <a:ea typeface="Cambria" pitchFamily="34" charset="-122"/>
                <a:cs typeface="Cambria" pitchFamily="34" charset="-120"/>
              </a:rPr>
              <a:t>Same object as module 00, one new field</a:t>
            </a:r>
            <a:endParaRPr lang="en-US" sz="3000" dirty="0"/>
          </a:p>
        </p:txBody>
      </p:sp>
      <p:sp>
        <p:nvSpPr>
          <p:cNvPr id="4" name="Text 2"/>
          <p:cNvSpPr/>
          <p:nvPr/>
        </p:nvSpPr>
        <p:spPr>
          <a:xfrm>
            <a:off x="566928" y="1371600"/>
            <a:ext cx="11057839" cy="310896"/>
          </a:xfrm>
          <a:prstGeom prst="rect">
            <a:avLst/>
          </a:prstGeom>
          <a:noFill/>
          <a:ln/>
        </p:spPr>
        <p:txBody>
          <a:bodyPr wrap="square" lIns="0" tIns="0" rIns="0" bIns="0" rtlCol="0" anchor="t"/>
          <a:lstStyle/>
          <a:p>
            <a:pPr marL="0" indent="0">
              <a:buNone/>
            </a:pPr>
            <a:r>
              <a:rPr lang="en-US" sz="1400" dirty="0">
                <a:solidFill>
                  <a:srgbClr val="3B3760"/>
                </a:solidFill>
                <a:latin typeface="Calibri" pitchFamily="34" charset="0"/>
                <a:ea typeface="Calibri" pitchFamily="34" charset="-122"/>
                <a:cs typeface="Calibri" pitchFamily="34" charset="-120"/>
              </a:rPr>
              <a:t>Nothing exotic happens. The assistant message you already know grows a list called tool_calls, and content usually goes empty.</a:t>
            </a:r>
            <a:endParaRPr lang="en-US" sz="1400" dirty="0"/>
          </a:p>
        </p:txBody>
      </p:sp>
      <p:sp>
        <p:nvSpPr>
          <p:cNvPr id="5" name="Shape 3"/>
          <p:cNvSpPr/>
          <p:nvPr/>
        </p:nvSpPr>
        <p:spPr>
          <a:xfrm>
            <a:off x="566928" y="1883664"/>
            <a:ext cx="5943600" cy="3072384"/>
          </a:xfrm>
          <a:prstGeom prst="roundRect">
            <a:avLst>
              <a:gd name="adj" fmla="val 2679"/>
            </a:avLst>
          </a:prstGeom>
          <a:solidFill>
            <a:srgbClr val="F7F8FD"/>
          </a:solidFill>
          <a:ln w="12700">
            <a:solidFill>
              <a:srgbClr val="E3E4F2"/>
            </a:solidFill>
            <a:prstDash val="solid"/>
          </a:ln>
        </p:spPr>
        <p:txBody>
          <a:bodyPr/>
          <a:lstStyle/>
          <a:p>
            <a:endParaRPr lang="en-US"/>
          </a:p>
        </p:txBody>
      </p:sp>
      <p:sp>
        <p:nvSpPr>
          <p:cNvPr id="6" name="Text 4"/>
          <p:cNvSpPr/>
          <p:nvPr/>
        </p:nvSpPr>
        <p:spPr>
          <a:xfrm>
            <a:off x="841248" y="2084832"/>
            <a:ext cx="5486400" cy="256032"/>
          </a:xfrm>
          <a:prstGeom prst="rect">
            <a:avLst/>
          </a:prstGeom>
          <a:noFill/>
          <a:ln/>
        </p:spPr>
        <p:txBody>
          <a:bodyPr wrap="square" lIns="0" tIns="0" rIns="0" bIns="0" rtlCol="0" anchor="ctr"/>
          <a:lstStyle/>
          <a:p>
            <a:pPr marL="0" indent="0">
              <a:buNone/>
            </a:pPr>
            <a:r>
              <a:rPr lang="en-US" sz="1100" dirty="0">
                <a:solidFill>
                  <a:srgbClr val="6E6B8A"/>
                </a:solidFill>
                <a:latin typeface="Courier New" pitchFamily="34" charset="0"/>
                <a:ea typeface="Courier New" pitchFamily="34" charset="-122"/>
                <a:cs typeface="Courier New" pitchFamily="34" charset="-120"/>
              </a:rPr>
              <a:t>message.role</a:t>
            </a:r>
            <a:endParaRPr lang="en-US" sz="1100" dirty="0"/>
          </a:p>
        </p:txBody>
      </p:sp>
      <p:sp>
        <p:nvSpPr>
          <p:cNvPr id="7" name="Text 5"/>
          <p:cNvSpPr/>
          <p:nvPr/>
        </p:nvSpPr>
        <p:spPr>
          <a:xfrm>
            <a:off x="841248" y="2359152"/>
            <a:ext cx="5486400" cy="256032"/>
          </a:xfrm>
          <a:prstGeom prst="rect">
            <a:avLst/>
          </a:prstGeom>
          <a:noFill/>
          <a:ln/>
        </p:spPr>
        <p:txBody>
          <a:bodyPr wrap="square" lIns="0" tIns="0" rIns="0" bIns="0" rtlCol="0" anchor="ctr"/>
          <a:lstStyle/>
          <a:p>
            <a:pPr marL="0" indent="0">
              <a:buNone/>
            </a:pPr>
            <a:r>
              <a:rPr lang="en-US" sz="1100" dirty="0">
                <a:solidFill>
                  <a:srgbClr val="3B3760"/>
                </a:solidFill>
                <a:latin typeface="Courier New" pitchFamily="34" charset="0"/>
                <a:ea typeface="Courier New" pitchFamily="34" charset="-122"/>
                <a:cs typeface="Courier New" pitchFamily="34" charset="-120"/>
              </a:rPr>
              <a:t>  "assistant"</a:t>
            </a:r>
            <a:endParaRPr lang="en-US" sz="1100" dirty="0"/>
          </a:p>
        </p:txBody>
      </p:sp>
      <p:sp>
        <p:nvSpPr>
          <p:cNvPr id="8" name="Text 6"/>
          <p:cNvSpPr/>
          <p:nvPr/>
        </p:nvSpPr>
        <p:spPr>
          <a:xfrm>
            <a:off x="841248" y="2633472"/>
            <a:ext cx="5486400" cy="256032"/>
          </a:xfrm>
          <a:prstGeom prst="rect">
            <a:avLst/>
          </a:prstGeom>
          <a:noFill/>
          <a:ln/>
        </p:spPr>
        <p:txBody>
          <a:bodyPr wrap="square" lIns="0" tIns="0" rIns="0" bIns="0" rtlCol="0" anchor="ctr"/>
          <a:lstStyle/>
          <a:p>
            <a:pPr marL="0" indent="0">
              <a:buNone/>
            </a:pPr>
            <a:r>
              <a:rPr lang="en-US" sz="1100" dirty="0">
                <a:solidFill>
                  <a:srgbClr val="6E6B8A"/>
                </a:solidFill>
                <a:latin typeface="Courier New" pitchFamily="34" charset="0"/>
                <a:ea typeface="Courier New" pitchFamily="34" charset="-122"/>
                <a:cs typeface="Courier New" pitchFamily="34" charset="-120"/>
              </a:rPr>
              <a:t>message.content</a:t>
            </a:r>
            <a:endParaRPr lang="en-US" sz="1100" dirty="0"/>
          </a:p>
        </p:txBody>
      </p:sp>
      <p:sp>
        <p:nvSpPr>
          <p:cNvPr id="9" name="Text 7"/>
          <p:cNvSpPr/>
          <p:nvPr/>
        </p:nvSpPr>
        <p:spPr>
          <a:xfrm>
            <a:off x="841248" y="2907792"/>
            <a:ext cx="5486400" cy="256032"/>
          </a:xfrm>
          <a:prstGeom prst="rect">
            <a:avLst/>
          </a:prstGeom>
          <a:noFill/>
          <a:ln/>
        </p:spPr>
        <p:txBody>
          <a:bodyPr wrap="square" lIns="0" tIns="0" rIns="0" bIns="0" rtlCol="0" anchor="ctr"/>
          <a:lstStyle/>
          <a:p>
            <a:pPr marL="0" indent="0">
              <a:buNone/>
            </a:pPr>
            <a:r>
              <a:rPr lang="en-US" sz="1100" dirty="0">
                <a:solidFill>
                  <a:srgbClr val="9B98B4"/>
                </a:solidFill>
                <a:latin typeface="Courier New" pitchFamily="34" charset="0"/>
                <a:ea typeface="Courier New" pitchFamily="34" charset="-122"/>
                <a:cs typeface="Courier New" pitchFamily="34" charset="-120"/>
              </a:rPr>
              <a:t>  None          ← often empty</a:t>
            </a:r>
            <a:endParaRPr lang="en-US" sz="1100" dirty="0"/>
          </a:p>
        </p:txBody>
      </p:sp>
      <p:sp>
        <p:nvSpPr>
          <p:cNvPr id="10" name="Text 8"/>
          <p:cNvSpPr/>
          <p:nvPr/>
        </p:nvSpPr>
        <p:spPr>
          <a:xfrm>
            <a:off x="841248" y="3182112"/>
            <a:ext cx="5486400" cy="256032"/>
          </a:xfrm>
          <a:prstGeom prst="rect">
            <a:avLst/>
          </a:prstGeom>
          <a:noFill/>
          <a:ln/>
        </p:spPr>
        <p:txBody>
          <a:bodyPr wrap="square" lIns="0" tIns="0" rIns="0" bIns="0" rtlCol="0" anchor="ctr"/>
          <a:lstStyle/>
          <a:p>
            <a:pPr marL="0" indent="0">
              <a:buNone/>
            </a:pPr>
            <a:r>
              <a:rPr lang="en-US" sz="1100" b="1" dirty="0">
                <a:solidFill>
                  <a:srgbClr val="E08700"/>
                </a:solidFill>
                <a:latin typeface="Courier New" pitchFamily="34" charset="0"/>
                <a:ea typeface="Courier New" pitchFamily="34" charset="-122"/>
                <a:cs typeface="Courier New" pitchFamily="34" charset="-120"/>
              </a:rPr>
              <a:t>message.tool_calls[0]</a:t>
            </a:r>
            <a:endParaRPr lang="en-US" sz="1100" dirty="0"/>
          </a:p>
        </p:txBody>
      </p:sp>
      <p:sp>
        <p:nvSpPr>
          <p:cNvPr id="11" name="Text 9"/>
          <p:cNvSpPr/>
          <p:nvPr/>
        </p:nvSpPr>
        <p:spPr>
          <a:xfrm>
            <a:off x="841248" y="3456432"/>
            <a:ext cx="5486400" cy="256032"/>
          </a:xfrm>
          <a:prstGeom prst="rect">
            <a:avLst/>
          </a:prstGeom>
          <a:noFill/>
          <a:ln/>
        </p:spPr>
        <p:txBody>
          <a:bodyPr wrap="square" lIns="0" tIns="0" rIns="0" bIns="0" rtlCol="0" anchor="ctr"/>
          <a:lstStyle/>
          <a:p>
            <a:pPr marL="0" indent="0">
              <a:buNone/>
            </a:pPr>
            <a:r>
              <a:rPr lang="en-US" sz="1100" dirty="0">
                <a:solidFill>
                  <a:srgbClr val="3B3760"/>
                </a:solidFill>
                <a:latin typeface="Courier New" pitchFamily="34" charset="0"/>
                <a:ea typeface="Courier New" pitchFamily="34" charset="-122"/>
                <a:cs typeface="Courier New" pitchFamily="34" charset="-120"/>
              </a:rPr>
              <a:t>  .function.name       "get_flight"</a:t>
            </a:r>
            <a:endParaRPr lang="en-US" sz="1100" dirty="0"/>
          </a:p>
        </p:txBody>
      </p:sp>
      <p:sp>
        <p:nvSpPr>
          <p:cNvPr id="12" name="Text 10"/>
          <p:cNvSpPr/>
          <p:nvPr/>
        </p:nvSpPr>
        <p:spPr>
          <a:xfrm>
            <a:off x="841248" y="3730752"/>
            <a:ext cx="5486400" cy="256032"/>
          </a:xfrm>
          <a:prstGeom prst="rect">
            <a:avLst/>
          </a:prstGeom>
          <a:noFill/>
          <a:ln/>
        </p:spPr>
        <p:txBody>
          <a:bodyPr wrap="square" lIns="0" tIns="0" rIns="0" bIns="0" rtlCol="0" anchor="ctr"/>
          <a:lstStyle/>
          <a:p>
            <a:pPr marL="0" indent="0">
              <a:buNone/>
            </a:pPr>
            <a:r>
              <a:rPr lang="en-US" sz="1100" dirty="0">
                <a:solidFill>
                  <a:srgbClr val="3B3760"/>
                </a:solidFill>
                <a:latin typeface="Courier New" pitchFamily="34" charset="0"/>
                <a:ea typeface="Courier New" pitchFamily="34" charset="-122"/>
                <a:cs typeface="Courier New" pitchFamily="34" charset="-120"/>
              </a:rPr>
              <a:t>  .function.arguments  '{"frm":"Sydney", ...}'</a:t>
            </a:r>
            <a:endParaRPr lang="en-US" sz="1100" dirty="0"/>
          </a:p>
        </p:txBody>
      </p:sp>
      <p:sp>
        <p:nvSpPr>
          <p:cNvPr id="13" name="Text 11"/>
          <p:cNvSpPr/>
          <p:nvPr/>
        </p:nvSpPr>
        <p:spPr>
          <a:xfrm>
            <a:off x="841248" y="4005072"/>
            <a:ext cx="5486400" cy="256032"/>
          </a:xfrm>
          <a:prstGeom prst="rect">
            <a:avLst/>
          </a:prstGeom>
          <a:noFill/>
          <a:ln/>
        </p:spPr>
        <p:txBody>
          <a:bodyPr wrap="square" lIns="0" tIns="0" rIns="0" bIns="0" rtlCol="0" anchor="ctr"/>
          <a:lstStyle/>
          <a:p>
            <a:pPr marL="0" indent="0">
              <a:buNone/>
            </a:pPr>
            <a:r>
              <a:rPr lang="en-US" sz="1100" dirty="0">
                <a:solidFill>
                  <a:srgbClr val="3B3760"/>
                </a:solidFill>
                <a:latin typeface="Courier New" pitchFamily="34" charset="0"/>
                <a:ea typeface="Courier New" pitchFamily="34" charset="-122"/>
                <a:cs typeface="Courier New" pitchFamily="34" charset="-120"/>
              </a:rPr>
              <a:t>  .id                  "call_a91f"</a:t>
            </a:r>
            <a:endParaRPr lang="en-US" sz="1100" dirty="0"/>
          </a:p>
        </p:txBody>
      </p:sp>
      <p:sp>
        <p:nvSpPr>
          <p:cNvPr id="14" name="Text 12"/>
          <p:cNvSpPr/>
          <p:nvPr/>
        </p:nvSpPr>
        <p:spPr>
          <a:xfrm>
            <a:off x="841248" y="4279392"/>
            <a:ext cx="5486400" cy="256032"/>
          </a:xfrm>
          <a:prstGeom prst="rect">
            <a:avLst/>
          </a:prstGeom>
          <a:noFill/>
          <a:ln/>
        </p:spPr>
        <p:txBody>
          <a:bodyPr wrap="square" lIns="0" tIns="0" rIns="0" bIns="0" rtlCol="0" anchor="ctr"/>
          <a:lstStyle/>
          <a:p>
            <a:pPr marL="0" indent="0">
              <a:buNone/>
            </a:pPr>
            <a:r>
              <a:rPr lang="en-US" sz="1100" dirty="0">
                <a:solidFill>
                  <a:srgbClr val="6E6B8A"/>
                </a:solidFill>
                <a:latin typeface="Courier New" pitchFamily="34" charset="0"/>
                <a:ea typeface="Courier New" pitchFamily="34" charset="-122"/>
                <a:cs typeface="Courier New" pitchFamily="34" charset="-120"/>
              </a:rPr>
              <a:t>finish_reason</a:t>
            </a:r>
            <a:endParaRPr lang="en-US" sz="1100" dirty="0"/>
          </a:p>
        </p:txBody>
      </p:sp>
      <p:sp>
        <p:nvSpPr>
          <p:cNvPr id="15" name="Text 13"/>
          <p:cNvSpPr/>
          <p:nvPr/>
        </p:nvSpPr>
        <p:spPr>
          <a:xfrm>
            <a:off x="841248" y="4553712"/>
            <a:ext cx="5486400" cy="256032"/>
          </a:xfrm>
          <a:prstGeom prst="rect">
            <a:avLst/>
          </a:prstGeom>
          <a:noFill/>
          <a:ln/>
        </p:spPr>
        <p:txBody>
          <a:bodyPr wrap="square" lIns="0" tIns="0" rIns="0" bIns="0" rtlCol="0" anchor="ctr"/>
          <a:lstStyle/>
          <a:p>
            <a:pPr marL="0" indent="0">
              <a:buNone/>
            </a:pPr>
            <a:r>
              <a:rPr lang="en-US" sz="1100" b="1" dirty="0">
                <a:solidFill>
                  <a:srgbClr val="E08700"/>
                </a:solidFill>
                <a:latin typeface="Courier New" pitchFamily="34" charset="0"/>
                <a:ea typeface="Courier New" pitchFamily="34" charset="-122"/>
                <a:cs typeface="Courier New" pitchFamily="34" charset="-120"/>
              </a:rPr>
              <a:t>  "tool_calls"   ← not "stop"</a:t>
            </a:r>
            <a:endParaRPr lang="en-US" sz="1100" dirty="0"/>
          </a:p>
        </p:txBody>
      </p:sp>
      <p:sp>
        <p:nvSpPr>
          <p:cNvPr id="16" name="Shape 14"/>
          <p:cNvSpPr/>
          <p:nvPr/>
        </p:nvSpPr>
        <p:spPr>
          <a:xfrm>
            <a:off x="6766560" y="1883664"/>
            <a:ext cx="4858207" cy="969264"/>
          </a:xfrm>
          <a:prstGeom prst="roundRect">
            <a:avLst>
              <a:gd name="adj" fmla="val 8491"/>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7" name="Shape 15"/>
          <p:cNvSpPr/>
          <p:nvPr/>
        </p:nvSpPr>
        <p:spPr>
          <a:xfrm>
            <a:off x="7004304" y="2103120"/>
            <a:ext cx="365760" cy="365760"/>
          </a:xfrm>
          <a:prstGeom prst="ellipse">
            <a:avLst/>
          </a:prstGeom>
          <a:solidFill>
            <a:srgbClr val="5B4BE8"/>
          </a:solidFill>
          <a:ln w="12700">
            <a:solidFill>
              <a:srgbClr val="5B4BE8"/>
            </a:solidFill>
            <a:prstDash val="solid"/>
          </a:ln>
        </p:spPr>
        <p:txBody>
          <a:bodyPr/>
          <a:lstStyle/>
          <a:p>
            <a:endParaRPr lang="en-US"/>
          </a:p>
        </p:txBody>
      </p:sp>
      <p:pic>
        <p:nvPicPr>
          <p:cNvPr id="18" name="Image 0" descr="preencoded.png"/>
          <p:cNvPicPr>
            <a:picLocks noChangeAspect="1"/>
          </p:cNvPicPr>
          <p:nvPr/>
        </p:nvPicPr>
        <p:blipFill>
          <a:blip r:embed="rId3"/>
          <a:stretch>
            <a:fillRect/>
          </a:stretch>
        </p:blipFill>
        <p:spPr>
          <a:xfrm>
            <a:off x="7095744" y="2194560"/>
            <a:ext cx="182880" cy="182880"/>
          </a:xfrm>
          <a:prstGeom prst="rect">
            <a:avLst/>
          </a:prstGeom>
        </p:spPr>
      </p:pic>
      <p:sp>
        <p:nvSpPr>
          <p:cNvPr id="19" name="Text 16"/>
          <p:cNvSpPr/>
          <p:nvPr/>
        </p:nvSpPr>
        <p:spPr>
          <a:xfrm>
            <a:off x="7498080" y="2121408"/>
            <a:ext cx="3888943" cy="314371"/>
          </a:xfrm>
          <a:prstGeom prst="rect">
            <a:avLst/>
          </a:prstGeom>
          <a:noFill/>
          <a:ln/>
        </p:spPr>
        <p:txBody>
          <a:bodyPr wrap="square" lIns="0" tIns="0" rIns="0" bIns="0" rtlCol="0" anchor="t"/>
          <a:lstStyle/>
          <a:p>
            <a:pPr marL="0" indent="0">
              <a:lnSpc>
                <a:spcPct val="105000"/>
              </a:lnSpc>
              <a:buNone/>
            </a:pPr>
            <a:r>
              <a:rPr lang="en-US" sz="1300" b="1" dirty="0">
                <a:solidFill>
                  <a:srgbClr val="141235"/>
                </a:solidFill>
                <a:latin typeface="Calibri" pitchFamily="34" charset="0"/>
                <a:ea typeface="Calibri" pitchFamily="34" charset="-122"/>
                <a:cs typeface="Calibri" pitchFamily="34" charset="-120"/>
              </a:rPr>
              <a:t>It is a name, not a call</a:t>
            </a:r>
            <a:endParaRPr lang="en-US" sz="1300" dirty="0"/>
          </a:p>
        </p:txBody>
      </p:sp>
      <p:sp>
        <p:nvSpPr>
          <p:cNvPr id="20" name="Text 17"/>
          <p:cNvSpPr/>
          <p:nvPr/>
        </p:nvSpPr>
        <p:spPr>
          <a:xfrm>
            <a:off x="7498080" y="2444923"/>
            <a:ext cx="3888943" cy="225125"/>
          </a:xfrm>
          <a:prstGeom prst="rect">
            <a:avLst/>
          </a:prstGeom>
          <a:noFill/>
          <a:ln/>
        </p:spPr>
        <p:txBody>
          <a:bodyPr wrap="square" lIns="0" tIns="0" rIns="0" bIns="0" rtlCol="0" anchor="t"/>
          <a:lstStyle/>
          <a:p>
            <a:pPr marL="0" indent="0">
              <a:lnSpc>
                <a:spcPct val="113000"/>
              </a:lnSpc>
              <a:buNone/>
            </a:pPr>
            <a:r>
              <a:rPr lang="en-US" sz="1050" dirty="0">
                <a:solidFill>
                  <a:srgbClr val="6E6B8A"/>
                </a:solidFill>
                <a:latin typeface="Calibri" pitchFamily="34" charset="0"/>
                <a:ea typeface="Calibri" pitchFamily="34" charset="-122"/>
                <a:cs typeface="Calibri" pitchFamily="34" charset="-120"/>
              </a:rPr>
              <a:t>A string. Your dispatcher looks it up in a dict of functions you wrote. If it names something you never registered, nothing happens.</a:t>
            </a:r>
            <a:endParaRPr lang="en-US" sz="1050" dirty="0"/>
          </a:p>
        </p:txBody>
      </p:sp>
      <p:sp>
        <p:nvSpPr>
          <p:cNvPr id="21" name="Shape 18"/>
          <p:cNvSpPr/>
          <p:nvPr/>
        </p:nvSpPr>
        <p:spPr>
          <a:xfrm>
            <a:off x="6766560" y="2935224"/>
            <a:ext cx="4858207" cy="969264"/>
          </a:xfrm>
          <a:prstGeom prst="roundRect">
            <a:avLst>
              <a:gd name="adj" fmla="val 8491"/>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22" name="Shape 19"/>
          <p:cNvSpPr/>
          <p:nvPr/>
        </p:nvSpPr>
        <p:spPr>
          <a:xfrm>
            <a:off x="7004304" y="3154680"/>
            <a:ext cx="365760" cy="365760"/>
          </a:xfrm>
          <a:prstGeom prst="ellipse">
            <a:avLst/>
          </a:prstGeom>
          <a:solidFill>
            <a:srgbClr val="5B4BE8"/>
          </a:solidFill>
          <a:ln w="12700">
            <a:solidFill>
              <a:srgbClr val="5B4BE8"/>
            </a:solidFill>
            <a:prstDash val="solid"/>
          </a:ln>
        </p:spPr>
        <p:txBody>
          <a:bodyPr/>
          <a:lstStyle/>
          <a:p>
            <a:endParaRPr lang="en-US"/>
          </a:p>
        </p:txBody>
      </p:sp>
      <p:pic>
        <p:nvPicPr>
          <p:cNvPr id="23" name="Image 1" descr="preencoded.png"/>
          <p:cNvPicPr>
            <a:picLocks noChangeAspect="1"/>
          </p:cNvPicPr>
          <p:nvPr/>
        </p:nvPicPr>
        <p:blipFill>
          <a:blip r:embed="rId4"/>
          <a:stretch>
            <a:fillRect/>
          </a:stretch>
        </p:blipFill>
        <p:spPr>
          <a:xfrm>
            <a:off x="7095744" y="3246120"/>
            <a:ext cx="182880" cy="182880"/>
          </a:xfrm>
          <a:prstGeom prst="rect">
            <a:avLst/>
          </a:prstGeom>
        </p:spPr>
      </p:pic>
      <p:sp>
        <p:nvSpPr>
          <p:cNvPr id="24" name="Text 20"/>
          <p:cNvSpPr/>
          <p:nvPr/>
        </p:nvSpPr>
        <p:spPr>
          <a:xfrm>
            <a:off x="7498080" y="3172968"/>
            <a:ext cx="3888943" cy="314371"/>
          </a:xfrm>
          <a:prstGeom prst="rect">
            <a:avLst/>
          </a:prstGeom>
          <a:noFill/>
          <a:ln/>
        </p:spPr>
        <p:txBody>
          <a:bodyPr wrap="square" lIns="0" tIns="0" rIns="0" bIns="0" rtlCol="0" anchor="t"/>
          <a:lstStyle/>
          <a:p>
            <a:pPr marL="0" indent="0">
              <a:lnSpc>
                <a:spcPct val="105000"/>
              </a:lnSpc>
              <a:buNone/>
            </a:pPr>
            <a:r>
              <a:rPr lang="en-US" sz="1300" b="1" dirty="0">
                <a:solidFill>
                  <a:srgbClr val="141235"/>
                </a:solidFill>
                <a:latin typeface="Calibri" pitchFamily="34" charset="0"/>
                <a:ea typeface="Calibri" pitchFamily="34" charset="-122"/>
                <a:cs typeface="Calibri" pitchFamily="34" charset="-120"/>
              </a:rPr>
              <a:t>arguments is a string</a:t>
            </a:r>
            <a:endParaRPr lang="en-US" sz="1300" dirty="0"/>
          </a:p>
        </p:txBody>
      </p:sp>
      <p:sp>
        <p:nvSpPr>
          <p:cNvPr id="25" name="Text 21"/>
          <p:cNvSpPr/>
          <p:nvPr/>
        </p:nvSpPr>
        <p:spPr>
          <a:xfrm>
            <a:off x="7498080" y="3496483"/>
            <a:ext cx="3888943" cy="225125"/>
          </a:xfrm>
          <a:prstGeom prst="rect">
            <a:avLst/>
          </a:prstGeom>
          <a:noFill/>
          <a:ln/>
        </p:spPr>
        <p:txBody>
          <a:bodyPr wrap="square" lIns="0" tIns="0" rIns="0" bIns="0" rtlCol="0" anchor="t"/>
          <a:lstStyle/>
          <a:p>
            <a:pPr marL="0" indent="0">
              <a:lnSpc>
                <a:spcPct val="113000"/>
              </a:lnSpc>
              <a:buNone/>
            </a:pPr>
            <a:r>
              <a:rPr lang="en-US" sz="1050" dirty="0">
                <a:solidFill>
                  <a:srgbClr val="6E6B8A"/>
                </a:solidFill>
                <a:latin typeface="Calibri" pitchFamily="34" charset="0"/>
                <a:ea typeface="Calibri" pitchFamily="34" charset="-122"/>
                <a:cs typeface="Calibri" pitchFamily="34" charset="-120"/>
              </a:rPr>
              <a:t>Not a dict. It is JSON text the model generated, and it can be malformed. Parse it, then validate it, before you use it.</a:t>
            </a:r>
            <a:endParaRPr lang="en-US" sz="1050" dirty="0"/>
          </a:p>
        </p:txBody>
      </p:sp>
      <p:sp>
        <p:nvSpPr>
          <p:cNvPr id="26" name="Shape 22"/>
          <p:cNvSpPr/>
          <p:nvPr/>
        </p:nvSpPr>
        <p:spPr>
          <a:xfrm>
            <a:off x="6766560" y="3986784"/>
            <a:ext cx="4858207" cy="969264"/>
          </a:xfrm>
          <a:prstGeom prst="roundRect">
            <a:avLst>
              <a:gd name="adj" fmla="val 8491"/>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27" name="Shape 23"/>
          <p:cNvSpPr/>
          <p:nvPr/>
        </p:nvSpPr>
        <p:spPr>
          <a:xfrm>
            <a:off x="7004304" y="4206240"/>
            <a:ext cx="365760" cy="365760"/>
          </a:xfrm>
          <a:prstGeom prst="ellipse">
            <a:avLst/>
          </a:prstGeom>
          <a:solidFill>
            <a:srgbClr val="5B4BE8"/>
          </a:solidFill>
          <a:ln w="12700">
            <a:solidFill>
              <a:srgbClr val="5B4BE8"/>
            </a:solidFill>
            <a:prstDash val="solid"/>
          </a:ln>
        </p:spPr>
        <p:txBody>
          <a:bodyPr/>
          <a:lstStyle/>
          <a:p>
            <a:endParaRPr lang="en-US"/>
          </a:p>
        </p:txBody>
      </p:sp>
      <p:pic>
        <p:nvPicPr>
          <p:cNvPr id="28" name="Image 2" descr="preencoded.png"/>
          <p:cNvPicPr>
            <a:picLocks noChangeAspect="1"/>
          </p:cNvPicPr>
          <p:nvPr/>
        </p:nvPicPr>
        <p:blipFill>
          <a:blip r:embed="rId5"/>
          <a:stretch>
            <a:fillRect/>
          </a:stretch>
        </p:blipFill>
        <p:spPr>
          <a:xfrm>
            <a:off x="7095744" y="4297680"/>
            <a:ext cx="182880" cy="182880"/>
          </a:xfrm>
          <a:prstGeom prst="rect">
            <a:avLst/>
          </a:prstGeom>
        </p:spPr>
      </p:pic>
      <p:sp>
        <p:nvSpPr>
          <p:cNvPr id="29" name="Text 24"/>
          <p:cNvSpPr/>
          <p:nvPr/>
        </p:nvSpPr>
        <p:spPr>
          <a:xfrm>
            <a:off x="7498080" y="4224528"/>
            <a:ext cx="3888943" cy="314371"/>
          </a:xfrm>
          <a:prstGeom prst="rect">
            <a:avLst/>
          </a:prstGeom>
          <a:noFill/>
          <a:ln/>
        </p:spPr>
        <p:txBody>
          <a:bodyPr wrap="square" lIns="0" tIns="0" rIns="0" bIns="0" rtlCol="0" anchor="t"/>
          <a:lstStyle/>
          <a:p>
            <a:pPr marL="0" indent="0">
              <a:lnSpc>
                <a:spcPct val="105000"/>
              </a:lnSpc>
              <a:buNone/>
            </a:pPr>
            <a:r>
              <a:rPr lang="en-US" sz="1300" b="1" dirty="0">
                <a:solidFill>
                  <a:srgbClr val="141235"/>
                </a:solidFill>
                <a:latin typeface="Calibri" pitchFamily="34" charset="0"/>
                <a:ea typeface="Calibri" pitchFamily="34" charset="-122"/>
                <a:cs typeface="Calibri" pitchFamily="34" charset="-120"/>
              </a:rPr>
              <a:t>id ties the answer back</a:t>
            </a:r>
            <a:endParaRPr lang="en-US" sz="1300" dirty="0"/>
          </a:p>
        </p:txBody>
      </p:sp>
      <p:sp>
        <p:nvSpPr>
          <p:cNvPr id="30" name="Text 25"/>
          <p:cNvSpPr/>
          <p:nvPr/>
        </p:nvSpPr>
        <p:spPr>
          <a:xfrm>
            <a:off x="7498080" y="4548043"/>
            <a:ext cx="3888943" cy="225125"/>
          </a:xfrm>
          <a:prstGeom prst="rect">
            <a:avLst/>
          </a:prstGeom>
          <a:noFill/>
          <a:ln/>
        </p:spPr>
        <p:txBody>
          <a:bodyPr wrap="square" lIns="0" tIns="0" rIns="0" bIns="0" rtlCol="0" anchor="t"/>
          <a:lstStyle/>
          <a:p>
            <a:pPr marL="0" indent="0">
              <a:lnSpc>
                <a:spcPct val="113000"/>
              </a:lnSpc>
              <a:buNone/>
            </a:pPr>
            <a:r>
              <a:rPr lang="en-US" sz="1050" dirty="0">
                <a:solidFill>
                  <a:srgbClr val="6E6B8A"/>
                </a:solidFill>
                <a:latin typeface="Calibri" pitchFamily="34" charset="0"/>
                <a:ea typeface="Calibri" pitchFamily="34" charset="-122"/>
                <a:cs typeface="Calibri" pitchFamily="34" charset="-120"/>
              </a:rPr>
              <a:t>You send a tool message carrying the same id. Without it the model cannot match your result to its request.</a:t>
            </a:r>
            <a:endParaRPr lang="en-US" sz="1050" dirty="0"/>
          </a:p>
        </p:txBody>
      </p:sp>
      <p:sp>
        <p:nvSpPr>
          <p:cNvPr id="31" name="Shape 26"/>
          <p:cNvSpPr/>
          <p:nvPr/>
        </p:nvSpPr>
        <p:spPr>
          <a:xfrm>
            <a:off x="566928" y="5120640"/>
            <a:ext cx="11057839" cy="786384"/>
          </a:xfrm>
          <a:prstGeom prst="roundRect">
            <a:avLst>
              <a:gd name="adj" fmla="val 10465"/>
            </a:avLst>
          </a:prstGeom>
          <a:solidFill>
            <a:srgbClr val="FFF4E0"/>
          </a:solidFill>
          <a:ln w="12700">
            <a:solidFill>
              <a:srgbClr val="F3DCB0"/>
            </a:solidFill>
            <a:prstDash val="solid"/>
          </a:ln>
        </p:spPr>
        <p:txBody>
          <a:bodyPr/>
          <a:lstStyle/>
          <a:p>
            <a:endParaRPr lang="en-US"/>
          </a:p>
        </p:txBody>
      </p:sp>
      <p:sp>
        <p:nvSpPr>
          <p:cNvPr id="32" name="Shape 27"/>
          <p:cNvSpPr/>
          <p:nvPr/>
        </p:nvSpPr>
        <p:spPr>
          <a:xfrm>
            <a:off x="841248" y="5321808"/>
            <a:ext cx="384048" cy="384048"/>
          </a:xfrm>
          <a:prstGeom prst="ellipse">
            <a:avLst/>
          </a:prstGeom>
          <a:solidFill>
            <a:srgbClr val="F5A524"/>
          </a:solidFill>
          <a:ln w="12700">
            <a:solidFill>
              <a:srgbClr val="F5A524"/>
            </a:solidFill>
            <a:prstDash val="solid"/>
          </a:ln>
        </p:spPr>
        <p:txBody>
          <a:bodyPr/>
          <a:lstStyle/>
          <a:p>
            <a:endParaRPr lang="en-US"/>
          </a:p>
        </p:txBody>
      </p:sp>
      <p:pic>
        <p:nvPicPr>
          <p:cNvPr id="33" name="Image 3" descr="preencoded.png"/>
          <p:cNvPicPr>
            <a:picLocks noChangeAspect="1"/>
          </p:cNvPicPr>
          <p:nvPr/>
        </p:nvPicPr>
        <p:blipFill>
          <a:blip r:embed="rId6"/>
          <a:stretch>
            <a:fillRect/>
          </a:stretch>
        </p:blipFill>
        <p:spPr>
          <a:xfrm>
            <a:off x="937260" y="5417820"/>
            <a:ext cx="192024" cy="192024"/>
          </a:xfrm>
          <a:prstGeom prst="rect">
            <a:avLst/>
          </a:prstGeom>
        </p:spPr>
      </p:pic>
      <p:sp>
        <p:nvSpPr>
          <p:cNvPr id="34" name="Text 28"/>
          <p:cNvSpPr/>
          <p:nvPr/>
        </p:nvSpPr>
        <p:spPr>
          <a:xfrm>
            <a:off x="1371600" y="5175504"/>
            <a:ext cx="9960559" cy="676656"/>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The model writes a note that says “please run get_flight with these details”. Somebody still has to read the note and decide to act on it.</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02 · TOOL CALLING</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2600" b="1" dirty="0">
                <a:solidFill>
                  <a:srgbClr val="141235"/>
                </a:solidFill>
                <a:latin typeface="Cambria" pitchFamily="34" charset="0"/>
                <a:ea typeface="Cambria" pitchFamily="34" charset="-122"/>
                <a:cs typeface="Cambria" pitchFamily="34" charset="-120"/>
              </a:rPr>
              <a:t>The same trick, used without any tool: structured outputs</a:t>
            </a:r>
            <a:endParaRPr lang="en-US" sz="2600" dirty="0"/>
          </a:p>
        </p:txBody>
      </p:sp>
      <p:sp>
        <p:nvSpPr>
          <p:cNvPr id="4" name="Text 2"/>
          <p:cNvSpPr/>
          <p:nvPr/>
        </p:nvSpPr>
        <p:spPr>
          <a:xfrm>
            <a:off x="566928" y="1371600"/>
            <a:ext cx="11057839" cy="310896"/>
          </a:xfrm>
          <a:prstGeom prst="rect">
            <a:avLst/>
          </a:prstGeom>
          <a:noFill/>
          <a:ln/>
        </p:spPr>
        <p:txBody>
          <a:bodyPr wrap="square" lIns="0" tIns="0" rIns="0" bIns="0" rtlCol="0" anchor="t"/>
          <a:lstStyle/>
          <a:p>
            <a:pPr marL="0" indent="0">
              <a:buNone/>
            </a:pPr>
            <a:r>
              <a:rPr lang="en-US" sz="1400" dirty="0">
                <a:solidFill>
                  <a:srgbClr val="3B3760"/>
                </a:solidFill>
                <a:latin typeface="Calibri" pitchFamily="34" charset="0"/>
                <a:ea typeface="Calibri" pitchFamily="34" charset="-122"/>
                <a:cs typeface="Calibri" pitchFamily="34" charset="-120"/>
              </a:rPr>
              <a:t>A tool schema is just JSON Schema. Point that at the answer instead of at a function and you get machine-readable output, guaranteed to parse.</a:t>
            </a:r>
            <a:endParaRPr lang="en-US" sz="1400" dirty="0"/>
          </a:p>
        </p:txBody>
      </p:sp>
      <p:sp>
        <p:nvSpPr>
          <p:cNvPr id="5" name="Shape 3"/>
          <p:cNvSpPr/>
          <p:nvPr/>
        </p:nvSpPr>
        <p:spPr>
          <a:xfrm>
            <a:off x="566928" y="2457999"/>
            <a:ext cx="3527450" cy="2454067"/>
          </a:xfrm>
          <a:prstGeom prst="roundRect">
            <a:avLst>
              <a:gd name="adj" fmla="val 3353"/>
            </a:avLst>
          </a:prstGeom>
          <a:solidFill>
            <a:srgbClr val="FDECEC"/>
          </a:solidFill>
          <a:ln w="12700">
            <a:solidFill>
              <a:srgbClr val="F1C9C9"/>
            </a:solidFill>
            <a:prstDash val="solid"/>
          </a:ln>
          <a:effectLst>
            <a:outerShdw blurRad="114300" dist="572" dir="5400000" algn="bl" rotWithShape="0">
              <a:srgbClr val="1B1A4A">
                <a:alpha val="7000"/>
              </a:srgbClr>
            </a:outerShdw>
          </a:effectLst>
        </p:spPr>
        <p:txBody>
          <a:bodyPr/>
          <a:lstStyle/>
          <a:p>
            <a:endParaRPr lang="en-US"/>
          </a:p>
        </p:txBody>
      </p:sp>
      <p:sp>
        <p:nvSpPr>
          <p:cNvPr id="6" name="Shape 4"/>
          <p:cNvSpPr/>
          <p:nvPr/>
        </p:nvSpPr>
        <p:spPr>
          <a:xfrm>
            <a:off x="804672" y="2677455"/>
            <a:ext cx="365760" cy="365760"/>
          </a:xfrm>
          <a:prstGeom prst="ellipse">
            <a:avLst/>
          </a:prstGeom>
          <a:solidFill>
            <a:srgbClr val="D93A3F"/>
          </a:solidFill>
          <a:ln w="12700">
            <a:solidFill>
              <a:srgbClr val="D93A3F"/>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896112" y="2768895"/>
            <a:ext cx="182880" cy="182880"/>
          </a:xfrm>
          <a:prstGeom prst="rect">
            <a:avLst/>
          </a:prstGeom>
        </p:spPr>
      </p:pic>
      <p:sp>
        <p:nvSpPr>
          <p:cNvPr id="8" name="Text 5"/>
          <p:cNvSpPr/>
          <p:nvPr/>
        </p:nvSpPr>
        <p:spPr>
          <a:xfrm>
            <a:off x="1298448" y="2668311"/>
            <a:ext cx="2558186"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BEFORE</a:t>
            </a:r>
            <a:endParaRPr lang="en-US" sz="850" dirty="0"/>
          </a:p>
        </p:txBody>
      </p:sp>
      <p:sp>
        <p:nvSpPr>
          <p:cNvPr id="9" name="Text 6"/>
          <p:cNvSpPr/>
          <p:nvPr/>
        </p:nvSpPr>
        <p:spPr>
          <a:xfrm>
            <a:off x="1298448" y="2887767"/>
            <a:ext cx="2558186" cy="622158"/>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“Reply in JSON, I promise”</a:t>
            </a:r>
            <a:endParaRPr lang="en-US" sz="1450" dirty="0"/>
          </a:p>
        </p:txBody>
      </p:sp>
      <p:sp>
        <p:nvSpPr>
          <p:cNvPr id="10" name="Text 7"/>
          <p:cNvSpPr/>
          <p:nvPr/>
        </p:nvSpPr>
        <p:spPr>
          <a:xfrm>
            <a:off x="1298448" y="3519068"/>
            <a:ext cx="2558186" cy="1210117"/>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A prompt instruction. Works most of the time, which is the worst possible reliability profile. Someone downstream writes a try/except and a regex, and that regex becomes load-bearing.</a:t>
            </a:r>
            <a:endParaRPr lang="en-US" sz="1150" dirty="0"/>
          </a:p>
        </p:txBody>
      </p:sp>
      <p:sp>
        <p:nvSpPr>
          <p:cNvPr id="11" name="Shape 8"/>
          <p:cNvSpPr/>
          <p:nvPr/>
        </p:nvSpPr>
        <p:spPr>
          <a:xfrm>
            <a:off x="4332122" y="2457999"/>
            <a:ext cx="3527450" cy="2454067"/>
          </a:xfrm>
          <a:prstGeom prst="roundRect">
            <a:avLst>
              <a:gd name="adj" fmla="val 3353"/>
            </a:avLst>
          </a:prstGeom>
          <a:solidFill>
            <a:srgbClr val="E7F7F1"/>
          </a:solidFill>
          <a:ln w="12700">
            <a:solidFill>
              <a:srgbClr val="C2E6D7"/>
            </a:solidFill>
            <a:prstDash val="solid"/>
          </a:ln>
          <a:effectLst>
            <a:outerShdw blurRad="114300" dist="572" dir="5400000" algn="bl" rotWithShape="0">
              <a:srgbClr val="1B1A4A">
                <a:alpha val="7000"/>
              </a:srgbClr>
            </a:outerShdw>
          </a:effectLst>
        </p:spPr>
        <p:txBody>
          <a:bodyPr/>
          <a:lstStyle/>
          <a:p>
            <a:endParaRPr lang="en-US"/>
          </a:p>
        </p:txBody>
      </p:sp>
      <p:sp>
        <p:nvSpPr>
          <p:cNvPr id="12" name="Shape 9"/>
          <p:cNvSpPr/>
          <p:nvPr/>
        </p:nvSpPr>
        <p:spPr>
          <a:xfrm>
            <a:off x="4569866" y="2677455"/>
            <a:ext cx="365760" cy="365760"/>
          </a:xfrm>
          <a:prstGeom prst="ellipse">
            <a:avLst/>
          </a:prstGeom>
          <a:solidFill>
            <a:srgbClr val="0E9F6E"/>
          </a:solidFill>
          <a:ln w="12700">
            <a:solidFill>
              <a:srgbClr val="0E9F6E"/>
            </a:solidFill>
            <a:prstDash val="solid"/>
          </a:ln>
        </p:spPr>
        <p:txBody>
          <a:bodyPr/>
          <a:lstStyle/>
          <a:p>
            <a:endParaRPr lang="en-US"/>
          </a:p>
        </p:txBody>
      </p:sp>
      <p:pic>
        <p:nvPicPr>
          <p:cNvPr id="13" name="Image 1" descr="preencoded.png"/>
          <p:cNvPicPr>
            <a:picLocks noChangeAspect="1"/>
          </p:cNvPicPr>
          <p:nvPr/>
        </p:nvPicPr>
        <p:blipFill>
          <a:blip r:embed="rId4"/>
          <a:stretch>
            <a:fillRect/>
          </a:stretch>
        </p:blipFill>
        <p:spPr>
          <a:xfrm>
            <a:off x="4661306" y="2768895"/>
            <a:ext cx="182880" cy="182880"/>
          </a:xfrm>
          <a:prstGeom prst="rect">
            <a:avLst/>
          </a:prstGeom>
        </p:spPr>
      </p:pic>
      <p:sp>
        <p:nvSpPr>
          <p:cNvPr id="14" name="Text 10"/>
          <p:cNvSpPr/>
          <p:nvPr/>
        </p:nvSpPr>
        <p:spPr>
          <a:xfrm>
            <a:off x="5063642" y="2668311"/>
            <a:ext cx="2558186"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NOW</a:t>
            </a:r>
            <a:endParaRPr lang="en-US" sz="850" dirty="0"/>
          </a:p>
        </p:txBody>
      </p:sp>
      <p:sp>
        <p:nvSpPr>
          <p:cNvPr id="15" name="Text 11"/>
          <p:cNvSpPr/>
          <p:nvPr/>
        </p:nvSpPr>
        <p:spPr>
          <a:xfrm>
            <a:off x="5063642" y="2887767"/>
            <a:ext cx="2558186" cy="622158"/>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A schema the decoder enforces</a:t>
            </a:r>
            <a:endParaRPr lang="en-US" sz="1450" dirty="0"/>
          </a:p>
        </p:txBody>
      </p:sp>
      <p:sp>
        <p:nvSpPr>
          <p:cNvPr id="16" name="Text 12"/>
          <p:cNvSpPr/>
          <p:nvPr/>
        </p:nvSpPr>
        <p:spPr>
          <a:xfrm>
            <a:off x="5063642" y="3519068"/>
            <a:ext cx="2558186" cy="1210117"/>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Attach a JSON Schema and the model is constrained to emit something that validates. Same mechanism as tool arguments, pointed at your answer instead of a function.</a:t>
            </a:r>
            <a:endParaRPr lang="en-US" sz="1150" dirty="0"/>
          </a:p>
        </p:txBody>
      </p:sp>
      <p:sp>
        <p:nvSpPr>
          <p:cNvPr id="17" name="Shape 13"/>
          <p:cNvSpPr/>
          <p:nvPr/>
        </p:nvSpPr>
        <p:spPr>
          <a:xfrm>
            <a:off x="8097317" y="2457999"/>
            <a:ext cx="3527450" cy="2454067"/>
          </a:xfrm>
          <a:prstGeom prst="roundRect">
            <a:avLst>
              <a:gd name="adj" fmla="val 3353"/>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8" name="Shape 14"/>
          <p:cNvSpPr/>
          <p:nvPr/>
        </p:nvSpPr>
        <p:spPr>
          <a:xfrm>
            <a:off x="8335061" y="2677455"/>
            <a:ext cx="365760" cy="365760"/>
          </a:xfrm>
          <a:prstGeom prst="ellipse">
            <a:avLst/>
          </a:prstGeom>
          <a:solidFill>
            <a:srgbClr val="5B4BE8"/>
          </a:solidFill>
          <a:ln w="12700">
            <a:solidFill>
              <a:srgbClr val="5B4BE8"/>
            </a:solidFill>
            <a:prstDash val="solid"/>
          </a:ln>
        </p:spPr>
        <p:txBody>
          <a:bodyPr/>
          <a:lstStyle/>
          <a:p>
            <a:endParaRPr lang="en-US"/>
          </a:p>
        </p:txBody>
      </p:sp>
      <p:pic>
        <p:nvPicPr>
          <p:cNvPr id="19" name="Image 2" descr="preencoded.png"/>
          <p:cNvPicPr>
            <a:picLocks noChangeAspect="1"/>
          </p:cNvPicPr>
          <p:nvPr/>
        </p:nvPicPr>
        <p:blipFill>
          <a:blip r:embed="rId5"/>
          <a:stretch>
            <a:fillRect/>
          </a:stretch>
        </p:blipFill>
        <p:spPr>
          <a:xfrm>
            <a:off x="8426501" y="2768895"/>
            <a:ext cx="182880" cy="182880"/>
          </a:xfrm>
          <a:prstGeom prst="rect">
            <a:avLst/>
          </a:prstGeom>
        </p:spPr>
      </p:pic>
      <p:sp>
        <p:nvSpPr>
          <p:cNvPr id="20" name="Text 15"/>
          <p:cNvSpPr/>
          <p:nvPr/>
        </p:nvSpPr>
        <p:spPr>
          <a:xfrm>
            <a:off x="8828837" y="2668311"/>
            <a:ext cx="2558186"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WHY IT MATTERS HERE</a:t>
            </a:r>
            <a:endParaRPr lang="en-US" sz="850" dirty="0"/>
          </a:p>
        </p:txBody>
      </p:sp>
      <p:sp>
        <p:nvSpPr>
          <p:cNvPr id="21" name="Text 16"/>
          <p:cNvSpPr/>
          <p:nvPr/>
        </p:nvSpPr>
        <p:spPr>
          <a:xfrm>
            <a:off x="8828837" y="2887767"/>
            <a:ext cx="2558186" cy="338511"/>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Agents are pipelines</a:t>
            </a:r>
            <a:endParaRPr lang="en-US" sz="1450" dirty="0"/>
          </a:p>
        </p:txBody>
      </p:sp>
      <p:sp>
        <p:nvSpPr>
          <p:cNvPr id="22" name="Text 17"/>
          <p:cNvSpPr/>
          <p:nvPr/>
        </p:nvSpPr>
        <p:spPr>
          <a:xfrm>
            <a:off x="8828837" y="3235422"/>
            <a:ext cx="2558186" cy="1493764"/>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Every step that hands data to the next step needs a shape. Extraction, routing and classification stop being “AI features” and become ordinary typed functions.</a:t>
            </a:r>
            <a:endParaRPr lang="en-US" sz="1150" dirty="0"/>
          </a:p>
        </p:txBody>
      </p:sp>
      <p:sp>
        <p:nvSpPr>
          <p:cNvPr id="23" name="Shape 18"/>
          <p:cNvSpPr/>
          <p:nvPr/>
        </p:nvSpPr>
        <p:spPr>
          <a:xfrm>
            <a:off x="566928" y="5541264"/>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24" name="Shape 19"/>
          <p:cNvSpPr/>
          <p:nvPr/>
        </p:nvSpPr>
        <p:spPr>
          <a:xfrm>
            <a:off x="841248" y="5760720"/>
            <a:ext cx="384048" cy="384048"/>
          </a:xfrm>
          <a:prstGeom prst="ellipse">
            <a:avLst/>
          </a:prstGeom>
          <a:solidFill>
            <a:srgbClr val="F5A524"/>
          </a:solidFill>
          <a:ln w="12700">
            <a:solidFill>
              <a:srgbClr val="F5A524"/>
            </a:solidFill>
            <a:prstDash val="solid"/>
          </a:ln>
        </p:spPr>
        <p:txBody>
          <a:bodyPr/>
          <a:lstStyle/>
          <a:p>
            <a:endParaRPr lang="en-US"/>
          </a:p>
        </p:txBody>
      </p:sp>
      <p:pic>
        <p:nvPicPr>
          <p:cNvPr id="25" name="Image 3" descr="preencoded.png"/>
          <p:cNvPicPr>
            <a:picLocks noChangeAspect="1"/>
          </p:cNvPicPr>
          <p:nvPr/>
        </p:nvPicPr>
        <p:blipFill>
          <a:blip r:embed="rId6"/>
          <a:stretch>
            <a:fillRect/>
          </a:stretch>
        </p:blipFill>
        <p:spPr>
          <a:xfrm>
            <a:off x="937260" y="5856732"/>
            <a:ext cx="192024" cy="192024"/>
          </a:xfrm>
          <a:prstGeom prst="rect">
            <a:avLst/>
          </a:prstGeom>
        </p:spPr>
      </p:pic>
      <p:sp>
        <p:nvSpPr>
          <p:cNvPr id="26" name="Text 20"/>
          <p:cNvSpPr/>
          <p:nvPr/>
        </p:nvSpPr>
        <p:spPr>
          <a:xfrm>
            <a:off x="1371600" y="5596128"/>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You can make the model fill in a form instead of writing a paragraph. Forms can be checked by a computer. Paragraphs cannot.</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02 · TOOL CALLING</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3000" b="1" dirty="0">
                <a:solidFill>
                  <a:srgbClr val="141235"/>
                </a:solidFill>
                <a:latin typeface="Cambria" pitchFamily="34" charset="0"/>
                <a:ea typeface="Cambria" pitchFamily="34" charset="-122"/>
                <a:cs typeface="Cambria" pitchFamily="34" charset="-120"/>
              </a:rPr>
              <a:t>One round trip, five moves</a:t>
            </a:r>
            <a:endParaRPr lang="en-US" sz="3000" dirty="0"/>
          </a:p>
        </p:txBody>
      </p:sp>
      <p:sp>
        <p:nvSpPr>
          <p:cNvPr id="4" name="Shape 2"/>
          <p:cNvSpPr/>
          <p:nvPr/>
        </p:nvSpPr>
        <p:spPr>
          <a:xfrm>
            <a:off x="566928" y="1956816"/>
            <a:ext cx="2050633" cy="2487168"/>
          </a:xfrm>
          <a:prstGeom prst="roundRect">
            <a:avLst>
              <a:gd name="adj" fmla="val 4459"/>
            </a:avLst>
          </a:prstGeom>
          <a:solidFill>
            <a:srgbClr val="FFFFFF"/>
          </a:solidFill>
          <a:ln w="12700">
            <a:solidFill>
              <a:srgbClr val="E3E4F2"/>
            </a:solidFill>
            <a:prstDash val="solid"/>
          </a:ln>
          <a:effectLst>
            <a:outerShdw blurRad="101600" dist="508" dir="5400000" algn="bl" rotWithShape="0">
              <a:srgbClr val="1B1A4A">
                <a:alpha val="7000"/>
              </a:srgbClr>
            </a:outerShdw>
          </a:effectLst>
        </p:spPr>
        <p:txBody>
          <a:bodyPr/>
          <a:lstStyle/>
          <a:p>
            <a:endParaRPr lang="en-US"/>
          </a:p>
        </p:txBody>
      </p:sp>
      <p:sp>
        <p:nvSpPr>
          <p:cNvPr id="5" name="Text 3"/>
          <p:cNvSpPr/>
          <p:nvPr/>
        </p:nvSpPr>
        <p:spPr>
          <a:xfrm>
            <a:off x="786384" y="2103120"/>
            <a:ext cx="457200" cy="402336"/>
          </a:xfrm>
          <a:prstGeom prst="rect">
            <a:avLst/>
          </a:prstGeom>
          <a:noFill/>
          <a:ln/>
        </p:spPr>
        <p:txBody>
          <a:bodyPr wrap="square" lIns="0" tIns="0" rIns="0" bIns="0" rtlCol="0" anchor="ctr"/>
          <a:lstStyle/>
          <a:p>
            <a:pPr marL="0" indent="0">
              <a:buNone/>
            </a:pPr>
            <a:r>
              <a:rPr lang="en-US" sz="2600" b="1" dirty="0">
                <a:solidFill>
                  <a:srgbClr val="9B98B4"/>
                </a:solidFill>
                <a:latin typeface="Cambria" pitchFamily="34" charset="0"/>
                <a:ea typeface="Cambria" pitchFamily="34" charset="-122"/>
                <a:cs typeface="Cambria" pitchFamily="34" charset="-120"/>
              </a:rPr>
              <a:t>1</a:t>
            </a:r>
            <a:endParaRPr lang="en-US" sz="2600" dirty="0"/>
          </a:p>
        </p:txBody>
      </p:sp>
      <p:sp>
        <p:nvSpPr>
          <p:cNvPr id="6" name="Shape 4"/>
          <p:cNvSpPr/>
          <p:nvPr/>
        </p:nvSpPr>
        <p:spPr>
          <a:xfrm>
            <a:off x="2014057" y="2139696"/>
            <a:ext cx="365760" cy="365760"/>
          </a:xfrm>
          <a:prstGeom prst="ellipse">
            <a:avLst/>
          </a:prstGeom>
          <a:solidFill>
            <a:srgbClr val="F5A524"/>
          </a:solidFill>
          <a:ln w="12700">
            <a:solidFill>
              <a:srgbClr val="F5A524"/>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2105497" y="2231136"/>
            <a:ext cx="182880" cy="182880"/>
          </a:xfrm>
          <a:prstGeom prst="rect">
            <a:avLst/>
          </a:prstGeom>
        </p:spPr>
      </p:pic>
      <p:sp>
        <p:nvSpPr>
          <p:cNvPr id="8" name="Text 5"/>
          <p:cNvSpPr/>
          <p:nvPr/>
        </p:nvSpPr>
        <p:spPr>
          <a:xfrm>
            <a:off x="786384" y="2651760"/>
            <a:ext cx="1611721" cy="1097280"/>
          </a:xfrm>
          <a:prstGeom prst="rect">
            <a:avLst/>
          </a:prstGeom>
          <a:noFill/>
          <a:ln/>
        </p:spPr>
        <p:txBody>
          <a:bodyPr wrap="square" lIns="0" tIns="0" rIns="0" bIns="0" rtlCol="0" anchor="t"/>
          <a:lstStyle/>
          <a:p>
            <a:pPr marL="0" indent="0">
              <a:lnSpc>
                <a:spcPct val="112000"/>
              </a:lnSpc>
              <a:buNone/>
            </a:pPr>
            <a:r>
              <a:rPr lang="en-US" sz="1200" dirty="0">
                <a:solidFill>
                  <a:srgbClr val="141235"/>
                </a:solidFill>
                <a:latin typeface="Calibri" pitchFamily="34" charset="0"/>
                <a:ea typeface="Calibri" pitchFamily="34" charset="-122"/>
                <a:cs typeface="Calibri" pitchFamily="34" charset="-120"/>
              </a:rPr>
              <a:t>You send the question</a:t>
            </a:r>
            <a:endParaRPr lang="en-US" sz="1200" dirty="0"/>
          </a:p>
          <a:p>
            <a:pPr marL="0" indent="0">
              <a:lnSpc>
                <a:spcPct val="112000"/>
              </a:lnSpc>
              <a:buNone/>
            </a:pPr>
            <a:r>
              <a:rPr lang="en-US" sz="1200" dirty="0">
                <a:solidFill>
                  <a:srgbClr val="141235"/>
                </a:solidFill>
                <a:latin typeface="Calibri" pitchFamily="34" charset="0"/>
                <a:ea typeface="Calibri" pitchFamily="34" charset="-122"/>
                <a:cs typeface="Calibri" pitchFamily="34" charset="-120"/>
              </a:rPr>
              <a:t>+ the tool schemas</a:t>
            </a:r>
            <a:endParaRPr lang="en-US" sz="1200" dirty="0"/>
          </a:p>
        </p:txBody>
      </p:sp>
      <p:sp>
        <p:nvSpPr>
          <p:cNvPr id="9" name="Text 6"/>
          <p:cNvSpPr/>
          <p:nvPr/>
        </p:nvSpPr>
        <p:spPr>
          <a:xfrm>
            <a:off x="786384" y="4041648"/>
            <a:ext cx="1611721" cy="237744"/>
          </a:xfrm>
          <a:prstGeom prst="rect">
            <a:avLst/>
          </a:prstGeom>
          <a:noFill/>
          <a:ln/>
        </p:spPr>
        <p:txBody>
          <a:bodyPr wrap="square" lIns="0" tIns="0" rIns="0" bIns="0" rtlCol="0" anchor="ctr"/>
          <a:lstStyle/>
          <a:p>
            <a:pPr marL="0" indent="0">
              <a:buNone/>
            </a:pPr>
            <a:r>
              <a:rPr lang="en-US" sz="900" b="1" kern="0" spc="150" dirty="0">
                <a:solidFill>
                  <a:srgbClr val="E08700"/>
                </a:solidFill>
                <a:latin typeface="Calibri" pitchFamily="34" charset="0"/>
                <a:ea typeface="Calibri" pitchFamily="34" charset="-122"/>
                <a:cs typeface="Calibri" pitchFamily="34" charset="-120"/>
              </a:rPr>
              <a:t>YOUR CODE</a:t>
            </a:r>
            <a:endParaRPr lang="en-US" sz="900" dirty="0"/>
          </a:p>
        </p:txBody>
      </p:sp>
      <p:sp>
        <p:nvSpPr>
          <p:cNvPr id="10" name="Shape 7"/>
          <p:cNvSpPr/>
          <p:nvPr/>
        </p:nvSpPr>
        <p:spPr>
          <a:xfrm>
            <a:off x="2635849" y="3200400"/>
            <a:ext cx="155448" cy="0"/>
          </a:xfrm>
          <a:prstGeom prst="line">
            <a:avLst/>
          </a:prstGeom>
          <a:noFill/>
          <a:ln w="25400">
            <a:solidFill>
              <a:srgbClr val="8E82F5"/>
            </a:solidFill>
            <a:prstDash val="solid"/>
            <a:headEnd type="none"/>
            <a:tailEnd type="triangle"/>
          </a:ln>
        </p:spPr>
        <p:txBody>
          <a:bodyPr/>
          <a:lstStyle/>
          <a:p>
            <a:endParaRPr lang="en-US"/>
          </a:p>
        </p:txBody>
      </p:sp>
      <p:sp>
        <p:nvSpPr>
          <p:cNvPr id="11" name="Shape 8"/>
          <p:cNvSpPr/>
          <p:nvPr/>
        </p:nvSpPr>
        <p:spPr>
          <a:xfrm>
            <a:off x="2818729" y="1956816"/>
            <a:ext cx="2050633" cy="2487168"/>
          </a:xfrm>
          <a:prstGeom prst="roundRect">
            <a:avLst>
              <a:gd name="adj" fmla="val 4459"/>
            </a:avLst>
          </a:prstGeom>
          <a:solidFill>
            <a:srgbClr val="EEEDFE"/>
          </a:solidFill>
          <a:ln w="12700">
            <a:solidFill>
              <a:srgbClr val="8E82F5"/>
            </a:solidFill>
            <a:prstDash val="solid"/>
          </a:ln>
          <a:effectLst>
            <a:outerShdw blurRad="101600" dist="508" dir="5400000" algn="bl" rotWithShape="0">
              <a:srgbClr val="1B1A4A">
                <a:alpha val="7000"/>
              </a:srgbClr>
            </a:outerShdw>
          </a:effectLst>
        </p:spPr>
        <p:txBody>
          <a:bodyPr/>
          <a:lstStyle/>
          <a:p>
            <a:endParaRPr lang="en-US"/>
          </a:p>
        </p:txBody>
      </p:sp>
      <p:sp>
        <p:nvSpPr>
          <p:cNvPr id="12" name="Text 9"/>
          <p:cNvSpPr/>
          <p:nvPr/>
        </p:nvSpPr>
        <p:spPr>
          <a:xfrm>
            <a:off x="3038185" y="2103120"/>
            <a:ext cx="457200" cy="402336"/>
          </a:xfrm>
          <a:prstGeom prst="rect">
            <a:avLst/>
          </a:prstGeom>
          <a:noFill/>
          <a:ln/>
        </p:spPr>
        <p:txBody>
          <a:bodyPr wrap="square" lIns="0" tIns="0" rIns="0" bIns="0" rtlCol="0" anchor="ctr"/>
          <a:lstStyle/>
          <a:p>
            <a:pPr marL="0" indent="0">
              <a:buNone/>
            </a:pPr>
            <a:r>
              <a:rPr lang="en-US" sz="2600" b="1" dirty="0">
                <a:solidFill>
                  <a:srgbClr val="5B4BE8"/>
                </a:solidFill>
                <a:latin typeface="Cambria" pitchFamily="34" charset="0"/>
                <a:ea typeface="Cambria" pitchFamily="34" charset="-122"/>
                <a:cs typeface="Cambria" pitchFamily="34" charset="-120"/>
              </a:rPr>
              <a:t>2</a:t>
            </a:r>
            <a:endParaRPr lang="en-US" sz="2600" dirty="0"/>
          </a:p>
        </p:txBody>
      </p:sp>
      <p:sp>
        <p:nvSpPr>
          <p:cNvPr id="13" name="Shape 10"/>
          <p:cNvSpPr/>
          <p:nvPr/>
        </p:nvSpPr>
        <p:spPr>
          <a:xfrm>
            <a:off x="4265859" y="2139696"/>
            <a:ext cx="365760" cy="365760"/>
          </a:xfrm>
          <a:prstGeom prst="ellipse">
            <a:avLst/>
          </a:prstGeom>
          <a:solidFill>
            <a:srgbClr val="5B4BE8"/>
          </a:solidFill>
          <a:ln w="12700">
            <a:solidFill>
              <a:srgbClr val="5B4BE8"/>
            </a:solidFill>
            <a:prstDash val="solid"/>
          </a:ln>
        </p:spPr>
        <p:txBody>
          <a:bodyPr/>
          <a:lstStyle/>
          <a:p>
            <a:endParaRPr lang="en-US"/>
          </a:p>
        </p:txBody>
      </p:sp>
      <p:pic>
        <p:nvPicPr>
          <p:cNvPr id="14" name="Image 1" descr="preencoded.png"/>
          <p:cNvPicPr>
            <a:picLocks noChangeAspect="1"/>
          </p:cNvPicPr>
          <p:nvPr/>
        </p:nvPicPr>
        <p:blipFill>
          <a:blip r:embed="rId4"/>
          <a:stretch>
            <a:fillRect/>
          </a:stretch>
        </p:blipFill>
        <p:spPr>
          <a:xfrm>
            <a:off x="4357299" y="2231136"/>
            <a:ext cx="182880" cy="182880"/>
          </a:xfrm>
          <a:prstGeom prst="rect">
            <a:avLst/>
          </a:prstGeom>
        </p:spPr>
      </p:pic>
      <p:sp>
        <p:nvSpPr>
          <p:cNvPr id="15" name="Text 11"/>
          <p:cNvSpPr/>
          <p:nvPr/>
        </p:nvSpPr>
        <p:spPr>
          <a:xfrm>
            <a:off x="3038185" y="2651760"/>
            <a:ext cx="1611721" cy="1097280"/>
          </a:xfrm>
          <a:prstGeom prst="rect">
            <a:avLst/>
          </a:prstGeom>
          <a:noFill/>
          <a:ln/>
        </p:spPr>
        <p:txBody>
          <a:bodyPr wrap="square" lIns="0" tIns="0" rIns="0" bIns="0" rtlCol="0" anchor="t"/>
          <a:lstStyle/>
          <a:p>
            <a:pPr marL="0" indent="0">
              <a:lnSpc>
                <a:spcPct val="112000"/>
              </a:lnSpc>
              <a:buNone/>
            </a:pPr>
            <a:r>
              <a:rPr lang="en-US" sz="1200" dirty="0">
                <a:solidFill>
                  <a:srgbClr val="141235"/>
                </a:solidFill>
                <a:latin typeface="Calibri" pitchFamily="34" charset="0"/>
                <a:ea typeface="Calibri" pitchFamily="34" charset="-122"/>
                <a:cs typeface="Calibri" pitchFamily="34" charset="-120"/>
              </a:rPr>
              <a:t>Model replies with</a:t>
            </a:r>
            <a:endParaRPr lang="en-US" sz="1200" dirty="0"/>
          </a:p>
          <a:p>
            <a:pPr marL="0" indent="0">
              <a:lnSpc>
                <a:spcPct val="112000"/>
              </a:lnSpc>
              <a:buNone/>
            </a:pPr>
            <a:r>
              <a:rPr lang="en-US" sz="1200" dirty="0">
                <a:solidFill>
                  <a:srgbClr val="141235"/>
                </a:solidFill>
                <a:latin typeface="Calibri" pitchFamily="34" charset="0"/>
                <a:ea typeface="Calibri" pitchFamily="34" charset="-122"/>
                <a:cs typeface="Calibri" pitchFamily="34" charset="-120"/>
              </a:rPr>
              <a:t>tool_calls, not an answer</a:t>
            </a:r>
            <a:endParaRPr lang="en-US" sz="1200" dirty="0"/>
          </a:p>
        </p:txBody>
      </p:sp>
      <p:sp>
        <p:nvSpPr>
          <p:cNvPr id="16" name="Text 12"/>
          <p:cNvSpPr/>
          <p:nvPr/>
        </p:nvSpPr>
        <p:spPr>
          <a:xfrm>
            <a:off x="3038185" y="4041648"/>
            <a:ext cx="1611721" cy="237744"/>
          </a:xfrm>
          <a:prstGeom prst="rect">
            <a:avLst/>
          </a:prstGeom>
          <a:noFill/>
          <a:ln/>
        </p:spPr>
        <p:txBody>
          <a:bodyPr wrap="square" lIns="0" tIns="0" rIns="0" bIns="0" rtlCol="0" anchor="ctr"/>
          <a:lstStyle/>
          <a:p>
            <a:pPr marL="0" indent="0">
              <a:buNone/>
            </a:pPr>
            <a:r>
              <a:rPr lang="en-US" sz="900" b="1" kern="0" spc="150" dirty="0">
                <a:solidFill>
                  <a:srgbClr val="5B4BE8"/>
                </a:solidFill>
                <a:latin typeface="Calibri" pitchFamily="34" charset="0"/>
                <a:ea typeface="Calibri" pitchFamily="34" charset="-122"/>
                <a:cs typeface="Calibri" pitchFamily="34" charset="-120"/>
              </a:rPr>
              <a:t>THE MODEL</a:t>
            </a:r>
            <a:endParaRPr lang="en-US" sz="900" dirty="0"/>
          </a:p>
        </p:txBody>
      </p:sp>
      <p:sp>
        <p:nvSpPr>
          <p:cNvPr id="17" name="Shape 13"/>
          <p:cNvSpPr/>
          <p:nvPr/>
        </p:nvSpPr>
        <p:spPr>
          <a:xfrm>
            <a:off x="4887651" y="3200400"/>
            <a:ext cx="155448" cy="0"/>
          </a:xfrm>
          <a:prstGeom prst="line">
            <a:avLst/>
          </a:prstGeom>
          <a:noFill/>
          <a:ln w="25400">
            <a:solidFill>
              <a:srgbClr val="8E82F5"/>
            </a:solidFill>
            <a:prstDash val="solid"/>
            <a:headEnd type="none"/>
            <a:tailEnd type="triangle"/>
          </a:ln>
        </p:spPr>
        <p:txBody>
          <a:bodyPr/>
          <a:lstStyle/>
          <a:p>
            <a:endParaRPr lang="en-US"/>
          </a:p>
        </p:txBody>
      </p:sp>
      <p:sp>
        <p:nvSpPr>
          <p:cNvPr id="18" name="Shape 14"/>
          <p:cNvSpPr/>
          <p:nvPr/>
        </p:nvSpPr>
        <p:spPr>
          <a:xfrm>
            <a:off x="5070531" y="1956816"/>
            <a:ext cx="2050633" cy="2487168"/>
          </a:xfrm>
          <a:prstGeom prst="roundRect">
            <a:avLst>
              <a:gd name="adj" fmla="val 4459"/>
            </a:avLst>
          </a:prstGeom>
          <a:solidFill>
            <a:srgbClr val="FFFFFF"/>
          </a:solidFill>
          <a:ln w="12700">
            <a:solidFill>
              <a:srgbClr val="E3E4F2"/>
            </a:solidFill>
            <a:prstDash val="solid"/>
          </a:ln>
          <a:effectLst>
            <a:outerShdw blurRad="101600" dist="508" dir="5400000" algn="bl" rotWithShape="0">
              <a:srgbClr val="1B1A4A">
                <a:alpha val="7000"/>
              </a:srgbClr>
            </a:outerShdw>
          </a:effectLst>
        </p:spPr>
        <p:txBody>
          <a:bodyPr/>
          <a:lstStyle/>
          <a:p>
            <a:endParaRPr lang="en-US"/>
          </a:p>
        </p:txBody>
      </p:sp>
      <p:sp>
        <p:nvSpPr>
          <p:cNvPr id="19" name="Text 15"/>
          <p:cNvSpPr/>
          <p:nvPr/>
        </p:nvSpPr>
        <p:spPr>
          <a:xfrm>
            <a:off x="5289987" y="2103120"/>
            <a:ext cx="457200" cy="402336"/>
          </a:xfrm>
          <a:prstGeom prst="rect">
            <a:avLst/>
          </a:prstGeom>
          <a:noFill/>
          <a:ln/>
        </p:spPr>
        <p:txBody>
          <a:bodyPr wrap="square" lIns="0" tIns="0" rIns="0" bIns="0" rtlCol="0" anchor="ctr"/>
          <a:lstStyle/>
          <a:p>
            <a:pPr marL="0" indent="0">
              <a:buNone/>
            </a:pPr>
            <a:r>
              <a:rPr lang="en-US" sz="2600" b="1" dirty="0">
                <a:solidFill>
                  <a:srgbClr val="9B98B4"/>
                </a:solidFill>
                <a:latin typeface="Cambria" pitchFamily="34" charset="0"/>
                <a:ea typeface="Cambria" pitchFamily="34" charset="-122"/>
                <a:cs typeface="Cambria" pitchFamily="34" charset="-120"/>
              </a:rPr>
              <a:t>3</a:t>
            </a:r>
            <a:endParaRPr lang="en-US" sz="2600" dirty="0"/>
          </a:p>
        </p:txBody>
      </p:sp>
      <p:sp>
        <p:nvSpPr>
          <p:cNvPr id="20" name="Shape 16"/>
          <p:cNvSpPr/>
          <p:nvPr/>
        </p:nvSpPr>
        <p:spPr>
          <a:xfrm>
            <a:off x="6517660" y="2139696"/>
            <a:ext cx="365760" cy="365760"/>
          </a:xfrm>
          <a:prstGeom prst="ellipse">
            <a:avLst/>
          </a:prstGeom>
          <a:solidFill>
            <a:srgbClr val="F5A524"/>
          </a:solidFill>
          <a:ln w="12700">
            <a:solidFill>
              <a:srgbClr val="F5A524"/>
            </a:solidFill>
            <a:prstDash val="solid"/>
          </a:ln>
        </p:spPr>
        <p:txBody>
          <a:bodyPr/>
          <a:lstStyle/>
          <a:p>
            <a:endParaRPr lang="en-US"/>
          </a:p>
        </p:txBody>
      </p:sp>
      <p:pic>
        <p:nvPicPr>
          <p:cNvPr id="21" name="Image 2" descr="preencoded.png"/>
          <p:cNvPicPr>
            <a:picLocks noChangeAspect="1"/>
          </p:cNvPicPr>
          <p:nvPr/>
        </p:nvPicPr>
        <p:blipFill>
          <a:blip r:embed="rId5"/>
          <a:stretch>
            <a:fillRect/>
          </a:stretch>
        </p:blipFill>
        <p:spPr>
          <a:xfrm>
            <a:off x="6609100" y="2231136"/>
            <a:ext cx="182880" cy="182880"/>
          </a:xfrm>
          <a:prstGeom prst="rect">
            <a:avLst/>
          </a:prstGeom>
        </p:spPr>
      </p:pic>
      <p:sp>
        <p:nvSpPr>
          <p:cNvPr id="22" name="Text 17"/>
          <p:cNvSpPr/>
          <p:nvPr/>
        </p:nvSpPr>
        <p:spPr>
          <a:xfrm>
            <a:off x="5289987" y="2651760"/>
            <a:ext cx="1611721" cy="1097280"/>
          </a:xfrm>
          <a:prstGeom prst="rect">
            <a:avLst/>
          </a:prstGeom>
          <a:noFill/>
          <a:ln/>
        </p:spPr>
        <p:txBody>
          <a:bodyPr wrap="square" lIns="0" tIns="0" rIns="0" bIns="0" rtlCol="0" anchor="t"/>
          <a:lstStyle/>
          <a:p>
            <a:pPr marL="0" indent="0">
              <a:lnSpc>
                <a:spcPct val="112000"/>
              </a:lnSpc>
              <a:buNone/>
            </a:pPr>
            <a:r>
              <a:rPr lang="en-US" sz="1200" dirty="0">
                <a:solidFill>
                  <a:srgbClr val="141235"/>
                </a:solidFill>
                <a:latin typeface="Calibri" pitchFamily="34" charset="0"/>
                <a:ea typeface="Calibri" pitchFamily="34" charset="-122"/>
                <a:cs typeface="Calibri" pitchFamily="34" charset="-120"/>
              </a:rPr>
              <a:t>You parse arguments,</a:t>
            </a:r>
            <a:endParaRPr lang="en-US" sz="1200" dirty="0"/>
          </a:p>
          <a:p>
            <a:pPr marL="0" indent="0">
              <a:lnSpc>
                <a:spcPct val="112000"/>
              </a:lnSpc>
              <a:buNone/>
            </a:pPr>
            <a:r>
              <a:rPr lang="en-US" sz="1200" dirty="0">
                <a:solidFill>
                  <a:srgbClr val="141235"/>
                </a:solidFill>
                <a:latin typeface="Calibri" pitchFamily="34" charset="0"/>
                <a:ea typeface="Calibri" pitchFamily="34" charset="-122"/>
                <a:cs typeface="Calibri" pitchFamily="34" charset="-120"/>
              </a:rPr>
              <a:t>validate, and decide</a:t>
            </a:r>
            <a:endParaRPr lang="en-US" sz="1200" dirty="0"/>
          </a:p>
        </p:txBody>
      </p:sp>
      <p:sp>
        <p:nvSpPr>
          <p:cNvPr id="23" name="Text 18"/>
          <p:cNvSpPr/>
          <p:nvPr/>
        </p:nvSpPr>
        <p:spPr>
          <a:xfrm>
            <a:off x="5289987" y="4041648"/>
            <a:ext cx="1611721" cy="237744"/>
          </a:xfrm>
          <a:prstGeom prst="rect">
            <a:avLst/>
          </a:prstGeom>
          <a:noFill/>
          <a:ln/>
        </p:spPr>
        <p:txBody>
          <a:bodyPr wrap="square" lIns="0" tIns="0" rIns="0" bIns="0" rtlCol="0" anchor="ctr"/>
          <a:lstStyle/>
          <a:p>
            <a:pPr marL="0" indent="0">
              <a:buNone/>
            </a:pPr>
            <a:r>
              <a:rPr lang="en-US" sz="900" b="1" kern="0" spc="150" dirty="0">
                <a:solidFill>
                  <a:srgbClr val="E08700"/>
                </a:solidFill>
                <a:latin typeface="Calibri" pitchFamily="34" charset="0"/>
                <a:ea typeface="Calibri" pitchFamily="34" charset="-122"/>
                <a:cs typeface="Calibri" pitchFamily="34" charset="-120"/>
              </a:rPr>
              <a:t>YOUR CODE</a:t>
            </a:r>
            <a:endParaRPr lang="en-US" sz="900" dirty="0"/>
          </a:p>
        </p:txBody>
      </p:sp>
      <p:sp>
        <p:nvSpPr>
          <p:cNvPr id="24" name="Shape 19"/>
          <p:cNvSpPr/>
          <p:nvPr/>
        </p:nvSpPr>
        <p:spPr>
          <a:xfrm>
            <a:off x="7139452" y="3200400"/>
            <a:ext cx="155448" cy="0"/>
          </a:xfrm>
          <a:prstGeom prst="line">
            <a:avLst/>
          </a:prstGeom>
          <a:noFill/>
          <a:ln w="25400">
            <a:solidFill>
              <a:srgbClr val="8E82F5"/>
            </a:solidFill>
            <a:prstDash val="solid"/>
            <a:headEnd type="none"/>
            <a:tailEnd type="triangle"/>
          </a:ln>
        </p:spPr>
        <p:txBody>
          <a:bodyPr/>
          <a:lstStyle/>
          <a:p>
            <a:endParaRPr lang="en-US"/>
          </a:p>
        </p:txBody>
      </p:sp>
      <p:sp>
        <p:nvSpPr>
          <p:cNvPr id="25" name="Shape 20"/>
          <p:cNvSpPr/>
          <p:nvPr/>
        </p:nvSpPr>
        <p:spPr>
          <a:xfrm>
            <a:off x="7322332" y="1956816"/>
            <a:ext cx="2050633" cy="2487168"/>
          </a:xfrm>
          <a:prstGeom prst="roundRect">
            <a:avLst>
              <a:gd name="adj" fmla="val 4459"/>
            </a:avLst>
          </a:prstGeom>
          <a:solidFill>
            <a:srgbClr val="FFFFFF"/>
          </a:solidFill>
          <a:ln w="12700">
            <a:solidFill>
              <a:srgbClr val="E3E4F2"/>
            </a:solidFill>
            <a:prstDash val="solid"/>
          </a:ln>
          <a:effectLst>
            <a:outerShdw blurRad="101600" dist="508" dir="5400000" algn="bl" rotWithShape="0">
              <a:srgbClr val="1B1A4A">
                <a:alpha val="7000"/>
              </a:srgbClr>
            </a:outerShdw>
          </a:effectLst>
        </p:spPr>
        <p:txBody>
          <a:bodyPr/>
          <a:lstStyle/>
          <a:p>
            <a:endParaRPr lang="en-US"/>
          </a:p>
        </p:txBody>
      </p:sp>
      <p:sp>
        <p:nvSpPr>
          <p:cNvPr id="26" name="Text 21"/>
          <p:cNvSpPr/>
          <p:nvPr/>
        </p:nvSpPr>
        <p:spPr>
          <a:xfrm>
            <a:off x="7541788" y="2103120"/>
            <a:ext cx="457200" cy="402336"/>
          </a:xfrm>
          <a:prstGeom prst="rect">
            <a:avLst/>
          </a:prstGeom>
          <a:noFill/>
          <a:ln/>
        </p:spPr>
        <p:txBody>
          <a:bodyPr wrap="square" lIns="0" tIns="0" rIns="0" bIns="0" rtlCol="0" anchor="ctr"/>
          <a:lstStyle/>
          <a:p>
            <a:pPr marL="0" indent="0">
              <a:buNone/>
            </a:pPr>
            <a:r>
              <a:rPr lang="en-US" sz="2600" b="1" dirty="0">
                <a:solidFill>
                  <a:srgbClr val="9B98B4"/>
                </a:solidFill>
                <a:latin typeface="Cambria" pitchFamily="34" charset="0"/>
                <a:ea typeface="Cambria" pitchFamily="34" charset="-122"/>
                <a:cs typeface="Cambria" pitchFamily="34" charset="-120"/>
              </a:rPr>
              <a:t>4</a:t>
            </a:r>
            <a:endParaRPr lang="en-US" sz="2600" dirty="0"/>
          </a:p>
        </p:txBody>
      </p:sp>
      <p:sp>
        <p:nvSpPr>
          <p:cNvPr id="27" name="Shape 22"/>
          <p:cNvSpPr/>
          <p:nvPr/>
        </p:nvSpPr>
        <p:spPr>
          <a:xfrm>
            <a:off x="8769462" y="2139696"/>
            <a:ext cx="365760" cy="365760"/>
          </a:xfrm>
          <a:prstGeom prst="ellipse">
            <a:avLst/>
          </a:prstGeom>
          <a:solidFill>
            <a:srgbClr val="F5A524"/>
          </a:solidFill>
          <a:ln w="12700">
            <a:solidFill>
              <a:srgbClr val="F5A524"/>
            </a:solidFill>
            <a:prstDash val="solid"/>
          </a:ln>
        </p:spPr>
        <p:txBody>
          <a:bodyPr/>
          <a:lstStyle/>
          <a:p>
            <a:endParaRPr lang="en-US"/>
          </a:p>
        </p:txBody>
      </p:sp>
      <p:pic>
        <p:nvPicPr>
          <p:cNvPr id="28" name="Image 3" descr="preencoded.png"/>
          <p:cNvPicPr>
            <a:picLocks noChangeAspect="1"/>
          </p:cNvPicPr>
          <p:nvPr/>
        </p:nvPicPr>
        <p:blipFill>
          <a:blip r:embed="rId6"/>
          <a:stretch>
            <a:fillRect/>
          </a:stretch>
        </p:blipFill>
        <p:spPr>
          <a:xfrm>
            <a:off x="8860902" y="2231136"/>
            <a:ext cx="182880" cy="182880"/>
          </a:xfrm>
          <a:prstGeom prst="rect">
            <a:avLst/>
          </a:prstGeom>
        </p:spPr>
      </p:pic>
      <p:sp>
        <p:nvSpPr>
          <p:cNvPr id="29" name="Text 23"/>
          <p:cNvSpPr/>
          <p:nvPr/>
        </p:nvSpPr>
        <p:spPr>
          <a:xfrm>
            <a:off x="7541788" y="2651760"/>
            <a:ext cx="1611721" cy="1097280"/>
          </a:xfrm>
          <a:prstGeom prst="rect">
            <a:avLst/>
          </a:prstGeom>
          <a:noFill/>
          <a:ln/>
        </p:spPr>
        <p:txBody>
          <a:bodyPr wrap="square" lIns="0" tIns="0" rIns="0" bIns="0" rtlCol="0" anchor="t"/>
          <a:lstStyle/>
          <a:p>
            <a:pPr marL="0" indent="0">
              <a:lnSpc>
                <a:spcPct val="112000"/>
              </a:lnSpc>
              <a:buNone/>
            </a:pPr>
            <a:r>
              <a:rPr lang="en-US" sz="1200" dirty="0">
                <a:solidFill>
                  <a:srgbClr val="141235"/>
                </a:solidFill>
                <a:latin typeface="Calibri" pitchFamily="34" charset="0"/>
                <a:ea typeface="Calibri" pitchFamily="34" charset="-122"/>
                <a:cs typeface="Calibri" pitchFamily="34" charset="-120"/>
              </a:rPr>
              <a:t>You run the function</a:t>
            </a:r>
            <a:endParaRPr lang="en-US" sz="1200" dirty="0"/>
          </a:p>
          <a:p>
            <a:pPr marL="0" indent="0">
              <a:lnSpc>
                <a:spcPct val="112000"/>
              </a:lnSpc>
              <a:buNone/>
            </a:pPr>
            <a:r>
              <a:rPr lang="en-US" sz="1200" dirty="0">
                <a:solidFill>
                  <a:srgbClr val="141235"/>
                </a:solidFill>
                <a:latin typeface="Calibri" pitchFamily="34" charset="0"/>
                <a:ea typeface="Calibri" pitchFamily="34" charset="-122"/>
                <a:cs typeface="Calibri" pitchFamily="34" charset="-120"/>
              </a:rPr>
              <a:t>and append a tool message</a:t>
            </a:r>
            <a:endParaRPr lang="en-US" sz="1200" dirty="0"/>
          </a:p>
        </p:txBody>
      </p:sp>
      <p:sp>
        <p:nvSpPr>
          <p:cNvPr id="30" name="Text 24"/>
          <p:cNvSpPr/>
          <p:nvPr/>
        </p:nvSpPr>
        <p:spPr>
          <a:xfrm>
            <a:off x="7541788" y="4041648"/>
            <a:ext cx="1611721" cy="237744"/>
          </a:xfrm>
          <a:prstGeom prst="rect">
            <a:avLst/>
          </a:prstGeom>
          <a:noFill/>
          <a:ln/>
        </p:spPr>
        <p:txBody>
          <a:bodyPr wrap="square" lIns="0" tIns="0" rIns="0" bIns="0" rtlCol="0" anchor="ctr"/>
          <a:lstStyle/>
          <a:p>
            <a:pPr marL="0" indent="0">
              <a:buNone/>
            </a:pPr>
            <a:r>
              <a:rPr lang="en-US" sz="900" b="1" kern="0" spc="150" dirty="0">
                <a:solidFill>
                  <a:srgbClr val="E08700"/>
                </a:solidFill>
                <a:latin typeface="Calibri" pitchFamily="34" charset="0"/>
                <a:ea typeface="Calibri" pitchFamily="34" charset="-122"/>
                <a:cs typeface="Calibri" pitchFamily="34" charset="-120"/>
              </a:rPr>
              <a:t>YOUR CODE</a:t>
            </a:r>
            <a:endParaRPr lang="en-US" sz="900" dirty="0"/>
          </a:p>
        </p:txBody>
      </p:sp>
      <p:sp>
        <p:nvSpPr>
          <p:cNvPr id="31" name="Shape 25"/>
          <p:cNvSpPr/>
          <p:nvPr/>
        </p:nvSpPr>
        <p:spPr>
          <a:xfrm>
            <a:off x="9391254" y="3200400"/>
            <a:ext cx="155448" cy="0"/>
          </a:xfrm>
          <a:prstGeom prst="line">
            <a:avLst/>
          </a:prstGeom>
          <a:noFill/>
          <a:ln w="25400">
            <a:solidFill>
              <a:srgbClr val="8E82F5"/>
            </a:solidFill>
            <a:prstDash val="solid"/>
            <a:headEnd type="none"/>
            <a:tailEnd type="triangle"/>
          </a:ln>
        </p:spPr>
        <p:txBody>
          <a:bodyPr/>
          <a:lstStyle/>
          <a:p>
            <a:endParaRPr lang="en-US"/>
          </a:p>
        </p:txBody>
      </p:sp>
      <p:sp>
        <p:nvSpPr>
          <p:cNvPr id="32" name="Shape 26"/>
          <p:cNvSpPr/>
          <p:nvPr/>
        </p:nvSpPr>
        <p:spPr>
          <a:xfrm>
            <a:off x="9574134" y="1956816"/>
            <a:ext cx="2050633" cy="2487168"/>
          </a:xfrm>
          <a:prstGeom prst="roundRect">
            <a:avLst>
              <a:gd name="adj" fmla="val 4459"/>
            </a:avLst>
          </a:prstGeom>
          <a:solidFill>
            <a:srgbClr val="EEEDFE"/>
          </a:solidFill>
          <a:ln w="12700">
            <a:solidFill>
              <a:srgbClr val="8E82F5"/>
            </a:solidFill>
            <a:prstDash val="solid"/>
          </a:ln>
          <a:effectLst>
            <a:outerShdw blurRad="101600" dist="508" dir="5400000" algn="bl" rotWithShape="0">
              <a:srgbClr val="1B1A4A">
                <a:alpha val="7000"/>
              </a:srgbClr>
            </a:outerShdw>
          </a:effectLst>
        </p:spPr>
        <p:txBody>
          <a:bodyPr/>
          <a:lstStyle/>
          <a:p>
            <a:endParaRPr lang="en-US"/>
          </a:p>
        </p:txBody>
      </p:sp>
      <p:sp>
        <p:nvSpPr>
          <p:cNvPr id="33" name="Text 27"/>
          <p:cNvSpPr/>
          <p:nvPr/>
        </p:nvSpPr>
        <p:spPr>
          <a:xfrm>
            <a:off x="9793590" y="2103120"/>
            <a:ext cx="457200" cy="402336"/>
          </a:xfrm>
          <a:prstGeom prst="rect">
            <a:avLst/>
          </a:prstGeom>
          <a:noFill/>
          <a:ln/>
        </p:spPr>
        <p:txBody>
          <a:bodyPr wrap="square" lIns="0" tIns="0" rIns="0" bIns="0" rtlCol="0" anchor="ctr"/>
          <a:lstStyle/>
          <a:p>
            <a:pPr marL="0" indent="0">
              <a:buNone/>
            </a:pPr>
            <a:r>
              <a:rPr lang="en-US" sz="2600" b="1" dirty="0">
                <a:solidFill>
                  <a:srgbClr val="5B4BE8"/>
                </a:solidFill>
                <a:latin typeface="Cambria" pitchFamily="34" charset="0"/>
                <a:ea typeface="Cambria" pitchFamily="34" charset="-122"/>
                <a:cs typeface="Cambria" pitchFamily="34" charset="-120"/>
              </a:rPr>
              <a:t>5</a:t>
            </a:r>
            <a:endParaRPr lang="en-US" sz="2600" dirty="0"/>
          </a:p>
        </p:txBody>
      </p:sp>
      <p:sp>
        <p:nvSpPr>
          <p:cNvPr id="34" name="Shape 28"/>
          <p:cNvSpPr/>
          <p:nvPr/>
        </p:nvSpPr>
        <p:spPr>
          <a:xfrm>
            <a:off x="11021263" y="2139696"/>
            <a:ext cx="365760" cy="365760"/>
          </a:xfrm>
          <a:prstGeom prst="ellipse">
            <a:avLst/>
          </a:prstGeom>
          <a:solidFill>
            <a:srgbClr val="5B4BE8"/>
          </a:solidFill>
          <a:ln w="12700">
            <a:solidFill>
              <a:srgbClr val="5B4BE8"/>
            </a:solidFill>
            <a:prstDash val="solid"/>
          </a:ln>
        </p:spPr>
        <p:txBody>
          <a:bodyPr/>
          <a:lstStyle/>
          <a:p>
            <a:endParaRPr lang="en-US"/>
          </a:p>
        </p:txBody>
      </p:sp>
      <p:pic>
        <p:nvPicPr>
          <p:cNvPr id="35" name="Image 4" descr="preencoded.png"/>
          <p:cNvPicPr>
            <a:picLocks noChangeAspect="1"/>
          </p:cNvPicPr>
          <p:nvPr/>
        </p:nvPicPr>
        <p:blipFill>
          <a:blip r:embed="rId7"/>
          <a:stretch>
            <a:fillRect/>
          </a:stretch>
        </p:blipFill>
        <p:spPr>
          <a:xfrm>
            <a:off x="11112703" y="2231136"/>
            <a:ext cx="182880" cy="182880"/>
          </a:xfrm>
          <a:prstGeom prst="rect">
            <a:avLst/>
          </a:prstGeom>
        </p:spPr>
      </p:pic>
      <p:sp>
        <p:nvSpPr>
          <p:cNvPr id="36" name="Text 29"/>
          <p:cNvSpPr/>
          <p:nvPr/>
        </p:nvSpPr>
        <p:spPr>
          <a:xfrm>
            <a:off x="9793590" y="2651760"/>
            <a:ext cx="1611721" cy="1097280"/>
          </a:xfrm>
          <a:prstGeom prst="rect">
            <a:avLst/>
          </a:prstGeom>
          <a:noFill/>
          <a:ln/>
        </p:spPr>
        <p:txBody>
          <a:bodyPr wrap="square" lIns="0" tIns="0" rIns="0" bIns="0" rtlCol="0" anchor="t"/>
          <a:lstStyle/>
          <a:p>
            <a:pPr marL="0" indent="0">
              <a:lnSpc>
                <a:spcPct val="112000"/>
              </a:lnSpc>
              <a:buNone/>
            </a:pPr>
            <a:r>
              <a:rPr lang="en-US" sz="1200" dirty="0">
                <a:solidFill>
                  <a:srgbClr val="141235"/>
                </a:solidFill>
                <a:latin typeface="Calibri" pitchFamily="34" charset="0"/>
                <a:ea typeface="Calibri" pitchFamily="34" charset="-122"/>
                <a:cs typeface="Calibri" pitchFamily="34" charset="-120"/>
              </a:rPr>
              <a:t>Model reads the result</a:t>
            </a:r>
            <a:endParaRPr lang="en-US" sz="1200" dirty="0"/>
          </a:p>
          <a:p>
            <a:pPr marL="0" indent="0">
              <a:lnSpc>
                <a:spcPct val="112000"/>
              </a:lnSpc>
              <a:buNone/>
            </a:pPr>
            <a:r>
              <a:rPr lang="en-US" sz="1200" dirty="0">
                <a:solidFill>
                  <a:srgbClr val="141235"/>
                </a:solidFill>
                <a:latin typeface="Calibri" pitchFamily="34" charset="0"/>
                <a:ea typeface="Calibri" pitchFamily="34" charset="-122"/>
                <a:cs typeface="Calibri" pitchFamily="34" charset="-120"/>
              </a:rPr>
              <a:t>and writes the answer</a:t>
            </a:r>
            <a:endParaRPr lang="en-US" sz="1200" dirty="0"/>
          </a:p>
        </p:txBody>
      </p:sp>
      <p:sp>
        <p:nvSpPr>
          <p:cNvPr id="37" name="Text 30"/>
          <p:cNvSpPr/>
          <p:nvPr/>
        </p:nvSpPr>
        <p:spPr>
          <a:xfrm>
            <a:off x="9793590" y="4041648"/>
            <a:ext cx="1611721" cy="237744"/>
          </a:xfrm>
          <a:prstGeom prst="rect">
            <a:avLst/>
          </a:prstGeom>
          <a:noFill/>
          <a:ln/>
        </p:spPr>
        <p:txBody>
          <a:bodyPr wrap="square" lIns="0" tIns="0" rIns="0" bIns="0" rtlCol="0" anchor="ctr"/>
          <a:lstStyle/>
          <a:p>
            <a:pPr marL="0" indent="0">
              <a:buNone/>
            </a:pPr>
            <a:r>
              <a:rPr lang="en-US" sz="900" b="1" kern="0" spc="150" dirty="0">
                <a:solidFill>
                  <a:srgbClr val="5B4BE8"/>
                </a:solidFill>
                <a:latin typeface="Calibri" pitchFamily="34" charset="0"/>
                <a:ea typeface="Calibri" pitchFamily="34" charset="-122"/>
                <a:cs typeface="Calibri" pitchFamily="34" charset="-120"/>
              </a:rPr>
              <a:t>THE MODEL</a:t>
            </a:r>
            <a:endParaRPr lang="en-US" sz="900" dirty="0"/>
          </a:p>
        </p:txBody>
      </p:sp>
      <p:sp>
        <p:nvSpPr>
          <p:cNvPr id="38" name="Text 31"/>
          <p:cNvSpPr/>
          <p:nvPr/>
        </p:nvSpPr>
        <p:spPr>
          <a:xfrm>
            <a:off x="566928" y="4626864"/>
            <a:ext cx="11057839" cy="365760"/>
          </a:xfrm>
          <a:prstGeom prst="rect">
            <a:avLst/>
          </a:prstGeom>
          <a:noFill/>
          <a:ln/>
        </p:spPr>
        <p:txBody>
          <a:bodyPr wrap="square" lIns="0" tIns="0" rIns="0" bIns="0" rtlCol="0" anchor="ctr"/>
          <a:lstStyle/>
          <a:p>
            <a:pPr marL="0" indent="0">
              <a:buNone/>
            </a:pPr>
            <a:r>
              <a:rPr lang="en-US" sz="1350" i="1" dirty="0">
                <a:solidFill>
                  <a:srgbClr val="3B3760"/>
                </a:solidFill>
                <a:latin typeface="Calibri" pitchFamily="34" charset="0"/>
                <a:ea typeface="Calibri" pitchFamily="34" charset="-122"/>
                <a:cs typeface="Calibri" pitchFamily="34" charset="-120"/>
              </a:rPr>
              <a:t>Three of the five moves are yours. The loop in module 03 is just this, repeated until the model stops asking.</a:t>
            </a:r>
            <a:endParaRPr lang="en-US" sz="1350" dirty="0"/>
          </a:p>
        </p:txBody>
      </p:sp>
      <p:sp>
        <p:nvSpPr>
          <p:cNvPr id="39" name="Shape 32"/>
          <p:cNvSpPr/>
          <p:nvPr/>
        </p:nvSpPr>
        <p:spPr>
          <a:xfrm>
            <a:off x="566928" y="5120640"/>
            <a:ext cx="11057839" cy="786384"/>
          </a:xfrm>
          <a:prstGeom prst="roundRect">
            <a:avLst>
              <a:gd name="adj" fmla="val 10465"/>
            </a:avLst>
          </a:prstGeom>
          <a:solidFill>
            <a:srgbClr val="FFF4E0"/>
          </a:solidFill>
          <a:ln w="12700">
            <a:solidFill>
              <a:srgbClr val="F3DCB0"/>
            </a:solidFill>
            <a:prstDash val="solid"/>
          </a:ln>
        </p:spPr>
        <p:txBody>
          <a:bodyPr/>
          <a:lstStyle/>
          <a:p>
            <a:endParaRPr lang="en-US"/>
          </a:p>
        </p:txBody>
      </p:sp>
      <p:sp>
        <p:nvSpPr>
          <p:cNvPr id="40" name="Shape 33"/>
          <p:cNvSpPr/>
          <p:nvPr/>
        </p:nvSpPr>
        <p:spPr>
          <a:xfrm>
            <a:off x="841248" y="5321808"/>
            <a:ext cx="384048" cy="384048"/>
          </a:xfrm>
          <a:prstGeom prst="ellipse">
            <a:avLst/>
          </a:prstGeom>
          <a:solidFill>
            <a:srgbClr val="F5A524"/>
          </a:solidFill>
          <a:ln w="12700">
            <a:solidFill>
              <a:srgbClr val="F5A524"/>
            </a:solidFill>
            <a:prstDash val="solid"/>
          </a:ln>
        </p:spPr>
        <p:txBody>
          <a:bodyPr/>
          <a:lstStyle/>
          <a:p>
            <a:endParaRPr lang="en-US"/>
          </a:p>
        </p:txBody>
      </p:sp>
      <p:pic>
        <p:nvPicPr>
          <p:cNvPr id="41" name="Image 5" descr="preencoded.png"/>
          <p:cNvPicPr>
            <a:picLocks noChangeAspect="1"/>
          </p:cNvPicPr>
          <p:nvPr/>
        </p:nvPicPr>
        <p:blipFill>
          <a:blip r:embed="rId8"/>
          <a:stretch>
            <a:fillRect/>
          </a:stretch>
        </p:blipFill>
        <p:spPr>
          <a:xfrm>
            <a:off x="937260" y="5417820"/>
            <a:ext cx="192024" cy="192024"/>
          </a:xfrm>
          <a:prstGeom prst="rect">
            <a:avLst/>
          </a:prstGeom>
        </p:spPr>
      </p:pic>
      <p:sp>
        <p:nvSpPr>
          <p:cNvPr id="42" name="Text 34"/>
          <p:cNvSpPr/>
          <p:nvPr/>
        </p:nvSpPr>
        <p:spPr>
          <a:xfrm>
            <a:off x="1371600" y="5175504"/>
            <a:ext cx="9960559" cy="676656"/>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Two of the five boxes are the AI. The other three are code review, error handling and logging — the things your organisation already knows how to govern.</a:t>
            </a:r>
            <a:endParaRPr lang="en-US"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B0A22"/>
        </a:solidFill>
        <a:effectLst/>
      </p:bgPr>
    </p:bg>
    <p:spTree>
      <p:nvGrpSpPr>
        <p:cNvPr id="1" name=""/>
        <p:cNvGrpSpPr/>
        <p:nvPr/>
      </p:nvGrpSpPr>
      <p:grpSpPr>
        <a:xfrm>
          <a:off x="0" y="0"/>
          <a:ext cx="0" cy="0"/>
          <a:chOff x="0" y="0"/>
          <a:chExt cx="0" cy="0"/>
        </a:xfrm>
      </p:grpSpPr>
      <p:pic>
        <p:nvPicPr>
          <p:cNvPr id="2" name="Image 0" descr="/home/claude/work/bg_quote.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612648" y="1371600"/>
            <a:ext cx="11057839" cy="274320"/>
          </a:xfrm>
          <a:prstGeom prst="rect">
            <a:avLst/>
          </a:prstGeom>
          <a:noFill/>
          <a:ln/>
        </p:spPr>
        <p:txBody>
          <a:bodyPr wrap="square" lIns="0" tIns="0" rIns="0" bIns="0" rtlCol="0" anchor="ctr"/>
          <a:lstStyle/>
          <a:p>
            <a:pPr marL="0" indent="0">
              <a:buNone/>
            </a:pPr>
            <a:r>
              <a:rPr lang="en-US" sz="1050" b="1" kern="0" spc="220" dirty="0">
                <a:solidFill>
                  <a:srgbClr val="F5A524"/>
                </a:solidFill>
                <a:latin typeface="Calibri" pitchFamily="34" charset="0"/>
                <a:ea typeface="Calibri" pitchFamily="34" charset="-122"/>
                <a:cs typeface="Calibri" pitchFamily="34" charset="-120"/>
              </a:rPr>
              <a:t>02 · TOOL CALLING</a:t>
            </a:r>
            <a:endParaRPr lang="en-US" sz="1050" dirty="0"/>
          </a:p>
        </p:txBody>
      </p:sp>
      <p:sp>
        <p:nvSpPr>
          <p:cNvPr id="4" name="Text 1"/>
          <p:cNvSpPr/>
          <p:nvPr/>
        </p:nvSpPr>
        <p:spPr>
          <a:xfrm>
            <a:off x="420624" y="1481328"/>
            <a:ext cx="1463040" cy="1463040"/>
          </a:xfrm>
          <a:prstGeom prst="rect">
            <a:avLst/>
          </a:prstGeom>
          <a:noFill/>
          <a:ln/>
        </p:spPr>
        <p:txBody>
          <a:bodyPr wrap="square" lIns="0" tIns="0" rIns="0" bIns="0" rtlCol="0" anchor="ctr"/>
          <a:lstStyle/>
          <a:p>
            <a:pPr marL="0" indent="0">
              <a:buNone/>
            </a:pPr>
            <a:r>
              <a:rPr lang="en-US" sz="15000" b="1" dirty="0">
                <a:solidFill>
                  <a:srgbClr val="8E82F5">
                    <a:alpha val="38000"/>
                  </a:srgbClr>
                </a:solidFill>
                <a:latin typeface="Cambria" pitchFamily="34" charset="0"/>
                <a:ea typeface="Cambria" pitchFamily="34" charset="-122"/>
                <a:cs typeface="Cambria" pitchFamily="34" charset="-120"/>
              </a:rPr>
              <a:t>“</a:t>
            </a:r>
            <a:endParaRPr lang="en-US" sz="15000" dirty="0"/>
          </a:p>
        </p:txBody>
      </p:sp>
      <p:sp>
        <p:nvSpPr>
          <p:cNvPr id="5" name="Text 2"/>
          <p:cNvSpPr/>
          <p:nvPr/>
        </p:nvSpPr>
        <p:spPr>
          <a:xfrm>
            <a:off x="612648" y="2212848"/>
            <a:ext cx="9960559" cy="2377440"/>
          </a:xfrm>
          <a:prstGeom prst="rect">
            <a:avLst/>
          </a:prstGeom>
          <a:noFill/>
          <a:ln/>
        </p:spPr>
        <p:txBody>
          <a:bodyPr wrap="square" lIns="0" tIns="0" rIns="0" bIns="0" rtlCol="0" anchor="t"/>
          <a:lstStyle/>
          <a:p>
            <a:pPr marL="0" indent="0">
              <a:lnSpc>
                <a:spcPct val="116000"/>
              </a:lnSpc>
              <a:buNone/>
            </a:pPr>
            <a:r>
              <a:rPr lang="en-US" sz="3800" b="1" dirty="0">
                <a:solidFill>
                  <a:srgbClr val="FFFFFF"/>
                </a:solidFill>
                <a:latin typeface="Cambria" pitchFamily="34" charset="0"/>
                <a:ea typeface="Cambria" pitchFamily="34" charset="-122"/>
                <a:cs typeface="Cambria" pitchFamily="34" charset="-120"/>
              </a:rPr>
              <a:t>Nothing forces you to run a tool</a:t>
            </a:r>
            <a:endParaRPr lang="en-US" sz="3800" dirty="0"/>
          </a:p>
          <a:p>
            <a:pPr marL="0" indent="0">
              <a:lnSpc>
                <a:spcPct val="116000"/>
              </a:lnSpc>
              <a:buNone/>
            </a:pPr>
            <a:r>
              <a:rPr lang="en-US" sz="3800" b="1" dirty="0">
                <a:solidFill>
                  <a:srgbClr val="FFFFFF"/>
                </a:solidFill>
                <a:latin typeface="Cambria" pitchFamily="34" charset="0"/>
                <a:ea typeface="Cambria" pitchFamily="34" charset="-122"/>
                <a:cs typeface="Cambria" pitchFamily="34" charset="-120"/>
              </a:rPr>
              <a:t>just because the model asked.</a:t>
            </a:r>
            <a:endParaRPr lang="en-US" sz="3800" dirty="0"/>
          </a:p>
        </p:txBody>
      </p:sp>
      <p:sp>
        <p:nvSpPr>
          <p:cNvPr id="6" name="Text 3"/>
          <p:cNvSpPr/>
          <p:nvPr/>
        </p:nvSpPr>
        <p:spPr>
          <a:xfrm>
            <a:off x="612648" y="4718304"/>
            <a:ext cx="9777679" cy="822960"/>
          </a:xfrm>
          <a:prstGeom prst="rect">
            <a:avLst/>
          </a:prstGeom>
          <a:noFill/>
          <a:ln/>
        </p:spPr>
        <p:txBody>
          <a:bodyPr wrap="square" lIns="0" tIns="0" rIns="0" bIns="0" rtlCol="0" anchor="t"/>
          <a:lstStyle/>
          <a:p>
            <a:pPr marL="0" indent="0">
              <a:lnSpc>
                <a:spcPct val="120000"/>
              </a:lnSpc>
              <a:buNone/>
            </a:pPr>
            <a:r>
              <a:rPr lang="en-US" sz="1450" dirty="0">
                <a:solidFill>
                  <a:srgbClr val="B9B4E0"/>
                </a:solidFill>
                <a:latin typeface="Calibri" pitchFamily="34" charset="0"/>
                <a:ea typeface="Calibri" pitchFamily="34" charset="-122"/>
                <a:cs typeface="Calibri" pitchFamily="34" charset="-120"/>
              </a:rPr>
              <a:t>Your code always gets the last word. Every guardrail in module 14 is an exercise of exactly this right.</a:t>
            </a:r>
            <a:endParaRPr lang="en-US" sz="14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B0A22"/>
        </a:solidFill>
        <a:effectLst/>
      </p:bgPr>
    </p:bg>
    <p:spTree>
      <p:nvGrpSpPr>
        <p:cNvPr id="1" name=""/>
        <p:cNvGrpSpPr/>
        <p:nvPr/>
      </p:nvGrpSpPr>
      <p:grpSpPr>
        <a:xfrm>
          <a:off x="0" y="0"/>
          <a:ext cx="0" cy="0"/>
          <a:chOff x="0" y="0"/>
          <a:chExt cx="0" cy="0"/>
        </a:xfrm>
      </p:grpSpPr>
      <p:pic>
        <p:nvPicPr>
          <p:cNvPr id="2" name="Image 0" descr="/home/claude/work/bg_dark.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6126480" y="1234440"/>
            <a:ext cx="5486400" cy="2743200"/>
          </a:xfrm>
          <a:prstGeom prst="rect">
            <a:avLst/>
          </a:prstGeom>
          <a:noFill/>
          <a:ln/>
        </p:spPr>
        <p:txBody>
          <a:bodyPr wrap="square" lIns="0" tIns="0" rIns="0" bIns="0" rtlCol="0" anchor="ctr"/>
          <a:lstStyle/>
          <a:p>
            <a:pPr marL="0" indent="0" algn="r">
              <a:buNone/>
            </a:pPr>
            <a:r>
              <a:rPr lang="en-US" sz="17600" b="1" dirty="0">
                <a:solidFill>
                  <a:srgbClr val="5B4BE8">
                    <a:alpha val="30000"/>
                  </a:srgbClr>
                </a:solidFill>
                <a:latin typeface="Cambria" pitchFamily="34" charset="0"/>
                <a:ea typeface="Cambria" pitchFamily="34" charset="-122"/>
                <a:cs typeface="Cambria" pitchFamily="34" charset="-120"/>
              </a:rPr>
              <a:t>03</a:t>
            </a:r>
            <a:endParaRPr lang="en-US" sz="17600" dirty="0"/>
          </a:p>
        </p:txBody>
      </p:sp>
      <p:sp>
        <p:nvSpPr>
          <p:cNvPr id="4" name="Shape 1"/>
          <p:cNvSpPr/>
          <p:nvPr/>
        </p:nvSpPr>
        <p:spPr>
          <a:xfrm>
            <a:off x="566928" y="2084832"/>
            <a:ext cx="566928" cy="566928"/>
          </a:xfrm>
          <a:prstGeom prst="ellipse">
            <a:avLst/>
          </a:prstGeom>
          <a:solidFill>
            <a:srgbClr val="F5A524"/>
          </a:solidFill>
          <a:ln w="12700">
            <a:solidFill>
              <a:srgbClr val="F5A524"/>
            </a:solidFill>
            <a:prstDash val="solid"/>
          </a:ln>
        </p:spPr>
        <p:txBody>
          <a:bodyPr/>
          <a:lstStyle/>
          <a:p>
            <a:endParaRPr lang="en-US"/>
          </a:p>
        </p:txBody>
      </p:sp>
      <p:pic>
        <p:nvPicPr>
          <p:cNvPr id="5" name="Image 1" descr="preencoded.png"/>
          <p:cNvPicPr>
            <a:picLocks noChangeAspect="1"/>
          </p:cNvPicPr>
          <p:nvPr/>
        </p:nvPicPr>
        <p:blipFill>
          <a:blip r:embed="rId4"/>
          <a:stretch>
            <a:fillRect/>
          </a:stretch>
        </p:blipFill>
        <p:spPr>
          <a:xfrm>
            <a:off x="708660" y="2226564"/>
            <a:ext cx="283464" cy="283464"/>
          </a:xfrm>
          <a:prstGeom prst="rect">
            <a:avLst/>
          </a:prstGeom>
        </p:spPr>
      </p:pic>
      <p:sp>
        <p:nvSpPr>
          <p:cNvPr id="6" name="Text 2"/>
          <p:cNvSpPr/>
          <p:nvPr/>
        </p:nvSpPr>
        <p:spPr>
          <a:xfrm>
            <a:off x="566928" y="2852928"/>
            <a:ext cx="7315200" cy="256032"/>
          </a:xfrm>
          <a:prstGeom prst="rect">
            <a:avLst/>
          </a:prstGeom>
          <a:noFill/>
          <a:ln/>
        </p:spPr>
        <p:txBody>
          <a:bodyPr wrap="square" lIns="0" tIns="0" rIns="0" bIns="0" rtlCol="0" anchor="ctr"/>
          <a:lstStyle/>
          <a:p>
            <a:pPr marL="0" indent="0">
              <a:buNone/>
            </a:pPr>
            <a:r>
              <a:rPr lang="en-US" sz="1100" b="1" kern="0" spc="240" dirty="0">
                <a:solidFill>
                  <a:srgbClr val="F5A524"/>
                </a:solidFill>
                <a:latin typeface="Calibri" pitchFamily="34" charset="0"/>
                <a:ea typeface="Calibri" pitchFamily="34" charset="-122"/>
                <a:cs typeface="Calibri" pitchFamily="34" charset="-120"/>
              </a:rPr>
              <a:t>MODULE 03</a:t>
            </a:r>
            <a:endParaRPr lang="en-US" sz="1100" dirty="0"/>
          </a:p>
        </p:txBody>
      </p:sp>
      <p:sp>
        <p:nvSpPr>
          <p:cNvPr id="7" name="Text 3"/>
          <p:cNvSpPr/>
          <p:nvPr/>
        </p:nvSpPr>
        <p:spPr>
          <a:xfrm>
            <a:off x="566928" y="3145536"/>
            <a:ext cx="8595360" cy="914400"/>
          </a:xfrm>
          <a:prstGeom prst="rect">
            <a:avLst/>
          </a:prstGeom>
          <a:noFill/>
          <a:ln/>
        </p:spPr>
        <p:txBody>
          <a:bodyPr wrap="square" lIns="0" tIns="0" rIns="0" bIns="0" rtlCol="0" anchor="t"/>
          <a:lstStyle/>
          <a:p>
            <a:pPr marL="0" indent="0">
              <a:buNone/>
            </a:pPr>
            <a:r>
              <a:rPr lang="en-US" sz="4600" b="1" dirty="0">
                <a:solidFill>
                  <a:srgbClr val="FFFFFF"/>
                </a:solidFill>
                <a:latin typeface="Cambria" pitchFamily="34" charset="0"/>
                <a:ea typeface="Cambria" pitchFamily="34" charset="-122"/>
                <a:cs typeface="Cambria" pitchFamily="34" charset="-120"/>
              </a:rPr>
              <a:t>The ReAct loop</a:t>
            </a:r>
            <a:endParaRPr lang="en-US" sz="4600" dirty="0"/>
          </a:p>
        </p:txBody>
      </p:sp>
      <p:sp>
        <p:nvSpPr>
          <p:cNvPr id="8" name="Text 4"/>
          <p:cNvSpPr/>
          <p:nvPr/>
        </p:nvSpPr>
        <p:spPr>
          <a:xfrm>
            <a:off x="566928" y="4169664"/>
            <a:ext cx="7863840" cy="731520"/>
          </a:xfrm>
          <a:prstGeom prst="rect">
            <a:avLst/>
          </a:prstGeom>
          <a:noFill/>
          <a:ln/>
        </p:spPr>
        <p:txBody>
          <a:bodyPr wrap="square" lIns="0" tIns="0" rIns="0" bIns="0" rtlCol="0" anchor="t"/>
          <a:lstStyle/>
          <a:p>
            <a:pPr marL="0" indent="0">
              <a:lnSpc>
                <a:spcPct val="120000"/>
              </a:lnSpc>
              <a:buNone/>
            </a:pPr>
            <a:r>
              <a:rPr lang="en-US" sz="1600" dirty="0">
                <a:solidFill>
                  <a:srgbClr val="B9B4E0"/>
                </a:solidFill>
                <a:latin typeface="Calibri" pitchFamily="34" charset="0"/>
                <a:ea typeface="Calibri" pitchFamily="34" charset="-122"/>
                <a:cs typeface="Calibri" pitchFamily="34" charset="-120"/>
              </a:rPr>
              <a:t>Think out loud, act, observe, repeat — then the silent version you will actually ship.</a:t>
            </a:r>
            <a:endParaRPr lang="en-US" sz="1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03 · THE REACT LOOP</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3000" b="1" dirty="0">
                <a:solidFill>
                  <a:srgbClr val="141235"/>
                </a:solidFill>
                <a:latin typeface="Cambria" pitchFamily="34" charset="0"/>
                <a:ea typeface="Cambria" pitchFamily="34" charset="-122"/>
                <a:cs typeface="Cambria" pitchFamily="34" charset="-120"/>
              </a:rPr>
              <a:t>Reason, then act, in the open</a:t>
            </a:r>
            <a:endParaRPr lang="en-US" sz="3000" dirty="0"/>
          </a:p>
        </p:txBody>
      </p:sp>
      <p:sp>
        <p:nvSpPr>
          <p:cNvPr id="4" name="Shape 2"/>
          <p:cNvSpPr/>
          <p:nvPr/>
        </p:nvSpPr>
        <p:spPr>
          <a:xfrm>
            <a:off x="1883664" y="2121408"/>
            <a:ext cx="2377440" cy="2377440"/>
          </a:xfrm>
          <a:prstGeom prst="ellipse">
            <a:avLst/>
          </a:prstGeom>
          <a:solidFill>
            <a:srgbClr val="FFFFFF"/>
          </a:solidFill>
          <a:ln w="17780">
            <a:solidFill>
              <a:srgbClr val="E3E4F2"/>
            </a:solidFill>
            <a:prstDash val="dash"/>
          </a:ln>
        </p:spPr>
        <p:txBody>
          <a:bodyPr/>
          <a:lstStyle/>
          <a:p>
            <a:endParaRPr lang="en-US"/>
          </a:p>
        </p:txBody>
      </p:sp>
      <p:sp>
        <p:nvSpPr>
          <p:cNvPr id="5" name="Shape 3"/>
          <p:cNvSpPr/>
          <p:nvPr/>
        </p:nvSpPr>
        <p:spPr>
          <a:xfrm>
            <a:off x="2450592" y="1773936"/>
            <a:ext cx="1243584" cy="731520"/>
          </a:xfrm>
          <a:prstGeom prst="roundRect">
            <a:avLst>
              <a:gd name="adj" fmla="val 11250"/>
            </a:avLst>
          </a:prstGeom>
          <a:solidFill>
            <a:srgbClr val="FFFFFF"/>
          </a:solidFill>
          <a:ln w="22860">
            <a:solidFill>
              <a:srgbClr val="5B4BE8"/>
            </a:solidFill>
            <a:prstDash val="solid"/>
          </a:ln>
          <a:effectLst>
            <a:outerShdw blurRad="101600" dist="508" dir="5400000" algn="bl" rotWithShape="0">
              <a:srgbClr val="1B1A4A">
                <a:alpha val="10000"/>
              </a:srgbClr>
            </a:outerShdw>
          </a:effectLst>
        </p:spPr>
        <p:txBody>
          <a:bodyPr/>
          <a:lstStyle/>
          <a:p>
            <a:endParaRPr lang="en-US"/>
          </a:p>
        </p:txBody>
      </p:sp>
      <p:sp>
        <p:nvSpPr>
          <p:cNvPr id="6" name="Text 4"/>
          <p:cNvSpPr/>
          <p:nvPr/>
        </p:nvSpPr>
        <p:spPr>
          <a:xfrm>
            <a:off x="2450592" y="1828800"/>
            <a:ext cx="1243584" cy="274320"/>
          </a:xfrm>
          <a:prstGeom prst="rect">
            <a:avLst/>
          </a:prstGeom>
          <a:noFill/>
          <a:ln/>
        </p:spPr>
        <p:txBody>
          <a:bodyPr wrap="square" lIns="0" tIns="0" rIns="0" bIns="0" rtlCol="0" anchor="ctr"/>
          <a:lstStyle/>
          <a:p>
            <a:pPr marL="0" indent="0" algn="ctr">
              <a:buNone/>
            </a:pPr>
            <a:r>
              <a:rPr lang="en-US" sz="1250" b="1" dirty="0">
                <a:solidFill>
                  <a:srgbClr val="141235"/>
                </a:solidFill>
                <a:latin typeface="Calibri" pitchFamily="34" charset="0"/>
                <a:ea typeface="Calibri" pitchFamily="34" charset="-122"/>
                <a:cs typeface="Calibri" pitchFamily="34" charset="-120"/>
              </a:rPr>
              <a:t>Thought</a:t>
            </a:r>
            <a:endParaRPr lang="en-US" sz="1250" dirty="0"/>
          </a:p>
        </p:txBody>
      </p:sp>
      <p:sp>
        <p:nvSpPr>
          <p:cNvPr id="7" name="Text 5"/>
          <p:cNvSpPr/>
          <p:nvPr/>
        </p:nvSpPr>
        <p:spPr>
          <a:xfrm>
            <a:off x="2313432" y="2523744"/>
            <a:ext cx="1517904" cy="548640"/>
          </a:xfrm>
          <a:prstGeom prst="rect">
            <a:avLst/>
          </a:prstGeom>
          <a:noFill/>
          <a:ln/>
        </p:spPr>
        <p:txBody>
          <a:bodyPr wrap="square" lIns="0" tIns="0" rIns="0" bIns="0" rtlCol="0" anchor="t"/>
          <a:lstStyle/>
          <a:p>
            <a:pPr marL="0" indent="0" algn="ctr">
              <a:lnSpc>
                <a:spcPct val="105000"/>
              </a:lnSpc>
              <a:buNone/>
            </a:pPr>
            <a:r>
              <a:rPr lang="en-US" sz="950" dirty="0">
                <a:solidFill>
                  <a:srgbClr val="6E6B8A"/>
                </a:solidFill>
                <a:latin typeface="Calibri" pitchFamily="34" charset="0"/>
                <a:ea typeface="Calibri" pitchFamily="34" charset="-122"/>
                <a:cs typeface="Calibri" pitchFamily="34" charset="-120"/>
              </a:rPr>
              <a:t>It writes its plan</a:t>
            </a:r>
            <a:endParaRPr lang="en-US" sz="950" dirty="0"/>
          </a:p>
          <a:p>
            <a:pPr marL="0" indent="0" algn="ctr">
              <a:lnSpc>
                <a:spcPct val="105000"/>
              </a:lnSpc>
              <a:buNone/>
            </a:pPr>
            <a:r>
              <a:rPr lang="en-US" sz="950" dirty="0">
                <a:solidFill>
                  <a:srgbClr val="6E6B8A"/>
                </a:solidFill>
                <a:latin typeface="Calibri" pitchFamily="34" charset="0"/>
                <a:ea typeface="Calibri" pitchFamily="34" charset="-122"/>
                <a:cs typeface="Calibri" pitchFamily="34" charset="-120"/>
              </a:rPr>
              <a:t>in plain text</a:t>
            </a:r>
            <a:endParaRPr lang="en-US" sz="950" dirty="0"/>
          </a:p>
        </p:txBody>
      </p:sp>
      <p:sp>
        <p:nvSpPr>
          <p:cNvPr id="8" name="Shape 6"/>
          <p:cNvSpPr/>
          <p:nvPr/>
        </p:nvSpPr>
        <p:spPr>
          <a:xfrm>
            <a:off x="3621024" y="2944368"/>
            <a:ext cx="1243584" cy="731520"/>
          </a:xfrm>
          <a:prstGeom prst="roundRect">
            <a:avLst>
              <a:gd name="adj" fmla="val 11250"/>
            </a:avLst>
          </a:prstGeom>
          <a:solidFill>
            <a:srgbClr val="FFFFFF"/>
          </a:solidFill>
          <a:ln w="22860">
            <a:solidFill>
              <a:srgbClr val="F5A524"/>
            </a:solidFill>
            <a:prstDash val="solid"/>
          </a:ln>
          <a:effectLst>
            <a:outerShdw blurRad="101600" dist="508" dir="5400000" algn="bl" rotWithShape="0">
              <a:srgbClr val="1B1A4A">
                <a:alpha val="10000"/>
              </a:srgbClr>
            </a:outerShdw>
          </a:effectLst>
        </p:spPr>
        <p:txBody>
          <a:bodyPr/>
          <a:lstStyle/>
          <a:p>
            <a:endParaRPr lang="en-US"/>
          </a:p>
        </p:txBody>
      </p:sp>
      <p:sp>
        <p:nvSpPr>
          <p:cNvPr id="9" name="Text 7"/>
          <p:cNvSpPr/>
          <p:nvPr/>
        </p:nvSpPr>
        <p:spPr>
          <a:xfrm>
            <a:off x="3621024" y="2999232"/>
            <a:ext cx="1243584" cy="274320"/>
          </a:xfrm>
          <a:prstGeom prst="rect">
            <a:avLst/>
          </a:prstGeom>
          <a:noFill/>
          <a:ln/>
        </p:spPr>
        <p:txBody>
          <a:bodyPr wrap="square" lIns="0" tIns="0" rIns="0" bIns="0" rtlCol="0" anchor="ctr"/>
          <a:lstStyle/>
          <a:p>
            <a:pPr marL="0" indent="0" algn="ctr">
              <a:buNone/>
            </a:pPr>
            <a:r>
              <a:rPr lang="en-US" sz="1250" b="1" dirty="0">
                <a:solidFill>
                  <a:srgbClr val="141235"/>
                </a:solidFill>
                <a:latin typeface="Calibri" pitchFamily="34" charset="0"/>
                <a:ea typeface="Calibri" pitchFamily="34" charset="-122"/>
                <a:cs typeface="Calibri" pitchFamily="34" charset="-120"/>
              </a:rPr>
              <a:t>Action</a:t>
            </a:r>
            <a:endParaRPr lang="en-US" sz="1250" dirty="0"/>
          </a:p>
        </p:txBody>
      </p:sp>
      <p:sp>
        <p:nvSpPr>
          <p:cNvPr id="10" name="Text 8"/>
          <p:cNvSpPr/>
          <p:nvPr/>
        </p:nvSpPr>
        <p:spPr>
          <a:xfrm>
            <a:off x="3483864" y="3694176"/>
            <a:ext cx="1517904" cy="548640"/>
          </a:xfrm>
          <a:prstGeom prst="rect">
            <a:avLst/>
          </a:prstGeom>
          <a:noFill/>
          <a:ln/>
        </p:spPr>
        <p:txBody>
          <a:bodyPr wrap="square" lIns="0" tIns="0" rIns="0" bIns="0" rtlCol="0" anchor="t"/>
          <a:lstStyle/>
          <a:p>
            <a:pPr marL="0" indent="0" algn="ctr">
              <a:lnSpc>
                <a:spcPct val="105000"/>
              </a:lnSpc>
              <a:buNone/>
            </a:pPr>
            <a:r>
              <a:rPr lang="en-US" sz="950" dirty="0">
                <a:solidFill>
                  <a:srgbClr val="6E6B8A"/>
                </a:solidFill>
                <a:latin typeface="Calibri" pitchFamily="34" charset="0"/>
                <a:ea typeface="Calibri" pitchFamily="34" charset="-122"/>
                <a:cs typeface="Calibri" pitchFamily="34" charset="-120"/>
              </a:rPr>
              <a:t>One tool, named</a:t>
            </a:r>
            <a:endParaRPr lang="en-US" sz="950" dirty="0"/>
          </a:p>
          <a:p>
            <a:pPr marL="0" indent="0" algn="ctr">
              <a:lnSpc>
                <a:spcPct val="105000"/>
              </a:lnSpc>
              <a:buNone/>
            </a:pPr>
            <a:r>
              <a:rPr lang="en-US" sz="950" dirty="0">
                <a:solidFill>
                  <a:srgbClr val="6E6B8A"/>
                </a:solidFill>
                <a:latin typeface="Calibri" pitchFamily="34" charset="0"/>
                <a:ea typeface="Calibri" pitchFamily="34" charset="-122"/>
                <a:cs typeface="Calibri" pitchFamily="34" charset="-120"/>
              </a:rPr>
              <a:t>in a fixed format</a:t>
            </a:r>
            <a:endParaRPr lang="en-US" sz="950" dirty="0"/>
          </a:p>
        </p:txBody>
      </p:sp>
      <p:sp>
        <p:nvSpPr>
          <p:cNvPr id="11" name="Shape 9"/>
          <p:cNvSpPr/>
          <p:nvPr/>
        </p:nvSpPr>
        <p:spPr>
          <a:xfrm>
            <a:off x="2450592" y="4114800"/>
            <a:ext cx="1243584" cy="731520"/>
          </a:xfrm>
          <a:prstGeom prst="roundRect">
            <a:avLst>
              <a:gd name="adj" fmla="val 11250"/>
            </a:avLst>
          </a:prstGeom>
          <a:solidFill>
            <a:srgbClr val="FFFFFF"/>
          </a:solidFill>
          <a:ln w="22860">
            <a:solidFill>
              <a:srgbClr val="0E9F6E"/>
            </a:solidFill>
            <a:prstDash val="solid"/>
          </a:ln>
          <a:effectLst>
            <a:outerShdw blurRad="101600" dist="508" dir="5400000" algn="bl" rotWithShape="0">
              <a:srgbClr val="1B1A4A">
                <a:alpha val="10000"/>
              </a:srgbClr>
            </a:outerShdw>
          </a:effectLst>
        </p:spPr>
        <p:txBody>
          <a:bodyPr/>
          <a:lstStyle/>
          <a:p>
            <a:endParaRPr lang="en-US"/>
          </a:p>
        </p:txBody>
      </p:sp>
      <p:sp>
        <p:nvSpPr>
          <p:cNvPr id="12" name="Text 10"/>
          <p:cNvSpPr/>
          <p:nvPr/>
        </p:nvSpPr>
        <p:spPr>
          <a:xfrm>
            <a:off x="2450592" y="4169664"/>
            <a:ext cx="1243584" cy="274320"/>
          </a:xfrm>
          <a:prstGeom prst="rect">
            <a:avLst/>
          </a:prstGeom>
          <a:noFill/>
          <a:ln/>
        </p:spPr>
        <p:txBody>
          <a:bodyPr wrap="square" lIns="0" tIns="0" rIns="0" bIns="0" rtlCol="0" anchor="ctr"/>
          <a:lstStyle/>
          <a:p>
            <a:pPr marL="0" indent="0" algn="ctr">
              <a:buNone/>
            </a:pPr>
            <a:r>
              <a:rPr lang="en-US" sz="1250" b="1" dirty="0">
                <a:solidFill>
                  <a:srgbClr val="141235"/>
                </a:solidFill>
                <a:latin typeface="Calibri" pitchFamily="34" charset="0"/>
                <a:ea typeface="Calibri" pitchFamily="34" charset="-122"/>
                <a:cs typeface="Calibri" pitchFamily="34" charset="-120"/>
              </a:rPr>
              <a:t>Observation</a:t>
            </a:r>
            <a:endParaRPr lang="en-US" sz="1250" dirty="0"/>
          </a:p>
        </p:txBody>
      </p:sp>
      <p:sp>
        <p:nvSpPr>
          <p:cNvPr id="13" name="Text 11"/>
          <p:cNvSpPr/>
          <p:nvPr/>
        </p:nvSpPr>
        <p:spPr>
          <a:xfrm>
            <a:off x="2313432" y="4864608"/>
            <a:ext cx="1517904" cy="548640"/>
          </a:xfrm>
          <a:prstGeom prst="rect">
            <a:avLst/>
          </a:prstGeom>
          <a:noFill/>
          <a:ln/>
        </p:spPr>
        <p:txBody>
          <a:bodyPr wrap="square" lIns="0" tIns="0" rIns="0" bIns="0" rtlCol="0" anchor="t"/>
          <a:lstStyle/>
          <a:p>
            <a:pPr marL="0" indent="0" algn="ctr">
              <a:lnSpc>
                <a:spcPct val="105000"/>
              </a:lnSpc>
              <a:buNone/>
            </a:pPr>
            <a:r>
              <a:rPr lang="en-US" sz="950" dirty="0">
                <a:solidFill>
                  <a:srgbClr val="6E6B8A"/>
                </a:solidFill>
                <a:latin typeface="Calibri" pitchFamily="34" charset="0"/>
                <a:ea typeface="Calibri" pitchFamily="34" charset="-122"/>
                <a:cs typeface="Calibri" pitchFamily="34" charset="-120"/>
              </a:rPr>
              <a:t>Your code writes</a:t>
            </a:r>
            <a:endParaRPr lang="en-US" sz="950" dirty="0"/>
          </a:p>
          <a:p>
            <a:pPr marL="0" indent="0" algn="ctr">
              <a:lnSpc>
                <a:spcPct val="105000"/>
              </a:lnSpc>
              <a:buNone/>
            </a:pPr>
            <a:r>
              <a:rPr lang="en-US" sz="950" dirty="0">
                <a:solidFill>
                  <a:srgbClr val="6E6B8A"/>
                </a:solidFill>
                <a:latin typeface="Calibri" pitchFamily="34" charset="0"/>
                <a:ea typeface="Calibri" pitchFamily="34" charset="-122"/>
                <a:cs typeface="Calibri" pitchFamily="34" charset="-120"/>
              </a:rPr>
              <a:t>the result back</a:t>
            </a:r>
            <a:endParaRPr lang="en-US" sz="950" dirty="0"/>
          </a:p>
        </p:txBody>
      </p:sp>
      <p:sp>
        <p:nvSpPr>
          <p:cNvPr id="14" name="Shape 12"/>
          <p:cNvSpPr/>
          <p:nvPr/>
        </p:nvSpPr>
        <p:spPr>
          <a:xfrm>
            <a:off x="1280160" y="2944368"/>
            <a:ext cx="1243584" cy="731520"/>
          </a:xfrm>
          <a:prstGeom prst="roundRect">
            <a:avLst>
              <a:gd name="adj" fmla="val 11250"/>
            </a:avLst>
          </a:prstGeom>
          <a:solidFill>
            <a:srgbClr val="FFFFFF"/>
          </a:solidFill>
          <a:ln w="22860">
            <a:solidFill>
              <a:srgbClr val="9B98B4"/>
            </a:solidFill>
            <a:prstDash val="solid"/>
          </a:ln>
          <a:effectLst>
            <a:outerShdw blurRad="101600" dist="508" dir="5400000" algn="bl" rotWithShape="0">
              <a:srgbClr val="1B1A4A">
                <a:alpha val="10000"/>
              </a:srgbClr>
            </a:outerShdw>
          </a:effectLst>
        </p:spPr>
        <p:txBody>
          <a:bodyPr/>
          <a:lstStyle/>
          <a:p>
            <a:endParaRPr lang="en-US"/>
          </a:p>
        </p:txBody>
      </p:sp>
      <p:sp>
        <p:nvSpPr>
          <p:cNvPr id="15" name="Text 13"/>
          <p:cNvSpPr/>
          <p:nvPr/>
        </p:nvSpPr>
        <p:spPr>
          <a:xfrm>
            <a:off x="1280160" y="2999232"/>
            <a:ext cx="1243584" cy="274320"/>
          </a:xfrm>
          <a:prstGeom prst="rect">
            <a:avLst/>
          </a:prstGeom>
          <a:noFill/>
          <a:ln/>
        </p:spPr>
        <p:txBody>
          <a:bodyPr wrap="square" lIns="0" tIns="0" rIns="0" bIns="0" rtlCol="0" anchor="ctr"/>
          <a:lstStyle/>
          <a:p>
            <a:pPr marL="0" indent="0" algn="ctr">
              <a:buNone/>
            </a:pPr>
            <a:r>
              <a:rPr lang="en-US" sz="1250" b="1" dirty="0">
                <a:solidFill>
                  <a:srgbClr val="141235"/>
                </a:solidFill>
                <a:latin typeface="Calibri" pitchFamily="34" charset="0"/>
                <a:ea typeface="Calibri" pitchFamily="34" charset="-122"/>
                <a:cs typeface="Calibri" pitchFamily="34" charset="-120"/>
              </a:rPr>
              <a:t>PAUSE</a:t>
            </a:r>
            <a:endParaRPr lang="en-US" sz="1250" dirty="0"/>
          </a:p>
        </p:txBody>
      </p:sp>
      <p:sp>
        <p:nvSpPr>
          <p:cNvPr id="16" name="Text 14"/>
          <p:cNvSpPr/>
          <p:nvPr/>
        </p:nvSpPr>
        <p:spPr>
          <a:xfrm>
            <a:off x="1143000" y="3694176"/>
            <a:ext cx="1517904" cy="548640"/>
          </a:xfrm>
          <a:prstGeom prst="rect">
            <a:avLst/>
          </a:prstGeom>
          <a:noFill/>
          <a:ln/>
        </p:spPr>
        <p:txBody>
          <a:bodyPr wrap="square" lIns="0" tIns="0" rIns="0" bIns="0" rtlCol="0" anchor="t"/>
          <a:lstStyle/>
          <a:p>
            <a:pPr marL="0" indent="0" algn="ctr">
              <a:lnSpc>
                <a:spcPct val="105000"/>
              </a:lnSpc>
              <a:buNone/>
            </a:pPr>
            <a:r>
              <a:rPr lang="en-US" sz="950" dirty="0">
                <a:solidFill>
                  <a:srgbClr val="6E6B8A"/>
                </a:solidFill>
                <a:latin typeface="Calibri" pitchFamily="34" charset="0"/>
                <a:ea typeface="Calibri" pitchFamily="34" charset="-122"/>
                <a:cs typeface="Calibri" pitchFamily="34" charset="-120"/>
              </a:rPr>
              <a:t>It stops and waits</a:t>
            </a:r>
            <a:endParaRPr lang="en-US" sz="950" dirty="0"/>
          </a:p>
          <a:p>
            <a:pPr marL="0" indent="0" algn="ctr">
              <a:lnSpc>
                <a:spcPct val="105000"/>
              </a:lnSpc>
              <a:buNone/>
            </a:pPr>
            <a:r>
              <a:rPr lang="en-US" sz="950" dirty="0">
                <a:solidFill>
                  <a:srgbClr val="6E6B8A"/>
                </a:solidFill>
                <a:latin typeface="Calibri" pitchFamily="34" charset="0"/>
                <a:ea typeface="Calibri" pitchFamily="34" charset="-122"/>
                <a:cs typeface="Calibri" pitchFamily="34" charset="-120"/>
              </a:rPr>
              <a:t>on purpose</a:t>
            </a:r>
            <a:endParaRPr lang="en-US" sz="950" dirty="0"/>
          </a:p>
        </p:txBody>
      </p:sp>
      <p:sp>
        <p:nvSpPr>
          <p:cNvPr id="17" name="Shape 15"/>
          <p:cNvSpPr/>
          <p:nvPr/>
        </p:nvSpPr>
        <p:spPr>
          <a:xfrm>
            <a:off x="2871216" y="3108960"/>
            <a:ext cx="402336" cy="402336"/>
          </a:xfrm>
          <a:prstGeom prst="ellipse">
            <a:avLst/>
          </a:prstGeom>
          <a:solidFill>
            <a:srgbClr val="5B4BE8"/>
          </a:solidFill>
          <a:ln w="12700">
            <a:solidFill>
              <a:srgbClr val="5B4BE8"/>
            </a:solidFill>
            <a:prstDash val="solid"/>
          </a:ln>
        </p:spPr>
        <p:txBody>
          <a:bodyPr/>
          <a:lstStyle/>
          <a:p>
            <a:endParaRPr lang="en-US"/>
          </a:p>
        </p:txBody>
      </p:sp>
      <p:pic>
        <p:nvPicPr>
          <p:cNvPr id="18" name="Image 0" descr="preencoded.png"/>
          <p:cNvPicPr>
            <a:picLocks noChangeAspect="1"/>
          </p:cNvPicPr>
          <p:nvPr/>
        </p:nvPicPr>
        <p:blipFill>
          <a:blip r:embed="rId3"/>
          <a:stretch>
            <a:fillRect/>
          </a:stretch>
        </p:blipFill>
        <p:spPr>
          <a:xfrm>
            <a:off x="2971800" y="3209544"/>
            <a:ext cx="201168" cy="201168"/>
          </a:xfrm>
          <a:prstGeom prst="rect">
            <a:avLst/>
          </a:prstGeom>
        </p:spPr>
      </p:pic>
      <p:sp>
        <p:nvSpPr>
          <p:cNvPr id="19" name="Shape 16"/>
          <p:cNvSpPr/>
          <p:nvPr/>
        </p:nvSpPr>
        <p:spPr>
          <a:xfrm>
            <a:off x="5120640" y="1828800"/>
            <a:ext cx="6504127" cy="969264"/>
          </a:xfrm>
          <a:prstGeom prst="roundRect">
            <a:avLst>
              <a:gd name="adj" fmla="val 8491"/>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20" name="Shape 17"/>
          <p:cNvSpPr/>
          <p:nvPr/>
        </p:nvSpPr>
        <p:spPr>
          <a:xfrm>
            <a:off x="5358384" y="2048256"/>
            <a:ext cx="365760" cy="365760"/>
          </a:xfrm>
          <a:prstGeom prst="ellipse">
            <a:avLst/>
          </a:prstGeom>
          <a:solidFill>
            <a:srgbClr val="5B4BE8"/>
          </a:solidFill>
          <a:ln w="12700">
            <a:solidFill>
              <a:srgbClr val="5B4BE8"/>
            </a:solidFill>
            <a:prstDash val="solid"/>
          </a:ln>
        </p:spPr>
        <p:txBody>
          <a:bodyPr/>
          <a:lstStyle/>
          <a:p>
            <a:endParaRPr lang="en-US"/>
          </a:p>
        </p:txBody>
      </p:sp>
      <p:pic>
        <p:nvPicPr>
          <p:cNvPr id="21" name="Image 1" descr="preencoded.png"/>
          <p:cNvPicPr>
            <a:picLocks noChangeAspect="1"/>
          </p:cNvPicPr>
          <p:nvPr/>
        </p:nvPicPr>
        <p:blipFill>
          <a:blip r:embed="rId4"/>
          <a:stretch>
            <a:fillRect/>
          </a:stretch>
        </p:blipFill>
        <p:spPr>
          <a:xfrm>
            <a:off x="5449824" y="2139696"/>
            <a:ext cx="182880" cy="182880"/>
          </a:xfrm>
          <a:prstGeom prst="rect">
            <a:avLst/>
          </a:prstGeom>
        </p:spPr>
      </p:pic>
      <p:sp>
        <p:nvSpPr>
          <p:cNvPr id="22" name="Text 18"/>
          <p:cNvSpPr/>
          <p:nvPr/>
        </p:nvSpPr>
        <p:spPr>
          <a:xfrm>
            <a:off x="5852160" y="2066544"/>
            <a:ext cx="5534863" cy="322417"/>
          </a:xfrm>
          <a:prstGeom prst="rect">
            <a:avLst/>
          </a:prstGeom>
          <a:noFill/>
          <a:ln/>
        </p:spPr>
        <p:txBody>
          <a:bodyPr wrap="square" lIns="0" tIns="0" rIns="0" bIns="0" rtlCol="0" anchor="t"/>
          <a:lstStyle/>
          <a:p>
            <a:pPr marL="0" indent="0">
              <a:lnSpc>
                <a:spcPct val="105000"/>
              </a:lnSpc>
              <a:buNone/>
            </a:pPr>
            <a:r>
              <a:rPr lang="en-US" sz="1350" b="1" dirty="0">
                <a:solidFill>
                  <a:srgbClr val="141235"/>
                </a:solidFill>
                <a:latin typeface="Calibri" pitchFamily="34" charset="0"/>
                <a:ea typeface="Calibri" pitchFamily="34" charset="-122"/>
                <a:cs typeface="Calibri" pitchFamily="34" charset="-120"/>
              </a:rPr>
              <a:t>The reasoning becomes text you can read</a:t>
            </a:r>
            <a:endParaRPr lang="en-US" sz="1350" dirty="0"/>
          </a:p>
        </p:txBody>
      </p:sp>
      <p:sp>
        <p:nvSpPr>
          <p:cNvPr id="23" name="Text 19"/>
          <p:cNvSpPr/>
          <p:nvPr/>
        </p:nvSpPr>
        <p:spPr>
          <a:xfrm>
            <a:off x="5852160" y="2398105"/>
            <a:ext cx="5534863" cy="217079"/>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Not hidden inside the model. Printed, logged, shown to a user, argued with in a code review.</a:t>
            </a:r>
            <a:endParaRPr lang="en-US" sz="1100" dirty="0"/>
          </a:p>
        </p:txBody>
      </p:sp>
      <p:sp>
        <p:nvSpPr>
          <p:cNvPr id="24" name="Shape 20"/>
          <p:cNvSpPr/>
          <p:nvPr/>
        </p:nvSpPr>
        <p:spPr>
          <a:xfrm>
            <a:off x="5120640" y="2871216"/>
            <a:ext cx="6504127" cy="969264"/>
          </a:xfrm>
          <a:prstGeom prst="roundRect">
            <a:avLst>
              <a:gd name="adj" fmla="val 8491"/>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25" name="Shape 21"/>
          <p:cNvSpPr/>
          <p:nvPr/>
        </p:nvSpPr>
        <p:spPr>
          <a:xfrm>
            <a:off x="5358384" y="3090672"/>
            <a:ext cx="365760" cy="365760"/>
          </a:xfrm>
          <a:prstGeom prst="ellipse">
            <a:avLst/>
          </a:prstGeom>
          <a:solidFill>
            <a:srgbClr val="0E9F6E"/>
          </a:solidFill>
          <a:ln w="12700">
            <a:solidFill>
              <a:srgbClr val="0E9F6E"/>
            </a:solidFill>
            <a:prstDash val="solid"/>
          </a:ln>
        </p:spPr>
        <p:txBody>
          <a:bodyPr/>
          <a:lstStyle/>
          <a:p>
            <a:endParaRPr lang="en-US"/>
          </a:p>
        </p:txBody>
      </p:sp>
      <p:pic>
        <p:nvPicPr>
          <p:cNvPr id="26" name="Image 2" descr="preencoded.png"/>
          <p:cNvPicPr>
            <a:picLocks noChangeAspect="1"/>
          </p:cNvPicPr>
          <p:nvPr/>
        </p:nvPicPr>
        <p:blipFill>
          <a:blip r:embed="rId5"/>
          <a:stretch>
            <a:fillRect/>
          </a:stretch>
        </p:blipFill>
        <p:spPr>
          <a:xfrm>
            <a:off x="5449824" y="3182112"/>
            <a:ext cx="182880" cy="182880"/>
          </a:xfrm>
          <a:prstGeom prst="rect">
            <a:avLst/>
          </a:prstGeom>
        </p:spPr>
      </p:pic>
      <p:sp>
        <p:nvSpPr>
          <p:cNvPr id="27" name="Text 22"/>
          <p:cNvSpPr/>
          <p:nvPr/>
        </p:nvSpPr>
        <p:spPr>
          <a:xfrm>
            <a:off x="5852160" y="3108960"/>
            <a:ext cx="5534863" cy="322417"/>
          </a:xfrm>
          <a:prstGeom prst="rect">
            <a:avLst/>
          </a:prstGeom>
          <a:noFill/>
          <a:ln/>
        </p:spPr>
        <p:txBody>
          <a:bodyPr wrap="square" lIns="0" tIns="0" rIns="0" bIns="0" rtlCol="0" anchor="t"/>
          <a:lstStyle/>
          <a:p>
            <a:pPr marL="0" indent="0">
              <a:lnSpc>
                <a:spcPct val="105000"/>
              </a:lnSpc>
              <a:buNone/>
            </a:pPr>
            <a:r>
              <a:rPr lang="en-US" sz="1350" b="1" dirty="0">
                <a:solidFill>
                  <a:srgbClr val="141235"/>
                </a:solidFill>
                <a:latin typeface="Calibri" pitchFamily="34" charset="0"/>
                <a:ea typeface="Calibri" pitchFamily="34" charset="-122"/>
                <a:cs typeface="Calibri" pitchFamily="34" charset="-120"/>
              </a:rPr>
              <a:t>That readability is the product</a:t>
            </a:r>
            <a:endParaRPr lang="en-US" sz="1350" dirty="0"/>
          </a:p>
        </p:txBody>
      </p:sp>
      <p:sp>
        <p:nvSpPr>
          <p:cNvPr id="28" name="Text 23"/>
          <p:cNvSpPr/>
          <p:nvPr/>
        </p:nvSpPr>
        <p:spPr>
          <a:xfrm>
            <a:off x="5852160" y="3440521"/>
            <a:ext cx="5534863" cy="217079"/>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For a regulated process, an agent that can show its work is worth more than one that is slightly more accurate.</a:t>
            </a:r>
            <a:endParaRPr lang="en-US" sz="1100" dirty="0"/>
          </a:p>
        </p:txBody>
      </p:sp>
      <p:sp>
        <p:nvSpPr>
          <p:cNvPr id="29" name="Shape 24"/>
          <p:cNvSpPr/>
          <p:nvPr/>
        </p:nvSpPr>
        <p:spPr>
          <a:xfrm>
            <a:off x="5120640" y="3913632"/>
            <a:ext cx="6504127" cy="1005840"/>
          </a:xfrm>
          <a:prstGeom prst="roundRect">
            <a:avLst>
              <a:gd name="adj" fmla="val 8182"/>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30" name="Shape 25"/>
          <p:cNvSpPr/>
          <p:nvPr/>
        </p:nvSpPr>
        <p:spPr>
          <a:xfrm>
            <a:off x="5358384" y="4133088"/>
            <a:ext cx="365760" cy="365760"/>
          </a:xfrm>
          <a:prstGeom prst="ellipse">
            <a:avLst/>
          </a:prstGeom>
          <a:solidFill>
            <a:srgbClr val="F5A524"/>
          </a:solidFill>
          <a:ln w="12700">
            <a:solidFill>
              <a:srgbClr val="F5A524"/>
            </a:solidFill>
            <a:prstDash val="solid"/>
          </a:ln>
        </p:spPr>
        <p:txBody>
          <a:bodyPr/>
          <a:lstStyle/>
          <a:p>
            <a:endParaRPr lang="en-US"/>
          </a:p>
        </p:txBody>
      </p:sp>
      <p:pic>
        <p:nvPicPr>
          <p:cNvPr id="31" name="Image 3" descr="preencoded.png"/>
          <p:cNvPicPr>
            <a:picLocks noChangeAspect="1"/>
          </p:cNvPicPr>
          <p:nvPr/>
        </p:nvPicPr>
        <p:blipFill>
          <a:blip r:embed="rId6"/>
          <a:stretch>
            <a:fillRect/>
          </a:stretch>
        </p:blipFill>
        <p:spPr>
          <a:xfrm>
            <a:off x="5449824" y="4224528"/>
            <a:ext cx="182880" cy="182880"/>
          </a:xfrm>
          <a:prstGeom prst="rect">
            <a:avLst/>
          </a:prstGeom>
        </p:spPr>
      </p:pic>
      <p:sp>
        <p:nvSpPr>
          <p:cNvPr id="32" name="Text 26"/>
          <p:cNvSpPr/>
          <p:nvPr/>
        </p:nvSpPr>
        <p:spPr>
          <a:xfrm>
            <a:off x="5852160" y="4151376"/>
            <a:ext cx="5534863" cy="322417"/>
          </a:xfrm>
          <a:prstGeom prst="rect">
            <a:avLst/>
          </a:prstGeom>
          <a:noFill/>
          <a:ln/>
        </p:spPr>
        <p:txBody>
          <a:bodyPr wrap="square" lIns="0" tIns="0" rIns="0" bIns="0" rtlCol="0" anchor="t"/>
          <a:lstStyle/>
          <a:p>
            <a:pPr marL="0" indent="0">
              <a:lnSpc>
                <a:spcPct val="105000"/>
              </a:lnSpc>
              <a:buNone/>
            </a:pPr>
            <a:r>
              <a:rPr lang="en-US" sz="1350" b="1" dirty="0">
                <a:solidFill>
                  <a:srgbClr val="141235"/>
                </a:solidFill>
                <a:latin typeface="Calibri" pitchFamily="34" charset="0"/>
                <a:ea typeface="Calibri" pitchFamily="34" charset="-122"/>
                <a:cs typeface="Calibri" pitchFamily="34" charset="-120"/>
              </a:rPr>
              <a:t>And it is fragile</a:t>
            </a:r>
            <a:endParaRPr lang="en-US" sz="1350" dirty="0"/>
          </a:p>
        </p:txBody>
      </p:sp>
      <p:sp>
        <p:nvSpPr>
          <p:cNvPr id="33" name="Text 27"/>
          <p:cNvSpPr/>
          <p:nvPr/>
        </p:nvSpPr>
        <p:spPr>
          <a:xfrm>
            <a:off x="5852160" y="4482937"/>
            <a:ext cx="5534863" cy="253655"/>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It depends on the model formatting its lines correctly. Ramble once and your parser breaks. That is the trade.</a:t>
            </a:r>
            <a:endParaRPr lang="en-US" sz="1100" dirty="0"/>
          </a:p>
        </p:txBody>
      </p:sp>
      <p:sp>
        <p:nvSpPr>
          <p:cNvPr id="34" name="Shape 28"/>
          <p:cNvSpPr/>
          <p:nvPr/>
        </p:nvSpPr>
        <p:spPr>
          <a:xfrm>
            <a:off x="567080" y="5422392"/>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35" name="Shape 29"/>
          <p:cNvSpPr/>
          <p:nvPr/>
        </p:nvSpPr>
        <p:spPr>
          <a:xfrm>
            <a:off x="841400" y="5641848"/>
            <a:ext cx="384048" cy="384048"/>
          </a:xfrm>
          <a:prstGeom prst="ellipse">
            <a:avLst/>
          </a:prstGeom>
          <a:solidFill>
            <a:srgbClr val="F5A524"/>
          </a:solidFill>
          <a:ln w="12700">
            <a:solidFill>
              <a:srgbClr val="F5A524"/>
            </a:solidFill>
            <a:prstDash val="solid"/>
          </a:ln>
        </p:spPr>
        <p:txBody>
          <a:bodyPr/>
          <a:lstStyle/>
          <a:p>
            <a:endParaRPr lang="en-US"/>
          </a:p>
        </p:txBody>
      </p:sp>
      <p:pic>
        <p:nvPicPr>
          <p:cNvPr id="36" name="Image 4" descr="preencoded.png"/>
          <p:cNvPicPr>
            <a:picLocks noChangeAspect="1"/>
          </p:cNvPicPr>
          <p:nvPr/>
        </p:nvPicPr>
        <p:blipFill>
          <a:blip r:embed="rId7"/>
          <a:stretch>
            <a:fillRect/>
          </a:stretch>
        </p:blipFill>
        <p:spPr>
          <a:xfrm>
            <a:off x="937412" y="5737860"/>
            <a:ext cx="192024" cy="192024"/>
          </a:xfrm>
          <a:prstGeom prst="rect">
            <a:avLst/>
          </a:prstGeom>
        </p:spPr>
      </p:pic>
      <p:sp>
        <p:nvSpPr>
          <p:cNvPr id="37" name="Text 30"/>
          <p:cNvSpPr/>
          <p:nvPr/>
        </p:nvSpPr>
        <p:spPr>
          <a:xfrm>
            <a:off x="1371752" y="5477256"/>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ReAct is the difference between an employee who hands you an answer and one who shows you their working. Both can be wrong; only one can be checked.</a:t>
            </a:r>
            <a:endParaRPr lang="en-US" sz="10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03 · THE REACT LOOP</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3000" b="1" dirty="0">
                <a:solidFill>
                  <a:srgbClr val="141235"/>
                </a:solidFill>
                <a:latin typeface="Cambria" pitchFamily="34" charset="0"/>
                <a:ea typeface="Cambria" pitchFamily="34" charset="-122"/>
                <a:cs typeface="Cambria" pitchFamily="34" charset="-120"/>
              </a:rPr>
              <a:t>Two different things, not two names for one thing</a:t>
            </a:r>
            <a:endParaRPr lang="en-US" sz="3000" dirty="0"/>
          </a:p>
        </p:txBody>
      </p:sp>
      <p:sp>
        <p:nvSpPr>
          <p:cNvPr id="4" name="Shape 2"/>
          <p:cNvSpPr/>
          <p:nvPr/>
        </p:nvSpPr>
        <p:spPr>
          <a:xfrm>
            <a:off x="3986784" y="1700784"/>
            <a:ext cx="3764128" cy="658368"/>
          </a:xfrm>
          <a:prstGeom prst="roundRect">
            <a:avLst>
              <a:gd name="adj" fmla="val 11111"/>
            </a:avLst>
          </a:prstGeom>
          <a:solidFill>
            <a:srgbClr val="FFF4E0"/>
          </a:solidFill>
          <a:ln w="12700">
            <a:solidFill>
              <a:srgbClr val="F3DCB0"/>
            </a:solidFill>
            <a:prstDash val="solid"/>
          </a:ln>
        </p:spPr>
        <p:txBody>
          <a:bodyPr/>
          <a:lstStyle/>
          <a:p>
            <a:endParaRPr lang="en-US"/>
          </a:p>
        </p:txBody>
      </p:sp>
      <p:sp>
        <p:nvSpPr>
          <p:cNvPr id="5" name="Text 3"/>
          <p:cNvSpPr/>
          <p:nvPr/>
        </p:nvSpPr>
        <p:spPr>
          <a:xfrm>
            <a:off x="4078224" y="1737360"/>
            <a:ext cx="3581248" cy="585216"/>
          </a:xfrm>
          <a:prstGeom prst="rect">
            <a:avLst/>
          </a:prstGeom>
          <a:noFill/>
          <a:ln/>
        </p:spPr>
        <p:txBody>
          <a:bodyPr wrap="square" lIns="0" tIns="0" rIns="0" bIns="0" rtlCol="0" anchor="ctr"/>
          <a:lstStyle/>
          <a:p>
            <a:pPr marL="0" indent="0" algn="ctr">
              <a:lnSpc>
                <a:spcPct val="105000"/>
              </a:lnSpc>
              <a:buNone/>
            </a:pPr>
            <a:r>
              <a:rPr lang="en-US" sz="1400" b="1" dirty="0">
                <a:solidFill>
                  <a:srgbClr val="E08700"/>
                </a:solidFill>
                <a:latin typeface="Calibri" pitchFamily="34" charset="0"/>
                <a:ea typeface="Calibri" pitchFamily="34" charset="-122"/>
                <a:cs typeface="Calibri" pitchFamily="34" charset="-120"/>
              </a:rPr>
              <a:t>ReAct</a:t>
            </a:r>
            <a:endParaRPr lang="en-US" sz="1400" dirty="0"/>
          </a:p>
          <a:p>
            <a:pPr marL="0" indent="0" algn="ctr">
              <a:lnSpc>
                <a:spcPct val="105000"/>
              </a:lnSpc>
              <a:buNone/>
            </a:pPr>
            <a:r>
              <a:rPr lang="en-US" sz="1000" i="1" dirty="0">
                <a:solidFill>
                  <a:srgbClr val="6E6B8A"/>
                </a:solidFill>
                <a:latin typeface="Calibri" pitchFamily="34" charset="0"/>
                <a:ea typeface="Calibri" pitchFamily="34" charset="-122"/>
                <a:cs typeface="Calibri" pitchFamily="34" charset="-120"/>
              </a:rPr>
              <a:t>a prompting pattern</a:t>
            </a:r>
            <a:endParaRPr lang="en-US" sz="1400" dirty="0"/>
          </a:p>
        </p:txBody>
      </p:sp>
      <p:sp>
        <p:nvSpPr>
          <p:cNvPr id="6" name="Shape 4"/>
          <p:cNvSpPr/>
          <p:nvPr/>
        </p:nvSpPr>
        <p:spPr>
          <a:xfrm>
            <a:off x="7824064" y="1700784"/>
            <a:ext cx="3764128" cy="658368"/>
          </a:xfrm>
          <a:prstGeom prst="roundRect">
            <a:avLst>
              <a:gd name="adj" fmla="val 11111"/>
            </a:avLst>
          </a:prstGeom>
          <a:solidFill>
            <a:srgbClr val="EEEDFE"/>
          </a:solidFill>
          <a:ln w="12700">
            <a:solidFill>
              <a:srgbClr val="8E82F5"/>
            </a:solidFill>
            <a:prstDash val="solid"/>
          </a:ln>
        </p:spPr>
        <p:txBody>
          <a:bodyPr/>
          <a:lstStyle/>
          <a:p>
            <a:endParaRPr lang="en-US"/>
          </a:p>
        </p:txBody>
      </p:sp>
      <p:sp>
        <p:nvSpPr>
          <p:cNvPr id="7" name="Text 5"/>
          <p:cNvSpPr/>
          <p:nvPr/>
        </p:nvSpPr>
        <p:spPr>
          <a:xfrm>
            <a:off x="7915504" y="1737360"/>
            <a:ext cx="3581248" cy="585216"/>
          </a:xfrm>
          <a:prstGeom prst="rect">
            <a:avLst/>
          </a:prstGeom>
          <a:noFill/>
          <a:ln/>
        </p:spPr>
        <p:txBody>
          <a:bodyPr wrap="square" lIns="0" tIns="0" rIns="0" bIns="0" rtlCol="0" anchor="ctr"/>
          <a:lstStyle/>
          <a:p>
            <a:pPr marL="0" indent="0" algn="ctr">
              <a:lnSpc>
                <a:spcPct val="105000"/>
              </a:lnSpc>
              <a:buNone/>
            </a:pPr>
            <a:r>
              <a:rPr lang="en-US" sz="1400" b="1" dirty="0">
                <a:solidFill>
                  <a:srgbClr val="5B4BE8"/>
                </a:solidFill>
                <a:latin typeface="Calibri" pitchFamily="34" charset="0"/>
                <a:ea typeface="Calibri" pitchFamily="34" charset="-122"/>
                <a:cs typeface="Calibri" pitchFamily="34" charset="-120"/>
              </a:rPr>
              <a:t>The official tool-calling loop</a:t>
            </a:r>
            <a:endParaRPr lang="en-US" sz="1400" dirty="0"/>
          </a:p>
          <a:p>
            <a:pPr marL="0" indent="0" algn="ctr">
              <a:lnSpc>
                <a:spcPct val="105000"/>
              </a:lnSpc>
              <a:buNone/>
            </a:pPr>
            <a:r>
              <a:rPr lang="en-US" sz="1000" i="1" dirty="0">
                <a:solidFill>
                  <a:srgbClr val="6E6B8A"/>
                </a:solidFill>
                <a:latin typeface="Calibri" pitchFamily="34" charset="0"/>
                <a:ea typeface="Calibri" pitchFamily="34" charset="-122"/>
                <a:cs typeface="Calibri" pitchFamily="34" charset="-120"/>
              </a:rPr>
              <a:t>an API feature</a:t>
            </a:r>
            <a:endParaRPr lang="en-US" sz="1400" dirty="0"/>
          </a:p>
        </p:txBody>
      </p:sp>
      <p:sp>
        <p:nvSpPr>
          <p:cNvPr id="8" name="Shape 6"/>
          <p:cNvSpPr/>
          <p:nvPr/>
        </p:nvSpPr>
        <p:spPr>
          <a:xfrm>
            <a:off x="566928" y="2450592"/>
            <a:ext cx="11057839" cy="493776"/>
          </a:xfrm>
          <a:prstGeom prst="roundRect">
            <a:avLst>
              <a:gd name="adj" fmla="val 9259"/>
            </a:avLst>
          </a:prstGeom>
          <a:solidFill>
            <a:srgbClr val="F5F6FC"/>
          </a:solidFill>
          <a:ln w="12700">
            <a:solidFill>
              <a:srgbClr val="F5F6FC"/>
            </a:solidFill>
            <a:prstDash val="solid"/>
          </a:ln>
        </p:spPr>
        <p:txBody>
          <a:bodyPr/>
          <a:lstStyle/>
          <a:p>
            <a:endParaRPr lang="en-US"/>
          </a:p>
        </p:txBody>
      </p:sp>
      <p:sp>
        <p:nvSpPr>
          <p:cNvPr id="9" name="Text 7"/>
          <p:cNvSpPr/>
          <p:nvPr/>
        </p:nvSpPr>
        <p:spPr>
          <a:xfrm>
            <a:off x="713232" y="2450592"/>
            <a:ext cx="3017520" cy="493776"/>
          </a:xfrm>
          <a:prstGeom prst="rect">
            <a:avLst/>
          </a:prstGeom>
          <a:noFill/>
          <a:ln/>
        </p:spPr>
        <p:txBody>
          <a:bodyPr wrap="square" lIns="0" tIns="0" rIns="0" bIns="0" rtlCol="0" anchor="ctr"/>
          <a:lstStyle/>
          <a:p>
            <a:pPr marL="0" indent="0">
              <a:buNone/>
            </a:pPr>
            <a:r>
              <a:rPr lang="en-US" sz="1150" b="1" dirty="0">
                <a:solidFill>
                  <a:srgbClr val="3B3760"/>
                </a:solidFill>
                <a:latin typeface="Calibri" pitchFamily="34" charset="0"/>
                <a:ea typeface="Calibri" pitchFamily="34" charset="-122"/>
                <a:cs typeface="Calibri" pitchFamily="34" charset="-120"/>
              </a:rPr>
              <a:t>How it asks for a tool</a:t>
            </a:r>
            <a:endParaRPr lang="en-US" sz="1150" dirty="0"/>
          </a:p>
        </p:txBody>
      </p:sp>
      <p:sp>
        <p:nvSpPr>
          <p:cNvPr id="10" name="Text 8"/>
          <p:cNvSpPr/>
          <p:nvPr/>
        </p:nvSpPr>
        <p:spPr>
          <a:xfrm>
            <a:off x="4041648" y="2450592"/>
            <a:ext cx="3562960" cy="493776"/>
          </a:xfrm>
          <a:prstGeom prst="rect">
            <a:avLst/>
          </a:prstGeom>
          <a:noFill/>
          <a:ln/>
        </p:spPr>
        <p:txBody>
          <a:bodyPr wrap="square" lIns="0" tIns="0" rIns="0" bIns="0" rtlCol="0" anchor="ctr"/>
          <a:lstStyle/>
          <a:p>
            <a:pPr marL="0" indent="0">
              <a:buNone/>
            </a:pPr>
            <a:r>
              <a:rPr lang="en-US" sz="1150" dirty="0">
                <a:solidFill>
                  <a:srgbClr val="141235"/>
                </a:solidFill>
                <a:latin typeface="Calibri" pitchFamily="34" charset="0"/>
                <a:ea typeface="Calibri" pitchFamily="34" charset="-122"/>
                <a:cs typeface="Calibri" pitchFamily="34" charset="-120"/>
              </a:rPr>
              <a:t>A line of text: Action: get_weather</a:t>
            </a:r>
            <a:endParaRPr lang="en-US" sz="1150" dirty="0"/>
          </a:p>
        </p:txBody>
      </p:sp>
      <p:sp>
        <p:nvSpPr>
          <p:cNvPr id="11" name="Text 9"/>
          <p:cNvSpPr/>
          <p:nvPr/>
        </p:nvSpPr>
        <p:spPr>
          <a:xfrm>
            <a:off x="7915504" y="2450592"/>
            <a:ext cx="3562960" cy="493776"/>
          </a:xfrm>
          <a:prstGeom prst="rect">
            <a:avLst/>
          </a:prstGeom>
          <a:noFill/>
          <a:ln/>
        </p:spPr>
        <p:txBody>
          <a:bodyPr wrap="square" lIns="0" tIns="0" rIns="0" bIns="0" rtlCol="0" anchor="ctr"/>
          <a:lstStyle/>
          <a:p>
            <a:pPr marL="0" indent="0">
              <a:buNone/>
            </a:pPr>
            <a:r>
              <a:rPr lang="en-US" sz="1150" dirty="0">
                <a:solidFill>
                  <a:srgbClr val="141235"/>
                </a:solidFill>
                <a:latin typeface="Calibri" pitchFamily="34" charset="0"/>
                <a:ea typeface="Calibri" pitchFamily="34" charset="-122"/>
                <a:cs typeface="Calibri" pitchFamily="34" charset="-120"/>
              </a:rPr>
              <a:t>A structured field: finish_reason == tool_calls</a:t>
            </a:r>
            <a:endParaRPr lang="en-US" sz="1150" dirty="0"/>
          </a:p>
        </p:txBody>
      </p:sp>
      <p:sp>
        <p:nvSpPr>
          <p:cNvPr id="12" name="Text 10"/>
          <p:cNvSpPr/>
          <p:nvPr/>
        </p:nvSpPr>
        <p:spPr>
          <a:xfrm>
            <a:off x="713232" y="2980944"/>
            <a:ext cx="3017520" cy="493776"/>
          </a:xfrm>
          <a:prstGeom prst="rect">
            <a:avLst/>
          </a:prstGeom>
          <a:noFill/>
          <a:ln/>
        </p:spPr>
        <p:txBody>
          <a:bodyPr wrap="square" lIns="0" tIns="0" rIns="0" bIns="0" rtlCol="0" anchor="ctr"/>
          <a:lstStyle/>
          <a:p>
            <a:pPr marL="0" indent="0">
              <a:buNone/>
            </a:pPr>
            <a:r>
              <a:rPr lang="en-US" sz="1150" b="1" dirty="0">
                <a:solidFill>
                  <a:srgbClr val="3B3760"/>
                </a:solidFill>
                <a:latin typeface="Calibri" pitchFamily="34" charset="0"/>
                <a:ea typeface="Calibri" pitchFamily="34" charset="-122"/>
                <a:cs typeface="Calibri" pitchFamily="34" charset="-120"/>
              </a:rPr>
              <a:t>How you detect it</a:t>
            </a:r>
            <a:endParaRPr lang="en-US" sz="1150" dirty="0"/>
          </a:p>
        </p:txBody>
      </p:sp>
      <p:sp>
        <p:nvSpPr>
          <p:cNvPr id="13" name="Text 11"/>
          <p:cNvSpPr/>
          <p:nvPr/>
        </p:nvSpPr>
        <p:spPr>
          <a:xfrm>
            <a:off x="4041648" y="2980944"/>
            <a:ext cx="3562960" cy="493776"/>
          </a:xfrm>
          <a:prstGeom prst="rect">
            <a:avLst/>
          </a:prstGeom>
          <a:noFill/>
          <a:ln/>
        </p:spPr>
        <p:txBody>
          <a:bodyPr wrap="square" lIns="0" tIns="0" rIns="0" bIns="0" rtlCol="0" anchor="ctr"/>
          <a:lstStyle/>
          <a:p>
            <a:pPr marL="0" indent="0">
              <a:buNone/>
            </a:pPr>
            <a:r>
              <a:rPr lang="en-US" sz="1150" dirty="0">
                <a:solidFill>
                  <a:srgbClr val="141235"/>
                </a:solidFill>
                <a:latin typeface="Calibri" pitchFamily="34" charset="0"/>
                <a:ea typeface="Calibri" pitchFamily="34" charset="-122"/>
                <a:cs typeface="Calibri" pitchFamily="34" charset="-120"/>
              </a:rPr>
              <a:t>You walk the lines and parse them</a:t>
            </a:r>
            <a:endParaRPr lang="en-US" sz="1150" dirty="0"/>
          </a:p>
        </p:txBody>
      </p:sp>
      <p:sp>
        <p:nvSpPr>
          <p:cNvPr id="14" name="Text 12"/>
          <p:cNvSpPr/>
          <p:nvPr/>
        </p:nvSpPr>
        <p:spPr>
          <a:xfrm>
            <a:off x="7915504" y="2980944"/>
            <a:ext cx="3562960" cy="493776"/>
          </a:xfrm>
          <a:prstGeom prst="rect">
            <a:avLst/>
          </a:prstGeom>
          <a:noFill/>
          <a:ln/>
        </p:spPr>
        <p:txBody>
          <a:bodyPr wrap="square" lIns="0" tIns="0" rIns="0" bIns="0" rtlCol="0" anchor="ctr"/>
          <a:lstStyle/>
          <a:p>
            <a:pPr marL="0" indent="0">
              <a:buNone/>
            </a:pPr>
            <a:r>
              <a:rPr lang="en-US" sz="1150" dirty="0">
                <a:solidFill>
                  <a:srgbClr val="141235"/>
                </a:solidFill>
                <a:latin typeface="Calibri" pitchFamily="34" charset="0"/>
                <a:ea typeface="Calibri" pitchFamily="34" charset="-122"/>
                <a:cs typeface="Calibri" pitchFamily="34" charset="-120"/>
              </a:rPr>
              <a:t>You read one field on the response</a:t>
            </a:r>
            <a:endParaRPr lang="en-US" sz="1150" dirty="0"/>
          </a:p>
        </p:txBody>
      </p:sp>
      <p:sp>
        <p:nvSpPr>
          <p:cNvPr id="15" name="Shape 13"/>
          <p:cNvSpPr/>
          <p:nvPr/>
        </p:nvSpPr>
        <p:spPr>
          <a:xfrm>
            <a:off x="566928" y="3511296"/>
            <a:ext cx="11057839" cy="493776"/>
          </a:xfrm>
          <a:prstGeom prst="roundRect">
            <a:avLst>
              <a:gd name="adj" fmla="val 9259"/>
            </a:avLst>
          </a:prstGeom>
          <a:solidFill>
            <a:srgbClr val="F5F6FC"/>
          </a:solidFill>
          <a:ln w="12700">
            <a:solidFill>
              <a:srgbClr val="F5F6FC"/>
            </a:solidFill>
            <a:prstDash val="solid"/>
          </a:ln>
        </p:spPr>
        <p:txBody>
          <a:bodyPr/>
          <a:lstStyle/>
          <a:p>
            <a:endParaRPr lang="en-US"/>
          </a:p>
        </p:txBody>
      </p:sp>
      <p:sp>
        <p:nvSpPr>
          <p:cNvPr id="16" name="Text 14"/>
          <p:cNvSpPr/>
          <p:nvPr/>
        </p:nvSpPr>
        <p:spPr>
          <a:xfrm>
            <a:off x="713232" y="3511296"/>
            <a:ext cx="3017520" cy="493776"/>
          </a:xfrm>
          <a:prstGeom prst="rect">
            <a:avLst/>
          </a:prstGeom>
          <a:noFill/>
          <a:ln/>
        </p:spPr>
        <p:txBody>
          <a:bodyPr wrap="square" lIns="0" tIns="0" rIns="0" bIns="0" rtlCol="0" anchor="ctr"/>
          <a:lstStyle/>
          <a:p>
            <a:pPr marL="0" indent="0">
              <a:buNone/>
            </a:pPr>
            <a:r>
              <a:rPr lang="en-US" sz="1150" b="1" dirty="0">
                <a:solidFill>
                  <a:srgbClr val="3B3760"/>
                </a:solidFill>
                <a:latin typeface="Calibri" pitchFamily="34" charset="0"/>
                <a:ea typeface="Calibri" pitchFamily="34" charset="-122"/>
                <a:cs typeface="Calibri" pitchFamily="34" charset="-120"/>
              </a:rPr>
              <a:t>Is the reasoning visible?</a:t>
            </a:r>
            <a:endParaRPr lang="en-US" sz="1150" dirty="0"/>
          </a:p>
        </p:txBody>
      </p:sp>
      <p:sp>
        <p:nvSpPr>
          <p:cNvPr id="17" name="Text 15"/>
          <p:cNvSpPr/>
          <p:nvPr/>
        </p:nvSpPr>
        <p:spPr>
          <a:xfrm>
            <a:off x="4041648" y="3511296"/>
            <a:ext cx="3562960" cy="493776"/>
          </a:xfrm>
          <a:prstGeom prst="rect">
            <a:avLst/>
          </a:prstGeom>
          <a:noFill/>
          <a:ln/>
        </p:spPr>
        <p:txBody>
          <a:bodyPr wrap="square" lIns="0" tIns="0" rIns="0" bIns="0" rtlCol="0" anchor="ctr"/>
          <a:lstStyle/>
          <a:p>
            <a:pPr marL="0" indent="0">
              <a:buNone/>
            </a:pPr>
            <a:r>
              <a:rPr lang="en-US" sz="1150" dirty="0">
                <a:solidFill>
                  <a:srgbClr val="141235"/>
                </a:solidFill>
                <a:latin typeface="Calibri" pitchFamily="34" charset="0"/>
                <a:ea typeface="Calibri" pitchFamily="34" charset="-122"/>
                <a:cs typeface="Calibri" pitchFamily="34" charset="-120"/>
              </a:rPr>
              <a:t>Yes — every Thought: line is printed</a:t>
            </a:r>
            <a:endParaRPr lang="en-US" sz="1150" dirty="0"/>
          </a:p>
        </p:txBody>
      </p:sp>
      <p:sp>
        <p:nvSpPr>
          <p:cNvPr id="18" name="Text 16"/>
          <p:cNvSpPr/>
          <p:nvPr/>
        </p:nvSpPr>
        <p:spPr>
          <a:xfrm>
            <a:off x="7915504" y="3511296"/>
            <a:ext cx="3562960" cy="493776"/>
          </a:xfrm>
          <a:prstGeom prst="rect">
            <a:avLst/>
          </a:prstGeom>
          <a:noFill/>
          <a:ln/>
        </p:spPr>
        <p:txBody>
          <a:bodyPr wrap="square" lIns="0" tIns="0" rIns="0" bIns="0" rtlCol="0" anchor="ctr"/>
          <a:lstStyle/>
          <a:p>
            <a:pPr marL="0" indent="0">
              <a:buNone/>
            </a:pPr>
            <a:r>
              <a:rPr lang="en-US" sz="1150" dirty="0">
                <a:solidFill>
                  <a:srgbClr val="141235"/>
                </a:solidFill>
                <a:latin typeface="Calibri" pitchFamily="34" charset="0"/>
                <a:ea typeface="Calibri" pitchFamily="34" charset="-122"/>
                <a:cs typeface="Calibri" pitchFamily="34" charset="-120"/>
              </a:rPr>
              <a:t>No — it happens inside the model</a:t>
            </a:r>
            <a:endParaRPr lang="en-US" sz="1150" dirty="0"/>
          </a:p>
        </p:txBody>
      </p:sp>
      <p:sp>
        <p:nvSpPr>
          <p:cNvPr id="19" name="Text 17"/>
          <p:cNvSpPr/>
          <p:nvPr/>
        </p:nvSpPr>
        <p:spPr>
          <a:xfrm>
            <a:off x="713232" y="4041648"/>
            <a:ext cx="3017520" cy="493776"/>
          </a:xfrm>
          <a:prstGeom prst="rect">
            <a:avLst/>
          </a:prstGeom>
          <a:noFill/>
          <a:ln/>
        </p:spPr>
        <p:txBody>
          <a:bodyPr wrap="square" lIns="0" tIns="0" rIns="0" bIns="0" rtlCol="0" anchor="ctr"/>
          <a:lstStyle/>
          <a:p>
            <a:pPr marL="0" indent="0">
              <a:buNone/>
            </a:pPr>
            <a:r>
              <a:rPr lang="en-US" sz="1150" b="1" dirty="0">
                <a:solidFill>
                  <a:srgbClr val="3B3760"/>
                </a:solidFill>
                <a:latin typeface="Calibri" pitchFamily="34" charset="0"/>
                <a:ea typeface="Calibri" pitchFamily="34" charset="-122"/>
                <a:cs typeface="Calibri" pitchFamily="34" charset="-120"/>
              </a:rPr>
              <a:t>Breaks if the model rambles?</a:t>
            </a:r>
            <a:endParaRPr lang="en-US" sz="1150" dirty="0"/>
          </a:p>
        </p:txBody>
      </p:sp>
      <p:sp>
        <p:nvSpPr>
          <p:cNvPr id="20" name="Text 18"/>
          <p:cNvSpPr/>
          <p:nvPr/>
        </p:nvSpPr>
        <p:spPr>
          <a:xfrm>
            <a:off x="4041648" y="4041648"/>
            <a:ext cx="3562960" cy="493776"/>
          </a:xfrm>
          <a:prstGeom prst="rect">
            <a:avLst/>
          </a:prstGeom>
          <a:noFill/>
          <a:ln/>
        </p:spPr>
        <p:txBody>
          <a:bodyPr wrap="square" lIns="0" tIns="0" rIns="0" bIns="0" rtlCol="0" anchor="ctr"/>
          <a:lstStyle/>
          <a:p>
            <a:pPr marL="0" indent="0">
              <a:buNone/>
            </a:pPr>
            <a:r>
              <a:rPr lang="en-US" sz="1150" dirty="0">
                <a:solidFill>
                  <a:srgbClr val="141235"/>
                </a:solidFill>
                <a:latin typeface="Calibri" pitchFamily="34" charset="0"/>
                <a:ea typeface="Calibri" pitchFamily="34" charset="-122"/>
                <a:cs typeface="Calibri" pitchFamily="34" charset="-120"/>
              </a:rPr>
              <a:t>Yes</a:t>
            </a:r>
            <a:endParaRPr lang="en-US" sz="1150" dirty="0"/>
          </a:p>
        </p:txBody>
      </p:sp>
      <p:sp>
        <p:nvSpPr>
          <p:cNvPr id="21" name="Text 19"/>
          <p:cNvSpPr/>
          <p:nvPr/>
        </p:nvSpPr>
        <p:spPr>
          <a:xfrm>
            <a:off x="7915504" y="4041648"/>
            <a:ext cx="3562960" cy="493776"/>
          </a:xfrm>
          <a:prstGeom prst="rect">
            <a:avLst/>
          </a:prstGeom>
          <a:noFill/>
          <a:ln/>
        </p:spPr>
        <p:txBody>
          <a:bodyPr wrap="square" lIns="0" tIns="0" rIns="0" bIns="0" rtlCol="0" anchor="ctr"/>
          <a:lstStyle/>
          <a:p>
            <a:pPr marL="0" indent="0">
              <a:buNone/>
            </a:pPr>
            <a:r>
              <a:rPr lang="en-US" sz="1150" dirty="0">
                <a:solidFill>
                  <a:srgbClr val="141235"/>
                </a:solidFill>
                <a:latin typeface="Calibri" pitchFamily="34" charset="0"/>
                <a:ea typeface="Calibri" pitchFamily="34" charset="-122"/>
                <a:cs typeface="Calibri" pitchFamily="34" charset="-120"/>
              </a:rPr>
              <a:t>No</a:t>
            </a:r>
            <a:endParaRPr lang="en-US" sz="1150" dirty="0"/>
          </a:p>
        </p:txBody>
      </p:sp>
      <p:sp>
        <p:nvSpPr>
          <p:cNvPr id="22" name="Shape 20"/>
          <p:cNvSpPr/>
          <p:nvPr/>
        </p:nvSpPr>
        <p:spPr>
          <a:xfrm>
            <a:off x="566928" y="4572000"/>
            <a:ext cx="11057839" cy="493776"/>
          </a:xfrm>
          <a:prstGeom prst="roundRect">
            <a:avLst>
              <a:gd name="adj" fmla="val 9259"/>
            </a:avLst>
          </a:prstGeom>
          <a:solidFill>
            <a:srgbClr val="F5F6FC"/>
          </a:solidFill>
          <a:ln w="12700">
            <a:solidFill>
              <a:srgbClr val="F5F6FC"/>
            </a:solidFill>
            <a:prstDash val="solid"/>
          </a:ln>
        </p:spPr>
        <p:txBody>
          <a:bodyPr/>
          <a:lstStyle/>
          <a:p>
            <a:endParaRPr lang="en-US"/>
          </a:p>
        </p:txBody>
      </p:sp>
      <p:sp>
        <p:nvSpPr>
          <p:cNvPr id="23" name="Text 21"/>
          <p:cNvSpPr/>
          <p:nvPr/>
        </p:nvSpPr>
        <p:spPr>
          <a:xfrm>
            <a:off x="713232" y="4572000"/>
            <a:ext cx="3017520" cy="493776"/>
          </a:xfrm>
          <a:prstGeom prst="rect">
            <a:avLst/>
          </a:prstGeom>
          <a:noFill/>
          <a:ln/>
        </p:spPr>
        <p:txBody>
          <a:bodyPr wrap="square" lIns="0" tIns="0" rIns="0" bIns="0" rtlCol="0" anchor="ctr"/>
          <a:lstStyle/>
          <a:p>
            <a:pPr marL="0" indent="0">
              <a:buNone/>
            </a:pPr>
            <a:r>
              <a:rPr lang="en-US" sz="1150" b="1" dirty="0">
                <a:solidFill>
                  <a:srgbClr val="3B3760"/>
                </a:solidFill>
                <a:latin typeface="Calibri" pitchFamily="34" charset="0"/>
                <a:ea typeface="Calibri" pitchFamily="34" charset="-122"/>
                <a:cs typeface="Calibri" pitchFamily="34" charset="-120"/>
              </a:rPr>
              <a:t>Works on any chat model?</a:t>
            </a:r>
            <a:endParaRPr lang="en-US" sz="1150" dirty="0"/>
          </a:p>
        </p:txBody>
      </p:sp>
      <p:sp>
        <p:nvSpPr>
          <p:cNvPr id="24" name="Text 22"/>
          <p:cNvSpPr/>
          <p:nvPr/>
        </p:nvSpPr>
        <p:spPr>
          <a:xfrm>
            <a:off x="4041648" y="4572000"/>
            <a:ext cx="3562960" cy="493776"/>
          </a:xfrm>
          <a:prstGeom prst="rect">
            <a:avLst/>
          </a:prstGeom>
          <a:noFill/>
          <a:ln/>
        </p:spPr>
        <p:txBody>
          <a:bodyPr wrap="square" lIns="0" tIns="0" rIns="0" bIns="0" rtlCol="0" anchor="ctr"/>
          <a:lstStyle/>
          <a:p>
            <a:pPr marL="0" indent="0">
              <a:buNone/>
            </a:pPr>
            <a:r>
              <a:rPr lang="en-US" sz="1150" dirty="0">
                <a:solidFill>
                  <a:srgbClr val="141235"/>
                </a:solidFill>
                <a:latin typeface="Calibri" pitchFamily="34" charset="0"/>
                <a:ea typeface="Calibri" pitchFamily="34" charset="-122"/>
                <a:cs typeface="Calibri" pitchFamily="34" charset="-120"/>
              </a:rPr>
              <a:t>Yes, including local and open models</a:t>
            </a:r>
            <a:endParaRPr lang="en-US" sz="1150" dirty="0"/>
          </a:p>
        </p:txBody>
      </p:sp>
      <p:sp>
        <p:nvSpPr>
          <p:cNvPr id="25" name="Text 23"/>
          <p:cNvSpPr/>
          <p:nvPr/>
        </p:nvSpPr>
        <p:spPr>
          <a:xfrm>
            <a:off x="7915504" y="4572000"/>
            <a:ext cx="3562960" cy="493776"/>
          </a:xfrm>
          <a:prstGeom prst="rect">
            <a:avLst/>
          </a:prstGeom>
          <a:noFill/>
          <a:ln/>
        </p:spPr>
        <p:txBody>
          <a:bodyPr wrap="square" lIns="0" tIns="0" rIns="0" bIns="0" rtlCol="0" anchor="ctr"/>
          <a:lstStyle/>
          <a:p>
            <a:pPr marL="0" indent="0">
              <a:buNone/>
            </a:pPr>
            <a:r>
              <a:rPr lang="en-US" sz="1150" dirty="0">
                <a:solidFill>
                  <a:srgbClr val="141235"/>
                </a:solidFill>
                <a:latin typeface="Calibri" pitchFamily="34" charset="0"/>
                <a:ea typeface="Calibri" pitchFamily="34" charset="-122"/>
                <a:cs typeface="Calibri" pitchFamily="34" charset="-120"/>
              </a:rPr>
              <a:t>Only where the provider offers tool calling</a:t>
            </a:r>
            <a:endParaRPr lang="en-US" sz="1150" dirty="0"/>
          </a:p>
        </p:txBody>
      </p:sp>
      <p:sp>
        <p:nvSpPr>
          <p:cNvPr id="26" name="Text 24"/>
          <p:cNvSpPr/>
          <p:nvPr/>
        </p:nvSpPr>
        <p:spPr>
          <a:xfrm>
            <a:off x="713232" y="5102352"/>
            <a:ext cx="3017520" cy="493776"/>
          </a:xfrm>
          <a:prstGeom prst="rect">
            <a:avLst/>
          </a:prstGeom>
          <a:noFill/>
          <a:ln/>
        </p:spPr>
        <p:txBody>
          <a:bodyPr wrap="square" lIns="0" tIns="0" rIns="0" bIns="0" rtlCol="0" anchor="ctr"/>
          <a:lstStyle/>
          <a:p>
            <a:pPr marL="0" indent="0">
              <a:buNone/>
            </a:pPr>
            <a:r>
              <a:rPr lang="en-US" sz="1150" b="1" dirty="0">
                <a:solidFill>
                  <a:srgbClr val="3B3760"/>
                </a:solidFill>
                <a:latin typeface="Calibri" pitchFamily="34" charset="0"/>
                <a:ea typeface="Calibri" pitchFamily="34" charset="-122"/>
                <a:cs typeface="Calibri" pitchFamily="34" charset="-120"/>
              </a:rPr>
              <a:t>What you will ship</a:t>
            </a:r>
            <a:endParaRPr lang="en-US" sz="1150" dirty="0"/>
          </a:p>
        </p:txBody>
      </p:sp>
      <p:sp>
        <p:nvSpPr>
          <p:cNvPr id="27" name="Text 25"/>
          <p:cNvSpPr/>
          <p:nvPr/>
        </p:nvSpPr>
        <p:spPr>
          <a:xfrm>
            <a:off x="4041648" y="5102352"/>
            <a:ext cx="3562960" cy="493776"/>
          </a:xfrm>
          <a:prstGeom prst="rect">
            <a:avLst/>
          </a:prstGeom>
          <a:noFill/>
          <a:ln/>
        </p:spPr>
        <p:txBody>
          <a:bodyPr wrap="square" lIns="0" tIns="0" rIns="0" bIns="0" rtlCol="0" anchor="ctr"/>
          <a:lstStyle/>
          <a:p>
            <a:pPr marL="0" indent="0">
              <a:buNone/>
            </a:pPr>
            <a:r>
              <a:rPr lang="en-US" sz="1150" dirty="0">
                <a:solidFill>
                  <a:srgbClr val="141235"/>
                </a:solidFill>
                <a:latin typeface="Calibri" pitchFamily="34" charset="0"/>
                <a:ea typeface="Calibri" pitchFamily="34" charset="-122"/>
                <a:cs typeface="Calibri" pitchFamily="34" charset="-120"/>
              </a:rPr>
              <a:t>Rarely, on its own</a:t>
            </a:r>
            <a:endParaRPr lang="en-US" sz="1150" dirty="0"/>
          </a:p>
        </p:txBody>
      </p:sp>
      <p:sp>
        <p:nvSpPr>
          <p:cNvPr id="28" name="Text 26"/>
          <p:cNvSpPr/>
          <p:nvPr/>
        </p:nvSpPr>
        <p:spPr>
          <a:xfrm>
            <a:off x="7915504" y="5102352"/>
            <a:ext cx="3562960" cy="493776"/>
          </a:xfrm>
          <a:prstGeom prst="rect">
            <a:avLst/>
          </a:prstGeom>
          <a:noFill/>
          <a:ln/>
        </p:spPr>
        <p:txBody>
          <a:bodyPr wrap="square" lIns="0" tIns="0" rIns="0" bIns="0" rtlCol="0" anchor="ctr"/>
          <a:lstStyle/>
          <a:p>
            <a:pPr marL="0" indent="0">
              <a:buNone/>
            </a:pPr>
            <a:r>
              <a:rPr lang="en-US" sz="1150" dirty="0">
                <a:solidFill>
                  <a:srgbClr val="141235"/>
                </a:solidFill>
                <a:latin typeface="Calibri" pitchFamily="34" charset="0"/>
                <a:ea typeface="Calibri" pitchFamily="34" charset="-122"/>
                <a:cs typeface="Calibri" pitchFamily="34" charset="-120"/>
              </a:rPr>
              <a:t>Almost always</a:t>
            </a:r>
            <a:endParaRPr lang="en-US" sz="1150" dirty="0"/>
          </a:p>
        </p:txBody>
      </p:sp>
      <p:sp>
        <p:nvSpPr>
          <p:cNvPr id="29" name="Shape 27"/>
          <p:cNvSpPr/>
          <p:nvPr/>
        </p:nvSpPr>
        <p:spPr>
          <a:xfrm>
            <a:off x="566928" y="5705856"/>
            <a:ext cx="11057839" cy="713232"/>
          </a:xfrm>
          <a:prstGeom prst="roundRect">
            <a:avLst>
              <a:gd name="adj" fmla="val 11538"/>
            </a:avLst>
          </a:prstGeom>
          <a:solidFill>
            <a:srgbClr val="FFF4E0"/>
          </a:solidFill>
          <a:ln w="12700">
            <a:solidFill>
              <a:srgbClr val="F3DCB0"/>
            </a:solidFill>
            <a:prstDash val="solid"/>
          </a:ln>
        </p:spPr>
        <p:txBody>
          <a:bodyPr/>
          <a:lstStyle/>
          <a:p>
            <a:endParaRPr lang="en-US"/>
          </a:p>
        </p:txBody>
      </p:sp>
      <p:sp>
        <p:nvSpPr>
          <p:cNvPr id="30" name="Shape 28"/>
          <p:cNvSpPr/>
          <p:nvPr/>
        </p:nvSpPr>
        <p:spPr>
          <a:xfrm>
            <a:off x="841248" y="5870448"/>
            <a:ext cx="384048" cy="384048"/>
          </a:xfrm>
          <a:prstGeom prst="ellipse">
            <a:avLst/>
          </a:prstGeom>
          <a:solidFill>
            <a:srgbClr val="F5A524"/>
          </a:solidFill>
          <a:ln w="12700">
            <a:solidFill>
              <a:srgbClr val="F5A524"/>
            </a:solidFill>
            <a:prstDash val="solid"/>
          </a:ln>
        </p:spPr>
        <p:txBody>
          <a:bodyPr/>
          <a:lstStyle/>
          <a:p>
            <a:endParaRPr lang="en-US"/>
          </a:p>
        </p:txBody>
      </p:sp>
      <p:pic>
        <p:nvPicPr>
          <p:cNvPr id="31" name="Image 0" descr="preencoded.png"/>
          <p:cNvPicPr>
            <a:picLocks noChangeAspect="1"/>
          </p:cNvPicPr>
          <p:nvPr/>
        </p:nvPicPr>
        <p:blipFill>
          <a:blip r:embed="rId3"/>
          <a:stretch>
            <a:fillRect/>
          </a:stretch>
        </p:blipFill>
        <p:spPr>
          <a:xfrm>
            <a:off x="937260" y="5966460"/>
            <a:ext cx="192024" cy="192024"/>
          </a:xfrm>
          <a:prstGeom prst="rect">
            <a:avLst/>
          </a:prstGeom>
        </p:spPr>
      </p:pic>
      <p:sp>
        <p:nvSpPr>
          <p:cNvPr id="32" name="Text 29"/>
          <p:cNvSpPr/>
          <p:nvPr/>
        </p:nvSpPr>
        <p:spPr>
          <a:xfrm>
            <a:off x="1371600" y="5760720"/>
            <a:ext cx="9960559" cy="603504"/>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Most frameworks use the API feature under the hood, and still borrow ReAct's idea — think before you act — by putting it in the prompt.</a:t>
            </a:r>
            <a:endParaRPr lang="en-US" sz="10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03 · THE REACT LOOP</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3000" b="1" dirty="0">
                <a:solidFill>
                  <a:srgbClr val="141235"/>
                </a:solidFill>
                <a:latin typeface="Cambria" pitchFamily="34" charset="0"/>
                <a:ea typeface="Cambria" pitchFamily="34" charset="-122"/>
                <a:cs typeface="Cambria" pitchFamily="34" charset="-120"/>
              </a:rPr>
              <a:t>Choosing a model is not choosing the smartest one</a:t>
            </a:r>
            <a:endParaRPr lang="en-US" sz="3000" dirty="0"/>
          </a:p>
        </p:txBody>
      </p:sp>
      <p:sp>
        <p:nvSpPr>
          <p:cNvPr id="4" name="Text 2"/>
          <p:cNvSpPr/>
          <p:nvPr/>
        </p:nvSpPr>
        <p:spPr>
          <a:xfrm>
            <a:off x="566928" y="1371600"/>
            <a:ext cx="11057839" cy="310896"/>
          </a:xfrm>
          <a:prstGeom prst="rect">
            <a:avLst/>
          </a:prstGeom>
          <a:noFill/>
          <a:ln/>
        </p:spPr>
        <p:txBody>
          <a:bodyPr wrap="square" lIns="0" tIns="0" rIns="0" bIns="0" rtlCol="0" anchor="t"/>
          <a:lstStyle/>
          <a:p>
            <a:pPr marL="0" indent="0">
              <a:buNone/>
            </a:pPr>
            <a:r>
              <a:rPr lang="en-US" sz="1400" dirty="0">
                <a:solidFill>
                  <a:srgbClr val="3B3760"/>
                </a:solidFill>
                <a:latin typeface="Calibri" pitchFamily="34" charset="0"/>
                <a:ea typeface="Calibri" pitchFamily="34" charset="-122"/>
                <a:cs typeface="Calibri" pitchFamily="34" charset="-120"/>
              </a:rPr>
              <a:t>In a loop, the same model is called five to fifty times. Reliability and cost compound; raw capability does not.</a:t>
            </a:r>
            <a:endParaRPr lang="en-US" sz="1400" dirty="0"/>
          </a:p>
        </p:txBody>
      </p:sp>
      <p:sp>
        <p:nvSpPr>
          <p:cNvPr id="5" name="Shape 3"/>
          <p:cNvSpPr/>
          <p:nvPr/>
        </p:nvSpPr>
        <p:spPr>
          <a:xfrm>
            <a:off x="566928" y="2450592"/>
            <a:ext cx="2586152" cy="2468880"/>
          </a:xfrm>
          <a:prstGeom prst="roundRect">
            <a:avLst>
              <a:gd name="adj" fmla="val 3333"/>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6" name="Shape 4"/>
          <p:cNvSpPr/>
          <p:nvPr/>
        </p:nvSpPr>
        <p:spPr>
          <a:xfrm>
            <a:off x="804672" y="2670048"/>
            <a:ext cx="365760" cy="365760"/>
          </a:xfrm>
          <a:prstGeom prst="ellipse">
            <a:avLst/>
          </a:prstGeom>
          <a:solidFill>
            <a:srgbClr val="5B4BE8"/>
          </a:solidFill>
          <a:ln w="12700">
            <a:solidFill>
              <a:srgbClr val="5B4BE8"/>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896112" y="2761488"/>
            <a:ext cx="182880" cy="182880"/>
          </a:xfrm>
          <a:prstGeom prst="rect">
            <a:avLst/>
          </a:prstGeom>
        </p:spPr>
      </p:pic>
      <p:sp>
        <p:nvSpPr>
          <p:cNvPr id="8" name="Text 5"/>
          <p:cNvSpPr/>
          <p:nvPr/>
        </p:nvSpPr>
        <p:spPr>
          <a:xfrm>
            <a:off x="1298448" y="2660904"/>
            <a:ext cx="1616888"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FIRST</a:t>
            </a:r>
            <a:endParaRPr lang="en-US" sz="850" dirty="0"/>
          </a:p>
        </p:txBody>
      </p:sp>
      <p:sp>
        <p:nvSpPr>
          <p:cNvPr id="9" name="Text 6"/>
          <p:cNvSpPr/>
          <p:nvPr/>
        </p:nvSpPr>
        <p:spPr>
          <a:xfrm>
            <a:off x="1298448" y="2880360"/>
            <a:ext cx="1616888" cy="622158"/>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Tool-calling reliability</a:t>
            </a:r>
            <a:endParaRPr lang="en-US" sz="1450" dirty="0"/>
          </a:p>
        </p:txBody>
      </p:sp>
      <p:sp>
        <p:nvSpPr>
          <p:cNvPr id="10" name="Text 7"/>
          <p:cNvSpPr/>
          <p:nvPr/>
        </p:nvSpPr>
        <p:spPr>
          <a:xfrm>
            <a:off x="1298448" y="3511662"/>
            <a:ext cx="1616888" cy="1224930"/>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Does it emit well-formed arguments, every time, under your schemas? A model that is right 95% of the time fails roughly one loop in three at six turns.</a:t>
            </a:r>
            <a:endParaRPr lang="en-US" sz="1100" dirty="0"/>
          </a:p>
        </p:txBody>
      </p:sp>
      <p:sp>
        <p:nvSpPr>
          <p:cNvPr id="11" name="Shape 8"/>
          <p:cNvSpPr/>
          <p:nvPr/>
        </p:nvSpPr>
        <p:spPr>
          <a:xfrm>
            <a:off x="3390824" y="2450592"/>
            <a:ext cx="2586152" cy="2468880"/>
          </a:xfrm>
          <a:prstGeom prst="roundRect">
            <a:avLst>
              <a:gd name="adj" fmla="val 3333"/>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2" name="Shape 9"/>
          <p:cNvSpPr/>
          <p:nvPr/>
        </p:nvSpPr>
        <p:spPr>
          <a:xfrm>
            <a:off x="3628568" y="2670048"/>
            <a:ext cx="365760" cy="365760"/>
          </a:xfrm>
          <a:prstGeom prst="ellipse">
            <a:avLst/>
          </a:prstGeom>
          <a:solidFill>
            <a:srgbClr val="5B4BE8"/>
          </a:solidFill>
          <a:ln w="12700">
            <a:solidFill>
              <a:srgbClr val="5B4BE8"/>
            </a:solidFill>
            <a:prstDash val="solid"/>
          </a:ln>
        </p:spPr>
        <p:txBody>
          <a:bodyPr/>
          <a:lstStyle/>
          <a:p>
            <a:endParaRPr lang="en-US"/>
          </a:p>
        </p:txBody>
      </p:sp>
      <p:pic>
        <p:nvPicPr>
          <p:cNvPr id="13" name="Image 1" descr="preencoded.png"/>
          <p:cNvPicPr>
            <a:picLocks noChangeAspect="1"/>
          </p:cNvPicPr>
          <p:nvPr/>
        </p:nvPicPr>
        <p:blipFill>
          <a:blip r:embed="rId4"/>
          <a:stretch>
            <a:fillRect/>
          </a:stretch>
        </p:blipFill>
        <p:spPr>
          <a:xfrm>
            <a:off x="3720008" y="2761488"/>
            <a:ext cx="182880" cy="182880"/>
          </a:xfrm>
          <a:prstGeom prst="rect">
            <a:avLst/>
          </a:prstGeom>
        </p:spPr>
      </p:pic>
      <p:sp>
        <p:nvSpPr>
          <p:cNvPr id="14" name="Text 10"/>
          <p:cNvSpPr/>
          <p:nvPr/>
        </p:nvSpPr>
        <p:spPr>
          <a:xfrm>
            <a:off x="4122344" y="2660904"/>
            <a:ext cx="1616888"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SECOND</a:t>
            </a:r>
            <a:endParaRPr lang="en-US" sz="850" dirty="0"/>
          </a:p>
        </p:txBody>
      </p:sp>
      <p:sp>
        <p:nvSpPr>
          <p:cNvPr id="15" name="Text 11"/>
          <p:cNvSpPr/>
          <p:nvPr/>
        </p:nvSpPr>
        <p:spPr>
          <a:xfrm>
            <a:off x="4122344" y="2880360"/>
            <a:ext cx="1616888" cy="622158"/>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Cost per turn, not per call</a:t>
            </a:r>
            <a:endParaRPr lang="en-US" sz="1450" dirty="0"/>
          </a:p>
        </p:txBody>
      </p:sp>
      <p:sp>
        <p:nvSpPr>
          <p:cNvPr id="16" name="Text 12"/>
          <p:cNvSpPr/>
          <p:nvPr/>
        </p:nvSpPr>
        <p:spPr>
          <a:xfrm>
            <a:off x="4122344" y="3511662"/>
            <a:ext cx="1616888" cy="1224930"/>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Multiply by the turn cap, then by concurrent users. A cheaper model that needs one extra turn can still win.</a:t>
            </a:r>
            <a:endParaRPr lang="en-US" sz="1100" dirty="0"/>
          </a:p>
        </p:txBody>
      </p:sp>
      <p:sp>
        <p:nvSpPr>
          <p:cNvPr id="17" name="Shape 13"/>
          <p:cNvSpPr/>
          <p:nvPr/>
        </p:nvSpPr>
        <p:spPr>
          <a:xfrm>
            <a:off x="6214720" y="2450592"/>
            <a:ext cx="2586152" cy="2468880"/>
          </a:xfrm>
          <a:prstGeom prst="roundRect">
            <a:avLst>
              <a:gd name="adj" fmla="val 3333"/>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8" name="Shape 14"/>
          <p:cNvSpPr/>
          <p:nvPr/>
        </p:nvSpPr>
        <p:spPr>
          <a:xfrm>
            <a:off x="6452464" y="2670048"/>
            <a:ext cx="365760" cy="365760"/>
          </a:xfrm>
          <a:prstGeom prst="ellipse">
            <a:avLst/>
          </a:prstGeom>
          <a:solidFill>
            <a:srgbClr val="5B4BE8"/>
          </a:solidFill>
          <a:ln w="12700">
            <a:solidFill>
              <a:srgbClr val="5B4BE8"/>
            </a:solidFill>
            <a:prstDash val="solid"/>
          </a:ln>
        </p:spPr>
        <p:txBody>
          <a:bodyPr/>
          <a:lstStyle/>
          <a:p>
            <a:endParaRPr lang="en-US"/>
          </a:p>
        </p:txBody>
      </p:sp>
      <p:pic>
        <p:nvPicPr>
          <p:cNvPr id="19" name="Image 2" descr="preencoded.png"/>
          <p:cNvPicPr>
            <a:picLocks noChangeAspect="1"/>
          </p:cNvPicPr>
          <p:nvPr/>
        </p:nvPicPr>
        <p:blipFill>
          <a:blip r:embed="rId5"/>
          <a:stretch>
            <a:fillRect/>
          </a:stretch>
        </p:blipFill>
        <p:spPr>
          <a:xfrm>
            <a:off x="6543904" y="2761488"/>
            <a:ext cx="182880" cy="182880"/>
          </a:xfrm>
          <a:prstGeom prst="rect">
            <a:avLst/>
          </a:prstGeom>
        </p:spPr>
      </p:pic>
      <p:sp>
        <p:nvSpPr>
          <p:cNvPr id="20" name="Text 15"/>
          <p:cNvSpPr/>
          <p:nvPr/>
        </p:nvSpPr>
        <p:spPr>
          <a:xfrm>
            <a:off x="6946240" y="2660904"/>
            <a:ext cx="1616888"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THIRD</a:t>
            </a:r>
            <a:endParaRPr lang="en-US" sz="850" dirty="0"/>
          </a:p>
        </p:txBody>
      </p:sp>
      <p:sp>
        <p:nvSpPr>
          <p:cNvPr id="21" name="Text 16"/>
          <p:cNvSpPr/>
          <p:nvPr/>
        </p:nvSpPr>
        <p:spPr>
          <a:xfrm>
            <a:off x="6946240" y="2880360"/>
            <a:ext cx="1616888" cy="622158"/>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Reasoning effort as a dial</a:t>
            </a:r>
            <a:endParaRPr lang="en-US" sz="1450" dirty="0"/>
          </a:p>
        </p:txBody>
      </p:sp>
      <p:sp>
        <p:nvSpPr>
          <p:cNvPr id="22" name="Text 17"/>
          <p:cNvSpPr/>
          <p:nvPr/>
        </p:nvSpPr>
        <p:spPr>
          <a:xfrm>
            <a:off x="6946240" y="3511662"/>
            <a:ext cx="1616888" cy="1224930"/>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Reasoning tokens are billed as output whether or not you see them. Turn the dial down for routing and extraction; up for genuinely hard planning.</a:t>
            </a:r>
            <a:endParaRPr lang="en-US" sz="1100" dirty="0"/>
          </a:p>
        </p:txBody>
      </p:sp>
      <p:sp>
        <p:nvSpPr>
          <p:cNvPr id="23" name="Shape 18"/>
          <p:cNvSpPr/>
          <p:nvPr/>
        </p:nvSpPr>
        <p:spPr>
          <a:xfrm>
            <a:off x="9038615" y="2450592"/>
            <a:ext cx="2586152" cy="2468880"/>
          </a:xfrm>
          <a:prstGeom prst="roundRect">
            <a:avLst>
              <a:gd name="adj" fmla="val 3333"/>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24" name="Shape 19"/>
          <p:cNvSpPr/>
          <p:nvPr/>
        </p:nvSpPr>
        <p:spPr>
          <a:xfrm>
            <a:off x="9276359" y="2670048"/>
            <a:ext cx="365760" cy="365760"/>
          </a:xfrm>
          <a:prstGeom prst="ellipse">
            <a:avLst/>
          </a:prstGeom>
          <a:solidFill>
            <a:srgbClr val="5B4BE8"/>
          </a:solidFill>
          <a:ln w="12700">
            <a:solidFill>
              <a:srgbClr val="5B4BE8"/>
            </a:solidFill>
            <a:prstDash val="solid"/>
          </a:ln>
        </p:spPr>
        <p:txBody>
          <a:bodyPr/>
          <a:lstStyle/>
          <a:p>
            <a:endParaRPr lang="en-US"/>
          </a:p>
        </p:txBody>
      </p:sp>
      <p:pic>
        <p:nvPicPr>
          <p:cNvPr id="25" name="Image 3" descr="preencoded.png"/>
          <p:cNvPicPr>
            <a:picLocks noChangeAspect="1"/>
          </p:cNvPicPr>
          <p:nvPr/>
        </p:nvPicPr>
        <p:blipFill>
          <a:blip r:embed="rId6"/>
          <a:stretch>
            <a:fillRect/>
          </a:stretch>
        </p:blipFill>
        <p:spPr>
          <a:xfrm>
            <a:off x="9367799" y="2761488"/>
            <a:ext cx="182880" cy="182880"/>
          </a:xfrm>
          <a:prstGeom prst="rect">
            <a:avLst/>
          </a:prstGeom>
        </p:spPr>
      </p:pic>
      <p:sp>
        <p:nvSpPr>
          <p:cNvPr id="26" name="Text 20"/>
          <p:cNvSpPr/>
          <p:nvPr/>
        </p:nvSpPr>
        <p:spPr>
          <a:xfrm>
            <a:off x="9770135" y="2660904"/>
            <a:ext cx="1616888"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FOURTH</a:t>
            </a:r>
            <a:endParaRPr lang="en-US" sz="850" dirty="0"/>
          </a:p>
        </p:txBody>
      </p:sp>
      <p:sp>
        <p:nvSpPr>
          <p:cNvPr id="27" name="Text 21"/>
          <p:cNvSpPr/>
          <p:nvPr/>
        </p:nvSpPr>
        <p:spPr>
          <a:xfrm>
            <a:off x="9770135" y="2880360"/>
            <a:ext cx="1616888" cy="622158"/>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Route, don't standardise</a:t>
            </a:r>
            <a:endParaRPr lang="en-US" sz="1450" dirty="0"/>
          </a:p>
        </p:txBody>
      </p:sp>
      <p:sp>
        <p:nvSpPr>
          <p:cNvPr id="28" name="Text 22"/>
          <p:cNvSpPr/>
          <p:nvPr/>
        </p:nvSpPr>
        <p:spPr>
          <a:xfrm>
            <a:off x="9770135" y="3511662"/>
            <a:ext cx="1616888" cy="1224930"/>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Small model for classification and dispatch, strong model for the hard turn. Module 15 measures whether that actually saved anything.</a:t>
            </a:r>
            <a:endParaRPr lang="en-US" sz="1100" dirty="0"/>
          </a:p>
        </p:txBody>
      </p:sp>
      <p:sp>
        <p:nvSpPr>
          <p:cNvPr id="29" name="Shape 23"/>
          <p:cNvSpPr/>
          <p:nvPr/>
        </p:nvSpPr>
        <p:spPr>
          <a:xfrm>
            <a:off x="566928" y="5541264"/>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30" name="Shape 24"/>
          <p:cNvSpPr/>
          <p:nvPr/>
        </p:nvSpPr>
        <p:spPr>
          <a:xfrm>
            <a:off x="841248" y="5760720"/>
            <a:ext cx="384048" cy="384048"/>
          </a:xfrm>
          <a:prstGeom prst="ellipse">
            <a:avLst/>
          </a:prstGeom>
          <a:solidFill>
            <a:srgbClr val="F5A524"/>
          </a:solidFill>
          <a:ln w="12700">
            <a:solidFill>
              <a:srgbClr val="F5A524"/>
            </a:solidFill>
            <a:prstDash val="solid"/>
          </a:ln>
        </p:spPr>
        <p:txBody>
          <a:bodyPr/>
          <a:lstStyle/>
          <a:p>
            <a:endParaRPr lang="en-US"/>
          </a:p>
        </p:txBody>
      </p:sp>
      <p:pic>
        <p:nvPicPr>
          <p:cNvPr id="31" name="Image 4" descr="preencoded.png"/>
          <p:cNvPicPr>
            <a:picLocks noChangeAspect="1"/>
          </p:cNvPicPr>
          <p:nvPr/>
        </p:nvPicPr>
        <p:blipFill>
          <a:blip r:embed="rId7"/>
          <a:stretch>
            <a:fillRect/>
          </a:stretch>
        </p:blipFill>
        <p:spPr>
          <a:xfrm>
            <a:off x="937260" y="5856732"/>
            <a:ext cx="192024" cy="192024"/>
          </a:xfrm>
          <a:prstGeom prst="rect">
            <a:avLst/>
          </a:prstGeom>
        </p:spPr>
      </p:pic>
      <p:sp>
        <p:nvSpPr>
          <p:cNvPr id="32" name="Text 25"/>
          <p:cNvSpPr/>
          <p:nvPr/>
        </p:nvSpPr>
        <p:spPr>
          <a:xfrm>
            <a:off x="1371600" y="5596128"/>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Picking the biggest model for every step is like sending a partner to every meeting. It works, and it is the fastest way to make the project uneconomic.</a:t>
            </a:r>
            <a:endParaRPr lang="en-US" sz="10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B0A22"/>
        </a:solidFill>
        <a:effectLst/>
      </p:bgPr>
    </p:bg>
    <p:spTree>
      <p:nvGrpSpPr>
        <p:cNvPr id="1" name=""/>
        <p:cNvGrpSpPr/>
        <p:nvPr/>
      </p:nvGrpSpPr>
      <p:grpSpPr>
        <a:xfrm>
          <a:off x="0" y="0"/>
          <a:ext cx="0" cy="0"/>
          <a:chOff x="0" y="0"/>
          <a:chExt cx="0" cy="0"/>
        </a:xfrm>
      </p:grpSpPr>
      <p:pic>
        <p:nvPicPr>
          <p:cNvPr id="2" name="Image 0" descr="/home/claude/work/bg_quote.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612648" y="1371600"/>
            <a:ext cx="11057839" cy="274320"/>
          </a:xfrm>
          <a:prstGeom prst="rect">
            <a:avLst/>
          </a:prstGeom>
          <a:noFill/>
          <a:ln/>
        </p:spPr>
        <p:txBody>
          <a:bodyPr wrap="square" lIns="0" tIns="0" rIns="0" bIns="0" rtlCol="0" anchor="ctr"/>
          <a:lstStyle/>
          <a:p>
            <a:pPr marL="0" indent="0">
              <a:buNone/>
            </a:pPr>
            <a:r>
              <a:rPr lang="en-US" sz="1050" b="1" kern="0" spc="220" dirty="0">
                <a:solidFill>
                  <a:srgbClr val="F5A524"/>
                </a:solidFill>
                <a:latin typeface="Calibri" pitchFamily="34" charset="0"/>
                <a:ea typeface="Calibri" pitchFamily="34" charset="-122"/>
                <a:cs typeface="Calibri" pitchFamily="34" charset="-120"/>
              </a:rPr>
              <a:t>03 · THE REACT LOOP</a:t>
            </a:r>
            <a:endParaRPr lang="en-US" sz="1050" dirty="0"/>
          </a:p>
        </p:txBody>
      </p:sp>
      <p:sp>
        <p:nvSpPr>
          <p:cNvPr id="4" name="Text 1"/>
          <p:cNvSpPr/>
          <p:nvPr/>
        </p:nvSpPr>
        <p:spPr>
          <a:xfrm>
            <a:off x="420624" y="1481328"/>
            <a:ext cx="1463040" cy="1463040"/>
          </a:xfrm>
          <a:prstGeom prst="rect">
            <a:avLst/>
          </a:prstGeom>
          <a:noFill/>
          <a:ln/>
        </p:spPr>
        <p:txBody>
          <a:bodyPr wrap="square" lIns="0" tIns="0" rIns="0" bIns="0" rtlCol="0" anchor="ctr"/>
          <a:lstStyle/>
          <a:p>
            <a:pPr marL="0" indent="0">
              <a:buNone/>
            </a:pPr>
            <a:r>
              <a:rPr lang="en-US" sz="15000" b="1" dirty="0">
                <a:solidFill>
                  <a:srgbClr val="8E82F5">
                    <a:alpha val="38000"/>
                  </a:srgbClr>
                </a:solidFill>
                <a:latin typeface="Cambria" pitchFamily="34" charset="0"/>
                <a:ea typeface="Cambria" pitchFamily="34" charset="-122"/>
                <a:cs typeface="Cambria" pitchFamily="34" charset="-120"/>
              </a:rPr>
              <a:t>“</a:t>
            </a:r>
            <a:endParaRPr lang="en-US" sz="15000" dirty="0"/>
          </a:p>
        </p:txBody>
      </p:sp>
      <p:sp>
        <p:nvSpPr>
          <p:cNvPr id="5" name="Text 2"/>
          <p:cNvSpPr/>
          <p:nvPr/>
        </p:nvSpPr>
        <p:spPr>
          <a:xfrm>
            <a:off x="612648" y="2212848"/>
            <a:ext cx="9960559" cy="2377440"/>
          </a:xfrm>
          <a:prstGeom prst="rect">
            <a:avLst/>
          </a:prstGeom>
          <a:noFill/>
          <a:ln/>
        </p:spPr>
        <p:txBody>
          <a:bodyPr wrap="square" lIns="0" tIns="0" rIns="0" bIns="0" rtlCol="0" anchor="t"/>
          <a:lstStyle/>
          <a:p>
            <a:pPr marL="0" indent="0">
              <a:lnSpc>
                <a:spcPct val="116000"/>
              </a:lnSpc>
              <a:buNone/>
            </a:pPr>
            <a:r>
              <a:rPr lang="en-US" sz="3400" b="1" dirty="0">
                <a:solidFill>
                  <a:srgbClr val="FFFFFF"/>
                </a:solidFill>
                <a:latin typeface="Cambria" pitchFamily="34" charset="0"/>
                <a:ea typeface="Cambria" pitchFamily="34" charset="-122"/>
                <a:cs typeface="Cambria" pitchFamily="34" charset="-120"/>
              </a:rPr>
              <a:t>Every line of thought is billed</a:t>
            </a:r>
            <a:endParaRPr lang="en-US" sz="3400" dirty="0"/>
          </a:p>
          <a:p>
            <a:pPr marL="0" indent="0">
              <a:lnSpc>
                <a:spcPct val="116000"/>
              </a:lnSpc>
              <a:buNone/>
            </a:pPr>
            <a:r>
              <a:rPr lang="en-US" sz="3400" b="1" dirty="0">
                <a:solidFill>
                  <a:srgbClr val="FFFFFF"/>
                </a:solidFill>
                <a:latin typeface="Cambria" pitchFamily="34" charset="0"/>
                <a:ea typeface="Cambria" pitchFamily="34" charset="-122"/>
                <a:cs typeface="Cambria" pitchFamily="34" charset="-120"/>
              </a:rPr>
              <a:t>as output. A chatty plan is a bill,</a:t>
            </a:r>
            <a:endParaRPr lang="en-US" sz="3400" dirty="0"/>
          </a:p>
          <a:p>
            <a:pPr marL="0" indent="0">
              <a:lnSpc>
                <a:spcPct val="116000"/>
              </a:lnSpc>
              <a:buNone/>
            </a:pPr>
            <a:r>
              <a:rPr lang="en-US" sz="3400" b="1" dirty="0">
                <a:solidFill>
                  <a:srgbClr val="FFFFFF"/>
                </a:solidFill>
                <a:latin typeface="Cambria" pitchFamily="34" charset="0"/>
                <a:ea typeface="Cambria" pitchFamily="34" charset="-122"/>
                <a:cs typeface="Cambria" pitchFamily="34" charset="-120"/>
              </a:rPr>
              <a:t>not a virtue.</a:t>
            </a:r>
            <a:endParaRPr lang="en-US" sz="3400" dirty="0"/>
          </a:p>
        </p:txBody>
      </p:sp>
      <p:sp>
        <p:nvSpPr>
          <p:cNvPr id="6" name="Text 3"/>
          <p:cNvSpPr/>
          <p:nvPr/>
        </p:nvSpPr>
        <p:spPr>
          <a:xfrm>
            <a:off x="612648" y="4718304"/>
            <a:ext cx="9777679" cy="822960"/>
          </a:xfrm>
          <a:prstGeom prst="rect">
            <a:avLst/>
          </a:prstGeom>
          <a:noFill/>
          <a:ln/>
        </p:spPr>
        <p:txBody>
          <a:bodyPr wrap="square" lIns="0" tIns="0" rIns="0" bIns="0" rtlCol="0" anchor="t"/>
          <a:lstStyle/>
          <a:p>
            <a:pPr marL="0" indent="0">
              <a:lnSpc>
                <a:spcPct val="120000"/>
              </a:lnSpc>
              <a:buNone/>
            </a:pPr>
            <a:r>
              <a:rPr lang="en-US" sz="1450" dirty="0">
                <a:solidFill>
                  <a:srgbClr val="B9B4E0"/>
                </a:solidFill>
                <a:latin typeface="Calibri" pitchFamily="34" charset="0"/>
                <a:ea typeface="Calibri" pitchFamily="34" charset="-122"/>
                <a:cs typeface="Calibri" pitchFamily="34" charset="-120"/>
              </a:rPr>
              <a:t>Same usage object from module 00. Read the token count and the dollar line out loud after the demo — it changes how people prompt.</a:t>
            </a:r>
            <a:endParaRPr lang="en-US" sz="14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03 · THE REACT LOOP</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2800" b="1" dirty="0">
                <a:solidFill>
                  <a:srgbClr val="141235"/>
                </a:solidFill>
                <a:latin typeface="Cambria" pitchFamily="34" charset="0"/>
                <a:ea typeface="Cambria" pitchFamily="34" charset="-122"/>
                <a:cs typeface="Cambria" pitchFamily="34" charset="-120"/>
              </a:rPr>
              <a:t>Three things that go wrong, and all three are yours</a:t>
            </a:r>
            <a:endParaRPr lang="en-US" sz="2800" dirty="0"/>
          </a:p>
        </p:txBody>
      </p:sp>
      <p:sp>
        <p:nvSpPr>
          <p:cNvPr id="4" name="Shape 2"/>
          <p:cNvSpPr/>
          <p:nvPr/>
        </p:nvSpPr>
        <p:spPr>
          <a:xfrm>
            <a:off x="566928" y="2378720"/>
            <a:ext cx="3527450" cy="2521184"/>
          </a:xfrm>
          <a:prstGeom prst="roundRect">
            <a:avLst>
              <a:gd name="adj" fmla="val 3264"/>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5" name="Shape 3"/>
          <p:cNvSpPr/>
          <p:nvPr/>
        </p:nvSpPr>
        <p:spPr>
          <a:xfrm>
            <a:off x="804672" y="2598176"/>
            <a:ext cx="365760" cy="365760"/>
          </a:xfrm>
          <a:prstGeom prst="ellipse">
            <a:avLst/>
          </a:prstGeom>
          <a:solidFill>
            <a:srgbClr val="D93A3F"/>
          </a:solidFill>
          <a:ln w="12700">
            <a:solidFill>
              <a:srgbClr val="D93A3F"/>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896112" y="2689616"/>
            <a:ext cx="182880" cy="182880"/>
          </a:xfrm>
          <a:prstGeom prst="rect">
            <a:avLst/>
          </a:prstGeom>
        </p:spPr>
      </p:pic>
      <p:sp>
        <p:nvSpPr>
          <p:cNvPr id="7" name="Text 4"/>
          <p:cNvSpPr/>
          <p:nvPr/>
        </p:nvSpPr>
        <p:spPr>
          <a:xfrm>
            <a:off x="1298448" y="2589032"/>
            <a:ext cx="2558186" cy="182880"/>
          </a:xfrm>
          <a:prstGeom prst="rect">
            <a:avLst/>
          </a:prstGeom>
          <a:noFill/>
          <a:ln/>
        </p:spPr>
        <p:txBody>
          <a:bodyPr wrap="square" lIns="0" tIns="0" rIns="0" bIns="0" rtlCol="0" anchor="ctr"/>
          <a:lstStyle/>
          <a:p>
            <a:pPr marL="0" indent="0">
              <a:buNone/>
            </a:pPr>
            <a:r>
              <a:rPr lang="en-US" sz="850" b="1" kern="0" spc="160" dirty="0">
                <a:solidFill>
                  <a:srgbClr val="D93A3F"/>
                </a:solidFill>
                <a:latin typeface="Calibri" pitchFamily="34" charset="0"/>
                <a:ea typeface="Calibri" pitchFamily="34" charset="-122"/>
                <a:cs typeface="Calibri" pitchFamily="34" charset="-120"/>
              </a:rPr>
              <a:t>FAILURE 1</a:t>
            </a:r>
            <a:endParaRPr lang="en-US" sz="850" dirty="0"/>
          </a:p>
        </p:txBody>
      </p:sp>
      <p:sp>
        <p:nvSpPr>
          <p:cNvPr id="8" name="Text 5"/>
          <p:cNvSpPr/>
          <p:nvPr/>
        </p:nvSpPr>
        <p:spPr>
          <a:xfrm>
            <a:off x="1298448" y="2808488"/>
            <a:ext cx="2558186" cy="346558"/>
          </a:xfrm>
          <a:prstGeom prst="rect">
            <a:avLst/>
          </a:prstGeom>
          <a:noFill/>
          <a:ln/>
        </p:spPr>
        <p:txBody>
          <a:bodyPr wrap="square" lIns="0" tIns="0" rIns="0" bIns="0" rtlCol="0" anchor="t"/>
          <a:lstStyle/>
          <a:p>
            <a:pPr marL="0" indent="0">
              <a:lnSpc>
                <a:spcPct val="105000"/>
              </a:lnSpc>
              <a:buNone/>
            </a:pPr>
            <a:r>
              <a:rPr lang="en-US" sz="1500" b="1" dirty="0">
                <a:solidFill>
                  <a:srgbClr val="141235"/>
                </a:solidFill>
                <a:latin typeface="Calibri" pitchFamily="34" charset="0"/>
                <a:ea typeface="Calibri" pitchFamily="34" charset="-122"/>
                <a:cs typeface="Calibri" pitchFamily="34" charset="-120"/>
              </a:rPr>
              <a:t>No turn cap</a:t>
            </a:r>
            <a:endParaRPr lang="en-US" sz="1500" dirty="0"/>
          </a:p>
        </p:txBody>
      </p:sp>
      <p:sp>
        <p:nvSpPr>
          <p:cNvPr id="9" name="Text 6"/>
          <p:cNvSpPr/>
          <p:nvPr/>
        </p:nvSpPr>
        <p:spPr>
          <a:xfrm>
            <a:off x="1298448" y="3164190"/>
            <a:ext cx="2558186" cy="1552834"/>
          </a:xfrm>
          <a:prstGeom prst="rect">
            <a:avLst/>
          </a:prstGeom>
          <a:noFill/>
          <a:ln/>
        </p:spPr>
        <p:txBody>
          <a:bodyPr wrap="square" lIns="0" tIns="0" rIns="0" bIns="0" rtlCol="0" anchor="t"/>
          <a:lstStyle/>
          <a:p>
            <a:pPr marL="0" indent="0">
              <a:lnSpc>
                <a:spcPct val="113000"/>
              </a:lnSpc>
              <a:buNone/>
            </a:pPr>
            <a:r>
              <a:rPr lang="en-US" sz="1200" dirty="0">
                <a:solidFill>
                  <a:srgbClr val="6E6B8A"/>
                </a:solidFill>
                <a:latin typeface="Calibri" pitchFamily="34" charset="0"/>
                <a:ea typeface="Calibri" pitchFamily="34" charset="-122"/>
                <a:cs typeface="Calibri" pitchFamily="34" charset="-120"/>
              </a:rPr>
              <a:t>The loop has no natural end. Without a maximum it will call tools until the model gets bored or your invoice does. Cap it, and log when the cap is hit — that log is a bug report.</a:t>
            </a:r>
            <a:endParaRPr lang="en-US" sz="1200" dirty="0"/>
          </a:p>
        </p:txBody>
      </p:sp>
      <p:sp>
        <p:nvSpPr>
          <p:cNvPr id="10" name="Shape 7"/>
          <p:cNvSpPr/>
          <p:nvPr/>
        </p:nvSpPr>
        <p:spPr>
          <a:xfrm>
            <a:off x="4332122" y="2378720"/>
            <a:ext cx="3527450" cy="2521184"/>
          </a:xfrm>
          <a:prstGeom prst="roundRect">
            <a:avLst>
              <a:gd name="adj" fmla="val 3264"/>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1" name="Shape 8"/>
          <p:cNvSpPr/>
          <p:nvPr/>
        </p:nvSpPr>
        <p:spPr>
          <a:xfrm>
            <a:off x="4569866" y="2598176"/>
            <a:ext cx="365760" cy="365760"/>
          </a:xfrm>
          <a:prstGeom prst="ellipse">
            <a:avLst/>
          </a:prstGeom>
          <a:solidFill>
            <a:srgbClr val="D93A3F"/>
          </a:solidFill>
          <a:ln w="12700">
            <a:solidFill>
              <a:srgbClr val="D93A3F"/>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4661306" y="2689616"/>
            <a:ext cx="182880" cy="182880"/>
          </a:xfrm>
          <a:prstGeom prst="rect">
            <a:avLst/>
          </a:prstGeom>
        </p:spPr>
      </p:pic>
      <p:sp>
        <p:nvSpPr>
          <p:cNvPr id="13" name="Text 9"/>
          <p:cNvSpPr/>
          <p:nvPr/>
        </p:nvSpPr>
        <p:spPr>
          <a:xfrm>
            <a:off x="5063642" y="2589032"/>
            <a:ext cx="2558186" cy="182880"/>
          </a:xfrm>
          <a:prstGeom prst="rect">
            <a:avLst/>
          </a:prstGeom>
          <a:noFill/>
          <a:ln/>
        </p:spPr>
        <p:txBody>
          <a:bodyPr wrap="square" lIns="0" tIns="0" rIns="0" bIns="0" rtlCol="0" anchor="ctr"/>
          <a:lstStyle/>
          <a:p>
            <a:pPr marL="0" indent="0">
              <a:buNone/>
            </a:pPr>
            <a:r>
              <a:rPr lang="en-US" sz="850" b="1" kern="0" spc="160" dirty="0">
                <a:solidFill>
                  <a:srgbClr val="D93A3F"/>
                </a:solidFill>
                <a:latin typeface="Calibri" pitchFamily="34" charset="0"/>
                <a:ea typeface="Calibri" pitchFamily="34" charset="-122"/>
                <a:cs typeface="Calibri" pitchFamily="34" charset="-120"/>
              </a:rPr>
              <a:t>FAILURE 2</a:t>
            </a:r>
            <a:endParaRPr lang="en-US" sz="850" dirty="0"/>
          </a:p>
        </p:txBody>
      </p:sp>
      <p:sp>
        <p:nvSpPr>
          <p:cNvPr id="14" name="Text 10"/>
          <p:cNvSpPr/>
          <p:nvPr/>
        </p:nvSpPr>
        <p:spPr>
          <a:xfrm>
            <a:off x="5063642" y="2808488"/>
            <a:ext cx="2558186" cy="638251"/>
          </a:xfrm>
          <a:prstGeom prst="rect">
            <a:avLst/>
          </a:prstGeom>
          <a:noFill/>
          <a:ln/>
        </p:spPr>
        <p:txBody>
          <a:bodyPr wrap="square" lIns="0" tIns="0" rIns="0" bIns="0" rtlCol="0" anchor="t"/>
          <a:lstStyle/>
          <a:p>
            <a:pPr marL="0" indent="0">
              <a:lnSpc>
                <a:spcPct val="105000"/>
              </a:lnSpc>
              <a:buNone/>
            </a:pPr>
            <a:r>
              <a:rPr lang="en-US" sz="1500" b="1" dirty="0">
                <a:solidFill>
                  <a:srgbClr val="141235"/>
                </a:solidFill>
                <a:latin typeface="Calibri" pitchFamily="34" charset="0"/>
                <a:ea typeface="Calibri" pitchFamily="34" charset="-122"/>
                <a:cs typeface="Calibri" pitchFamily="34" charset="-120"/>
              </a:rPr>
              <a:t>Dropping the message list</a:t>
            </a:r>
            <a:endParaRPr lang="en-US" sz="1500" dirty="0"/>
          </a:p>
        </p:txBody>
      </p:sp>
      <p:sp>
        <p:nvSpPr>
          <p:cNvPr id="15" name="Text 11"/>
          <p:cNvSpPr/>
          <p:nvPr/>
        </p:nvSpPr>
        <p:spPr>
          <a:xfrm>
            <a:off x="5063642" y="3455883"/>
            <a:ext cx="2558186" cy="1261140"/>
          </a:xfrm>
          <a:prstGeom prst="rect">
            <a:avLst/>
          </a:prstGeom>
          <a:noFill/>
          <a:ln/>
        </p:spPr>
        <p:txBody>
          <a:bodyPr wrap="square" lIns="0" tIns="0" rIns="0" bIns="0" rtlCol="0" anchor="t"/>
          <a:lstStyle/>
          <a:p>
            <a:pPr marL="0" indent="0">
              <a:lnSpc>
                <a:spcPct val="113000"/>
              </a:lnSpc>
              <a:buNone/>
            </a:pPr>
            <a:r>
              <a:rPr lang="en-US" sz="1200" dirty="0">
                <a:solidFill>
                  <a:srgbClr val="6E6B8A"/>
                </a:solidFill>
                <a:latin typeface="Calibri" pitchFamily="34" charset="0"/>
                <a:ea typeface="Calibri" pitchFamily="34" charset="-122"/>
                <a:cs typeface="Calibri" pitchFamily="34" charset="-120"/>
              </a:rPr>
              <a:t>Forget to append the tool result and the model asks for the same thing again, forever. Most infinite loops people show me are this, not a model problem.</a:t>
            </a:r>
            <a:endParaRPr lang="en-US" sz="1200" dirty="0"/>
          </a:p>
        </p:txBody>
      </p:sp>
      <p:sp>
        <p:nvSpPr>
          <p:cNvPr id="16" name="Shape 12"/>
          <p:cNvSpPr/>
          <p:nvPr/>
        </p:nvSpPr>
        <p:spPr>
          <a:xfrm>
            <a:off x="8097317" y="2378720"/>
            <a:ext cx="3527450" cy="2521184"/>
          </a:xfrm>
          <a:prstGeom prst="roundRect">
            <a:avLst>
              <a:gd name="adj" fmla="val 3264"/>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7" name="Shape 13"/>
          <p:cNvSpPr/>
          <p:nvPr/>
        </p:nvSpPr>
        <p:spPr>
          <a:xfrm>
            <a:off x="8335061" y="2598176"/>
            <a:ext cx="365760" cy="365760"/>
          </a:xfrm>
          <a:prstGeom prst="ellipse">
            <a:avLst/>
          </a:prstGeom>
          <a:solidFill>
            <a:srgbClr val="D93A3F"/>
          </a:solidFill>
          <a:ln w="12700">
            <a:solidFill>
              <a:srgbClr val="D93A3F"/>
            </a:solidFill>
            <a:prstDash val="solid"/>
          </a:ln>
        </p:spPr>
        <p:txBody>
          <a:bodyPr/>
          <a:lstStyle/>
          <a:p>
            <a:endParaRPr lang="en-US"/>
          </a:p>
        </p:txBody>
      </p:sp>
      <p:pic>
        <p:nvPicPr>
          <p:cNvPr id="18" name="Image 2" descr="preencoded.png"/>
          <p:cNvPicPr>
            <a:picLocks noChangeAspect="1"/>
          </p:cNvPicPr>
          <p:nvPr/>
        </p:nvPicPr>
        <p:blipFill>
          <a:blip r:embed="rId5"/>
          <a:stretch>
            <a:fillRect/>
          </a:stretch>
        </p:blipFill>
        <p:spPr>
          <a:xfrm>
            <a:off x="8426501" y="2689616"/>
            <a:ext cx="182880" cy="182880"/>
          </a:xfrm>
          <a:prstGeom prst="rect">
            <a:avLst/>
          </a:prstGeom>
        </p:spPr>
      </p:pic>
      <p:sp>
        <p:nvSpPr>
          <p:cNvPr id="19" name="Text 14"/>
          <p:cNvSpPr/>
          <p:nvPr/>
        </p:nvSpPr>
        <p:spPr>
          <a:xfrm>
            <a:off x="8828837" y="2589032"/>
            <a:ext cx="2558186" cy="182880"/>
          </a:xfrm>
          <a:prstGeom prst="rect">
            <a:avLst/>
          </a:prstGeom>
          <a:noFill/>
          <a:ln/>
        </p:spPr>
        <p:txBody>
          <a:bodyPr wrap="square" lIns="0" tIns="0" rIns="0" bIns="0" rtlCol="0" anchor="ctr"/>
          <a:lstStyle/>
          <a:p>
            <a:pPr marL="0" indent="0">
              <a:buNone/>
            </a:pPr>
            <a:r>
              <a:rPr lang="en-US" sz="850" b="1" kern="0" spc="160" dirty="0">
                <a:solidFill>
                  <a:srgbClr val="D93A3F"/>
                </a:solidFill>
                <a:latin typeface="Calibri" pitchFamily="34" charset="0"/>
                <a:ea typeface="Calibri" pitchFamily="34" charset="-122"/>
                <a:cs typeface="Calibri" pitchFamily="34" charset="-120"/>
              </a:rPr>
              <a:t>FAILURE 3</a:t>
            </a:r>
            <a:endParaRPr lang="en-US" sz="850" dirty="0"/>
          </a:p>
        </p:txBody>
      </p:sp>
      <p:sp>
        <p:nvSpPr>
          <p:cNvPr id="20" name="Text 15"/>
          <p:cNvSpPr/>
          <p:nvPr/>
        </p:nvSpPr>
        <p:spPr>
          <a:xfrm>
            <a:off x="8828837" y="2808488"/>
            <a:ext cx="2558186" cy="638251"/>
          </a:xfrm>
          <a:prstGeom prst="rect">
            <a:avLst/>
          </a:prstGeom>
          <a:noFill/>
          <a:ln/>
        </p:spPr>
        <p:txBody>
          <a:bodyPr wrap="square" lIns="0" tIns="0" rIns="0" bIns="0" rtlCol="0" anchor="t"/>
          <a:lstStyle/>
          <a:p>
            <a:pPr marL="0" indent="0">
              <a:lnSpc>
                <a:spcPct val="105000"/>
              </a:lnSpc>
              <a:buNone/>
            </a:pPr>
            <a:r>
              <a:rPr lang="en-US" sz="1500" b="1" dirty="0">
                <a:solidFill>
                  <a:srgbClr val="141235"/>
                </a:solidFill>
                <a:latin typeface="Calibri" pitchFamily="34" charset="0"/>
                <a:ea typeface="Calibri" pitchFamily="34" charset="-122"/>
                <a:cs typeface="Calibri" pitchFamily="34" charset="-120"/>
              </a:rPr>
              <a:t>Raising when a tool fails</a:t>
            </a:r>
            <a:endParaRPr lang="en-US" sz="1500" dirty="0"/>
          </a:p>
        </p:txBody>
      </p:sp>
      <p:sp>
        <p:nvSpPr>
          <p:cNvPr id="21" name="Text 16"/>
          <p:cNvSpPr/>
          <p:nvPr/>
        </p:nvSpPr>
        <p:spPr>
          <a:xfrm>
            <a:off x="8828837" y="3455883"/>
            <a:ext cx="2558186" cy="1261140"/>
          </a:xfrm>
          <a:prstGeom prst="rect">
            <a:avLst/>
          </a:prstGeom>
          <a:noFill/>
          <a:ln/>
        </p:spPr>
        <p:txBody>
          <a:bodyPr wrap="square" lIns="0" tIns="0" rIns="0" bIns="0" rtlCol="0" anchor="t"/>
          <a:lstStyle/>
          <a:p>
            <a:pPr marL="0" indent="0">
              <a:lnSpc>
                <a:spcPct val="113000"/>
              </a:lnSpc>
              <a:buNone/>
            </a:pPr>
            <a:r>
              <a:rPr lang="en-US" sz="1200" dirty="0">
                <a:solidFill>
                  <a:srgbClr val="6E6B8A"/>
                </a:solidFill>
                <a:latin typeface="Calibri" pitchFamily="34" charset="0"/>
                <a:ea typeface="Calibri" pitchFamily="34" charset="-122"/>
                <a:cs typeface="Calibri" pitchFamily="34" charset="-120"/>
              </a:rPr>
              <a:t>A tool that throws kills the run. Send the error back as an observation instead and the model can try something else — which is the entire point of having a loop.</a:t>
            </a:r>
            <a:endParaRPr lang="en-US" sz="1200" dirty="0"/>
          </a:p>
        </p:txBody>
      </p:sp>
      <p:sp>
        <p:nvSpPr>
          <p:cNvPr id="22" name="Shape 17"/>
          <p:cNvSpPr/>
          <p:nvPr/>
        </p:nvSpPr>
        <p:spPr>
          <a:xfrm>
            <a:off x="566928" y="5541264"/>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23" name="Shape 18"/>
          <p:cNvSpPr/>
          <p:nvPr/>
        </p:nvSpPr>
        <p:spPr>
          <a:xfrm>
            <a:off x="841248" y="5760720"/>
            <a:ext cx="384048" cy="384048"/>
          </a:xfrm>
          <a:prstGeom prst="ellipse">
            <a:avLst/>
          </a:prstGeom>
          <a:solidFill>
            <a:srgbClr val="F5A524"/>
          </a:solidFill>
          <a:ln w="12700">
            <a:solidFill>
              <a:srgbClr val="F5A524"/>
            </a:solidFill>
            <a:prstDash val="solid"/>
          </a:ln>
        </p:spPr>
        <p:txBody>
          <a:bodyPr/>
          <a:lstStyle/>
          <a:p>
            <a:endParaRPr lang="en-US"/>
          </a:p>
        </p:txBody>
      </p:sp>
      <p:pic>
        <p:nvPicPr>
          <p:cNvPr id="24" name="Image 3" descr="preencoded.png"/>
          <p:cNvPicPr>
            <a:picLocks noChangeAspect="1"/>
          </p:cNvPicPr>
          <p:nvPr/>
        </p:nvPicPr>
        <p:blipFill>
          <a:blip r:embed="rId6"/>
          <a:stretch>
            <a:fillRect/>
          </a:stretch>
        </p:blipFill>
        <p:spPr>
          <a:xfrm>
            <a:off x="937260" y="5856732"/>
            <a:ext cx="192024" cy="192024"/>
          </a:xfrm>
          <a:prstGeom prst="rect">
            <a:avLst/>
          </a:prstGeom>
        </p:spPr>
      </p:pic>
      <p:sp>
        <p:nvSpPr>
          <p:cNvPr id="25" name="Text 19"/>
          <p:cNvSpPr/>
          <p:nvPr/>
        </p:nvSpPr>
        <p:spPr>
          <a:xfrm>
            <a:off x="1371600" y="5596128"/>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None of these are AI failures. They are a missing limit, a missing append, and a missing try/except — the same bugs as any other retry loop.</a:t>
            </a:r>
            <a:endParaRPr lang="en-US" sz="10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B0A22"/>
        </a:solidFill>
        <a:effectLst/>
      </p:bgPr>
    </p:bg>
    <p:spTree>
      <p:nvGrpSpPr>
        <p:cNvPr id="1" name=""/>
        <p:cNvGrpSpPr/>
        <p:nvPr/>
      </p:nvGrpSpPr>
      <p:grpSpPr>
        <a:xfrm>
          <a:off x="0" y="0"/>
          <a:ext cx="0" cy="0"/>
          <a:chOff x="0" y="0"/>
          <a:chExt cx="0" cy="0"/>
        </a:xfrm>
      </p:grpSpPr>
      <p:pic>
        <p:nvPicPr>
          <p:cNvPr id="2" name="Image 0" descr="/home/claude/work/bg_quote.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612648" y="1371600"/>
            <a:ext cx="11057839" cy="274320"/>
          </a:xfrm>
          <a:prstGeom prst="rect">
            <a:avLst/>
          </a:prstGeom>
          <a:noFill/>
          <a:ln/>
        </p:spPr>
        <p:txBody>
          <a:bodyPr wrap="square" lIns="0" tIns="0" rIns="0" bIns="0" rtlCol="0" anchor="ctr"/>
          <a:lstStyle/>
          <a:p>
            <a:pPr marL="0" indent="0">
              <a:buNone/>
            </a:pPr>
            <a:r>
              <a:rPr lang="en-US" sz="1050" b="1" kern="0" spc="220" dirty="0">
                <a:solidFill>
                  <a:srgbClr val="F5A524"/>
                </a:solidFill>
                <a:latin typeface="Calibri" pitchFamily="34" charset="0"/>
                <a:ea typeface="Calibri" pitchFamily="34" charset="-122"/>
                <a:cs typeface="Calibri" pitchFamily="34" charset="-120"/>
              </a:rPr>
              <a:t>03 · LANDING</a:t>
            </a:r>
            <a:endParaRPr lang="en-US" sz="1050" dirty="0"/>
          </a:p>
        </p:txBody>
      </p:sp>
      <p:sp>
        <p:nvSpPr>
          <p:cNvPr id="4" name="Text 1"/>
          <p:cNvSpPr/>
          <p:nvPr/>
        </p:nvSpPr>
        <p:spPr>
          <a:xfrm>
            <a:off x="420624" y="1481328"/>
            <a:ext cx="1463040" cy="1463040"/>
          </a:xfrm>
          <a:prstGeom prst="rect">
            <a:avLst/>
          </a:prstGeom>
          <a:noFill/>
          <a:ln/>
        </p:spPr>
        <p:txBody>
          <a:bodyPr wrap="square" lIns="0" tIns="0" rIns="0" bIns="0" rtlCol="0" anchor="ctr"/>
          <a:lstStyle/>
          <a:p>
            <a:pPr marL="0" indent="0">
              <a:buNone/>
            </a:pPr>
            <a:r>
              <a:rPr lang="en-US" sz="15000" b="1" dirty="0">
                <a:solidFill>
                  <a:srgbClr val="8E82F5">
                    <a:alpha val="38000"/>
                  </a:srgbClr>
                </a:solidFill>
                <a:latin typeface="Cambria" pitchFamily="34" charset="0"/>
                <a:ea typeface="Cambria" pitchFamily="34" charset="-122"/>
                <a:cs typeface="Cambria" pitchFamily="34" charset="-120"/>
              </a:rPr>
              <a:t>“</a:t>
            </a:r>
            <a:endParaRPr lang="en-US" sz="15000" dirty="0"/>
          </a:p>
        </p:txBody>
      </p:sp>
      <p:sp>
        <p:nvSpPr>
          <p:cNvPr id="5" name="Text 2"/>
          <p:cNvSpPr/>
          <p:nvPr/>
        </p:nvSpPr>
        <p:spPr>
          <a:xfrm>
            <a:off x="612648" y="2212848"/>
            <a:ext cx="9960559" cy="2377440"/>
          </a:xfrm>
          <a:prstGeom prst="rect">
            <a:avLst/>
          </a:prstGeom>
          <a:noFill/>
          <a:ln/>
        </p:spPr>
        <p:txBody>
          <a:bodyPr wrap="square" lIns="0" tIns="0" rIns="0" bIns="0" rtlCol="0" anchor="t"/>
          <a:lstStyle/>
          <a:p>
            <a:pPr marL="0" indent="0">
              <a:lnSpc>
                <a:spcPct val="116000"/>
              </a:lnSpc>
              <a:buNone/>
            </a:pPr>
            <a:r>
              <a:rPr lang="en-US" sz="3400" b="1" dirty="0">
                <a:solidFill>
                  <a:srgbClr val="FFFFFF"/>
                </a:solidFill>
                <a:latin typeface="Cambria" pitchFamily="34" charset="0"/>
                <a:ea typeface="Cambria" pitchFamily="34" charset="-122"/>
                <a:cs typeface="Cambria" pitchFamily="34" charset="-120"/>
              </a:rPr>
              <a:t>You have now written the loop</a:t>
            </a:r>
            <a:endParaRPr lang="en-US" sz="3400" dirty="0"/>
          </a:p>
          <a:p>
            <a:pPr marL="0" indent="0">
              <a:lnSpc>
                <a:spcPct val="116000"/>
              </a:lnSpc>
              <a:buNone/>
            </a:pPr>
            <a:r>
              <a:rPr lang="en-US" sz="3400" b="1" dirty="0">
                <a:solidFill>
                  <a:srgbClr val="FFFFFF"/>
                </a:solidFill>
                <a:latin typeface="Cambria" pitchFamily="34" charset="0"/>
                <a:ea typeface="Cambria" pitchFamily="34" charset="-122"/>
                <a:cs typeface="Cambria" pitchFamily="34" charset="-120"/>
              </a:rPr>
              <a:t>by hand. Everything from here</a:t>
            </a:r>
            <a:endParaRPr lang="en-US" sz="3400" dirty="0"/>
          </a:p>
          <a:p>
            <a:pPr marL="0" indent="0">
              <a:lnSpc>
                <a:spcPct val="116000"/>
              </a:lnSpc>
              <a:buNone/>
            </a:pPr>
            <a:r>
              <a:rPr lang="en-US" sz="3400" b="1" dirty="0">
                <a:solidFill>
                  <a:srgbClr val="FFFFFF"/>
                </a:solidFill>
                <a:latin typeface="Cambria" pitchFamily="34" charset="0"/>
                <a:ea typeface="Cambria" pitchFamily="34" charset="-122"/>
                <a:cs typeface="Cambria" pitchFamily="34" charset="-120"/>
              </a:rPr>
              <a:t>is a delta against it.</a:t>
            </a:r>
            <a:endParaRPr lang="en-US" sz="3400" dirty="0"/>
          </a:p>
        </p:txBody>
      </p:sp>
      <p:sp>
        <p:nvSpPr>
          <p:cNvPr id="6" name="Text 3"/>
          <p:cNvSpPr/>
          <p:nvPr/>
        </p:nvSpPr>
        <p:spPr>
          <a:xfrm>
            <a:off x="612648" y="4718304"/>
            <a:ext cx="9777679" cy="822960"/>
          </a:xfrm>
          <a:prstGeom prst="rect">
            <a:avLst/>
          </a:prstGeom>
          <a:noFill/>
          <a:ln/>
        </p:spPr>
        <p:txBody>
          <a:bodyPr wrap="square" lIns="0" tIns="0" rIns="0" bIns="0" rtlCol="0" anchor="t"/>
          <a:lstStyle/>
          <a:p>
            <a:pPr marL="0" indent="0">
              <a:lnSpc>
                <a:spcPct val="120000"/>
              </a:lnSpc>
              <a:buNone/>
            </a:pPr>
            <a:r>
              <a:rPr lang="en-US" sz="1450" dirty="0">
                <a:solidFill>
                  <a:srgbClr val="B9B4E0"/>
                </a:solidFill>
                <a:latin typeface="Calibri" pitchFamily="34" charset="0"/>
                <a:ea typeface="Calibri" pitchFamily="34" charset="-122"/>
                <a:cs typeface="Calibri" pitchFamily="34" charset="-120"/>
              </a:rPr>
              <a:t>Frameworks, protocols, retrieval, delegation, governance — every remaining module changes exactly one part of the thing you just built.</a:t>
            </a:r>
            <a:endParaRPr lang="en-US" sz="14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B0A22"/>
        </a:solidFill>
        <a:effectLst/>
      </p:bgPr>
    </p:bg>
    <p:spTree>
      <p:nvGrpSpPr>
        <p:cNvPr id="1" name=""/>
        <p:cNvGrpSpPr/>
        <p:nvPr/>
      </p:nvGrpSpPr>
      <p:grpSpPr>
        <a:xfrm>
          <a:off x="0" y="0"/>
          <a:ext cx="0" cy="0"/>
          <a:chOff x="0" y="0"/>
          <a:chExt cx="0" cy="0"/>
        </a:xfrm>
      </p:grpSpPr>
      <p:pic>
        <p:nvPicPr>
          <p:cNvPr id="2" name="Image 0" descr="/home/claude/work/bg_dark.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6126480" y="1234440"/>
            <a:ext cx="5486400" cy="2743200"/>
          </a:xfrm>
          <a:prstGeom prst="rect">
            <a:avLst/>
          </a:prstGeom>
          <a:noFill/>
          <a:ln/>
        </p:spPr>
        <p:txBody>
          <a:bodyPr wrap="square" lIns="0" tIns="0" rIns="0" bIns="0" rtlCol="0" anchor="ctr"/>
          <a:lstStyle/>
          <a:p>
            <a:pPr marL="0" indent="0" algn="r">
              <a:buNone/>
            </a:pPr>
            <a:r>
              <a:rPr lang="en-US" sz="17600" b="1" dirty="0">
                <a:solidFill>
                  <a:srgbClr val="5B4BE8">
                    <a:alpha val="30000"/>
                  </a:srgbClr>
                </a:solidFill>
                <a:latin typeface="Cambria" pitchFamily="34" charset="0"/>
                <a:ea typeface="Cambria" pitchFamily="34" charset="-122"/>
                <a:cs typeface="Cambria" pitchFamily="34" charset="-120"/>
              </a:rPr>
              <a:t>04</a:t>
            </a:r>
            <a:endParaRPr lang="en-US" sz="17600" dirty="0"/>
          </a:p>
        </p:txBody>
      </p:sp>
      <p:sp>
        <p:nvSpPr>
          <p:cNvPr id="4" name="Shape 1"/>
          <p:cNvSpPr/>
          <p:nvPr/>
        </p:nvSpPr>
        <p:spPr>
          <a:xfrm>
            <a:off x="566928" y="2084832"/>
            <a:ext cx="566928" cy="566928"/>
          </a:xfrm>
          <a:prstGeom prst="ellipse">
            <a:avLst/>
          </a:prstGeom>
          <a:solidFill>
            <a:srgbClr val="F5A524"/>
          </a:solidFill>
          <a:ln w="12700">
            <a:solidFill>
              <a:srgbClr val="F5A524"/>
            </a:solidFill>
            <a:prstDash val="solid"/>
          </a:ln>
        </p:spPr>
        <p:txBody>
          <a:bodyPr/>
          <a:lstStyle/>
          <a:p>
            <a:endParaRPr lang="en-US"/>
          </a:p>
        </p:txBody>
      </p:sp>
      <p:pic>
        <p:nvPicPr>
          <p:cNvPr id="5" name="Image 1" descr="preencoded.png"/>
          <p:cNvPicPr>
            <a:picLocks noChangeAspect="1"/>
          </p:cNvPicPr>
          <p:nvPr/>
        </p:nvPicPr>
        <p:blipFill>
          <a:blip r:embed="rId4"/>
          <a:stretch>
            <a:fillRect/>
          </a:stretch>
        </p:blipFill>
        <p:spPr>
          <a:xfrm>
            <a:off x="708660" y="2226564"/>
            <a:ext cx="283464" cy="283464"/>
          </a:xfrm>
          <a:prstGeom prst="rect">
            <a:avLst/>
          </a:prstGeom>
        </p:spPr>
      </p:pic>
      <p:sp>
        <p:nvSpPr>
          <p:cNvPr id="6" name="Text 2"/>
          <p:cNvSpPr/>
          <p:nvPr/>
        </p:nvSpPr>
        <p:spPr>
          <a:xfrm>
            <a:off x="566928" y="2852928"/>
            <a:ext cx="7315200" cy="256032"/>
          </a:xfrm>
          <a:prstGeom prst="rect">
            <a:avLst/>
          </a:prstGeom>
          <a:noFill/>
          <a:ln/>
        </p:spPr>
        <p:txBody>
          <a:bodyPr wrap="square" lIns="0" tIns="0" rIns="0" bIns="0" rtlCol="0" anchor="ctr"/>
          <a:lstStyle/>
          <a:p>
            <a:pPr marL="0" indent="0">
              <a:buNone/>
            </a:pPr>
            <a:r>
              <a:rPr lang="en-US" sz="1100" b="1" kern="0" spc="240" dirty="0">
                <a:solidFill>
                  <a:srgbClr val="F5A524"/>
                </a:solidFill>
                <a:latin typeface="Calibri" pitchFamily="34" charset="0"/>
                <a:ea typeface="Calibri" pitchFamily="34" charset="-122"/>
                <a:cs typeface="Calibri" pitchFamily="34" charset="-120"/>
              </a:rPr>
              <a:t>MODULE 04</a:t>
            </a:r>
            <a:endParaRPr lang="en-US" sz="1100" dirty="0"/>
          </a:p>
        </p:txBody>
      </p:sp>
      <p:sp>
        <p:nvSpPr>
          <p:cNvPr id="7" name="Text 3"/>
          <p:cNvSpPr/>
          <p:nvPr/>
        </p:nvSpPr>
        <p:spPr>
          <a:xfrm>
            <a:off x="566928" y="3145536"/>
            <a:ext cx="8595360" cy="914400"/>
          </a:xfrm>
          <a:prstGeom prst="rect">
            <a:avLst/>
          </a:prstGeom>
          <a:noFill/>
          <a:ln/>
        </p:spPr>
        <p:txBody>
          <a:bodyPr wrap="square" lIns="0" tIns="0" rIns="0" bIns="0" rtlCol="0" anchor="t"/>
          <a:lstStyle/>
          <a:p>
            <a:pPr marL="0" indent="0">
              <a:buNone/>
            </a:pPr>
            <a:r>
              <a:rPr lang="en-US" sz="4600" b="1" dirty="0">
                <a:solidFill>
                  <a:srgbClr val="FFFFFF"/>
                </a:solidFill>
                <a:latin typeface="Cambria" pitchFamily="34" charset="0"/>
                <a:ea typeface="Cambria" pitchFamily="34" charset="-122"/>
                <a:cs typeface="Cambria" pitchFamily="34" charset="-120"/>
              </a:rPr>
              <a:t>A coding agent, then break it</a:t>
            </a:r>
            <a:endParaRPr lang="en-US" sz="4600" dirty="0"/>
          </a:p>
        </p:txBody>
      </p:sp>
      <p:sp>
        <p:nvSpPr>
          <p:cNvPr id="8" name="Text 4"/>
          <p:cNvSpPr/>
          <p:nvPr/>
        </p:nvSpPr>
        <p:spPr>
          <a:xfrm>
            <a:off x="566928" y="4169664"/>
            <a:ext cx="7863840" cy="731520"/>
          </a:xfrm>
          <a:prstGeom prst="rect">
            <a:avLst/>
          </a:prstGeom>
          <a:noFill/>
          <a:ln/>
        </p:spPr>
        <p:txBody>
          <a:bodyPr wrap="square" lIns="0" tIns="0" rIns="0" bIns="0" rtlCol="0" anchor="t"/>
          <a:lstStyle/>
          <a:p>
            <a:pPr marL="0" indent="0">
              <a:lnSpc>
                <a:spcPct val="120000"/>
              </a:lnSpc>
              <a:buNone/>
            </a:pPr>
            <a:r>
              <a:rPr lang="en-US" sz="1600" dirty="0">
                <a:solidFill>
                  <a:srgbClr val="B9B4E0"/>
                </a:solidFill>
                <a:latin typeface="Calibri" pitchFamily="34" charset="0"/>
                <a:ea typeface="Calibri" pitchFamily="34" charset="-122"/>
                <a:cs typeface="Calibri" pitchFamily="34" charset="-120"/>
              </a:rPr>
              <a:t>The same loop, five real tools, one folder — and two failures on purpose.</a:t>
            </a:r>
            <a:endParaRPr lang="en-US" sz="16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04 · CODING AGENT</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3000" b="1" dirty="0">
                <a:solidFill>
                  <a:srgbClr val="141235"/>
                </a:solidFill>
                <a:latin typeface="Cambria" pitchFamily="34" charset="0"/>
                <a:ea typeface="Cambria" pitchFamily="34" charset="-122"/>
                <a:cs typeface="Cambria" pitchFamily="34" charset="-120"/>
              </a:rPr>
              <a:t>Five tools, and a wall around all of them</a:t>
            </a:r>
            <a:endParaRPr lang="en-US" sz="3000" dirty="0"/>
          </a:p>
        </p:txBody>
      </p:sp>
      <p:sp>
        <p:nvSpPr>
          <p:cNvPr id="4" name="Shape 2"/>
          <p:cNvSpPr/>
          <p:nvPr/>
        </p:nvSpPr>
        <p:spPr>
          <a:xfrm>
            <a:off x="566928" y="1920240"/>
            <a:ext cx="2050633" cy="1316736"/>
          </a:xfrm>
          <a:prstGeom prst="roundRect">
            <a:avLst>
              <a:gd name="adj" fmla="val 6944"/>
            </a:avLst>
          </a:prstGeom>
          <a:solidFill>
            <a:srgbClr val="FFFFFF"/>
          </a:solidFill>
          <a:ln w="12700">
            <a:solidFill>
              <a:srgbClr val="E3E4F2"/>
            </a:solidFill>
            <a:prstDash val="solid"/>
          </a:ln>
          <a:effectLst>
            <a:outerShdw blurRad="101600" dist="508" dir="5400000" algn="bl" rotWithShape="0">
              <a:srgbClr val="1B1A4A">
                <a:alpha val="7000"/>
              </a:srgbClr>
            </a:outerShdw>
          </a:effectLst>
        </p:spPr>
        <p:txBody>
          <a:bodyPr/>
          <a:lstStyle/>
          <a:p>
            <a:endParaRPr lang="en-US"/>
          </a:p>
        </p:txBody>
      </p:sp>
      <p:sp>
        <p:nvSpPr>
          <p:cNvPr id="5" name="Shape 3"/>
          <p:cNvSpPr/>
          <p:nvPr/>
        </p:nvSpPr>
        <p:spPr>
          <a:xfrm>
            <a:off x="1400221" y="2084832"/>
            <a:ext cx="384048" cy="384048"/>
          </a:xfrm>
          <a:prstGeom prst="ellipse">
            <a:avLst/>
          </a:prstGeom>
          <a:solidFill>
            <a:srgbClr val="5B4BE8"/>
          </a:solidFill>
          <a:ln w="12700">
            <a:solidFill>
              <a:srgbClr val="5B4BE8"/>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1496233" y="2180844"/>
            <a:ext cx="192024" cy="192024"/>
          </a:xfrm>
          <a:prstGeom prst="rect">
            <a:avLst/>
          </a:prstGeom>
        </p:spPr>
      </p:pic>
      <p:sp>
        <p:nvSpPr>
          <p:cNvPr id="7" name="Text 4"/>
          <p:cNvSpPr/>
          <p:nvPr/>
        </p:nvSpPr>
        <p:spPr>
          <a:xfrm>
            <a:off x="658368" y="2560320"/>
            <a:ext cx="1867753" cy="256032"/>
          </a:xfrm>
          <a:prstGeom prst="rect">
            <a:avLst/>
          </a:prstGeom>
          <a:noFill/>
          <a:ln/>
        </p:spPr>
        <p:txBody>
          <a:bodyPr wrap="square" lIns="0" tIns="0" rIns="0" bIns="0" rtlCol="0" anchor="ctr"/>
          <a:lstStyle/>
          <a:p>
            <a:pPr marL="0" indent="0" algn="ctr">
              <a:buNone/>
            </a:pPr>
            <a:r>
              <a:rPr lang="en-US" sz="1200" b="1" dirty="0">
                <a:solidFill>
                  <a:srgbClr val="141235"/>
                </a:solidFill>
                <a:latin typeface="Courier New" pitchFamily="34" charset="0"/>
                <a:ea typeface="Courier New" pitchFamily="34" charset="-122"/>
                <a:cs typeface="Courier New" pitchFamily="34" charset="-120"/>
              </a:rPr>
              <a:t>list_dir</a:t>
            </a:r>
            <a:endParaRPr lang="en-US" sz="1200" dirty="0"/>
          </a:p>
        </p:txBody>
      </p:sp>
      <p:sp>
        <p:nvSpPr>
          <p:cNvPr id="8" name="Text 5"/>
          <p:cNvSpPr/>
          <p:nvPr/>
        </p:nvSpPr>
        <p:spPr>
          <a:xfrm>
            <a:off x="658368" y="2834640"/>
            <a:ext cx="1867753" cy="274320"/>
          </a:xfrm>
          <a:prstGeom prst="rect">
            <a:avLst/>
          </a:prstGeom>
          <a:noFill/>
          <a:ln/>
        </p:spPr>
        <p:txBody>
          <a:bodyPr wrap="square" lIns="0" tIns="0" rIns="0" bIns="0" rtlCol="0" anchor="ctr"/>
          <a:lstStyle/>
          <a:p>
            <a:pPr marL="0" indent="0" algn="ctr">
              <a:buNone/>
            </a:pPr>
            <a:r>
              <a:rPr lang="en-US" sz="1000" dirty="0">
                <a:solidFill>
                  <a:srgbClr val="6E6B8A"/>
                </a:solidFill>
                <a:latin typeface="Calibri" pitchFamily="34" charset="0"/>
                <a:ea typeface="Calibri" pitchFamily="34" charset="-122"/>
                <a:cs typeface="Calibri" pitchFamily="34" charset="-120"/>
              </a:rPr>
              <a:t>See what exists</a:t>
            </a:r>
            <a:endParaRPr lang="en-US" sz="1000" dirty="0"/>
          </a:p>
        </p:txBody>
      </p:sp>
      <p:sp>
        <p:nvSpPr>
          <p:cNvPr id="9" name="Shape 6"/>
          <p:cNvSpPr/>
          <p:nvPr/>
        </p:nvSpPr>
        <p:spPr>
          <a:xfrm>
            <a:off x="2818729" y="1920240"/>
            <a:ext cx="2050633" cy="1316736"/>
          </a:xfrm>
          <a:prstGeom prst="roundRect">
            <a:avLst>
              <a:gd name="adj" fmla="val 6944"/>
            </a:avLst>
          </a:prstGeom>
          <a:solidFill>
            <a:srgbClr val="FFFFFF"/>
          </a:solidFill>
          <a:ln w="12700">
            <a:solidFill>
              <a:srgbClr val="E3E4F2"/>
            </a:solidFill>
            <a:prstDash val="solid"/>
          </a:ln>
          <a:effectLst>
            <a:outerShdw blurRad="101600" dist="508" dir="5400000" algn="bl" rotWithShape="0">
              <a:srgbClr val="1B1A4A">
                <a:alpha val="7000"/>
              </a:srgbClr>
            </a:outerShdw>
          </a:effectLst>
        </p:spPr>
        <p:txBody>
          <a:bodyPr/>
          <a:lstStyle/>
          <a:p>
            <a:endParaRPr lang="en-US"/>
          </a:p>
        </p:txBody>
      </p:sp>
      <p:sp>
        <p:nvSpPr>
          <p:cNvPr id="10" name="Shape 7"/>
          <p:cNvSpPr/>
          <p:nvPr/>
        </p:nvSpPr>
        <p:spPr>
          <a:xfrm>
            <a:off x="3652022" y="2084832"/>
            <a:ext cx="384048" cy="384048"/>
          </a:xfrm>
          <a:prstGeom prst="ellipse">
            <a:avLst/>
          </a:prstGeom>
          <a:solidFill>
            <a:srgbClr val="5B4BE8"/>
          </a:solidFill>
          <a:ln w="12700">
            <a:solidFill>
              <a:srgbClr val="5B4BE8"/>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3748034" y="2180844"/>
            <a:ext cx="192024" cy="192024"/>
          </a:xfrm>
          <a:prstGeom prst="rect">
            <a:avLst/>
          </a:prstGeom>
        </p:spPr>
      </p:pic>
      <p:sp>
        <p:nvSpPr>
          <p:cNvPr id="12" name="Text 8"/>
          <p:cNvSpPr/>
          <p:nvPr/>
        </p:nvSpPr>
        <p:spPr>
          <a:xfrm>
            <a:off x="2910169" y="2560320"/>
            <a:ext cx="1867753" cy="256032"/>
          </a:xfrm>
          <a:prstGeom prst="rect">
            <a:avLst/>
          </a:prstGeom>
          <a:noFill/>
          <a:ln/>
        </p:spPr>
        <p:txBody>
          <a:bodyPr wrap="square" lIns="0" tIns="0" rIns="0" bIns="0" rtlCol="0" anchor="ctr"/>
          <a:lstStyle/>
          <a:p>
            <a:pPr marL="0" indent="0" algn="ctr">
              <a:buNone/>
            </a:pPr>
            <a:r>
              <a:rPr lang="en-US" sz="1200" b="1" dirty="0">
                <a:solidFill>
                  <a:srgbClr val="141235"/>
                </a:solidFill>
                <a:latin typeface="Courier New" pitchFamily="34" charset="0"/>
                <a:ea typeface="Courier New" pitchFamily="34" charset="-122"/>
                <a:cs typeface="Courier New" pitchFamily="34" charset="-120"/>
              </a:rPr>
              <a:t>read_file</a:t>
            </a:r>
            <a:endParaRPr lang="en-US" sz="1200" dirty="0"/>
          </a:p>
        </p:txBody>
      </p:sp>
      <p:sp>
        <p:nvSpPr>
          <p:cNvPr id="13" name="Text 9"/>
          <p:cNvSpPr/>
          <p:nvPr/>
        </p:nvSpPr>
        <p:spPr>
          <a:xfrm>
            <a:off x="2910169" y="2834640"/>
            <a:ext cx="1867753" cy="274320"/>
          </a:xfrm>
          <a:prstGeom prst="rect">
            <a:avLst/>
          </a:prstGeom>
          <a:noFill/>
          <a:ln/>
        </p:spPr>
        <p:txBody>
          <a:bodyPr wrap="square" lIns="0" tIns="0" rIns="0" bIns="0" rtlCol="0" anchor="ctr"/>
          <a:lstStyle/>
          <a:p>
            <a:pPr marL="0" indent="0" algn="ctr">
              <a:buNone/>
            </a:pPr>
            <a:r>
              <a:rPr lang="en-US" sz="1000" dirty="0">
                <a:solidFill>
                  <a:srgbClr val="6E6B8A"/>
                </a:solidFill>
                <a:latin typeface="Calibri" pitchFamily="34" charset="0"/>
                <a:ea typeface="Calibri" pitchFamily="34" charset="-122"/>
                <a:cs typeface="Calibri" pitchFamily="34" charset="-120"/>
              </a:rPr>
              <a:t>Read one file</a:t>
            </a:r>
            <a:endParaRPr lang="en-US" sz="1000" dirty="0"/>
          </a:p>
        </p:txBody>
      </p:sp>
      <p:sp>
        <p:nvSpPr>
          <p:cNvPr id="14" name="Shape 10"/>
          <p:cNvSpPr/>
          <p:nvPr/>
        </p:nvSpPr>
        <p:spPr>
          <a:xfrm>
            <a:off x="5070531" y="1920240"/>
            <a:ext cx="2050633" cy="1316736"/>
          </a:xfrm>
          <a:prstGeom prst="roundRect">
            <a:avLst>
              <a:gd name="adj" fmla="val 6944"/>
            </a:avLst>
          </a:prstGeom>
          <a:solidFill>
            <a:srgbClr val="FFFFFF"/>
          </a:solidFill>
          <a:ln w="12700">
            <a:solidFill>
              <a:srgbClr val="E3E4F2"/>
            </a:solidFill>
            <a:prstDash val="solid"/>
          </a:ln>
          <a:effectLst>
            <a:outerShdw blurRad="101600" dist="508" dir="5400000" algn="bl" rotWithShape="0">
              <a:srgbClr val="1B1A4A">
                <a:alpha val="7000"/>
              </a:srgbClr>
            </a:outerShdw>
          </a:effectLst>
        </p:spPr>
        <p:txBody>
          <a:bodyPr/>
          <a:lstStyle/>
          <a:p>
            <a:endParaRPr lang="en-US"/>
          </a:p>
        </p:txBody>
      </p:sp>
      <p:sp>
        <p:nvSpPr>
          <p:cNvPr id="15" name="Shape 11"/>
          <p:cNvSpPr/>
          <p:nvPr/>
        </p:nvSpPr>
        <p:spPr>
          <a:xfrm>
            <a:off x="5903824" y="2084832"/>
            <a:ext cx="384048" cy="384048"/>
          </a:xfrm>
          <a:prstGeom prst="ellipse">
            <a:avLst/>
          </a:prstGeom>
          <a:solidFill>
            <a:srgbClr val="5B4BE8"/>
          </a:solidFill>
          <a:ln w="12700">
            <a:solidFill>
              <a:srgbClr val="5B4BE8"/>
            </a:solidFill>
            <a:prstDash val="solid"/>
          </a:ln>
        </p:spPr>
        <p:txBody>
          <a:bodyPr/>
          <a:lstStyle/>
          <a:p>
            <a:endParaRPr lang="en-US"/>
          </a:p>
        </p:txBody>
      </p:sp>
      <p:pic>
        <p:nvPicPr>
          <p:cNvPr id="16" name="Image 2" descr="preencoded.png"/>
          <p:cNvPicPr>
            <a:picLocks noChangeAspect="1"/>
          </p:cNvPicPr>
          <p:nvPr/>
        </p:nvPicPr>
        <p:blipFill>
          <a:blip r:embed="rId5"/>
          <a:stretch>
            <a:fillRect/>
          </a:stretch>
        </p:blipFill>
        <p:spPr>
          <a:xfrm>
            <a:off x="5999836" y="2180844"/>
            <a:ext cx="192024" cy="192024"/>
          </a:xfrm>
          <a:prstGeom prst="rect">
            <a:avLst/>
          </a:prstGeom>
        </p:spPr>
      </p:pic>
      <p:sp>
        <p:nvSpPr>
          <p:cNvPr id="17" name="Text 12"/>
          <p:cNvSpPr/>
          <p:nvPr/>
        </p:nvSpPr>
        <p:spPr>
          <a:xfrm>
            <a:off x="5161971" y="2560320"/>
            <a:ext cx="1867753" cy="256032"/>
          </a:xfrm>
          <a:prstGeom prst="rect">
            <a:avLst/>
          </a:prstGeom>
          <a:noFill/>
          <a:ln/>
        </p:spPr>
        <p:txBody>
          <a:bodyPr wrap="square" lIns="0" tIns="0" rIns="0" bIns="0" rtlCol="0" anchor="ctr"/>
          <a:lstStyle/>
          <a:p>
            <a:pPr marL="0" indent="0" algn="ctr">
              <a:buNone/>
            </a:pPr>
            <a:r>
              <a:rPr lang="en-US" sz="1200" b="1" dirty="0">
                <a:solidFill>
                  <a:srgbClr val="141235"/>
                </a:solidFill>
                <a:latin typeface="Courier New" pitchFamily="34" charset="0"/>
                <a:ea typeface="Courier New" pitchFamily="34" charset="-122"/>
                <a:cs typeface="Courier New" pitchFamily="34" charset="-120"/>
              </a:rPr>
              <a:t>grep</a:t>
            </a:r>
            <a:endParaRPr lang="en-US" sz="1200" dirty="0"/>
          </a:p>
        </p:txBody>
      </p:sp>
      <p:sp>
        <p:nvSpPr>
          <p:cNvPr id="18" name="Text 13"/>
          <p:cNvSpPr/>
          <p:nvPr/>
        </p:nvSpPr>
        <p:spPr>
          <a:xfrm>
            <a:off x="5161971" y="2834640"/>
            <a:ext cx="1867753" cy="274320"/>
          </a:xfrm>
          <a:prstGeom prst="rect">
            <a:avLst/>
          </a:prstGeom>
          <a:noFill/>
          <a:ln/>
        </p:spPr>
        <p:txBody>
          <a:bodyPr wrap="square" lIns="0" tIns="0" rIns="0" bIns="0" rtlCol="0" anchor="ctr"/>
          <a:lstStyle/>
          <a:p>
            <a:pPr marL="0" indent="0" algn="ctr">
              <a:buNone/>
            </a:pPr>
            <a:r>
              <a:rPr lang="en-US" sz="1000" dirty="0">
                <a:solidFill>
                  <a:srgbClr val="6E6B8A"/>
                </a:solidFill>
                <a:latin typeface="Calibri" pitchFamily="34" charset="0"/>
                <a:ea typeface="Calibri" pitchFamily="34" charset="-122"/>
                <a:cs typeface="Calibri" pitchFamily="34" charset="-120"/>
              </a:rPr>
              <a:t>Find the symbol</a:t>
            </a:r>
            <a:endParaRPr lang="en-US" sz="1000" dirty="0"/>
          </a:p>
        </p:txBody>
      </p:sp>
      <p:sp>
        <p:nvSpPr>
          <p:cNvPr id="19" name="Shape 14"/>
          <p:cNvSpPr/>
          <p:nvPr/>
        </p:nvSpPr>
        <p:spPr>
          <a:xfrm>
            <a:off x="7322332" y="1920240"/>
            <a:ext cx="2050633" cy="1316736"/>
          </a:xfrm>
          <a:prstGeom prst="roundRect">
            <a:avLst>
              <a:gd name="adj" fmla="val 6944"/>
            </a:avLst>
          </a:prstGeom>
          <a:solidFill>
            <a:srgbClr val="FFF4E0"/>
          </a:solidFill>
          <a:ln w="12700">
            <a:solidFill>
              <a:srgbClr val="F0D5A6"/>
            </a:solidFill>
            <a:prstDash val="solid"/>
          </a:ln>
          <a:effectLst>
            <a:outerShdw blurRad="101600" dist="508" dir="5400000" algn="bl" rotWithShape="0">
              <a:srgbClr val="1B1A4A">
                <a:alpha val="7000"/>
              </a:srgbClr>
            </a:outerShdw>
          </a:effectLst>
        </p:spPr>
        <p:txBody>
          <a:bodyPr/>
          <a:lstStyle/>
          <a:p>
            <a:endParaRPr lang="en-US"/>
          </a:p>
        </p:txBody>
      </p:sp>
      <p:sp>
        <p:nvSpPr>
          <p:cNvPr id="20" name="Shape 15"/>
          <p:cNvSpPr/>
          <p:nvPr/>
        </p:nvSpPr>
        <p:spPr>
          <a:xfrm>
            <a:off x="8155625" y="2084832"/>
            <a:ext cx="384048" cy="384048"/>
          </a:xfrm>
          <a:prstGeom prst="ellipse">
            <a:avLst/>
          </a:prstGeom>
          <a:solidFill>
            <a:srgbClr val="F5A524"/>
          </a:solidFill>
          <a:ln w="12700">
            <a:solidFill>
              <a:srgbClr val="F5A524"/>
            </a:solidFill>
            <a:prstDash val="solid"/>
          </a:ln>
        </p:spPr>
        <p:txBody>
          <a:bodyPr/>
          <a:lstStyle/>
          <a:p>
            <a:endParaRPr lang="en-US"/>
          </a:p>
        </p:txBody>
      </p:sp>
      <p:pic>
        <p:nvPicPr>
          <p:cNvPr id="21" name="Image 3" descr="preencoded.png"/>
          <p:cNvPicPr>
            <a:picLocks noChangeAspect="1"/>
          </p:cNvPicPr>
          <p:nvPr/>
        </p:nvPicPr>
        <p:blipFill>
          <a:blip r:embed="rId6"/>
          <a:stretch>
            <a:fillRect/>
          </a:stretch>
        </p:blipFill>
        <p:spPr>
          <a:xfrm>
            <a:off x="8251637" y="2180844"/>
            <a:ext cx="192024" cy="192024"/>
          </a:xfrm>
          <a:prstGeom prst="rect">
            <a:avLst/>
          </a:prstGeom>
        </p:spPr>
      </p:pic>
      <p:sp>
        <p:nvSpPr>
          <p:cNvPr id="22" name="Text 16"/>
          <p:cNvSpPr/>
          <p:nvPr/>
        </p:nvSpPr>
        <p:spPr>
          <a:xfrm>
            <a:off x="7413772" y="2560320"/>
            <a:ext cx="1867753" cy="256032"/>
          </a:xfrm>
          <a:prstGeom prst="rect">
            <a:avLst/>
          </a:prstGeom>
          <a:noFill/>
          <a:ln/>
        </p:spPr>
        <p:txBody>
          <a:bodyPr wrap="square" lIns="0" tIns="0" rIns="0" bIns="0" rtlCol="0" anchor="ctr"/>
          <a:lstStyle/>
          <a:p>
            <a:pPr marL="0" indent="0" algn="ctr">
              <a:buNone/>
            </a:pPr>
            <a:r>
              <a:rPr lang="en-US" sz="1200" b="1" dirty="0">
                <a:solidFill>
                  <a:srgbClr val="141235"/>
                </a:solidFill>
                <a:latin typeface="Courier New" pitchFamily="34" charset="0"/>
                <a:ea typeface="Courier New" pitchFamily="34" charset="-122"/>
                <a:cs typeface="Courier New" pitchFamily="34" charset="-120"/>
              </a:rPr>
              <a:t>write_file</a:t>
            </a:r>
            <a:endParaRPr lang="en-US" sz="1200" dirty="0"/>
          </a:p>
        </p:txBody>
      </p:sp>
      <p:sp>
        <p:nvSpPr>
          <p:cNvPr id="23" name="Text 17"/>
          <p:cNvSpPr/>
          <p:nvPr/>
        </p:nvSpPr>
        <p:spPr>
          <a:xfrm>
            <a:off x="7413772" y="2834640"/>
            <a:ext cx="1867753" cy="274320"/>
          </a:xfrm>
          <a:prstGeom prst="rect">
            <a:avLst/>
          </a:prstGeom>
          <a:noFill/>
          <a:ln/>
        </p:spPr>
        <p:txBody>
          <a:bodyPr wrap="square" lIns="0" tIns="0" rIns="0" bIns="0" rtlCol="0" anchor="ctr"/>
          <a:lstStyle/>
          <a:p>
            <a:pPr marL="0" indent="0" algn="ctr">
              <a:buNone/>
            </a:pPr>
            <a:r>
              <a:rPr lang="en-US" sz="1000" dirty="0">
                <a:solidFill>
                  <a:srgbClr val="6E6B8A"/>
                </a:solidFill>
                <a:latin typeface="Calibri" pitchFamily="34" charset="0"/>
                <a:ea typeface="Calibri" pitchFamily="34" charset="-122"/>
                <a:cs typeface="Calibri" pitchFamily="34" charset="-120"/>
              </a:rPr>
              <a:t>Change one file</a:t>
            </a:r>
            <a:endParaRPr lang="en-US" sz="1000" dirty="0"/>
          </a:p>
        </p:txBody>
      </p:sp>
      <p:sp>
        <p:nvSpPr>
          <p:cNvPr id="24" name="Shape 18"/>
          <p:cNvSpPr/>
          <p:nvPr/>
        </p:nvSpPr>
        <p:spPr>
          <a:xfrm>
            <a:off x="9574134" y="1920240"/>
            <a:ext cx="2050633" cy="1316736"/>
          </a:xfrm>
          <a:prstGeom prst="roundRect">
            <a:avLst>
              <a:gd name="adj" fmla="val 6944"/>
            </a:avLst>
          </a:prstGeom>
          <a:solidFill>
            <a:srgbClr val="FFF4E0"/>
          </a:solidFill>
          <a:ln w="12700">
            <a:solidFill>
              <a:srgbClr val="F0D5A6"/>
            </a:solidFill>
            <a:prstDash val="solid"/>
          </a:ln>
          <a:effectLst>
            <a:outerShdw blurRad="101600" dist="508" dir="5400000" algn="bl" rotWithShape="0">
              <a:srgbClr val="1B1A4A">
                <a:alpha val="7000"/>
              </a:srgbClr>
            </a:outerShdw>
          </a:effectLst>
        </p:spPr>
        <p:txBody>
          <a:bodyPr/>
          <a:lstStyle/>
          <a:p>
            <a:endParaRPr lang="en-US"/>
          </a:p>
        </p:txBody>
      </p:sp>
      <p:sp>
        <p:nvSpPr>
          <p:cNvPr id="25" name="Shape 19"/>
          <p:cNvSpPr/>
          <p:nvPr/>
        </p:nvSpPr>
        <p:spPr>
          <a:xfrm>
            <a:off x="10407426" y="2084832"/>
            <a:ext cx="384048" cy="384048"/>
          </a:xfrm>
          <a:prstGeom prst="ellipse">
            <a:avLst/>
          </a:prstGeom>
          <a:solidFill>
            <a:srgbClr val="F5A524"/>
          </a:solidFill>
          <a:ln w="12700">
            <a:solidFill>
              <a:srgbClr val="F5A524"/>
            </a:solidFill>
            <a:prstDash val="solid"/>
          </a:ln>
        </p:spPr>
        <p:txBody>
          <a:bodyPr/>
          <a:lstStyle/>
          <a:p>
            <a:endParaRPr lang="en-US"/>
          </a:p>
        </p:txBody>
      </p:sp>
      <p:pic>
        <p:nvPicPr>
          <p:cNvPr id="26" name="Image 4" descr="preencoded.png"/>
          <p:cNvPicPr>
            <a:picLocks noChangeAspect="1"/>
          </p:cNvPicPr>
          <p:nvPr/>
        </p:nvPicPr>
        <p:blipFill>
          <a:blip r:embed="rId7"/>
          <a:stretch>
            <a:fillRect/>
          </a:stretch>
        </p:blipFill>
        <p:spPr>
          <a:xfrm>
            <a:off x="10503438" y="2180844"/>
            <a:ext cx="192024" cy="192024"/>
          </a:xfrm>
          <a:prstGeom prst="rect">
            <a:avLst/>
          </a:prstGeom>
        </p:spPr>
      </p:pic>
      <p:sp>
        <p:nvSpPr>
          <p:cNvPr id="27" name="Text 20"/>
          <p:cNvSpPr/>
          <p:nvPr/>
        </p:nvSpPr>
        <p:spPr>
          <a:xfrm>
            <a:off x="9665574" y="2560320"/>
            <a:ext cx="1867753" cy="256032"/>
          </a:xfrm>
          <a:prstGeom prst="rect">
            <a:avLst/>
          </a:prstGeom>
          <a:noFill/>
          <a:ln/>
        </p:spPr>
        <p:txBody>
          <a:bodyPr wrap="square" lIns="0" tIns="0" rIns="0" bIns="0" rtlCol="0" anchor="ctr"/>
          <a:lstStyle/>
          <a:p>
            <a:pPr marL="0" indent="0" algn="ctr">
              <a:buNone/>
            </a:pPr>
            <a:r>
              <a:rPr lang="en-US" sz="1200" b="1" dirty="0">
                <a:solidFill>
                  <a:srgbClr val="141235"/>
                </a:solidFill>
                <a:latin typeface="Courier New" pitchFamily="34" charset="0"/>
                <a:ea typeface="Courier New" pitchFamily="34" charset="-122"/>
                <a:cs typeface="Courier New" pitchFamily="34" charset="-120"/>
              </a:rPr>
              <a:t>run_tests</a:t>
            </a:r>
            <a:endParaRPr lang="en-US" sz="1200" dirty="0"/>
          </a:p>
        </p:txBody>
      </p:sp>
      <p:sp>
        <p:nvSpPr>
          <p:cNvPr id="28" name="Text 21"/>
          <p:cNvSpPr/>
          <p:nvPr/>
        </p:nvSpPr>
        <p:spPr>
          <a:xfrm>
            <a:off x="9665574" y="2834640"/>
            <a:ext cx="1867753" cy="274320"/>
          </a:xfrm>
          <a:prstGeom prst="rect">
            <a:avLst/>
          </a:prstGeom>
          <a:noFill/>
          <a:ln/>
        </p:spPr>
        <p:txBody>
          <a:bodyPr wrap="square" lIns="0" tIns="0" rIns="0" bIns="0" rtlCol="0" anchor="ctr"/>
          <a:lstStyle/>
          <a:p>
            <a:pPr marL="0" indent="0" algn="ctr">
              <a:buNone/>
            </a:pPr>
            <a:r>
              <a:rPr lang="en-US" sz="1000" dirty="0">
                <a:solidFill>
                  <a:srgbClr val="6E6B8A"/>
                </a:solidFill>
                <a:latin typeface="Calibri" pitchFamily="34" charset="0"/>
                <a:ea typeface="Calibri" pitchFamily="34" charset="-122"/>
                <a:cs typeface="Calibri" pitchFamily="34" charset="-120"/>
              </a:rPr>
              <a:t>Find out if it worked</a:t>
            </a:r>
            <a:endParaRPr lang="en-US" sz="1000" dirty="0"/>
          </a:p>
        </p:txBody>
      </p:sp>
      <p:sp>
        <p:nvSpPr>
          <p:cNvPr id="29" name="Text 22"/>
          <p:cNvSpPr/>
          <p:nvPr/>
        </p:nvSpPr>
        <p:spPr>
          <a:xfrm>
            <a:off x="566928" y="3310128"/>
            <a:ext cx="6554236" cy="219456"/>
          </a:xfrm>
          <a:prstGeom prst="rect">
            <a:avLst/>
          </a:prstGeom>
          <a:noFill/>
          <a:ln/>
        </p:spPr>
        <p:txBody>
          <a:bodyPr wrap="square" lIns="0" tIns="0" rIns="0" bIns="0" rtlCol="0" anchor="ctr"/>
          <a:lstStyle/>
          <a:p>
            <a:pPr marL="0" indent="0" algn="ctr">
              <a:buNone/>
            </a:pPr>
            <a:r>
              <a:rPr lang="en-US" sz="900" b="1" kern="0" spc="160" dirty="0">
                <a:solidFill>
                  <a:srgbClr val="5B4BE8"/>
                </a:solidFill>
                <a:latin typeface="Calibri" pitchFamily="34" charset="0"/>
                <a:ea typeface="Calibri" pitchFamily="34" charset="-122"/>
                <a:cs typeface="Calibri" pitchFamily="34" charset="-120"/>
              </a:rPr>
              <a:t>READ ONLY</a:t>
            </a:r>
            <a:endParaRPr lang="en-US" sz="900" dirty="0"/>
          </a:p>
        </p:txBody>
      </p:sp>
      <p:sp>
        <p:nvSpPr>
          <p:cNvPr id="30" name="Text 23"/>
          <p:cNvSpPr/>
          <p:nvPr/>
        </p:nvSpPr>
        <p:spPr>
          <a:xfrm>
            <a:off x="7322332" y="3310128"/>
            <a:ext cx="4302435" cy="219456"/>
          </a:xfrm>
          <a:prstGeom prst="rect">
            <a:avLst/>
          </a:prstGeom>
          <a:noFill/>
          <a:ln/>
        </p:spPr>
        <p:txBody>
          <a:bodyPr wrap="square" lIns="0" tIns="0" rIns="0" bIns="0" rtlCol="0" anchor="ctr"/>
          <a:lstStyle/>
          <a:p>
            <a:pPr marL="0" indent="0" algn="ctr">
              <a:buNone/>
            </a:pPr>
            <a:r>
              <a:rPr lang="en-US" sz="900" b="1" kern="0" spc="160" dirty="0">
                <a:solidFill>
                  <a:srgbClr val="E08700"/>
                </a:solidFill>
                <a:latin typeface="Calibri" pitchFamily="34" charset="0"/>
                <a:ea typeface="Calibri" pitchFamily="34" charset="-122"/>
                <a:cs typeface="Calibri" pitchFamily="34" charset="-120"/>
              </a:rPr>
              <a:t>CAN CHANGE THINGS</a:t>
            </a:r>
            <a:endParaRPr lang="en-US" sz="900" dirty="0"/>
          </a:p>
        </p:txBody>
      </p:sp>
      <p:sp>
        <p:nvSpPr>
          <p:cNvPr id="31" name="Shape 24"/>
          <p:cNvSpPr/>
          <p:nvPr/>
        </p:nvSpPr>
        <p:spPr>
          <a:xfrm>
            <a:off x="566928" y="3730752"/>
            <a:ext cx="11057839" cy="1371600"/>
          </a:xfrm>
          <a:prstGeom prst="roundRect">
            <a:avLst>
              <a:gd name="adj" fmla="val 6667"/>
            </a:avLst>
          </a:prstGeom>
          <a:solidFill>
            <a:srgbClr val="F7F8FD"/>
          </a:solidFill>
          <a:ln w="20320">
            <a:solidFill>
              <a:srgbClr val="5B4BE8"/>
            </a:solidFill>
            <a:prstDash val="dash"/>
          </a:ln>
        </p:spPr>
        <p:txBody>
          <a:bodyPr/>
          <a:lstStyle/>
          <a:p>
            <a:endParaRPr lang="en-US"/>
          </a:p>
        </p:txBody>
      </p:sp>
      <p:sp>
        <p:nvSpPr>
          <p:cNvPr id="32" name="Shape 25"/>
          <p:cNvSpPr/>
          <p:nvPr/>
        </p:nvSpPr>
        <p:spPr>
          <a:xfrm>
            <a:off x="877824" y="4041648"/>
            <a:ext cx="457200" cy="457200"/>
          </a:xfrm>
          <a:prstGeom prst="ellipse">
            <a:avLst/>
          </a:prstGeom>
          <a:solidFill>
            <a:srgbClr val="5B4BE8"/>
          </a:solidFill>
          <a:ln w="12700">
            <a:solidFill>
              <a:srgbClr val="5B4BE8"/>
            </a:solidFill>
            <a:prstDash val="solid"/>
          </a:ln>
        </p:spPr>
        <p:txBody>
          <a:bodyPr/>
          <a:lstStyle/>
          <a:p>
            <a:endParaRPr lang="en-US"/>
          </a:p>
        </p:txBody>
      </p:sp>
      <p:pic>
        <p:nvPicPr>
          <p:cNvPr id="33" name="Image 5" descr="preencoded.png"/>
          <p:cNvPicPr>
            <a:picLocks noChangeAspect="1"/>
          </p:cNvPicPr>
          <p:nvPr/>
        </p:nvPicPr>
        <p:blipFill>
          <a:blip r:embed="rId8"/>
          <a:stretch>
            <a:fillRect/>
          </a:stretch>
        </p:blipFill>
        <p:spPr>
          <a:xfrm>
            <a:off x="992124" y="4155948"/>
            <a:ext cx="228600" cy="228600"/>
          </a:xfrm>
          <a:prstGeom prst="rect">
            <a:avLst/>
          </a:prstGeom>
        </p:spPr>
      </p:pic>
      <p:sp>
        <p:nvSpPr>
          <p:cNvPr id="34" name="Text 26"/>
          <p:cNvSpPr/>
          <p:nvPr/>
        </p:nvSpPr>
        <p:spPr>
          <a:xfrm>
            <a:off x="1499616" y="3877056"/>
            <a:ext cx="9777679" cy="1097280"/>
          </a:xfrm>
          <a:prstGeom prst="rect">
            <a:avLst/>
          </a:prstGeom>
          <a:noFill/>
          <a:ln/>
        </p:spPr>
        <p:txBody>
          <a:bodyPr wrap="square" lIns="0" tIns="0" rIns="0" bIns="0" rtlCol="0" anchor="ctr"/>
          <a:lstStyle/>
          <a:p>
            <a:pPr marL="0" indent="0">
              <a:lnSpc>
                <a:spcPct val="114000"/>
              </a:lnSpc>
              <a:buNone/>
            </a:pPr>
            <a:r>
              <a:rPr lang="en-US" sz="1450" b="1" dirty="0">
                <a:solidFill>
                  <a:srgbClr val="141235"/>
                </a:solidFill>
                <a:latin typeface="Calibri" pitchFamily="34" charset="0"/>
                <a:ea typeface="Calibri" pitchFamily="34" charset="-122"/>
                <a:cs typeface="Calibri" pitchFamily="34" charset="-120"/>
              </a:rPr>
              <a:t>All five tools resolve inside one folder. Nothing else on the machine is reachable.</a:t>
            </a:r>
            <a:endParaRPr lang="en-US" sz="1450" dirty="0"/>
          </a:p>
          <a:p>
            <a:pPr marL="0" indent="0">
              <a:lnSpc>
                <a:spcPct val="114000"/>
              </a:lnSpc>
              <a:buNone/>
            </a:pPr>
            <a:r>
              <a:rPr lang="en-US" sz="1150" dirty="0">
                <a:solidFill>
                  <a:srgbClr val="6E6B8A"/>
                </a:solidFill>
                <a:latin typeface="Calibri" pitchFamily="34" charset="0"/>
                <a:ea typeface="Calibri" pitchFamily="34" charset="-122"/>
                <a:cs typeface="Calibri" pitchFamily="34" charset="-120"/>
              </a:rPr>
              <a:t>The jail is not a detail of this lab. It is the thing that makes an agent with write access acceptable at all — and every level of it comes back in module 10.</a:t>
            </a:r>
            <a:endParaRPr lang="en-US" sz="1450" dirty="0"/>
          </a:p>
        </p:txBody>
      </p:sp>
      <p:sp>
        <p:nvSpPr>
          <p:cNvPr id="35" name="Shape 27"/>
          <p:cNvSpPr/>
          <p:nvPr/>
        </p:nvSpPr>
        <p:spPr>
          <a:xfrm>
            <a:off x="566928" y="5230368"/>
            <a:ext cx="11057839" cy="786384"/>
          </a:xfrm>
          <a:prstGeom prst="roundRect">
            <a:avLst>
              <a:gd name="adj" fmla="val 10465"/>
            </a:avLst>
          </a:prstGeom>
          <a:solidFill>
            <a:srgbClr val="FFF4E0"/>
          </a:solidFill>
          <a:ln w="12700">
            <a:solidFill>
              <a:srgbClr val="F3DCB0"/>
            </a:solidFill>
            <a:prstDash val="solid"/>
          </a:ln>
        </p:spPr>
        <p:txBody>
          <a:bodyPr/>
          <a:lstStyle/>
          <a:p>
            <a:endParaRPr lang="en-US"/>
          </a:p>
        </p:txBody>
      </p:sp>
      <p:sp>
        <p:nvSpPr>
          <p:cNvPr id="36" name="Shape 28"/>
          <p:cNvSpPr/>
          <p:nvPr/>
        </p:nvSpPr>
        <p:spPr>
          <a:xfrm>
            <a:off x="841248" y="5431536"/>
            <a:ext cx="384048" cy="384048"/>
          </a:xfrm>
          <a:prstGeom prst="ellipse">
            <a:avLst/>
          </a:prstGeom>
          <a:solidFill>
            <a:srgbClr val="F5A524"/>
          </a:solidFill>
          <a:ln w="12700">
            <a:solidFill>
              <a:srgbClr val="F5A524"/>
            </a:solidFill>
            <a:prstDash val="solid"/>
          </a:ln>
        </p:spPr>
        <p:txBody>
          <a:bodyPr/>
          <a:lstStyle/>
          <a:p>
            <a:endParaRPr lang="en-US"/>
          </a:p>
        </p:txBody>
      </p:sp>
      <p:pic>
        <p:nvPicPr>
          <p:cNvPr id="37" name="Image 6" descr="preencoded.png"/>
          <p:cNvPicPr>
            <a:picLocks noChangeAspect="1"/>
          </p:cNvPicPr>
          <p:nvPr/>
        </p:nvPicPr>
        <p:blipFill>
          <a:blip r:embed="rId9"/>
          <a:stretch>
            <a:fillRect/>
          </a:stretch>
        </p:blipFill>
        <p:spPr>
          <a:xfrm>
            <a:off x="937260" y="5527548"/>
            <a:ext cx="192024" cy="192024"/>
          </a:xfrm>
          <a:prstGeom prst="rect">
            <a:avLst/>
          </a:prstGeom>
        </p:spPr>
      </p:pic>
      <p:sp>
        <p:nvSpPr>
          <p:cNvPr id="38" name="Text 29"/>
          <p:cNvSpPr/>
          <p:nvPr/>
        </p:nvSpPr>
        <p:spPr>
          <a:xfrm>
            <a:off x="1371600" y="5285232"/>
            <a:ext cx="9960559" cy="676656"/>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Same loop as this morning. The only new idea is that two of the five tools can change something — and that is exactly where the rules start to matter.</a:t>
            </a:r>
            <a:endParaRPr lang="en-US" sz="10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04 · CODING AGENT</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3000" b="1" dirty="0">
                <a:solidFill>
                  <a:srgbClr val="141235"/>
                </a:solidFill>
                <a:latin typeface="Cambria" pitchFamily="34" charset="0"/>
                <a:ea typeface="Cambria" pitchFamily="34" charset="-122"/>
                <a:cs typeface="Cambria" pitchFamily="34" charset="-120"/>
              </a:rPr>
              <a:t>Two ways this fails, both on purpose</a:t>
            </a:r>
            <a:endParaRPr lang="en-US" sz="3000" dirty="0"/>
          </a:p>
        </p:txBody>
      </p:sp>
      <p:sp>
        <p:nvSpPr>
          <p:cNvPr id="4" name="Shape 2"/>
          <p:cNvSpPr/>
          <p:nvPr/>
        </p:nvSpPr>
        <p:spPr>
          <a:xfrm>
            <a:off x="566928" y="2164110"/>
            <a:ext cx="5410048" cy="1871411"/>
          </a:xfrm>
          <a:prstGeom prst="roundRect">
            <a:avLst>
              <a:gd name="adj" fmla="val 4398"/>
            </a:avLst>
          </a:prstGeom>
          <a:solidFill>
            <a:srgbClr val="FDECEC"/>
          </a:solidFill>
          <a:ln w="12700">
            <a:solidFill>
              <a:srgbClr val="F1C9C9"/>
            </a:solidFill>
            <a:prstDash val="solid"/>
          </a:ln>
          <a:effectLst>
            <a:outerShdw blurRad="114300" dist="572" dir="5400000" algn="bl" rotWithShape="0">
              <a:srgbClr val="1B1A4A">
                <a:alpha val="7000"/>
              </a:srgbClr>
            </a:outerShdw>
          </a:effectLst>
        </p:spPr>
        <p:txBody>
          <a:bodyPr/>
          <a:lstStyle/>
          <a:p>
            <a:endParaRPr lang="en-US"/>
          </a:p>
        </p:txBody>
      </p:sp>
      <p:sp>
        <p:nvSpPr>
          <p:cNvPr id="5" name="Shape 3"/>
          <p:cNvSpPr/>
          <p:nvPr/>
        </p:nvSpPr>
        <p:spPr>
          <a:xfrm>
            <a:off x="804672" y="2383566"/>
            <a:ext cx="365760" cy="365760"/>
          </a:xfrm>
          <a:prstGeom prst="ellipse">
            <a:avLst/>
          </a:prstGeom>
          <a:solidFill>
            <a:srgbClr val="D93A3F"/>
          </a:solidFill>
          <a:ln w="12700">
            <a:solidFill>
              <a:srgbClr val="D93A3F"/>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896112" y="2475006"/>
            <a:ext cx="182880" cy="182880"/>
          </a:xfrm>
          <a:prstGeom prst="rect">
            <a:avLst/>
          </a:prstGeom>
        </p:spPr>
      </p:pic>
      <p:sp>
        <p:nvSpPr>
          <p:cNvPr id="7" name="Text 4"/>
          <p:cNvSpPr/>
          <p:nvPr/>
        </p:nvSpPr>
        <p:spPr>
          <a:xfrm>
            <a:off x="1298448" y="2374422"/>
            <a:ext cx="4440784" cy="182880"/>
          </a:xfrm>
          <a:prstGeom prst="rect">
            <a:avLst/>
          </a:prstGeom>
          <a:noFill/>
          <a:ln/>
        </p:spPr>
        <p:txBody>
          <a:bodyPr wrap="square" lIns="0" tIns="0" rIns="0" bIns="0" rtlCol="0" anchor="ctr"/>
          <a:lstStyle/>
          <a:p>
            <a:pPr marL="0" indent="0">
              <a:buNone/>
            </a:pPr>
            <a:r>
              <a:rPr lang="en-US" sz="850" b="1" kern="0" spc="160" dirty="0">
                <a:solidFill>
                  <a:srgbClr val="D93A3F"/>
                </a:solidFill>
                <a:latin typeface="Calibri" pitchFamily="34" charset="0"/>
                <a:ea typeface="Calibri" pitchFamily="34" charset="-122"/>
                <a:cs typeface="Calibri" pitchFamily="34" charset="-120"/>
              </a:rPr>
              <a:t>FAILURE A</a:t>
            </a:r>
            <a:endParaRPr lang="en-US" sz="850" dirty="0"/>
          </a:p>
        </p:txBody>
      </p:sp>
      <p:sp>
        <p:nvSpPr>
          <p:cNvPr id="8" name="Text 5"/>
          <p:cNvSpPr/>
          <p:nvPr/>
        </p:nvSpPr>
        <p:spPr>
          <a:xfrm>
            <a:off x="1298448" y="2593878"/>
            <a:ext cx="4440784" cy="362651"/>
          </a:xfrm>
          <a:prstGeom prst="rect">
            <a:avLst/>
          </a:prstGeom>
          <a:noFill/>
          <a:ln/>
        </p:spPr>
        <p:txBody>
          <a:bodyPr wrap="square" lIns="0" tIns="0" rIns="0" bIns="0" rtlCol="0" anchor="t"/>
          <a:lstStyle/>
          <a:p>
            <a:pPr marL="0" indent="0">
              <a:lnSpc>
                <a:spcPct val="105000"/>
              </a:lnSpc>
              <a:buNone/>
            </a:pPr>
            <a:r>
              <a:rPr lang="en-US" sz="1600" b="1" dirty="0">
                <a:solidFill>
                  <a:srgbClr val="141235"/>
                </a:solidFill>
                <a:latin typeface="Calibri" pitchFamily="34" charset="0"/>
                <a:ea typeface="Calibri" pitchFamily="34" charset="-122"/>
                <a:cs typeface="Calibri" pitchFamily="34" charset="-120"/>
              </a:rPr>
              <a:t>Remove the turn cap</a:t>
            </a:r>
            <a:endParaRPr lang="en-US" sz="1600" dirty="0"/>
          </a:p>
        </p:txBody>
      </p:sp>
      <p:sp>
        <p:nvSpPr>
          <p:cNvPr id="9" name="Text 6"/>
          <p:cNvSpPr/>
          <p:nvPr/>
        </p:nvSpPr>
        <p:spPr>
          <a:xfrm>
            <a:off x="1298448" y="2965674"/>
            <a:ext cx="4440784" cy="886968"/>
          </a:xfrm>
          <a:prstGeom prst="rect">
            <a:avLst/>
          </a:prstGeom>
          <a:noFill/>
          <a:ln/>
        </p:spPr>
        <p:txBody>
          <a:bodyPr wrap="square" lIns="0" tIns="0" rIns="0" bIns="0" rtlCol="0" anchor="t"/>
          <a:lstStyle/>
          <a:p>
            <a:pPr marL="0" indent="0">
              <a:lnSpc>
                <a:spcPct val="113000"/>
              </a:lnSpc>
              <a:buNone/>
            </a:pPr>
            <a:r>
              <a:rPr lang="en-US" sz="1250" dirty="0">
                <a:solidFill>
                  <a:srgbClr val="6E6B8A"/>
                </a:solidFill>
                <a:latin typeface="Calibri" pitchFamily="34" charset="0"/>
                <a:ea typeface="Calibri" pitchFamily="34" charset="-122"/>
                <a:cs typeface="Calibri" pitchFamily="34" charset="-120"/>
              </a:rPr>
              <a:t>Watch it thrash: read, grep, read the same file again, propose the same patch. It is not confused about the code — it has no reason to stop and nothing telling it that it already tried this.</a:t>
            </a:r>
            <a:endParaRPr lang="en-US" sz="1250" dirty="0"/>
          </a:p>
        </p:txBody>
      </p:sp>
      <p:sp>
        <p:nvSpPr>
          <p:cNvPr id="10" name="Shape 7"/>
          <p:cNvSpPr/>
          <p:nvPr/>
        </p:nvSpPr>
        <p:spPr>
          <a:xfrm>
            <a:off x="6214720" y="2164110"/>
            <a:ext cx="5410048" cy="1871411"/>
          </a:xfrm>
          <a:prstGeom prst="roundRect">
            <a:avLst>
              <a:gd name="adj" fmla="val 4398"/>
            </a:avLst>
          </a:prstGeom>
          <a:solidFill>
            <a:srgbClr val="FDECEC"/>
          </a:solidFill>
          <a:ln w="12700">
            <a:solidFill>
              <a:srgbClr val="F1C9C9"/>
            </a:solidFill>
            <a:prstDash val="solid"/>
          </a:ln>
          <a:effectLst>
            <a:outerShdw blurRad="114300" dist="572" dir="5400000" algn="bl" rotWithShape="0">
              <a:srgbClr val="1B1A4A">
                <a:alpha val="7000"/>
              </a:srgbClr>
            </a:outerShdw>
          </a:effectLst>
        </p:spPr>
        <p:txBody>
          <a:bodyPr/>
          <a:lstStyle/>
          <a:p>
            <a:endParaRPr lang="en-US"/>
          </a:p>
        </p:txBody>
      </p:sp>
      <p:sp>
        <p:nvSpPr>
          <p:cNvPr id="11" name="Shape 8"/>
          <p:cNvSpPr/>
          <p:nvPr/>
        </p:nvSpPr>
        <p:spPr>
          <a:xfrm>
            <a:off x="6452464" y="2383566"/>
            <a:ext cx="365760" cy="365760"/>
          </a:xfrm>
          <a:prstGeom prst="ellipse">
            <a:avLst/>
          </a:prstGeom>
          <a:solidFill>
            <a:srgbClr val="D93A3F"/>
          </a:solidFill>
          <a:ln w="12700">
            <a:solidFill>
              <a:srgbClr val="D93A3F"/>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6543904" y="2475006"/>
            <a:ext cx="182880" cy="182880"/>
          </a:xfrm>
          <a:prstGeom prst="rect">
            <a:avLst/>
          </a:prstGeom>
        </p:spPr>
      </p:pic>
      <p:sp>
        <p:nvSpPr>
          <p:cNvPr id="13" name="Text 9"/>
          <p:cNvSpPr/>
          <p:nvPr/>
        </p:nvSpPr>
        <p:spPr>
          <a:xfrm>
            <a:off x="6946240" y="2374422"/>
            <a:ext cx="4440784" cy="182880"/>
          </a:xfrm>
          <a:prstGeom prst="rect">
            <a:avLst/>
          </a:prstGeom>
          <a:noFill/>
          <a:ln/>
        </p:spPr>
        <p:txBody>
          <a:bodyPr wrap="square" lIns="0" tIns="0" rIns="0" bIns="0" rtlCol="0" anchor="ctr"/>
          <a:lstStyle/>
          <a:p>
            <a:pPr marL="0" indent="0">
              <a:buNone/>
            </a:pPr>
            <a:r>
              <a:rPr lang="en-US" sz="850" b="1" kern="0" spc="160" dirty="0">
                <a:solidFill>
                  <a:srgbClr val="D93A3F"/>
                </a:solidFill>
                <a:latin typeface="Calibri" pitchFamily="34" charset="0"/>
                <a:ea typeface="Calibri" pitchFamily="34" charset="-122"/>
                <a:cs typeface="Calibri" pitchFamily="34" charset="-120"/>
              </a:rPr>
              <a:t>FAILURE B</a:t>
            </a:r>
            <a:endParaRPr lang="en-US" sz="850" dirty="0"/>
          </a:p>
        </p:txBody>
      </p:sp>
      <p:sp>
        <p:nvSpPr>
          <p:cNvPr id="14" name="Text 10"/>
          <p:cNvSpPr/>
          <p:nvPr/>
        </p:nvSpPr>
        <p:spPr>
          <a:xfrm>
            <a:off x="6946240" y="2593878"/>
            <a:ext cx="4440784" cy="362651"/>
          </a:xfrm>
          <a:prstGeom prst="rect">
            <a:avLst/>
          </a:prstGeom>
          <a:noFill/>
          <a:ln/>
        </p:spPr>
        <p:txBody>
          <a:bodyPr wrap="square" lIns="0" tIns="0" rIns="0" bIns="0" rtlCol="0" anchor="t"/>
          <a:lstStyle/>
          <a:p>
            <a:pPr marL="0" indent="0">
              <a:lnSpc>
                <a:spcPct val="105000"/>
              </a:lnSpc>
              <a:buNone/>
            </a:pPr>
            <a:r>
              <a:rPr lang="en-US" sz="1600" b="1" dirty="0">
                <a:solidFill>
                  <a:srgbClr val="141235"/>
                </a:solidFill>
                <a:latin typeface="Calibri" pitchFamily="34" charset="0"/>
                <a:ea typeface="Calibri" pitchFamily="34" charset="-122"/>
                <a:cs typeface="Calibri" pitchFamily="34" charset="-120"/>
              </a:rPr>
              <a:t>Give two tools similar descriptions</a:t>
            </a:r>
            <a:endParaRPr lang="en-US" sz="1600" dirty="0"/>
          </a:p>
        </p:txBody>
      </p:sp>
      <p:sp>
        <p:nvSpPr>
          <p:cNvPr id="15" name="Text 11"/>
          <p:cNvSpPr/>
          <p:nvPr/>
        </p:nvSpPr>
        <p:spPr>
          <a:xfrm>
            <a:off x="6946240" y="2965674"/>
            <a:ext cx="4440784" cy="886968"/>
          </a:xfrm>
          <a:prstGeom prst="rect">
            <a:avLst/>
          </a:prstGeom>
          <a:noFill/>
          <a:ln/>
        </p:spPr>
        <p:txBody>
          <a:bodyPr wrap="square" lIns="0" tIns="0" rIns="0" bIns="0" rtlCol="0" anchor="t"/>
          <a:lstStyle/>
          <a:p>
            <a:pPr marL="0" indent="0">
              <a:lnSpc>
                <a:spcPct val="113000"/>
              </a:lnSpc>
              <a:buNone/>
            </a:pPr>
            <a:r>
              <a:rPr lang="en-US" sz="1250" dirty="0">
                <a:solidFill>
                  <a:srgbClr val="6E6B8A"/>
                </a:solidFill>
                <a:latin typeface="Calibri" pitchFamily="34" charset="0"/>
                <a:ea typeface="Calibri" pitchFamily="34" charset="-122"/>
                <a:cs typeface="Calibri" pitchFamily="34" charset="-120"/>
              </a:rPr>
              <a:t>The agent reaches for the wrong one, confidently. The description IS the interface. Vague or overlapping descriptions are the single most common cause of an agent 'being stupid'.</a:t>
            </a:r>
            <a:endParaRPr lang="en-US" sz="1250" dirty="0"/>
          </a:p>
        </p:txBody>
      </p:sp>
      <p:sp>
        <p:nvSpPr>
          <p:cNvPr id="16" name="Shape 12"/>
          <p:cNvSpPr/>
          <p:nvPr/>
        </p:nvSpPr>
        <p:spPr>
          <a:xfrm>
            <a:off x="566928" y="4480560"/>
            <a:ext cx="5410048" cy="859536"/>
          </a:xfrm>
          <a:prstGeom prst="roundRect">
            <a:avLst>
              <a:gd name="adj" fmla="val 9574"/>
            </a:avLst>
          </a:prstGeom>
          <a:solidFill>
            <a:srgbClr val="E7F7F1"/>
          </a:solidFill>
          <a:ln w="12700">
            <a:solidFill>
              <a:srgbClr val="C2E6D7"/>
            </a:solidFill>
            <a:prstDash val="solid"/>
          </a:ln>
          <a:effectLst>
            <a:outerShdw blurRad="114300" dist="572" dir="5400000" algn="bl" rotWithShape="0">
              <a:srgbClr val="1B1A4A">
                <a:alpha val="7000"/>
              </a:srgbClr>
            </a:outerShdw>
          </a:effectLst>
        </p:spPr>
        <p:txBody>
          <a:bodyPr/>
          <a:lstStyle/>
          <a:p>
            <a:endParaRPr lang="en-US"/>
          </a:p>
        </p:txBody>
      </p:sp>
      <p:sp>
        <p:nvSpPr>
          <p:cNvPr id="17" name="Shape 13"/>
          <p:cNvSpPr/>
          <p:nvPr/>
        </p:nvSpPr>
        <p:spPr>
          <a:xfrm>
            <a:off x="804672" y="4700016"/>
            <a:ext cx="365760" cy="365760"/>
          </a:xfrm>
          <a:prstGeom prst="ellipse">
            <a:avLst/>
          </a:prstGeom>
          <a:solidFill>
            <a:srgbClr val="0E9F6E"/>
          </a:solidFill>
          <a:ln w="12700">
            <a:solidFill>
              <a:srgbClr val="0E9F6E"/>
            </a:solidFill>
            <a:prstDash val="solid"/>
          </a:ln>
        </p:spPr>
        <p:txBody>
          <a:bodyPr/>
          <a:lstStyle/>
          <a:p>
            <a:endParaRPr lang="en-US"/>
          </a:p>
        </p:txBody>
      </p:sp>
      <p:pic>
        <p:nvPicPr>
          <p:cNvPr id="18" name="Image 2" descr="preencoded.png"/>
          <p:cNvPicPr>
            <a:picLocks noChangeAspect="1"/>
          </p:cNvPicPr>
          <p:nvPr/>
        </p:nvPicPr>
        <p:blipFill>
          <a:blip r:embed="rId5"/>
          <a:stretch>
            <a:fillRect/>
          </a:stretch>
        </p:blipFill>
        <p:spPr>
          <a:xfrm>
            <a:off x="896112" y="4791456"/>
            <a:ext cx="182880" cy="182880"/>
          </a:xfrm>
          <a:prstGeom prst="rect">
            <a:avLst/>
          </a:prstGeom>
        </p:spPr>
      </p:pic>
      <p:sp>
        <p:nvSpPr>
          <p:cNvPr id="19" name="Text 14"/>
          <p:cNvSpPr/>
          <p:nvPr/>
        </p:nvSpPr>
        <p:spPr>
          <a:xfrm>
            <a:off x="1298448" y="4718304"/>
            <a:ext cx="4440784" cy="306324"/>
          </a:xfrm>
          <a:prstGeom prst="rect">
            <a:avLst/>
          </a:prstGeom>
          <a:noFill/>
          <a:ln/>
        </p:spPr>
        <p:txBody>
          <a:bodyPr wrap="square" lIns="0" tIns="0" rIns="0" bIns="0" rtlCol="0" anchor="t"/>
          <a:lstStyle/>
          <a:p>
            <a:pPr marL="0" indent="0">
              <a:lnSpc>
                <a:spcPct val="105000"/>
              </a:lnSpc>
              <a:buNone/>
            </a:pPr>
            <a:r>
              <a:rPr lang="en-US" sz="1250" b="1" dirty="0">
                <a:solidFill>
                  <a:srgbClr val="141235"/>
                </a:solidFill>
                <a:latin typeface="Calibri" pitchFamily="34" charset="0"/>
                <a:ea typeface="Calibri" pitchFamily="34" charset="-122"/>
                <a:cs typeface="Calibri" pitchFamily="34" charset="-120"/>
              </a:rPr>
              <a:t>Failure A returns in module 14 as “runaway loops”</a:t>
            </a:r>
            <a:endParaRPr lang="en-US" sz="1250" dirty="0"/>
          </a:p>
        </p:txBody>
      </p:sp>
      <p:sp>
        <p:nvSpPr>
          <p:cNvPr id="20" name="Shape 15"/>
          <p:cNvSpPr/>
          <p:nvPr/>
        </p:nvSpPr>
        <p:spPr>
          <a:xfrm>
            <a:off x="6214720" y="4480560"/>
            <a:ext cx="5410048" cy="859536"/>
          </a:xfrm>
          <a:prstGeom prst="roundRect">
            <a:avLst>
              <a:gd name="adj" fmla="val 9574"/>
            </a:avLst>
          </a:prstGeom>
          <a:solidFill>
            <a:srgbClr val="E7F7F1"/>
          </a:solidFill>
          <a:ln w="12700">
            <a:solidFill>
              <a:srgbClr val="C2E6D7"/>
            </a:solidFill>
            <a:prstDash val="solid"/>
          </a:ln>
          <a:effectLst>
            <a:outerShdw blurRad="114300" dist="572" dir="5400000" algn="bl" rotWithShape="0">
              <a:srgbClr val="1B1A4A">
                <a:alpha val="7000"/>
              </a:srgbClr>
            </a:outerShdw>
          </a:effectLst>
        </p:spPr>
        <p:txBody>
          <a:bodyPr/>
          <a:lstStyle/>
          <a:p>
            <a:endParaRPr lang="en-US"/>
          </a:p>
        </p:txBody>
      </p:sp>
      <p:sp>
        <p:nvSpPr>
          <p:cNvPr id="21" name="Shape 16"/>
          <p:cNvSpPr/>
          <p:nvPr/>
        </p:nvSpPr>
        <p:spPr>
          <a:xfrm>
            <a:off x="6452464" y="4700016"/>
            <a:ext cx="365760" cy="365760"/>
          </a:xfrm>
          <a:prstGeom prst="ellipse">
            <a:avLst/>
          </a:prstGeom>
          <a:solidFill>
            <a:srgbClr val="0E9F6E"/>
          </a:solidFill>
          <a:ln w="12700">
            <a:solidFill>
              <a:srgbClr val="0E9F6E"/>
            </a:solidFill>
            <a:prstDash val="solid"/>
          </a:ln>
        </p:spPr>
        <p:txBody>
          <a:bodyPr/>
          <a:lstStyle/>
          <a:p>
            <a:endParaRPr lang="en-US"/>
          </a:p>
        </p:txBody>
      </p:sp>
      <p:pic>
        <p:nvPicPr>
          <p:cNvPr id="22" name="Image 3" descr="preencoded.png"/>
          <p:cNvPicPr>
            <a:picLocks noChangeAspect="1"/>
          </p:cNvPicPr>
          <p:nvPr/>
        </p:nvPicPr>
        <p:blipFill>
          <a:blip r:embed="rId5"/>
          <a:stretch>
            <a:fillRect/>
          </a:stretch>
        </p:blipFill>
        <p:spPr>
          <a:xfrm>
            <a:off x="6543904" y="4791456"/>
            <a:ext cx="182880" cy="182880"/>
          </a:xfrm>
          <a:prstGeom prst="rect">
            <a:avLst/>
          </a:prstGeom>
        </p:spPr>
      </p:pic>
      <p:sp>
        <p:nvSpPr>
          <p:cNvPr id="23" name="Text 17"/>
          <p:cNvSpPr/>
          <p:nvPr/>
        </p:nvSpPr>
        <p:spPr>
          <a:xfrm>
            <a:off x="6946240" y="4718304"/>
            <a:ext cx="4440784" cy="557784"/>
          </a:xfrm>
          <a:prstGeom prst="rect">
            <a:avLst/>
          </a:prstGeom>
          <a:noFill/>
          <a:ln/>
        </p:spPr>
        <p:txBody>
          <a:bodyPr wrap="square" lIns="0" tIns="0" rIns="0" bIns="0" rtlCol="0" anchor="t"/>
          <a:lstStyle/>
          <a:p>
            <a:pPr marL="0" indent="0">
              <a:lnSpc>
                <a:spcPct val="105000"/>
              </a:lnSpc>
              <a:buNone/>
            </a:pPr>
            <a:r>
              <a:rPr lang="en-US" sz="1250" b="1" dirty="0">
                <a:solidFill>
                  <a:srgbClr val="141235"/>
                </a:solidFill>
                <a:latin typeface="Calibri" pitchFamily="34" charset="0"/>
                <a:ea typeface="Calibri" pitchFamily="34" charset="-122"/>
                <a:cs typeface="Calibri" pitchFamily="34" charset="-120"/>
              </a:rPr>
              <a:t>Failure B returns in module 13 as a misrouting supervisor</a:t>
            </a:r>
            <a:endParaRPr lang="en-US" sz="1250" dirty="0"/>
          </a:p>
        </p:txBody>
      </p:sp>
      <p:sp>
        <p:nvSpPr>
          <p:cNvPr id="24" name="Shape 18"/>
          <p:cNvSpPr/>
          <p:nvPr/>
        </p:nvSpPr>
        <p:spPr>
          <a:xfrm>
            <a:off x="566928" y="5541264"/>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25" name="Shape 19"/>
          <p:cNvSpPr/>
          <p:nvPr/>
        </p:nvSpPr>
        <p:spPr>
          <a:xfrm>
            <a:off x="841248" y="5760720"/>
            <a:ext cx="384048" cy="384048"/>
          </a:xfrm>
          <a:prstGeom prst="ellipse">
            <a:avLst/>
          </a:prstGeom>
          <a:solidFill>
            <a:srgbClr val="F5A524"/>
          </a:solidFill>
          <a:ln w="12700">
            <a:solidFill>
              <a:srgbClr val="F5A524"/>
            </a:solidFill>
            <a:prstDash val="solid"/>
          </a:ln>
        </p:spPr>
        <p:txBody>
          <a:bodyPr/>
          <a:lstStyle/>
          <a:p>
            <a:endParaRPr lang="en-US"/>
          </a:p>
        </p:txBody>
      </p:sp>
      <p:pic>
        <p:nvPicPr>
          <p:cNvPr id="26" name="Image 4" descr="preencoded.png"/>
          <p:cNvPicPr>
            <a:picLocks noChangeAspect="1"/>
          </p:cNvPicPr>
          <p:nvPr/>
        </p:nvPicPr>
        <p:blipFill>
          <a:blip r:embed="rId6"/>
          <a:stretch>
            <a:fillRect/>
          </a:stretch>
        </p:blipFill>
        <p:spPr>
          <a:xfrm>
            <a:off x="937260" y="5856732"/>
            <a:ext cx="192024" cy="192024"/>
          </a:xfrm>
          <a:prstGeom prst="rect">
            <a:avLst/>
          </a:prstGeom>
        </p:spPr>
      </p:pic>
      <p:sp>
        <p:nvSpPr>
          <p:cNvPr id="27" name="Text 20"/>
          <p:cNvSpPr/>
          <p:nvPr/>
        </p:nvSpPr>
        <p:spPr>
          <a:xfrm>
            <a:off x="1371600" y="5596128"/>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You will have seen both of these before we give them names. That is deliberate — a failure you watched happen is a failure you remember.</a:t>
            </a:r>
            <a:endParaRPr lang="en-US" sz="10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B0A22"/>
        </a:solidFill>
        <a:effectLst/>
      </p:bgPr>
    </p:bg>
    <p:spTree>
      <p:nvGrpSpPr>
        <p:cNvPr id="1" name=""/>
        <p:cNvGrpSpPr/>
        <p:nvPr/>
      </p:nvGrpSpPr>
      <p:grpSpPr>
        <a:xfrm>
          <a:off x="0" y="0"/>
          <a:ext cx="0" cy="0"/>
          <a:chOff x="0" y="0"/>
          <a:chExt cx="0" cy="0"/>
        </a:xfrm>
      </p:grpSpPr>
      <p:pic>
        <p:nvPicPr>
          <p:cNvPr id="2" name="Image 0" descr="/home/claude/work/bg_dark.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6126480" y="1234440"/>
            <a:ext cx="5486400" cy="2743200"/>
          </a:xfrm>
          <a:prstGeom prst="rect">
            <a:avLst/>
          </a:prstGeom>
          <a:noFill/>
          <a:ln/>
        </p:spPr>
        <p:txBody>
          <a:bodyPr wrap="square" lIns="0" tIns="0" rIns="0" bIns="0" rtlCol="0" anchor="ctr"/>
          <a:lstStyle/>
          <a:p>
            <a:pPr marL="0" indent="0" algn="r">
              <a:buNone/>
            </a:pPr>
            <a:r>
              <a:rPr lang="en-US" sz="17600" b="1" dirty="0">
                <a:solidFill>
                  <a:srgbClr val="5B4BE8">
                    <a:alpha val="30000"/>
                  </a:srgbClr>
                </a:solidFill>
                <a:latin typeface="Cambria" pitchFamily="34" charset="0"/>
                <a:ea typeface="Cambria" pitchFamily="34" charset="-122"/>
                <a:cs typeface="Cambria" pitchFamily="34" charset="-120"/>
              </a:rPr>
              <a:t>05</a:t>
            </a:r>
            <a:endParaRPr lang="en-US" sz="17600" dirty="0"/>
          </a:p>
        </p:txBody>
      </p:sp>
      <p:sp>
        <p:nvSpPr>
          <p:cNvPr id="4" name="Shape 1"/>
          <p:cNvSpPr/>
          <p:nvPr/>
        </p:nvSpPr>
        <p:spPr>
          <a:xfrm>
            <a:off x="566928" y="2084832"/>
            <a:ext cx="566928" cy="566928"/>
          </a:xfrm>
          <a:prstGeom prst="ellipse">
            <a:avLst/>
          </a:prstGeom>
          <a:solidFill>
            <a:srgbClr val="F5A524"/>
          </a:solidFill>
          <a:ln w="12700">
            <a:solidFill>
              <a:srgbClr val="F5A524"/>
            </a:solidFill>
            <a:prstDash val="solid"/>
          </a:ln>
        </p:spPr>
        <p:txBody>
          <a:bodyPr/>
          <a:lstStyle/>
          <a:p>
            <a:endParaRPr lang="en-US"/>
          </a:p>
        </p:txBody>
      </p:sp>
      <p:pic>
        <p:nvPicPr>
          <p:cNvPr id="5" name="Image 1" descr="preencoded.png"/>
          <p:cNvPicPr>
            <a:picLocks noChangeAspect="1"/>
          </p:cNvPicPr>
          <p:nvPr/>
        </p:nvPicPr>
        <p:blipFill>
          <a:blip r:embed="rId4"/>
          <a:stretch>
            <a:fillRect/>
          </a:stretch>
        </p:blipFill>
        <p:spPr>
          <a:xfrm>
            <a:off x="708660" y="2226564"/>
            <a:ext cx="283464" cy="283464"/>
          </a:xfrm>
          <a:prstGeom prst="rect">
            <a:avLst/>
          </a:prstGeom>
        </p:spPr>
      </p:pic>
      <p:sp>
        <p:nvSpPr>
          <p:cNvPr id="6" name="Text 2"/>
          <p:cNvSpPr/>
          <p:nvPr/>
        </p:nvSpPr>
        <p:spPr>
          <a:xfrm>
            <a:off x="566928" y="2852928"/>
            <a:ext cx="7315200" cy="256032"/>
          </a:xfrm>
          <a:prstGeom prst="rect">
            <a:avLst/>
          </a:prstGeom>
          <a:noFill/>
          <a:ln/>
        </p:spPr>
        <p:txBody>
          <a:bodyPr wrap="square" lIns="0" tIns="0" rIns="0" bIns="0" rtlCol="0" anchor="ctr"/>
          <a:lstStyle/>
          <a:p>
            <a:pPr marL="0" indent="0">
              <a:buNone/>
            </a:pPr>
            <a:r>
              <a:rPr lang="en-US" sz="1100" b="1" kern="0" spc="240" dirty="0">
                <a:solidFill>
                  <a:srgbClr val="F5A524"/>
                </a:solidFill>
                <a:latin typeface="Calibri" pitchFamily="34" charset="0"/>
                <a:ea typeface="Calibri" pitchFamily="34" charset="-122"/>
                <a:cs typeface="Calibri" pitchFamily="34" charset="-120"/>
              </a:rPr>
              <a:t>MODULE 05</a:t>
            </a:r>
            <a:endParaRPr lang="en-US" sz="1100" dirty="0"/>
          </a:p>
        </p:txBody>
      </p:sp>
      <p:sp>
        <p:nvSpPr>
          <p:cNvPr id="7" name="Text 3"/>
          <p:cNvSpPr/>
          <p:nvPr/>
        </p:nvSpPr>
        <p:spPr>
          <a:xfrm>
            <a:off x="566928" y="3145536"/>
            <a:ext cx="8595360" cy="914400"/>
          </a:xfrm>
          <a:prstGeom prst="rect">
            <a:avLst/>
          </a:prstGeom>
          <a:noFill/>
          <a:ln/>
        </p:spPr>
        <p:txBody>
          <a:bodyPr wrap="square" lIns="0" tIns="0" rIns="0" bIns="0" rtlCol="0" anchor="t"/>
          <a:lstStyle/>
          <a:p>
            <a:pPr marL="0" indent="0">
              <a:buNone/>
            </a:pPr>
            <a:r>
              <a:rPr lang="en-US" sz="4600" b="1" dirty="0">
                <a:solidFill>
                  <a:srgbClr val="FFFFFF"/>
                </a:solidFill>
                <a:latin typeface="Cambria" pitchFamily="34" charset="0"/>
                <a:ea typeface="Cambria" pitchFamily="34" charset="-122"/>
                <a:cs typeface="Cambria" pitchFamily="34" charset="-120"/>
              </a:rPr>
              <a:t>Context engineering</a:t>
            </a:r>
            <a:endParaRPr lang="en-US" sz="4600" dirty="0"/>
          </a:p>
        </p:txBody>
      </p:sp>
      <p:sp>
        <p:nvSpPr>
          <p:cNvPr id="8" name="Text 4"/>
          <p:cNvSpPr/>
          <p:nvPr/>
        </p:nvSpPr>
        <p:spPr>
          <a:xfrm>
            <a:off x="566928" y="4169664"/>
            <a:ext cx="7863840" cy="731520"/>
          </a:xfrm>
          <a:prstGeom prst="rect">
            <a:avLst/>
          </a:prstGeom>
          <a:noFill/>
          <a:ln/>
        </p:spPr>
        <p:txBody>
          <a:bodyPr wrap="square" lIns="0" tIns="0" rIns="0" bIns="0" rtlCol="0" anchor="t"/>
          <a:lstStyle/>
          <a:p>
            <a:pPr marL="0" indent="0">
              <a:lnSpc>
                <a:spcPct val="120000"/>
              </a:lnSpc>
              <a:buNone/>
            </a:pPr>
            <a:r>
              <a:rPr lang="en-US" sz="1600" dirty="0">
                <a:solidFill>
                  <a:srgbClr val="B9B4E0"/>
                </a:solidFill>
                <a:latin typeface="Calibri" pitchFamily="34" charset="0"/>
                <a:ea typeface="Calibri" pitchFamily="34" charset="-122"/>
                <a:cs typeface="Calibri" pitchFamily="34" charset="-120"/>
              </a:rPr>
              <a:t>What you feed the model matters more than how clever the loop is.</a:t>
            </a:r>
            <a:endParaRPr lang="en-US" sz="16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05 · CONTEXT ENGINEERING</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3000" b="1" dirty="0">
                <a:solidFill>
                  <a:srgbClr val="141235"/>
                </a:solidFill>
                <a:latin typeface="Cambria" pitchFamily="34" charset="0"/>
                <a:ea typeface="Cambria" pitchFamily="34" charset="-122"/>
                <a:cs typeface="Cambria" pitchFamily="34" charset="-120"/>
              </a:rPr>
              <a:t>Context is seven things, not one prompt</a:t>
            </a:r>
            <a:endParaRPr lang="en-US" sz="3000" dirty="0"/>
          </a:p>
        </p:txBody>
      </p:sp>
      <p:sp>
        <p:nvSpPr>
          <p:cNvPr id="4" name="Text 2"/>
          <p:cNvSpPr/>
          <p:nvPr/>
        </p:nvSpPr>
        <p:spPr>
          <a:xfrm>
            <a:off x="566928" y="1371600"/>
            <a:ext cx="11057839" cy="310896"/>
          </a:xfrm>
          <a:prstGeom prst="rect">
            <a:avLst/>
          </a:prstGeom>
          <a:noFill/>
          <a:ln/>
        </p:spPr>
        <p:txBody>
          <a:bodyPr wrap="square" lIns="0" tIns="0" rIns="0" bIns="0" rtlCol="0" anchor="t"/>
          <a:lstStyle/>
          <a:p>
            <a:pPr marL="0" indent="0">
              <a:buNone/>
            </a:pPr>
            <a:r>
              <a:rPr lang="en-US" sz="1400" dirty="0">
                <a:solidFill>
                  <a:srgbClr val="3B3760"/>
                </a:solidFill>
                <a:latin typeface="Calibri" pitchFamily="34" charset="0"/>
                <a:ea typeface="Calibri" pitchFamily="34" charset="-122"/>
                <a:cs typeface="Calibri" pitchFamily="34" charset="-120"/>
              </a:rPr>
              <a:t>Everything below is re-sent on every single turn. Each later module is an intervention on exactly one of these rows.</a:t>
            </a:r>
            <a:endParaRPr lang="en-US" sz="1400" dirty="0"/>
          </a:p>
        </p:txBody>
      </p:sp>
      <p:sp>
        <p:nvSpPr>
          <p:cNvPr id="5" name="Shape 3"/>
          <p:cNvSpPr/>
          <p:nvPr/>
        </p:nvSpPr>
        <p:spPr>
          <a:xfrm>
            <a:off x="566928" y="2152680"/>
            <a:ext cx="2586152" cy="1413480"/>
          </a:xfrm>
          <a:prstGeom prst="roundRect">
            <a:avLst>
              <a:gd name="adj" fmla="val 5822"/>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6" name="Shape 4"/>
          <p:cNvSpPr/>
          <p:nvPr/>
        </p:nvSpPr>
        <p:spPr>
          <a:xfrm>
            <a:off x="804672" y="2372136"/>
            <a:ext cx="365760" cy="365760"/>
          </a:xfrm>
          <a:prstGeom prst="ellipse">
            <a:avLst/>
          </a:prstGeom>
          <a:solidFill>
            <a:srgbClr val="5B4BE8"/>
          </a:solidFill>
          <a:ln w="12700">
            <a:solidFill>
              <a:srgbClr val="5B4BE8"/>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896112" y="2463576"/>
            <a:ext cx="182880" cy="182880"/>
          </a:xfrm>
          <a:prstGeom prst="rect">
            <a:avLst/>
          </a:prstGeom>
        </p:spPr>
      </p:pic>
      <p:sp>
        <p:nvSpPr>
          <p:cNvPr id="8" name="Text 5"/>
          <p:cNvSpPr/>
          <p:nvPr/>
        </p:nvSpPr>
        <p:spPr>
          <a:xfrm>
            <a:off x="1298448" y="2390424"/>
            <a:ext cx="1616888" cy="322417"/>
          </a:xfrm>
          <a:prstGeom prst="rect">
            <a:avLst/>
          </a:prstGeom>
          <a:noFill/>
          <a:ln/>
        </p:spPr>
        <p:txBody>
          <a:bodyPr wrap="square" lIns="0" tIns="0" rIns="0" bIns="0" rtlCol="0" anchor="t"/>
          <a:lstStyle/>
          <a:p>
            <a:pPr marL="0" indent="0">
              <a:lnSpc>
                <a:spcPct val="105000"/>
              </a:lnSpc>
              <a:buNone/>
            </a:pPr>
            <a:r>
              <a:rPr lang="en-US" sz="1350" b="1" dirty="0">
                <a:solidFill>
                  <a:srgbClr val="141235"/>
                </a:solidFill>
                <a:latin typeface="Calibri" pitchFamily="34" charset="0"/>
                <a:ea typeface="Calibri" pitchFamily="34" charset="-122"/>
                <a:cs typeface="Calibri" pitchFamily="34" charset="-120"/>
              </a:rPr>
              <a:t>Instructions</a:t>
            </a:r>
            <a:endParaRPr lang="en-US" sz="1350" dirty="0"/>
          </a:p>
        </p:txBody>
      </p:sp>
      <p:sp>
        <p:nvSpPr>
          <p:cNvPr id="9" name="Text 6"/>
          <p:cNvSpPr/>
          <p:nvPr/>
        </p:nvSpPr>
        <p:spPr>
          <a:xfrm>
            <a:off x="1298448" y="2721986"/>
            <a:ext cx="1616888" cy="661294"/>
          </a:xfrm>
          <a:prstGeom prst="rect">
            <a:avLst/>
          </a:prstGeom>
          <a:noFill/>
          <a:ln/>
        </p:spPr>
        <p:txBody>
          <a:bodyPr wrap="square" lIns="0" tIns="0" rIns="0" bIns="0" rtlCol="0" anchor="t"/>
          <a:lstStyle/>
          <a:p>
            <a:pPr marL="0" indent="0">
              <a:lnSpc>
                <a:spcPct val="113000"/>
              </a:lnSpc>
              <a:buNone/>
            </a:pPr>
            <a:r>
              <a:rPr lang="en-US" sz="1050" dirty="0">
                <a:solidFill>
                  <a:srgbClr val="6E6B8A"/>
                </a:solidFill>
                <a:latin typeface="Calibri" pitchFamily="34" charset="0"/>
                <a:ea typeface="Calibri" pitchFamily="34" charset="-122"/>
                <a:cs typeface="Calibri" pitchFamily="34" charset="-120"/>
              </a:rPr>
              <a:t>Behaviour and rules</a:t>
            </a:r>
            <a:endParaRPr lang="en-US" sz="1050" dirty="0"/>
          </a:p>
        </p:txBody>
      </p:sp>
      <p:sp>
        <p:nvSpPr>
          <p:cNvPr id="10" name="Shape 7"/>
          <p:cNvSpPr/>
          <p:nvPr/>
        </p:nvSpPr>
        <p:spPr>
          <a:xfrm>
            <a:off x="3390824" y="2152680"/>
            <a:ext cx="2586152" cy="1413480"/>
          </a:xfrm>
          <a:prstGeom prst="roundRect">
            <a:avLst>
              <a:gd name="adj" fmla="val 5822"/>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1" name="Shape 8"/>
          <p:cNvSpPr/>
          <p:nvPr/>
        </p:nvSpPr>
        <p:spPr>
          <a:xfrm>
            <a:off x="3628568" y="2372136"/>
            <a:ext cx="365760" cy="365760"/>
          </a:xfrm>
          <a:prstGeom prst="ellipse">
            <a:avLst/>
          </a:prstGeom>
          <a:solidFill>
            <a:srgbClr val="5B4BE8"/>
          </a:solidFill>
          <a:ln w="12700">
            <a:solidFill>
              <a:srgbClr val="5B4BE8"/>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3720008" y="2463576"/>
            <a:ext cx="182880" cy="182880"/>
          </a:xfrm>
          <a:prstGeom prst="rect">
            <a:avLst/>
          </a:prstGeom>
        </p:spPr>
      </p:pic>
      <p:sp>
        <p:nvSpPr>
          <p:cNvPr id="13" name="Text 9"/>
          <p:cNvSpPr/>
          <p:nvPr/>
        </p:nvSpPr>
        <p:spPr>
          <a:xfrm>
            <a:off x="4122344" y="2390424"/>
            <a:ext cx="1616888" cy="322417"/>
          </a:xfrm>
          <a:prstGeom prst="rect">
            <a:avLst/>
          </a:prstGeom>
          <a:noFill/>
          <a:ln/>
        </p:spPr>
        <p:txBody>
          <a:bodyPr wrap="square" lIns="0" tIns="0" rIns="0" bIns="0" rtlCol="0" anchor="t"/>
          <a:lstStyle/>
          <a:p>
            <a:pPr marL="0" indent="0">
              <a:lnSpc>
                <a:spcPct val="105000"/>
              </a:lnSpc>
              <a:buNone/>
            </a:pPr>
            <a:r>
              <a:rPr lang="en-US" sz="1350" b="1" dirty="0">
                <a:solidFill>
                  <a:srgbClr val="141235"/>
                </a:solidFill>
                <a:latin typeface="Calibri" pitchFamily="34" charset="0"/>
                <a:ea typeface="Calibri" pitchFamily="34" charset="-122"/>
                <a:cs typeface="Calibri" pitchFamily="34" charset="-120"/>
              </a:rPr>
              <a:t>User prompt</a:t>
            </a:r>
            <a:endParaRPr lang="en-US" sz="1350" dirty="0"/>
          </a:p>
        </p:txBody>
      </p:sp>
      <p:sp>
        <p:nvSpPr>
          <p:cNvPr id="14" name="Text 10"/>
          <p:cNvSpPr/>
          <p:nvPr/>
        </p:nvSpPr>
        <p:spPr>
          <a:xfrm>
            <a:off x="4122344" y="2721986"/>
            <a:ext cx="1616888" cy="661294"/>
          </a:xfrm>
          <a:prstGeom prst="rect">
            <a:avLst/>
          </a:prstGeom>
          <a:noFill/>
          <a:ln/>
        </p:spPr>
        <p:txBody>
          <a:bodyPr wrap="square" lIns="0" tIns="0" rIns="0" bIns="0" rtlCol="0" anchor="t"/>
          <a:lstStyle/>
          <a:p>
            <a:pPr marL="0" indent="0">
              <a:lnSpc>
                <a:spcPct val="113000"/>
              </a:lnSpc>
              <a:buNone/>
            </a:pPr>
            <a:r>
              <a:rPr lang="en-US" sz="1050" dirty="0">
                <a:solidFill>
                  <a:srgbClr val="6E6B8A"/>
                </a:solidFill>
                <a:latin typeface="Calibri" pitchFamily="34" charset="0"/>
                <a:ea typeface="Calibri" pitchFamily="34" charset="-122"/>
                <a:cs typeface="Calibri" pitchFamily="34" charset="-120"/>
              </a:rPr>
              <a:t>The immediate request</a:t>
            </a:r>
            <a:endParaRPr lang="en-US" sz="1050" dirty="0"/>
          </a:p>
        </p:txBody>
      </p:sp>
      <p:sp>
        <p:nvSpPr>
          <p:cNvPr id="15" name="Shape 11"/>
          <p:cNvSpPr/>
          <p:nvPr/>
        </p:nvSpPr>
        <p:spPr>
          <a:xfrm>
            <a:off x="6214720" y="2152680"/>
            <a:ext cx="2586152" cy="1413480"/>
          </a:xfrm>
          <a:prstGeom prst="roundRect">
            <a:avLst>
              <a:gd name="adj" fmla="val 5822"/>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6" name="Shape 12"/>
          <p:cNvSpPr/>
          <p:nvPr/>
        </p:nvSpPr>
        <p:spPr>
          <a:xfrm>
            <a:off x="6452464" y="2372136"/>
            <a:ext cx="365760" cy="365760"/>
          </a:xfrm>
          <a:prstGeom prst="ellipse">
            <a:avLst/>
          </a:prstGeom>
          <a:solidFill>
            <a:srgbClr val="5B4BE8"/>
          </a:solidFill>
          <a:ln w="12700">
            <a:solidFill>
              <a:srgbClr val="5B4BE8"/>
            </a:solidFill>
            <a:prstDash val="solid"/>
          </a:ln>
        </p:spPr>
        <p:txBody>
          <a:bodyPr/>
          <a:lstStyle/>
          <a:p>
            <a:endParaRPr lang="en-US"/>
          </a:p>
        </p:txBody>
      </p:sp>
      <p:pic>
        <p:nvPicPr>
          <p:cNvPr id="17" name="Image 2" descr="preencoded.png"/>
          <p:cNvPicPr>
            <a:picLocks noChangeAspect="1"/>
          </p:cNvPicPr>
          <p:nvPr/>
        </p:nvPicPr>
        <p:blipFill>
          <a:blip r:embed="rId5"/>
          <a:stretch>
            <a:fillRect/>
          </a:stretch>
        </p:blipFill>
        <p:spPr>
          <a:xfrm>
            <a:off x="6543904" y="2463576"/>
            <a:ext cx="182880" cy="182880"/>
          </a:xfrm>
          <a:prstGeom prst="rect">
            <a:avLst/>
          </a:prstGeom>
        </p:spPr>
      </p:pic>
      <p:sp>
        <p:nvSpPr>
          <p:cNvPr id="18" name="Text 13"/>
          <p:cNvSpPr/>
          <p:nvPr/>
        </p:nvSpPr>
        <p:spPr>
          <a:xfrm>
            <a:off x="6946240" y="2390424"/>
            <a:ext cx="1616888" cy="322417"/>
          </a:xfrm>
          <a:prstGeom prst="rect">
            <a:avLst/>
          </a:prstGeom>
          <a:noFill/>
          <a:ln/>
        </p:spPr>
        <p:txBody>
          <a:bodyPr wrap="square" lIns="0" tIns="0" rIns="0" bIns="0" rtlCol="0" anchor="t"/>
          <a:lstStyle/>
          <a:p>
            <a:pPr marL="0" indent="0">
              <a:lnSpc>
                <a:spcPct val="105000"/>
              </a:lnSpc>
              <a:buNone/>
            </a:pPr>
            <a:r>
              <a:rPr lang="en-US" sz="1350" b="1" dirty="0">
                <a:solidFill>
                  <a:srgbClr val="141235"/>
                </a:solidFill>
                <a:latin typeface="Calibri" pitchFamily="34" charset="0"/>
                <a:ea typeface="Calibri" pitchFamily="34" charset="-122"/>
                <a:cs typeface="Calibri" pitchFamily="34" charset="-120"/>
              </a:rPr>
              <a:t>Available tools</a:t>
            </a:r>
            <a:endParaRPr lang="en-US" sz="1350" dirty="0"/>
          </a:p>
        </p:txBody>
      </p:sp>
      <p:sp>
        <p:nvSpPr>
          <p:cNvPr id="19" name="Text 14"/>
          <p:cNvSpPr/>
          <p:nvPr/>
        </p:nvSpPr>
        <p:spPr>
          <a:xfrm>
            <a:off x="6946240" y="2721986"/>
            <a:ext cx="1616888" cy="661294"/>
          </a:xfrm>
          <a:prstGeom prst="rect">
            <a:avLst/>
          </a:prstGeom>
          <a:noFill/>
          <a:ln/>
        </p:spPr>
        <p:txBody>
          <a:bodyPr wrap="square" lIns="0" tIns="0" rIns="0" bIns="0" rtlCol="0" anchor="t"/>
          <a:lstStyle/>
          <a:p>
            <a:pPr marL="0" indent="0">
              <a:lnSpc>
                <a:spcPct val="113000"/>
              </a:lnSpc>
              <a:buNone/>
            </a:pPr>
            <a:r>
              <a:rPr lang="en-US" sz="1050" dirty="0">
                <a:solidFill>
                  <a:srgbClr val="6E6B8A"/>
                </a:solidFill>
                <a:latin typeface="Calibri" pitchFamily="34" charset="0"/>
                <a:ea typeface="Calibri" pitchFamily="34" charset="-122"/>
                <a:cs typeface="Calibri" pitchFamily="34" charset="-120"/>
              </a:rPr>
              <a:t>Every schema, every turn</a:t>
            </a:r>
            <a:endParaRPr lang="en-US" sz="1050" dirty="0"/>
          </a:p>
        </p:txBody>
      </p:sp>
      <p:sp>
        <p:nvSpPr>
          <p:cNvPr id="20" name="Shape 15"/>
          <p:cNvSpPr/>
          <p:nvPr/>
        </p:nvSpPr>
        <p:spPr>
          <a:xfrm>
            <a:off x="9038615" y="2152680"/>
            <a:ext cx="2586152" cy="1413480"/>
          </a:xfrm>
          <a:prstGeom prst="roundRect">
            <a:avLst>
              <a:gd name="adj" fmla="val 5822"/>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21" name="Shape 16"/>
          <p:cNvSpPr/>
          <p:nvPr/>
        </p:nvSpPr>
        <p:spPr>
          <a:xfrm>
            <a:off x="9276359" y="2372136"/>
            <a:ext cx="365760" cy="365760"/>
          </a:xfrm>
          <a:prstGeom prst="ellipse">
            <a:avLst/>
          </a:prstGeom>
          <a:solidFill>
            <a:srgbClr val="5B4BE8"/>
          </a:solidFill>
          <a:ln w="12700">
            <a:solidFill>
              <a:srgbClr val="5B4BE8"/>
            </a:solidFill>
            <a:prstDash val="solid"/>
          </a:ln>
        </p:spPr>
        <p:txBody>
          <a:bodyPr/>
          <a:lstStyle/>
          <a:p>
            <a:endParaRPr lang="en-US"/>
          </a:p>
        </p:txBody>
      </p:sp>
      <p:pic>
        <p:nvPicPr>
          <p:cNvPr id="22" name="Image 3" descr="preencoded.png"/>
          <p:cNvPicPr>
            <a:picLocks noChangeAspect="1"/>
          </p:cNvPicPr>
          <p:nvPr/>
        </p:nvPicPr>
        <p:blipFill>
          <a:blip r:embed="rId6"/>
          <a:stretch>
            <a:fillRect/>
          </a:stretch>
        </p:blipFill>
        <p:spPr>
          <a:xfrm>
            <a:off x="9367799" y="2463576"/>
            <a:ext cx="182880" cy="182880"/>
          </a:xfrm>
          <a:prstGeom prst="rect">
            <a:avLst/>
          </a:prstGeom>
        </p:spPr>
      </p:pic>
      <p:sp>
        <p:nvSpPr>
          <p:cNvPr id="23" name="Text 17"/>
          <p:cNvSpPr/>
          <p:nvPr/>
        </p:nvSpPr>
        <p:spPr>
          <a:xfrm>
            <a:off x="9770135" y="2390424"/>
            <a:ext cx="1616888" cy="589971"/>
          </a:xfrm>
          <a:prstGeom prst="rect">
            <a:avLst/>
          </a:prstGeom>
          <a:noFill/>
          <a:ln/>
        </p:spPr>
        <p:txBody>
          <a:bodyPr wrap="square" lIns="0" tIns="0" rIns="0" bIns="0" rtlCol="0" anchor="t"/>
          <a:lstStyle/>
          <a:p>
            <a:pPr marL="0" indent="0">
              <a:lnSpc>
                <a:spcPct val="105000"/>
              </a:lnSpc>
              <a:buNone/>
            </a:pPr>
            <a:r>
              <a:rPr lang="en-US" sz="1350" b="1" dirty="0">
                <a:solidFill>
                  <a:srgbClr val="141235"/>
                </a:solidFill>
                <a:latin typeface="Calibri" pitchFamily="34" charset="0"/>
                <a:ea typeface="Calibri" pitchFamily="34" charset="-122"/>
                <a:cs typeface="Calibri" pitchFamily="34" charset="-120"/>
              </a:rPr>
              <a:t>Structured output</a:t>
            </a:r>
            <a:endParaRPr lang="en-US" sz="1350" dirty="0"/>
          </a:p>
        </p:txBody>
      </p:sp>
      <p:sp>
        <p:nvSpPr>
          <p:cNvPr id="24" name="Text 18"/>
          <p:cNvSpPr/>
          <p:nvPr/>
        </p:nvSpPr>
        <p:spPr>
          <a:xfrm>
            <a:off x="9770135" y="2989539"/>
            <a:ext cx="1616888" cy="393741"/>
          </a:xfrm>
          <a:prstGeom prst="rect">
            <a:avLst/>
          </a:prstGeom>
          <a:noFill/>
          <a:ln/>
        </p:spPr>
        <p:txBody>
          <a:bodyPr wrap="square" lIns="0" tIns="0" rIns="0" bIns="0" rtlCol="0" anchor="t"/>
          <a:lstStyle/>
          <a:p>
            <a:pPr marL="0" indent="0">
              <a:lnSpc>
                <a:spcPct val="113000"/>
              </a:lnSpc>
              <a:buNone/>
            </a:pPr>
            <a:r>
              <a:rPr lang="en-US" sz="1050" dirty="0">
                <a:solidFill>
                  <a:srgbClr val="6E6B8A"/>
                </a:solidFill>
                <a:latin typeface="Calibri" pitchFamily="34" charset="0"/>
                <a:ea typeface="Calibri" pitchFamily="34" charset="-122"/>
                <a:cs typeface="Calibri" pitchFamily="34" charset="-120"/>
              </a:rPr>
              <a:t>The shape you require back</a:t>
            </a:r>
            <a:endParaRPr lang="en-US" sz="1050" dirty="0"/>
          </a:p>
        </p:txBody>
      </p:sp>
      <p:sp>
        <p:nvSpPr>
          <p:cNvPr id="25" name="Shape 19"/>
          <p:cNvSpPr/>
          <p:nvPr/>
        </p:nvSpPr>
        <p:spPr>
          <a:xfrm>
            <a:off x="566928" y="3803904"/>
            <a:ext cx="2586152" cy="1413480"/>
          </a:xfrm>
          <a:prstGeom prst="roundRect">
            <a:avLst>
              <a:gd name="adj" fmla="val 5822"/>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26" name="Shape 20"/>
          <p:cNvSpPr/>
          <p:nvPr/>
        </p:nvSpPr>
        <p:spPr>
          <a:xfrm>
            <a:off x="804672" y="4023360"/>
            <a:ext cx="365760" cy="365760"/>
          </a:xfrm>
          <a:prstGeom prst="ellipse">
            <a:avLst/>
          </a:prstGeom>
          <a:solidFill>
            <a:srgbClr val="5B4BE8"/>
          </a:solidFill>
          <a:ln w="12700">
            <a:solidFill>
              <a:srgbClr val="5B4BE8"/>
            </a:solidFill>
            <a:prstDash val="solid"/>
          </a:ln>
        </p:spPr>
        <p:txBody>
          <a:bodyPr/>
          <a:lstStyle/>
          <a:p>
            <a:endParaRPr lang="en-US"/>
          </a:p>
        </p:txBody>
      </p:sp>
      <p:pic>
        <p:nvPicPr>
          <p:cNvPr id="27" name="Image 4" descr="preencoded.png"/>
          <p:cNvPicPr>
            <a:picLocks noChangeAspect="1"/>
          </p:cNvPicPr>
          <p:nvPr/>
        </p:nvPicPr>
        <p:blipFill>
          <a:blip r:embed="rId7"/>
          <a:stretch>
            <a:fillRect/>
          </a:stretch>
        </p:blipFill>
        <p:spPr>
          <a:xfrm>
            <a:off x="896112" y="4114800"/>
            <a:ext cx="182880" cy="182880"/>
          </a:xfrm>
          <a:prstGeom prst="rect">
            <a:avLst/>
          </a:prstGeom>
        </p:spPr>
      </p:pic>
      <p:sp>
        <p:nvSpPr>
          <p:cNvPr id="28" name="Text 21"/>
          <p:cNvSpPr/>
          <p:nvPr/>
        </p:nvSpPr>
        <p:spPr>
          <a:xfrm>
            <a:off x="1298448" y="4041648"/>
            <a:ext cx="1616888" cy="589971"/>
          </a:xfrm>
          <a:prstGeom prst="rect">
            <a:avLst/>
          </a:prstGeom>
          <a:noFill/>
          <a:ln/>
        </p:spPr>
        <p:txBody>
          <a:bodyPr wrap="square" lIns="0" tIns="0" rIns="0" bIns="0" rtlCol="0" anchor="t"/>
          <a:lstStyle/>
          <a:p>
            <a:pPr marL="0" indent="0">
              <a:lnSpc>
                <a:spcPct val="105000"/>
              </a:lnSpc>
              <a:buNone/>
            </a:pPr>
            <a:r>
              <a:rPr lang="en-US" sz="1350" b="1" dirty="0">
                <a:solidFill>
                  <a:srgbClr val="141235"/>
                </a:solidFill>
                <a:latin typeface="Calibri" pitchFamily="34" charset="0"/>
                <a:ea typeface="Calibri" pitchFamily="34" charset="-122"/>
                <a:cs typeface="Calibri" pitchFamily="34" charset="-120"/>
              </a:rPr>
              <a:t>State and history</a:t>
            </a:r>
            <a:endParaRPr lang="en-US" sz="1350" dirty="0"/>
          </a:p>
        </p:txBody>
      </p:sp>
      <p:sp>
        <p:nvSpPr>
          <p:cNvPr id="29" name="Text 22"/>
          <p:cNvSpPr/>
          <p:nvPr/>
        </p:nvSpPr>
        <p:spPr>
          <a:xfrm>
            <a:off x="1298448" y="4640763"/>
            <a:ext cx="1616888" cy="393741"/>
          </a:xfrm>
          <a:prstGeom prst="rect">
            <a:avLst/>
          </a:prstGeom>
          <a:noFill/>
          <a:ln/>
        </p:spPr>
        <p:txBody>
          <a:bodyPr wrap="square" lIns="0" tIns="0" rIns="0" bIns="0" rtlCol="0" anchor="t"/>
          <a:lstStyle/>
          <a:p>
            <a:pPr marL="0" indent="0">
              <a:lnSpc>
                <a:spcPct val="113000"/>
              </a:lnSpc>
              <a:buNone/>
            </a:pPr>
            <a:r>
              <a:rPr lang="en-US" sz="1050" dirty="0">
                <a:solidFill>
                  <a:srgbClr val="6E6B8A"/>
                </a:solidFill>
                <a:latin typeface="Calibri" pitchFamily="34" charset="0"/>
                <a:ea typeface="Calibri" pitchFamily="34" charset="-122"/>
                <a:cs typeface="Calibri" pitchFamily="34" charset="-120"/>
              </a:rPr>
              <a:t>This conversation, so far</a:t>
            </a:r>
            <a:endParaRPr lang="en-US" sz="1050" dirty="0"/>
          </a:p>
        </p:txBody>
      </p:sp>
      <p:sp>
        <p:nvSpPr>
          <p:cNvPr id="30" name="Shape 23"/>
          <p:cNvSpPr/>
          <p:nvPr/>
        </p:nvSpPr>
        <p:spPr>
          <a:xfrm>
            <a:off x="3390824" y="3803904"/>
            <a:ext cx="2586152" cy="1413480"/>
          </a:xfrm>
          <a:prstGeom prst="roundRect">
            <a:avLst>
              <a:gd name="adj" fmla="val 5822"/>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31" name="Shape 24"/>
          <p:cNvSpPr/>
          <p:nvPr/>
        </p:nvSpPr>
        <p:spPr>
          <a:xfrm>
            <a:off x="3628568" y="4023360"/>
            <a:ext cx="365760" cy="365760"/>
          </a:xfrm>
          <a:prstGeom prst="ellipse">
            <a:avLst/>
          </a:prstGeom>
          <a:solidFill>
            <a:srgbClr val="5B4BE8"/>
          </a:solidFill>
          <a:ln w="12700">
            <a:solidFill>
              <a:srgbClr val="5B4BE8"/>
            </a:solidFill>
            <a:prstDash val="solid"/>
          </a:ln>
        </p:spPr>
        <p:txBody>
          <a:bodyPr/>
          <a:lstStyle/>
          <a:p>
            <a:endParaRPr lang="en-US"/>
          </a:p>
        </p:txBody>
      </p:sp>
      <p:pic>
        <p:nvPicPr>
          <p:cNvPr id="32" name="Image 5" descr="preencoded.png"/>
          <p:cNvPicPr>
            <a:picLocks noChangeAspect="1"/>
          </p:cNvPicPr>
          <p:nvPr/>
        </p:nvPicPr>
        <p:blipFill>
          <a:blip r:embed="rId8"/>
          <a:stretch>
            <a:fillRect/>
          </a:stretch>
        </p:blipFill>
        <p:spPr>
          <a:xfrm>
            <a:off x="3720008" y="4114800"/>
            <a:ext cx="182880" cy="182880"/>
          </a:xfrm>
          <a:prstGeom prst="rect">
            <a:avLst/>
          </a:prstGeom>
        </p:spPr>
      </p:pic>
      <p:sp>
        <p:nvSpPr>
          <p:cNvPr id="33" name="Text 25"/>
          <p:cNvSpPr/>
          <p:nvPr/>
        </p:nvSpPr>
        <p:spPr>
          <a:xfrm>
            <a:off x="4122344" y="4041648"/>
            <a:ext cx="1616888" cy="322417"/>
          </a:xfrm>
          <a:prstGeom prst="rect">
            <a:avLst/>
          </a:prstGeom>
          <a:noFill/>
          <a:ln/>
        </p:spPr>
        <p:txBody>
          <a:bodyPr wrap="square" lIns="0" tIns="0" rIns="0" bIns="0" rtlCol="0" anchor="t"/>
          <a:lstStyle/>
          <a:p>
            <a:pPr marL="0" indent="0">
              <a:lnSpc>
                <a:spcPct val="105000"/>
              </a:lnSpc>
              <a:buNone/>
            </a:pPr>
            <a:r>
              <a:rPr lang="en-US" sz="1350" b="1" dirty="0">
                <a:solidFill>
                  <a:srgbClr val="141235"/>
                </a:solidFill>
                <a:latin typeface="Calibri" pitchFamily="34" charset="0"/>
                <a:ea typeface="Calibri" pitchFamily="34" charset="-122"/>
                <a:cs typeface="Calibri" pitchFamily="34" charset="-120"/>
              </a:rPr>
              <a:t>Long-term memory</a:t>
            </a:r>
            <a:endParaRPr lang="en-US" sz="1350" dirty="0"/>
          </a:p>
        </p:txBody>
      </p:sp>
      <p:sp>
        <p:nvSpPr>
          <p:cNvPr id="34" name="Text 26"/>
          <p:cNvSpPr/>
          <p:nvPr/>
        </p:nvSpPr>
        <p:spPr>
          <a:xfrm>
            <a:off x="4122344" y="4373209"/>
            <a:ext cx="1616888" cy="661294"/>
          </a:xfrm>
          <a:prstGeom prst="rect">
            <a:avLst/>
          </a:prstGeom>
          <a:noFill/>
          <a:ln/>
        </p:spPr>
        <p:txBody>
          <a:bodyPr wrap="square" lIns="0" tIns="0" rIns="0" bIns="0" rtlCol="0" anchor="t"/>
          <a:lstStyle/>
          <a:p>
            <a:pPr marL="0" indent="0">
              <a:lnSpc>
                <a:spcPct val="113000"/>
              </a:lnSpc>
              <a:buNone/>
            </a:pPr>
            <a:r>
              <a:rPr lang="en-US" sz="1050" dirty="0">
                <a:solidFill>
                  <a:srgbClr val="6E6B8A"/>
                </a:solidFill>
                <a:latin typeface="Calibri" pitchFamily="34" charset="0"/>
                <a:ea typeface="Calibri" pitchFamily="34" charset="-122"/>
                <a:cs typeface="Calibri" pitchFamily="34" charset="-120"/>
              </a:rPr>
              <a:t>What survives across sessions</a:t>
            </a:r>
            <a:endParaRPr lang="en-US" sz="1050" dirty="0"/>
          </a:p>
        </p:txBody>
      </p:sp>
      <p:sp>
        <p:nvSpPr>
          <p:cNvPr id="35" name="Shape 27"/>
          <p:cNvSpPr/>
          <p:nvPr/>
        </p:nvSpPr>
        <p:spPr>
          <a:xfrm>
            <a:off x="6214720" y="3803904"/>
            <a:ext cx="2586152" cy="1413480"/>
          </a:xfrm>
          <a:prstGeom prst="roundRect">
            <a:avLst>
              <a:gd name="adj" fmla="val 5822"/>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36" name="Shape 28"/>
          <p:cNvSpPr/>
          <p:nvPr/>
        </p:nvSpPr>
        <p:spPr>
          <a:xfrm>
            <a:off x="6452464" y="4023360"/>
            <a:ext cx="365760" cy="365760"/>
          </a:xfrm>
          <a:prstGeom prst="ellipse">
            <a:avLst/>
          </a:prstGeom>
          <a:solidFill>
            <a:srgbClr val="5B4BE8"/>
          </a:solidFill>
          <a:ln w="12700">
            <a:solidFill>
              <a:srgbClr val="5B4BE8"/>
            </a:solidFill>
            <a:prstDash val="solid"/>
          </a:ln>
        </p:spPr>
        <p:txBody>
          <a:bodyPr/>
          <a:lstStyle/>
          <a:p>
            <a:endParaRPr lang="en-US"/>
          </a:p>
        </p:txBody>
      </p:sp>
      <p:pic>
        <p:nvPicPr>
          <p:cNvPr id="37" name="Image 6" descr="preencoded.png"/>
          <p:cNvPicPr>
            <a:picLocks noChangeAspect="1"/>
          </p:cNvPicPr>
          <p:nvPr/>
        </p:nvPicPr>
        <p:blipFill>
          <a:blip r:embed="rId9"/>
          <a:stretch>
            <a:fillRect/>
          </a:stretch>
        </p:blipFill>
        <p:spPr>
          <a:xfrm>
            <a:off x="6543904" y="4114800"/>
            <a:ext cx="182880" cy="182880"/>
          </a:xfrm>
          <a:prstGeom prst="rect">
            <a:avLst/>
          </a:prstGeom>
        </p:spPr>
      </p:pic>
      <p:sp>
        <p:nvSpPr>
          <p:cNvPr id="38" name="Text 29"/>
          <p:cNvSpPr/>
          <p:nvPr/>
        </p:nvSpPr>
        <p:spPr>
          <a:xfrm>
            <a:off x="6946240" y="4041648"/>
            <a:ext cx="1616888" cy="589971"/>
          </a:xfrm>
          <a:prstGeom prst="rect">
            <a:avLst/>
          </a:prstGeom>
          <a:noFill/>
          <a:ln/>
        </p:spPr>
        <p:txBody>
          <a:bodyPr wrap="square" lIns="0" tIns="0" rIns="0" bIns="0" rtlCol="0" anchor="t"/>
          <a:lstStyle/>
          <a:p>
            <a:pPr marL="0" indent="0">
              <a:lnSpc>
                <a:spcPct val="105000"/>
              </a:lnSpc>
              <a:buNone/>
            </a:pPr>
            <a:r>
              <a:rPr lang="en-US" sz="1350" b="1" dirty="0">
                <a:solidFill>
                  <a:srgbClr val="141235"/>
                </a:solidFill>
                <a:latin typeface="Calibri" pitchFamily="34" charset="0"/>
                <a:ea typeface="Calibri" pitchFamily="34" charset="-122"/>
                <a:cs typeface="Calibri" pitchFamily="34" charset="-120"/>
              </a:rPr>
              <a:t>Retrieved information</a:t>
            </a:r>
            <a:endParaRPr lang="en-US" sz="1350" dirty="0"/>
          </a:p>
        </p:txBody>
      </p:sp>
      <p:sp>
        <p:nvSpPr>
          <p:cNvPr id="39" name="Text 30"/>
          <p:cNvSpPr/>
          <p:nvPr/>
        </p:nvSpPr>
        <p:spPr>
          <a:xfrm>
            <a:off x="6946240" y="4640763"/>
            <a:ext cx="1616888" cy="393741"/>
          </a:xfrm>
          <a:prstGeom prst="rect">
            <a:avLst/>
          </a:prstGeom>
          <a:noFill/>
          <a:ln/>
        </p:spPr>
        <p:txBody>
          <a:bodyPr wrap="square" lIns="0" tIns="0" rIns="0" bIns="0" rtlCol="0" anchor="t"/>
          <a:lstStyle/>
          <a:p>
            <a:pPr marL="0" indent="0">
              <a:lnSpc>
                <a:spcPct val="113000"/>
              </a:lnSpc>
              <a:buNone/>
            </a:pPr>
            <a:r>
              <a:rPr lang="en-US" sz="1050" dirty="0">
                <a:solidFill>
                  <a:srgbClr val="6E6B8A"/>
                </a:solidFill>
                <a:latin typeface="Calibri" pitchFamily="34" charset="0"/>
                <a:ea typeface="Calibri" pitchFamily="34" charset="-122"/>
                <a:cs typeface="Calibri" pitchFamily="34" charset="-120"/>
              </a:rPr>
              <a:t>Documents, databases, APIs — modules 11 and 12</a:t>
            </a:r>
            <a:endParaRPr lang="en-US" sz="1050" dirty="0"/>
          </a:p>
        </p:txBody>
      </p:sp>
      <p:sp>
        <p:nvSpPr>
          <p:cNvPr id="40" name="Shape 31"/>
          <p:cNvSpPr/>
          <p:nvPr/>
        </p:nvSpPr>
        <p:spPr>
          <a:xfrm>
            <a:off x="9038615" y="3803904"/>
            <a:ext cx="2586152" cy="1413480"/>
          </a:xfrm>
          <a:prstGeom prst="roundRect">
            <a:avLst>
              <a:gd name="adj" fmla="val 5822"/>
            </a:avLst>
          </a:prstGeom>
          <a:solidFill>
            <a:srgbClr val="FFF4E0"/>
          </a:solidFill>
          <a:ln w="12700">
            <a:solidFill>
              <a:srgbClr val="F3DCB0"/>
            </a:solidFill>
            <a:prstDash val="solid"/>
          </a:ln>
          <a:effectLst>
            <a:outerShdw blurRad="114300" dist="572" dir="5400000" algn="bl" rotWithShape="0">
              <a:srgbClr val="1B1A4A">
                <a:alpha val="7000"/>
              </a:srgbClr>
            </a:outerShdw>
          </a:effectLst>
        </p:spPr>
        <p:txBody>
          <a:bodyPr/>
          <a:lstStyle/>
          <a:p>
            <a:endParaRPr lang="en-US"/>
          </a:p>
        </p:txBody>
      </p:sp>
      <p:sp>
        <p:nvSpPr>
          <p:cNvPr id="41" name="Shape 32"/>
          <p:cNvSpPr/>
          <p:nvPr/>
        </p:nvSpPr>
        <p:spPr>
          <a:xfrm>
            <a:off x="9276359" y="4023360"/>
            <a:ext cx="365760" cy="365760"/>
          </a:xfrm>
          <a:prstGeom prst="ellipse">
            <a:avLst/>
          </a:prstGeom>
          <a:solidFill>
            <a:srgbClr val="F5A524"/>
          </a:solidFill>
          <a:ln w="12700">
            <a:solidFill>
              <a:srgbClr val="F5A524"/>
            </a:solidFill>
            <a:prstDash val="solid"/>
          </a:ln>
        </p:spPr>
        <p:txBody>
          <a:bodyPr/>
          <a:lstStyle/>
          <a:p>
            <a:endParaRPr lang="en-US"/>
          </a:p>
        </p:txBody>
      </p:sp>
      <p:pic>
        <p:nvPicPr>
          <p:cNvPr id="42" name="Image 7" descr="preencoded.png"/>
          <p:cNvPicPr>
            <a:picLocks noChangeAspect="1"/>
          </p:cNvPicPr>
          <p:nvPr/>
        </p:nvPicPr>
        <p:blipFill>
          <a:blip r:embed="rId10"/>
          <a:stretch>
            <a:fillRect/>
          </a:stretch>
        </p:blipFill>
        <p:spPr>
          <a:xfrm>
            <a:off x="9367799" y="4114800"/>
            <a:ext cx="182880" cy="182880"/>
          </a:xfrm>
          <a:prstGeom prst="rect">
            <a:avLst/>
          </a:prstGeom>
        </p:spPr>
      </p:pic>
      <p:sp>
        <p:nvSpPr>
          <p:cNvPr id="43" name="Text 33"/>
          <p:cNvSpPr/>
          <p:nvPr/>
        </p:nvSpPr>
        <p:spPr>
          <a:xfrm>
            <a:off x="9770135" y="4041648"/>
            <a:ext cx="1616888" cy="589971"/>
          </a:xfrm>
          <a:prstGeom prst="rect">
            <a:avLst/>
          </a:prstGeom>
          <a:noFill/>
          <a:ln/>
        </p:spPr>
        <p:txBody>
          <a:bodyPr wrap="square" lIns="0" tIns="0" rIns="0" bIns="0" rtlCol="0" anchor="t"/>
          <a:lstStyle/>
          <a:p>
            <a:pPr marL="0" indent="0">
              <a:lnSpc>
                <a:spcPct val="105000"/>
              </a:lnSpc>
              <a:buNone/>
            </a:pPr>
            <a:r>
              <a:rPr lang="en-US" sz="1350" b="1" dirty="0">
                <a:solidFill>
                  <a:srgbClr val="141235"/>
                </a:solidFill>
                <a:latin typeface="Calibri" pitchFamily="34" charset="0"/>
                <a:ea typeface="Calibri" pitchFamily="34" charset="-122"/>
                <a:cs typeface="Calibri" pitchFamily="34" charset="-120"/>
              </a:rPr>
              <a:t>…and all of it is billed</a:t>
            </a:r>
            <a:endParaRPr lang="en-US" sz="1350" dirty="0"/>
          </a:p>
        </p:txBody>
      </p:sp>
      <p:sp>
        <p:nvSpPr>
          <p:cNvPr id="44" name="Text 34"/>
          <p:cNvSpPr/>
          <p:nvPr/>
        </p:nvSpPr>
        <p:spPr>
          <a:xfrm>
            <a:off x="9770135" y="4640763"/>
            <a:ext cx="1616888" cy="393741"/>
          </a:xfrm>
          <a:prstGeom prst="rect">
            <a:avLst/>
          </a:prstGeom>
          <a:noFill/>
          <a:ln/>
        </p:spPr>
        <p:txBody>
          <a:bodyPr wrap="square" lIns="0" tIns="0" rIns="0" bIns="0" rtlCol="0" anchor="t"/>
          <a:lstStyle/>
          <a:p>
            <a:pPr marL="0" indent="0">
              <a:lnSpc>
                <a:spcPct val="113000"/>
              </a:lnSpc>
              <a:buNone/>
            </a:pPr>
            <a:r>
              <a:rPr lang="en-US" sz="1050" dirty="0">
                <a:solidFill>
                  <a:srgbClr val="6E6B8A"/>
                </a:solidFill>
                <a:latin typeface="Calibri" pitchFamily="34" charset="0"/>
                <a:ea typeface="Calibri" pitchFamily="34" charset="-122"/>
                <a:cs typeface="Calibri" pitchFamily="34" charset="-120"/>
              </a:rPr>
              <a:t>Every turn. That is the whole problem.</a:t>
            </a:r>
            <a:endParaRPr lang="en-US" sz="1050" dirty="0"/>
          </a:p>
        </p:txBody>
      </p:sp>
      <p:sp>
        <p:nvSpPr>
          <p:cNvPr id="45" name="Shape 35"/>
          <p:cNvSpPr/>
          <p:nvPr/>
        </p:nvSpPr>
        <p:spPr>
          <a:xfrm>
            <a:off x="566928" y="5541264"/>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46" name="Shape 36"/>
          <p:cNvSpPr/>
          <p:nvPr/>
        </p:nvSpPr>
        <p:spPr>
          <a:xfrm>
            <a:off x="841248" y="5760720"/>
            <a:ext cx="384048" cy="384048"/>
          </a:xfrm>
          <a:prstGeom prst="ellipse">
            <a:avLst/>
          </a:prstGeom>
          <a:solidFill>
            <a:srgbClr val="F5A524"/>
          </a:solidFill>
          <a:ln w="12700">
            <a:solidFill>
              <a:srgbClr val="F5A524"/>
            </a:solidFill>
            <a:prstDash val="solid"/>
          </a:ln>
        </p:spPr>
        <p:txBody>
          <a:bodyPr/>
          <a:lstStyle/>
          <a:p>
            <a:endParaRPr lang="en-US"/>
          </a:p>
        </p:txBody>
      </p:sp>
      <p:pic>
        <p:nvPicPr>
          <p:cNvPr id="47" name="Image 8" descr="preencoded.png"/>
          <p:cNvPicPr>
            <a:picLocks noChangeAspect="1"/>
          </p:cNvPicPr>
          <p:nvPr/>
        </p:nvPicPr>
        <p:blipFill>
          <a:blip r:embed="rId11"/>
          <a:stretch>
            <a:fillRect/>
          </a:stretch>
        </p:blipFill>
        <p:spPr>
          <a:xfrm>
            <a:off x="937260" y="5856732"/>
            <a:ext cx="192024" cy="192024"/>
          </a:xfrm>
          <a:prstGeom prst="rect">
            <a:avLst/>
          </a:prstGeom>
        </p:spPr>
      </p:pic>
      <p:sp>
        <p:nvSpPr>
          <p:cNvPr id="48" name="Text 37"/>
          <p:cNvSpPr/>
          <p:nvPr/>
        </p:nvSpPr>
        <p:spPr>
          <a:xfrm>
            <a:off x="1371600" y="5596128"/>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“Prompt engineering” is one of these eight boxes. Context engineering is deciding what goes in all of them, and what you are willing to pay for.</a:t>
            </a:r>
            <a:endParaRPr lang="en-US" sz="10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05 · CONTEXT ENGINEERING</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3000" b="1" dirty="0">
                <a:solidFill>
                  <a:srgbClr val="141235"/>
                </a:solidFill>
                <a:latin typeface="Cambria" pitchFamily="34" charset="0"/>
                <a:ea typeface="Cambria" pitchFamily="34" charset="-122"/>
                <a:cs typeface="Cambria" pitchFamily="34" charset="-120"/>
              </a:rPr>
              <a:t>Load a capability when it's needed, not before</a:t>
            </a:r>
            <a:endParaRPr lang="en-US" sz="3000" dirty="0"/>
          </a:p>
        </p:txBody>
      </p:sp>
      <p:sp>
        <p:nvSpPr>
          <p:cNvPr id="4" name="Shape 2"/>
          <p:cNvSpPr/>
          <p:nvPr/>
        </p:nvSpPr>
        <p:spPr>
          <a:xfrm>
            <a:off x="566928" y="2593284"/>
            <a:ext cx="5410048" cy="2092056"/>
          </a:xfrm>
          <a:prstGeom prst="roundRect">
            <a:avLst>
              <a:gd name="adj" fmla="val 3934"/>
            </a:avLst>
          </a:prstGeom>
          <a:solidFill>
            <a:srgbClr val="FDECEC"/>
          </a:solidFill>
          <a:ln w="12700">
            <a:solidFill>
              <a:srgbClr val="F1C9C9"/>
            </a:solidFill>
            <a:prstDash val="solid"/>
          </a:ln>
          <a:effectLst>
            <a:outerShdw blurRad="114300" dist="572" dir="5400000" algn="bl" rotWithShape="0">
              <a:srgbClr val="1B1A4A">
                <a:alpha val="7000"/>
              </a:srgbClr>
            </a:outerShdw>
          </a:effectLst>
        </p:spPr>
        <p:txBody>
          <a:bodyPr/>
          <a:lstStyle/>
          <a:p>
            <a:endParaRPr lang="en-US"/>
          </a:p>
        </p:txBody>
      </p:sp>
      <p:sp>
        <p:nvSpPr>
          <p:cNvPr id="5" name="Shape 3"/>
          <p:cNvSpPr/>
          <p:nvPr/>
        </p:nvSpPr>
        <p:spPr>
          <a:xfrm>
            <a:off x="804672" y="2812740"/>
            <a:ext cx="365760" cy="365760"/>
          </a:xfrm>
          <a:prstGeom prst="ellipse">
            <a:avLst/>
          </a:prstGeom>
          <a:solidFill>
            <a:srgbClr val="D93A3F"/>
          </a:solidFill>
          <a:ln w="12700">
            <a:solidFill>
              <a:srgbClr val="D93A3F"/>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896112" y="2904180"/>
            <a:ext cx="182880" cy="182880"/>
          </a:xfrm>
          <a:prstGeom prst="rect">
            <a:avLst/>
          </a:prstGeom>
        </p:spPr>
      </p:pic>
      <p:sp>
        <p:nvSpPr>
          <p:cNvPr id="7" name="Text 4"/>
          <p:cNvSpPr/>
          <p:nvPr/>
        </p:nvSpPr>
        <p:spPr>
          <a:xfrm>
            <a:off x="1298448" y="2803596"/>
            <a:ext cx="4440784"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THE DEFAULT</a:t>
            </a:r>
            <a:endParaRPr lang="en-US" sz="850" dirty="0"/>
          </a:p>
        </p:txBody>
      </p:sp>
      <p:sp>
        <p:nvSpPr>
          <p:cNvPr id="8" name="Text 5"/>
          <p:cNvSpPr/>
          <p:nvPr/>
        </p:nvSpPr>
        <p:spPr>
          <a:xfrm>
            <a:off x="1298448" y="3023052"/>
            <a:ext cx="4440784" cy="370698"/>
          </a:xfrm>
          <a:prstGeom prst="rect">
            <a:avLst/>
          </a:prstGeom>
          <a:noFill/>
          <a:ln/>
        </p:spPr>
        <p:txBody>
          <a:bodyPr wrap="square" lIns="0" tIns="0" rIns="0" bIns="0" rtlCol="0" anchor="t"/>
          <a:lstStyle/>
          <a:p>
            <a:pPr marL="0" indent="0">
              <a:lnSpc>
                <a:spcPct val="105000"/>
              </a:lnSpc>
              <a:buNone/>
            </a:pPr>
            <a:r>
              <a:rPr lang="en-US" sz="1650" b="1" dirty="0">
                <a:solidFill>
                  <a:srgbClr val="141235"/>
                </a:solidFill>
                <a:latin typeface="Calibri" pitchFamily="34" charset="0"/>
                <a:ea typeface="Calibri" pitchFamily="34" charset="-122"/>
                <a:cs typeface="Calibri" pitchFamily="34" charset="-120"/>
              </a:rPr>
              <a:t>Everything, up front</a:t>
            </a:r>
            <a:endParaRPr lang="en-US" sz="1650" dirty="0"/>
          </a:p>
        </p:txBody>
      </p:sp>
      <p:sp>
        <p:nvSpPr>
          <p:cNvPr id="9" name="Text 6"/>
          <p:cNvSpPr/>
          <p:nvPr/>
        </p:nvSpPr>
        <p:spPr>
          <a:xfrm>
            <a:off x="1298448" y="3402894"/>
            <a:ext cx="4440784" cy="1099566"/>
          </a:xfrm>
          <a:prstGeom prst="rect">
            <a:avLst/>
          </a:prstGeom>
          <a:noFill/>
          <a:ln/>
        </p:spPr>
        <p:txBody>
          <a:bodyPr wrap="square" lIns="0" tIns="0" rIns="0" bIns="0" rtlCol="0" anchor="t"/>
          <a:lstStyle/>
          <a:p>
            <a:pPr marL="0" indent="0">
              <a:lnSpc>
                <a:spcPct val="113000"/>
              </a:lnSpc>
              <a:buNone/>
            </a:pPr>
            <a:r>
              <a:rPr lang="en-US" sz="1250" dirty="0">
                <a:solidFill>
                  <a:srgbClr val="6E6B8A"/>
                </a:solidFill>
                <a:latin typeface="Calibri" pitchFamily="34" charset="0"/>
                <a:ea typeface="Calibri" pitchFamily="34" charset="-122"/>
                <a:cs typeface="Calibri" pitchFamily="34" charset="-120"/>
              </a:rPr>
              <a:t>Every tool's full schema and instructions sit in context on every turn, used or not. Twenty tools is a permanent tax on every single call — and it makes the model worse at choosing, because there is more to sift through.</a:t>
            </a:r>
            <a:endParaRPr lang="en-US" sz="1250" dirty="0"/>
          </a:p>
        </p:txBody>
      </p:sp>
      <p:sp>
        <p:nvSpPr>
          <p:cNvPr id="10" name="Shape 7"/>
          <p:cNvSpPr/>
          <p:nvPr/>
        </p:nvSpPr>
        <p:spPr>
          <a:xfrm>
            <a:off x="6214720" y="2593284"/>
            <a:ext cx="5410048" cy="2092056"/>
          </a:xfrm>
          <a:prstGeom prst="roundRect">
            <a:avLst>
              <a:gd name="adj" fmla="val 3934"/>
            </a:avLst>
          </a:prstGeom>
          <a:solidFill>
            <a:srgbClr val="E7F7F1"/>
          </a:solidFill>
          <a:ln w="12700">
            <a:solidFill>
              <a:srgbClr val="C2E6D7"/>
            </a:solidFill>
            <a:prstDash val="solid"/>
          </a:ln>
          <a:effectLst>
            <a:outerShdw blurRad="114300" dist="572" dir="5400000" algn="bl" rotWithShape="0">
              <a:srgbClr val="1B1A4A">
                <a:alpha val="7000"/>
              </a:srgbClr>
            </a:outerShdw>
          </a:effectLst>
        </p:spPr>
        <p:txBody>
          <a:bodyPr/>
          <a:lstStyle/>
          <a:p>
            <a:endParaRPr lang="en-US"/>
          </a:p>
        </p:txBody>
      </p:sp>
      <p:sp>
        <p:nvSpPr>
          <p:cNvPr id="11" name="Shape 8"/>
          <p:cNvSpPr/>
          <p:nvPr/>
        </p:nvSpPr>
        <p:spPr>
          <a:xfrm>
            <a:off x="6452464" y="2812740"/>
            <a:ext cx="365760" cy="365760"/>
          </a:xfrm>
          <a:prstGeom prst="ellipse">
            <a:avLst/>
          </a:prstGeom>
          <a:solidFill>
            <a:srgbClr val="0E9F6E"/>
          </a:solidFill>
          <a:ln w="12700">
            <a:solidFill>
              <a:srgbClr val="0E9F6E"/>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6543904" y="2904180"/>
            <a:ext cx="182880" cy="182880"/>
          </a:xfrm>
          <a:prstGeom prst="rect">
            <a:avLst/>
          </a:prstGeom>
        </p:spPr>
      </p:pic>
      <p:sp>
        <p:nvSpPr>
          <p:cNvPr id="13" name="Text 9"/>
          <p:cNvSpPr/>
          <p:nvPr/>
        </p:nvSpPr>
        <p:spPr>
          <a:xfrm>
            <a:off x="6946240" y="2803596"/>
            <a:ext cx="4440784"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PROGRESSIVE DISCLOSURE</a:t>
            </a:r>
            <a:endParaRPr lang="en-US" sz="850" dirty="0"/>
          </a:p>
        </p:txBody>
      </p:sp>
      <p:sp>
        <p:nvSpPr>
          <p:cNvPr id="14" name="Text 10"/>
          <p:cNvSpPr/>
          <p:nvPr/>
        </p:nvSpPr>
        <p:spPr>
          <a:xfrm>
            <a:off x="6946240" y="3023052"/>
            <a:ext cx="4440784" cy="370698"/>
          </a:xfrm>
          <a:prstGeom prst="rect">
            <a:avLst/>
          </a:prstGeom>
          <a:noFill/>
          <a:ln/>
        </p:spPr>
        <p:txBody>
          <a:bodyPr wrap="square" lIns="0" tIns="0" rIns="0" bIns="0" rtlCol="0" anchor="t"/>
          <a:lstStyle/>
          <a:p>
            <a:pPr marL="0" indent="0">
              <a:lnSpc>
                <a:spcPct val="105000"/>
              </a:lnSpc>
              <a:buNone/>
            </a:pPr>
            <a:r>
              <a:rPr lang="en-US" sz="1650" b="1" dirty="0">
                <a:solidFill>
                  <a:srgbClr val="141235"/>
                </a:solidFill>
                <a:latin typeface="Calibri" pitchFamily="34" charset="0"/>
                <a:ea typeface="Calibri" pitchFamily="34" charset="-122"/>
                <a:cs typeface="Calibri" pitchFamily="34" charset="-120"/>
              </a:rPr>
              <a:t>A catalogue, then detail on request</a:t>
            </a:r>
            <a:endParaRPr lang="en-US" sz="1650" dirty="0"/>
          </a:p>
        </p:txBody>
      </p:sp>
      <p:sp>
        <p:nvSpPr>
          <p:cNvPr id="15" name="Text 11"/>
          <p:cNvSpPr/>
          <p:nvPr/>
        </p:nvSpPr>
        <p:spPr>
          <a:xfrm>
            <a:off x="6946240" y="3402894"/>
            <a:ext cx="4440784" cy="1099566"/>
          </a:xfrm>
          <a:prstGeom prst="rect">
            <a:avLst/>
          </a:prstGeom>
          <a:noFill/>
          <a:ln/>
        </p:spPr>
        <p:txBody>
          <a:bodyPr wrap="square" lIns="0" tIns="0" rIns="0" bIns="0" rtlCol="0" anchor="t"/>
          <a:lstStyle/>
          <a:p>
            <a:pPr marL="0" indent="0">
              <a:lnSpc>
                <a:spcPct val="113000"/>
              </a:lnSpc>
              <a:buNone/>
            </a:pPr>
            <a:r>
              <a:rPr lang="en-US" sz="1250" dirty="0">
                <a:solidFill>
                  <a:srgbClr val="6E6B8A"/>
                </a:solidFill>
                <a:latin typeface="Calibri" pitchFamily="34" charset="0"/>
                <a:ea typeface="Calibri" pitchFamily="34" charset="-122"/>
                <a:cs typeface="Calibri" pitchFamily="34" charset="-120"/>
              </a:rPr>
              <a:t>A short list of what exists, plus one tool that fetches the full definition when the model actually wants it. Context stays small, choices stay sharp, and adding the fiftieth tool costs almost nothing.</a:t>
            </a:r>
            <a:endParaRPr lang="en-US" sz="1250" dirty="0"/>
          </a:p>
        </p:txBody>
      </p:sp>
      <p:sp>
        <p:nvSpPr>
          <p:cNvPr id="16" name="Shape 12"/>
          <p:cNvSpPr/>
          <p:nvPr/>
        </p:nvSpPr>
        <p:spPr>
          <a:xfrm>
            <a:off x="566928" y="5541264"/>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17" name="Shape 13"/>
          <p:cNvSpPr/>
          <p:nvPr/>
        </p:nvSpPr>
        <p:spPr>
          <a:xfrm>
            <a:off x="841248" y="5760720"/>
            <a:ext cx="384048" cy="384048"/>
          </a:xfrm>
          <a:prstGeom prst="ellipse">
            <a:avLst/>
          </a:prstGeom>
          <a:solidFill>
            <a:srgbClr val="F5A524"/>
          </a:solidFill>
          <a:ln w="12700">
            <a:solidFill>
              <a:srgbClr val="F5A524"/>
            </a:solidFill>
            <a:prstDash val="solid"/>
          </a:ln>
        </p:spPr>
        <p:txBody>
          <a:bodyPr/>
          <a:lstStyle/>
          <a:p>
            <a:endParaRPr lang="en-US"/>
          </a:p>
        </p:txBody>
      </p:sp>
      <p:pic>
        <p:nvPicPr>
          <p:cNvPr id="18" name="Image 2" descr="preencoded.png"/>
          <p:cNvPicPr>
            <a:picLocks noChangeAspect="1"/>
          </p:cNvPicPr>
          <p:nvPr/>
        </p:nvPicPr>
        <p:blipFill>
          <a:blip r:embed="rId5"/>
          <a:stretch>
            <a:fillRect/>
          </a:stretch>
        </p:blipFill>
        <p:spPr>
          <a:xfrm>
            <a:off x="937260" y="5856732"/>
            <a:ext cx="192024" cy="192024"/>
          </a:xfrm>
          <a:prstGeom prst="rect">
            <a:avLst/>
          </a:prstGeom>
        </p:spPr>
      </p:pic>
      <p:sp>
        <p:nvSpPr>
          <p:cNvPr id="19" name="Text 14"/>
          <p:cNvSpPr/>
          <p:nvPr/>
        </p:nvSpPr>
        <p:spPr>
          <a:xfrm>
            <a:off x="1371600" y="5596128"/>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Give someone a table of contents and let them ask for the chapter, rather than posting them the whole manual before every question.</a:t>
            </a:r>
            <a:endParaRPr lang="en-US" sz="10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05 · CONTEXT ENGINEERING</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2600" b="1" dirty="0">
                <a:solidFill>
                  <a:srgbClr val="141235"/>
                </a:solidFill>
                <a:latin typeface="Cambria" pitchFamily="34" charset="0"/>
                <a:ea typeface="Cambria" pitchFamily="34" charset="-122"/>
                <a:cs typeface="Cambria" pitchFamily="34" charset="-120"/>
              </a:rPr>
              <a:t>Without compaction, every turn re-sends everything before it</a:t>
            </a:r>
            <a:endParaRPr lang="en-US" sz="2600" dirty="0"/>
          </a:p>
        </p:txBody>
      </p:sp>
      <p:graphicFrame>
        <p:nvGraphicFramePr>
          <p:cNvPr id="4" name="Chart 0"/>
          <p:cNvGraphicFramePr/>
          <p:nvPr/>
        </p:nvGraphicFramePr>
        <p:xfrm>
          <a:off x="566928" y="1810512"/>
          <a:ext cx="685800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7680960" y="1883664"/>
            <a:ext cx="3943807" cy="1133856"/>
          </a:xfrm>
          <a:prstGeom prst="roundRect">
            <a:avLst>
              <a:gd name="adj" fmla="val 7258"/>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6" name="Shape 3"/>
          <p:cNvSpPr/>
          <p:nvPr/>
        </p:nvSpPr>
        <p:spPr>
          <a:xfrm>
            <a:off x="7918704" y="2103120"/>
            <a:ext cx="365760" cy="365760"/>
          </a:xfrm>
          <a:prstGeom prst="ellipse">
            <a:avLst/>
          </a:prstGeom>
          <a:solidFill>
            <a:srgbClr val="D93A3F"/>
          </a:solidFill>
          <a:ln w="12700">
            <a:solidFill>
              <a:srgbClr val="D93A3F"/>
            </a:solidFill>
            <a:prstDash val="solid"/>
          </a:ln>
        </p:spPr>
        <p:txBody>
          <a:bodyPr/>
          <a:lstStyle/>
          <a:p>
            <a:endParaRPr lang="en-US"/>
          </a:p>
        </p:txBody>
      </p:sp>
      <p:pic>
        <p:nvPicPr>
          <p:cNvPr id="7" name="Image 0" descr="preencoded.png"/>
          <p:cNvPicPr>
            <a:picLocks noChangeAspect="1"/>
          </p:cNvPicPr>
          <p:nvPr/>
        </p:nvPicPr>
        <p:blipFill>
          <a:blip r:embed="rId4"/>
          <a:stretch>
            <a:fillRect/>
          </a:stretch>
        </p:blipFill>
        <p:spPr>
          <a:xfrm>
            <a:off x="8010144" y="2194560"/>
            <a:ext cx="182880" cy="182880"/>
          </a:xfrm>
          <a:prstGeom prst="rect">
            <a:avLst/>
          </a:prstGeom>
        </p:spPr>
      </p:pic>
      <p:sp>
        <p:nvSpPr>
          <p:cNvPr id="8" name="Text 4"/>
          <p:cNvSpPr/>
          <p:nvPr/>
        </p:nvSpPr>
        <p:spPr>
          <a:xfrm>
            <a:off x="8412480" y="2121408"/>
            <a:ext cx="2974543" cy="589971"/>
          </a:xfrm>
          <a:prstGeom prst="rect">
            <a:avLst/>
          </a:prstGeom>
          <a:noFill/>
          <a:ln/>
        </p:spPr>
        <p:txBody>
          <a:bodyPr wrap="square" lIns="0" tIns="0" rIns="0" bIns="0" rtlCol="0" anchor="t"/>
          <a:lstStyle/>
          <a:p>
            <a:pPr marL="0" indent="0">
              <a:lnSpc>
                <a:spcPct val="105000"/>
              </a:lnSpc>
              <a:buNone/>
            </a:pPr>
            <a:r>
              <a:rPr lang="en-US" sz="1350" b="1" dirty="0">
                <a:solidFill>
                  <a:srgbClr val="141235"/>
                </a:solidFill>
                <a:latin typeface="Calibri" pitchFamily="34" charset="0"/>
                <a:ea typeface="Calibri" pitchFamily="34" charset="-122"/>
                <a:cs typeface="Calibri" pitchFamily="34" charset="-120"/>
              </a:rPr>
              <a:t>Cost climbs with turns, not questions</a:t>
            </a:r>
            <a:endParaRPr lang="en-US" sz="1350" dirty="0"/>
          </a:p>
        </p:txBody>
      </p:sp>
      <p:sp>
        <p:nvSpPr>
          <p:cNvPr id="9" name="Text 5"/>
          <p:cNvSpPr/>
          <p:nvPr/>
        </p:nvSpPr>
        <p:spPr>
          <a:xfrm>
            <a:off x="8412480" y="2720523"/>
            <a:ext cx="2974543" cy="114117"/>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One question that takes five turns costs far more than five questions that take one. Nobody's budget model assumes this.</a:t>
            </a:r>
            <a:endParaRPr lang="en-US" sz="1100" dirty="0"/>
          </a:p>
        </p:txBody>
      </p:sp>
      <p:sp>
        <p:nvSpPr>
          <p:cNvPr id="10" name="Shape 6"/>
          <p:cNvSpPr/>
          <p:nvPr/>
        </p:nvSpPr>
        <p:spPr>
          <a:xfrm>
            <a:off x="7680960" y="3108960"/>
            <a:ext cx="3943807" cy="1133856"/>
          </a:xfrm>
          <a:prstGeom prst="roundRect">
            <a:avLst>
              <a:gd name="adj" fmla="val 7258"/>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1" name="Shape 7"/>
          <p:cNvSpPr/>
          <p:nvPr/>
        </p:nvSpPr>
        <p:spPr>
          <a:xfrm>
            <a:off x="7918704" y="3328416"/>
            <a:ext cx="365760" cy="365760"/>
          </a:xfrm>
          <a:prstGeom prst="ellipse">
            <a:avLst/>
          </a:prstGeom>
          <a:solidFill>
            <a:srgbClr val="5B4BE8"/>
          </a:solidFill>
          <a:ln w="12700">
            <a:solidFill>
              <a:srgbClr val="5B4BE8"/>
            </a:solidFill>
            <a:prstDash val="solid"/>
          </a:ln>
        </p:spPr>
        <p:txBody>
          <a:bodyPr/>
          <a:lstStyle/>
          <a:p>
            <a:endParaRPr lang="en-US"/>
          </a:p>
        </p:txBody>
      </p:sp>
      <p:pic>
        <p:nvPicPr>
          <p:cNvPr id="12" name="Image 1" descr="preencoded.png"/>
          <p:cNvPicPr>
            <a:picLocks noChangeAspect="1"/>
          </p:cNvPicPr>
          <p:nvPr/>
        </p:nvPicPr>
        <p:blipFill>
          <a:blip r:embed="rId5"/>
          <a:stretch>
            <a:fillRect/>
          </a:stretch>
        </p:blipFill>
        <p:spPr>
          <a:xfrm>
            <a:off x="8010144" y="3419856"/>
            <a:ext cx="182880" cy="182880"/>
          </a:xfrm>
          <a:prstGeom prst="rect">
            <a:avLst/>
          </a:prstGeom>
        </p:spPr>
      </p:pic>
      <p:sp>
        <p:nvSpPr>
          <p:cNvPr id="13" name="Text 8"/>
          <p:cNvSpPr/>
          <p:nvPr/>
        </p:nvSpPr>
        <p:spPr>
          <a:xfrm>
            <a:off x="8412480" y="3346704"/>
            <a:ext cx="2974543" cy="322417"/>
          </a:xfrm>
          <a:prstGeom prst="rect">
            <a:avLst/>
          </a:prstGeom>
          <a:noFill/>
          <a:ln/>
        </p:spPr>
        <p:txBody>
          <a:bodyPr wrap="square" lIns="0" tIns="0" rIns="0" bIns="0" rtlCol="0" anchor="t"/>
          <a:lstStyle/>
          <a:p>
            <a:pPr marL="0" indent="0">
              <a:lnSpc>
                <a:spcPct val="105000"/>
              </a:lnSpc>
              <a:buNone/>
            </a:pPr>
            <a:r>
              <a:rPr lang="en-US" sz="1350" b="1" dirty="0">
                <a:solidFill>
                  <a:srgbClr val="141235"/>
                </a:solidFill>
                <a:latin typeface="Calibri" pitchFamily="34" charset="0"/>
                <a:ea typeface="Calibri" pitchFamily="34" charset="-122"/>
                <a:cs typeface="Calibri" pitchFamily="34" charset="-120"/>
              </a:rPr>
              <a:t>Compaction</a:t>
            </a:r>
            <a:endParaRPr lang="en-US" sz="1350" dirty="0"/>
          </a:p>
        </p:txBody>
      </p:sp>
      <p:sp>
        <p:nvSpPr>
          <p:cNvPr id="14" name="Text 9"/>
          <p:cNvSpPr/>
          <p:nvPr/>
        </p:nvSpPr>
        <p:spPr>
          <a:xfrm>
            <a:off x="8412480" y="3678265"/>
            <a:ext cx="2974543" cy="381671"/>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Summarise the history under a schema you control, then continue from the summary. The curve flattens instead of compounding.</a:t>
            </a:r>
            <a:endParaRPr lang="en-US" sz="1100" dirty="0"/>
          </a:p>
        </p:txBody>
      </p:sp>
      <p:sp>
        <p:nvSpPr>
          <p:cNvPr id="15" name="Shape 10"/>
          <p:cNvSpPr/>
          <p:nvPr/>
        </p:nvSpPr>
        <p:spPr>
          <a:xfrm>
            <a:off x="7680960" y="4334256"/>
            <a:ext cx="3943807" cy="1042416"/>
          </a:xfrm>
          <a:prstGeom prst="roundRect">
            <a:avLst>
              <a:gd name="adj" fmla="val 7895"/>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6" name="Shape 11"/>
          <p:cNvSpPr/>
          <p:nvPr/>
        </p:nvSpPr>
        <p:spPr>
          <a:xfrm>
            <a:off x="7918704" y="4553712"/>
            <a:ext cx="365760" cy="365760"/>
          </a:xfrm>
          <a:prstGeom prst="ellipse">
            <a:avLst/>
          </a:prstGeom>
          <a:solidFill>
            <a:srgbClr val="F5A524"/>
          </a:solidFill>
          <a:ln w="12700">
            <a:solidFill>
              <a:srgbClr val="F5A524"/>
            </a:solidFill>
            <a:prstDash val="solid"/>
          </a:ln>
        </p:spPr>
        <p:txBody>
          <a:bodyPr/>
          <a:lstStyle/>
          <a:p>
            <a:endParaRPr lang="en-US"/>
          </a:p>
        </p:txBody>
      </p:sp>
      <p:pic>
        <p:nvPicPr>
          <p:cNvPr id="17" name="Image 2" descr="preencoded.png"/>
          <p:cNvPicPr>
            <a:picLocks noChangeAspect="1"/>
          </p:cNvPicPr>
          <p:nvPr/>
        </p:nvPicPr>
        <p:blipFill>
          <a:blip r:embed="rId6"/>
          <a:stretch>
            <a:fillRect/>
          </a:stretch>
        </p:blipFill>
        <p:spPr>
          <a:xfrm>
            <a:off x="8010144" y="4645152"/>
            <a:ext cx="182880" cy="182880"/>
          </a:xfrm>
          <a:prstGeom prst="rect">
            <a:avLst/>
          </a:prstGeom>
        </p:spPr>
      </p:pic>
      <p:sp>
        <p:nvSpPr>
          <p:cNvPr id="18" name="Text 12"/>
          <p:cNvSpPr/>
          <p:nvPr/>
        </p:nvSpPr>
        <p:spPr>
          <a:xfrm>
            <a:off x="8412480" y="4572000"/>
            <a:ext cx="2974543" cy="322417"/>
          </a:xfrm>
          <a:prstGeom prst="rect">
            <a:avLst/>
          </a:prstGeom>
          <a:noFill/>
          <a:ln/>
        </p:spPr>
        <p:txBody>
          <a:bodyPr wrap="square" lIns="0" tIns="0" rIns="0" bIns="0" rtlCol="0" anchor="t"/>
          <a:lstStyle/>
          <a:p>
            <a:pPr marL="0" indent="0">
              <a:lnSpc>
                <a:spcPct val="105000"/>
              </a:lnSpc>
              <a:buNone/>
            </a:pPr>
            <a:r>
              <a:rPr lang="en-US" sz="1350" b="1" dirty="0">
                <a:solidFill>
                  <a:srgbClr val="141235"/>
                </a:solidFill>
                <a:latin typeface="Calibri" pitchFamily="34" charset="0"/>
                <a:ea typeface="Calibri" pitchFamily="34" charset="-122"/>
                <a:cs typeface="Calibri" pitchFamily="34" charset="-120"/>
              </a:rPr>
              <a:t>Summarise on purpose</a:t>
            </a:r>
            <a:endParaRPr lang="en-US" sz="1350" dirty="0"/>
          </a:p>
        </p:txBody>
      </p:sp>
      <p:sp>
        <p:nvSpPr>
          <p:cNvPr id="19" name="Text 13"/>
          <p:cNvSpPr/>
          <p:nvPr/>
        </p:nvSpPr>
        <p:spPr>
          <a:xfrm>
            <a:off x="8412480" y="4903561"/>
            <a:ext cx="2974543" cy="290231"/>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An uncontrolled summary drops the one fact the next turn needed. Decide what must always survive.</a:t>
            </a:r>
            <a:endParaRPr lang="en-US" sz="1100" dirty="0"/>
          </a:p>
        </p:txBody>
      </p:sp>
      <p:sp>
        <p:nvSpPr>
          <p:cNvPr id="20" name="Text 14"/>
          <p:cNvSpPr/>
          <p:nvPr/>
        </p:nvSpPr>
        <p:spPr>
          <a:xfrm>
            <a:off x="566928" y="5504688"/>
            <a:ext cx="11057839" cy="256032"/>
          </a:xfrm>
          <a:prstGeom prst="rect">
            <a:avLst/>
          </a:prstGeom>
          <a:noFill/>
          <a:ln/>
        </p:spPr>
        <p:txBody>
          <a:bodyPr wrap="square" lIns="0" tIns="0" rIns="0" bIns="0" rtlCol="0" anchor="ctr"/>
          <a:lstStyle/>
          <a:p>
            <a:pPr marL="0" indent="0">
              <a:buNone/>
            </a:pPr>
            <a:r>
              <a:rPr lang="en-US" sz="950" i="1" dirty="0">
                <a:solidFill>
                  <a:srgbClr val="9B98B4"/>
                </a:solidFill>
                <a:latin typeface="Calibri" pitchFamily="34" charset="0"/>
                <a:ea typeface="Calibri" pitchFamily="34" charset="-122"/>
                <a:cs typeface="Calibri" pitchFamily="34" charset="-120"/>
              </a:rPr>
              <a:t>Illustrative token counts — run the notebook's own counter live and use the real numbers from the room's session.</a:t>
            </a:r>
            <a:endParaRPr lang="en-US" sz="950" dirty="0"/>
          </a:p>
        </p:txBody>
      </p:sp>
      <p:sp>
        <p:nvSpPr>
          <p:cNvPr id="21" name="Shape 15"/>
          <p:cNvSpPr/>
          <p:nvPr/>
        </p:nvSpPr>
        <p:spPr>
          <a:xfrm>
            <a:off x="566928" y="5797296"/>
            <a:ext cx="11057839" cy="713232"/>
          </a:xfrm>
          <a:prstGeom prst="roundRect">
            <a:avLst>
              <a:gd name="adj" fmla="val 11538"/>
            </a:avLst>
          </a:prstGeom>
          <a:solidFill>
            <a:srgbClr val="FFF4E0"/>
          </a:solidFill>
          <a:ln w="12700">
            <a:solidFill>
              <a:srgbClr val="F3DCB0"/>
            </a:solidFill>
            <a:prstDash val="solid"/>
          </a:ln>
        </p:spPr>
        <p:txBody>
          <a:bodyPr/>
          <a:lstStyle/>
          <a:p>
            <a:endParaRPr lang="en-US"/>
          </a:p>
        </p:txBody>
      </p:sp>
      <p:sp>
        <p:nvSpPr>
          <p:cNvPr id="22" name="Shape 16"/>
          <p:cNvSpPr/>
          <p:nvPr/>
        </p:nvSpPr>
        <p:spPr>
          <a:xfrm>
            <a:off x="841248" y="5961888"/>
            <a:ext cx="384048" cy="384048"/>
          </a:xfrm>
          <a:prstGeom prst="ellipse">
            <a:avLst/>
          </a:prstGeom>
          <a:solidFill>
            <a:srgbClr val="F5A524"/>
          </a:solidFill>
          <a:ln w="12700">
            <a:solidFill>
              <a:srgbClr val="F5A524"/>
            </a:solidFill>
            <a:prstDash val="solid"/>
          </a:ln>
        </p:spPr>
        <p:txBody>
          <a:bodyPr/>
          <a:lstStyle/>
          <a:p>
            <a:endParaRPr lang="en-US"/>
          </a:p>
        </p:txBody>
      </p:sp>
      <p:pic>
        <p:nvPicPr>
          <p:cNvPr id="23" name="Image 3" descr="preencoded.png"/>
          <p:cNvPicPr>
            <a:picLocks noChangeAspect="1"/>
          </p:cNvPicPr>
          <p:nvPr/>
        </p:nvPicPr>
        <p:blipFill>
          <a:blip r:embed="rId7"/>
          <a:stretch>
            <a:fillRect/>
          </a:stretch>
        </p:blipFill>
        <p:spPr>
          <a:xfrm>
            <a:off x="937260" y="6057900"/>
            <a:ext cx="192024" cy="192024"/>
          </a:xfrm>
          <a:prstGeom prst="rect">
            <a:avLst/>
          </a:prstGeom>
        </p:spPr>
      </p:pic>
      <p:sp>
        <p:nvSpPr>
          <p:cNvPr id="24" name="Text 17"/>
          <p:cNvSpPr/>
          <p:nvPr/>
        </p:nvSpPr>
        <p:spPr>
          <a:xfrm>
            <a:off x="1371600" y="5852160"/>
            <a:ext cx="9960559" cy="603504"/>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The conversation is a snowball. Compaction is deciding, deliberately, what to keep when you re-pack it.</a:t>
            </a:r>
            <a:endParaRPr lang="en-US" sz="10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B0A22"/>
        </a:solidFill>
        <a:effectLst/>
      </p:bgPr>
    </p:bg>
    <p:spTree>
      <p:nvGrpSpPr>
        <p:cNvPr id="1" name=""/>
        <p:cNvGrpSpPr/>
        <p:nvPr/>
      </p:nvGrpSpPr>
      <p:grpSpPr>
        <a:xfrm>
          <a:off x="0" y="0"/>
          <a:ext cx="0" cy="0"/>
          <a:chOff x="0" y="0"/>
          <a:chExt cx="0" cy="0"/>
        </a:xfrm>
      </p:grpSpPr>
      <p:pic>
        <p:nvPicPr>
          <p:cNvPr id="2" name="Image 0" descr="/home/claude/work/bg_quote.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612648" y="1371600"/>
            <a:ext cx="11057839" cy="274320"/>
          </a:xfrm>
          <a:prstGeom prst="rect">
            <a:avLst/>
          </a:prstGeom>
          <a:noFill/>
          <a:ln/>
        </p:spPr>
        <p:txBody>
          <a:bodyPr wrap="square" lIns="0" tIns="0" rIns="0" bIns="0" rtlCol="0" anchor="ctr"/>
          <a:lstStyle/>
          <a:p>
            <a:pPr marL="0" indent="0">
              <a:buNone/>
            </a:pPr>
            <a:r>
              <a:rPr lang="en-US" sz="1050" b="1" kern="0" spc="220" dirty="0">
                <a:solidFill>
                  <a:srgbClr val="F5A524"/>
                </a:solidFill>
                <a:latin typeface="Calibri" pitchFamily="34" charset="0"/>
                <a:ea typeface="Calibri" pitchFamily="34" charset="-122"/>
                <a:cs typeface="Calibri" pitchFamily="34" charset="-120"/>
              </a:rPr>
              <a:t>05 · CONTEXT ENGINEERING</a:t>
            </a:r>
            <a:endParaRPr lang="en-US" sz="1050" dirty="0"/>
          </a:p>
        </p:txBody>
      </p:sp>
      <p:sp>
        <p:nvSpPr>
          <p:cNvPr id="4" name="Text 1"/>
          <p:cNvSpPr/>
          <p:nvPr/>
        </p:nvSpPr>
        <p:spPr>
          <a:xfrm>
            <a:off x="420624" y="1481328"/>
            <a:ext cx="1463040" cy="1463040"/>
          </a:xfrm>
          <a:prstGeom prst="rect">
            <a:avLst/>
          </a:prstGeom>
          <a:noFill/>
          <a:ln/>
        </p:spPr>
        <p:txBody>
          <a:bodyPr wrap="square" lIns="0" tIns="0" rIns="0" bIns="0" rtlCol="0" anchor="ctr"/>
          <a:lstStyle/>
          <a:p>
            <a:pPr marL="0" indent="0">
              <a:buNone/>
            </a:pPr>
            <a:r>
              <a:rPr lang="en-US" sz="15000" b="1" dirty="0">
                <a:solidFill>
                  <a:srgbClr val="8E82F5">
                    <a:alpha val="38000"/>
                  </a:srgbClr>
                </a:solidFill>
                <a:latin typeface="Cambria" pitchFamily="34" charset="0"/>
                <a:ea typeface="Cambria" pitchFamily="34" charset="-122"/>
                <a:cs typeface="Cambria" pitchFamily="34" charset="-120"/>
              </a:rPr>
              <a:t>“</a:t>
            </a:r>
            <a:endParaRPr lang="en-US" sz="15000" dirty="0"/>
          </a:p>
        </p:txBody>
      </p:sp>
      <p:sp>
        <p:nvSpPr>
          <p:cNvPr id="5" name="Text 2"/>
          <p:cNvSpPr/>
          <p:nvPr/>
        </p:nvSpPr>
        <p:spPr>
          <a:xfrm>
            <a:off x="612648" y="2212848"/>
            <a:ext cx="9960559" cy="2377440"/>
          </a:xfrm>
          <a:prstGeom prst="rect">
            <a:avLst/>
          </a:prstGeom>
          <a:noFill/>
          <a:ln/>
        </p:spPr>
        <p:txBody>
          <a:bodyPr wrap="square" lIns="0" tIns="0" rIns="0" bIns="0" rtlCol="0" anchor="t"/>
          <a:lstStyle/>
          <a:p>
            <a:pPr marL="0" indent="0">
              <a:lnSpc>
                <a:spcPct val="116000"/>
              </a:lnSpc>
              <a:buNone/>
            </a:pPr>
            <a:r>
              <a:rPr lang="en-US" sz="3400" b="1" dirty="0">
                <a:solidFill>
                  <a:srgbClr val="FFFFFF"/>
                </a:solidFill>
                <a:latin typeface="Cambria" pitchFamily="34" charset="0"/>
                <a:ea typeface="Cambria" pitchFamily="34" charset="-122"/>
                <a:cs typeface="Cambria" pitchFamily="34" charset="-120"/>
              </a:rPr>
              <a:t>Context filling up quietly ends</a:t>
            </a:r>
            <a:endParaRPr lang="en-US" sz="3400" dirty="0"/>
          </a:p>
          <a:p>
            <a:pPr marL="0" indent="0">
              <a:lnSpc>
                <a:spcPct val="116000"/>
              </a:lnSpc>
              <a:buNone/>
            </a:pPr>
            <a:r>
              <a:rPr lang="en-US" sz="3400" b="1" dirty="0">
                <a:solidFill>
                  <a:srgbClr val="FFFFFF"/>
                </a:solidFill>
                <a:latin typeface="Cambria" pitchFamily="34" charset="0"/>
                <a:ea typeface="Cambria" pitchFamily="34" charset="-122"/>
                <a:cs typeface="Cambria" pitchFamily="34" charset="-120"/>
              </a:rPr>
              <a:t>more pilots than any dramatic</a:t>
            </a:r>
            <a:endParaRPr lang="en-US" sz="3400" dirty="0"/>
          </a:p>
          <a:p>
            <a:pPr marL="0" indent="0">
              <a:lnSpc>
                <a:spcPct val="116000"/>
              </a:lnSpc>
              <a:buNone/>
            </a:pPr>
            <a:r>
              <a:rPr lang="en-US" sz="3400" b="1" dirty="0">
                <a:solidFill>
                  <a:srgbClr val="FFFFFF"/>
                </a:solidFill>
                <a:latin typeface="Cambria" pitchFamily="34" charset="0"/>
                <a:ea typeface="Cambria" pitchFamily="34" charset="-122"/>
                <a:cs typeface="Cambria" pitchFamily="34" charset="-120"/>
              </a:rPr>
              <a:t>failure does.</a:t>
            </a:r>
            <a:endParaRPr lang="en-US" sz="3400" dirty="0"/>
          </a:p>
        </p:txBody>
      </p:sp>
      <p:sp>
        <p:nvSpPr>
          <p:cNvPr id="6" name="Text 3"/>
          <p:cNvSpPr/>
          <p:nvPr/>
        </p:nvSpPr>
        <p:spPr>
          <a:xfrm>
            <a:off x="612648" y="4718304"/>
            <a:ext cx="9777679" cy="822960"/>
          </a:xfrm>
          <a:prstGeom prst="rect">
            <a:avLst/>
          </a:prstGeom>
          <a:noFill/>
          <a:ln/>
        </p:spPr>
        <p:txBody>
          <a:bodyPr wrap="square" lIns="0" tIns="0" rIns="0" bIns="0" rtlCol="0" anchor="t"/>
          <a:lstStyle/>
          <a:p>
            <a:pPr marL="0" indent="0">
              <a:lnSpc>
                <a:spcPct val="120000"/>
              </a:lnSpc>
              <a:buNone/>
            </a:pPr>
            <a:r>
              <a:rPr lang="en-US" sz="1450" dirty="0">
                <a:solidFill>
                  <a:srgbClr val="B9B4E0"/>
                </a:solidFill>
                <a:latin typeface="Calibri" pitchFamily="34" charset="0"/>
                <a:ea typeface="Calibri" pitchFamily="34" charset="-122"/>
                <a:cs typeface="Calibri" pitchFamily="34" charset="-120"/>
              </a:rPr>
              <a:t>Nobody writes a post-mortem about it. The agent just gets slower, more expensive and less accurate until somebody quietly turns it off.</a:t>
            </a:r>
            <a:endParaRPr lang="en-US" sz="14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B0A22"/>
        </a:solidFill>
        <a:effectLst/>
      </p:bgPr>
    </p:bg>
    <p:spTree>
      <p:nvGrpSpPr>
        <p:cNvPr id="1" name=""/>
        <p:cNvGrpSpPr/>
        <p:nvPr/>
      </p:nvGrpSpPr>
      <p:grpSpPr>
        <a:xfrm>
          <a:off x="0" y="0"/>
          <a:ext cx="0" cy="0"/>
          <a:chOff x="0" y="0"/>
          <a:chExt cx="0" cy="0"/>
        </a:xfrm>
      </p:grpSpPr>
      <p:pic>
        <p:nvPicPr>
          <p:cNvPr id="2" name="Image 0" descr="/home/claude/work/bg_dark.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6126480" y="1234440"/>
            <a:ext cx="5486400" cy="2743200"/>
          </a:xfrm>
          <a:prstGeom prst="rect">
            <a:avLst/>
          </a:prstGeom>
          <a:noFill/>
          <a:ln/>
        </p:spPr>
        <p:txBody>
          <a:bodyPr wrap="square" lIns="0" tIns="0" rIns="0" bIns="0" rtlCol="0" anchor="ctr"/>
          <a:lstStyle/>
          <a:p>
            <a:pPr marL="0" indent="0" algn="r">
              <a:buNone/>
            </a:pPr>
            <a:r>
              <a:rPr lang="en-US" sz="17600" b="1" dirty="0">
                <a:solidFill>
                  <a:srgbClr val="5B4BE8">
                    <a:alpha val="30000"/>
                  </a:srgbClr>
                </a:solidFill>
                <a:latin typeface="Cambria" pitchFamily="34" charset="0"/>
                <a:ea typeface="Cambria" pitchFamily="34" charset="-122"/>
                <a:cs typeface="Cambria" pitchFamily="34" charset="-120"/>
              </a:rPr>
              <a:t>06</a:t>
            </a:r>
            <a:endParaRPr lang="en-US" sz="17600" dirty="0"/>
          </a:p>
        </p:txBody>
      </p:sp>
      <p:sp>
        <p:nvSpPr>
          <p:cNvPr id="4" name="Shape 1"/>
          <p:cNvSpPr/>
          <p:nvPr/>
        </p:nvSpPr>
        <p:spPr>
          <a:xfrm>
            <a:off x="566928" y="2084832"/>
            <a:ext cx="566928" cy="566928"/>
          </a:xfrm>
          <a:prstGeom prst="ellipse">
            <a:avLst/>
          </a:prstGeom>
          <a:solidFill>
            <a:srgbClr val="F5A524"/>
          </a:solidFill>
          <a:ln w="12700">
            <a:solidFill>
              <a:srgbClr val="F5A524"/>
            </a:solidFill>
            <a:prstDash val="solid"/>
          </a:ln>
        </p:spPr>
        <p:txBody>
          <a:bodyPr/>
          <a:lstStyle/>
          <a:p>
            <a:endParaRPr lang="en-US"/>
          </a:p>
        </p:txBody>
      </p:sp>
      <p:pic>
        <p:nvPicPr>
          <p:cNvPr id="5" name="Image 1" descr="preencoded.png"/>
          <p:cNvPicPr>
            <a:picLocks noChangeAspect="1"/>
          </p:cNvPicPr>
          <p:nvPr/>
        </p:nvPicPr>
        <p:blipFill>
          <a:blip r:embed="rId4"/>
          <a:stretch>
            <a:fillRect/>
          </a:stretch>
        </p:blipFill>
        <p:spPr>
          <a:xfrm>
            <a:off x="708660" y="2226564"/>
            <a:ext cx="283464" cy="283464"/>
          </a:xfrm>
          <a:prstGeom prst="rect">
            <a:avLst/>
          </a:prstGeom>
        </p:spPr>
      </p:pic>
      <p:sp>
        <p:nvSpPr>
          <p:cNvPr id="6" name="Text 2"/>
          <p:cNvSpPr/>
          <p:nvPr/>
        </p:nvSpPr>
        <p:spPr>
          <a:xfrm>
            <a:off x="566928" y="2852928"/>
            <a:ext cx="7315200" cy="256032"/>
          </a:xfrm>
          <a:prstGeom prst="rect">
            <a:avLst/>
          </a:prstGeom>
          <a:noFill/>
          <a:ln/>
        </p:spPr>
        <p:txBody>
          <a:bodyPr wrap="square" lIns="0" tIns="0" rIns="0" bIns="0" rtlCol="0" anchor="ctr"/>
          <a:lstStyle/>
          <a:p>
            <a:pPr marL="0" indent="0">
              <a:buNone/>
            </a:pPr>
            <a:r>
              <a:rPr lang="en-US" sz="1100" b="1" kern="0" spc="240" dirty="0">
                <a:solidFill>
                  <a:srgbClr val="F5A524"/>
                </a:solidFill>
                <a:latin typeface="Calibri" pitchFamily="34" charset="0"/>
                <a:ea typeface="Calibri" pitchFamily="34" charset="-122"/>
                <a:cs typeface="Calibri" pitchFamily="34" charset="-120"/>
              </a:rPr>
              <a:t>MODULE 06</a:t>
            </a:r>
            <a:endParaRPr lang="en-US" sz="1100" dirty="0"/>
          </a:p>
        </p:txBody>
      </p:sp>
      <p:sp>
        <p:nvSpPr>
          <p:cNvPr id="7" name="Text 3"/>
          <p:cNvSpPr/>
          <p:nvPr/>
        </p:nvSpPr>
        <p:spPr>
          <a:xfrm>
            <a:off x="566928" y="3145536"/>
            <a:ext cx="8595360" cy="914400"/>
          </a:xfrm>
          <a:prstGeom prst="rect">
            <a:avLst/>
          </a:prstGeom>
          <a:noFill/>
          <a:ln/>
        </p:spPr>
        <p:txBody>
          <a:bodyPr wrap="square" lIns="0" tIns="0" rIns="0" bIns="0" rtlCol="0" anchor="t"/>
          <a:lstStyle/>
          <a:p>
            <a:pPr marL="0" indent="0">
              <a:buNone/>
            </a:pPr>
            <a:r>
              <a:rPr lang="en-US" sz="4600" b="1" dirty="0">
                <a:solidFill>
                  <a:srgbClr val="FFFFFF"/>
                </a:solidFill>
                <a:latin typeface="Cambria" pitchFamily="34" charset="0"/>
                <a:ea typeface="Cambria" pitchFamily="34" charset="-122"/>
                <a:cs typeface="Cambria" pitchFamily="34" charset="-120"/>
              </a:rPr>
              <a:t>Why MCP exists</a:t>
            </a:r>
            <a:endParaRPr lang="en-US" sz="4600" dirty="0"/>
          </a:p>
        </p:txBody>
      </p:sp>
      <p:sp>
        <p:nvSpPr>
          <p:cNvPr id="8" name="Text 4"/>
          <p:cNvSpPr/>
          <p:nvPr/>
        </p:nvSpPr>
        <p:spPr>
          <a:xfrm>
            <a:off x="566928" y="4169664"/>
            <a:ext cx="7863840" cy="731520"/>
          </a:xfrm>
          <a:prstGeom prst="rect">
            <a:avLst/>
          </a:prstGeom>
          <a:noFill/>
          <a:ln/>
        </p:spPr>
        <p:txBody>
          <a:bodyPr wrap="square" lIns="0" tIns="0" rIns="0" bIns="0" rtlCol="0" anchor="t"/>
          <a:lstStyle/>
          <a:p>
            <a:pPr marL="0" indent="0">
              <a:lnSpc>
                <a:spcPct val="120000"/>
              </a:lnSpc>
              <a:buNone/>
            </a:pPr>
            <a:r>
              <a:rPr lang="en-US" sz="1600" dirty="0">
                <a:solidFill>
                  <a:srgbClr val="B9B4E0"/>
                </a:solidFill>
                <a:latin typeface="Calibri" pitchFamily="34" charset="0"/>
                <a:ea typeface="Calibri" pitchFamily="34" charset="-122"/>
                <a:cs typeface="Calibri" pitchFamily="34" charset="-120"/>
              </a:rPr>
              <a:t>A standard boundary, so a tool written once works with any agent.</a:t>
            </a:r>
            <a:endParaRPr lang="en-US" sz="16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06 · MCP</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3000" b="1" dirty="0">
                <a:solidFill>
                  <a:srgbClr val="141235"/>
                </a:solidFill>
                <a:latin typeface="Cambria" pitchFamily="34" charset="0"/>
                <a:ea typeface="Cambria" pitchFamily="34" charset="-122"/>
                <a:cs typeface="Cambria" pitchFamily="34" charset="-120"/>
              </a:rPr>
              <a:t>The problem is combinatorial, not technical</a:t>
            </a:r>
            <a:endParaRPr lang="en-US" sz="3000" dirty="0"/>
          </a:p>
        </p:txBody>
      </p:sp>
      <p:sp>
        <p:nvSpPr>
          <p:cNvPr id="4" name="Shape 2"/>
          <p:cNvSpPr/>
          <p:nvPr/>
        </p:nvSpPr>
        <p:spPr>
          <a:xfrm>
            <a:off x="566928" y="1773936"/>
            <a:ext cx="5230368" cy="3200400"/>
          </a:xfrm>
          <a:prstGeom prst="roundRect">
            <a:avLst>
              <a:gd name="adj" fmla="val 2857"/>
            </a:avLst>
          </a:prstGeom>
          <a:solidFill>
            <a:srgbClr val="FDECEC"/>
          </a:solidFill>
          <a:ln w="12700">
            <a:solidFill>
              <a:srgbClr val="F1C9C9"/>
            </a:solidFill>
            <a:prstDash val="solid"/>
          </a:ln>
        </p:spPr>
        <p:txBody>
          <a:bodyPr/>
          <a:lstStyle/>
          <a:p>
            <a:endParaRPr lang="en-US"/>
          </a:p>
        </p:txBody>
      </p:sp>
      <p:sp>
        <p:nvSpPr>
          <p:cNvPr id="5" name="Text 3"/>
          <p:cNvSpPr/>
          <p:nvPr/>
        </p:nvSpPr>
        <p:spPr>
          <a:xfrm>
            <a:off x="822960" y="1920240"/>
            <a:ext cx="3657600" cy="237744"/>
          </a:xfrm>
          <a:prstGeom prst="rect">
            <a:avLst/>
          </a:prstGeom>
          <a:noFill/>
          <a:ln/>
        </p:spPr>
        <p:txBody>
          <a:bodyPr wrap="square" lIns="0" tIns="0" rIns="0" bIns="0" rtlCol="0" anchor="ctr"/>
          <a:lstStyle/>
          <a:p>
            <a:pPr marL="0" indent="0">
              <a:buNone/>
            </a:pPr>
            <a:r>
              <a:rPr lang="en-US" sz="950" b="1" kern="0" spc="180" dirty="0">
                <a:solidFill>
                  <a:srgbClr val="D93A3F"/>
                </a:solidFill>
                <a:latin typeface="Calibri" pitchFamily="34" charset="0"/>
                <a:ea typeface="Calibri" pitchFamily="34" charset="-122"/>
                <a:cs typeface="Calibri" pitchFamily="34" charset="-120"/>
              </a:rPr>
              <a:t>WITHOUT A STANDARD</a:t>
            </a:r>
            <a:endParaRPr lang="en-US" sz="950" dirty="0"/>
          </a:p>
        </p:txBody>
      </p:sp>
      <p:sp>
        <p:nvSpPr>
          <p:cNvPr id="6" name="Shape 4"/>
          <p:cNvSpPr/>
          <p:nvPr/>
        </p:nvSpPr>
        <p:spPr>
          <a:xfrm>
            <a:off x="877824" y="2286000"/>
            <a:ext cx="1463040" cy="512064"/>
          </a:xfrm>
          <a:prstGeom prst="roundRect">
            <a:avLst>
              <a:gd name="adj" fmla="val 14286"/>
            </a:avLst>
          </a:prstGeom>
          <a:solidFill>
            <a:srgbClr val="FFFFFF"/>
          </a:solidFill>
          <a:ln w="19050">
            <a:solidFill>
              <a:srgbClr val="E3E4F2"/>
            </a:solidFill>
            <a:prstDash val="solid"/>
          </a:ln>
        </p:spPr>
        <p:txBody>
          <a:bodyPr/>
          <a:lstStyle/>
          <a:p>
            <a:endParaRPr lang="en-US"/>
          </a:p>
        </p:txBody>
      </p:sp>
      <p:sp>
        <p:nvSpPr>
          <p:cNvPr id="7" name="Text 5"/>
          <p:cNvSpPr/>
          <p:nvPr/>
        </p:nvSpPr>
        <p:spPr>
          <a:xfrm>
            <a:off x="877824" y="2286000"/>
            <a:ext cx="1463040" cy="512064"/>
          </a:xfrm>
          <a:prstGeom prst="rect">
            <a:avLst/>
          </a:prstGeom>
          <a:noFill/>
          <a:ln/>
        </p:spPr>
        <p:txBody>
          <a:bodyPr wrap="square" lIns="635" tIns="635" rIns="635" bIns="635" rtlCol="0" anchor="ctr"/>
          <a:lstStyle/>
          <a:p>
            <a:pPr marL="0" indent="0" algn="ctr">
              <a:lnSpc>
                <a:spcPct val="110000"/>
              </a:lnSpc>
              <a:buNone/>
            </a:pPr>
            <a:r>
              <a:rPr lang="en-US" sz="1100" b="1" dirty="0">
                <a:solidFill>
                  <a:srgbClr val="141235"/>
                </a:solidFill>
                <a:latin typeface="Calibri" pitchFamily="34" charset="0"/>
                <a:ea typeface="Calibri" pitchFamily="34" charset="-122"/>
                <a:cs typeface="Calibri" pitchFamily="34" charset="-120"/>
              </a:rPr>
              <a:t>Agent A</a:t>
            </a:r>
            <a:endParaRPr lang="en-US" sz="1100" dirty="0"/>
          </a:p>
        </p:txBody>
      </p:sp>
      <p:sp>
        <p:nvSpPr>
          <p:cNvPr id="8" name="Shape 6"/>
          <p:cNvSpPr/>
          <p:nvPr/>
        </p:nvSpPr>
        <p:spPr>
          <a:xfrm>
            <a:off x="877824" y="3035808"/>
            <a:ext cx="1463040" cy="512064"/>
          </a:xfrm>
          <a:prstGeom prst="roundRect">
            <a:avLst>
              <a:gd name="adj" fmla="val 14286"/>
            </a:avLst>
          </a:prstGeom>
          <a:solidFill>
            <a:srgbClr val="FFFFFF"/>
          </a:solidFill>
          <a:ln w="19050">
            <a:solidFill>
              <a:srgbClr val="E3E4F2"/>
            </a:solidFill>
            <a:prstDash val="solid"/>
          </a:ln>
        </p:spPr>
        <p:txBody>
          <a:bodyPr/>
          <a:lstStyle/>
          <a:p>
            <a:endParaRPr lang="en-US"/>
          </a:p>
        </p:txBody>
      </p:sp>
      <p:sp>
        <p:nvSpPr>
          <p:cNvPr id="9" name="Text 7"/>
          <p:cNvSpPr/>
          <p:nvPr/>
        </p:nvSpPr>
        <p:spPr>
          <a:xfrm>
            <a:off x="877824" y="3035808"/>
            <a:ext cx="1463040" cy="512064"/>
          </a:xfrm>
          <a:prstGeom prst="rect">
            <a:avLst/>
          </a:prstGeom>
          <a:noFill/>
          <a:ln/>
        </p:spPr>
        <p:txBody>
          <a:bodyPr wrap="square" lIns="635" tIns="635" rIns="635" bIns="635" rtlCol="0" anchor="ctr"/>
          <a:lstStyle/>
          <a:p>
            <a:pPr marL="0" indent="0" algn="ctr">
              <a:lnSpc>
                <a:spcPct val="110000"/>
              </a:lnSpc>
              <a:buNone/>
            </a:pPr>
            <a:r>
              <a:rPr lang="en-US" sz="1100" b="1" dirty="0">
                <a:solidFill>
                  <a:srgbClr val="141235"/>
                </a:solidFill>
                <a:latin typeface="Calibri" pitchFamily="34" charset="0"/>
                <a:ea typeface="Calibri" pitchFamily="34" charset="-122"/>
                <a:cs typeface="Calibri" pitchFamily="34" charset="-120"/>
              </a:rPr>
              <a:t>Agent B</a:t>
            </a:r>
            <a:endParaRPr lang="en-US" sz="1100" dirty="0"/>
          </a:p>
        </p:txBody>
      </p:sp>
      <p:sp>
        <p:nvSpPr>
          <p:cNvPr id="10" name="Shape 8"/>
          <p:cNvSpPr/>
          <p:nvPr/>
        </p:nvSpPr>
        <p:spPr>
          <a:xfrm>
            <a:off x="877824" y="3785616"/>
            <a:ext cx="1463040" cy="512064"/>
          </a:xfrm>
          <a:prstGeom prst="roundRect">
            <a:avLst>
              <a:gd name="adj" fmla="val 14286"/>
            </a:avLst>
          </a:prstGeom>
          <a:solidFill>
            <a:srgbClr val="FFFFFF"/>
          </a:solidFill>
          <a:ln w="19050">
            <a:solidFill>
              <a:srgbClr val="E3E4F2"/>
            </a:solidFill>
            <a:prstDash val="solid"/>
          </a:ln>
        </p:spPr>
        <p:txBody>
          <a:bodyPr/>
          <a:lstStyle/>
          <a:p>
            <a:endParaRPr lang="en-US"/>
          </a:p>
        </p:txBody>
      </p:sp>
      <p:sp>
        <p:nvSpPr>
          <p:cNvPr id="11" name="Text 9"/>
          <p:cNvSpPr/>
          <p:nvPr/>
        </p:nvSpPr>
        <p:spPr>
          <a:xfrm>
            <a:off x="877824" y="3785616"/>
            <a:ext cx="1463040" cy="512064"/>
          </a:xfrm>
          <a:prstGeom prst="rect">
            <a:avLst/>
          </a:prstGeom>
          <a:noFill/>
          <a:ln/>
        </p:spPr>
        <p:txBody>
          <a:bodyPr wrap="square" lIns="635" tIns="635" rIns="635" bIns="635" rtlCol="0" anchor="ctr"/>
          <a:lstStyle/>
          <a:p>
            <a:pPr marL="0" indent="0" algn="ctr">
              <a:lnSpc>
                <a:spcPct val="110000"/>
              </a:lnSpc>
              <a:buNone/>
            </a:pPr>
            <a:r>
              <a:rPr lang="en-US" sz="1100" b="1" dirty="0">
                <a:solidFill>
                  <a:srgbClr val="141235"/>
                </a:solidFill>
                <a:latin typeface="Calibri" pitchFamily="34" charset="0"/>
                <a:ea typeface="Calibri" pitchFamily="34" charset="-122"/>
                <a:cs typeface="Calibri" pitchFamily="34" charset="-120"/>
              </a:rPr>
              <a:t>Agent C</a:t>
            </a:r>
            <a:endParaRPr lang="en-US" sz="1100" dirty="0"/>
          </a:p>
        </p:txBody>
      </p:sp>
      <p:sp>
        <p:nvSpPr>
          <p:cNvPr id="12" name="Shape 10"/>
          <p:cNvSpPr/>
          <p:nvPr/>
        </p:nvSpPr>
        <p:spPr>
          <a:xfrm>
            <a:off x="3968496" y="2231136"/>
            <a:ext cx="1463040" cy="420624"/>
          </a:xfrm>
          <a:prstGeom prst="roundRect">
            <a:avLst>
              <a:gd name="adj" fmla="val 17391"/>
            </a:avLst>
          </a:prstGeom>
          <a:solidFill>
            <a:srgbClr val="FFFFFF"/>
          </a:solidFill>
          <a:ln w="19050">
            <a:solidFill>
              <a:srgbClr val="E3E4F2"/>
            </a:solidFill>
            <a:prstDash val="solid"/>
          </a:ln>
        </p:spPr>
        <p:txBody>
          <a:bodyPr/>
          <a:lstStyle/>
          <a:p>
            <a:endParaRPr lang="en-US"/>
          </a:p>
        </p:txBody>
      </p:sp>
      <p:sp>
        <p:nvSpPr>
          <p:cNvPr id="13" name="Text 11"/>
          <p:cNvSpPr/>
          <p:nvPr/>
        </p:nvSpPr>
        <p:spPr>
          <a:xfrm>
            <a:off x="3968496" y="2231136"/>
            <a:ext cx="1463040" cy="420624"/>
          </a:xfrm>
          <a:prstGeom prst="rect">
            <a:avLst/>
          </a:prstGeom>
          <a:noFill/>
          <a:ln/>
        </p:spPr>
        <p:txBody>
          <a:bodyPr wrap="square" lIns="635" tIns="635" rIns="635" bIns="635" rtlCol="0" anchor="ctr"/>
          <a:lstStyle/>
          <a:p>
            <a:pPr marL="0" indent="0" algn="ctr">
              <a:lnSpc>
                <a:spcPct val="110000"/>
              </a:lnSpc>
              <a:buNone/>
            </a:pPr>
            <a:r>
              <a:rPr lang="en-US" sz="1050" b="1" dirty="0">
                <a:solidFill>
                  <a:srgbClr val="141235"/>
                </a:solidFill>
                <a:latin typeface="Calibri" pitchFamily="34" charset="0"/>
                <a:ea typeface="Calibri" pitchFamily="34" charset="-122"/>
                <a:cs typeface="Calibri" pitchFamily="34" charset="-120"/>
              </a:rPr>
              <a:t>CRM</a:t>
            </a:r>
            <a:endParaRPr lang="en-US" sz="1050" dirty="0"/>
          </a:p>
        </p:txBody>
      </p:sp>
      <p:sp>
        <p:nvSpPr>
          <p:cNvPr id="14" name="Shape 12"/>
          <p:cNvSpPr/>
          <p:nvPr/>
        </p:nvSpPr>
        <p:spPr>
          <a:xfrm>
            <a:off x="3968496" y="2798064"/>
            <a:ext cx="1463040" cy="420624"/>
          </a:xfrm>
          <a:prstGeom prst="roundRect">
            <a:avLst>
              <a:gd name="adj" fmla="val 17391"/>
            </a:avLst>
          </a:prstGeom>
          <a:solidFill>
            <a:srgbClr val="FFFFFF"/>
          </a:solidFill>
          <a:ln w="19050">
            <a:solidFill>
              <a:srgbClr val="E3E4F2"/>
            </a:solidFill>
            <a:prstDash val="solid"/>
          </a:ln>
        </p:spPr>
        <p:txBody>
          <a:bodyPr/>
          <a:lstStyle/>
          <a:p>
            <a:endParaRPr lang="en-US"/>
          </a:p>
        </p:txBody>
      </p:sp>
      <p:sp>
        <p:nvSpPr>
          <p:cNvPr id="15" name="Text 13"/>
          <p:cNvSpPr/>
          <p:nvPr/>
        </p:nvSpPr>
        <p:spPr>
          <a:xfrm>
            <a:off x="3968496" y="2798064"/>
            <a:ext cx="1463040" cy="420624"/>
          </a:xfrm>
          <a:prstGeom prst="rect">
            <a:avLst/>
          </a:prstGeom>
          <a:noFill/>
          <a:ln/>
        </p:spPr>
        <p:txBody>
          <a:bodyPr wrap="square" lIns="635" tIns="635" rIns="635" bIns="635" rtlCol="0" anchor="ctr"/>
          <a:lstStyle/>
          <a:p>
            <a:pPr marL="0" indent="0" algn="ctr">
              <a:lnSpc>
                <a:spcPct val="110000"/>
              </a:lnSpc>
              <a:buNone/>
            </a:pPr>
            <a:r>
              <a:rPr lang="en-US" sz="1050" b="1" dirty="0">
                <a:solidFill>
                  <a:srgbClr val="141235"/>
                </a:solidFill>
                <a:latin typeface="Calibri" pitchFamily="34" charset="0"/>
                <a:ea typeface="Calibri" pitchFamily="34" charset="-122"/>
                <a:cs typeface="Calibri" pitchFamily="34" charset="-120"/>
              </a:rPr>
              <a:t>Jira</a:t>
            </a:r>
            <a:endParaRPr lang="en-US" sz="1050" dirty="0"/>
          </a:p>
        </p:txBody>
      </p:sp>
      <p:sp>
        <p:nvSpPr>
          <p:cNvPr id="16" name="Shape 14"/>
          <p:cNvSpPr/>
          <p:nvPr/>
        </p:nvSpPr>
        <p:spPr>
          <a:xfrm>
            <a:off x="3968496" y="3364992"/>
            <a:ext cx="1463040" cy="420624"/>
          </a:xfrm>
          <a:prstGeom prst="roundRect">
            <a:avLst>
              <a:gd name="adj" fmla="val 17391"/>
            </a:avLst>
          </a:prstGeom>
          <a:solidFill>
            <a:srgbClr val="FFFFFF"/>
          </a:solidFill>
          <a:ln w="19050">
            <a:solidFill>
              <a:srgbClr val="E3E4F2"/>
            </a:solidFill>
            <a:prstDash val="solid"/>
          </a:ln>
        </p:spPr>
        <p:txBody>
          <a:bodyPr/>
          <a:lstStyle/>
          <a:p>
            <a:endParaRPr lang="en-US"/>
          </a:p>
        </p:txBody>
      </p:sp>
      <p:sp>
        <p:nvSpPr>
          <p:cNvPr id="17" name="Text 15"/>
          <p:cNvSpPr/>
          <p:nvPr/>
        </p:nvSpPr>
        <p:spPr>
          <a:xfrm>
            <a:off x="3968496" y="3364992"/>
            <a:ext cx="1463040" cy="420624"/>
          </a:xfrm>
          <a:prstGeom prst="rect">
            <a:avLst/>
          </a:prstGeom>
          <a:noFill/>
          <a:ln/>
        </p:spPr>
        <p:txBody>
          <a:bodyPr wrap="square" lIns="635" tIns="635" rIns="635" bIns="635" rtlCol="0" anchor="ctr"/>
          <a:lstStyle/>
          <a:p>
            <a:pPr marL="0" indent="0" algn="ctr">
              <a:lnSpc>
                <a:spcPct val="110000"/>
              </a:lnSpc>
              <a:buNone/>
            </a:pPr>
            <a:r>
              <a:rPr lang="en-US" sz="1050" b="1" dirty="0">
                <a:solidFill>
                  <a:srgbClr val="141235"/>
                </a:solidFill>
                <a:latin typeface="Calibri" pitchFamily="34" charset="0"/>
                <a:ea typeface="Calibri" pitchFamily="34" charset="-122"/>
                <a:cs typeface="Calibri" pitchFamily="34" charset="-120"/>
              </a:rPr>
              <a:t>Files</a:t>
            </a:r>
            <a:endParaRPr lang="en-US" sz="1050" dirty="0"/>
          </a:p>
        </p:txBody>
      </p:sp>
      <p:sp>
        <p:nvSpPr>
          <p:cNvPr id="18" name="Shape 16"/>
          <p:cNvSpPr/>
          <p:nvPr/>
        </p:nvSpPr>
        <p:spPr>
          <a:xfrm>
            <a:off x="3968496" y="3931920"/>
            <a:ext cx="1463040" cy="420624"/>
          </a:xfrm>
          <a:prstGeom prst="roundRect">
            <a:avLst>
              <a:gd name="adj" fmla="val 17391"/>
            </a:avLst>
          </a:prstGeom>
          <a:solidFill>
            <a:srgbClr val="FFFFFF"/>
          </a:solidFill>
          <a:ln w="19050">
            <a:solidFill>
              <a:srgbClr val="E3E4F2"/>
            </a:solidFill>
            <a:prstDash val="solid"/>
          </a:ln>
        </p:spPr>
        <p:txBody>
          <a:bodyPr/>
          <a:lstStyle/>
          <a:p>
            <a:endParaRPr lang="en-US"/>
          </a:p>
        </p:txBody>
      </p:sp>
      <p:sp>
        <p:nvSpPr>
          <p:cNvPr id="19" name="Text 17"/>
          <p:cNvSpPr/>
          <p:nvPr/>
        </p:nvSpPr>
        <p:spPr>
          <a:xfrm>
            <a:off x="3968496" y="3931920"/>
            <a:ext cx="1463040" cy="420624"/>
          </a:xfrm>
          <a:prstGeom prst="rect">
            <a:avLst/>
          </a:prstGeom>
          <a:noFill/>
          <a:ln/>
        </p:spPr>
        <p:txBody>
          <a:bodyPr wrap="square" lIns="635" tIns="635" rIns="635" bIns="635" rtlCol="0" anchor="ctr"/>
          <a:lstStyle/>
          <a:p>
            <a:pPr marL="0" indent="0" algn="ctr">
              <a:lnSpc>
                <a:spcPct val="110000"/>
              </a:lnSpc>
              <a:buNone/>
            </a:pPr>
            <a:r>
              <a:rPr lang="en-US" sz="1050" b="1" dirty="0">
                <a:solidFill>
                  <a:srgbClr val="141235"/>
                </a:solidFill>
                <a:latin typeface="Calibri" pitchFamily="34" charset="0"/>
                <a:ea typeface="Calibri" pitchFamily="34" charset="-122"/>
                <a:cs typeface="Calibri" pitchFamily="34" charset="-120"/>
              </a:rPr>
              <a:t>SQL</a:t>
            </a:r>
            <a:endParaRPr lang="en-US" sz="1050" dirty="0"/>
          </a:p>
        </p:txBody>
      </p:sp>
      <p:sp>
        <p:nvSpPr>
          <p:cNvPr id="20" name="Shape 18"/>
          <p:cNvSpPr/>
          <p:nvPr/>
        </p:nvSpPr>
        <p:spPr>
          <a:xfrm>
            <a:off x="2377440" y="2542032"/>
            <a:ext cx="1554480" cy="0"/>
          </a:xfrm>
          <a:prstGeom prst="line">
            <a:avLst/>
          </a:prstGeom>
          <a:noFill/>
          <a:ln w="9525">
            <a:solidFill>
              <a:srgbClr val="E08A8A"/>
            </a:solidFill>
            <a:prstDash val="solid"/>
          </a:ln>
        </p:spPr>
        <p:txBody>
          <a:bodyPr/>
          <a:lstStyle/>
          <a:p>
            <a:endParaRPr lang="en-US"/>
          </a:p>
        </p:txBody>
      </p:sp>
      <p:sp>
        <p:nvSpPr>
          <p:cNvPr id="21" name="Shape 19"/>
          <p:cNvSpPr/>
          <p:nvPr/>
        </p:nvSpPr>
        <p:spPr>
          <a:xfrm>
            <a:off x="2377440" y="2542032"/>
            <a:ext cx="1554480" cy="466344"/>
          </a:xfrm>
          <a:prstGeom prst="line">
            <a:avLst/>
          </a:prstGeom>
          <a:noFill/>
          <a:ln w="9525">
            <a:solidFill>
              <a:srgbClr val="E08A8A"/>
            </a:solidFill>
            <a:prstDash val="solid"/>
          </a:ln>
        </p:spPr>
        <p:txBody>
          <a:bodyPr/>
          <a:lstStyle/>
          <a:p>
            <a:endParaRPr lang="en-US"/>
          </a:p>
        </p:txBody>
      </p:sp>
      <p:sp>
        <p:nvSpPr>
          <p:cNvPr id="22" name="Shape 20"/>
          <p:cNvSpPr/>
          <p:nvPr/>
        </p:nvSpPr>
        <p:spPr>
          <a:xfrm>
            <a:off x="2377440" y="2542032"/>
            <a:ext cx="1554480" cy="1033272"/>
          </a:xfrm>
          <a:prstGeom prst="line">
            <a:avLst/>
          </a:prstGeom>
          <a:noFill/>
          <a:ln w="9525">
            <a:solidFill>
              <a:srgbClr val="E08A8A"/>
            </a:solidFill>
            <a:prstDash val="solid"/>
          </a:ln>
        </p:spPr>
        <p:txBody>
          <a:bodyPr/>
          <a:lstStyle/>
          <a:p>
            <a:endParaRPr lang="en-US"/>
          </a:p>
        </p:txBody>
      </p:sp>
      <p:sp>
        <p:nvSpPr>
          <p:cNvPr id="23" name="Shape 21"/>
          <p:cNvSpPr/>
          <p:nvPr/>
        </p:nvSpPr>
        <p:spPr>
          <a:xfrm>
            <a:off x="2377440" y="2542032"/>
            <a:ext cx="1554480" cy="1600200"/>
          </a:xfrm>
          <a:prstGeom prst="line">
            <a:avLst/>
          </a:prstGeom>
          <a:noFill/>
          <a:ln w="9525">
            <a:solidFill>
              <a:srgbClr val="E08A8A"/>
            </a:solidFill>
            <a:prstDash val="solid"/>
          </a:ln>
        </p:spPr>
        <p:txBody>
          <a:bodyPr/>
          <a:lstStyle/>
          <a:p>
            <a:endParaRPr lang="en-US"/>
          </a:p>
        </p:txBody>
      </p:sp>
      <p:sp>
        <p:nvSpPr>
          <p:cNvPr id="24" name="Shape 22"/>
          <p:cNvSpPr/>
          <p:nvPr/>
        </p:nvSpPr>
        <p:spPr>
          <a:xfrm>
            <a:off x="2377440" y="3291840"/>
            <a:ext cx="1554480" cy="0"/>
          </a:xfrm>
          <a:prstGeom prst="line">
            <a:avLst/>
          </a:prstGeom>
          <a:noFill/>
          <a:ln w="9525">
            <a:solidFill>
              <a:srgbClr val="E08A8A"/>
            </a:solidFill>
            <a:prstDash val="solid"/>
          </a:ln>
        </p:spPr>
        <p:txBody>
          <a:bodyPr/>
          <a:lstStyle/>
          <a:p>
            <a:endParaRPr lang="en-US"/>
          </a:p>
        </p:txBody>
      </p:sp>
      <p:sp>
        <p:nvSpPr>
          <p:cNvPr id="25" name="Shape 23"/>
          <p:cNvSpPr/>
          <p:nvPr/>
        </p:nvSpPr>
        <p:spPr>
          <a:xfrm>
            <a:off x="2377440" y="3291840"/>
            <a:ext cx="1554480" cy="0"/>
          </a:xfrm>
          <a:prstGeom prst="line">
            <a:avLst/>
          </a:prstGeom>
          <a:noFill/>
          <a:ln w="9525">
            <a:solidFill>
              <a:srgbClr val="E08A8A"/>
            </a:solidFill>
            <a:prstDash val="solid"/>
          </a:ln>
        </p:spPr>
        <p:txBody>
          <a:bodyPr/>
          <a:lstStyle/>
          <a:p>
            <a:endParaRPr lang="en-US"/>
          </a:p>
        </p:txBody>
      </p:sp>
      <p:sp>
        <p:nvSpPr>
          <p:cNvPr id="26" name="Shape 24"/>
          <p:cNvSpPr/>
          <p:nvPr/>
        </p:nvSpPr>
        <p:spPr>
          <a:xfrm>
            <a:off x="2377440" y="3291840"/>
            <a:ext cx="1554480" cy="283464"/>
          </a:xfrm>
          <a:prstGeom prst="line">
            <a:avLst/>
          </a:prstGeom>
          <a:noFill/>
          <a:ln w="9525">
            <a:solidFill>
              <a:srgbClr val="E08A8A"/>
            </a:solidFill>
            <a:prstDash val="solid"/>
          </a:ln>
        </p:spPr>
        <p:txBody>
          <a:bodyPr/>
          <a:lstStyle/>
          <a:p>
            <a:endParaRPr lang="en-US"/>
          </a:p>
        </p:txBody>
      </p:sp>
      <p:sp>
        <p:nvSpPr>
          <p:cNvPr id="27" name="Shape 25"/>
          <p:cNvSpPr/>
          <p:nvPr/>
        </p:nvSpPr>
        <p:spPr>
          <a:xfrm>
            <a:off x="2377440" y="3291840"/>
            <a:ext cx="1554480" cy="850392"/>
          </a:xfrm>
          <a:prstGeom prst="line">
            <a:avLst/>
          </a:prstGeom>
          <a:noFill/>
          <a:ln w="9525">
            <a:solidFill>
              <a:srgbClr val="E08A8A"/>
            </a:solidFill>
            <a:prstDash val="solid"/>
          </a:ln>
        </p:spPr>
        <p:txBody>
          <a:bodyPr/>
          <a:lstStyle/>
          <a:p>
            <a:endParaRPr lang="en-US"/>
          </a:p>
        </p:txBody>
      </p:sp>
      <p:sp>
        <p:nvSpPr>
          <p:cNvPr id="28" name="Shape 26"/>
          <p:cNvSpPr/>
          <p:nvPr/>
        </p:nvSpPr>
        <p:spPr>
          <a:xfrm>
            <a:off x="2377440" y="4041648"/>
            <a:ext cx="1554480" cy="0"/>
          </a:xfrm>
          <a:prstGeom prst="line">
            <a:avLst/>
          </a:prstGeom>
          <a:noFill/>
          <a:ln w="9525">
            <a:solidFill>
              <a:srgbClr val="E08A8A"/>
            </a:solidFill>
            <a:prstDash val="solid"/>
          </a:ln>
        </p:spPr>
        <p:txBody>
          <a:bodyPr/>
          <a:lstStyle/>
          <a:p>
            <a:endParaRPr lang="en-US"/>
          </a:p>
        </p:txBody>
      </p:sp>
      <p:sp>
        <p:nvSpPr>
          <p:cNvPr id="29" name="Shape 27"/>
          <p:cNvSpPr/>
          <p:nvPr/>
        </p:nvSpPr>
        <p:spPr>
          <a:xfrm>
            <a:off x="2377440" y="4041648"/>
            <a:ext cx="1554480" cy="0"/>
          </a:xfrm>
          <a:prstGeom prst="line">
            <a:avLst/>
          </a:prstGeom>
          <a:noFill/>
          <a:ln w="9525">
            <a:solidFill>
              <a:srgbClr val="E08A8A"/>
            </a:solidFill>
            <a:prstDash val="solid"/>
          </a:ln>
        </p:spPr>
        <p:txBody>
          <a:bodyPr/>
          <a:lstStyle/>
          <a:p>
            <a:endParaRPr lang="en-US"/>
          </a:p>
        </p:txBody>
      </p:sp>
      <p:sp>
        <p:nvSpPr>
          <p:cNvPr id="30" name="Shape 28"/>
          <p:cNvSpPr/>
          <p:nvPr/>
        </p:nvSpPr>
        <p:spPr>
          <a:xfrm>
            <a:off x="2377440" y="4041648"/>
            <a:ext cx="1554480" cy="0"/>
          </a:xfrm>
          <a:prstGeom prst="line">
            <a:avLst/>
          </a:prstGeom>
          <a:noFill/>
          <a:ln w="9525">
            <a:solidFill>
              <a:srgbClr val="E08A8A"/>
            </a:solidFill>
            <a:prstDash val="solid"/>
          </a:ln>
        </p:spPr>
        <p:txBody>
          <a:bodyPr/>
          <a:lstStyle/>
          <a:p>
            <a:endParaRPr lang="en-US"/>
          </a:p>
        </p:txBody>
      </p:sp>
      <p:sp>
        <p:nvSpPr>
          <p:cNvPr id="31" name="Shape 29"/>
          <p:cNvSpPr/>
          <p:nvPr/>
        </p:nvSpPr>
        <p:spPr>
          <a:xfrm>
            <a:off x="2377440" y="4041648"/>
            <a:ext cx="1554480" cy="100584"/>
          </a:xfrm>
          <a:prstGeom prst="line">
            <a:avLst/>
          </a:prstGeom>
          <a:noFill/>
          <a:ln w="9525">
            <a:solidFill>
              <a:srgbClr val="E08A8A"/>
            </a:solidFill>
            <a:prstDash val="solid"/>
          </a:ln>
        </p:spPr>
        <p:txBody>
          <a:bodyPr/>
          <a:lstStyle/>
          <a:p>
            <a:endParaRPr lang="en-US"/>
          </a:p>
        </p:txBody>
      </p:sp>
      <p:sp>
        <p:nvSpPr>
          <p:cNvPr id="32" name="Text 30"/>
          <p:cNvSpPr/>
          <p:nvPr/>
        </p:nvSpPr>
        <p:spPr>
          <a:xfrm>
            <a:off x="841248" y="4517136"/>
            <a:ext cx="4663440" cy="365760"/>
          </a:xfrm>
          <a:prstGeom prst="rect">
            <a:avLst/>
          </a:prstGeom>
          <a:noFill/>
          <a:ln/>
        </p:spPr>
        <p:txBody>
          <a:bodyPr wrap="square" lIns="0" tIns="0" rIns="0" bIns="0" rtlCol="0" anchor="ctr"/>
          <a:lstStyle/>
          <a:p>
            <a:pPr marL="0" indent="0">
              <a:buNone/>
            </a:pPr>
            <a:r>
              <a:rPr lang="en-US" sz="1100" i="1" dirty="0">
                <a:solidFill>
                  <a:srgbClr val="D93A3F"/>
                </a:solidFill>
                <a:latin typeface="Calibri" pitchFamily="34" charset="0"/>
                <a:ea typeface="Calibri" pitchFamily="34" charset="-122"/>
                <a:cs typeface="Calibri" pitchFamily="34" charset="-120"/>
              </a:rPr>
              <a:t>12 integrations. Each written twice, tested twice, broken separately.</a:t>
            </a:r>
            <a:endParaRPr lang="en-US" sz="1100" dirty="0"/>
          </a:p>
        </p:txBody>
      </p:sp>
      <p:sp>
        <p:nvSpPr>
          <p:cNvPr id="33" name="Shape 31"/>
          <p:cNvSpPr/>
          <p:nvPr/>
        </p:nvSpPr>
        <p:spPr>
          <a:xfrm>
            <a:off x="6035040" y="1773936"/>
            <a:ext cx="5589727" cy="3200400"/>
          </a:xfrm>
          <a:prstGeom prst="roundRect">
            <a:avLst>
              <a:gd name="adj" fmla="val 2857"/>
            </a:avLst>
          </a:prstGeom>
          <a:solidFill>
            <a:srgbClr val="E7F7F1"/>
          </a:solidFill>
          <a:ln w="12700">
            <a:solidFill>
              <a:srgbClr val="C2E6D7"/>
            </a:solidFill>
            <a:prstDash val="solid"/>
          </a:ln>
        </p:spPr>
        <p:txBody>
          <a:bodyPr/>
          <a:lstStyle/>
          <a:p>
            <a:endParaRPr lang="en-US"/>
          </a:p>
        </p:txBody>
      </p:sp>
      <p:sp>
        <p:nvSpPr>
          <p:cNvPr id="34" name="Text 32"/>
          <p:cNvSpPr/>
          <p:nvPr/>
        </p:nvSpPr>
        <p:spPr>
          <a:xfrm>
            <a:off x="6291072" y="1920240"/>
            <a:ext cx="3657600" cy="237744"/>
          </a:xfrm>
          <a:prstGeom prst="rect">
            <a:avLst/>
          </a:prstGeom>
          <a:noFill/>
          <a:ln/>
        </p:spPr>
        <p:txBody>
          <a:bodyPr wrap="square" lIns="0" tIns="0" rIns="0" bIns="0" rtlCol="0" anchor="ctr"/>
          <a:lstStyle/>
          <a:p>
            <a:pPr marL="0" indent="0">
              <a:buNone/>
            </a:pPr>
            <a:r>
              <a:rPr lang="en-US" sz="950" b="1" kern="0" spc="180" dirty="0">
                <a:solidFill>
                  <a:srgbClr val="0E9F6E"/>
                </a:solidFill>
                <a:latin typeface="Calibri" pitchFamily="34" charset="0"/>
                <a:ea typeface="Calibri" pitchFamily="34" charset="-122"/>
                <a:cs typeface="Calibri" pitchFamily="34" charset="-120"/>
              </a:rPr>
              <a:t>WITH ONE PROTOCOL</a:t>
            </a:r>
            <a:endParaRPr lang="en-US" sz="950" dirty="0"/>
          </a:p>
        </p:txBody>
      </p:sp>
      <p:sp>
        <p:nvSpPr>
          <p:cNvPr id="35" name="Shape 33"/>
          <p:cNvSpPr/>
          <p:nvPr/>
        </p:nvSpPr>
        <p:spPr>
          <a:xfrm>
            <a:off x="6345936" y="2286000"/>
            <a:ext cx="1371600" cy="512064"/>
          </a:xfrm>
          <a:prstGeom prst="roundRect">
            <a:avLst>
              <a:gd name="adj" fmla="val 14286"/>
            </a:avLst>
          </a:prstGeom>
          <a:solidFill>
            <a:srgbClr val="FFFFFF"/>
          </a:solidFill>
          <a:ln w="19050">
            <a:solidFill>
              <a:srgbClr val="E3E4F2"/>
            </a:solidFill>
            <a:prstDash val="solid"/>
          </a:ln>
        </p:spPr>
        <p:txBody>
          <a:bodyPr/>
          <a:lstStyle/>
          <a:p>
            <a:endParaRPr lang="en-US"/>
          </a:p>
        </p:txBody>
      </p:sp>
      <p:sp>
        <p:nvSpPr>
          <p:cNvPr id="36" name="Text 34"/>
          <p:cNvSpPr/>
          <p:nvPr/>
        </p:nvSpPr>
        <p:spPr>
          <a:xfrm>
            <a:off x="6345936" y="2286000"/>
            <a:ext cx="1371600" cy="512064"/>
          </a:xfrm>
          <a:prstGeom prst="rect">
            <a:avLst/>
          </a:prstGeom>
          <a:noFill/>
          <a:ln/>
        </p:spPr>
        <p:txBody>
          <a:bodyPr wrap="square" lIns="635" tIns="635" rIns="635" bIns="635" rtlCol="0" anchor="ctr"/>
          <a:lstStyle/>
          <a:p>
            <a:pPr marL="0" indent="0" algn="ctr">
              <a:lnSpc>
                <a:spcPct val="110000"/>
              </a:lnSpc>
              <a:buNone/>
            </a:pPr>
            <a:r>
              <a:rPr lang="en-US" sz="1100" b="1" dirty="0">
                <a:solidFill>
                  <a:srgbClr val="141235"/>
                </a:solidFill>
                <a:latin typeface="Calibri" pitchFamily="34" charset="0"/>
                <a:ea typeface="Calibri" pitchFamily="34" charset="-122"/>
                <a:cs typeface="Calibri" pitchFamily="34" charset="-120"/>
              </a:rPr>
              <a:t>Agent A</a:t>
            </a:r>
            <a:endParaRPr lang="en-US" sz="1100" dirty="0"/>
          </a:p>
        </p:txBody>
      </p:sp>
      <p:sp>
        <p:nvSpPr>
          <p:cNvPr id="37" name="Shape 35"/>
          <p:cNvSpPr/>
          <p:nvPr/>
        </p:nvSpPr>
        <p:spPr>
          <a:xfrm>
            <a:off x="6345936" y="3035808"/>
            <a:ext cx="1371600" cy="512064"/>
          </a:xfrm>
          <a:prstGeom prst="roundRect">
            <a:avLst>
              <a:gd name="adj" fmla="val 14286"/>
            </a:avLst>
          </a:prstGeom>
          <a:solidFill>
            <a:srgbClr val="FFFFFF"/>
          </a:solidFill>
          <a:ln w="19050">
            <a:solidFill>
              <a:srgbClr val="E3E4F2"/>
            </a:solidFill>
            <a:prstDash val="solid"/>
          </a:ln>
        </p:spPr>
        <p:txBody>
          <a:bodyPr/>
          <a:lstStyle/>
          <a:p>
            <a:endParaRPr lang="en-US"/>
          </a:p>
        </p:txBody>
      </p:sp>
      <p:sp>
        <p:nvSpPr>
          <p:cNvPr id="38" name="Text 36"/>
          <p:cNvSpPr/>
          <p:nvPr/>
        </p:nvSpPr>
        <p:spPr>
          <a:xfrm>
            <a:off x="6345936" y="3035808"/>
            <a:ext cx="1371600" cy="512064"/>
          </a:xfrm>
          <a:prstGeom prst="rect">
            <a:avLst/>
          </a:prstGeom>
          <a:noFill/>
          <a:ln/>
        </p:spPr>
        <p:txBody>
          <a:bodyPr wrap="square" lIns="635" tIns="635" rIns="635" bIns="635" rtlCol="0" anchor="ctr"/>
          <a:lstStyle/>
          <a:p>
            <a:pPr marL="0" indent="0" algn="ctr">
              <a:lnSpc>
                <a:spcPct val="110000"/>
              </a:lnSpc>
              <a:buNone/>
            </a:pPr>
            <a:r>
              <a:rPr lang="en-US" sz="1100" b="1" dirty="0">
                <a:solidFill>
                  <a:srgbClr val="141235"/>
                </a:solidFill>
                <a:latin typeface="Calibri" pitchFamily="34" charset="0"/>
                <a:ea typeface="Calibri" pitchFamily="34" charset="-122"/>
                <a:cs typeface="Calibri" pitchFamily="34" charset="-120"/>
              </a:rPr>
              <a:t>Agent B</a:t>
            </a:r>
            <a:endParaRPr lang="en-US" sz="1100" dirty="0"/>
          </a:p>
        </p:txBody>
      </p:sp>
      <p:sp>
        <p:nvSpPr>
          <p:cNvPr id="39" name="Shape 37"/>
          <p:cNvSpPr/>
          <p:nvPr/>
        </p:nvSpPr>
        <p:spPr>
          <a:xfrm>
            <a:off x="6345936" y="3785616"/>
            <a:ext cx="1371600" cy="512064"/>
          </a:xfrm>
          <a:prstGeom prst="roundRect">
            <a:avLst>
              <a:gd name="adj" fmla="val 14286"/>
            </a:avLst>
          </a:prstGeom>
          <a:solidFill>
            <a:srgbClr val="FFFFFF"/>
          </a:solidFill>
          <a:ln w="19050">
            <a:solidFill>
              <a:srgbClr val="E3E4F2"/>
            </a:solidFill>
            <a:prstDash val="solid"/>
          </a:ln>
        </p:spPr>
        <p:txBody>
          <a:bodyPr/>
          <a:lstStyle/>
          <a:p>
            <a:endParaRPr lang="en-US"/>
          </a:p>
        </p:txBody>
      </p:sp>
      <p:sp>
        <p:nvSpPr>
          <p:cNvPr id="40" name="Text 38"/>
          <p:cNvSpPr/>
          <p:nvPr/>
        </p:nvSpPr>
        <p:spPr>
          <a:xfrm>
            <a:off x="6345936" y="3785616"/>
            <a:ext cx="1371600" cy="512064"/>
          </a:xfrm>
          <a:prstGeom prst="rect">
            <a:avLst/>
          </a:prstGeom>
          <a:noFill/>
          <a:ln/>
        </p:spPr>
        <p:txBody>
          <a:bodyPr wrap="square" lIns="635" tIns="635" rIns="635" bIns="635" rtlCol="0" anchor="ctr"/>
          <a:lstStyle/>
          <a:p>
            <a:pPr marL="0" indent="0" algn="ctr">
              <a:lnSpc>
                <a:spcPct val="110000"/>
              </a:lnSpc>
              <a:buNone/>
            </a:pPr>
            <a:r>
              <a:rPr lang="en-US" sz="1100" b="1" dirty="0">
                <a:solidFill>
                  <a:srgbClr val="141235"/>
                </a:solidFill>
                <a:latin typeface="Calibri" pitchFamily="34" charset="0"/>
                <a:ea typeface="Calibri" pitchFamily="34" charset="-122"/>
                <a:cs typeface="Calibri" pitchFamily="34" charset="-120"/>
              </a:rPr>
              <a:t>Agent C</a:t>
            </a:r>
            <a:endParaRPr lang="en-US" sz="1100" dirty="0"/>
          </a:p>
        </p:txBody>
      </p:sp>
      <p:sp>
        <p:nvSpPr>
          <p:cNvPr id="41" name="Shape 39"/>
          <p:cNvSpPr/>
          <p:nvPr/>
        </p:nvSpPr>
        <p:spPr>
          <a:xfrm>
            <a:off x="8101584" y="2395728"/>
            <a:ext cx="1097280" cy="1956816"/>
          </a:xfrm>
          <a:prstGeom prst="roundRect">
            <a:avLst>
              <a:gd name="adj" fmla="val 6667"/>
            </a:avLst>
          </a:prstGeom>
          <a:solidFill>
            <a:srgbClr val="5B4BE8"/>
          </a:solidFill>
          <a:ln w="19050">
            <a:solidFill>
              <a:srgbClr val="5B4BE8"/>
            </a:solidFill>
            <a:prstDash val="solid"/>
          </a:ln>
        </p:spPr>
        <p:txBody>
          <a:bodyPr/>
          <a:lstStyle/>
          <a:p>
            <a:endParaRPr lang="en-US"/>
          </a:p>
        </p:txBody>
      </p:sp>
      <p:sp>
        <p:nvSpPr>
          <p:cNvPr id="42" name="Text 40"/>
          <p:cNvSpPr/>
          <p:nvPr/>
        </p:nvSpPr>
        <p:spPr>
          <a:xfrm>
            <a:off x="8101584" y="2395728"/>
            <a:ext cx="1097280" cy="1956816"/>
          </a:xfrm>
          <a:prstGeom prst="rect">
            <a:avLst/>
          </a:prstGeom>
          <a:noFill/>
          <a:ln/>
        </p:spPr>
        <p:txBody>
          <a:bodyPr wrap="square" lIns="635" tIns="635" rIns="635" bIns="635" rtlCol="0" anchor="ctr"/>
          <a:lstStyle/>
          <a:p>
            <a:pPr marL="0" indent="0" algn="ctr">
              <a:lnSpc>
                <a:spcPct val="110000"/>
              </a:lnSpc>
              <a:buNone/>
            </a:pPr>
            <a:r>
              <a:rPr lang="en-US" sz="1300" b="1" dirty="0">
                <a:solidFill>
                  <a:srgbClr val="FFFFFF"/>
                </a:solidFill>
                <a:latin typeface="Calibri" pitchFamily="34" charset="0"/>
                <a:ea typeface="Calibri" pitchFamily="34" charset="-122"/>
                <a:cs typeface="Calibri" pitchFamily="34" charset="-120"/>
              </a:rPr>
              <a:t>MCP</a:t>
            </a:r>
            <a:endParaRPr lang="en-US" sz="1300" dirty="0"/>
          </a:p>
        </p:txBody>
      </p:sp>
      <p:sp>
        <p:nvSpPr>
          <p:cNvPr id="43" name="Shape 41"/>
          <p:cNvSpPr/>
          <p:nvPr/>
        </p:nvSpPr>
        <p:spPr>
          <a:xfrm>
            <a:off x="9582912" y="2231136"/>
            <a:ext cx="1371600" cy="420624"/>
          </a:xfrm>
          <a:prstGeom prst="roundRect">
            <a:avLst>
              <a:gd name="adj" fmla="val 17391"/>
            </a:avLst>
          </a:prstGeom>
          <a:solidFill>
            <a:srgbClr val="FFFFFF"/>
          </a:solidFill>
          <a:ln w="19050">
            <a:solidFill>
              <a:srgbClr val="0E9F6E"/>
            </a:solidFill>
            <a:prstDash val="solid"/>
          </a:ln>
        </p:spPr>
        <p:txBody>
          <a:bodyPr/>
          <a:lstStyle/>
          <a:p>
            <a:endParaRPr lang="en-US"/>
          </a:p>
        </p:txBody>
      </p:sp>
      <p:sp>
        <p:nvSpPr>
          <p:cNvPr id="44" name="Text 42"/>
          <p:cNvSpPr/>
          <p:nvPr/>
        </p:nvSpPr>
        <p:spPr>
          <a:xfrm>
            <a:off x="9582912" y="2231136"/>
            <a:ext cx="1371600" cy="420624"/>
          </a:xfrm>
          <a:prstGeom prst="rect">
            <a:avLst/>
          </a:prstGeom>
          <a:noFill/>
          <a:ln/>
        </p:spPr>
        <p:txBody>
          <a:bodyPr wrap="square" lIns="635" tIns="635" rIns="635" bIns="635" rtlCol="0" anchor="ctr"/>
          <a:lstStyle/>
          <a:p>
            <a:pPr marL="0" indent="0" algn="ctr">
              <a:lnSpc>
                <a:spcPct val="110000"/>
              </a:lnSpc>
              <a:buNone/>
            </a:pPr>
            <a:r>
              <a:rPr lang="en-US" sz="1050" b="1" dirty="0">
                <a:solidFill>
                  <a:srgbClr val="141235"/>
                </a:solidFill>
                <a:latin typeface="Calibri" pitchFamily="34" charset="0"/>
                <a:ea typeface="Calibri" pitchFamily="34" charset="-122"/>
                <a:cs typeface="Calibri" pitchFamily="34" charset="-120"/>
              </a:rPr>
              <a:t>CRM</a:t>
            </a:r>
            <a:endParaRPr lang="en-US" sz="1050" dirty="0"/>
          </a:p>
        </p:txBody>
      </p:sp>
      <p:sp>
        <p:nvSpPr>
          <p:cNvPr id="45" name="Shape 43"/>
          <p:cNvSpPr/>
          <p:nvPr/>
        </p:nvSpPr>
        <p:spPr>
          <a:xfrm>
            <a:off x="9582912" y="2798064"/>
            <a:ext cx="1371600" cy="420624"/>
          </a:xfrm>
          <a:prstGeom prst="roundRect">
            <a:avLst>
              <a:gd name="adj" fmla="val 17391"/>
            </a:avLst>
          </a:prstGeom>
          <a:solidFill>
            <a:srgbClr val="FFFFFF"/>
          </a:solidFill>
          <a:ln w="19050">
            <a:solidFill>
              <a:srgbClr val="0E9F6E"/>
            </a:solidFill>
            <a:prstDash val="solid"/>
          </a:ln>
        </p:spPr>
        <p:txBody>
          <a:bodyPr/>
          <a:lstStyle/>
          <a:p>
            <a:endParaRPr lang="en-US"/>
          </a:p>
        </p:txBody>
      </p:sp>
      <p:sp>
        <p:nvSpPr>
          <p:cNvPr id="46" name="Text 44"/>
          <p:cNvSpPr/>
          <p:nvPr/>
        </p:nvSpPr>
        <p:spPr>
          <a:xfrm>
            <a:off x="9582912" y="2798064"/>
            <a:ext cx="1371600" cy="420624"/>
          </a:xfrm>
          <a:prstGeom prst="rect">
            <a:avLst/>
          </a:prstGeom>
          <a:noFill/>
          <a:ln/>
        </p:spPr>
        <p:txBody>
          <a:bodyPr wrap="square" lIns="635" tIns="635" rIns="635" bIns="635" rtlCol="0" anchor="ctr"/>
          <a:lstStyle/>
          <a:p>
            <a:pPr marL="0" indent="0" algn="ctr">
              <a:lnSpc>
                <a:spcPct val="110000"/>
              </a:lnSpc>
              <a:buNone/>
            </a:pPr>
            <a:r>
              <a:rPr lang="en-US" sz="1050" b="1" dirty="0">
                <a:solidFill>
                  <a:srgbClr val="141235"/>
                </a:solidFill>
                <a:latin typeface="Calibri" pitchFamily="34" charset="0"/>
                <a:ea typeface="Calibri" pitchFamily="34" charset="-122"/>
                <a:cs typeface="Calibri" pitchFamily="34" charset="-120"/>
              </a:rPr>
              <a:t>Jira</a:t>
            </a:r>
            <a:endParaRPr lang="en-US" sz="1050" dirty="0"/>
          </a:p>
        </p:txBody>
      </p:sp>
      <p:sp>
        <p:nvSpPr>
          <p:cNvPr id="47" name="Shape 45"/>
          <p:cNvSpPr/>
          <p:nvPr/>
        </p:nvSpPr>
        <p:spPr>
          <a:xfrm>
            <a:off x="9582912" y="3364992"/>
            <a:ext cx="1371600" cy="420624"/>
          </a:xfrm>
          <a:prstGeom prst="roundRect">
            <a:avLst>
              <a:gd name="adj" fmla="val 17391"/>
            </a:avLst>
          </a:prstGeom>
          <a:solidFill>
            <a:srgbClr val="FFFFFF"/>
          </a:solidFill>
          <a:ln w="19050">
            <a:solidFill>
              <a:srgbClr val="0E9F6E"/>
            </a:solidFill>
            <a:prstDash val="solid"/>
          </a:ln>
        </p:spPr>
        <p:txBody>
          <a:bodyPr/>
          <a:lstStyle/>
          <a:p>
            <a:endParaRPr lang="en-US"/>
          </a:p>
        </p:txBody>
      </p:sp>
      <p:sp>
        <p:nvSpPr>
          <p:cNvPr id="48" name="Text 46"/>
          <p:cNvSpPr/>
          <p:nvPr/>
        </p:nvSpPr>
        <p:spPr>
          <a:xfrm>
            <a:off x="9582912" y="3364992"/>
            <a:ext cx="1371600" cy="420624"/>
          </a:xfrm>
          <a:prstGeom prst="rect">
            <a:avLst/>
          </a:prstGeom>
          <a:noFill/>
          <a:ln/>
        </p:spPr>
        <p:txBody>
          <a:bodyPr wrap="square" lIns="635" tIns="635" rIns="635" bIns="635" rtlCol="0" anchor="ctr"/>
          <a:lstStyle/>
          <a:p>
            <a:pPr marL="0" indent="0" algn="ctr">
              <a:lnSpc>
                <a:spcPct val="110000"/>
              </a:lnSpc>
              <a:buNone/>
            </a:pPr>
            <a:r>
              <a:rPr lang="en-US" sz="1050" b="1" dirty="0">
                <a:solidFill>
                  <a:srgbClr val="141235"/>
                </a:solidFill>
                <a:latin typeface="Calibri" pitchFamily="34" charset="0"/>
                <a:ea typeface="Calibri" pitchFamily="34" charset="-122"/>
                <a:cs typeface="Calibri" pitchFamily="34" charset="-120"/>
              </a:rPr>
              <a:t>Files</a:t>
            </a:r>
            <a:endParaRPr lang="en-US" sz="1050" dirty="0"/>
          </a:p>
        </p:txBody>
      </p:sp>
      <p:sp>
        <p:nvSpPr>
          <p:cNvPr id="49" name="Shape 47"/>
          <p:cNvSpPr/>
          <p:nvPr/>
        </p:nvSpPr>
        <p:spPr>
          <a:xfrm>
            <a:off x="9582912" y="3931920"/>
            <a:ext cx="1371600" cy="420624"/>
          </a:xfrm>
          <a:prstGeom prst="roundRect">
            <a:avLst>
              <a:gd name="adj" fmla="val 17391"/>
            </a:avLst>
          </a:prstGeom>
          <a:solidFill>
            <a:srgbClr val="FFFFFF"/>
          </a:solidFill>
          <a:ln w="19050">
            <a:solidFill>
              <a:srgbClr val="0E9F6E"/>
            </a:solidFill>
            <a:prstDash val="solid"/>
          </a:ln>
        </p:spPr>
        <p:txBody>
          <a:bodyPr/>
          <a:lstStyle/>
          <a:p>
            <a:endParaRPr lang="en-US"/>
          </a:p>
        </p:txBody>
      </p:sp>
      <p:sp>
        <p:nvSpPr>
          <p:cNvPr id="50" name="Text 48"/>
          <p:cNvSpPr/>
          <p:nvPr/>
        </p:nvSpPr>
        <p:spPr>
          <a:xfrm>
            <a:off x="9582912" y="3931920"/>
            <a:ext cx="1371600" cy="420624"/>
          </a:xfrm>
          <a:prstGeom prst="rect">
            <a:avLst/>
          </a:prstGeom>
          <a:noFill/>
          <a:ln/>
        </p:spPr>
        <p:txBody>
          <a:bodyPr wrap="square" lIns="635" tIns="635" rIns="635" bIns="635" rtlCol="0" anchor="ctr"/>
          <a:lstStyle/>
          <a:p>
            <a:pPr marL="0" indent="0" algn="ctr">
              <a:lnSpc>
                <a:spcPct val="110000"/>
              </a:lnSpc>
              <a:buNone/>
            </a:pPr>
            <a:r>
              <a:rPr lang="en-US" sz="1050" b="1" dirty="0">
                <a:solidFill>
                  <a:srgbClr val="141235"/>
                </a:solidFill>
                <a:latin typeface="Calibri" pitchFamily="34" charset="0"/>
                <a:ea typeface="Calibri" pitchFamily="34" charset="-122"/>
                <a:cs typeface="Calibri" pitchFamily="34" charset="-120"/>
              </a:rPr>
              <a:t>SQL</a:t>
            </a:r>
            <a:endParaRPr lang="en-US" sz="1050" dirty="0"/>
          </a:p>
        </p:txBody>
      </p:sp>
      <p:sp>
        <p:nvSpPr>
          <p:cNvPr id="51" name="Shape 49"/>
          <p:cNvSpPr/>
          <p:nvPr/>
        </p:nvSpPr>
        <p:spPr>
          <a:xfrm>
            <a:off x="7754112" y="2542032"/>
            <a:ext cx="310896" cy="832104"/>
          </a:xfrm>
          <a:prstGeom prst="line">
            <a:avLst/>
          </a:prstGeom>
          <a:noFill/>
          <a:ln w="13970">
            <a:solidFill>
              <a:srgbClr val="6E5FE8"/>
            </a:solidFill>
            <a:prstDash val="solid"/>
          </a:ln>
        </p:spPr>
        <p:txBody>
          <a:bodyPr/>
          <a:lstStyle/>
          <a:p>
            <a:endParaRPr lang="en-US"/>
          </a:p>
        </p:txBody>
      </p:sp>
      <p:sp>
        <p:nvSpPr>
          <p:cNvPr id="52" name="Shape 50"/>
          <p:cNvSpPr/>
          <p:nvPr/>
        </p:nvSpPr>
        <p:spPr>
          <a:xfrm>
            <a:off x="7754112" y="3291840"/>
            <a:ext cx="310896" cy="82296"/>
          </a:xfrm>
          <a:prstGeom prst="line">
            <a:avLst/>
          </a:prstGeom>
          <a:noFill/>
          <a:ln w="13970">
            <a:solidFill>
              <a:srgbClr val="6E5FE8"/>
            </a:solidFill>
            <a:prstDash val="solid"/>
          </a:ln>
        </p:spPr>
        <p:txBody>
          <a:bodyPr/>
          <a:lstStyle/>
          <a:p>
            <a:endParaRPr lang="en-US"/>
          </a:p>
        </p:txBody>
      </p:sp>
      <p:sp>
        <p:nvSpPr>
          <p:cNvPr id="53" name="Shape 51"/>
          <p:cNvSpPr/>
          <p:nvPr/>
        </p:nvSpPr>
        <p:spPr>
          <a:xfrm>
            <a:off x="7754112" y="4041648"/>
            <a:ext cx="310896" cy="0"/>
          </a:xfrm>
          <a:prstGeom prst="line">
            <a:avLst/>
          </a:prstGeom>
          <a:noFill/>
          <a:ln w="13970">
            <a:solidFill>
              <a:srgbClr val="6E5FE8"/>
            </a:solidFill>
            <a:prstDash val="solid"/>
          </a:ln>
        </p:spPr>
        <p:txBody>
          <a:bodyPr/>
          <a:lstStyle/>
          <a:p>
            <a:endParaRPr lang="en-US"/>
          </a:p>
        </p:txBody>
      </p:sp>
      <p:sp>
        <p:nvSpPr>
          <p:cNvPr id="54" name="Shape 52"/>
          <p:cNvSpPr/>
          <p:nvPr/>
        </p:nvSpPr>
        <p:spPr>
          <a:xfrm>
            <a:off x="9235440" y="3374136"/>
            <a:ext cx="310896" cy="0"/>
          </a:xfrm>
          <a:prstGeom prst="line">
            <a:avLst/>
          </a:prstGeom>
          <a:noFill/>
          <a:ln w="13970">
            <a:solidFill>
              <a:srgbClr val="3FA98A"/>
            </a:solidFill>
            <a:prstDash val="solid"/>
          </a:ln>
        </p:spPr>
        <p:txBody>
          <a:bodyPr/>
          <a:lstStyle/>
          <a:p>
            <a:endParaRPr lang="en-US"/>
          </a:p>
        </p:txBody>
      </p:sp>
      <p:sp>
        <p:nvSpPr>
          <p:cNvPr id="55" name="Shape 53"/>
          <p:cNvSpPr/>
          <p:nvPr/>
        </p:nvSpPr>
        <p:spPr>
          <a:xfrm>
            <a:off x="9235440" y="3374136"/>
            <a:ext cx="310896" cy="0"/>
          </a:xfrm>
          <a:prstGeom prst="line">
            <a:avLst/>
          </a:prstGeom>
          <a:noFill/>
          <a:ln w="13970">
            <a:solidFill>
              <a:srgbClr val="3FA98A"/>
            </a:solidFill>
            <a:prstDash val="solid"/>
          </a:ln>
        </p:spPr>
        <p:txBody>
          <a:bodyPr/>
          <a:lstStyle/>
          <a:p>
            <a:endParaRPr lang="en-US"/>
          </a:p>
        </p:txBody>
      </p:sp>
      <p:sp>
        <p:nvSpPr>
          <p:cNvPr id="56" name="Shape 54"/>
          <p:cNvSpPr/>
          <p:nvPr/>
        </p:nvSpPr>
        <p:spPr>
          <a:xfrm>
            <a:off x="9235440" y="3374136"/>
            <a:ext cx="310896" cy="201168"/>
          </a:xfrm>
          <a:prstGeom prst="line">
            <a:avLst/>
          </a:prstGeom>
          <a:noFill/>
          <a:ln w="13970">
            <a:solidFill>
              <a:srgbClr val="3FA98A"/>
            </a:solidFill>
            <a:prstDash val="solid"/>
          </a:ln>
        </p:spPr>
        <p:txBody>
          <a:bodyPr/>
          <a:lstStyle/>
          <a:p>
            <a:endParaRPr lang="en-US"/>
          </a:p>
        </p:txBody>
      </p:sp>
      <p:sp>
        <p:nvSpPr>
          <p:cNvPr id="57" name="Shape 55"/>
          <p:cNvSpPr/>
          <p:nvPr/>
        </p:nvSpPr>
        <p:spPr>
          <a:xfrm>
            <a:off x="9235440" y="3374136"/>
            <a:ext cx="310896" cy="768096"/>
          </a:xfrm>
          <a:prstGeom prst="line">
            <a:avLst/>
          </a:prstGeom>
          <a:noFill/>
          <a:ln w="13970">
            <a:solidFill>
              <a:srgbClr val="3FA98A"/>
            </a:solidFill>
            <a:prstDash val="solid"/>
          </a:ln>
        </p:spPr>
        <p:txBody>
          <a:bodyPr/>
          <a:lstStyle/>
          <a:p>
            <a:endParaRPr lang="en-US"/>
          </a:p>
        </p:txBody>
      </p:sp>
      <p:sp>
        <p:nvSpPr>
          <p:cNvPr id="58" name="Text 56"/>
          <p:cNvSpPr/>
          <p:nvPr/>
        </p:nvSpPr>
        <p:spPr>
          <a:xfrm>
            <a:off x="6309360" y="4517136"/>
            <a:ext cx="4937760" cy="365760"/>
          </a:xfrm>
          <a:prstGeom prst="rect">
            <a:avLst/>
          </a:prstGeom>
          <a:noFill/>
          <a:ln/>
        </p:spPr>
        <p:txBody>
          <a:bodyPr wrap="square" lIns="0" tIns="0" rIns="0" bIns="0" rtlCol="0" anchor="ctr"/>
          <a:lstStyle/>
          <a:p>
            <a:pPr marL="0" indent="0">
              <a:buNone/>
            </a:pPr>
            <a:r>
              <a:rPr lang="en-US" sz="1100" i="1" dirty="0">
                <a:solidFill>
                  <a:srgbClr val="0E9F6E"/>
                </a:solidFill>
                <a:latin typeface="Calibri" pitchFamily="34" charset="0"/>
                <a:ea typeface="Calibri" pitchFamily="34" charset="-122"/>
                <a:cs typeface="Calibri" pitchFamily="34" charset="-120"/>
              </a:rPr>
              <a:t>7 integrations. Write the tool once; any client that speaks the protocol can use it.</a:t>
            </a:r>
            <a:endParaRPr lang="en-US" sz="1100" dirty="0"/>
          </a:p>
        </p:txBody>
      </p:sp>
      <p:sp>
        <p:nvSpPr>
          <p:cNvPr id="59" name="Shape 57"/>
          <p:cNvSpPr/>
          <p:nvPr/>
        </p:nvSpPr>
        <p:spPr>
          <a:xfrm>
            <a:off x="566928" y="5102352"/>
            <a:ext cx="11057839" cy="786384"/>
          </a:xfrm>
          <a:prstGeom prst="roundRect">
            <a:avLst>
              <a:gd name="adj" fmla="val 10465"/>
            </a:avLst>
          </a:prstGeom>
          <a:solidFill>
            <a:srgbClr val="FFF4E0"/>
          </a:solidFill>
          <a:ln w="12700">
            <a:solidFill>
              <a:srgbClr val="F3DCB0"/>
            </a:solidFill>
            <a:prstDash val="solid"/>
          </a:ln>
        </p:spPr>
        <p:txBody>
          <a:bodyPr/>
          <a:lstStyle/>
          <a:p>
            <a:endParaRPr lang="en-US"/>
          </a:p>
        </p:txBody>
      </p:sp>
      <p:sp>
        <p:nvSpPr>
          <p:cNvPr id="60" name="Shape 58"/>
          <p:cNvSpPr/>
          <p:nvPr/>
        </p:nvSpPr>
        <p:spPr>
          <a:xfrm>
            <a:off x="841248" y="5303520"/>
            <a:ext cx="384048" cy="384048"/>
          </a:xfrm>
          <a:prstGeom prst="ellipse">
            <a:avLst/>
          </a:prstGeom>
          <a:solidFill>
            <a:srgbClr val="F5A524"/>
          </a:solidFill>
          <a:ln w="12700">
            <a:solidFill>
              <a:srgbClr val="F5A524"/>
            </a:solidFill>
            <a:prstDash val="solid"/>
          </a:ln>
        </p:spPr>
        <p:txBody>
          <a:bodyPr/>
          <a:lstStyle/>
          <a:p>
            <a:endParaRPr lang="en-US"/>
          </a:p>
        </p:txBody>
      </p:sp>
      <p:pic>
        <p:nvPicPr>
          <p:cNvPr id="61" name="Image 0" descr="preencoded.png"/>
          <p:cNvPicPr>
            <a:picLocks noChangeAspect="1"/>
          </p:cNvPicPr>
          <p:nvPr/>
        </p:nvPicPr>
        <p:blipFill>
          <a:blip r:embed="rId3"/>
          <a:stretch>
            <a:fillRect/>
          </a:stretch>
        </p:blipFill>
        <p:spPr>
          <a:xfrm>
            <a:off x="937260" y="5399532"/>
            <a:ext cx="192024" cy="192024"/>
          </a:xfrm>
          <a:prstGeom prst="rect">
            <a:avLst/>
          </a:prstGeom>
        </p:spPr>
      </p:pic>
      <p:sp>
        <p:nvSpPr>
          <p:cNvPr id="62" name="Text 59"/>
          <p:cNvSpPr/>
          <p:nvPr/>
        </p:nvSpPr>
        <p:spPr>
          <a:xfrm>
            <a:off x="1371600" y="5157216"/>
            <a:ext cx="9960559" cy="676656"/>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MCP is a power socket. Before it, every appliance came with its own wall wiring. Nothing about the appliance got smarter — it just plugs in now.</a:t>
            </a:r>
            <a:endParaRPr lang="en-US" sz="10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06 · MCP</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3000" b="1" dirty="0">
                <a:solidFill>
                  <a:srgbClr val="141235"/>
                </a:solidFill>
                <a:latin typeface="Cambria" pitchFamily="34" charset="0"/>
                <a:ea typeface="Cambria" pitchFamily="34" charset="-122"/>
                <a:cs typeface="Cambria" pitchFamily="34" charset="-120"/>
              </a:rPr>
              <a:t>One boundary, three roles</a:t>
            </a:r>
            <a:endParaRPr lang="en-US" sz="3000" dirty="0"/>
          </a:p>
        </p:txBody>
      </p:sp>
      <p:sp>
        <p:nvSpPr>
          <p:cNvPr id="4" name="Shape 2"/>
          <p:cNvSpPr/>
          <p:nvPr/>
        </p:nvSpPr>
        <p:spPr>
          <a:xfrm>
            <a:off x="566928" y="1956816"/>
            <a:ext cx="3200400" cy="2286000"/>
          </a:xfrm>
          <a:prstGeom prst="roundRect">
            <a:avLst>
              <a:gd name="adj" fmla="val 4000"/>
            </a:avLst>
          </a:prstGeom>
          <a:solidFill>
            <a:srgbClr val="FFFFFF"/>
          </a:solidFill>
          <a:ln w="12700">
            <a:solidFill>
              <a:srgbClr val="E3E4F2"/>
            </a:solidFill>
            <a:prstDash val="solid"/>
          </a:ln>
          <a:effectLst>
            <a:outerShdw blurRad="101600" dist="508" dir="5400000" algn="bl" rotWithShape="0">
              <a:srgbClr val="1B1A4A">
                <a:alpha val="7000"/>
              </a:srgbClr>
            </a:outerShdw>
          </a:effectLst>
        </p:spPr>
        <p:txBody>
          <a:bodyPr/>
          <a:lstStyle/>
          <a:p>
            <a:endParaRPr lang="en-US"/>
          </a:p>
        </p:txBody>
      </p:sp>
      <p:sp>
        <p:nvSpPr>
          <p:cNvPr id="5" name="Shape 3"/>
          <p:cNvSpPr/>
          <p:nvPr/>
        </p:nvSpPr>
        <p:spPr>
          <a:xfrm>
            <a:off x="822960" y="2176272"/>
            <a:ext cx="402336" cy="402336"/>
          </a:xfrm>
          <a:prstGeom prst="ellipse">
            <a:avLst/>
          </a:prstGeom>
          <a:solidFill>
            <a:srgbClr val="5B4BE8"/>
          </a:solidFill>
          <a:ln w="12700">
            <a:solidFill>
              <a:srgbClr val="5B4BE8"/>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923544" y="2276856"/>
            <a:ext cx="201168" cy="201168"/>
          </a:xfrm>
          <a:prstGeom prst="rect">
            <a:avLst/>
          </a:prstGeom>
        </p:spPr>
      </p:pic>
      <p:sp>
        <p:nvSpPr>
          <p:cNvPr id="7" name="Text 4"/>
          <p:cNvSpPr/>
          <p:nvPr/>
        </p:nvSpPr>
        <p:spPr>
          <a:xfrm>
            <a:off x="1353312" y="2176272"/>
            <a:ext cx="2194560" cy="274320"/>
          </a:xfrm>
          <a:prstGeom prst="rect">
            <a:avLst/>
          </a:prstGeom>
          <a:noFill/>
          <a:ln/>
        </p:spPr>
        <p:txBody>
          <a:bodyPr wrap="square" lIns="0" tIns="0" rIns="0" bIns="0" rtlCol="0" anchor="ctr"/>
          <a:lstStyle/>
          <a:p>
            <a:pPr marL="0" indent="0">
              <a:buNone/>
            </a:pPr>
            <a:r>
              <a:rPr lang="en-US" sz="1600" b="1" dirty="0">
                <a:solidFill>
                  <a:srgbClr val="141235"/>
                </a:solidFill>
                <a:latin typeface="Calibri" pitchFamily="34" charset="0"/>
                <a:ea typeface="Calibri" pitchFamily="34" charset="-122"/>
                <a:cs typeface="Calibri" pitchFamily="34" charset="-120"/>
              </a:rPr>
              <a:t>Host</a:t>
            </a:r>
            <a:endParaRPr lang="en-US" sz="1600" dirty="0"/>
          </a:p>
        </p:txBody>
      </p:sp>
      <p:sp>
        <p:nvSpPr>
          <p:cNvPr id="8" name="Text 5"/>
          <p:cNvSpPr/>
          <p:nvPr/>
        </p:nvSpPr>
        <p:spPr>
          <a:xfrm>
            <a:off x="1353312" y="2450592"/>
            <a:ext cx="2194560" cy="237744"/>
          </a:xfrm>
          <a:prstGeom prst="rect">
            <a:avLst/>
          </a:prstGeom>
          <a:noFill/>
          <a:ln/>
        </p:spPr>
        <p:txBody>
          <a:bodyPr wrap="square" lIns="0" tIns="0" rIns="0" bIns="0" rtlCol="0" anchor="ctr"/>
          <a:lstStyle/>
          <a:p>
            <a:pPr marL="0" indent="0">
              <a:buNone/>
            </a:pPr>
            <a:r>
              <a:rPr lang="en-US" sz="1050" i="1" dirty="0">
                <a:solidFill>
                  <a:srgbClr val="E08700"/>
                </a:solidFill>
                <a:latin typeface="Calibri" pitchFamily="34" charset="0"/>
                <a:ea typeface="Calibri" pitchFamily="34" charset="-122"/>
                <a:cs typeface="Calibri" pitchFamily="34" charset="-120"/>
              </a:rPr>
              <a:t>Your application</a:t>
            </a:r>
            <a:endParaRPr lang="en-US" sz="1050" dirty="0"/>
          </a:p>
        </p:txBody>
      </p:sp>
      <p:sp>
        <p:nvSpPr>
          <p:cNvPr id="9" name="Text 6"/>
          <p:cNvSpPr/>
          <p:nvPr/>
        </p:nvSpPr>
        <p:spPr>
          <a:xfrm>
            <a:off x="822960" y="2852928"/>
            <a:ext cx="2688336" cy="1188720"/>
          </a:xfrm>
          <a:prstGeom prst="rect">
            <a:avLst/>
          </a:prstGeom>
          <a:noFill/>
          <a:ln/>
        </p:spPr>
        <p:txBody>
          <a:bodyPr wrap="square" lIns="0" tIns="0" rIns="0" bIns="0" rtlCol="0" anchor="t"/>
          <a:lstStyle/>
          <a:p>
            <a:pPr marL="0" indent="0">
              <a:lnSpc>
                <a:spcPct val="114000"/>
              </a:lnSpc>
              <a:buNone/>
            </a:pPr>
            <a:r>
              <a:rPr lang="en-US" sz="1150" dirty="0">
                <a:solidFill>
                  <a:srgbClr val="6E6B8A"/>
                </a:solidFill>
                <a:latin typeface="Calibri" pitchFamily="34" charset="0"/>
                <a:ea typeface="Calibri" pitchFamily="34" charset="-122"/>
                <a:cs typeface="Calibri" pitchFamily="34" charset="-120"/>
              </a:rPr>
              <a:t>The thing the user talks to. Owns the model, the loop, and the decision to run anything.</a:t>
            </a:r>
            <a:endParaRPr lang="en-US" sz="1150" dirty="0"/>
          </a:p>
        </p:txBody>
      </p:sp>
      <p:sp>
        <p:nvSpPr>
          <p:cNvPr id="10" name="Shape 7"/>
          <p:cNvSpPr/>
          <p:nvPr/>
        </p:nvSpPr>
        <p:spPr>
          <a:xfrm>
            <a:off x="3858768" y="2962656"/>
            <a:ext cx="475488" cy="0"/>
          </a:xfrm>
          <a:prstGeom prst="line">
            <a:avLst/>
          </a:prstGeom>
          <a:noFill/>
          <a:ln w="25400">
            <a:solidFill>
              <a:srgbClr val="8E82F5"/>
            </a:solidFill>
            <a:prstDash val="solid"/>
            <a:headEnd type="none"/>
            <a:tailEnd type="triangle"/>
          </a:ln>
        </p:spPr>
        <p:txBody>
          <a:bodyPr/>
          <a:lstStyle/>
          <a:p>
            <a:endParaRPr lang="en-US"/>
          </a:p>
        </p:txBody>
      </p:sp>
      <p:sp>
        <p:nvSpPr>
          <p:cNvPr id="11" name="Shape 8"/>
          <p:cNvSpPr/>
          <p:nvPr/>
        </p:nvSpPr>
        <p:spPr>
          <a:xfrm>
            <a:off x="4334256" y="3255264"/>
            <a:ext cx="0" cy="0"/>
          </a:xfrm>
          <a:prstGeom prst="line">
            <a:avLst/>
          </a:prstGeom>
          <a:noFill/>
          <a:ln w="25400">
            <a:solidFill>
              <a:srgbClr val="E08700"/>
            </a:solidFill>
            <a:prstDash val="solid"/>
            <a:headEnd type="none"/>
            <a:tailEnd type="triangle"/>
          </a:ln>
        </p:spPr>
        <p:txBody>
          <a:bodyPr/>
          <a:lstStyle/>
          <a:p>
            <a:endParaRPr lang="en-US"/>
          </a:p>
        </p:txBody>
      </p:sp>
      <p:sp>
        <p:nvSpPr>
          <p:cNvPr id="12" name="Shape 9"/>
          <p:cNvSpPr/>
          <p:nvPr/>
        </p:nvSpPr>
        <p:spPr>
          <a:xfrm>
            <a:off x="4425696" y="1956816"/>
            <a:ext cx="3200400" cy="2286000"/>
          </a:xfrm>
          <a:prstGeom prst="roundRect">
            <a:avLst>
              <a:gd name="adj" fmla="val 4000"/>
            </a:avLst>
          </a:prstGeom>
          <a:solidFill>
            <a:srgbClr val="EEEDFE"/>
          </a:solidFill>
          <a:ln w="12700">
            <a:solidFill>
              <a:srgbClr val="8E82F5"/>
            </a:solidFill>
            <a:prstDash val="solid"/>
          </a:ln>
          <a:effectLst>
            <a:outerShdw blurRad="101600" dist="508" dir="5400000" algn="bl" rotWithShape="0">
              <a:srgbClr val="1B1A4A">
                <a:alpha val="7000"/>
              </a:srgbClr>
            </a:outerShdw>
          </a:effectLst>
        </p:spPr>
        <p:txBody>
          <a:bodyPr/>
          <a:lstStyle/>
          <a:p>
            <a:endParaRPr lang="en-US"/>
          </a:p>
        </p:txBody>
      </p:sp>
      <p:sp>
        <p:nvSpPr>
          <p:cNvPr id="13" name="Shape 10"/>
          <p:cNvSpPr/>
          <p:nvPr/>
        </p:nvSpPr>
        <p:spPr>
          <a:xfrm>
            <a:off x="4681728" y="2176272"/>
            <a:ext cx="402336" cy="402336"/>
          </a:xfrm>
          <a:prstGeom prst="ellipse">
            <a:avLst/>
          </a:prstGeom>
          <a:solidFill>
            <a:srgbClr val="5B4BE8"/>
          </a:solidFill>
          <a:ln w="12700">
            <a:solidFill>
              <a:srgbClr val="5B4BE8"/>
            </a:solidFill>
            <a:prstDash val="solid"/>
          </a:ln>
        </p:spPr>
        <p:txBody>
          <a:bodyPr/>
          <a:lstStyle/>
          <a:p>
            <a:endParaRPr lang="en-US"/>
          </a:p>
        </p:txBody>
      </p:sp>
      <p:pic>
        <p:nvPicPr>
          <p:cNvPr id="14" name="Image 1" descr="preencoded.png"/>
          <p:cNvPicPr>
            <a:picLocks noChangeAspect="1"/>
          </p:cNvPicPr>
          <p:nvPr/>
        </p:nvPicPr>
        <p:blipFill>
          <a:blip r:embed="rId4"/>
          <a:stretch>
            <a:fillRect/>
          </a:stretch>
        </p:blipFill>
        <p:spPr>
          <a:xfrm>
            <a:off x="4782312" y="2276856"/>
            <a:ext cx="201168" cy="201168"/>
          </a:xfrm>
          <a:prstGeom prst="rect">
            <a:avLst/>
          </a:prstGeom>
        </p:spPr>
      </p:pic>
      <p:sp>
        <p:nvSpPr>
          <p:cNvPr id="15" name="Text 11"/>
          <p:cNvSpPr/>
          <p:nvPr/>
        </p:nvSpPr>
        <p:spPr>
          <a:xfrm>
            <a:off x="5212080" y="2176272"/>
            <a:ext cx="2194560" cy="274320"/>
          </a:xfrm>
          <a:prstGeom prst="rect">
            <a:avLst/>
          </a:prstGeom>
          <a:noFill/>
          <a:ln/>
        </p:spPr>
        <p:txBody>
          <a:bodyPr wrap="square" lIns="0" tIns="0" rIns="0" bIns="0" rtlCol="0" anchor="ctr"/>
          <a:lstStyle/>
          <a:p>
            <a:pPr marL="0" indent="0">
              <a:buNone/>
            </a:pPr>
            <a:r>
              <a:rPr lang="en-US" sz="1600" b="1" dirty="0">
                <a:solidFill>
                  <a:srgbClr val="141235"/>
                </a:solidFill>
                <a:latin typeface="Calibri" pitchFamily="34" charset="0"/>
                <a:ea typeface="Calibri" pitchFamily="34" charset="-122"/>
                <a:cs typeface="Calibri" pitchFamily="34" charset="-120"/>
              </a:rPr>
              <a:t>Client</a:t>
            </a:r>
            <a:endParaRPr lang="en-US" sz="1600" dirty="0"/>
          </a:p>
        </p:txBody>
      </p:sp>
      <p:sp>
        <p:nvSpPr>
          <p:cNvPr id="16" name="Text 12"/>
          <p:cNvSpPr/>
          <p:nvPr/>
        </p:nvSpPr>
        <p:spPr>
          <a:xfrm>
            <a:off x="5212080" y="2450592"/>
            <a:ext cx="2194560" cy="237744"/>
          </a:xfrm>
          <a:prstGeom prst="rect">
            <a:avLst/>
          </a:prstGeom>
          <a:noFill/>
          <a:ln/>
        </p:spPr>
        <p:txBody>
          <a:bodyPr wrap="square" lIns="0" tIns="0" rIns="0" bIns="0" rtlCol="0" anchor="ctr"/>
          <a:lstStyle/>
          <a:p>
            <a:pPr marL="0" indent="0">
              <a:buNone/>
            </a:pPr>
            <a:r>
              <a:rPr lang="en-US" sz="1050" i="1" dirty="0">
                <a:solidFill>
                  <a:srgbClr val="E08700"/>
                </a:solidFill>
                <a:latin typeface="Calibri" pitchFamily="34" charset="0"/>
                <a:ea typeface="Calibri" pitchFamily="34" charset="-122"/>
                <a:cs typeface="Calibri" pitchFamily="34" charset="-120"/>
              </a:rPr>
              <a:t>Speaks the protocol</a:t>
            </a:r>
            <a:endParaRPr lang="en-US" sz="1050" dirty="0"/>
          </a:p>
        </p:txBody>
      </p:sp>
      <p:sp>
        <p:nvSpPr>
          <p:cNvPr id="17" name="Text 13"/>
          <p:cNvSpPr/>
          <p:nvPr/>
        </p:nvSpPr>
        <p:spPr>
          <a:xfrm>
            <a:off x="4681728" y="2852928"/>
            <a:ext cx="2688336" cy="1188720"/>
          </a:xfrm>
          <a:prstGeom prst="rect">
            <a:avLst/>
          </a:prstGeom>
          <a:noFill/>
          <a:ln/>
        </p:spPr>
        <p:txBody>
          <a:bodyPr wrap="square" lIns="0" tIns="0" rIns="0" bIns="0" rtlCol="0" anchor="t"/>
          <a:lstStyle/>
          <a:p>
            <a:pPr marL="0" indent="0">
              <a:lnSpc>
                <a:spcPct val="114000"/>
              </a:lnSpc>
              <a:buNone/>
            </a:pPr>
            <a:r>
              <a:rPr lang="en-US" sz="1150" dirty="0">
                <a:solidFill>
                  <a:srgbClr val="6E6B8A"/>
                </a:solidFill>
                <a:latin typeface="Calibri" pitchFamily="34" charset="0"/>
                <a:ea typeface="Calibri" pitchFamily="34" charset="-122"/>
                <a:cs typeface="Calibri" pitchFamily="34" charset="-120"/>
              </a:rPr>
              <a:t>One per server connection. Handles the handshake, the message format, and the plumbing.</a:t>
            </a:r>
            <a:endParaRPr lang="en-US" sz="1150" dirty="0"/>
          </a:p>
        </p:txBody>
      </p:sp>
      <p:sp>
        <p:nvSpPr>
          <p:cNvPr id="18" name="Shape 14"/>
          <p:cNvSpPr/>
          <p:nvPr/>
        </p:nvSpPr>
        <p:spPr>
          <a:xfrm>
            <a:off x="7717536" y="2962656"/>
            <a:ext cx="475488" cy="0"/>
          </a:xfrm>
          <a:prstGeom prst="line">
            <a:avLst/>
          </a:prstGeom>
          <a:noFill/>
          <a:ln w="25400">
            <a:solidFill>
              <a:srgbClr val="8E82F5"/>
            </a:solidFill>
            <a:prstDash val="solid"/>
            <a:headEnd type="none"/>
            <a:tailEnd type="triangle"/>
          </a:ln>
        </p:spPr>
        <p:txBody>
          <a:bodyPr/>
          <a:lstStyle/>
          <a:p>
            <a:endParaRPr lang="en-US"/>
          </a:p>
        </p:txBody>
      </p:sp>
      <p:sp>
        <p:nvSpPr>
          <p:cNvPr id="19" name="Shape 15"/>
          <p:cNvSpPr/>
          <p:nvPr/>
        </p:nvSpPr>
        <p:spPr>
          <a:xfrm>
            <a:off x="8193024" y="3255264"/>
            <a:ext cx="0" cy="0"/>
          </a:xfrm>
          <a:prstGeom prst="line">
            <a:avLst/>
          </a:prstGeom>
          <a:noFill/>
          <a:ln w="25400">
            <a:solidFill>
              <a:srgbClr val="E08700"/>
            </a:solidFill>
            <a:prstDash val="solid"/>
            <a:headEnd type="none"/>
            <a:tailEnd type="triangle"/>
          </a:ln>
        </p:spPr>
        <p:txBody>
          <a:bodyPr/>
          <a:lstStyle/>
          <a:p>
            <a:endParaRPr lang="en-US"/>
          </a:p>
        </p:txBody>
      </p:sp>
      <p:sp>
        <p:nvSpPr>
          <p:cNvPr id="20" name="Shape 16"/>
          <p:cNvSpPr/>
          <p:nvPr/>
        </p:nvSpPr>
        <p:spPr>
          <a:xfrm>
            <a:off x="8284464" y="1956816"/>
            <a:ext cx="3200400" cy="2286000"/>
          </a:xfrm>
          <a:prstGeom prst="roundRect">
            <a:avLst>
              <a:gd name="adj" fmla="val 4000"/>
            </a:avLst>
          </a:prstGeom>
          <a:solidFill>
            <a:srgbClr val="FFFFFF"/>
          </a:solidFill>
          <a:ln w="12700">
            <a:solidFill>
              <a:srgbClr val="E3E4F2"/>
            </a:solidFill>
            <a:prstDash val="solid"/>
          </a:ln>
          <a:effectLst>
            <a:outerShdw blurRad="101600" dist="508" dir="5400000" algn="bl" rotWithShape="0">
              <a:srgbClr val="1B1A4A">
                <a:alpha val="7000"/>
              </a:srgbClr>
            </a:outerShdw>
          </a:effectLst>
        </p:spPr>
        <p:txBody>
          <a:bodyPr/>
          <a:lstStyle/>
          <a:p>
            <a:endParaRPr lang="en-US"/>
          </a:p>
        </p:txBody>
      </p:sp>
      <p:sp>
        <p:nvSpPr>
          <p:cNvPr id="21" name="Shape 17"/>
          <p:cNvSpPr/>
          <p:nvPr/>
        </p:nvSpPr>
        <p:spPr>
          <a:xfrm>
            <a:off x="8540496" y="2176272"/>
            <a:ext cx="402336" cy="402336"/>
          </a:xfrm>
          <a:prstGeom prst="ellipse">
            <a:avLst/>
          </a:prstGeom>
          <a:solidFill>
            <a:srgbClr val="5B4BE8"/>
          </a:solidFill>
          <a:ln w="12700">
            <a:solidFill>
              <a:srgbClr val="5B4BE8"/>
            </a:solidFill>
            <a:prstDash val="solid"/>
          </a:ln>
        </p:spPr>
        <p:txBody>
          <a:bodyPr/>
          <a:lstStyle/>
          <a:p>
            <a:endParaRPr lang="en-US"/>
          </a:p>
        </p:txBody>
      </p:sp>
      <p:pic>
        <p:nvPicPr>
          <p:cNvPr id="22" name="Image 2" descr="preencoded.png"/>
          <p:cNvPicPr>
            <a:picLocks noChangeAspect="1"/>
          </p:cNvPicPr>
          <p:nvPr/>
        </p:nvPicPr>
        <p:blipFill>
          <a:blip r:embed="rId5"/>
          <a:stretch>
            <a:fillRect/>
          </a:stretch>
        </p:blipFill>
        <p:spPr>
          <a:xfrm>
            <a:off x="8641080" y="2276856"/>
            <a:ext cx="201168" cy="201168"/>
          </a:xfrm>
          <a:prstGeom prst="rect">
            <a:avLst/>
          </a:prstGeom>
        </p:spPr>
      </p:pic>
      <p:sp>
        <p:nvSpPr>
          <p:cNvPr id="23" name="Text 18"/>
          <p:cNvSpPr/>
          <p:nvPr/>
        </p:nvSpPr>
        <p:spPr>
          <a:xfrm>
            <a:off x="9070848" y="2176272"/>
            <a:ext cx="2194560" cy="274320"/>
          </a:xfrm>
          <a:prstGeom prst="rect">
            <a:avLst/>
          </a:prstGeom>
          <a:noFill/>
          <a:ln/>
        </p:spPr>
        <p:txBody>
          <a:bodyPr wrap="square" lIns="0" tIns="0" rIns="0" bIns="0" rtlCol="0" anchor="ctr"/>
          <a:lstStyle/>
          <a:p>
            <a:pPr marL="0" indent="0">
              <a:buNone/>
            </a:pPr>
            <a:r>
              <a:rPr lang="en-US" sz="1600" b="1" dirty="0">
                <a:solidFill>
                  <a:srgbClr val="141235"/>
                </a:solidFill>
                <a:latin typeface="Calibri" pitchFamily="34" charset="0"/>
                <a:ea typeface="Calibri" pitchFamily="34" charset="-122"/>
                <a:cs typeface="Calibri" pitchFamily="34" charset="-120"/>
              </a:rPr>
              <a:t>Server</a:t>
            </a:r>
            <a:endParaRPr lang="en-US" sz="1600" dirty="0"/>
          </a:p>
        </p:txBody>
      </p:sp>
      <p:sp>
        <p:nvSpPr>
          <p:cNvPr id="24" name="Text 19"/>
          <p:cNvSpPr/>
          <p:nvPr/>
        </p:nvSpPr>
        <p:spPr>
          <a:xfrm>
            <a:off x="9070848" y="2450592"/>
            <a:ext cx="2194560" cy="237744"/>
          </a:xfrm>
          <a:prstGeom prst="rect">
            <a:avLst/>
          </a:prstGeom>
          <a:noFill/>
          <a:ln/>
        </p:spPr>
        <p:txBody>
          <a:bodyPr wrap="square" lIns="0" tIns="0" rIns="0" bIns="0" rtlCol="0" anchor="ctr"/>
          <a:lstStyle/>
          <a:p>
            <a:pPr marL="0" indent="0">
              <a:buNone/>
            </a:pPr>
            <a:r>
              <a:rPr lang="en-US" sz="1050" i="1" dirty="0">
                <a:solidFill>
                  <a:srgbClr val="E08700"/>
                </a:solidFill>
                <a:latin typeface="Calibri" pitchFamily="34" charset="0"/>
                <a:ea typeface="Calibri" pitchFamily="34" charset="-122"/>
                <a:cs typeface="Calibri" pitchFamily="34" charset="-120"/>
              </a:rPr>
              <a:t>Exposes the capability</a:t>
            </a:r>
            <a:endParaRPr lang="en-US" sz="1050" dirty="0"/>
          </a:p>
        </p:txBody>
      </p:sp>
      <p:sp>
        <p:nvSpPr>
          <p:cNvPr id="25" name="Text 20"/>
          <p:cNvSpPr/>
          <p:nvPr/>
        </p:nvSpPr>
        <p:spPr>
          <a:xfrm>
            <a:off x="8540496" y="2852928"/>
            <a:ext cx="2688336" cy="1188720"/>
          </a:xfrm>
          <a:prstGeom prst="rect">
            <a:avLst/>
          </a:prstGeom>
          <a:noFill/>
          <a:ln/>
        </p:spPr>
        <p:txBody>
          <a:bodyPr wrap="square" lIns="0" tIns="0" rIns="0" bIns="0" rtlCol="0" anchor="t"/>
          <a:lstStyle/>
          <a:p>
            <a:pPr marL="0" indent="0">
              <a:lnSpc>
                <a:spcPct val="114000"/>
              </a:lnSpc>
              <a:buNone/>
            </a:pPr>
            <a:r>
              <a:rPr lang="en-US" sz="1150" dirty="0">
                <a:solidFill>
                  <a:srgbClr val="6E6B8A"/>
                </a:solidFill>
                <a:latin typeface="Calibri" pitchFamily="34" charset="0"/>
                <a:ea typeface="Calibri" pitchFamily="34" charset="-122"/>
                <a:cs typeface="Calibri" pitchFamily="34" charset="-120"/>
              </a:rPr>
              <a:t>Wraps a real system. Advertises what it offers and does the work when asked.</a:t>
            </a:r>
            <a:endParaRPr lang="en-US" sz="1150" dirty="0"/>
          </a:p>
        </p:txBody>
      </p:sp>
      <p:sp>
        <p:nvSpPr>
          <p:cNvPr id="26" name="Shape 21"/>
          <p:cNvSpPr/>
          <p:nvPr/>
        </p:nvSpPr>
        <p:spPr>
          <a:xfrm>
            <a:off x="566928" y="4425696"/>
            <a:ext cx="11057839" cy="932688"/>
          </a:xfrm>
          <a:prstGeom prst="roundRect">
            <a:avLst>
              <a:gd name="adj" fmla="val 8824"/>
            </a:avLst>
          </a:prstGeom>
          <a:solidFill>
            <a:srgbClr val="F7F8FD"/>
          </a:solidFill>
          <a:ln w="12700">
            <a:solidFill>
              <a:srgbClr val="E3E4F2"/>
            </a:solidFill>
            <a:prstDash val="solid"/>
          </a:ln>
        </p:spPr>
        <p:txBody>
          <a:bodyPr/>
          <a:lstStyle/>
          <a:p>
            <a:endParaRPr lang="en-US"/>
          </a:p>
        </p:txBody>
      </p:sp>
      <p:sp>
        <p:nvSpPr>
          <p:cNvPr id="27" name="Shape 22"/>
          <p:cNvSpPr/>
          <p:nvPr/>
        </p:nvSpPr>
        <p:spPr>
          <a:xfrm>
            <a:off x="841248" y="4626864"/>
            <a:ext cx="384048" cy="384048"/>
          </a:xfrm>
          <a:prstGeom prst="ellipse">
            <a:avLst/>
          </a:prstGeom>
          <a:solidFill>
            <a:srgbClr val="5B4BE8"/>
          </a:solidFill>
          <a:ln w="12700">
            <a:solidFill>
              <a:srgbClr val="5B4BE8"/>
            </a:solidFill>
            <a:prstDash val="solid"/>
          </a:ln>
        </p:spPr>
        <p:txBody>
          <a:bodyPr/>
          <a:lstStyle/>
          <a:p>
            <a:endParaRPr lang="en-US"/>
          </a:p>
        </p:txBody>
      </p:sp>
      <p:pic>
        <p:nvPicPr>
          <p:cNvPr id="28" name="Image 3" descr="preencoded.png"/>
          <p:cNvPicPr>
            <a:picLocks noChangeAspect="1"/>
          </p:cNvPicPr>
          <p:nvPr/>
        </p:nvPicPr>
        <p:blipFill>
          <a:blip r:embed="rId6"/>
          <a:stretch>
            <a:fillRect/>
          </a:stretch>
        </p:blipFill>
        <p:spPr>
          <a:xfrm>
            <a:off x="937260" y="4722876"/>
            <a:ext cx="192024" cy="192024"/>
          </a:xfrm>
          <a:prstGeom prst="rect">
            <a:avLst/>
          </a:prstGeom>
        </p:spPr>
      </p:pic>
      <p:sp>
        <p:nvSpPr>
          <p:cNvPr id="29" name="Text 23"/>
          <p:cNvSpPr/>
          <p:nvPr/>
        </p:nvSpPr>
        <p:spPr>
          <a:xfrm>
            <a:off x="1389888" y="4480560"/>
            <a:ext cx="9960559" cy="822960"/>
          </a:xfrm>
          <a:prstGeom prst="rect">
            <a:avLst/>
          </a:prstGeom>
          <a:noFill/>
          <a:ln/>
        </p:spPr>
        <p:txBody>
          <a:bodyPr wrap="square" lIns="0" tIns="0" rIns="0" bIns="0" rtlCol="0" anchor="ctr"/>
          <a:lstStyle/>
          <a:p>
            <a:pPr marL="0" indent="0">
              <a:buNone/>
            </a:pPr>
            <a:r>
              <a:rPr lang="en-US" sz="1250" b="1" dirty="0">
                <a:solidFill>
                  <a:srgbClr val="141235"/>
                </a:solidFill>
                <a:latin typeface="Calibri" pitchFamily="34" charset="0"/>
                <a:ea typeface="Calibri" pitchFamily="34" charset="-122"/>
                <a:cs typeface="Calibri" pitchFamily="34" charset="-120"/>
              </a:rPr>
              <a:t>The server never knows which client is calling it.  </a:t>
            </a:r>
            <a:r>
              <a:rPr lang="en-US" sz="1200" dirty="0">
                <a:solidFill>
                  <a:srgbClr val="6E6B8A"/>
                </a:solidFill>
                <a:latin typeface="Calibri" pitchFamily="34" charset="0"/>
                <a:ea typeface="Calibri" pitchFamily="34" charset="-122"/>
                <a:cs typeface="Calibri" pitchFamily="34" charset="-120"/>
              </a:rPr>
              <a:t>That is the point — and it is also why authorisation has to be handled explicitly. Two slides from now.</a:t>
            </a:r>
            <a:endParaRPr lang="en-US" sz="1250" dirty="0"/>
          </a:p>
        </p:txBody>
      </p:sp>
      <p:sp>
        <p:nvSpPr>
          <p:cNvPr id="30" name="Shape 24"/>
          <p:cNvSpPr/>
          <p:nvPr/>
        </p:nvSpPr>
        <p:spPr>
          <a:xfrm>
            <a:off x="566928" y="5541264"/>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31" name="Shape 25"/>
          <p:cNvSpPr/>
          <p:nvPr/>
        </p:nvSpPr>
        <p:spPr>
          <a:xfrm>
            <a:off x="841248" y="5760720"/>
            <a:ext cx="384048" cy="384048"/>
          </a:xfrm>
          <a:prstGeom prst="ellipse">
            <a:avLst/>
          </a:prstGeom>
          <a:solidFill>
            <a:srgbClr val="F5A524"/>
          </a:solidFill>
          <a:ln w="12700">
            <a:solidFill>
              <a:srgbClr val="F5A524"/>
            </a:solidFill>
            <a:prstDash val="solid"/>
          </a:ln>
        </p:spPr>
        <p:txBody>
          <a:bodyPr/>
          <a:lstStyle/>
          <a:p>
            <a:endParaRPr lang="en-US"/>
          </a:p>
        </p:txBody>
      </p:sp>
      <p:pic>
        <p:nvPicPr>
          <p:cNvPr id="32" name="Image 4" descr="preencoded.png"/>
          <p:cNvPicPr>
            <a:picLocks noChangeAspect="1"/>
          </p:cNvPicPr>
          <p:nvPr/>
        </p:nvPicPr>
        <p:blipFill>
          <a:blip r:embed="rId7"/>
          <a:stretch>
            <a:fillRect/>
          </a:stretch>
        </p:blipFill>
        <p:spPr>
          <a:xfrm>
            <a:off x="937260" y="5856732"/>
            <a:ext cx="192024" cy="192024"/>
          </a:xfrm>
          <a:prstGeom prst="rect">
            <a:avLst/>
          </a:prstGeom>
        </p:spPr>
      </p:pic>
      <p:sp>
        <p:nvSpPr>
          <p:cNvPr id="33" name="Text 26"/>
          <p:cNvSpPr/>
          <p:nvPr/>
        </p:nvSpPr>
        <p:spPr>
          <a:xfrm>
            <a:off x="1371600" y="5596128"/>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Host is the app, client is the adapter, server is the thing being plugged in. Your organisation will care most about the third one, because that is where its data lives.</a:t>
            </a:r>
            <a:endParaRPr lang="en-US" sz="10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06 · MCP</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2600" b="1" dirty="0">
                <a:solidFill>
                  <a:srgbClr val="141235"/>
                </a:solidFill>
                <a:latin typeface="Cambria" pitchFamily="34" charset="0"/>
                <a:ea typeface="Cambria" pitchFamily="34" charset="-122"/>
                <a:cs typeface="Cambria" pitchFamily="34" charset="-120"/>
              </a:rPr>
              <a:t>Underneath, it is JSON-RPC 2.0 — and that is the whole trick</a:t>
            </a:r>
            <a:endParaRPr lang="en-US" sz="2600" dirty="0"/>
          </a:p>
        </p:txBody>
      </p:sp>
      <p:sp>
        <p:nvSpPr>
          <p:cNvPr id="4" name="Text 2"/>
          <p:cNvSpPr/>
          <p:nvPr/>
        </p:nvSpPr>
        <p:spPr>
          <a:xfrm>
            <a:off x="566928" y="1371600"/>
            <a:ext cx="11057839" cy="310896"/>
          </a:xfrm>
          <a:prstGeom prst="rect">
            <a:avLst/>
          </a:prstGeom>
          <a:noFill/>
          <a:ln/>
        </p:spPr>
        <p:txBody>
          <a:bodyPr wrap="square" lIns="0" tIns="0" rIns="0" bIns="0" rtlCol="0" anchor="t"/>
          <a:lstStyle/>
          <a:p>
            <a:pPr marL="0" indent="0">
              <a:buNone/>
            </a:pPr>
            <a:r>
              <a:rPr lang="en-US" sz="1400" dirty="0">
                <a:solidFill>
                  <a:srgbClr val="3B3760"/>
                </a:solidFill>
                <a:latin typeface="Calibri" pitchFamily="34" charset="0"/>
                <a:ea typeface="Calibri" pitchFamily="34" charset="-122"/>
                <a:cs typeface="Calibri" pitchFamily="34" charset="-120"/>
              </a:rPr>
              <a:t>There is no new science here. MCP is a small, published vocabulary of request and response messages in a format that has existed since 2010.</a:t>
            </a:r>
            <a:endParaRPr lang="en-US" sz="1400" dirty="0"/>
          </a:p>
        </p:txBody>
      </p:sp>
      <p:sp>
        <p:nvSpPr>
          <p:cNvPr id="5" name="Shape 3"/>
          <p:cNvSpPr/>
          <p:nvPr/>
        </p:nvSpPr>
        <p:spPr>
          <a:xfrm>
            <a:off x="566928" y="2011680"/>
            <a:ext cx="6035040" cy="3200400"/>
          </a:xfrm>
          <a:prstGeom prst="roundRect">
            <a:avLst>
              <a:gd name="adj" fmla="val 2571"/>
            </a:avLst>
          </a:prstGeom>
          <a:solidFill>
            <a:srgbClr val="F7F8FD"/>
          </a:solidFill>
          <a:ln w="12700">
            <a:solidFill>
              <a:srgbClr val="E3E4F2"/>
            </a:solidFill>
            <a:prstDash val="solid"/>
          </a:ln>
        </p:spPr>
        <p:txBody>
          <a:bodyPr/>
          <a:lstStyle/>
          <a:p>
            <a:endParaRPr lang="en-US"/>
          </a:p>
        </p:txBody>
      </p:sp>
      <p:sp>
        <p:nvSpPr>
          <p:cNvPr id="6" name="Text 4"/>
          <p:cNvSpPr/>
          <p:nvPr/>
        </p:nvSpPr>
        <p:spPr>
          <a:xfrm>
            <a:off x="822960" y="2157984"/>
            <a:ext cx="4572000" cy="237744"/>
          </a:xfrm>
          <a:prstGeom prst="rect">
            <a:avLst/>
          </a:prstGeom>
          <a:noFill/>
          <a:ln/>
        </p:spPr>
        <p:txBody>
          <a:bodyPr wrap="square" lIns="0" tIns="0" rIns="0" bIns="0" rtlCol="0" anchor="ctr"/>
          <a:lstStyle/>
          <a:p>
            <a:pPr marL="0" indent="0">
              <a:buNone/>
            </a:pPr>
            <a:r>
              <a:rPr lang="en-US" sz="900" b="1" kern="0" spc="180" dirty="0">
                <a:solidFill>
                  <a:srgbClr val="9B98B4"/>
                </a:solidFill>
                <a:latin typeface="Calibri" pitchFamily="34" charset="0"/>
                <a:ea typeface="Calibri" pitchFamily="34" charset="-122"/>
                <a:cs typeface="Calibri" pitchFamily="34" charset="-120"/>
              </a:rPr>
              <a:t>ONE REQUEST, ON THE WIRE</a:t>
            </a:r>
            <a:endParaRPr lang="en-US" sz="900" dirty="0"/>
          </a:p>
        </p:txBody>
      </p:sp>
      <p:sp>
        <p:nvSpPr>
          <p:cNvPr id="7" name="Text 5"/>
          <p:cNvSpPr/>
          <p:nvPr/>
        </p:nvSpPr>
        <p:spPr>
          <a:xfrm>
            <a:off x="841248" y="2450592"/>
            <a:ext cx="5577840" cy="256032"/>
          </a:xfrm>
          <a:prstGeom prst="rect">
            <a:avLst/>
          </a:prstGeom>
          <a:noFill/>
          <a:ln/>
        </p:spPr>
        <p:txBody>
          <a:bodyPr wrap="square" lIns="0" tIns="0" rIns="0" bIns="0" rtlCol="0" anchor="ctr"/>
          <a:lstStyle/>
          <a:p>
            <a:pPr marL="0" indent="0">
              <a:buNone/>
            </a:pPr>
            <a:r>
              <a:rPr lang="en-US" sz="1150" dirty="0">
                <a:solidFill>
                  <a:srgbClr val="6E6B8A"/>
                </a:solidFill>
                <a:latin typeface="Courier New" pitchFamily="34" charset="0"/>
                <a:ea typeface="Courier New" pitchFamily="34" charset="-122"/>
                <a:cs typeface="Courier New" pitchFamily="34" charset="-120"/>
              </a:rPr>
              <a:t>{</a:t>
            </a:r>
            <a:endParaRPr lang="en-US" sz="1150" dirty="0"/>
          </a:p>
        </p:txBody>
      </p:sp>
      <p:sp>
        <p:nvSpPr>
          <p:cNvPr id="8" name="Text 6"/>
          <p:cNvSpPr/>
          <p:nvPr/>
        </p:nvSpPr>
        <p:spPr>
          <a:xfrm>
            <a:off x="841248" y="2724912"/>
            <a:ext cx="5577840" cy="256032"/>
          </a:xfrm>
          <a:prstGeom prst="rect">
            <a:avLst/>
          </a:prstGeom>
          <a:noFill/>
          <a:ln/>
        </p:spPr>
        <p:txBody>
          <a:bodyPr wrap="square" lIns="0" tIns="0" rIns="0" bIns="0" rtlCol="0" anchor="ctr"/>
          <a:lstStyle/>
          <a:p>
            <a:pPr marL="0" indent="0">
              <a:buNone/>
            </a:pPr>
            <a:r>
              <a:rPr lang="en-US" sz="1150" b="1" dirty="0">
                <a:solidFill>
                  <a:srgbClr val="E08700"/>
                </a:solidFill>
                <a:latin typeface="Courier New" pitchFamily="34" charset="0"/>
                <a:ea typeface="Courier New" pitchFamily="34" charset="-122"/>
                <a:cs typeface="Courier New" pitchFamily="34" charset="-120"/>
              </a:rPr>
              <a:t>  "jsonrpc": "2.0",</a:t>
            </a:r>
            <a:endParaRPr lang="en-US" sz="1150" dirty="0"/>
          </a:p>
        </p:txBody>
      </p:sp>
      <p:sp>
        <p:nvSpPr>
          <p:cNvPr id="9" name="Text 7"/>
          <p:cNvSpPr/>
          <p:nvPr/>
        </p:nvSpPr>
        <p:spPr>
          <a:xfrm>
            <a:off x="841248" y="2999232"/>
            <a:ext cx="5577840" cy="256032"/>
          </a:xfrm>
          <a:prstGeom prst="rect">
            <a:avLst/>
          </a:prstGeom>
          <a:noFill/>
          <a:ln/>
        </p:spPr>
        <p:txBody>
          <a:bodyPr wrap="square" lIns="0" tIns="0" rIns="0" bIns="0" rtlCol="0" anchor="ctr"/>
          <a:lstStyle/>
          <a:p>
            <a:pPr marL="0" indent="0">
              <a:buNone/>
            </a:pPr>
            <a:r>
              <a:rPr lang="en-US" sz="1150" dirty="0">
                <a:solidFill>
                  <a:srgbClr val="3B3760"/>
                </a:solidFill>
                <a:latin typeface="Courier New" pitchFamily="34" charset="0"/>
                <a:ea typeface="Courier New" pitchFamily="34" charset="-122"/>
                <a:cs typeface="Courier New" pitchFamily="34" charset="-120"/>
              </a:rPr>
              <a:t>  "id": 1,</a:t>
            </a:r>
            <a:endParaRPr lang="en-US" sz="1150" dirty="0"/>
          </a:p>
        </p:txBody>
      </p:sp>
      <p:sp>
        <p:nvSpPr>
          <p:cNvPr id="10" name="Text 8"/>
          <p:cNvSpPr/>
          <p:nvPr/>
        </p:nvSpPr>
        <p:spPr>
          <a:xfrm>
            <a:off x="841248" y="3273552"/>
            <a:ext cx="5577840" cy="256032"/>
          </a:xfrm>
          <a:prstGeom prst="rect">
            <a:avLst/>
          </a:prstGeom>
          <a:noFill/>
          <a:ln/>
        </p:spPr>
        <p:txBody>
          <a:bodyPr wrap="square" lIns="0" tIns="0" rIns="0" bIns="0" rtlCol="0" anchor="ctr"/>
          <a:lstStyle/>
          <a:p>
            <a:pPr marL="0" indent="0">
              <a:buNone/>
            </a:pPr>
            <a:r>
              <a:rPr lang="en-US" sz="1150" b="1" dirty="0">
                <a:solidFill>
                  <a:srgbClr val="3B2EB8"/>
                </a:solidFill>
                <a:latin typeface="Courier New" pitchFamily="34" charset="0"/>
                <a:ea typeface="Courier New" pitchFamily="34" charset="-122"/>
                <a:cs typeface="Courier New" pitchFamily="34" charset="-120"/>
              </a:rPr>
              <a:t>  "method": "tools/call",</a:t>
            </a:r>
            <a:endParaRPr lang="en-US" sz="1150" dirty="0"/>
          </a:p>
        </p:txBody>
      </p:sp>
      <p:sp>
        <p:nvSpPr>
          <p:cNvPr id="11" name="Text 9"/>
          <p:cNvSpPr/>
          <p:nvPr/>
        </p:nvSpPr>
        <p:spPr>
          <a:xfrm>
            <a:off x="841248" y="3547872"/>
            <a:ext cx="5577840" cy="256032"/>
          </a:xfrm>
          <a:prstGeom prst="rect">
            <a:avLst/>
          </a:prstGeom>
          <a:noFill/>
          <a:ln/>
        </p:spPr>
        <p:txBody>
          <a:bodyPr wrap="square" lIns="0" tIns="0" rIns="0" bIns="0" rtlCol="0" anchor="ctr"/>
          <a:lstStyle/>
          <a:p>
            <a:pPr marL="0" indent="0">
              <a:buNone/>
            </a:pPr>
            <a:r>
              <a:rPr lang="en-US" sz="1150" dirty="0">
                <a:solidFill>
                  <a:srgbClr val="3B3760"/>
                </a:solidFill>
                <a:latin typeface="Courier New" pitchFamily="34" charset="0"/>
                <a:ea typeface="Courier New" pitchFamily="34" charset="-122"/>
                <a:cs typeface="Courier New" pitchFamily="34" charset="-120"/>
              </a:rPr>
              <a:t>  "params": {</a:t>
            </a:r>
            <a:endParaRPr lang="en-US" sz="1150" dirty="0"/>
          </a:p>
        </p:txBody>
      </p:sp>
      <p:sp>
        <p:nvSpPr>
          <p:cNvPr id="12" name="Text 10"/>
          <p:cNvSpPr/>
          <p:nvPr/>
        </p:nvSpPr>
        <p:spPr>
          <a:xfrm>
            <a:off x="841248" y="3822192"/>
            <a:ext cx="5577840" cy="256032"/>
          </a:xfrm>
          <a:prstGeom prst="rect">
            <a:avLst/>
          </a:prstGeom>
          <a:noFill/>
          <a:ln/>
        </p:spPr>
        <p:txBody>
          <a:bodyPr wrap="square" lIns="0" tIns="0" rIns="0" bIns="0" rtlCol="0" anchor="ctr"/>
          <a:lstStyle/>
          <a:p>
            <a:pPr marL="0" indent="0">
              <a:buNone/>
            </a:pPr>
            <a:r>
              <a:rPr lang="en-US" sz="1150" dirty="0">
                <a:solidFill>
                  <a:srgbClr val="3B3760"/>
                </a:solidFill>
                <a:latin typeface="Courier New" pitchFamily="34" charset="0"/>
                <a:ea typeface="Courier New" pitchFamily="34" charset="-122"/>
                <a:cs typeface="Courier New" pitchFamily="34" charset="-120"/>
              </a:rPr>
              <a:t>    "name": "get_weather",</a:t>
            </a:r>
            <a:endParaRPr lang="en-US" sz="1150" dirty="0"/>
          </a:p>
        </p:txBody>
      </p:sp>
      <p:sp>
        <p:nvSpPr>
          <p:cNvPr id="13" name="Text 11"/>
          <p:cNvSpPr/>
          <p:nvPr/>
        </p:nvSpPr>
        <p:spPr>
          <a:xfrm>
            <a:off x="841248" y="4096512"/>
            <a:ext cx="5577840" cy="256032"/>
          </a:xfrm>
          <a:prstGeom prst="rect">
            <a:avLst/>
          </a:prstGeom>
          <a:noFill/>
          <a:ln/>
        </p:spPr>
        <p:txBody>
          <a:bodyPr wrap="square" lIns="0" tIns="0" rIns="0" bIns="0" rtlCol="0" anchor="ctr"/>
          <a:lstStyle/>
          <a:p>
            <a:pPr marL="0" indent="0">
              <a:buNone/>
            </a:pPr>
            <a:r>
              <a:rPr lang="en-US" sz="1150" dirty="0">
                <a:solidFill>
                  <a:srgbClr val="3B3760"/>
                </a:solidFill>
                <a:latin typeface="Courier New" pitchFamily="34" charset="0"/>
                <a:ea typeface="Courier New" pitchFamily="34" charset="-122"/>
                <a:cs typeface="Courier New" pitchFamily="34" charset="-120"/>
              </a:rPr>
              <a:t>    "arguments": { "location": "Amman" }</a:t>
            </a:r>
            <a:endParaRPr lang="en-US" sz="1150" dirty="0"/>
          </a:p>
        </p:txBody>
      </p:sp>
      <p:sp>
        <p:nvSpPr>
          <p:cNvPr id="14" name="Text 12"/>
          <p:cNvSpPr/>
          <p:nvPr/>
        </p:nvSpPr>
        <p:spPr>
          <a:xfrm>
            <a:off x="841248" y="4370832"/>
            <a:ext cx="5577840" cy="256032"/>
          </a:xfrm>
          <a:prstGeom prst="rect">
            <a:avLst/>
          </a:prstGeom>
          <a:noFill/>
          <a:ln/>
        </p:spPr>
        <p:txBody>
          <a:bodyPr wrap="square" lIns="0" tIns="0" rIns="0" bIns="0" rtlCol="0" anchor="ctr"/>
          <a:lstStyle/>
          <a:p>
            <a:pPr marL="0" indent="0">
              <a:buNone/>
            </a:pPr>
            <a:r>
              <a:rPr lang="en-US" sz="1150" dirty="0">
                <a:solidFill>
                  <a:srgbClr val="3B3760"/>
                </a:solidFill>
                <a:latin typeface="Courier New" pitchFamily="34" charset="0"/>
                <a:ea typeface="Courier New" pitchFamily="34" charset="-122"/>
                <a:cs typeface="Courier New" pitchFamily="34" charset="-120"/>
              </a:rPr>
              <a:t>  }</a:t>
            </a:r>
            <a:endParaRPr lang="en-US" sz="1150" dirty="0"/>
          </a:p>
        </p:txBody>
      </p:sp>
      <p:sp>
        <p:nvSpPr>
          <p:cNvPr id="15" name="Text 13"/>
          <p:cNvSpPr/>
          <p:nvPr/>
        </p:nvSpPr>
        <p:spPr>
          <a:xfrm>
            <a:off x="841248" y="4645152"/>
            <a:ext cx="5577840" cy="256032"/>
          </a:xfrm>
          <a:prstGeom prst="rect">
            <a:avLst/>
          </a:prstGeom>
          <a:noFill/>
          <a:ln/>
        </p:spPr>
        <p:txBody>
          <a:bodyPr wrap="square" lIns="0" tIns="0" rIns="0" bIns="0" rtlCol="0" anchor="ctr"/>
          <a:lstStyle/>
          <a:p>
            <a:pPr marL="0" indent="0">
              <a:buNone/>
            </a:pPr>
            <a:r>
              <a:rPr lang="en-US" sz="1150" dirty="0">
                <a:solidFill>
                  <a:srgbClr val="6E6B8A"/>
                </a:solidFill>
                <a:latin typeface="Courier New" pitchFamily="34" charset="0"/>
                <a:ea typeface="Courier New" pitchFamily="34" charset="-122"/>
                <a:cs typeface="Courier New" pitchFamily="34" charset="-120"/>
              </a:rPr>
              <a:t>}</a:t>
            </a:r>
            <a:endParaRPr lang="en-US" sz="1150" dirty="0"/>
          </a:p>
        </p:txBody>
      </p:sp>
      <p:sp>
        <p:nvSpPr>
          <p:cNvPr id="16" name="Text 14"/>
          <p:cNvSpPr/>
          <p:nvPr/>
        </p:nvSpPr>
        <p:spPr>
          <a:xfrm>
            <a:off x="841248" y="4901184"/>
            <a:ext cx="5486400" cy="256032"/>
          </a:xfrm>
          <a:prstGeom prst="rect">
            <a:avLst/>
          </a:prstGeom>
          <a:noFill/>
          <a:ln/>
        </p:spPr>
        <p:txBody>
          <a:bodyPr wrap="square" lIns="0" tIns="0" rIns="0" bIns="0" rtlCol="0" anchor="ctr"/>
          <a:lstStyle/>
          <a:p>
            <a:pPr marL="0" indent="0">
              <a:buNone/>
            </a:pPr>
            <a:r>
              <a:rPr lang="en-US" sz="1050" i="1" dirty="0">
                <a:solidFill>
                  <a:srgbClr val="6E6B8A"/>
                </a:solidFill>
                <a:latin typeface="Calibri" pitchFamily="34" charset="0"/>
                <a:ea typeface="Calibri" pitchFamily="34" charset="-122"/>
                <a:cs typeface="Calibri" pitchFamily="34" charset="-120"/>
              </a:rPr>
              <a:t>The server answers with the same id and either a result or an error.</a:t>
            </a:r>
            <a:endParaRPr lang="en-US" sz="1050" dirty="0"/>
          </a:p>
        </p:txBody>
      </p:sp>
      <p:sp>
        <p:nvSpPr>
          <p:cNvPr id="17" name="Shape 15"/>
          <p:cNvSpPr/>
          <p:nvPr/>
        </p:nvSpPr>
        <p:spPr>
          <a:xfrm>
            <a:off x="6858000" y="2011680"/>
            <a:ext cx="4766767" cy="1005840"/>
          </a:xfrm>
          <a:prstGeom prst="roundRect">
            <a:avLst>
              <a:gd name="adj" fmla="val 8182"/>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8" name="Shape 16"/>
          <p:cNvSpPr/>
          <p:nvPr/>
        </p:nvSpPr>
        <p:spPr>
          <a:xfrm>
            <a:off x="7095744" y="2231136"/>
            <a:ext cx="365760" cy="365760"/>
          </a:xfrm>
          <a:prstGeom prst="ellipse">
            <a:avLst/>
          </a:prstGeom>
          <a:solidFill>
            <a:srgbClr val="5B4BE8"/>
          </a:solidFill>
          <a:ln w="12700">
            <a:solidFill>
              <a:srgbClr val="5B4BE8"/>
            </a:solidFill>
            <a:prstDash val="solid"/>
          </a:ln>
        </p:spPr>
        <p:txBody>
          <a:bodyPr/>
          <a:lstStyle/>
          <a:p>
            <a:endParaRPr lang="en-US"/>
          </a:p>
        </p:txBody>
      </p:sp>
      <p:pic>
        <p:nvPicPr>
          <p:cNvPr id="19" name="Image 0" descr="preencoded.png"/>
          <p:cNvPicPr>
            <a:picLocks noChangeAspect="1"/>
          </p:cNvPicPr>
          <p:nvPr/>
        </p:nvPicPr>
        <p:blipFill>
          <a:blip r:embed="rId3"/>
          <a:stretch>
            <a:fillRect/>
          </a:stretch>
        </p:blipFill>
        <p:spPr>
          <a:xfrm>
            <a:off x="7187184" y="2322576"/>
            <a:ext cx="182880" cy="182880"/>
          </a:xfrm>
          <a:prstGeom prst="rect">
            <a:avLst/>
          </a:prstGeom>
        </p:spPr>
      </p:pic>
      <p:sp>
        <p:nvSpPr>
          <p:cNvPr id="20" name="Text 17"/>
          <p:cNvSpPr/>
          <p:nvPr/>
        </p:nvSpPr>
        <p:spPr>
          <a:xfrm>
            <a:off x="7589520" y="2249424"/>
            <a:ext cx="3797503" cy="314371"/>
          </a:xfrm>
          <a:prstGeom prst="rect">
            <a:avLst/>
          </a:prstGeom>
          <a:noFill/>
          <a:ln/>
        </p:spPr>
        <p:txBody>
          <a:bodyPr wrap="square" lIns="0" tIns="0" rIns="0" bIns="0" rtlCol="0" anchor="t"/>
          <a:lstStyle/>
          <a:p>
            <a:pPr marL="0" indent="0">
              <a:lnSpc>
                <a:spcPct val="105000"/>
              </a:lnSpc>
              <a:buNone/>
            </a:pPr>
            <a:r>
              <a:rPr lang="en-US" sz="1300" b="1" dirty="0">
                <a:solidFill>
                  <a:srgbClr val="141235"/>
                </a:solidFill>
                <a:latin typeface="Calibri" pitchFamily="34" charset="0"/>
                <a:ea typeface="Calibri" pitchFamily="34" charset="-122"/>
                <a:cs typeface="Calibri" pitchFamily="34" charset="-120"/>
              </a:rPr>
              <a:t>jsonrpc, id, method, params</a:t>
            </a:r>
            <a:endParaRPr lang="en-US" sz="1300" dirty="0"/>
          </a:p>
        </p:txBody>
      </p:sp>
      <p:sp>
        <p:nvSpPr>
          <p:cNvPr id="21" name="Text 18"/>
          <p:cNvSpPr/>
          <p:nvPr/>
        </p:nvSpPr>
        <p:spPr>
          <a:xfrm>
            <a:off x="7589520" y="2572939"/>
            <a:ext cx="3797503" cy="261701"/>
          </a:xfrm>
          <a:prstGeom prst="rect">
            <a:avLst/>
          </a:prstGeom>
          <a:noFill/>
          <a:ln/>
        </p:spPr>
        <p:txBody>
          <a:bodyPr wrap="square" lIns="0" tIns="0" rIns="0" bIns="0" rtlCol="0" anchor="t"/>
          <a:lstStyle/>
          <a:p>
            <a:pPr marL="0" indent="0">
              <a:lnSpc>
                <a:spcPct val="113000"/>
              </a:lnSpc>
              <a:buNone/>
            </a:pPr>
            <a:r>
              <a:rPr lang="en-US" sz="1050" dirty="0">
                <a:solidFill>
                  <a:srgbClr val="6E6B8A"/>
                </a:solidFill>
                <a:latin typeface="Calibri" pitchFamily="34" charset="0"/>
                <a:ea typeface="Calibri" pitchFamily="34" charset="-122"/>
                <a:cs typeface="Calibri" pitchFamily="34" charset="-120"/>
              </a:rPr>
              <a:t>Four fields. Nothing agent-specific about the envelope at all — it is the same shape a 2010 web service used.</a:t>
            </a:r>
            <a:endParaRPr lang="en-US" sz="1050" dirty="0"/>
          </a:p>
        </p:txBody>
      </p:sp>
      <p:sp>
        <p:nvSpPr>
          <p:cNvPr id="22" name="Shape 19"/>
          <p:cNvSpPr/>
          <p:nvPr/>
        </p:nvSpPr>
        <p:spPr>
          <a:xfrm>
            <a:off x="6858000" y="3090672"/>
            <a:ext cx="4766767" cy="1005840"/>
          </a:xfrm>
          <a:prstGeom prst="roundRect">
            <a:avLst>
              <a:gd name="adj" fmla="val 8182"/>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23" name="Shape 20"/>
          <p:cNvSpPr/>
          <p:nvPr/>
        </p:nvSpPr>
        <p:spPr>
          <a:xfrm>
            <a:off x="7095744" y="3310128"/>
            <a:ext cx="365760" cy="365760"/>
          </a:xfrm>
          <a:prstGeom prst="ellipse">
            <a:avLst/>
          </a:prstGeom>
          <a:solidFill>
            <a:srgbClr val="5B4BE8"/>
          </a:solidFill>
          <a:ln w="12700">
            <a:solidFill>
              <a:srgbClr val="5B4BE8"/>
            </a:solidFill>
            <a:prstDash val="solid"/>
          </a:ln>
        </p:spPr>
        <p:txBody>
          <a:bodyPr/>
          <a:lstStyle/>
          <a:p>
            <a:endParaRPr lang="en-US"/>
          </a:p>
        </p:txBody>
      </p:sp>
      <p:pic>
        <p:nvPicPr>
          <p:cNvPr id="24" name="Image 1" descr="preencoded.png"/>
          <p:cNvPicPr>
            <a:picLocks noChangeAspect="1"/>
          </p:cNvPicPr>
          <p:nvPr/>
        </p:nvPicPr>
        <p:blipFill>
          <a:blip r:embed="rId4"/>
          <a:stretch>
            <a:fillRect/>
          </a:stretch>
        </p:blipFill>
        <p:spPr>
          <a:xfrm>
            <a:off x="7187184" y="3401568"/>
            <a:ext cx="182880" cy="182880"/>
          </a:xfrm>
          <a:prstGeom prst="rect">
            <a:avLst/>
          </a:prstGeom>
        </p:spPr>
      </p:pic>
      <p:sp>
        <p:nvSpPr>
          <p:cNvPr id="25" name="Text 21"/>
          <p:cNvSpPr/>
          <p:nvPr/>
        </p:nvSpPr>
        <p:spPr>
          <a:xfrm>
            <a:off x="7589520" y="3328416"/>
            <a:ext cx="3797503" cy="314371"/>
          </a:xfrm>
          <a:prstGeom prst="rect">
            <a:avLst/>
          </a:prstGeom>
          <a:noFill/>
          <a:ln/>
        </p:spPr>
        <p:txBody>
          <a:bodyPr wrap="square" lIns="0" tIns="0" rIns="0" bIns="0" rtlCol="0" anchor="t"/>
          <a:lstStyle/>
          <a:p>
            <a:pPr marL="0" indent="0">
              <a:lnSpc>
                <a:spcPct val="105000"/>
              </a:lnSpc>
              <a:buNone/>
            </a:pPr>
            <a:r>
              <a:rPr lang="en-US" sz="1300" b="1" dirty="0">
                <a:solidFill>
                  <a:srgbClr val="141235"/>
                </a:solidFill>
                <a:latin typeface="Calibri" pitchFamily="34" charset="0"/>
                <a:ea typeface="Calibri" pitchFamily="34" charset="-122"/>
                <a:cs typeface="Calibri" pitchFamily="34" charset="-120"/>
              </a:rPr>
              <a:t>The method names are the spec</a:t>
            </a:r>
            <a:endParaRPr lang="en-US" sz="1300" dirty="0"/>
          </a:p>
        </p:txBody>
      </p:sp>
      <p:sp>
        <p:nvSpPr>
          <p:cNvPr id="26" name="Text 22"/>
          <p:cNvSpPr/>
          <p:nvPr/>
        </p:nvSpPr>
        <p:spPr>
          <a:xfrm>
            <a:off x="7589520" y="3651931"/>
            <a:ext cx="3797503" cy="261701"/>
          </a:xfrm>
          <a:prstGeom prst="rect">
            <a:avLst/>
          </a:prstGeom>
          <a:noFill/>
          <a:ln/>
        </p:spPr>
        <p:txBody>
          <a:bodyPr wrap="square" lIns="0" tIns="0" rIns="0" bIns="0" rtlCol="0" anchor="t"/>
          <a:lstStyle/>
          <a:p>
            <a:pPr marL="0" indent="0">
              <a:lnSpc>
                <a:spcPct val="113000"/>
              </a:lnSpc>
              <a:buNone/>
            </a:pPr>
            <a:r>
              <a:rPr lang="en-US" sz="1050" dirty="0">
                <a:solidFill>
                  <a:srgbClr val="6E6B8A"/>
                </a:solidFill>
                <a:latin typeface="Calibri" pitchFamily="34" charset="0"/>
                <a:ea typeface="Calibri" pitchFamily="34" charset="-122"/>
                <a:cs typeface="Calibri" pitchFamily="34" charset="-120"/>
              </a:rPr>
              <a:t>tools/list, tools/call, resources/read, prompts/get. Learning MCP is mostly learning this short list of verbs.</a:t>
            </a:r>
            <a:endParaRPr lang="en-US" sz="1050" dirty="0"/>
          </a:p>
        </p:txBody>
      </p:sp>
      <p:sp>
        <p:nvSpPr>
          <p:cNvPr id="27" name="Shape 23"/>
          <p:cNvSpPr/>
          <p:nvPr/>
        </p:nvSpPr>
        <p:spPr>
          <a:xfrm>
            <a:off x="6858000" y="4169664"/>
            <a:ext cx="4766767" cy="1042416"/>
          </a:xfrm>
          <a:prstGeom prst="roundRect">
            <a:avLst>
              <a:gd name="adj" fmla="val 7895"/>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28" name="Shape 24"/>
          <p:cNvSpPr/>
          <p:nvPr/>
        </p:nvSpPr>
        <p:spPr>
          <a:xfrm>
            <a:off x="7095744" y="4389120"/>
            <a:ext cx="365760" cy="365760"/>
          </a:xfrm>
          <a:prstGeom prst="ellipse">
            <a:avLst/>
          </a:prstGeom>
          <a:solidFill>
            <a:srgbClr val="F5A524"/>
          </a:solidFill>
          <a:ln w="12700">
            <a:solidFill>
              <a:srgbClr val="F5A524"/>
            </a:solidFill>
            <a:prstDash val="solid"/>
          </a:ln>
        </p:spPr>
        <p:txBody>
          <a:bodyPr/>
          <a:lstStyle/>
          <a:p>
            <a:endParaRPr lang="en-US"/>
          </a:p>
        </p:txBody>
      </p:sp>
      <p:pic>
        <p:nvPicPr>
          <p:cNvPr id="29" name="Image 2" descr="preencoded.png"/>
          <p:cNvPicPr>
            <a:picLocks noChangeAspect="1"/>
          </p:cNvPicPr>
          <p:nvPr/>
        </p:nvPicPr>
        <p:blipFill>
          <a:blip r:embed="rId5"/>
          <a:stretch>
            <a:fillRect/>
          </a:stretch>
        </p:blipFill>
        <p:spPr>
          <a:xfrm>
            <a:off x="7187184" y="4480560"/>
            <a:ext cx="182880" cy="182880"/>
          </a:xfrm>
          <a:prstGeom prst="rect">
            <a:avLst/>
          </a:prstGeom>
        </p:spPr>
      </p:pic>
      <p:sp>
        <p:nvSpPr>
          <p:cNvPr id="30" name="Text 25"/>
          <p:cNvSpPr/>
          <p:nvPr/>
        </p:nvSpPr>
        <p:spPr>
          <a:xfrm>
            <a:off x="7589520" y="4407408"/>
            <a:ext cx="3797503" cy="314371"/>
          </a:xfrm>
          <a:prstGeom prst="rect">
            <a:avLst/>
          </a:prstGeom>
          <a:noFill/>
          <a:ln/>
        </p:spPr>
        <p:txBody>
          <a:bodyPr wrap="square" lIns="0" tIns="0" rIns="0" bIns="0" rtlCol="0" anchor="t"/>
          <a:lstStyle/>
          <a:p>
            <a:pPr marL="0" indent="0">
              <a:lnSpc>
                <a:spcPct val="105000"/>
              </a:lnSpc>
              <a:buNone/>
            </a:pPr>
            <a:r>
              <a:rPr lang="en-US" sz="1300" b="1" dirty="0">
                <a:solidFill>
                  <a:srgbClr val="141235"/>
                </a:solidFill>
                <a:latin typeface="Calibri" pitchFamily="34" charset="0"/>
                <a:ea typeface="Calibri" pitchFamily="34" charset="-122"/>
                <a:cs typeface="Calibri" pitchFamily="34" charset="-120"/>
              </a:rPr>
              <a:t>Which means you can watch it</a:t>
            </a:r>
            <a:endParaRPr lang="en-US" sz="1300" dirty="0"/>
          </a:p>
        </p:txBody>
      </p:sp>
      <p:sp>
        <p:nvSpPr>
          <p:cNvPr id="31" name="Text 26"/>
          <p:cNvSpPr/>
          <p:nvPr/>
        </p:nvSpPr>
        <p:spPr>
          <a:xfrm>
            <a:off x="7589520" y="4730923"/>
            <a:ext cx="3797503" cy="298277"/>
          </a:xfrm>
          <a:prstGeom prst="rect">
            <a:avLst/>
          </a:prstGeom>
          <a:noFill/>
          <a:ln/>
        </p:spPr>
        <p:txBody>
          <a:bodyPr wrap="square" lIns="0" tIns="0" rIns="0" bIns="0" rtlCol="0" anchor="t"/>
          <a:lstStyle/>
          <a:p>
            <a:pPr marL="0" indent="0">
              <a:lnSpc>
                <a:spcPct val="113000"/>
              </a:lnSpc>
              <a:buNone/>
            </a:pPr>
            <a:r>
              <a:rPr lang="en-US" sz="1050" dirty="0">
                <a:solidFill>
                  <a:srgbClr val="6E6B8A"/>
                </a:solidFill>
                <a:latin typeface="Calibri" pitchFamily="34" charset="0"/>
                <a:ea typeface="Calibri" pitchFamily="34" charset="-122"/>
                <a:cs typeface="Calibri" pitchFamily="34" charset="-120"/>
              </a:rPr>
              <a:t>Turn on the traffic log and read every message. An agent that felt like a black box becomes a request log you can review like any API.</a:t>
            </a:r>
            <a:endParaRPr lang="en-US" sz="1050" dirty="0"/>
          </a:p>
        </p:txBody>
      </p:sp>
      <p:sp>
        <p:nvSpPr>
          <p:cNvPr id="32" name="Shape 27"/>
          <p:cNvSpPr/>
          <p:nvPr/>
        </p:nvSpPr>
        <p:spPr>
          <a:xfrm>
            <a:off x="566928" y="5376672"/>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33" name="Shape 28"/>
          <p:cNvSpPr/>
          <p:nvPr/>
        </p:nvSpPr>
        <p:spPr>
          <a:xfrm>
            <a:off x="841248" y="5596128"/>
            <a:ext cx="384048" cy="384048"/>
          </a:xfrm>
          <a:prstGeom prst="ellipse">
            <a:avLst/>
          </a:prstGeom>
          <a:solidFill>
            <a:srgbClr val="F5A524"/>
          </a:solidFill>
          <a:ln w="12700">
            <a:solidFill>
              <a:srgbClr val="F5A524"/>
            </a:solidFill>
            <a:prstDash val="solid"/>
          </a:ln>
        </p:spPr>
        <p:txBody>
          <a:bodyPr/>
          <a:lstStyle/>
          <a:p>
            <a:endParaRPr lang="en-US"/>
          </a:p>
        </p:txBody>
      </p:sp>
      <p:pic>
        <p:nvPicPr>
          <p:cNvPr id="34" name="Image 3" descr="preencoded.png"/>
          <p:cNvPicPr>
            <a:picLocks noChangeAspect="1"/>
          </p:cNvPicPr>
          <p:nvPr/>
        </p:nvPicPr>
        <p:blipFill>
          <a:blip r:embed="rId6"/>
          <a:stretch>
            <a:fillRect/>
          </a:stretch>
        </p:blipFill>
        <p:spPr>
          <a:xfrm>
            <a:off x="937260" y="5692140"/>
            <a:ext cx="192024" cy="192024"/>
          </a:xfrm>
          <a:prstGeom prst="rect">
            <a:avLst/>
          </a:prstGeom>
        </p:spPr>
      </p:pic>
      <p:sp>
        <p:nvSpPr>
          <p:cNvPr id="35" name="Text 29"/>
          <p:cNvSpPr/>
          <p:nvPr/>
        </p:nvSpPr>
        <p:spPr>
          <a:xfrm>
            <a:off x="1371600" y="5431536"/>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It is a shared vocabulary for “what can you do?” and “please do this”. Written down, versioned, and boring on purpose — which is exactly what you want from a standard.</a:t>
            </a:r>
            <a:endParaRPr lang="en-US" sz="10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06 · MCP</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2800" b="1" dirty="0">
                <a:solidFill>
                  <a:srgbClr val="141235"/>
                </a:solidFill>
                <a:latin typeface="Cambria" pitchFamily="34" charset="0"/>
                <a:ea typeface="Cambria" pitchFamily="34" charset="-122"/>
                <a:cs typeface="Cambria" pitchFamily="34" charset="-120"/>
              </a:rPr>
              <a:t>Two transports, and one big change in the 2026 spec</a:t>
            </a:r>
            <a:endParaRPr lang="en-US" sz="2800" dirty="0"/>
          </a:p>
        </p:txBody>
      </p:sp>
      <p:sp>
        <p:nvSpPr>
          <p:cNvPr id="4" name="Shape 2"/>
          <p:cNvSpPr/>
          <p:nvPr/>
        </p:nvSpPr>
        <p:spPr>
          <a:xfrm>
            <a:off x="566928" y="2255139"/>
            <a:ext cx="3527450" cy="2366010"/>
          </a:xfrm>
          <a:prstGeom prst="roundRect">
            <a:avLst>
              <a:gd name="adj" fmla="val 3478"/>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5" name="Shape 3"/>
          <p:cNvSpPr/>
          <p:nvPr/>
        </p:nvSpPr>
        <p:spPr>
          <a:xfrm>
            <a:off x="804672" y="2474595"/>
            <a:ext cx="365760" cy="365760"/>
          </a:xfrm>
          <a:prstGeom prst="ellipse">
            <a:avLst/>
          </a:prstGeom>
          <a:solidFill>
            <a:srgbClr val="5B4BE8"/>
          </a:solidFill>
          <a:ln w="12700">
            <a:solidFill>
              <a:srgbClr val="5B4BE8"/>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896112" y="2566035"/>
            <a:ext cx="182880" cy="182880"/>
          </a:xfrm>
          <a:prstGeom prst="rect">
            <a:avLst/>
          </a:prstGeom>
        </p:spPr>
      </p:pic>
      <p:sp>
        <p:nvSpPr>
          <p:cNvPr id="7" name="Text 4"/>
          <p:cNvSpPr/>
          <p:nvPr/>
        </p:nvSpPr>
        <p:spPr>
          <a:xfrm>
            <a:off x="1298448" y="2465451"/>
            <a:ext cx="2558186"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TRANSPORT 1</a:t>
            </a:r>
            <a:endParaRPr lang="en-US" sz="850" dirty="0"/>
          </a:p>
        </p:txBody>
      </p:sp>
      <p:sp>
        <p:nvSpPr>
          <p:cNvPr id="8" name="Text 5"/>
          <p:cNvSpPr/>
          <p:nvPr/>
        </p:nvSpPr>
        <p:spPr>
          <a:xfrm>
            <a:off x="1298448" y="2684907"/>
            <a:ext cx="2558186" cy="338511"/>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stdio</a:t>
            </a:r>
            <a:endParaRPr lang="en-US" sz="1450" dirty="0"/>
          </a:p>
        </p:txBody>
      </p:sp>
      <p:sp>
        <p:nvSpPr>
          <p:cNvPr id="9" name="Text 6"/>
          <p:cNvSpPr/>
          <p:nvPr/>
        </p:nvSpPr>
        <p:spPr>
          <a:xfrm>
            <a:off x="1298448" y="3032562"/>
            <a:ext cx="2558186" cy="1405707"/>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The server is a local process. Messages go over its standard input and output. No ports, no network, no auth story needed — the operating system is the boundary. This is what most desktop and developer tooling uses.</a:t>
            </a:r>
            <a:endParaRPr lang="en-US" sz="1150" dirty="0"/>
          </a:p>
        </p:txBody>
      </p:sp>
      <p:sp>
        <p:nvSpPr>
          <p:cNvPr id="10" name="Shape 7"/>
          <p:cNvSpPr/>
          <p:nvPr/>
        </p:nvSpPr>
        <p:spPr>
          <a:xfrm>
            <a:off x="4332122" y="2255139"/>
            <a:ext cx="3527450" cy="2366010"/>
          </a:xfrm>
          <a:prstGeom prst="roundRect">
            <a:avLst>
              <a:gd name="adj" fmla="val 3478"/>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1" name="Shape 8"/>
          <p:cNvSpPr/>
          <p:nvPr/>
        </p:nvSpPr>
        <p:spPr>
          <a:xfrm>
            <a:off x="4569866" y="2474595"/>
            <a:ext cx="365760" cy="365760"/>
          </a:xfrm>
          <a:prstGeom prst="ellipse">
            <a:avLst/>
          </a:prstGeom>
          <a:solidFill>
            <a:srgbClr val="5B4BE8"/>
          </a:solidFill>
          <a:ln w="12700">
            <a:solidFill>
              <a:srgbClr val="5B4BE8"/>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4661306" y="2566035"/>
            <a:ext cx="182880" cy="182880"/>
          </a:xfrm>
          <a:prstGeom prst="rect">
            <a:avLst/>
          </a:prstGeom>
        </p:spPr>
      </p:pic>
      <p:sp>
        <p:nvSpPr>
          <p:cNvPr id="13" name="Text 9"/>
          <p:cNvSpPr/>
          <p:nvPr/>
        </p:nvSpPr>
        <p:spPr>
          <a:xfrm>
            <a:off x="5063642" y="2465451"/>
            <a:ext cx="2558186"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TRANSPORT 2</a:t>
            </a:r>
            <a:endParaRPr lang="en-US" sz="850" dirty="0"/>
          </a:p>
        </p:txBody>
      </p:sp>
      <p:sp>
        <p:nvSpPr>
          <p:cNvPr id="14" name="Text 10"/>
          <p:cNvSpPr/>
          <p:nvPr/>
        </p:nvSpPr>
        <p:spPr>
          <a:xfrm>
            <a:off x="5063642" y="2684907"/>
            <a:ext cx="2558186" cy="338511"/>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Streamable HTTP</a:t>
            </a:r>
            <a:endParaRPr lang="en-US" sz="1450" dirty="0"/>
          </a:p>
        </p:txBody>
      </p:sp>
      <p:sp>
        <p:nvSpPr>
          <p:cNvPr id="15" name="Text 11"/>
          <p:cNvSpPr/>
          <p:nvPr/>
        </p:nvSpPr>
        <p:spPr>
          <a:xfrm>
            <a:off x="5063642" y="3032562"/>
            <a:ext cx="2558186" cy="1405707"/>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The server is a remote service behind one HTTP endpoint. Each message is a POST; the reply is either JSON or a stream. This is what an enterprise deployment actually looks like.</a:t>
            </a:r>
            <a:endParaRPr lang="en-US" sz="1150" dirty="0"/>
          </a:p>
        </p:txBody>
      </p:sp>
      <p:sp>
        <p:nvSpPr>
          <p:cNvPr id="16" name="Shape 12"/>
          <p:cNvSpPr/>
          <p:nvPr/>
        </p:nvSpPr>
        <p:spPr>
          <a:xfrm>
            <a:off x="8097317" y="2255139"/>
            <a:ext cx="3527450" cy="2366010"/>
          </a:xfrm>
          <a:prstGeom prst="roundRect">
            <a:avLst>
              <a:gd name="adj" fmla="val 3478"/>
            </a:avLst>
          </a:prstGeom>
          <a:solidFill>
            <a:srgbClr val="EEEDFE"/>
          </a:solidFill>
          <a:ln w="12700">
            <a:solidFill>
              <a:srgbClr val="8E82F5"/>
            </a:solidFill>
            <a:prstDash val="solid"/>
          </a:ln>
          <a:effectLst>
            <a:outerShdw blurRad="114300" dist="572" dir="5400000" algn="bl" rotWithShape="0">
              <a:srgbClr val="1B1A4A">
                <a:alpha val="7000"/>
              </a:srgbClr>
            </a:outerShdw>
          </a:effectLst>
        </p:spPr>
        <p:txBody>
          <a:bodyPr/>
          <a:lstStyle/>
          <a:p>
            <a:endParaRPr lang="en-US"/>
          </a:p>
        </p:txBody>
      </p:sp>
      <p:sp>
        <p:nvSpPr>
          <p:cNvPr id="17" name="Shape 13"/>
          <p:cNvSpPr/>
          <p:nvPr/>
        </p:nvSpPr>
        <p:spPr>
          <a:xfrm>
            <a:off x="8335061" y="2474595"/>
            <a:ext cx="365760" cy="365760"/>
          </a:xfrm>
          <a:prstGeom prst="ellipse">
            <a:avLst/>
          </a:prstGeom>
          <a:solidFill>
            <a:srgbClr val="5B4BE8"/>
          </a:solidFill>
          <a:ln w="12700">
            <a:solidFill>
              <a:srgbClr val="5B4BE8"/>
            </a:solidFill>
            <a:prstDash val="solid"/>
          </a:ln>
        </p:spPr>
        <p:txBody>
          <a:bodyPr/>
          <a:lstStyle/>
          <a:p>
            <a:endParaRPr lang="en-US"/>
          </a:p>
        </p:txBody>
      </p:sp>
      <p:pic>
        <p:nvPicPr>
          <p:cNvPr id="18" name="Image 2" descr="preencoded.png"/>
          <p:cNvPicPr>
            <a:picLocks noChangeAspect="1"/>
          </p:cNvPicPr>
          <p:nvPr/>
        </p:nvPicPr>
        <p:blipFill>
          <a:blip r:embed="rId5"/>
          <a:stretch>
            <a:fillRect/>
          </a:stretch>
        </p:blipFill>
        <p:spPr>
          <a:xfrm>
            <a:off x="8426501" y="2566035"/>
            <a:ext cx="182880" cy="182880"/>
          </a:xfrm>
          <a:prstGeom prst="rect">
            <a:avLst/>
          </a:prstGeom>
        </p:spPr>
      </p:pic>
      <p:sp>
        <p:nvSpPr>
          <p:cNvPr id="19" name="Text 14"/>
          <p:cNvSpPr/>
          <p:nvPr/>
        </p:nvSpPr>
        <p:spPr>
          <a:xfrm>
            <a:off x="8828837" y="2465451"/>
            <a:ext cx="2558186"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WHAT CHANGED</a:t>
            </a:r>
            <a:endParaRPr lang="en-US" sz="850" dirty="0"/>
          </a:p>
        </p:txBody>
      </p:sp>
      <p:sp>
        <p:nvSpPr>
          <p:cNvPr id="20" name="Text 15"/>
          <p:cNvSpPr/>
          <p:nvPr/>
        </p:nvSpPr>
        <p:spPr>
          <a:xfrm>
            <a:off x="8828837" y="2684907"/>
            <a:ext cx="2558186" cy="338511"/>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It went stateless</a:t>
            </a:r>
            <a:endParaRPr lang="en-US" sz="1450" dirty="0"/>
          </a:p>
        </p:txBody>
      </p:sp>
      <p:sp>
        <p:nvSpPr>
          <p:cNvPr id="21" name="Text 16"/>
          <p:cNvSpPr/>
          <p:nvPr/>
        </p:nvSpPr>
        <p:spPr>
          <a:xfrm>
            <a:off x="8828837" y="3032562"/>
            <a:ext cx="2558186" cy="1405707"/>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The 2026 revision removed protocol-level sessions and the standing GET stream. A remote server that used to need sticky sessions and a shared session store can now sit behind a plain round-robin load balancer.</a:t>
            </a:r>
            <a:endParaRPr lang="en-US" sz="1150" dirty="0"/>
          </a:p>
        </p:txBody>
      </p:sp>
      <p:sp>
        <p:nvSpPr>
          <p:cNvPr id="22" name="Text 17"/>
          <p:cNvSpPr/>
          <p:nvPr/>
        </p:nvSpPr>
        <p:spPr>
          <a:xfrm>
            <a:off x="566928" y="5047488"/>
            <a:ext cx="11057839" cy="256032"/>
          </a:xfrm>
          <a:prstGeom prst="rect">
            <a:avLst/>
          </a:prstGeom>
          <a:noFill/>
          <a:ln/>
        </p:spPr>
        <p:txBody>
          <a:bodyPr wrap="square" lIns="0" tIns="0" rIns="0" bIns="0" rtlCol="0" anchor="ctr"/>
          <a:lstStyle/>
          <a:p>
            <a:pPr marL="0" indent="0">
              <a:buNone/>
            </a:pPr>
            <a:r>
              <a:rPr lang="en-US" sz="950" i="1" dirty="0">
                <a:solidFill>
                  <a:srgbClr val="9B98B4"/>
                </a:solidFill>
                <a:latin typeface="Calibri" pitchFamily="34" charset="0"/>
                <a:ea typeface="Calibri" pitchFamily="34" charset="-122"/>
                <a:cs typeface="Calibri" pitchFamily="34" charset="-120"/>
              </a:rPr>
              <a:t>The older HTTP+SSE transport has been deprecated since the 2025-03-26 revision. New work should not adopt it. Source: modelcontextprotocol.io specification.</a:t>
            </a:r>
            <a:endParaRPr lang="en-US" sz="950" dirty="0"/>
          </a:p>
        </p:txBody>
      </p:sp>
      <p:sp>
        <p:nvSpPr>
          <p:cNvPr id="23" name="Shape 18"/>
          <p:cNvSpPr/>
          <p:nvPr/>
        </p:nvSpPr>
        <p:spPr>
          <a:xfrm>
            <a:off x="566928" y="5431536"/>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24" name="Shape 19"/>
          <p:cNvSpPr/>
          <p:nvPr/>
        </p:nvSpPr>
        <p:spPr>
          <a:xfrm>
            <a:off x="841248" y="5650992"/>
            <a:ext cx="384048" cy="384048"/>
          </a:xfrm>
          <a:prstGeom prst="ellipse">
            <a:avLst/>
          </a:prstGeom>
          <a:solidFill>
            <a:srgbClr val="F5A524"/>
          </a:solidFill>
          <a:ln w="12700">
            <a:solidFill>
              <a:srgbClr val="F5A524"/>
            </a:solidFill>
            <a:prstDash val="solid"/>
          </a:ln>
        </p:spPr>
        <p:txBody>
          <a:bodyPr/>
          <a:lstStyle/>
          <a:p>
            <a:endParaRPr lang="en-US"/>
          </a:p>
        </p:txBody>
      </p:sp>
      <p:pic>
        <p:nvPicPr>
          <p:cNvPr id="25" name="Image 3" descr="preencoded.png"/>
          <p:cNvPicPr>
            <a:picLocks noChangeAspect="1"/>
          </p:cNvPicPr>
          <p:nvPr/>
        </p:nvPicPr>
        <p:blipFill>
          <a:blip r:embed="rId6"/>
          <a:stretch>
            <a:fillRect/>
          </a:stretch>
        </p:blipFill>
        <p:spPr>
          <a:xfrm>
            <a:off x="937260" y="5747004"/>
            <a:ext cx="192024" cy="192024"/>
          </a:xfrm>
          <a:prstGeom prst="rect">
            <a:avLst/>
          </a:prstGeom>
        </p:spPr>
      </p:pic>
      <p:sp>
        <p:nvSpPr>
          <p:cNvPr id="26" name="Text 20"/>
          <p:cNvSpPr/>
          <p:nvPr/>
        </p:nvSpPr>
        <p:spPr>
          <a:xfrm>
            <a:off x="1371600" y="5486400"/>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Local tools run as a program on your machine. Remote tools are an ordinary web service — which means your existing rules about web services already apply to them.</a:t>
            </a:r>
            <a:endParaRPr lang="en-US" sz="10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06 · MCP</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2800" b="1" dirty="0">
                <a:solidFill>
                  <a:srgbClr val="141235"/>
                </a:solidFill>
                <a:latin typeface="Cambria" pitchFamily="34" charset="0"/>
                <a:ea typeface="Cambria" pitchFamily="34" charset="-122"/>
                <a:cs typeface="Cambria" pitchFamily="34" charset="-120"/>
              </a:rPr>
              <a:t>What a server can offer, and who is in charge of each</a:t>
            </a:r>
            <a:endParaRPr lang="en-US" sz="2800" dirty="0"/>
          </a:p>
        </p:txBody>
      </p:sp>
      <p:sp>
        <p:nvSpPr>
          <p:cNvPr id="4" name="Shape 2"/>
          <p:cNvSpPr/>
          <p:nvPr/>
        </p:nvSpPr>
        <p:spPr>
          <a:xfrm>
            <a:off x="566928" y="2173072"/>
            <a:ext cx="2586152" cy="2493569"/>
          </a:xfrm>
          <a:prstGeom prst="roundRect">
            <a:avLst>
              <a:gd name="adj" fmla="val 3300"/>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5" name="Shape 3"/>
          <p:cNvSpPr/>
          <p:nvPr/>
        </p:nvSpPr>
        <p:spPr>
          <a:xfrm>
            <a:off x="804672" y="2392528"/>
            <a:ext cx="365760" cy="365760"/>
          </a:xfrm>
          <a:prstGeom prst="ellipse">
            <a:avLst/>
          </a:prstGeom>
          <a:solidFill>
            <a:srgbClr val="5B4BE8"/>
          </a:solidFill>
          <a:ln w="12700">
            <a:solidFill>
              <a:srgbClr val="5B4BE8"/>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896112" y="2483968"/>
            <a:ext cx="182880" cy="182880"/>
          </a:xfrm>
          <a:prstGeom prst="rect">
            <a:avLst/>
          </a:prstGeom>
        </p:spPr>
      </p:pic>
      <p:sp>
        <p:nvSpPr>
          <p:cNvPr id="7" name="Text 4"/>
          <p:cNvSpPr/>
          <p:nvPr/>
        </p:nvSpPr>
        <p:spPr>
          <a:xfrm>
            <a:off x="1298448" y="2383384"/>
            <a:ext cx="1616888"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MODEL-CONTROLLED</a:t>
            </a:r>
            <a:endParaRPr lang="en-US" sz="850" dirty="0"/>
          </a:p>
        </p:txBody>
      </p:sp>
      <p:sp>
        <p:nvSpPr>
          <p:cNvPr id="8" name="Text 5"/>
          <p:cNvSpPr/>
          <p:nvPr/>
        </p:nvSpPr>
        <p:spPr>
          <a:xfrm>
            <a:off x="1298448" y="2602840"/>
            <a:ext cx="1616888" cy="338511"/>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Tools</a:t>
            </a:r>
            <a:endParaRPr lang="en-US" sz="1450" dirty="0"/>
          </a:p>
        </p:txBody>
      </p:sp>
      <p:sp>
        <p:nvSpPr>
          <p:cNvPr id="9" name="Text 6"/>
          <p:cNvSpPr/>
          <p:nvPr/>
        </p:nvSpPr>
        <p:spPr>
          <a:xfrm>
            <a:off x="1298448" y="2950494"/>
            <a:ext cx="1616888" cy="1533266"/>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Actions the model may request. Each ships a name, a description and a typed schema — the same shape you wrote by hand in module 02. Tool schemas now take full JSON Schema.</a:t>
            </a:r>
            <a:endParaRPr lang="en-US" sz="1100" dirty="0"/>
          </a:p>
        </p:txBody>
      </p:sp>
      <p:sp>
        <p:nvSpPr>
          <p:cNvPr id="10" name="Shape 7"/>
          <p:cNvSpPr/>
          <p:nvPr/>
        </p:nvSpPr>
        <p:spPr>
          <a:xfrm>
            <a:off x="3390824" y="2173072"/>
            <a:ext cx="2586152" cy="2493569"/>
          </a:xfrm>
          <a:prstGeom prst="roundRect">
            <a:avLst>
              <a:gd name="adj" fmla="val 3300"/>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1" name="Shape 8"/>
          <p:cNvSpPr/>
          <p:nvPr/>
        </p:nvSpPr>
        <p:spPr>
          <a:xfrm>
            <a:off x="3628568" y="2392528"/>
            <a:ext cx="365760" cy="365760"/>
          </a:xfrm>
          <a:prstGeom prst="ellipse">
            <a:avLst/>
          </a:prstGeom>
          <a:solidFill>
            <a:srgbClr val="5B4BE8"/>
          </a:solidFill>
          <a:ln w="12700">
            <a:solidFill>
              <a:srgbClr val="5B4BE8"/>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3720008" y="2483968"/>
            <a:ext cx="182880" cy="182880"/>
          </a:xfrm>
          <a:prstGeom prst="rect">
            <a:avLst/>
          </a:prstGeom>
        </p:spPr>
      </p:pic>
      <p:sp>
        <p:nvSpPr>
          <p:cNvPr id="13" name="Text 9"/>
          <p:cNvSpPr/>
          <p:nvPr/>
        </p:nvSpPr>
        <p:spPr>
          <a:xfrm>
            <a:off x="4122344" y="2383384"/>
            <a:ext cx="1616888"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APP-CONTROLLED</a:t>
            </a:r>
            <a:endParaRPr lang="en-US" sz="850" dirty="0"/>
          </a:p>
        </p:txBody>
      </p:sp>
      <p:sp>
        <p:nvSpPr>
          <p:cNvPr id="14" name="Text 10"/>
          <p:cNvSpPr/>
          <p:nvPr/>
        </p:nvSpPr>
        <p:spPr>
          <a:xfrm>
            <a:off x="4122344" y="2602840"/>
            <a:ext cx="1616888" cy="338511"/>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Resources</a:t>
            </a:r>
            <a:endParaRPr lang="en-US" sz="1450" dirty="0"/>
          </a:p>
        </p:txBody>
      </p:sp>
      <p:sp>
        <p:nvSpPr>
          <p:cNvPr id="15" name="Text 11"/>
          <p:cNvSpPr/>
          <p:nvPr/>
        </p:nvSpPr>
        <p:spPr>
          <a:xfrm>
            <a:off x="4122344" y="2950494"/>
            <a:ext cx="1616888" cy="1533266"/>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Readable context the host can attach: a file, a record, a query result. The application decides what goes in, not the model.</a:t>
            </a:r>
            <a:endParaRPr lang="en-US" sz="1100" dirty="0"/>
          </a:p>
        </p:txBody>
      </p:sp>
      <p:sp>
        <p:nvSpPr>
          <p:cNvPr id="16" name="Shape 12"/>
          <p:cNvSpPr/>
          <p:nvPr/>
        </p:nvSpPr>
        <p:spPr>
          <a:xfrm>
            <a:off x="6214720" y="2173072"/>
            <a:ext cx="2586152" cy="2493569"/>
          </a:xfrm>
          <a:prstGeom prst="roundRect">
            <a:avLst>
              <a:gd name="adj" fmla="val 3300"/>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7" name="Shape 13"/>
          <p:cNvSpPr/>
          <p:nvPr/>
        </p:nvSpPr>
        <p:spPr>
          <a:xfrm>
            <a:off x="6452464" y="2392528"/>
            <a:ext cx="365760" cy="365760"/>
          </a:xfrm>
          <a:prstGeom prst="ellipse">
            <a:avLst/>
          </a:prstGeom>
          <a:solidFill>
            <a:srgbClr val="5B4BE8"/>
          </a:solidFill>
          <a:ln w="12700">
            <a:solidFill>
              <a:srgbClr val="5B4BE8"/>
            </a:solidFill>
            <a:prstDash val="solid"/>
          </a:ln>
        </p:spPr>
        <p:txBody>
          <a:bodyPr/>
          <a:lstStyle/>
          <a:p>
            <a:endParaRPr lang="en-US"/>
          </a:p>
        </p:txBody>
      </p:sp>
      <p:pic>
        <p:nvPicPr>
          <p:cNvPr id="18" name="Image 2" descr="preencoded.png"/>
          <p:cNvPicPr>
            <a:picLocks noChangeAspect="1"/>
          </p:cNvPicPr>
          <p:nvPr/>
        </p:nvPicPr>
        <p:blipFill>
          <a:blip r:embed="rId5"/>
          <a:stretch>
            <a:fillRect/>
          </a:stretch>
        </p:blipFill>
        <p:spPr>
          <a:xfrm>
            <a:off x="6543904" y="2483968"/>
            <a:ext cx="182880" cy="182880"/>
          </a:xfrm>
          <a:prstGeom prst="rect">
            <a:avLst/>
          </a:prstGeom>
        </p:spPr>
      </p:pic>
      <p:sp>
        <p:nvSpPr>
          <p:cNvPr id="19" name="Text 14"/>
          <p:cNvSpPr/>
          <p:nvPr/>
        </p:nvSpPr>
        <p:spPr>
          <a:xfrm>
            <a:off x="6946240" y="2383384"/>
            <a:ext cx="1616888"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USER-CONTROLLED</a:t>
            </a:r>
            <a:endParaRPr lang="en-US" sz="850" dirty="0"/>
          </a:p>
        </p:txBody>
      </p:sp>
      <p:sp>
        <p:nvSpPr>
          <p:cNvPr id="20" name="Text 15"/>
          <p:cNvSpPr/>
          <p:nvPr/>
        </p:nvSpPr>
        <p:spPr>
          <a:xfrm>
            <a:off x="6946240" y="2602840"/>
            <a:ext cx="1616888" cy="338511"/>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Prompts</a:t>
            </a:r>
            <a:endParaRPr lang="en-US" sz="1450" dirty="0"/>
          </a:p>
        </p:txBody>
      </p:sp>
      <p:sp>
        <p:nvSpPr>
          <p:cNvPr id="21" name="Text 16"/>
          <p:cNvSpPr/>
          <p:nvPr/>
        </p:nvSpPr>
        <p:spPr>
          <a:xfrm>
            <a:off x="6946240" y="2950494"/>
            <a:ext cx="1616888" cy="1533266"/>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Named, parameterised templates the user picks deliberately — the slash-command surface. Discoverable, versioned, reviewable.</a:t>
            </a:r>
            <a:endParaRPr lang="en-US" sz="1100" dirty="0"/>
          </a:p>
        </p:txBody>
      </p:sp>
      <p:sp>
        <p:nvSpPr>
          <p:cNvPr id="22" name="Shape 17"/>
          <p:cNvSpPr/>
          <p:nvPr/>
        </p:nvSpPr>
        <p:spPr>
          <a:xfrm>
            <a:off x="9038615" y="2173072"/>
            <a:ext cx="2586152" cy="2493569"/>
          </a:xfrm>
          <a:prstGeom prst="roundRect">
            <a:avLst>
              <a:gd name="adj" fmla="val 3300"/>
            </a:avLst>
          </a:prstGeom>
          <a:solidFill>
            <a:srgbClr val="FFF4E0"/>
          </a:solidFill>
          <a:ln w="12700">
            <a:solidFill>
              <a:srgbClr val="F3DCB0"/>
            </a:solidFill>
            <a:prstDash val="solid"/>
          </a:ln>
          <a:effectLst>
            <a:outerShdw blurRad="114300" dist="572" dir="5400000" algn="bl" rotWithShape="0">
              <a:srgbClr val="1B1A4A">
                <a:alpha val="7000"/>
              </a:srgbClr>
            </a:outerShdw>
          </a:effectLst>
        </p:spPr>
        <p:txBody>
          <a:bodyPr/>
          <a:lstStyle/>
          <a:p>
            <a:endParaRPr lang="en-US"/>
          </a:p>
        </p:txBody>
      </p:sp>
      <p:sp>
        <p:nvSpPr>
          <p:cNvPr id="23" name="Shape 18"/>
          <p:cNvSpPr/>
          <p:nvPr/>
        </p:nvSpPr>
        <p:spPr>
          <a:xfrm>
            <a:off x="9276359" y="2392528"/>
            <a:ext cx="365760" cy="365760"/>
          </a:xfrm>
          <a:prstGeom prst="ellipse">
            <a:avLst/>
          </a:prstGeom>
          <a:solidFill>
            <a:srgbClr val="F5A524"/>
          </a:solidFill>
          <a:ln w="12700">
            <a:solidFill>
              <a:srgbClr val="F5A524"/>
            </a:solidFill>
            <a:prstDash val="solid"/>
          </a:ln>
        </p:spPr>
        <p:txBody>
          <a:bodyPr/>
          <a:lstStyle/>
          <a:p>
            <a:endParaRPr lang="en-US"/>
          </a:p>
        </p:txBody>
      </p:sp>
      <p:pic>
        <p:nvPicPr>
          <p:cNvPr id="24" name="Image 3" descr="preencoded.png"/>
          <p:cNvPicPr>
            <a:picLocks noChangeAspect="1"/>
          </p:cNvPicPr>
          <p:nvPr/>
        </p:nvPicPr>
        <p:blipFill>
          <a:blip r:embed="rId6"/>
          <a:stretch>
            <a:fillRect/>
          </a:stretch>
        </p:blipFill>
        <p:spPr>
          <a:xfrm>
            <a:off x="9367799" y="2483968"/>
            <a:ext cx="182880" cy="182880"/>
          </a:xfrm>
          <a:prstGeom prst="rect">
            <a:avLst/>
          </a:prstGeom>
        </p:spPr>
      </p:pic>
      <p:sp>
        <p:nvSpPr>
          <p:cNvPr id="25" name="Text 19"/>
          <p:cNvSpPr/>
          <p:nvPr/>
        </p:nvSpPr>
        <p:spPr>
          <a:xfrm>
            <a:off x="9770135" y="2383384"/>
            <a:ext cx="1616888"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SERVER ASKS YOU</a:t>
            </a:r>
            <a:endParaRPr lang="en-US" sz="850" dirty="0"/>
          </a:p>
        </p:txBody>
      </p:sp>
      <p:sp>
        <p:nvSpPr>
          <p:cNvPr id="26" name="Text 20"/>
          <p:cNvSpPr/>
          <p:nvPr/>
        </p:nvSpPr>
        <p:spPr>
          <a:xfrm>
            <a:off x="9770135" y="2602840"/>
            <a:ext cx="1616888" cy="338511"/>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Elicitation</a:t>
            </a:r>
            <a:endParaRPr lang="en-US" sz="1450" dirty="0"/>
          </a:p>
        </p:txBody>
      </p:sp>
      <p:sp>
        <p:nvSpPr>
          <p:cNvPr id="27" name="Text 21"/>
          <p:cNvSpPr/>
          <p:nvPr/>
        </p:nvSpPr>
        <p:spPr>
          <a:xfrm>
            <a:off x="9770135" y="2950494"/>
            <a:ext cx="1616888" cy="1533266"/>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Mid-task, the server can come back asking for input — a missing parameter, a confirmation. This is human-in-the-loop as a protocol feature, not a bolt-on.</a:t>
            </a:r>
            <a:endParaRPr lang="en-US" sz="1100" dirty="0"/>
          </a:p>
        </p:txBody>
      </p:sp>
      <p:sp>
        <p:nvSpPr>
          <p:cNvPr id="28" name="Text 22"/>
          <p:cNvSpPr/>
          <p:nvPr/>
        </p:nvSpPr>
        <p:spPr>
          <a:xfrm>
            <a:off x="566928" y="5047488"/>
            <a:ext cx="11057839" cy="256032"/>
          </a:xfrm>
          <a:prstGeom prst="rect">
            <a:avLst/>
          </a:prstGeom>
          <a:noFill/>
          <a:ln/>
        </p:spPr>
        <p:txBody>
          <a:bodyPr wrap="square" lIns="0" tIns="0" rIns="0" bIns="0" rtlCol="0" anchor="ctr"/>
          <a:lstStyle/>
          <a:p>
            <a:pPr marL="0" indent="0">
              <a:buNone/>
            </a:pPr>
            <a:r>
              <a:rPr lang="en-US" sz="950" i="1" dirty="0">
                <a:solidFill>
                  <a:srgbClr val="9B98B4"/>
                </a:solidFill>
                <a:latin typeface="Calibri" pitchFamily="34" charset="0"/>
                <a:ea typeface="Calibri" pitchFamily="34" charset="-122"/>
                <a:cs typeface="Calibri" pitchFamily="34" charset="-120"/>
              </a:rPr>
              <a:t>Note for anyone reading older material: MCP's own sampling and logging features are now deprecated, in favour of calling the model provider directly and using OpenTelemetry for traces.</a:t>
            </a:r>
            <a:endParaRPr lang="en-US" sz="950" dirty="0"/>
          </a:p>
        </p:txBody>
      </p:sp>
      <p:sp>
        <p:nvSpPr>
          <p:cNvPr id="29" name="Shape 23"/>
          <p:cNvSpPr/>
          <p:nvPr/>
        </p:nvSpPr>
        <p:spPr>
          <a:xfrm>
            <a:off x="566928" y="5431536"/>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30" name="Shape 24"/>
          <p:cNvSpPr/>
          <p:nvPr/>
        </p:nvSpPr>
        <p:spPr>
          <a:xfrm>
            <a:off x="841248" y="5650992"/>
            <a:ext cx="384048" cy="384048"/>
          </a:xfrm>
          <a:prstGeom prst="ellipse">
            <a:avLst/>
          </a:prstGeom>
          <a:solidFill>
            <a:srgbClr val="F5A524"/>
          </a:solidFill>
          <a:ln w="12700">
            <a:solidFill>
              <a:srgbClr val="F5A524"/>
            </a:solidFill>
            <a:prstDash val="solid"/>
          </a:ln>
        </p:spPr>
        <p:txBody>
          <a:bodyPr/>
          <a:lstStyle/>
          <a:p>
            <a:endParaRPr lang="en-US"/>
          </a:p>
        </p:txBody>
      </p:sp>
      <p:pic>
        <p:nvPicPr>
          <p:cNvPr id="31" name="Image 4" descr="preencoded.png"/>
          <p:cNvPicPr>
            <a:picLocks noChangeAspect="1"/>
          </p:cNvPicPr>
          <p:nvPr/>
        </p:nvPicPr>
        <p:blipFill>
          <a:blip r:embed="rId7"/>
          <a:stretch>
            <a:fillRect/>
          </a:stretch>
        </p:blipFill>
        <p:spPr>
          <a:xfrm>
            <a:off x="937260" y="5747004"/>
            <a:ext cx="192024" cy="192024"/>
          </a:xfrm>
          <a:prstGeom prst="rect">
            <a:avLst/>
          </a:prstGeom>
        </p:spPr>
      </p:pic>
      <p:sp>
        <p:nvSpPr>
          <p:cNvPr id="32" name="Text 25"/>
          <p:cNvSpPr/>
          <p:nvPr/>
        </p:nvSpPr>
        <p:spPr>
          <a:xfrm>
            <a:off x="1371600" y="5486400"/>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Three different people are in charge of three different things — the model, the app, and the user. Confusing them is how a tool ends up doing something nobody approved.</a:t>
            </a:r>
            <a:endParaRPr lang="en-US" sz="10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06 · MCP</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3000" b="1" dirty="0">
                <a:solidFill>
                  <a:srgbClr val="141235"/>
                </a:solidFill>
                <a:latin typeface="Cambria" pitchFamily="34" charset="0"/>
                <a:ea typeface="Cambria" pitchFamily="34" charset="-122"/>
                <a:cs typeface="Cambria" pitchFamily="34" charset="-120"/>
              </a:rPr>
              <a:t>The first question your security team will ask</a:t>
            </a:r>
            <a:endParaRPr lang="en-US" sz="3000" dirty="0"/>
          </a:p>
        </p:txBody>
      </p:sp>
      <p:sp>
        <p:nvSpPr>
          <p:cNvPr id="4" name="Text 2"/>
          <p:cNvSpPr/>
          <p:nvPr/>
        </p:nvSpPr>
        <p:spPr>
          <a:xfrm>
            <a:off x="566928" y="1371600"/>
            <a:ext cx="11057839" cy="310896"/>
          </a:xfrm>
          <a:prstGeom prst="rect">
            <a:avLst/>
          </a:prstGeom>
          <a:noFill/>
          <a:ln/>
        </p:spPr>
        <p:txBody>
          <a:bodyPr wrap="square" lIns="0" tIns="0" rIns="0" bIns="0" rtlCol="0" anchor="t"/>
          <a:lstStyle/>
          <a:p>
            <a:pPr marL="0" indent="0">
              <a:buNone/>
            </a:pPr>
            <a:r>
              <a:rPr lang="en-US" sz="1400" dirty="0">
                <a:solidFill>
                  <a:srgbClr val="3B3760"/>
                </a:solidFill>
                <a:latin typeface="Calibri" pitchFamily="34" charset="0"/>
                <a:ea typeface="Calibri" pitchFamily="34" charset="-122"/>
                <a:cs typeface="Calibri" pitchFamily="34" charset="-120"/>
              </a:rPr>
              <a:t>“If this server is on the network and my agent can call it — who is it acting as, and who said that was allowed?”</a:t>
            </a:r>
            <a:endParaRPr lang="en-US" sz="1400" dirty="0"/>
          </a:p>
        </p:txBody>
      </p:sp>
      <p:sp>
        <p:nvSpPr>
          <p:cNvPr id="5" name="Shape 3"/>
          <p:cNvSpPr/>
          <p:nvPr/>
        </p:nvSpPr>
        <p:spPr>
          <a:xfrm>
            <a:off x="566928" y="2275119"/>
            <a:ext cx="3527450" cy="2454067"/>
          </a:xfrm>
          <a:prstGeom prst="roundRect">
            <a:avLst>
              <a:gd name="adj" fmla="val 3353"/>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6" name="Shape 4"/>
          <p:cNvSpPr/>
          <p:nvPr/>
        </p:nvSpPr>
        <p:spPr>
          <a:xfrm>
            <a:off x="804672" y="2494575"/>
            <a:ext cx="365760" cy="365760"/>
          </a:xfrm>
          <a:prstGeom prst="ellipse">
            <a:avLst/>
          </a:prstGeom>
          <a:solidFill>
            <a:srgbClr val="5B4BE8"/>
          </a:solidFill>
          <a:ln w="12700">
            <a:solidFill>
              <a:srgbClr val="5B4BE8"/>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896112" y="2586015"/>
            <a:ext cx="182880" cy="182880"/>
          </a:xfrm>
          <a:prstGeom prst="rect">
            <a:avLst/>
          </a:prstGeom>
        </p:spPr>
      </p:pic>
      <p:sp>
        <p:nvSpPr>
          <p:cNvPr id="8" name="Text 5"/>
          <p:cNvSpPr/>
          <p:nvPr/>
        </p:nvSpPr>
        <p:spPr>
          <a:xfrm>
            <a:off x="1298448" y="2485431"/>
            <a:ext cx="2558186"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THE ANSWER</a:t>
            </a:r>
            <a:endParaRPr lang="en-US" sz="850" dirty="0"/>
          </a:p>
        </p:txBody>
      </p:sp>
      <p:sp>
        <p:nvSpPr>
          <p:cNvPr id="9" name="Text 6"/>
          <p:cNvSpPr/>
          <p:nvPr/>
        </p:nvSpPr>
        <p:spPr>
          <a:xfrm>
            <a:off x="1298448" y="2704887"/>
            <a:ext cx="2558186" cy="622158"/>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OAuth 2.0 and OpenID Connect</a:t>
            </a:r>
            <a:endParaRPr lang="en-US" sz="1450" dirty="0"/>
          </a:p>
        </p:txBody>
      </p:sp>
      <p:sp>
        <p:nvSpPr>
          <p:cNvPr id="10" name="Text 7"/>
          <p:cNvSpPr/>
          <p:nvPr/>
        </p:nvSpPr>
        <p:spPr>
          <a:xfrm>
            <a:off x="1298448" y="3336188"/>
            <a:ext cx="2558186" cy="1210117"/>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Remote MCP servers authorise as OAuth resource servers. Standard tokens, standard issuers, standard revocation. Your identity team has done this before — it is not a new trust model.</a:t>
            </a:r>
            <a:endParaRPr lang="en-US" sz="1150" dirty="0"/>
          </a:p>
        </p:txBody>
      </p:sp>
      <p:sp>
        <p:nvSpPr>
          <p:cNvPr id="11" name="Shape 8"/>
          <p:cNvSpPr/>
          <p:nvPr/>
        </p:nvSpPr>
        <p:spPr>
          <a:xfrm>
            <a:off x="4332122" y="2275119"/>
            <a:ext cx="3527450" cy="2454067"/>
          </a:xfrm>
          <a:prstGeom prst="roundRect">
            <a:avLst>
              <a:gd name="adj" fmla="val 3353"/>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2" name="Shape 9"/>
          <p:cNvSpPr/>
          <p:nvPr/>
        </p:nvSpPr>
        <p:spPr>
          <a:xfrm>
            <a:off x="4569866" y="2494575"/>
            <a:ext cx="365760" cy="365760"/>
          </a:xfrm>
          <a:prstGeom prst="ellipse">
            <a:avLst/>
          </a:prstGeom>
          <a:solidFill>
            <a:srgbClr val="5B4BE8"/>
          </a:solidFill>
          <a:ln w="12700">
            <a:solidFill>
              <a:srgbClr val="5B4BE8"/>
            </a:solidFill>
            <a:prstDash val="solid"/>
          </a:ln>
        </p:spPr>
        <p:txBody>
          <a:bodyPr/>
          <a:lstStyle/>
          <a:p>
            <a:endParaRPr lang="en-US"/>
          </a:p>
        </p:txBody>
      </p:sp>
      <p:pic>
        <p:nvPicPr>
          <p:cNvPr id="13" name="Image 1" descr="preencoded.png"/>
          <p:cNvPicPr>
            <a:picLocks noChangeAspect="1"/>
          </p:cNvPicPr>
          <p:nvPr/>
        </p:nvPicPr>
        <p:blipFill>
          <a:blip r:embed="rId4"/>
          <a:stretch>
            <a:fillRect/>
          </a:stretch>
        </p:blipFill>
        <p:spPr>
          <a:xfrm>
            <a:off x="4661306" y="2586015"/>
            <a:ext cx="182880" cy="182880"/>
          </a:xfrm>
          <a:prstGeom prst="rect">
            <a:avLst/>
          </a:prstGeom>
        </p:spPr>
      </p:pic>
      <p:sp>
        <p:nvSpPr>
          <p:cNvPr id="14" name="Text 10"/>
          <p:cNvSpPr/>
          <p:nvPr/>
        </p:nvSpPr>
        <p:spPr>
          <a:xfrm>
            <a:off x="5063642" y="2485431"/>
            <a:ext cx="2558186"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THE HARD PART</a:t>
            </a:r>
            <a:endParaRPr lang="en-US" sz="850" dirty="0"/>
          </a:p>
        </p:txBody>
      </p:sp>
      <p:sp>
        <p:nvSpPr>
          <p:cNvPr id="15" name="Text 11"/>
          <p:cNvSpPr/>
          <p:nvPr/>
        </p:nvSpPr>
        <p:spPr>
          <a:xfrm>
            <a:off x="5063642" y="2704887"/>
            <a:ext cx="2558186" cy="338511"/>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Whose identity is it?</a:t>
            </a:r>
            <a:endParaRPr lang="en-US" sz="1450" dirty="0"/>
          </a:p>
        </p:txBody>
      </p:sp>
      <p:sp>
        <p:nvSpPr>
          <p:cNvPr id="16" name="Text 12"/>
          <p:cNvSpPr/>
          <p:nvPr/>
        </p:nvSpPr>
        <p:spPr>
          <a:xfrm>
            <a:off x="5063642" y="3052542"/>
            <a:ext cx="2558186" cy="1493764"/>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The user's, delegated to the agent? Or the agent's own? Both are defensible. Only one of them tells you, six months later, who actually deleted the record.</a:t>
            </a:r>
            <a:endParaRPr lang="en-US" sz="1150" dirty="0"/>
          </a:p>
        </p:txBody>
      </p:sp>
      <p:sp>
        <p:nvSpPr>
          <p:cNvPr id="17" name="Shape 13"/>
          <p:cNvSpPr/>
          <p:nvPr/>
        </p:nvSpPr>
        <p:spPr>
          <a:xfrm>
            <a:off x="8097317" y="2275119"/>
            <a:ext cx="3527450" cy="2454067"/>
          </a:xfrm>
          <a:prstGeom prst="roundRect">
            <a:avLst>
              <a:gd name="adj" fmla="val 3353"/>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8" name="Shape 14"/>
          <p:cNvSpPr/>
          <p:nvPr/>
        </p:nvSpPr>
        <p:spPr>
          <a:xfrm>
            <a:off x="8335061" y="2494575"/>
            <a:ext cx="365760" cy="365760"/>
          </a:xfrm>
          <a:prstGeom prst="ellipse">
            <a:avLst/>
          </a:prstGeom>
          <a:solidFill>
            <a:srgbClr val="5B4BE8"/>
          </a:solidFill>
          <a:ln w="12700">
            <a:solidFill>
              <a:srgbClr val="5B4BE8"/>
            </a:solidFill>
            <a:prstDash val="solid"/>
          </a:ln>
        </p:spPr>
        <p:txBody>
          <a:bodyPr/>
          <a:lstStyle/>
          <a:p>
            <a:endParaRPr lang="en-US"/>
          </a:p>
        </p:txBody>
      </p:sp>
      <p:pic>
        <p:nvPicPr>
          <p:cNvPr id="19" name="Image 2" descr="preencoded.png"/>
          <p:cNvPicPr>
            <a:picLocks noChangeAspect="1"/>
          </p:cNvPicPr>
          <p:nvPr/>
        </p:nvPicPr>
        <p:blipFill>
          <a:blip r:embed="rId5"/>
          <a:stretch>
            <a:fillRect/>
          </a:stretch>
        </p:blipFill>
        <p:spPr>
          <a:xfrm>
            <a:off x="8426501" y="2586015"/>
            <a:ext cx="182880" cy="182880"/>
          </a:xfrm>
          <a:prstGeom prst="rect">
            <a:avLst/>
          </a:prstGeom>
        </p:spPr>
      </p:pic>
      <p:sp>
        <p:nvSpPr>
          <p:cNvPr id="20" name="Text 15"/>
          <p:cNvSpPr/>
          <p:nvPr/>
        </p:nvSpPr>
        <p:spPr>
          <a:xfrm>
            <a:off x="8828837" y="2485431"/>
            <a:ext cx="2558186"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THE PRACTICAL RULE</a:t>
            </a:r>
            <a:endParaRPr lang="en-US" sz="850" dirty="0"/>
          </a:p>
        </p:txBody>
      </p:sp>
      <p:sp>
        <p:nvSpPr>
          <p:cNvPr id="21" name="Text 16"/>
          <p:cNvSpPr/>
          <p:nvPr/>
        </p:nvSpPr>
        <p:spPr>
          <a:xfrm>
            <a:off x="8828837" y="2704887"/>
            <a:ext cx="2558186" cy="622158"/>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Scope per server, not per platform</a:t>
            </a:r>
            <a:endParaRPr lang="en-US" sz="1450" dirty="0"/>
          </a:p>
        </p:txBody>
      </p:sp>
      <p:sp>
        <p:nvSpPr>
          <p:cNvPr id="22" name="Text 17"/>
          <p:cNvSpPr/>
          <p:nvPr/>
        </p:nvSpPr>
        <p:spPr>
          <a:xfrm>
            <a:off x="8828837" y="3336188"/>
            <a:ext cx="2558186" cy="1210117"/>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One over-broad token shared across every tool is how a low-risk agent quietly acquires the ability to do something high-risk. Least privilege applies here exactly as everywhere else.</a:t>
            </a:r>
            <a:endParaRPr lang="en-US" sz="1150" dirty="0"/>
          </a:p>
        </p:txBody>
      </p:sp>
      <p:sp>
        <p:nvSpPr>
          <p:cNvPr id="23" name="Text 18"/>
          <p:cNvSpPr/>
          <p:nvPr/>
        </p:nvSpPr>
        <p:spPr>
          <a:xfrm>
            <a:off x="566928" y="5065776"/>
            <a:ext cx="11057839" cy="256032"/>
          </a:xfrm>
          <a:prstGeom prst="rect">
            <a:avLst/>
          </a:prstGeom>
          <a:noFill/>
          <a:ln/>
        </p:spPr>
        <p:txBody>
          <a:bodyPr wrap="square" lIns="0" tIns="0" rIns="0" bIns="0" rtlCol="0" anchor="ctr"/>
          <a:lstStyle/>
          <a:p>
            <a:pPr marL="0" indent="0">
              <a:buNone/>
            </a:pPr>
            <a:r>
              <a:rPr lang="en-US" sz="950" i="1" dirty="0">
                <a:solidFill>
                  <a:srgbClr val="9B98B4"/>
                </a:solidFill>
                <a:latin typeface="Calibri" pitchFamily="34" charset="0"/>
                <a:ea typeface="Calibri" pitchFamily="34" charset="-122"/>
                <a:cs typeface="Calibri" pitchFamily="34" charset="-120"/>
              </a:rPr>
              <a:t>Local stdio servers side-step this entirely — there is no network boundary. Which is exactly why the first remote deployment is where teams get surprised.</a:t>
            </a:r>
            <a:endParaRPr lang="en-US" sz="950" dirty="0"/>
          </a:p>
        </p:txBody>
      </p:sp>
      <p:sp>
        <p:nvSpPr>
          <p:cNvPr id="24" name="Shape 19"/>
          <p:cNvSpPr/>
          <p:nvPr/>
        </p:nvSpPr>
        <p:spPr>
          <a:xfrm>
            <a:off x="566928" y="5431536"/>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25" name="Shape 20"/>
          <p:cNvSpPr/>
          <p:nvPr/>
        </p:nvSpPr>
        <p:spPr>
          <a:xfrm>
            <a:off x="841248" y="5650992"/>
            <a:ext cx="384048" cy="384048"/>
          </a:xfrm>
          <a:prstGeom prst="ellipse">
            <a:avLst/>
          </a:prstGeom>
          <a:solidFill>
            <a:srgbClr val="F5A524"/>
          </a:solidFill>
          <a:ln w="12700">
            <a:solidFill>
              <a:srgbClr val="F5A524"/>
            </a:solidFill>
            <a:prstDash val="solid"/>
          </a:ln>
        </p:spPr>
        <p:txBody>
          <a:bodyPr/>
          <a:lstStyle/>
          <a:p>
            <a:endParaRPr lang="en-US"/>
          </a:p>
        </p:txBody>
      </p:sp>
      <p:pic>
        <p:nvPicPr>
          <p:cNvPr id="26" name="Image 3" descr="preencoded.png"/>
          <p:cNvPicPr>
            <a:picLocks noChangeAspect="1"/>
          </p:cNvPicPr>
          <p:nvPr/>
        </p:nvPicPr>
        <p:blipFill>
          <a:blip r:embed="rId6"/>
          <a:stretch>
            <a:fillRect/>
          </a:stretch>
        </p:blipFill>
        <p:spPr>
          <a:xfrm>
            <a:off x="937260" y="5747004"/>
            <a:ext cx="192024" cy="192024"/>
          </a:xfrm>
          <a:prstGeom prst="rect">
            <a:avLst/>
          </a:prstGeom>
        </p:spPr>
      </p:pic>
      <p:sp>
        <p:nvSpPr>
          <p:cNvPr id="27" name="Text 21"/>
          <p:cNvSpPr/>
          <p:nvPr/>
        </p:nvSpPr>
        <p:spPr>
          <a:xfrm>
            <a:off x="1371600" y="5486400"/>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A tool on the network is just an API. It needs a login, a permission list, and an audit trail — the same as every other API you already run.</a:t>
            </a:r>
            <a:endParaRPr lang="en-US" sz="10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06 · MCP</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3000" b="1" dirty="0">
                <a:solidFill>
                  <a:srgbClr val="141235"/>
                </a:solidFill>
                <a:latin typeface="Cambria" pitchFamily="34" charset="0"/>
                <a:ea typeface="Cambria" pitchFamily="34" charset="-122"/>
                <a:cs typeface="Cambria" pitchFamily="34" charset="-120"/>
              </a:rPr>
              <a:t>A wider door needs a better lock</a:t>
            </a:r>
            <a:endParaRPr lang="en-US" sz="3000" dirty="0"/>
          </a:p>
        </p:txBody>
      </p:sp>
      <p:sp>
        <p:nvSpPr>
          <p:cNvPr id="4" name="Shape 2"/>
          <p:cNvSpPr/>
          <p:nvPr/>
        </p:nvSpPr>
        <p:spPr>
          <a:xfrm>
            <a:off x="566928" y="2371314"/>
            <a:ext cx="2586152" cy="2023933"/>
          </a:xfrm>
          <a:prstGeom prst="roundRect">
            <a:avLst>
              <a:gd name="adj" fmla="val 4066"/>
            </a:avLst>
          </a:prstGeom>
          <a:solidFill>
            <a:srgbClr val="FDECEC"/>
          </a:solidFill>
          <a:ln w="12700">
            <a:solidFill>
              <a:srgbClr val="F1C9C9"/>
            </a:solidFill>
            <a:prstDash val="solid"/>
          </a:ln>
          <a:effectLst>
            <a:outerShdw blurRad="114300" dist="572" dir="5400000" algn="bl" rotWithShape="0">
              <a:srgbClr val="1B1A4A">
                <a:alpha val="7000"/>
              </a:srgbClr>
            </a:outerShdw>
          </a:effectLst>
        </p:spPr>
        <p:txBody>
          <a:bodyPr/>
          <a:lstStyle/>
          <a:p>
            <a:endParaRPr lang="en-US"/>
          </a:p>
        </p:txBody>
      </p:sp>
      <p:sp>
        <p:nvSpPr>
          <p:cNvPr id="5" name="Shape 3"/>
          <p:cNvSpPr/>
          <p:nvPr/>
        </p:nvSpPr>
        <p:spPr>
          <a:xfrm>
            <a:off x="804672" y="2590770"/>
            <a:ext cx="365760" cy="365760"/>
          </a:xfrm>
          <a:prstGeom prst="ellipse">
            <a:avLst/>
          </a:prstGeom>
          <a:solidFill>
            <a:srgbClr val="D93A3F"/>
          </a:solidFill>
          <a:ln w="12700">
            <a:solidFill>
              <a:srgbClr val="D93A3F"/>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896112" y="2682210"/>
            <a:ext cx="182880" cy="182880"/>
          </a:xfrm>
          <a:prstGeom prst="rect">
            <a:avLst/>
          </a:prstGeom>
        </p:spPr>
      </p:pic>
      <p:sp>
        <p:nvSpPr>
          <p:cNvPr id="7" name="Text 4"/>
          <p:cNvSpPr/>
          <p:nvPr/>
        </p:nvSpPr>
        <p:spPr>
          <a:xfrm>
            <a:off x="1298448" y="2609058"/>
            <a:ext cx="1616888" cy="338511"/>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Tool poisoning</a:t>
            </a:r>
            <a:endParaRPr lang="en-US" sz="1450" dirty="0"/>
          </a:p>
        </p:txBody>
      </p:sp>
      <p:sp>
        <p:nvSpPr>
          <p:cNvPr id="8" name="Text 5"/>
          <p:cNvSpPr/>
          <p:nvPr/>
        </p:nvSpPr>
        <p:spPr>
          <a:xfrm>
            <a:off x="1298448" y="2956712"/>
            <a:ext cx="1616888" cy="1255654"/>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A malicious server, described convincingly, installed because it looked useful. The description is the attack surface.</a:t>
            </a:r>
            <a:endParaRPr lang="en-US" sz="1100" dirty="0"/>
          </a:p>
        </p:txBody>
      </p:sp>
      <p:sp>
        <p:nvSpPr>
          <p:cNvPr id="9" name="Shape 6"/>
          <p:cNvSpPr/>
          <p:nvPr/>
        </p:nvSpPr>
        <p:spPr>
          <a:xfrm>
            <a:off x="3390824" y="2371314"/>
            <a:ext cx="2586152" cy="2023933"/>
          </a:xfrm>
          <a:prstGeom prst="roundRect">
            <a:avLst>
              <a:gd name="adj" fmla="val 4066"/>
            </a:avLst>
          </a:prstGeom>
          <a:solidFill>
            <a:srgbClr val="FDECEC"/>
          </a:solidFill>
          <a:ln w="12700">
            <a:solidFill>
              <a:srgbClr val="F1C9C9"/>
            </a:solidFill>
            <a:prstDash val="solid"/>
          </a:ln>
          <a:effectLst>
            <a:outerShdw blurRad="114300" dist="572" dir="5400000" algn="bl" rotWithShape="0">
              <a:srgbClr val="1B1A4A">
                <a:alpha val="7000"/>
              </a:srgbClr>
            </a:outerShdw>
          </a:effectLst>
        </p:spPr>
        <p:txBody>
          <a:bodyPr/>
          <a:lstStyle/>
          <a:p>
            <a:endParaRPr lang="en-US"/>
          </a:p>
        </p:txBody>
      </p:sp>
      <p:sp>
        <p:nvSpPr>
          <p:cNvPr id="10" name="Shape 7"/>
          <p:cNvSpPr/>
          <p:nvPr/>
        </p:nvSpPr>
        <p:spPr>
          <a:xfrm>
            <a:off x="3628568" y="2590770"/>
            <a:ext cx="365760" cy="365760"/>
          </a:xfrm>
          <a:prstGeom prst="ellipse">
            <a:avLst/>
          </a:prstGeom>
          <a:solidFill>
            <a:srgbClr val="D93A3F"/>
          </a:solidFill>
          <a:ln w="12700">
            <a:solidFill>
              <a:srgbClr val="D93A3F"/>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3720008" y="2682210"/>
            <a:ext cx="182880" cy="182880"/>
          </a:xfrm>
          <a:prstGeom prst="rect">
            <a:avLst/>
          </a:prstGeom>
        </p:spPr>
      </p:pic>
      <p:sp>
        <p:nvSpPr>
          <p:cNvPr id="12" name="Text 8"/>
          <p:cNvSpPr/>
          <p:nvPr/>
        </p:nvSpPr>
        <p:spPr>
          <a:xfrm>
            <a:off x="4122344" y="2609058"/>
            <a:ext cx="1616888" cy="622158"/>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Prompt injection</a:t>
            </a:r>
            <a:endParaRPr lang="en-US" sz="1450" dirty="0"/>
          </a:p>
        </p:txBody>
      </p:sp>
      <p:sp>
        <p:nvSpPr>
          <p:cNvPr id="13" name="Text 9"/>
          <p:cNvSpPr/>
          <p:nvPr/>
        </p:nvSpPr>
        <p:spPr>
          <a:xfrm>
            <a:off x="4122344" y="3240359"/>
            <a:ext cx="1616888" cy="972007"/>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Instructions hidden inside a tool's own description or its returned data. The model reads them as guidance.</a:t>
            </a:r>
            <a:endParaRPr lang="en-US" sz="1100" dirty="0"/>
          </a:p>
        </p:txBody>
      </p:sp>
      <p:sp>
        <p:nvSpPr>
          <p:cNvPr id="14" name="Shape 10"/>
          <p:cNvSpPr/>
          <p:nvPr/>
        </p:nvSpPr>
        <p:spPr>
          <a:xfrm>
            <a:off x="6214720" y="2371314"/>
            <a:ext cx="2586152" cy="2023933"/>
          </a:xfrm>
          <a:prstGeom prst="roundRect">
            <a:avLst>
              <a:gd name="adj" fmla="val 4066"/>
            </a:avLst>
          </a:prstGeom>
          <a:solidFill>
            <a:srgbClr val="FDECEC"/>
          </a:solidFill>
          <a:ln w="12700">
            <a:solidFill>
              <a:srgbClr val="F1C9C9"/>
            </a:solidFill>
            <a:prstDash val="solid"/>
          </a:ln>
          <a:effectLst>
            <a:outerShdw blurRad="114300" dist="572" dir="5400000" algn="bl" rotWithShape="0">
              <a:srgbClr val="1B1A4A">
                <a:alpha val="7000"/>
              </a:srgbClr>
            </a:outerShdw>
          </a:effectLst>
        </p:spPr>
        <p:txBody>
          <a:bodyPr/>
          <a:lstStyle/>
          <a:p>
            <a:endParaRPr lang="en-US"/>
          </a:p>
        </p:txBody>
      </p:sp>
      <p:sp>
        <p:nvSpPr>
          <p:cNvPr id="15" name="Shape 11"/>
          <p:cNvSpPr/>
          <p:nvPr/>
        </p:nvSpPr>
        <p:spPr>
          <a:xfrm>
            <a:off x="6452464" y="2590770"/>
            <a:ext cx="365760" cy="365760"/>
          </a:xfrm>
          <a:prstGeom prst="ellipse">
            <a:avLst/>
          </a:prstGeom>
          <a:solidFill>
            <a:srgbClr val="D93A3F"/>
          </a:solidFill>
          <a:ln w="12700">
            <a:solidFill>
              <a:srgbClr val="D93A3F"/>
            </a:solidFill>
            <a:prstDash val="solid"/>
          </a:ln>
        </p:spPr>
        <p:txBody>
          <a:bodyPr/>
          <a:lstStyle/>
          <a:p>
            <a:endParaRPr lang="en-US"/>
          </a:p>
        </p:txBody>
      </p:sp>
      <p:pic>
        <p:nvPicPr>
          <p:cNvPr id="16" name="Image 2" descr="preencoded.png"/>
          <p:cNvPicPr>
            <a:picLocks noChangeAspect="1"/>
          </p:cNvPicPr>
          <p:nvPr/>
        </p:nvPicPr>
        <p:blipFill>
          <a:blip r:embed="rId5"/>
          <a:stretch>
            <a:fillRect/>
          </a:stretch>
        </p:blipFill>
        <p:spPr>
          <a:xfrm>
            <a:off x="6543904" y="2682210"/>
            <a:ext cx="182880" cy="182880"/>
          </a:xfrm>
          <a:prstGeom prst="rect">
            <a:avLst/>
          </a:prstGeom>
        </p:spPr>
      </p:pic>
      <p:sp>
        <p:nvSpPr>
          <p:cNvPr id="17" name="Text 12"/>
          <p:cNvSpPr/>
          <p:nvPr/>
        </p:nvSpPr>
        <p:spPr>
          <a:xfrm>
            <a:off x="6946240" y="2609058"/>
            <a:ext cx="1616888" cy="622158"/>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Over-broad scope</a:t>
            </a:r>
            <a:endParaRPr lang="en-US" sz="1450" dirty="0"/>
          </a:p>
        </p:txBody>
      </p:sp>
      <p:sp>
        <p:nvSpPr>
          <p:cNvPr id="18" name="Text 13"/>
          <p:cNvSpPr/>
          <p:nvPr/>
        </p:nvSpPr>
        <p:spPr>
          <a:xfrm>
            <a:off x="6946240" y="3240359"/>
            <a:ext cx="1616888" cy="972007"/>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A tool granted far more reach than the task ever needed, because scoping it narrowly was more work.</a:t>
            </a:r>
            <a:endParaRPr lang="en-US" sz="1100" dirty="0"/>
          </a:p>
        </p:txBody>
      </p:sp>
      <p:sp>
        <p:nvSpPr>
          <p:cNvPr id="19" name="Shape 14"/>
          <p:cNvSpPr/>
          <p:nvPr/>
        </p:nvSpPr>
        <p:spPr>
          <a:xfrm>
            <a:off x="9038615" y="2371314"/>
            <a:ext cx="2586152" cy="2023933"/>
          </a:xfrm>
          <a:prstGeom prst="roundRect">
            <a:avLst>
              <a:gd name="adj" fmla="val 4066"/>
            </a:avLst>
          </a:prstGeom>
          <a:solidFill>
            <a:srgbClr val="FDECEC"/>
          </a:solidFill>
          <a:ln w="12700">
            <a:solidFill>
              <a:srgbClr val="F1C9C9"/>
            </a:solidFill>
            <a:prstDash val="solid"/>
          </a:ln>
          <a:effectLst>
            <a:outerShdw blurRad="114300" dist="572" dir="5400000" algn="bl" rotWithShape="0">
              <a:srgbClr val="1B1A4A">
                <a:alpha val="7000"/>
              </a:srgbClr>
            </a:outerShdw>
          </a:effectLst>
        </p:spPr>
        <p:txBody>
          <a:bodyPr/>
          <a:lstStyle/>
          <a:p>
            <a:endParaRPr lang="en-US"/>
          </a:p>
        </p:txBody>
      </p:sp>
      <p:sp>
        <p:nvSpPr>
          <p:cNvPr id="20" name="Shape 15"/>
          <p:cNvSpPr/>
          <p:nvPr/>
        </p:nvSpPr>
        <p:spPr>
          <a:xfrm>
            <a:off x="9276359" y="2590770"/>
            <a:ext cx="365760" cy="365760"/>
          </a:xfrm>
          <a:prstGeom prst="ellipse">
            <a:avLst/>
          </a:prstGeom>
          <a:solidFill>
            <a:srgbClr val="D93A3F"/>
          </a:solidFill>
          <a:ln w="12700">
            <a:solidFill>
              <a:srgbClr val="D93A3F"/>
            </a:solidFill>
            <a:prstDash val="solid"/>
          </a:ln>
        </p:spPr>
        <p:txBody>
          <a:bodyPr/>
          <a:lstStyle/>
          <a:p>
            <a:endParaRPr lang="en-US"/>
          </a:p>
        </p:txBody>
      </p:sp>
      <p:pic>
        <p:nvPicPr>
          <p:cNvPr id="21" name="Image 3" descr="preencoded.png"/>
          <p:cNvPicPr>
            <a:picLocks noChangeAspect="1"/>
          </p:cNvPicPr>
          <p:nvPr/>
        </p:nvPicPr>
        <p:blipFill>
          <a:blip r:embed="rId6"/>
          <a:stretch>
            <a:fillRect/>
          </a:stretch>
        </p:blipFill>
        <p:spPr>
          <a:xfrm>
            <a:off x="9367799" y="2682210"/>
            <a:ext cx="182880" cy="182880"/>
          </a:xfrm>
          <a:prstGeom prst="rect">
            <a:avLst/>
          </a:prstGeom>
        </p:spPr>
      </p:pic>
      <p:sp>
        <p:nvSpPr>
          <p:cNvPr id="22" name="Text 16"/>
          <p:cNvSpPr/>
          <p:nvPr/>
        </p:nvSpPr>
        <p:spPr>
          <a:xfrm>
            <a:off x="9770135" y="2609058"/>
            <a:ext cx="1616888" cy="622158"/>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Silent supply chain</a:t>
            </a:r>
            <a:endParaRPr lang="en-US" sz="1450" dirty="0"/>
          </a:p>
        </p:txBody>
      </p:sp>
      <p:sp>
        <p:nvSpPr>
          <p:cNvPr id="23" name="Text 17"/>
          <p:cNvSpPr/>
          <p:nvPr/>
        </p:nvSpPr>
        <p:spPr>
          <a:xfrm>
            <a:off x="9770135" y="3240359"/>
            <a:ext cx="1616888" cy="972007"/>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A server that updates itself. What you reviewed on Monday is not necessarily what runs on Friday.</a:t>
            </a:r>
            <a:endParaRPr lang="en-US" sz="1100" dirty="0"/>
          </a:p>
        </p:txBody>
      </p:sp>
      <p:sp>
        <p:nvSpPr>
          <p:cNvPr id="24" name="Text 18"/>
          <p:cNvSpPr/>
          <p:nvPr/>
        </p:nvSpPr>
        <p:spPr>
          <a:xfrm>
            <a:off x="566928" y="4992624"/>
            <a:ext cx="11057839" cy="310896"/>
          </a:xfrm>
          <a:prstGeom prst="rect">
            <a:avLst/>
          </a:prstGeom>
          <a:noFill/>
          <a:ln/>
        </p:spPr>
        <p:txBody>
          <a:bodyPr wrap="square" lIns="0" tIns="0" rIns="0" bIns="0" rtlCol="0" anchor="ctr"/>
          <a:lstStyle/>
          <a:p>
            <a:pPr marL="0" indent="0">
              <a:buNone/>
            </a:pPr>
            <a:r>
              <a:rPr lang="en-US" sz="1300" i="1" dirty="0">
                <a:solidFill>
                  <a:srgbClr val="3B3760"/>
                </a:solidFill>
                <a:latin typeface="Calibri" pitchFamily="34" charset="0"/>
                <a:ea typeface="Calibri" pitchFamily="34" charset="-122"/>
                <a:cs typeface="Calibri" pitchFamily="34" charset="-120"/>
              </a:rPr>
              <a:t>Preview only. In module 14 you will run these attacks against the agent you built yourself.</a:t>
            </a:r>
            <a:endParaRPr lang="en-US" sz="1300" dirty="0"/>
          </a:p>
        </p:txBody>
      </p:sp>
      <p:sp>
        <p:nvSpPr>
          <p:cNvPr id="25" name="Shape 19"/>
          <p:cNvSpPr/>
          <p:nvPr/>
        </p:nvSpPr>
        <p:spPr>
          <a:xfrm>
            <a:off x="566928" y="5431536"/>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26" name="Shape 20"/>
          <p:cNvSpPr/>
          <p:nvPr/>
        </p:nvSpPr>
        <p:spPr>
          <a:xfrm>
            <a:off x="841248" y="5650992"/>
            <a:ext cx="384048" cy="384048"/>
          </a:xfrm>
          <a:prstGeom prst="ellipse">
            <a:avLst/>
          </a:prstGeom>
          <a:solidFill>
            <a:srgbClr val="F5A524"/>
          </a:solidFill>
          <a:ln w="12700">
            <a:solidFill>
              <a:srgbClr val="F5A524"/>
            </a:solidFill>
            <a:prstDash val="solid"/>
          </a:ln>
        </p:spPr>
        <p:txBody>
          <a:bodyPr/>
          <a:lstStyle/>
          <a:p>
            <a:endParaRPr lang="en-US"/>
          </a:p>
        </p:txBody>
      </p:sp>
      <p:pic>
        <p:nvPicPr>
          <p:cNvPr id="27" name="Image 4" descr="preencoded.png"/>
          <p:cNvPicPr>
            <a:picLocks noChangeAspect="1"/>
          </p:cNvPicPr>
          <p:nvPr/>
        </p:nvPicPr>
        <p:blipFill>
          <a:blip r:embed="rId7"/>
          <a:stretch>
            <a:fillRect/>
          </a:stretch>
        </p:blipFill>
        <p:spPr>
          <a:xfrm>
            <a:off x="937260" y="5747004"/>
            <a:ext cx="192024" cy="192024"/>
          </a:xfrm>
          <a:prstGeom prst="rect">
            <a:avLst/>
          </a:prstGeom>
        </p:spPr>
      </p:pic>
      <p:sp>
        <p:nvSpPr>
          <p:cNvPr id="28" name="Text 21"/>
          <p:cNvSpPr/>
          <p:nvPr/>
        </p:nvSpPr>
        <p:spPr>
          <a:xfrm>
            <a:off x="1371600" y="5486400"/>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Every one of these is a supply-chain problem in a new costume. You are installing software that can act on your behalf — review it like software.</a:t>
            </a:r>
            <a:endParaRPr lang="en-US" sz="10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06 · MCP</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2800" b="1" dirty="0">
                <a:solidFill>
                  <a:srgbClr val="141235"/>
                </a:solidFill>
                <a:latin typeface="Cambria" pitchFamily="34" charset="0"/>
                <a:ea typeface="Cambria" pitchFamily="34" charset="-122"/>
                <a:cs typeface="Cambria" pitchFamily="34" charset="-120"/>
              </a:rPr>
              <a:t>Two open standards, pointing in different directions</a:t>
            </a:r>
            <a:endParaRPr lang="en-US" sz="2800" dirty="0"/>
          </a:p>
        </p:txBody>
      </p:sp>
      <p:sp>
        <p:nvSpPr>
          <p:cNvPr id="4" name="Shape 2"/>
          <p:cNvSpPr/>
          <p:nvPr/>
        </p:nvSpPr>
        <p:spPr>
          <a:xfrm>
            <a:off x="566928" y="1828800"/>
            <a:ext cx="5391760" cy="3072384"/>
          </a:xfrm>
          <a:prstGeom prst="roundRect">
            <a:avLst>
              <a:gd name="adj" fmla="val 2976"/>
            </a:avLst>
          </a:prstGeom>
          <a:solidFill>
            <a:srgbClr val="EEEDFE"/>
          </a:solidFill>
          <a:ln w="12700">
            <a:solidFill>
              <a:srgbClr val="8E82F5"/>
            </a:solidFill>
            <a:prstDash val="solid"/>
          </a:ln>
        </p:spPr>
        <p:txBody>
          <a:bodyPr/>
          <a:lstStyle/>
          <a:p>
            <a:endParaRPr lang="en-US"/>
          </a:p>
        </p:txBody>
      </p:sp>
      <p:sp>
        <p:nvSpPr>
          <p:cNvPr id="5" name="Shape 3"/>
          <p:cNvSpPr/>
          <p:nvPr/>
        </p:nvSpPr>
        <p:spPr>
          <a:xfrm>
            <a:off x="841248" y="2048256"/>
            <a:ext cx="457200" cy="457200"/>
          </a:xfrm>
          <a:prstGeom prst="ellipse">
            <a:avLst/>
          </a:prstGeom>
          <a:solidFill>
            <a:srgbClr val="5B4BE8"/>
          </a:solidFill>
          <a:ln w="12700">
            <a:solidFill>
              <a:srgbClr val="5B4BE8"/>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955548" y="2162556"/>
            <a:ext cx="228600" cy="228600"/>
          </a:xfrm>
          <a:prstGeom prst="rect">
            <a:avLst/>
          </a:prstGeom>
        </p:spPr>
      </p:pic>
      <p:sp>
        <p:nvSpPr>
          <p:cNvPr id="7" name="Text 4"/>
          <p:cNvSpPr/>
          <p:nvPr/>
        </p:nvSpPr>
        <p:spPr>
          <a:xfrm>
            <a:off x="1444752" y="2048256"/>
            <a:ext cx="2743200" cy="365760"/>
          </a:xfrm>
          <a:prstGeom prst="rect">
            <a:avLst/>
          </a:prstGeom>
          <a:noFill/>
          <a:ln/>
        </p:spPr>
        <p:txBody>
          <a:bodyPr wrap="square" lIns="0" tIns="0" rIns="0" bIns="0" rtlCol="0" anchor="ctr"/>
          <a:lstStyle/>
          <a:p>
            <a:pPr marL="0" indent="0">
              <a:buNone/>
            </a:pPr>
            <a:r>
              <a:rPr lang="en-US" sz="2600" b="1" dirty="0">
                <a:solidFill>
                  <a:srgbClr val="5B4BE8"/>
                </a:solidFill>
                <a:latin typeface="Cambria" pitchFamily="34" charset="0"/>
                <a:ea typeface="Cambria" pitchFamily="34" charset="-122"/>
                <a:cs typeface="Cambria" pitchFamily="34" charset="-120"/>
              </a:rPr>
              <a:t>MCP</a:t>
            </a:r>
            <a:endParaRPr lang="en-US" sz="2600" dirty="0"/>
          </a:p>
        </p:txBody>
      </p:sp>
      <p:sp>
        <p:nvSpPr>
          <p:cNvPr id="8" name="Text 5"/>
          <p:cNvSpPr/>
          <p:nvPr/>
        </p:nvSpPr>
        <p:spPr>
          <a:xfrm>
            <a:off x="1444752" y="2432304"/>
            <a:ext cx="3657600" cy="256032"/>
          </a:xfrm>
          <a:prstGeom prst="rect">
            <a:avLst/>
          </a:prstGeom>
          <a:noFill/>
          <a:ln/>
        </p:spPr>
        <p:txBody>
          <a:bodyPr wrap="square" lIns="0" tIns="0" rIns="0" bIns="0" rtlCol="0" anchor="ctr"/>
          <a:lstStyle/>
          <a:p>
            <a:pPr marL="0" indent="0">
              <a:buNone/>
            </a:pPr>
            <a:r>
              <a:rPr lang="en-US" sz="1250" b="1" dirty="0">
                <a:solidFill>
                  <a:srgbClr val="3B3760"/>
                </a:solidFill>
                <a:latin typeface="Calibri" pitchFamily="34" charset="0"/>
                <a:ea typeface="Calibri" pitchFamily="34" charset="-122"/>
                <a:cs typeface="Calibri" pitchFamily="34" charset="-120"/>
              </a:rPr>
              <a:t>Agent → tool</a:t>
            </a:r>
            <a:endParaRPr lang="en-US" sz="1250" dirty="0"/>
          </a:p>
        </p:txBody>
      </p:sp>
      <p:sp>
        <p:nvSpPr>
          <p:cNvPr id="9" name="Text 6"/>
          <p:cNvSpPr/>
          <p:nvPr/>
        </p:nvSpPr>
        <p:spPr>
          <a:xfrm>
            <a:off x="841248" y="2889504"/>
            <a:ext cx="4843120" cy="548640"/>
          </a:xfrm>
          <a:prstGeom prst="rect">
            <a:avLst/>
          </a:prstGeom>
          <a:noFill/>
          <a:ln/>
        </p:spPr>
        <p:txBody>
          <a:bodyPr wrap="square" lIns="0" tIns="0" rIns="0" bIns="0" rtlCol="0" anchor="t"/>
          <a:lstStyle/>
          <a:p>
            <a:pPr marL="0" indent="0">
              <a:lnSpc>
                <a:spcPct val="114000"/>
              </a:lnSpc>
              <a:buNone/>
            </a:pPr>
            <a:r>
              <a:rPr lang="en-US" sz="1250" dirty="0">
                <a:solidFill>
                  <a:srgbClr val="141235"/>
                </a:solidFill>
                <a:latin typeface="Calibri" pitchFamily="34" charset="0"/>
                <a:ea typeface="Calibri" pitchFamily="34" charset="-122"/>
                <a:cs typeface="Calibri" pitchFamily="34" charset="-120"/>
              </a:rPr>
              <a:t>Standardises how an agent discovers and calls a capability.</a:t>
            </a:r>
            <a:endParaRPr lang="en-US" sz="1250" dirty="0"/>
          </a:p>
        </p:txBody>
      </p:sp>
      <p:sp>
        <p:nvSpPr>
          <p:cNvPr id="10" name="Text 7"/>
          <p:cNvSpPr/>
          <p:nvPr/>
        </p:nvSpPr>
        <p:spPr>
          <a:xfrm>
            <a:off x="841248" y="3584448"/>
            <a:ext cx="4843120" cy="822960"/>
          </a:xfrm>
          <a:prstGeom prst="rect">
            <a:avLst/>
          </a:prstGeom>
          <a:noFill/>
          <a:ln/>
        </p:spPr>
        <p:txBody>
          <a:bodyPr wrap="square" lIns="0" tIns="0" rIns="0" bIns="0" rtlCol="0" anchor="t"/>
          <a:lstStyle/>
          <a:p>
            <a:pPr marL="0" indent="0">
              <a:lnSpc>
                <a:spcPct val="114000"/>
              </a:lnSpc>
              <a:buNone/>
            </a:pPr>
            <a:r>
              <a:rPr lang="en-US" sz="900" b="1" kern="0" spc="160" dirty="0">
                <a:solidFill>
                  <a:srgbClr val="9B98B4"/>
                </a:solidFill>
                <a:latin typeface="Calibri" pitchFamily="34" charset="0"/>
                <a:ea typeface="Calibri" pitchFamily="34" charset="-122"/>
                <a:cs typeface="Calibri" pitchFamily="34" charset="-120"/>
              </a:rPr>
              <a:t>GOVERNANCE</a:t>
            </a:r>
            <a:endParaRPr lang="en-US" sz="900" dirty="0"/>
          </a:p>
          <a:p>
            <a:pPr marL="0" indent="0">
              <a:lnSpc>
                <a:spcPct val="114000"/>
              </a:lnSpc>
              <a:buNone/>
            </a:pPr>
            <a:r>
              <a:rPr lang="en-US" sz="1100" dirty="0">
                <a:solidFill>
                  <a:srgbClr val="6E6B8A"/>
                </a:solidFill>
                <a:latin typeface="Calibri" pitchFamily="34" charset="0"/>
                <a:ea typeface="Calibri" pitchFamily="34" charset="-122"/>
                <a:cs typeface="Calibri" pitchFamily="34" charset="-120"/>
              </a:rPr>
              <a:t>Open specification, spec-governed with a public revision history</a:t>
            </a:r>
            <a:endParaRPr lang="en-US" sz="900" dirty="0"/>
          </a:p>
        </p:txBody>
      </p:sp>
      <p:sp>
        <p:nvSpPr>
          <p:cNvPr id="11" name="Shape 8"/>
          <p:cNvSpPr/>
          <p:nvPr/>
        </p:nvSpPr>
        <p:spPr>
          <a:xfrm>
            <a:off x="6233008" y="1828800"/>
            <a:ext cx="5391760" cy="3072384"/>
          </a:xfrm>
          <a:prstGeom prst="roundRect">
            <a:avLst>
              <a:gd name="adj" fmla="val 2976"/>
            </a:avLst>
          </a:prstGeom>
          <a:solidFill>
            <a:srgbClr val="E4F4F6"/>
          </a:solidFill>
          <a:ln w="12700">
            <a:solidFill>
              <a:srgbClr val="A9DCE3"/>
            </a:solidFill>
            <a:prstDash val="solid"/>
          </a:ln>
        </p:spPr>
        <p:txBody>
          <a:bodyPr/>
          <a:lstStyle/>
          <a:p>
            <a:endParaRPr lang="en-US"/>
          </a:p>
        </p:txBody>
      </p:sp>
      <p:sp>
        <p:nvSpPr>
          <p:cNvPr id="12" name="Shape 9"/>
          <p:cNvSpPr/>
          <p:nvPr/>
        </p:nvSpPr>
        <p:spPr>
          <a:xfrm>
            <a:off x="6507328" y="2048256"/>
            <a:ext cx="457200" cy="457200"/>
          </a:xfrm>
          <a:prstGeom prst="ellipse">
            <a:avLst/>
          </a:prstGeom>
          <a:solidFill>
            <a:srgbClr val="0E8C9E"/>
          </a:solidFill>
          <a:ln w="12700">
            <a:solidFill>
              <a:srgbClr val="0E8C9E"/>
            </a:solidFill>
            <a:prstDash val="solid"/>
          </a:ln>
        </p:spPr>
        <p:txBody>
          <a:bodyPr/>
          <a:lstStyle/>
          <a:p>
            <a:endParaRPr lang="en-US"/>
          </a:p>
        </p:txBody>
      </p:sp>
      <p:pic>
        <p:nvPicPr>
          <p:cNvPr id="13" name="Image 1" descr="preencoded.png"/>
          <p:cNvPicPr>
            <a:picLocks noChangeAspect="1"/>
          </p:cNvPicPr>
          <p:nvPr/>
        </p:nvPicPr>
        <p:blipFill>
          <a:blip r:embed="rId4"/>
          <a:stretch>
            <a:fillRect/>
          </a:stretch>
        </p:blipFill>
        <p:spPr>
          <a:xfrm>
            <a:off x="6621628" y="2162556"/>
            <a:ext cx="228600" cy="228600"/>
          </a:xfrm>
          <a:prstGeom prst="rect">
            <a:avLst/>
          </a:prstGeom>
        </p:spPr>
      </p:pic>
      <p:sp>
        <p:nvSpPr>
          <p:cNvPr id="14" name="Text 10"/>
          <p:cNvSpPr/>
          <p:nvPr/>
        </p:nvSpPr>
        <p:spPr>
          <a:xfrm>
            <a:off x="7110832" y="2048256"/>
            <a:ext cx="2743200" cy="365760"/>
          </a:xfrm>
          <a:prstGeom prst="rect">
            <a:avLst/>
          </a:prstGeom>
          <a:noFill/>
          <a:ln/>
        </p:spPr>
        <p:txBody>
          <a:bodyPr wrap="square" lIns="0" tIns="0" rIns="0" bIns="0" rtlCol="0" anchor="ctr"/>
          <a:lstStyle/>
          <a:p>
            <a:pPr marL="0" indent="0">
              <a:buNone/>
            </a:pPr>
            <a:r>
              <a:rPr lang="en-US" sz="2600" b="1" dirty="0">
                <a:solidFill>
                  <a:srgbClr val="0E8C9E"/>
                </a:solidFill>
                <a:latin typeface="Cambria" pitchFamily="34" charset="0"/>
                <a:ea typeface="Cambria" pitchFamily="34" charset="-122"/>
                <a:cs typeface="Cambria" pitchFamily="34" charset="-120"/>
              </a:rPr>
              <a:t>A2A</a:t>
            </a:r>
            <a:endParaRPr lang="en-US" sz="2600" dirty="0"/>
          </a:p>
        </p:txBody>
      </p:sp>
      <p:sp>
        <p:nvSpPr>
          <p:cNvPr id="15" name="Text 11"/>
          <p:cNvSpPr/>
          <p:nvPr/>
        </p:nvSpPr>
        <p:spPr>
          <a:xfrm>
            <a:off x="7110832" y="2432304"/>
            <a:ext cx="3657600" cy="256032"/>
          </a:xfrm>
          <a:prstGeom prst="rect">
            <a:avLst/>
          </a:prstGeom>
          <a:noFill/>
          <a:ln/>
        </p:spPr>
        <p:txBody>
          <a:bodyPr wrap="square" lIns="0" tIns="0" rIns="0" bIns="0" rtlCol="0" anchor="ctr"/>
          <a:lstStyle/>
          <a:p>
            <a:pPr marL="0" indent="0">
              <a:buNone/>
            </a:pPr>
            <a:r>
              <a:rPr lang="en-US" sz="1250" b="1" dirty="0">
                <a:solidFill>
                  <a:srgbClr val="3B3760"/>
                </a:solidFill>
                <a:latin typeface="Calibri" pitchFamily="34" charset="0"/>
                <a:ea typeface="Calibri" pitchFamily="34" charset="-122"/>
                <a:cs typeface="Calibri" pitchFamily="34" charset="-120"/>
              </a:rPr>
              <a:t>Agent → agent</a:t>
            </a:r>
            <a:endParaRPr lang="en-US" sz="1250" dirty="0"/>
          </a:p>
        </p:txBody>
      </p:sp>
      <p:sp>
        <p:nvSpPr>
          <p:cNvPr id="16" name="Text 12"/>
          <p:cNvSpPr/>
          <p:nvPr/>
        </p:nvSpPr>
        <p:spPr>
          <a:xfrm>
            <a:off x="6507328" y="2889504"/>
            <a:ext cx="4843120" cy="548640"/>
          </a:xfrm>
          <a:prstGeom prst="rect">
            <a:avLst/>
          </a:prstGeom>
          <a:noFill/>
          <a:ln/>
        </p:spPr>
        <p:txBody>
          <a:bodyPr wrap="square" lIns="0" tIns="0" rIns="0" bIns="0" rtlCol="0" anchor="t"/>
          <a:lstStyle/>
          <a:p>
            <a:pPr marL="0" indent="0">
              <a:lnSpc>
                <a:spcPct val="114000"/>
              </a:lnSpc>
              <a:buNone/>
            </a:pPr>
            <a:r>
              <a:rPr lang="en-US" sz="1250" dirty="0">
                <a:solidFill>
                  <a:srgbClr val="141235"/>
                </a:solidFill>
                <a:latin typeface="Calibri" pitchFamily="34" charset="0"/>
                <a:ea typeface="Calibri" pitchFamily="34" charset="-122"/>
                <a:cs typeface="Calibri" pitchFamily="34" charset="-120"/>
              </a:rPr>
              <a:t>Standardises how one agent advertises itself and hands work to another.</a:t>
            </a:r>
            <a:endParaRPr lang="en-US" sz="1250" dirty="0"/>
          </a:p>
        </p:txBody>
      </p:sp>
      <p:sp>
        <p:nvSpPr>
          <p:cNvPr id="17" name="Text 13"/>
          <p:cNvSpPr/>
          <p:nvPr/>
        </p:nvSpPr>
        <p:spPr>
          <a:xfrm>
            <a:off x="6507328" y="3584448"/>
            <a:ext cx="4843120" cy="822960"/>
          </a:xfrm>
          <a:prstGeom prst="rect">
            <a:avLst/>
          </a:prstGeom>
          <a:noFill/>
          <a:ln/>
        </p:spPr>
        <p:txBody>
          <a:bodyPr wrap="square" lIns="0" tIns="0" rIns="0" bIns="0" rtlCol="0" anchor="t"/>
          <a:lstStyle/>
          <a:p>
            <a:pPr marL="0" indent="0">
              <a:lnSpc>
                <a:spcPct val="114000"/>
              </a:lnSpc>
              <a:buNone/>
            </a:pPr>
            <a:r>
              <a:rPr lang="en-US" sz="900" b="1" kern="0" spc="160" dirty="0">
                <a:solidFill>
                  <a:srgbClr val="9B98B4"/>
                </a:solidFill>
                <a:latin typeface="Calibri" pitchFamily="34" charset="0"/>
                <a:ea typeface="Calibri" pitchFamily="34" charset="-122"/>
                <a:cs typeface="Calibri" pitchFamily="34" charset="-120"/>
              </a:rPr>
              <a:t>GOVERNANCE</a:t>
            </a:r>
            <a:endParaRPr lang="en-US" sz="900" dirty="0"/>
          </a:p>
          <a:p>
            <a:pPr marL="0" indent="0">
              <a:lnSpc>
                <a:spcPct val="114000"/>
              </a:lnSpc>
              <a:buNone/>
            </a:pPr>
            <a:r>
              <a:rPr lang="en-US" sz="1100" dirty="0">
                <a:solidFill>
                  <a:srgbClr val="6E6B8A"/>
                </a:solidFill>
                <a:latin typeface="Calibri" pitchFamily="34" charset="0"/>
                <a:ea typeface="Calibri" pitchFamily="34" charset="-122"/>
                <a:cs typeface="Calibri" pitchFamily="34" charset="-120"/>
              </a:rPr>
              <a:t>Linux Foundation project; 150+ participating organisations in its first year</a:t>
            </a:r>
            <a:endParaRPr lang="en-US" sz="900" dirty="0"/>
          </a:p>
        </p:txBody>
      </p:sp>
      <p:sp>
        <p:nvSpPr>
          <p:cNvPr id="18" name="Text 14"/>
          <p:cNvSpPr/>
          <p:nvPr/>
        </p:nvSpPr>
        <p:spPr>
          <a:xfrm>
            <a:off x="566928" y="5010912"/>
            <a:ext cx="11057839" cy="329184"/>
          </a:xfrm>
          <a:prstGeom prst="rect">
            <a:avLst/>
          </a:prstGeom>
          <a:noFill/>
          <a:ln/>
        </p:spPr>
        <p:txBody>
          <a:bodyPr wrap="square" lIns="0" tIns="0" rIns="0" bIns="0" rtlCol="0" anchor="ctr"/>
          <a:lstStyle/>
          <a:p>
            <a:pPr marL="0" indent="0">
              <a:buNone/>
            </a:pPr>
            <a:r>
              <a:rPr lang="en-US" sz="1350" i="1" dirty="0">
                <a:solidFill>
                  <a:srgbClr val="3B3760"/>
                </a:solidFill>
                <a:latin typeface="Calibri" pitchFamily="34" charset="0"/>
                <a:ea typeface="Calibri" pitchFamily="34" charset="-122"/>
                <a:cs typeface="Calibri" pitchFamily="34" charset="-120"/>
              </a:rPr>
              <a:t>Both are open. Everything sold on top of them is a vendor's implementation of a pattern you could build yourself.</a:t>
            </a:r>
            <a:endParaRPr lang="en-US" sz="1350" dirty="0"/>
          </a:p>
        </p:txBody>
      </p:sp>
      <p:sp>
        <p:nvSpPr>
          <p:cNvPr id="19" name="Shape 15"/>
          <p:cNvSpPr/>
          <p:nvPr/>
        </p:nvSpPr>
        <p:spPr>
          <a:xfrm>
            <a:off x="566928" y="5468112"/>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20" name="Shape 16"/>
          <p:cNvSpPr/>
          <p:nvPr/>
        </p:nvSpPr>
        <p:spPr>
          <a:xfrm>
            <a:off x="841248" y="5687568"/>
            <a:ext cx="384048" cy="384048"/>
          </a:xfrm>
          <a:prstGeom prst="ellipse">
            <a:avLst/>
          </a:prstGeom>
          <a:solidFill>
            <a:srgbClr val="F5A524"/>
          </a:solidFill>
          <a:ln w="12700">
            <a:solidFill>
              <a:srgbClr val="F5A524"/>
            </a:solidFill>
            <a:prstDash val="solid"/>
          </a:ln>
        </p:spPr>
        <p:txBody>
          <a:bodyPr/>
          <a:lstStyle/>
          <a:p>
            <a:endParaRPr lang="en-US"/>
          </a:p>
        </p:txBody>
      </p:sp>
      <p:pic>
        <p:nvPicPr>
          <p:cNvPr id="21" name="Image 2" descr="preencoded.png"/>
          <p:cNvPicPr>
            <a:picLocks noChangeAspect="1"/>
          </p:cNvPicPr>
          <p:nvPr/>
        </p:nvPicPr>
        <p:blipFill>
          <a:blip r:embed="rId5"/>
          <a:stretch>
            <a:fillRect/>
          </a:stretch>
        </p:blipFill>
        <p:spPr>
          <a:xfrm>
            <a:off x="937260" y="5783580"/>
            <a:ext cx="192024" cy="192024"/>
          </a:xfrm>
          <a:prstGeom prst="rect">
            <a:avLst/>
          </a:prstGeom>
        </p:spPr>
      </p:pic>
      <p:sp>
        <p:nvSpPr>
          <p:cNvPr id="22" name="Text 17"/>
          <p:cNvSpPr/>
          <p:nvPr/>
        </p:nvSpPr>
        <p:spPr>
          <a:xfrm>
            <a:off x="1371600" y="5522976"/>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One is how an agent uses a tool. The other is how two agents talk to each other. Attendees mix these up constantly — they solve completely different problems.</a:t>
            </a:r>
            <a:endParaRPr lang="en-US" sz="10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0B0A22"/>
        </a:solidFill>
        <a:effectLst/>
      </p:bgPr>
    </p:bg>
    <p:spTree>
      <p:nvGrpSpPr>
        <p:cNvPr id="1" name=""/>
        <p:cNvGrpSpPr/>
        <p:nvPr/>
      </p:nvGrpSpPr>
      <p:grpSpPr>
        <a:xfrm>
          <a:off x="0" y="0"/>
          <a:ext cx="0" cy="0"/>
          <a:chOff x="0" y="0"/>
          <a:chExt cx="0" cy="0"/>
        </a:xfrm>
      </p:grpSpPr>
      <p:pic>
        <p:nvPicPr>
          <p:cNvPr id="2" name="Image 0" descr="/home/claude/work/bg_dark.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6126480" y="1234440"/>
            <a:ext cx="5486400" cy="2743200"/>
          </a:xfrm>
          <a:prstGeom prst="rect">
            <a:avLst/>
          </a:prstGeom>
          <a:noFill/>
          <a:ln/>
        </p:spPr>
        <p:txBody>
          <a:bodyPr wrap="square" lIns="0" tIns="0" rIns="0" bIns="0" rtlCol="0" anchor="ctr"/>
          <a:lstStyle/>
          <a:p>
            <a:pPr marL="0" indent="0" algn="r">
              <a:buNone/>
            </a:pPr>
            <a:r>
              <a:rPr lang="en-US" sz="17600" b="1" dirty="0">
                <a:solidFill>
                  <a:srgbClr val="5B4BE8">
                    <a:alpha val="30000"/>
                  </a:srgbClr>
                </a:solidFill>
                <a:latin typeface="Cambria" pitchFamily="34" charset="0"/>
                <a:ea typeface="Cambria" pitchFamily="34" charset="-122"/>
                <a:cs typeface="Cambria" pitchFamily="34" charset="-120"/>
              </a:rPr>
              <a:t>07</a:t>
            </a:r>
            <a:endParaRPr lang="en-US" sz="17600" dirty="0"/>
          </a:p>
        </p:txBody>
      </p:sp>
      <p:sp>
        <p:nvSpPr>
          <p:cNvPr id="4" name="Shape 1"/>
          <p:cNvSpPr/>
          <p:nvPr/>
        </p:nvSpPr>
        <p:spPr>
          <a:xfrm>
            <a:off x="566928" y="2084832"/>
            <a:ext cx="566928" cy="566928"/>
          </a:xfrm>
          <a:prstGeom prst="ellipse">
            <a:avLst/>
          </a:prstGeom>
          <a:solidFill>
            <a:srgbClr val="F5A524"/>
          </a:solidFill>
          <a:ln w="12700">
            <a:solidFill>
              <a:srgbClr val="F5A524"/>
            </a:solidFill>
            <a:prstDash val="solid"/>
          </a:ln>
        </p:spPr>
        <p:txBody>
          <a:bodyPr/>
          <a:lstStyle/>
          <a:p>
            <a:endParaRPr lang="en-US"/>
          </a:p>
        </p:txBody>
      </p:sp>
      <p:pic>
        <p:nvPicPr>
          <p:cNvPr id="5" name="Image 1" descr="preencoded.png"/>
          <p:cNvPicPr>
            <a:picLocks noChangeAspect="1"/>
          </p:cNvPicPr>
          <p:nvPr/>
        </p:nvPicPr>
        <p:blipFill>
          <a:blip r:embed="rId4"/>
          <a:stretch>
            <a:fillRect/>
          </a:stretch>
        </p:blipFill>
        <p:spPr>
          <a:xfrm>
            <a:off x="708660" y="2226564"/>
            <a:ext cx="283464" cy="283464"/>
          </a:xfrm>
          <a:prstGeom prst="rect">
            <a:avLst/>
          </a:prstGeom>
        </p:spPr>
      </p:pic>
      <p:sp>
        <p:nvSpPr>
          <p:cNvPr id="6" name="Text 2"/>
          <p:cNvSpPr/>
          <p:nvPr/>
        </p:nvSpPr>
        <p:spPr>
          <a:xfrm>
            <a:off x="566928" y="2852928"/>
            <a:ext cx="7315200" cy="256032"/>
          </a:xfrm>
          <a:prstGeom prst="rect">
            <a:avLst/>
          </a:prstGeom>
          <a:noFill/>
          <a:ln/>
        </p:spPr>
        <p:txBody>
          <a:bodyPr wrap="square" lIns="0" tIns="0" rIns="0" bIns="0" rtlCol="0" anchor="ctr"/>
          <a:lstStyle/>
          <a:p>
            <a:pPr marL="0" indent="0">
              <a:buNone/>
            </a:pPr>
            <a:r>
              <a:rPr lang="en-US" sz="1100" b="1" kern="0" spc="240" dirty="0">
                <a:solidFill>
                  <a:srgbClr val="F5A524"/>
                </a:solidFill>
                <a:latin typeface="Calibri" pitchFamily="34" charset="0"/>
                <a:ea typeface="Calibri" pitchFamily="34" charset="-122"/>
                <a:cs typeface="Calibri" pitchFamily="34" charset="-120"/>
              </a:rPr>
              <a:t>MODULE 07</a:t>
            </a:r>
            <a:endParaRPr lang="en-US" sz="1100" dirty="0"/>
          </a:p>
        </p:txBody>
      </p:sp>
      <p:sp>
        <p:nvSpPr>
          <p:cNvPr id="7" name="Text 3"/>
          <p:cNvSpPr/>
          <p:nvPr/>
        </p:nvSpPr>
        <p:spPr>
          <a:xfrm>
            <a:off x="566928" y="3145536"/>
            <a:ext cx="8595360" cy="914400"/>
          </a:xfrm>
          <a:prstGeom prst="rect">
            <a:avLst/>
          </a:prstGeom>
          <a:noFill/>
          <a:ln/>
        </p:spPr>
        <p:txBody>
          <a:bodyPr wrap="square" lIns="0" tIns="0" rIns="0" bIns="0" rtlCol="0" anchor="t"/>
          <a:lstStyle/>
          <a:p>
            <a:pPr marL="0" indent="0">
              <a:buNone/>
            </a:pPr>
            <a:r>
              <a:rPr lang="en-US" sz="4600" b="1" dirty="0">
                <a:solidFill>
                  <a:srgbClr val="FFFFFF"/>
                </a:solidFill>
                <a:latin typeface="Cambria" pitchFamily="34" charset="0"/>
                <a:ea typeface="Cambria" pitchFamily="34" charset="-122"/>
                <a:cs typeface="Cambria" pitchFamily="34" charset="-120"/>
              </a:rPr>
              <a:t>A support agent over a real database</a:t>
            </a:r>
            <a:endParaRPr lang="en-US" sz="4600" dirty="0"/>
          </a:p>
        </p:txBody>
      </p:sp>
      <p:sp>
        <p:nvSpPr>
          <p:cNvPr id="8" name="Text 4"/>
          <p:cNvSpPr/>
          <p:nvPr/>
        </p:nvSpPr>
        <p:spPr>
          <a:xfrm>
            <a:off x="566928" y="4169664"/>
            <a:ext cx="7863840" cy="731520"/>
          </a:xfrm>
          <a:prstGeom prst="rect">
            <a:avLst/>
          </a:prstGeom>
          <a:noFill/>
          <a:ln/>
        </p:spPr>
        <p:txBody>
          <a:bodyPr wrap="square" lIns="0" tIns="0" rIns="0" bIns="0" rtlCol="0" anchor="t"/>
          <a:lstStyle/>
          <a:p>
            <a:pPr marL="0" indent="0">
              <a:lnSpc>
                <a:spcPct val="120000"/>
              </a:lnSpc>
              <a:buNone/>
            </a:pPr>
            <a:r>
              <a:rPr lang="en-US" sz="1600" dirty="0">
                <a:solidFill>
                  <a:srgbClr val="B9B4E0"/>
                </a:solidFill>
                <a:latin typeface="Calibri" pitchFamily="34" charset="0"/>
                <a:ea typeface="Calibri" pitchFamily="34" charset="-122"/>
                <a:cs typeface="Calibri" pitchFamily="34" charset="-120"/>
              </a:rPr>
              <a:t>Everything so far, pointed at one business and one schema.</a:t>
            </a:r>
            <a:endParaRPr lang="en-US" sz="16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07 · SUPPORT AGENT</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3000" b="1" dirty="0">
                <a:solidFill>
                  <a:srgbClr val="141235"/>
                </a:solidFill>
                <a:latin typeface="Cambria" pitchFamily="34" charset="0"/>
                <a:ea typeface="Cambria" pitchFamily="34" charset="-122"/>
                <a:cs typeface="Cambria" pitchFamily="34" charset="-120"/>
              </a:rPr>
              <a:t>The same loop, now pointed at a business</a:t>
            </a:r>
            <a:endParaRPr lang="en-US" sz="3000" dirty="0"/>
          </a:p>
        </p:txBody>
      </p:sp>
      <p:sp>
        <p:nvSpPr>
          <p:cNvPr id="4" name="Shape 2"/>
          <p:cNvSpPr/>
          <p:nvPr/>
        </p:nvSpPr>
        <p:spPr>
          <a:xfrm>
            <a:off x="566928" y="2209190"/>
            <a:ext cx="2586152" cy="2403043"/>
          </a:xfrm>
          <a:prstGeom prst="roundRect">
            <a:avLst>
              <a:gd name="adj" fmla="val 3425"/>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5" name="Shape 3"/>
          <p:cNvSpPr/>
          <p:nvPr/>
        </p:nvSpPr>
        <p:spPr>
          <a:xfrm>
            <a:off x="804672" y="2428646"/>
            <a:ext cx="365760" cy="365760"/>
          </a:xfrm>
          <a:prstGeom prst="ellipse">
            <a:avLst/>
          </a:prstGeom>
          <a:solidFill>
            <a:srgbClr val="5B4BE8"/>
          </a:solidFill>
          <a:ln w="12700">
            <a:solidFill>
              <a:srgbClr val="5B4BE8"/>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896112" y="2520086"/>
            <a:ext cx="182880" cy="182880"/>
          </a:xfrm>
          <a:prstGeom prst="rect">
            <a:avLst/>
          </a:prstGeom>
        </p:spPr>
      </p:pic>
      <p:sp>
        <p:nvSpPr>
          <p:cNvPr id="7" name="Text 4"/>
          <p:cNvSpPr/>
          <p:nvPr/>
        </p:nvSpPr>
        <p:spPr>
          <a:xfrm>
            <a:off x="1298448" y="2419502"/>
            <a:ext cx="1616888"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TOOL 1</a:t>
            </a:r>
            <a:endParaRPr lang="en-US" sz="850" dirty="0"/>
          </a:p>
        </p:txBody>
      </p:sp>
      <p:sp>
        <p:nvSpPr>
          <p:cNvPr id="8" name="Text 5"/>
          <p:cNvSpPr/>
          <p:nvPr/>
        </p:nvSpPr>
        <p:spPr>
          <a:xfrm>
            <a:off x="1298448" y="2638958"/>
            <a:ext cx="1616888" cy="622158"/>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Look a customer up</a:t>
            </a:r>
            <a:endParaRPr lang="en-US" sz="1450" dirty="0"/>
          </a:p>
        </p:txBody>
      </p:sp>
      <p:sp>
        <p:nvSpPr>
          <p:cNvPr id="9" name="Text 6"/>
          <p:cNvSpPr/>
          <p:nvPr/>
        </p:nvSpPr>
        <p:spPr>
          <a:xfrm>
            <a:off x="1298448" y="3270260"/>
            <a:ext cx="1616888" cy="1159093"/>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By name or email. Returns one record, or an honest nothing — which the agent must handle rather than invent around.</a:t>
            </a:r>
            <a:endParaRPr lang="en-US" sz="1100" dirty="0"/>
          </a:p>
        </p:txBody>
      </p:sp>
      <p:sp>
        <p:nvSpPr>
          <p:cNvPr id="10" name="Shape 7"/>
          <p:cNvSpPr/>
          <p:nvPr/>
        </p:nvSpPr>
        <p:spPr>
          <a:xfrm>
            <a:off x="3390824" y="2209190"/>
            <a:ext cx="2586152" cy="2403043"/>
          </a:xfrm>
          <a:prstGeom prst="roundRect">
            <a:avLst>
              <a:gd name="adj" fmla="val 3425"/>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1" name="Shape 8"/>
          <p:cNvSpPr/>
          <p:nvPr/>
        </p:nvSpPr>
        <p:spPr>
          <a:xfrm>
            <a:off x="3628568" y="2428646"/>
            <a:ext cx="365760" cy="365760"/>
          </a:xfrm>
          <a:prstGeom prst="ellipse">
            <a:avLst/>
          </a:prstGeom>
          <a:solidFill>
            <a:srgbClr val="5B4BE8"/>
          </a:solidFill>
          <a:ln w="12700">
            <a:solidFill>
              <a:srgbClr val="5B4BE8"/>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3720008" y="2520086"/>
            <a:ext cx="182880" cy="182880"/>
          </a:xfrm>
          <a:prstGeom prst="rect">
            <a:avLst/>
          </a:prstGeom>
        </p:spPr>
      </p:pic>
      <p:sp>
        <p:nvSpPr>
          <p:cNvPr id="13" name="Text 9"/>
          <p:cNvSpPr/>
          <p:nvPr/>
        </p:nvSpPr>
        <p:spPr>
          <a:xfrm>
            <a:off x="4122344" y="2419502"/>
            <a:ext cx="1616888"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TOOL 2</a:t>
            </a:r>
            <a:endParaRPr lang="en-US" sz="850" dirty="0"/>
          </a:p>
        </p:txBody>
      </p:sp>
      <p:sp>
        <p:nvSpPr>
          <p:cNvPr id="14" name="Text 10"/>
          <p:cNvSpPr/>
          <p:nvPr/>
        </p:nvSpPr>
        <p:spPr>
          <a:xfrm>
            <a:off x="4122344" y="2638958"/>
            <a:ext cx="1616888" cy="622158"/>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Read their invoices</a:t>
            </a:r>
            <a:endParaRPr lang="en-US" sz="1450" dirty="0"/>
          </a:p>
        </p:txBody>
      </p:sp>
      <p:sp>
        <p:nvSpPr>
          <p:cNvPr id="15" name="Text 11"/>
          <p:cNvSpPr/>
          <p:nvPr/>
        </p:nvSpPr>
        <p:spPr>
          <a:xfrm>
            <a:off x="4122344" y="3270260"/>
            <a:ext cx="1616888" cy="1159093"/>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Scoped to that customer. A tool that could read anyone's invoices is a different risk conversation entirely.</a:t>
            </a:r>
            <a:endParaRPr lang="en-US" sz="1100" dirty="0"/>
          </a:p>
        </p:txBody>
      </p:sp>
      <p:sp>
        <p:nvSpPr>
          <p:cNvPr id="16" name="Shape 12"/>
          <p:cNvSpPr/>
          <p:nvPr/>
        </p:nvSpPr>
        <p:spPr>
          <a:xfrm>
            <a:off x="6214720" y="2209190"/>
            <a:ext cx="2586152" cy="2403043"/>
          </a:xfrm>
          <a:prstGeom prst="roundRect">
            <a:avLst>
              <a:gd name="adj" fmla="val 3425"/>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7" name="Shape 13"/>
          <p:cNvSpPr/>
          <p:nvPr/>
        </p:nvSpPr>
        <p:spPr>
          <a:xfrm>
            <a:off x="6452464" y="2428646"/>
            <a:ext cx="365760" cy="365760"/>
          </a:xfrm>
          <a:prstGeom prst="ellipse">
            <a:avLst/>
          </a:prstGeom>
          <a:solidFill>
            <a:srgbClr val="5B4BE8"/>
          </a:solidFill>
          <a:ln w="12700">
            <a:solidFill>
              <a:srgbClr val="5B4BE8"/>
            </a:solidFill>
            <a:prstDash val="solid"/>
          </a:ln>
        </p:spPr>
        <p:txBody>
          <a:bodyPr/>
          <a:lstStyle/>
          <a:p>
            <a:endParaRPr lang="en-US"/>
          </a:p>
        </p:txBody>
      </p:sp>
      <p:pic>
        <p:nvPicPr>
          <p:cNvPr id="18" name="Image 2" descr="preencoded.png"/>
          <p:cNvPicPr>
            <a:picLocks noChangeAspect="1"/>
          </p:cNvPicPr>
          <p:nvPr/>
        </p:nvPicPr>
        <p:blipFill>
          <a:blip r:embed="rId5"/>
          <a:stretch>
            <a:fillRect/>
          </a:stretch>
        </p:blipFill>
        <p:spPr>
          <a:xfrm>
            <a:off x="6543904" y="2520086"/>
            <a:ext cx="182880" cy="182880"/>
          </a:xfrm>
          <a:prstGeom prst="rect">
            <a:avLst/>
          </a:prstGeom>
        </p:spPr>
      </p:pic>
      <p:sp>
        <p:nvSpPr>
          <p:cNvPr id="19" name="Text 14"/>
          <p:cNvSpPr/>
          <p:nvPr/>
        </p:nvSpPr>
        <p:spPr>
          <a:xfrm>
            <a:off x="6946240" y="2419502"/>
            <a:ext cx="1616888"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TOOL 3</a:t>
            </a:r>
            <a:endParaRPr lang="en-US" sz="850" dirty="0"/>
          </a:p>
        </p:txBody>
      </p:sp>
      <p:sp>
        <p:nvSpPr>
          <p:cNvPr id="20" name="Text 15"/>
          <p:cNvSpPr/>
          <p:nvPr/>
        </p:nvSpPr>
        <p:spPr>
          <a:xfrm>
            <a:off x="6946240" y="2638958"/>
            <a:ext cx="1616888" cy="622158"/>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Find their support rep</a:t>
            </a:r>
            <a:endParaRPr lang="en-US" sz="1450" dirty="0"/>
          </a:p>
        </p:txBody>
      </p:sp>
      <p:sp>
        <p:nvSpPr>
          <p:cNvPr id="21" name="Text 16"/>
          <p:cNvSpPr/>
          <p:nvPr/>
        </p:nvSpPr>
        <p:spPr>
          <a:xfrm>
            <a:off x="6946240" y="3270260"/>
            <a:ext cx="1616888" cy="1159093"/>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The join a human would do in their head, written down once so it is done the same way every time.</a:t>
            </a:r>
            <a:endParaRPr lang="en-US" sz="1100" dirty="0"/>
          </a:p>
        </p:txBody>
      </p:sp>
      <p:sp>
        <p:nvSpPr>
          <p:cNvPr id="22" name="Shape 17"/>
          <p:cNvSpPr/>
          <p:nvPr/>
        </p:nvSpPr>
        <p:spPr>
          <a:xfrm>
            <a:off x="9038615" y="2209190"/>
            <a:ext cx="2586152" cy="2403043"/>
          </a:xfrm>
          <a:prstGeom prst="roundRect">
            <a:avLst>
              <a:gd name="adj" fmla="val 3425"/>
            </a:avLst>
          </a:prstGeom>
          <a:solidFill>
            <a:srgbClr val="FFF4E0"/>
          </a:solidFill>
          <a:ln w="12700">
            <a:solidFill>
              <a:srgbClr val="F3DCB0"/>
            </a:solidFill>
            <a:prstDash val="solid"/>
          </a:ln>
          <a:effectLst>
            <a:outerShdw blurRad="114300" dist="572" dir="5400000" algn="bl" rotWithShape="0">
              <a:srgbClr val="1B1A4A">
                <a:alpha val="7000"/>
              </a:srgbClr>
            </a:outerShdw>
          </a:effectLst>
        </p:spPr>
        <p:txBody>
          <a:bodyPr/>
          <a:lstStyle/>
          <a:p>
            <a:endParaRPr lang="en-US"/>
          </a:p>
        </p:txBody>
      </p:sp>
      <p:sp>
        <p:nvSpPr>
          <p:cNvPr id="23" name="Shape 18"/>
          <p:cNvSpPr/>
          <p:nvPr/>
        </p:nvSpPr>
        <p:spPr>
          <a:xfrm>
            <a:off x="9276359" y="2428646"/>
            <a:ext cx="365760" cy="365760"/>
          </a:xfrm>
          <a:prstGeom prst="ellipse">
            <a:avLst/>
          </a:prstGeom>
          <a:solidFill>
            <a:srgbClr val="F5A524"/>
          </a:solidFill>
          <a:ln w="12700">
            <a:solidFill>
              <a:srgbClr val="F5A524"/>
            </a:solidFill>
            <a:prstDash val="solid"/>
          </a:ln>
        </p:spPr>
        <p:txBody>
          <a:bodyPr/>
          <a:lstStyle/>
          <a:p>
            <a:endParaRPr lang="en-US"/>
          </a:p>
        </p:txBody>
      </p:sp>
      <p:pic>
        <p:nvPicPr>
          <p:cNvPr id="24" name="Image 3" descr="preencoded.png"/>
          <p:cNvPicPr>
            <a:picLocks noChangeAspect="1"/>
          </p:cNvPicPr>
          <p:nvPr/>
        </p:nvPicPr>
        <p:blipFill>
          <a:blip r:embed="rId6"/>
          <a:stretch>
            <a:fillRect/>
          </a:stretch>
        </p:blipFill>
        <p:spPr>
          <a:xfrm>
            <a:off x="9367799" y="2520086"/>
            <a:ext cx="182880" cy="182880"/>
          </a:xfrm>
          <a:prstGeom prst="rect">
            <a:avLst/>
          </a:prstGeom>
        </p:spPr>
      </p:pic>
      <p:sp>
        <p:nvSpPr>
          <p:cNvPr id="25" name="Text 19"/>
          <p:cNvSpPr/>
          <p:nvPr/>
        </p:nvSpPr>
        <p:spPr>
          <a:xfrm>
            <a:off x="9770135" y="2419502"/>
            <a:ext cx="1616888"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THE CONSTRAINT</a:t>
            </a:r>
            <a:endParaRPr lang="en-US" sz="850" dirty="0"/>
          </a:p>
        </p:txBody>
      </p:sp>
      <p:sp>
        <p:nvSpPr>
          <p:cNvPr id="26" name="Text 20"/>
          <p:cNvSpPr/>
          <p:nvPr/>
        </p:nvSpPr>
        <p:spPr>
          <a:xfrm>
            <a:off x="9770135" y="2638958"/>
            <a:ext cx="1616888" cy="622158"/>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Read-only, on purpose</a:t>
            </a:r>
            <a:endParaRPr lang="en-US" sz="1450" dirty="0"/>
          </a:p>
        </p:txBody>
      </p:sp>
      <p:sp>
        <p:nvSpPr>
          <p:cNvPr id="27" name="Text 21"/>
          <p:cNvSpPr/>
          <p:nvPr/>
        </p:nvSpPr>
        <p:spPr>
          <a:xfrm>
            <a:off x="9770135" y="3270260"/>
            <a:ext cx="1616888" cy="1159093"/>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No writes in this module. Adding a write turns a helpful assistant into an approval-gate design problem — which is module 14.</a:t>
            </a:r>
            <a:endParaRPr lang="en-US" sz="1100" dirty="0"/>
          </a:p>
        </p:txBody>
      </p:sp>
      <p:sp>
        <p:nvSpPr>
          <p:cNvPr id="28" name="Text 22"/>
          <p:cNvSpPr/>
          <p:nvPr/>
        </p:nvSpPr>
        <p:spPr>
          <a:xfrm>
            <a:off x="566928" y="5029200"/>
            <a:ext cx="11057839" cy="310896"/>
          </a:xfrm>
          <a:prstGeom prst="rect">
            <a:avLst/>
          </a:prstGeom>
          <a:noFill/>
          <a:ln/>
        </p:spPr>
        <p:txBody>
          <a:bodyPr wrap="square" lIns="0" tIns="0" rIns="0" bIns="0" rtlCol="0" anchor="ctr"/>
          <a:lstStyle/>
          <a:p>
            <a:pPr marL="0" indent="0">
              <a:buNone/>
            </a:pPr>
            <a:r>
              <a:rPr lang="en-US" sz="1300" i="1" dirty="0">
                <a:solidFill>
                  <a:srgbClr val="3B3760"/>
                </a:solidFill>
                <a:latin typeface="Calibri" pitchFamily="34" charset="0"/>
                <a:ea typeface="Calibri" pitchFamily="34" charset="-122"/>
                <a:cs typeface="Calibri" pitchFamily="34" charset="-120"/>
              </a:rPr>
              <a:t>Note what is NOT here: the model is never handed a SQL prompt and told to be careful. Each tool is a specific, reviewed query.</a:t>
            </a:r>
            <a:endParaRPr lang="en-US" sz="1300" dirty="0"/>
          </a:p>
        </p:txBody>
      </p:sp>
      <p:sp>
        <p:nvSpPr>
          <p:cNvPr id="29" name="Shape 23"/>
          <p:cNvSpPr/>
          <p:nvPr/>
        </p:nvSpPr>
        <p:spPr>
          <a:xfrm>
            <a:off x="566928" y="5449824"/>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30" name="Shape 24"/>
          <p:cNvSpPr/>
          <p:nvPr/>
        </p:nvSpPr>
        <p:spPr>
          <a:xfrm>
            <a:off x="841248" y="5669280"/>
            <a:ext cx="384048" cy="384048"/>
          </a:xfrm>
          <a:prstGeom prst="ellipse">
            <a:avLst/>
          </a:prstGeom>
          <a:solidFill>
            <a:srgbClr val="F5A524"/>
          </a:solidFill>
          <a:ln w="12700">
            <a:solidFill>
              <a:srgbClr val="F5A524"/>
            </a:solidFill>
            <a:prstDash val="solid"/>
          </a:ln>
        </p:spPr>
        <p:txBody>
          <a:bodyPr/>
          <a:lstStyle/>
          <a:p>
            <a:endParaRPr lang="en-US"/>
          </a:p>
        </p:txBody>
      </p:sp>
      <p:pic>
        <p:nvPicPr>
          <p:cNvPr id="31" name="Image 4" descr="preencoded.png"/>
          <p:cNvPicPr>
            <a:picLocks noChangeAspect="1"/>
          </p:cNvPicPr>
          <p:nvPr/>
        </p:nvPicPr>
        <p:blipFill>
          <a:blip r:embed="rId7"/>
          <a:stretch>
            <a:fillRect/>
          </a:stretch>
        </p:blipFill>
        <p:spPr>
          <a:xfrm>
            <a:off x="937260" y="5765292"/>
            <a:ext cx="192024" cy="192024"/>
          </a:xfrm>
          <a:prstGeom prst="rect">
            <a:avLst/>
          </a:prstGeom>
        </p:spPr>
      </p:pic>
      <p:sp>
        <p:nvSpPr>
          <p:cNvPr id="32" name="Text 25"/>
          <p:cNvSpPr/>
          <p:nvPr/>
        </p:nvSpPr>
        <p:spPr>
          <a:xfrm>
            <a:off x="1371600" y="5504688"/>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The safest agent tools are boring ones: narrow questions with reviewed answers, not a general-purpose key to the database.</a:t>
            </a:r>
            <a:endParaRPr lang="en-US" sz="10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0B0A22"/>
        </a:solidFill>
        <a:effectLst/>
      </p:bgPr>
    </p:bg>
    <p:spTree>
      <p:nvGrpSpPr>
        <p:cNvPr id="1" name=""/>
        <p:cNvGrpSpPr/>
        <p:nvPr/>
      </p:nvGrpSpPr>
      <p:grpSpPr>
        <a:xfrm>
          <a:off x="0" y="0"/>
          <a:ext cx="0" cy="0"/>
          <a:chOff x="0" y="0"/>
          <a:chExt cx="0" cy="0"/>
        </a:xfrm>
      </p:grpSpPr>
      <p:pic>
        <p:nvPicPr>
          <p:cNvPr id="2" name="Image 0" descr="/home/claude/work/bg_dark.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6126480" y="1234440"/>
            <a:ext cx="5486400" cy="2743200"/>
          </a:xfrm>
          <a:prstGeom prst="rect">
            <a:avLst/>
          </a:prstGeom>
          <a:noFill/>
          <a:ln/>
        </p:spPr>
        <p:txBody>
          <a:bodyPr wrap="square" lIns="0" tIns="0" rIns="0" bIns="0" rtlCol="0" anchor="ctr"/>
          <a:lstStyle/>
          <a:p>
            <a:pPr marL="0" indent="0" algn="r">
              <a:buNone/>
            </a:pPr>
            <a:r>
              <a:rPr lang="en-US" sz="17600" b="1" dirty="0">
                <a:solidFill>
                  <a:srgbClr val="5B4BE8">
                    <a:alpha val="30000"/>
                  </a:srgbClr>
                </a:solidFill>
                <a:latin typeface="Cambria" pitchFamily="34" charset="0"/>
                <a:ea typeface="Cambria" pitchFamily="34" charset="-122"/>
                <a:cs typeface="Cambria" pitchFamily="34" charset="-120"/>
              </a:rPr>
              <a:t>08</a:t>
            </a:r>
            <a:endParaRPr lang="en-US" sz="17600" dirty="0"/>
          </a:p>
        </p:txBody>
      </p:sp>
      <p:sp>
        <p:nvSpPr>
          <p:cNvPr id="4" name="Shape 1"/>
          <p:cNvSpPr/>
          <p:nvPr/>
        </p:nvSpPr>
        <p:spPr>
          <a:xfrm>
            <a:off x="566928" y="2084832"/>
            <a:ext cx="566928" cy="566928"/>
          </a:xfrm>
          <a:prstGeom prst="ellipse">
            <a:avLst/>
          </a:prstGeom>
          <a:solidFill>
            <a:srgbClr val="F5A524"/>
          </a:solidFill>
          <a:ln w="12700">
            <a:solidFill>
              <a:srgbClr val="F5A524"/>
            </a:solidFill>
            <a:prstDash val="solid"/>
          </a:ln>
        </p:spPr>
        <p:txBody>
          <a:bodyPr/>
          <a:lstStyle/>
          <a:p>
            <a:endParaRPr lang="en-US"/>
          </a:p>
        </p:txBody>
      </p:sp>
      <p:pic>
        <p:nvPicPr>
          <p:cNvPr id="5" name="Image 1" descr="preencoded.png"/>
          <p:cNvPicPr>
            <a:picLocks noChangeAspect="1"/>
          </p:cNvPicPr>
          <p:nvPr/>
        </p:nvPicPr>
        <p:blipFill>
          <a:blip r:embed="rId4"/>
          <a:stretch>
            <a:fillRect/>
          </a:stretch>
        </p:blipFill>
        <p:spPr>
          <a:xfrm>
            <a:off x="708660" y="2226564"/>
            <a:ext cx="283464" cy="283464"/>
          </a:xfrm>
          <a:prstGeom prst="rect">
            <a:avLst/>
          </a:prstGeom>
        </p:spPr>
      </p:pic>
      <p:sp>
        <p:nvSpPr>
          <p:cNvPr id="6" name="Text 2"/>
          <p:cNvSpPr/>
          <p:nvPr/>
        </p:nvSpPr>
        <p:spPr>
          <a:xfrm>
            <a:off x="566928" y="2852928"/>
            <a:ext cx="7315200" cy="256032"/>
          </a:xfrm>
          <a:prstGeom prst="rect">
            <a:avLst/>
          </a:prstGeom>
          <a:noFill/>
          <a:ln/>
        </p:spPr>
        <p:txBody>
          <a:bodyPr wrap="square" lIns="0" tIns="0" rIns="0" bIns="0" rtlCol="0" anchor="ctr"/>
          <a:lstStyle/>
          <a:p>
            <a:pPr marL="0" indent="0">
              <a:buNone/>
            </a:pPr>
            <a:r>
              <a:rPr lang="en-US" sz="1100" b="1" kern="0" spc="240" dirty="0">
                <a:solidFill>
                  <a:srgbClr val="F5A524"/>
                </a:solidFill>
                <a:latin typeface="Calibri" pitchFamily="34" charset="0"/>
                <a:ea typeface="Calibri" pitchFamily="34" charset="-122"/>
                <a:cs typeface="Calibri" pitchFamily="34" charset="-120"/>
              </a:rPr>
              <a:t>MODULE 08</a:t>
            </a:r>
            <a:endParaRPr lang="en-US" sz="1100" dirty="0"/>
          </a:p>
        </p:txBody>
      </p:sp>
      <p:sp>
        <p:nvSpPr>
          <p:cNvPr id="7" name="Text 3"/>
          <p:cNvSpPr/>
          <p:nvPr/>
        </p:nvSpPr>
        <p:spPr>
          <a:xfrm>
            <a:off x="566928" y="3145536"/>
            <a:ext cx="8595360" cy="914400"/>
          </a:xfrm>
          <a:prstGeom prst="rect">
            <a:avLst/>
          </a:prstGeom>
          <a:noFill/>
          <a:ln/>
        </p:spPr>
        <p:txBody>
          <a:bodyPr wrap="square" lIns="0" tIns="0" rIns="0" bIns="0" rtlCol="0" anchor="t"/>
          <a:lstStyle/>
          <a:p>
            <a:pPr marL="0" indent="0">
              <a:buNone/>
            </a:pPr>
            <a:r>
              <a:rPr lang="en-US" sz="4600" b="1" dirty="0">
                <a:solidFill>
                  <a:srgbClr val="FFFFFF"/>
                </a:solidFill>
                <a:latin typeface="Cambria" pitchFamily="34" charset="0"/>
                <a:ea typeface="Cambria" pitchFamily="34" charset="-122"/>
                <a:cs typeface="Cambria" pitchFamily="34" charset="-120"/>
              </a:rPr>
              <a:t>Async and concurrency</a:t>
            </a:r>
            <a:endParaRPr lang="en-US" sz="4600" dirty="0"/>
          </a:p>
        </p:txBody>
      </p:sp>
      <p:sp>
        <p:nvSpPr>
          <p:cNvPr id="8" name="Text 4"/>
          <p:cNvSpPr/>
          <p:nvPr/>
        </p:nvSpPr>
        <p:spPr>
          <a:xfrm>
            <a:off x="566928" y="4169664"/>
            <a:ext cx="7863840" cy="731520"/>
          </a:xfrm>
          <a:prstGeom prst="rect">
            <a:avLst/>
          </a:prstGeom>
          <a:noFill/>
          <a:ln/>
        </p:spPr>
        <p:txBody>
          <a:bodyPr wrap="square" lIns="0" tIns="0" rIns="0" bIns="0" rtlCol="0" anchor="t"/>
          <a:lstStyle/>
          <a:p>
            <a:pPr marL="0" indent="0">
              <a:lnSpc>
                <a:spcPct val="120000"/>
              </a:lnSpc>
              <a:buNone/>
            </a:pPr>
            <a:r>
              <a:rPr lang="en-US" sz="1600" dirty="0">
                <a:solidFill>
                  <a:srgbClr val="B9B4E0"/>
                </a:solidFill>
                <a:latin typeface="Calibri" pitchFamily="34" charset="0"/>
                <a:ea typeface="Calibri" pitchFamily="34" charset="-122"/>
                <a:cs typeface="Calibri" pitchFamily="34" charset="-120"/>
              </a:rPr>
              <a:t>Agent workloads wait. They do not compute — and that changes the fix.</a:t>
            </a:r>
            <a:endParaRPr lang="en-US" sz="16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08 · ASYNC AND CONCURRENCY</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3000" b="1" dirty="0">
                <a:solidFill>
                  <a:srgbClr val="141235"/>
                </a:solidFill>
                <a:latin typeface="Cambria" pitchFamily="34" charset="0"/>
                <a:ea typeface="Cambria" pitchFamily="34" charset="-122"/>
                <a:cs typeface="Cambria" pitchFamily="34" charset="-120"/>
              </a:rPr>
              <a:t>Three independent tool calls, waited on two ways</a:t>
            </a:r>
            <a:endParaRPr lang="en-US" sz="3000" dirty="0"/>
          </a:p>
        </p:txBody>
      </p:sp>
      <p:graphicFrame>
        <p:nvGraphicFramePr>
          <p:cNvPr id="4" name="Chart 0"/>
          <p:cNvGraphicFramePr/>
          <p:nvPr/>
        </p:nvGraphicFramePr>
        <p:xfrm>
          <a:off x="566928" y="1828800"/>
          <a:ext cx="5669280" cy="338328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6510528" y="1828800"/>
            <a:ext cx="5114239" cy="1060704"/>
          </a:xfrm>
          <a:prstGeom prst="roundRect">
            <a:avLst>
              <a:gd name="adj" fmla="val 7759"/>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6" name="Shape 3"/>
          <p:cNvSpPr/>
          <p:nvPr/>
        </p:nvSpPr>
        <p:spPr>
          <a:xfrm>
            <a:off x="6748272" y="2048256"/>
            <a:ext cx="365760" cy="365760"/>
          </a:xfrm>
          <a:prstGeom prst="ellipse">
            <a:avLst/>
          </a:prstGeom>
          <a:solidFill>
            <a:srgbClr val="5B4BE8"/>
          </a:solidFill>
          <a:ln w="12700">
            <a:solidFill>
              <a:srgbClr val="5B4BE8"/>
            </a:solidFill>
            <a:prstDash val="solid"/>
          </a:ln>
        </p:spPr>
        <p:txBody>
          <a:bodyPr/>
          <a:lstStyle/>
          <a:p>
            <a:endParaRPr lang="en-US"/>
          </a:p>
        </p:txBody>
      </p:sp>
      <p:pic>
        <p:nvPicPr>
          <p:cNvPr id="7" name="Image 0" descr="preencoded.png"/>
          <p:cNvPicPr>
            <a:picLocks noChangeAspect="1"/>
          </p:cNvPicPr>
          <p:nvPr/>
        </p:nvPicPr>
        <p:blipFill>
          <a:blip r:embed="rId4"/>
          <a:stretch>
            <a:fillRect/>
          </a:stretch>
        </p:blipFill>
        <p:spPr>
          <a:xfrm>
            <a:off x="6839712" y="2139696"/>
            <a:ext cx="182880" cy="182880"/>
          </a:xfrm>
          <a:prstGeom prst="rect">
            <a:avLst/>
          </a:prstGeom>
        </p:spPr>
      </p:pic>
      <p:sp>
        <p:nvSpPr>
          <p:cNvPr id="8" name="Text 4"/>
          <p:cNvSpPr/>
          <p:nvPr/>
        </p:nvSpPr>
        <p:spPr>
          <a:xfrm>
            <a:off x="7242048" y="2066544"/>
            <a:ext cx="4144975" cy="322417"/>
          </a:xfrm>
          <a:prstGeom prst="rect">
            <a:avLst/>
          </a:prstGeom>
          <a:noFill/>
          <a:ln/>
        </p:spPr>
        <p:txBody>
          <a:bodyPr wrap="square" lIns="0" tIns="0" rIns="0" bIns="0" rtlCol="0" anchor="t"/>
          <a:lstStyle/>
          <a:p>
            <a:pPr marL="0" indent="0">
              <a:lnSpc>
                <a:spcPct val="105000"/>
              </a:lnSpc>
              <a:buNone/>
            </a:pPr>
            <a:r>
              <a:rPr lang="en-US" sz="1350" b="1" dirty="0">
                <a:solidFill>
                  <a:srgbClr val="141235"/>
                </a:solidFill>
                <a:latin typeface="Calibri" pitchFamily="34" charset="0"/>
                <a:ea typeface="Calibri" pitchFamily="34" charset="-122"/>
                <a:cs typeface="Calibri" pitchFamily="34" charset="-120"/>
              </a:rPr>
              <a:t>Nothing got faster</a:t>
            </a:r>
            <a:endParaRPr lang="en-US" sz="1350" dirty="0"/>
          </a:p>
        </p:txBody>
      </p:sp>
      <p:sp>
        <p:nvSpPr>
          <p:cNvPr id="9" name="Text 5"/>
          <p:cNvSpPr/>
          <p:nvPr/>
        </p:nvSpPr>
        <p:spPr>
          <a:xfrm>
            <a:off x="7242048" y="2398105"/>
            <a:ext cx="4144975" cy="308519"/>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The same three calls took the same time each. You simply stopped standing in the queue three times.</a:t>
            </a:r>
            <a:endParaRPr lang="en-US" sz="1100" dirty="0"/>
          </a:p>
        </p:txBody>
      </p:sp>
      <p:sp>
        <p:nvSpPr>
          <p:cNvPr id="10" name="Shape 6"/>
          <p:cNvSpPr/>
          <p:nvPr/>
        </p:nvSpPr>
        <p:spPr>
          <a:xfrm>
            <a:off x="6510528" y="2980944"/>
            <a:ext cx="5114239" cy="1060704"/>
          </a:xfrm>
          <a:prstGeom prst="roundRect">
            <a:avLst>
              <a:gd name="adj" fmla="val 7759"/>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1" name="Shape 7"/>
          <p:cNvSpPr/>
          <p:nvPr/>
        </p:nvSpPr>
        <p:spPr>
          <a:xfrm>
            <a:off x="6748272" y="3200400"/>
            <a:ext cx="365760" cy="365760"/>
          </a:xfrm>
          <a:prstGeom prst="ellipse">
            <a:avLst/>
          </a:prstGeom>
          <a:solidFill>
            <a:srgbClr val="5B4BE8"/>
          </a:solidFill>
          <a:ln w="12700">
            <a:solidFill>
              <a:srgbClr val="5B4BE8"/>
            </a:solidFill>
            <a:prstDash val="solid"/>
          </a:ln>
        </p:spPr>
        <p:txBody>
          <a:bodyPr/>
          <a:lstStyle/>
          <a:p>
            <a:endParaRPr lang="en-US"/>
          </a:p>
        </p:txBody>
      </p:sp>
      <p:pic>
        <p:nvPicPr>
          <p:cNvPr id="12" name="Image 1" descr="preencoded.png"/>
          <p:cNvPicPr>
            <a:picLocks noChangeAspect="1"/>
          </p:cNvPicPr>
          <p:nvPr/>
        </p:nvPicPr>
        <p:blipFill>
          <a:blip r:embed="rId5"/>
          <a:stretch>
            <a:fillRect/>
          </a:stretch>
        </p:blipFill>
        <p:spPr>
          <a:xfrm>
            <a:off x="6839712" y="3291840"/>
            <a:ext cx="182880" cy="182880"/>
          </a:xfrm>
          <a:prstGeom prst="rect">
            <a:avLst/>
          </a:prstGeom>
        </p:spPr>
      </p:pic>
      <p:sp>
        <p:nvSpPr>
          <p:cNvPr id="13" name="Text 8"/>
          <p:cNvSpPr/>
          <p:nvPr/>
        </p:nvSpPr>
        <p:spPr>
          <a:xfrm>
            <a:off x="7242048" y="3218688"/>
            <a:ext cx="4144975" cy="322417"/>
          </a:xfrm>
          <a:prstGeom prst="rect">
            <a:avLst/>
          </a:prstGeom>
          <a:noFill/>
          <a:ln/>
        </p:spPr>
        <p:txBody>
          <a:bodyPr wrap="square" lIns="0" tIns="0" rIns="0" bIns="0" rtlCol="0" anchor="t"/>
          <a:lstStyle/>
          <a:p>
            <a:pPr marL="0" indent="0">
              <a:lnSpc>
                <a:spcPct val="105000"/>
              </a:lnSpc>
              <a:buNone/>
            </a:pPr>
            <a:r>
              <a:rPr lang="en-US" sz="1350" b="1" dirty="0">
                <a:solidFill>
                  <a:srgbClr val="141235"/>
                </a:solidFill>
                <a:latin typeface="Calibri" pitchFamily="34" charset="0"/>
                <a:ea typeface="Calibri" pitchFamily="34" charset="-122"/>
                <a:cs typeface="Calibri" pitchFamily="34" charset="-120"/>
              </a:rPr>
              <a:t>Only when they are independent</a:t>
            </a:r>
            <a:endParaRPr lang="en-US" sz="1350" dirty="0"/>
          </a:p>
        </p:txBody>
      </p:sp>
      <p:sp>
        <p:nvSpPr>
          <p:cNvPr id="14" name="Text 9"/>
          <p:cNvSpPr/>
          <p:nvPr/>
        </p:nvSpPr>
        <p:spPr>
          <a:xfrm>
            <a:off x="7242048" y="3550249"/>
            <a:ext cx="4144975" cy="308519"/>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If tool two needs tool one's answer, concurrency cannot help. That sequencing constraint is what module 03 was demonstrating.</a:t>
            </a:r>
            <a:endParaRPr lang="en-US" sz="1100" dirty="0"/>
          </a:p>
        </p:txBody>
      </p:sp>
      <p:sp>
        <p:nvSpPr>
          <p:cNvPr id="15" name="Shape 10"/>
          <p:cNvSpPr/>
          <p:nvPr/>
        </p:nvSpPr>
        <p:spPr>
          <a:xfrm>
            <a:off x="6510528" y="4133088"/>
            <a:ext cx="5114239" cy="1078992"/>
          </a:xfrm>
          <a:prstGeom prst="roundRect">
            <a:avLst>
              <a:gd name="adj" fmla="val 7627"/>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6" name="Shape 11"/>
          <p:cNvSpPr/>
          <p:nvPr/>
        </p:nvSpPr>
        <p:spPr>
          <a:xfrm>
            <a:off x="6748272" y="4352544"/>
            <a:ext cx="365760" cy="365760"/>
          </a:xfrm>
          <a:prstGeom prst="ellipse">
            <a:avLst/>
          </a:prstGeom>
          <a:solidFill>
            <a:srgbClr val="5B4BE8"/>
          </a:solidFill>
          <a:ln w="12700">
            <a:solidFill>
              <a:srgbClr val="5B4BE8"/>
            </a:solidFill>
            <a:prstDash val="solid"/>
          </a:ln>
        </p:spPr>
        <p:txBody>
          <a:bodyPr/>
          <a:lstStyle/>
          <a:p>
            <a:endParaRPr lang="en-US"/>
          </a:p>
        </p:txBody>
      </p:sp>
      <p:pic>
        <p:nvPicPr>
          <p:cNvPr id="17" name="Image 2" descr="preencoded.png"/>
          <p:cNvPicPr>
            <a:picLocks noChangeAspect="1"/>
          </p:cNvPicPr>
          <p:nvPr/>
        </p:nvPicPr>
        <p:blipFill>
          <a:blip r:embed="rId6"/>
          <a:stretch>
            <a:fillRect/>
          </a:stretch>
        </p:blipFill>
        <p:spPr>
          <a:xfrm>
            <a:off x="6839712" y="4443984"/>
            <a:ext cx="182880" cy="182880"/>
          </a:xfrm>
          <a:prstGeom prst="rect">
            <a:avLst/>
          </a:prstGeom>
        </p:spPr>
      </p:pic>
      <p:sp>
        <p:nvSpPr>
          <p:cNvPr id="18" name="Text 12"/>
          <p:cNvSpPr/>
          <p:nvPr/>
        </p:nvSpPr>
        <p:spPr>
          <a:xfrm>
            <a:off x="7242048" y="4370832"/>
            <a:ext cx="4144975" cy="322417"/>
          </a:xfrm>
          <a:prstGeom prst="rect">
            <a:avLst/>
          </a:prstGeom>
          <a:noFill/>
          <a:ln/>
        </p:spPr>
        <p:txBody>
          <a:bodyPr wrap="square" lIns="0" tIns="0" rIns="0" bIns="0" rtlCol="0" anchor="t"/>
          <a:lstStyle/>
          <a:p>
            <a:pPr marL="0" indent="0">
              <a:lnSpc>
                <a:spcPct val="105000"/>
              </a:lnSpc>
              <a:buNone/>
            </a:pPr>
            <a:r>
              <a:rPr lang="en-US" sz="1350" b="1" dirty="0">
                <a:solidFill>
                  <a:srgbClr val="141235"/>
                </a:solidFill>
                <a:latin typeface="Calibri" pitchFamily="34" charset="0"/>
                <a:ea typeface="Calibri" pitchFamily="34" charset="-122"/>
                <a:cs typeface="Calibri" pitchFamily="34" charset="-120"/>
              </a:rPr>
              <a:t>It compounds across users</a:t>
            </a:r>
            <a:endParaRPr lang="en-US" sz="1350" dirty="0"/>
          </a:p>
        </p:txBody>
      </p:sp>
      <p:sp>
        <p:nvSpPr>
          <p:cNvPr id="19" name="Text 13"/>
          <p:cNvSpPr/>
          <p:nvPr/>
        </p:nvSpPr>
        <p:spPr>
          <a:xfrm>
            <a:off x="7242048" y="4702393"/>
            <a:ext cx="4144975" cy="326807"/>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Latency is per user; capacity is across all of them. This is the difference between a demo and a service.</a:t>
            </a:r>
            <a:endParaRPr lang="en-US" sz="1100" dirty="0"/>
          </a:p>
        </p:txBody>
      </p:sp>
      <p:sp>
        <p:nvSpPr>
          <p:cNvPr id="20" name="Text 14"/>
          <p:cNvSpPr/>
          <p:nvPr/>
        </p:nvSpPr>
        <p:spPr>
          <a:xfrm>
            <a:off x="566928" y="5321808"/>
            <a:ext cx="11057839" cy="256032"/>
          </a:xfrm>
          <a:prstGeom prst="rect">
            <a:avLst/>
          </a:prstGeom>
          <a:noFill/>
          <a:ln/>
        </p:spPr>
        <p:txBody>
          <a:bodyPr wrap="square" lIns="0" tIns="0" rIns="0" bIns="0" rtlCol="0" anchor="ctr"/>
          <a:lstStyle/>
          <a:p>
            <a:pPr marL="0" indent="0">
              <a:buNone/>
            </a:pPr>
            <a:r>
              <a:rPr lang="en-US" sz="950" i="1" dirty="0">
                <a:solidFill>
                  <a:srgbClr val="9B98B4"/>
                </a:solidFill>
                <a:latin typeface="Calibri" pitchFamily="34" charset="0"/>
                <a:ea typeface="Calibri" pitchFamily="34" charset="-122"/>
                <a:cs typeface="Calibri" pitchFamily="34" charset="-120"/>
              </a:rPr>
              <a:t>Illustrative timings — run it live. Three tools with a realistic delay, sequential then concurrent, makes the argument in ninety seconds.</a:t>
            </a:r>
            <a:endParaRPr lang="en-US" sz="950" dirty="0"/>
          </a:p>
        </p:txBody>
      </p:sp>
      <p:sp>
        <p:nvSpPr>
          <p:cNvPr id="21" name="Shape 15"/>
          <p:cNvSpPr/>
          <p:nvPr/>
        </p:nvSpPr>
        <p:spPr>
          <a:xfrm>
            <a:off x="566928" y="5614416"/>
            <a:ext cx="11057839" cy="749808"/>
          </a:xfrm>
          <a:prstGeom prst="roundRect">
            <a:avLst>
              <a:gd name="adj" fmla="val 10976"/>
            </a:avLst>
          </a:prstGeom>
          <a:solidFill>
            <a:srgbClr val="FFF4E0"/>
          </a:solidFill>
          <a:ln w="12700">
            <a:solidFill>
              <a:srgbClr val="F3DCB0"/>
            </a:solidFill>
            <a:prstDash val="solid"/>
          </a:ln>
        </p:spPr>
        <p:txBody>
          <a:bodyPr/>
          <a:lstStyle/>
          <a:p>
            <a:endParaRPr lang="en-US"/>
          </a:p>
        </p:txBody>
      </p:sp>
      <p:sp>
        <p:nvSpPr>
          <p:cNvPr id="22" name="Shape 16"/>
          <p:cNvSpPr/>
          <p:nvPr/>
        </p:nvSpPr>
        <p:spPr>
          <a:xfrm>
            <a:off x="841248" y="5797296"/>
            <a:ext cx="384048" cy="384048"/>
          </a:xfrm>
          <a:prstGeom prst="ellipse">
            <a:avLst/>
          </a:prstGeom>
          <a:solidFill>
            <a:srgbClr val="F5A524"/>
          </a:solidFill>
          <a:ln w="12700">
            <a:solidFill>
              <a:srgbClr val="F5A524"/>
            </a:solidFill>
            <a:prstDash val="solid"/>
          </a:ln>
        </p:spPr>
        <p:txBody>
          <a:bodyPr/>
          <a:lstStyle/>
          <a:p>
            <a:endParaRPr lang="en-US"/>
          </a:p>
        </p:txBody>
      </p:sp>
      <p:pic>
        <p:nvPicPr>
          <p:cNvPr id="23" name="Image 3" descr="preencoded.png"/>
          <p:cNvPicPr>
            <a:picLocks noChangeAspect="1"/>
          </p:cNvPicPr>
          <p:nvPr/>
        </p:nvPicPr>
        <p:blipFill>
          <a:blip r:embed="rId7"/>
          <a:stretch>
            <a:fillRect/>
          </a:stretch>
        </p:blipFill>
        <p:spPr>
          <a:xfrm>
            <a:off x="937260" y="5893308"/>
            <a:ext cx="192024" cy="192024"/>
          </a:xfrm>
          <a:prstGeom prst="rect">
            <a:avLst/>
          </a:prstGeom>
        </p:spPr>
      </p:pic>
      <p:sp>
        <p:nvSpPr>
          <p:cNvPr id="24" name="Text 17"/>
          <p:cNvSpPr/>
          <p:nvPr/>
        </p:nvSpPr>
        <p:spPr>
          <a:xfrm>
            <a:off x="1371600" y="5669280"/>
            <a:ext cx="9960559" cy="640080"/>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Your program spends almost all its time waiting for someone else's server to answer. Concurrency means waiting for all of them at once.</a:t>
            </a:r>
            <a:endParaRPr lang="en-US" sz="10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08 · ASYNC AND CONCURRENCY</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3000" b="1" dirty="0">
                <a:solidFill>
                  <a:srgbClr val="141235"/>
                </a:solidFill>
                <a:latin typeface="Cambria" pitchFamily="34" charset="0"/>
                <a:ea typeface="Cambria" pitchFamily="34" charset="-122"/>
                <a:cs typeface="Cambria" pitchFamily="34" charset="-120"/>
              </a:rPr>
              <a:t>Waiting and computing need different tools</a:t>
            </a:r>
            <a:endParaRPr lang="en-US" sz="3000" dirty="0"/>
          </a:p>
        </p:txBody>
      </p:sp>
      <p:sp>
        <p:nvSpPr>
          <p:cNvPr id="4" name="Text 2"/>
          <p:cNvSpPr/>
          <p:nvPr/>
        </p:nvSpPr>
        <p:spPr>
          <a:xfrm>
            <a:off x="841248" y="1975104"/>
            <a:ext cx="4206240" cy="256032"/>
          </a:xfrm>
          <a:prstGeom prst="rect">
            <a:avLst/>
          </a:prstGeom>
          <a:noFill/>
          <a:ln/>
        </p:spPr>
        <p:txBody>
          <a:bodyPr wrap="square" lIns="0" tIns="0" rIns="0" bIns="0" rtlCol="0" anchor="ctr"/>
          <a:lstStyle/>
          <a:p>
            <a:pPr marL="0" indent="0">
              <a:buNone/>
            </a:pPr>
            <a:r>
              <a:rPr lang="en-US" sz="950" b="1" kern="0" spc="180" dirty="0">
                <a:solidFill>
                  <a:srgbClr val="9B98B4"/>
                </a:solidFill>
                <a:latin typeface="Calibri" pitchFamily="34" charset="0"/>
                <a:ea typeface="Calibri" pitchFamily="34" charset="-122"/>
                <a:cs typeface="Calibri" pitchFamily="34" charset="-120"/>
              </a:rPr>
              <a:t>WORKLOAD</a:t>
            </a:r>
            <a:endParaRPr lang="en-US" sz="950" dirty="0"/>
          </a:p>
        </p:txBody>
      </p:sp>
      <p:sp>
        <p:nvSpPr>
          <p:cNvPr id="5" name="Text 3"/>
          <p:cNvSpPr/>
          <p:nvPr/>
        </p:nvSpPr>
        <p:spPr>
          <a:xfrm>
            <a:off x="5138928" y="1975104"/>
            <a:ext cx="3657600" cy="256032"/>
          </a:xfrm>
          <a:prstGeom prst="rect">
            <a:avLst/>
          </a:prstGeom>
          <a:noFill/>
          <a:ln/>
        </p:spPr>
        <p:txBody>
          <a:bodyPr wrap="square" lIns="0" tIns="0" rIns="0" bIns="0" rtlCol="0" anchor="ctr"/>
          <a:lstStyle/>
          <a:p>
            <a:pPr marL="0" indent="0">
              <a:buNone/>
            </a:pPr>
            <a:r>
              <a:rPr lang="en-US" sz="950" b="1" kern="0" spc="180" dirty="0">
                <a:solidFill>
                  <a:srgbClr val="9B98B4"/>
                </a:solidFill>
                <a:latin typeface="Calibri" pitchFamily="34" charset="0"/>
                <a:ea typeface="Calibri" pitchFamily="34" charset="-122"/>
                <a:cs typeface="Calibri" pitchFamily="34" charset="-120"/>
              </a:rPr>
              <a:t>WHAT IT IS ACTUALLY DOING</a:t>
            </a:r>
            <a:endParaRPr lang="en-US" sz="950" dirty="0"/>
          </a:p>
        </p:txBody>
      </p:sp>
      <p:sp>
        <p:nvSpPr>
          <p:cNvPr id="6" name="Text 4"/>
          <p:cNvSpPr/>
          <p:nvPr/>
        </p:nvSpPr>
        <p:spPr>
          <a:xfrm>
            <a:off x="8887968" y="1975104"/>
            <a:ext cx="2651760" cy="256032"/>
          </a:xfrm>
          <a:prstGeom prst="rect">
            <a:avLst/>
          </a:prstGeom>
          <a:noFill/>
          <a:ln/>
        </p:spPr>
        <p:txBody>
          <a:bodyPr wrap="square" lIns="0" tIns="0" rIns="0" bIns="0" rtlCol="0" anchor="ctr"/>
          <a:lstStyle/>
          <a:p>
            <a:pPr marL="0" indent="0">
              <a:buNone/>
            </a:pPr>
            <a:r>
              <a:rPr lang="en-US" sz="950" b="1" kern="0" spc="180" dirty="0">
                <a:solidFill>
                  <a:srgbClr val="9B98B4"/>
                </a:solidFill>
                <a:latin typeface="Calibri" pitchFamily="34" charset="0"/>
                <a:ea typeface="Calibri" pitchFamily="34" charset="-122"/>
                <a:cs typeface="Calibri" pitchFamily="34" charset="-120"/>
              </a:rPr>
              <a:t>RIGHT TOOL</a:t>
            </a:r>
            <a:endParaRPr lang="en-US" sz="950" dirty="0"/>
          </a:p>
        </p:txBody>
      </p:sp>
      <p:sp>
        <p:nvSpPr>
          <p:cNvPr id="7" name="Shape 5"/>
          <p:cNvSpPr/>
          <p:nvPr/>
        </p:nvSpPr>
        <p:spPr>
          <a:xfrm>
            <a:off x="566928" y="2322576"/>
            <a:ext cx="11057839" cy="676656"/>
          </a:xfrm>
          <a:prstGeom prst="roundRect">
            <a:avLst>
              <a:gd name="adj" fmla="val 9459"/>
            </a:avLst>
          </a:prstGeom>
          <a:solidFill>
            <a:srgbClr val="FFFFFF"/>
          </a:solidFill>
          <a:ln w="12700">
            <a:solidFill>
              <a:srgbClr val="E3E4F2"/>
            </a:solidFill>
            <a:prstDash val="solid"/>
          </a:ln>
          <a:effectLst>
            <a:outerShdw blurRad="88900" dist="445" dir="5400000" algn="bl" rotWithShape="0">
              <a:srgbClr val="1B1A4A">
                <a:alpha val="6000"/>
              </a:srgbClr>
            </a:outerShdw>
          </a:effectLst>
        </p:spPr>
        <p:txBody>
          <a:bodyPr/>
          <a:lstStyle/>
          <a:p>
            <a:endParaRPr lang="en-US"/>
          </a:p>
        </p:txBody>
      </p:sp>
      <p:sp>
        <p:nvSpPr>
          <p:cNvPr id="8" name="Text 6"/>
          <p:cNvSpPr/>
          <p:nvPr/>
        </p:nvSpPr>
        <p:spPr>
          <a:xfrm>
            <a:off x="841248" y="2322576"/>
            <a:ext cx="4206240" cy="676656"/>
          </a:xfrm>
          <a:prstGeom prst="rect">
            <a:avLst/>
          </a:prstGeom>
          <a:noFill/>
          <a:ln/>
        </p:spPr>
        <p:txBody>
          <a:bodyPr wrap="square" lIns="0" tIns="0" rIns="0" bIns="0" rtlCol="0" anchor="ctr"/>
          <a:lstStyle/>
          <a:p>
            <a:pPr marL="0" indent="0">
              <a:buNone/>
            </a:pPr>
            <a:r>
              <a:rPr lang="en-US" sz="1300" b="1" dirty="0">
                <a:solidFill>
                  <a:srgbClr val="141235"/>
                </a:solidFill>
                <a:latin typeface="Calibri" pitchFamily="34" charset="0"/>
                <a:ea typeface="Calibri" pitchFamily="34" charset="-122"/>
                <a:cs typeface="Calibri" pitchFamily="34" charset="-120"/>
              </a:rPr>
              <a:t>Model calls, tool calls, API fetches</a:t>
            </a:r>
            <a:endParaRPr lang="en-US" sz="1300" dirty="0"/>
          </a:p>
        </p:txBody>
      </p:sp>
      <p:sp>
        <p:nvSpPr>
          <p:cNvPr id="9" name="Text 7"/>
          <p:cNvSpPr/>
          <p:nvPr/>
        </p:nvSpPr>
        <p:spPr>
          <a:xfrm>
            <a:off x="5138928" y="2322576"/>
            <a:ext cx="3657600" cy="676656"/>
          </a:xfrm>
          <a:prstGeom prst="rect">
            <a:avLst/>
          </a:prstGeom>
          <a:noFill/>
          <a:ln/>
        </p:spPr>
        <p:txBody>
          <a:bodyPr wrap="square" lIns="0" tIns="0" rIns="0" bIns="0" rtlCol="0" anchor="ctr"/>
          <a:lstStyle/>
          <a:p>
            <a:pPr marL="0" indent="0">
              <a:buNone/>
            </a:pPr>
            <a:r>
              <a:rPr lang="en-US" sz="1200" dirty="0">
                <a:solidFill>
                  <a:srgbClr val="6E6B8A"/>
                </a:solidFill>
                <a:latin typeface="Calibri" pitchFamily="34" charset="0"/>
                <a:ea typeface="Calibri" pitchFamily="34" charset="-122"/>
                <a:cs typeface="Calibri" pitchFamily="34" charset="-120"/>
              </a:rPr>
              <a:t>Waiting on a socket</a:t>
            </a:r>
            <a:endParaRPr lang="en-US" sz="1200" dirty="0"/>
          </a:p>
        </p:txBody>
      </p:sp>
      <p:sp>
        <p:nvSpPr>
          <p:cNvPr id="10" name="Text 8"/>
          <p:cNvSpPr/>
          <p:nvPr/>
        </p:nvSpPr>
        <p:spPr>
          <a:xfrm>
            <a:off x="8887968" y="2322576"/>
            <a:ext cx="2651760" cy="676656"/>
          </a:xfrm>
          <a:prstGeom prst="rect">
            <a:avLst/>
          </a:prstGeom>
          <a:noFill/>
          <a:ln/>
        </p:spPr>
        <p:txBody>
          <a:bodyPr wrap="square" lIns="0" tIns="0" rIns="0" bIns="0" rtlCol="0" anchor="ctr"/>
          <a:lstStyle/>
          <a:p>
            <a:pPr marL="0" indent="0">
              <a:buNone/>
            </a:pPr>
            <a:r>
              <a:rPr lang="en-US" sz="1300" b="1" dirty="0">
                <a:solidFill>
                  <a:srgbClr val="5B4BE8"/>
                </a:solidFill>
                <a:latin typeface="Courier New" pitchFamily="34" charset="0"/>
                <a:ea typeface="Courier New" pitchFamily="34" charset="-122"/>
                <a:cs typeface="Courier New" pitchFamily="34" charset="-120"/>
              </a:rPr>
              <a:t>asyncio</a:t>
            </a:r>
            <a:endParaRPr lang="en-US" sz="1300" dirty="0"/>
          </a:p>
        </p:txBody>
      </p:sp>
      <p:sp>
        <p:nvSpPr>
          <p:cNvPr id="11" name="Shape 9"/>
          <p:cNvSpPr/>
          <p:nvPr/>
        </p:nvSpPr>
        <p:spPr>
          <a:xfrm>
            <a:off x="566928" y="3108960"/>
            <a:ext cx="11057839" cy="676656"/>
          </a:xfrm>
          <a:prstGeom prst="roundRect">
            <a:avLst>
              <a:gd name="adj" fmla="val 9459"/>
            </a:avLst>
          </a:prstGeom>
          <a:solidFill>
            <a:srgbClr val="FFFFFF"/>
          </a:solidFill>
          <a:ln w="12700">
            <a:solidFill>
              <a:srgbClr val="E3E4F2"/>
            </a:solidFill>
            <a:prstDash val="solid"/>
          </a:ln>
          <a:effectLst>
            <a:outerShdw blurRad="88900" dist="445" dir="5400000" algn="bl" rotWithShape="0">
              <a:srgbClr val="1B1A4A">
                <a:alpha val="6000"/>
              </a:srgbClr>
            </a:outerShdw>
          </a:effectLst>
        </p:spPr>
        <p:txBody>
          <a:bodyPr/>
          <a:lstStyle/>
          <a:p>
            <a:endParaRPr lang="en-US"/>
          </a:p>
        </p:txBody>
      </p:sp>
      <p:sp>
        <p:nvSpPr>
          <p:cNvPr id="12" name="Text 10"/>
          <p:cNvSpPr/>
          <p:nvPr/>
        </p:nvSpPr>
        <p:spPr>
          <a:xfrm>
            <a:off x="841248" y="3108960"/>
            <a:ext cx="4206240" cy="676656"/>
          </a:xfrm>
          <a:prstGeom prst="rect">
            <a:avLst/>
          </a:prstGeom>
          <a:noFill/>
          <a:ln/>
        </p:spPr>
        <p:txBody>
          <a:bodyPr wrap="square" lIns="0" tIns="0" rIns="0" bIns="0" rtlCol="0" anchor="ctr"/>
          <a:lstStyle/>
          <a:p>
            <a:pPr marL="0" indent="0">
              <a:buNone/>
            </a:pPr>
            <a:r>
              <a:rPr lang="en-US" sz="1300" b="1" dirty="0">
                <a:solidFill>
                  <a:srgbClr val="141235"/>
                </a:solidFill>
                <a:latin typeface="Calibri" pitchFamily="34" charset="0"/>
                <a:ea typeface="Calibri" pitchFamily="34" charset="-122"/>
                <a:cs typeface="Calibri" pitchFamily="34" charset="-120"/>
              </a:rPr>
              <a:t>Local embeddings, vector maths</a:t>
            </a:r>
            <a:endParaRPr lang="en-US" sz="1300" dirty="0"/>
          </a:p>
        </p:txBody>
      </p:sp>
      <p:sp>
        <p:nvSpPr>
          <p:cNvPr id="13" name="Text 11"/>
          <p:cNvSpPr/>
          <p:nvPr/>
        </p:nvSpPr>
        <p:spPr>
          <a:xfrm>
            <a:off x="5138928" y="3108960"/>
            <a:ext cx="3657600" cy="676656"/>
          </a:xfrm>
          <a:prstGeom prst="rect">
            <a:avLst/>
          </a:prstGeom>
          <a:noFill/>
          <a:ln/>
        </p:spPr>
        <p:txBody>
          <a:bodyPr wrap="square" lIns="0" tIns="0" rIns="0" bIns="0" rtlCol="0" anchor="ctr"/>
          <a:lstStyle/>
          <a:p>
            <a:pPr marL="0" indent="0">
              <a:buNone/>
            </a:pPr>
            <a:r>
              <a:rPr lang="en-US" sz="1200" dirty="0">
                <a:solidFill>
                  <a:srgbClr val="6E6B8A"/>
                </a:solidFill>
                <a:latin typeface="Calibri" pitchFamily="34" charset="0"/>
                <a:ea typeface="Calibri" pitchFamily="34" charset="-122"/>
                <a:cs typeface="Calibri" pitchFamily="34" charset="-120"/>
              </a:rPr>
              <a:t>Maxing out a CPU core</a:t>
            </a:r>
            <a:endParaRPr lang="en-US" sz="1200" dirty="0"/>
          </a:p>
        </p:txBody>
      </p:sp>
      <p:sp>
        <p:nvSpPr>
          <p:cNvPr id="14" name="Text 12"/>
          <p:cNvSpPr/>
          <p:nvPr/>
        </p:nvSpPr>
        <p:spPr>
          <a:xfrm>
            <a:off x="8887968" y="3108960"/>
            <a:ext cx="2651760" cy="676656"/>
          </a:xfrm>
          <a:prstGeom prst="rect">
            <a:avLst/>
          </a:prstGeom>
          <a:noFill/>
          <a:ln/>
        </p:spPr>
        <p:txBody>
          <a:bodyPr wrap="square" lIns="0" tIns="0" rIns="0" bIns="0" rtlCol="0" anchor="ctr"/>
          <a:lstStyle/>
          <a:p>
            <a:pPr marL="0" indent="0">
              <a:buNone/>
            </a:pPr>
            <a:r>
              <a:rPr lang="en-US" sz="1300" b="1" dirty="0">
                <a:solidFill>
                  <a:srgbClr val="E08700"/>
                </a:solidFill>
                <a:latin typeface="Courier New" pitchFamily="34" charset="0"/>
                <a:ea typeface="Courier New" pitchFamily="34" charset="-122"/>
                <a:cs typeface="Courier New" pitchFamily="34" charset="-120"/>
              </a:rPr>
              <a:t>multiprocessing</a:t>
            </a:r>
            <a:endParaRPr lang="en-US" sz="1300" dirty="0"/>
          </a:p>
        </p:txBody>
      </p:sp>
      <p:sp>
        <p:nvSpPr>
          <p:cNvPr id="15" name="Shape 13"/>
          <p:cNvSpPr/>
          <p:nvPr/>
        </p:nvSpPr>
        <p:spPr>
          <a:xfrm>
            <a:off x="566928" y="3895344"/>
            <a:ext cx="11057839" cy="676656"/>
          </a:xfrm>
          <a:prstGeom prst="roundRect">
            <a:avLst>
              <a:gd name="adj" fmla="val 9459"/>
            </a:avLst>
          </a:prstGeom>
          <a:solidFill>
            <a:srgbClr val="FFFFFF"/>
          </a:solidFill>
          <a:ln w="12700">
            <a:solidFill>
              <a:srgbClr val="E3E4F2"/>
            </a:solidFill>
            <a:prstDash val="solid"/>
          </a:ln>
          <a:effectLst>
            <a:outerShdw blurRad="88900" dist="445" dir="5400000" algn="bl" rotWithShape="0">
              <a:srgbClr val="1B1A4A">
                <a:alpha val="6000"/>
              </a:srgbClr>
            </a:outerShdw>
          </a:effectLst>
        </p:spPr>
        <p:txBody>
          <a:bodyPr/>
          <a:lstStyle/>
          <a:p>
            <a:endParaRPr lang="en-US"/>
          </a:p>
        </p:txBody>
      </p:sp>
      <p:sp>
        <p:nvSpPr>
          <p:cNvPr id="16" name="Text 14"/>
          <p:cNvSpPr/>
          <p:nvPr/>
        </p:nvSpPr>
        <p:spPr>
          <a:xfrm>
            <a:off x="841248" y="3895344"/>
            <a:ext cx="4206240" cy="676656"/>
          </a:xfrm>
          <a:prstGeom prst="rect">
            <a:avLst/>
          </a:prstGeom>
          <a:noFill/>
          <a:ln/>
        </p:spPr>
        <p:txBody>
          <a:bodyPr wrap="square" lIns="0" tIns="0" rIns="0" bIns="0" rtlCol="0" anchor="ctr"/>
          <a:lstStyle/>
          <a:p>
            <a:pPr marL="0" indent="0">
              <a:buNone/>
            </a:pPr>
            <a:r>
              <a:rPr lang="en-US" sz="1300" b="1" dirty="0">
                <a:solidFill>
                  <a:srgbClr val="141235"/>
                </a:solidFill>
                <a:latin typeface="Calibri" pitchFamily="34" charset="0"/>
                <a:ea typeface="Calibri" pitchFamily="34" charset="-122"/>
                <a:cs typeface="Calibri" pitchFamily="34" charset="-120"/>
              </a:rPr>
              <a:t>File operations, logging</a:t>
            </a:r>
            <a:endParaRPr lang="en-US" sz="1300" dirty="0"/>
          </a:p>
        </p:txBody>
      </p:sp>
      <p:sp>
        <p:nvSpPr>
          <p:cNvPr id="17" name="Text 15"/>
          <p:cNvSpPr/>
          <p:nvPr/>
        </p:nvSpPr>
        <p:spPr>
          <a:xfrm>
            <a:off x="5138928" y="3895344"/>
            <a:ext cx="3657600" cy="676656"/>
          </a:xfrm>
          <a:prstGeom prst="rect">
            <a:avLst/>
          </a:prstGeom>
          <a:noFill/>
          <a:ln/>
        </p:spPr>
        <p:txBody>
          <a:bodyPr wrap="square" lIns="0" tIns="0" rIns="0" bIns="0" rtlCol="0" anchor="ctr"/>
          <a:lstStyle/>
          <a:p>
            <a:pPr marL="0" indent="0">
              <a:buNone/>
            </a:pPr>
            <a:r>
              <a:rPr lang="en-US" sz="1200" dirty="0">
                <a:solidFill>
                  <a:srgbClr val="6E6B8A"/>
                </a:solidFill>
                <a:latin typeface="Calibri" pitchFamily="34" charset="0"/>
                <a:ea typeface="Calibri" pitchFamily="34" charset="-122"/>
                <a:cs typeface="Calibri" pitchFamily="34" charset="-120"/>
              </a:rPr>
              <a:t>Mostly waiting, sometimes not</a:t>
            </a:r>
            <a:endParaRPr lang="en-US" sz="1200" dirty="0"/>
          </a:p>
        </p:txBody>
      </p:sp>
      <p:sp>
        <p:nvSpPr>
          <p:cNvPr id="18" name="Text 16"/>
          <p:cNvSpPr/>
          <p:nvPr/>
        </p:nvSpPr>
        <p:spPr>
          <a:xfrm>
            <a:off x="8887968" y="3895344"/>
            <a:ext cx="2651760" cy="676656"/>
          </a:xfrm>
          <a:prstGeom prst="rect">
            <a:avLst/>
          </a:prstGeom>
          <a:noFill/>
          <a:ln/>
        </p:spPr>
        <p:txBody>
          <a:bodyPr wrap="square" lIns="0" tIns="0" rIns="0" bIns="0" rtlCol="0" anchor="ctr"/>
          <a:lstStyle/>
          <a:p>
            <a:pPr marL="0" indent="0">
              <a:buNone/>
            </a:pPr>
            <a:r>
              <a:rPr lang="en-US" sz="1300" b="1" dirty="0">
                <a:solidFill>
                  <a:srgbClr val="0E8C9E"/>
                </a:solidFill>
                <a:latin typeface="Courier New" pitchFamily="34" charset="0"/>
                <a:ea typeface="Courier New" pitchFamily="34" charset="-122"/>
                <a:cs typeface="Courier New" pitchFamily="34" charset="-120"/>
              </a:rPr>
              <a:t>threading or asyncio</a:t>
            </a:r>
            <a:endParaRPr lang="en-US" sz="1300" dirty="0"/>
          </a:p>
        </p:txBody>
      </p:sp>
      <p:sp>
        <p:nvSpPr>
          <p:cNvPr id="19" name="Shape 17"/>
          <p:cNvSpPr/>
          <p:nvPr/>
        </p:nvSpPr>
        <p:spPr>
          <a:xfrm>
            <a:off x="566928" y="4754880"/>
            <a:ext cx="11057839" cy="676656"/>
          </a:xfrm>
          <a:prstGeom prst="roundRect">
            <a:avLst>
              <a:gd name="adj" fmla="val 9459"/>
            </a:avLst>
          </a:prstGeom>
          <a:solidFill>
            <a:srgbClr val="EEEDFE"/>
          </a:solidFill>
          <a:ln w="12700">
            <a:solidFill>
              <a:srgbClr val="8E82F5"/>
            </a:solidFill>
            <a:prstDash val="solid"/>
          </a:ln>
        </p:spPr>
        <p:txBody>
          <a:bodyPr/>
          <a:lstStyle/>
          <a:p>
            <a:endParaRPr lang="en-US"/>
          </a:p>
        </p:txBody>
      </p:sp>
      <p:sp>
        <p:nvSpPr>
          <p:cNvPr id="20" name="Text 18"/>
          <p:cNvSpPr/>
          <p:nvPr/>
        </p:nvSpPr>
        <p:spPr>
          <a:xfrm>
            <a:off x="841248" y="4754880"/>
            <a:ext cx="10509199" cy="676656"/>
          </a:xfrm>
          <a:prstGeom prst="rect">
            <a:avLst/>
          </a:prstGeom>
          <a:noFill/>
          <a:ln/>
        </p:spPr>
        <p:txBody>
          <a:bodyPr wrap="square" lIns="0" tIns="0" rIns="0" bIns="0" rtlCol="0" anchor="ctr"/>
          <a:lstStyle/>
          <a:p>
            <a:pPr marL="0" indent="0">
              <a:buNone/>
            </a:pPr>
            <a:r>
              <a:rPr lang="en-US" sz="1250" dirty="0">
                <a:solidFill>
                  <a:srgbClr val="3B2EB8"/>
                </a:solidFill>
                <a:latin typeface="Calibri" pitchFamily="34" charset="0"/>
                <a:ea typeface="Calibri" pitchFamily="34" charset="-122"/>
                <a:cs typeface="Calibri" pitchFamily="34" charset="-120"/>
              </a:rPr>
              <a:t>Rule of thumb:  95% waiting on a socket → asyncio.   95% maxing a core → multiprocessing.   Almost all agent work is the first one.</a:t>
            </a:r>
            <a:endParaRPr lang="en-US" sz="1250" dirty="0"/>
          </a:p>
        </p:txBody>
      </p:sp>
      <p:sp>
        <p:nvSpPr>
          <p:cNvPr id="21" name="Shape 19"/>
          <p:cNvSpPr/>
          <p:nvPr/>
        </p:nvSpPr>
        <p:spPr>
          <a:xfrm>
            <a:off x="566928" y="5577840"/>
            <a:ext cx="11057839" cy="749808"/>
          </a:xfrm>
          <a:prstGeom prst="roundRect">
            <a:avLst>
              <a:gd name="adj" fmla="val 10976"/>
            </a:avLst>
          </a:prstGeom>
          <a:solidFill>
            <a:srgbClr val="FFF4E0"/>
          </a:solidFill>
          <a:ln w="12700">
            <a:solidFill>
              <a:srgbClr val="F3DCB0"/>
            </a:solidFill>
            <a:prstDash val="solid"/>
          </a:ln>
        </p:spPr>
        <p:txBody>
          <a:bodyPr/>
          <a:lstStyle/>
          <a:p>
            <a:endParaRPr lang="en-US"/>
          </a:p>
        </p:txBody>
      </p:sp>
      <p:sp>
        <p:nvSpPr>
          <p:cNvPr id="22" name="Shape 20"/>
          <p:cNvSpPr/>
          <p:nvPr/>
        </p:nvSpPr>
        <p:spPr>
          <a:xfrm>
            <a:off x="841248" y="5760720"/>
            <a:ext cx="384048" cy="384048"/>
          </a:xfrm>
          <a:prstGeom prst="ellipse">
            <a:avLst/>
          </a:prstGeom>
          <a:solidFill>
            <a:srgbClr val="F5A524"/>
          </a:solidFill>
          <a:ln w="12700">
            <a:solidFill>
              <a:srgbClr val="F5A524"/>
            </a:solidFill>
            <a:prstDash val="solid"/>
          </a:ln>
        </p:spPr>
        <p:txBody>
          <a:bodyPr/>
          <a:lstStyle/>
          <a:p>
            <a:endParaRPr lang="en-US"/>
          </a:p>
        </p:txBody>
      </p:sp>
      <p:pic>
        <p:nvPicPr>
          <p:cNvPr id="23" name="Image 0" descr="preencoded.png"/>
          <p:cNvPicPr>
            <a:picLocks noChangeAspect="1"/>
          </p:cNvPicPr>
          <p:nvPr/>
        </p:nvPicPr>
        <p:blipFill>
          <a:blip r:embed="rId3"/>
          <a:stretch>
            <a:fillRect/>
          </a:stretch>
        </p:blipFill>
        <p:spPr>
          <a:xfrm>
            <a:off x="937260" y="5856732"/>
            <a:ext cx="192024" cy="192024"/>
          </a:xfrm>
          <a:prstGeom prst="rect">
            <a:avLst/>
          </a:prstGeom>
        </p:spPr>
      </p:pic>
      <p:sp>
        <p:nvSpPr>
          <p:cNvPr id="24" name="Text 21"/>
          <p:cNvSpPr/>
          <p:nvPr/>
        </p:nvSpPr>
        <p:spPr>
          <a:xfrm>
            <a:off x="1371600" y="5632704"/>
            <a:ext cx="9960559" cy="640080"/>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If the bottleneck is somebody else's server, buying a bigger machine changes nothing.</a:t>
            </a:r>
            <a:endParaRPr lang="en-US" sz="10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08 · ASYNC AND CONCURRENCY</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3000" b="1" dirty="0">
                <a:solidFill>
                  <a:srgbClr val="141235"/>
                </a:solidFill>
                <a:latin typeface="Cambria" pitchFamily="34" charset="0"/>
                <a:ea typeface="Cambria" pitchFamily="34" charset="-122"/>
                <a:cs typeface="Cambria" pitchFamily="34" charset="-120"/>
              </a:rPr>
              <a:t>Two ways concurrency bites back</a:t>
            </a:r>
            <a:endParaRPr lang="en-US" sz="3000" dirty="0"/>
          </a:p>
        </p:txBody>
      </p:sp>
      <p:sp>
        <p:nvSpPr>
          <p:cNvPr id="4" name="Shape 2"/>
          <p:cNvSpPr/>
          <p:nvPr/>
        </p:nvSpPr>
        <p:spPr>
          <a:xfrm>
            <a:off x="566928" y="2745303"/>
            <a:ext cx="5410048" cy="1879458"/>
          </a:xfrm>
          <a:prstGeom prst="roundRect">
            <a:avLst>
              <a:gd name="adj" fmla="val 4379"/>
            </a:avLst>
          </a:prstGeom>
          <a:solidFill>
            <a:srgbClr val="FDECEC"/>
          </a:solidFill>
          <a:ln w="12700">
            <a:solidFill>
              <a:srgbClr val="F1C9C9"/>
            </a:solidFill>
            <a:prstDash val="solid"/>
          </a:ln>
          <a:effectLst>
            <a:outerShdw blurRad="114300" dist="572" dir="5400000" algn="bl" rotWithShape="0">
              <a:srgbClr val="1B1A4A">
                <a:alpha val="7000"/>
              </a:srgbClr>
            </a:outerShdw>
          </a:effectLst>
        </p:spPr>
        <p:txBody>
          <a:bodyPr/>
          <a:lstStyle/>
          <a:p>
            <a:endParaRPr lang="en-US"/>
          </a:p>
        </p:txBody>
      </p:sp>
      <p:sp>
        <p:nvSpPr>
          <p:cNvPr id="5" name="Shape 3"/>
          <p:cNvSpPr/>
          <p:nvPr/>
        </p:nvSpPr>
        <p:spPr>
          <a:xfrm>
            <a:off x="804672" y="2964759"/>
            <a:ext cx="365760" cy="365760"/>
          </a:xfrm>
          <a:prstGeom prst="ellipse">
            <a:avLst/>
          </a:prstGeom>
          <a:solidFill>
            <a:srgbClr val="D93A3F"/>
          </a:solidFill>
          <a:ln w="12700">
            <a:solidFill>
              <a:srgbClr val="D93A3F"/>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896112" y="3056199"/>
            <a:ext cx="182880" cy="182880"/>
          </a:xfrm>
          <a:prstGeom prst="rect">
            <a:avLst/>
          </a:prstGeom>
        </p:spPr>
      </p:pic>
      <p:sp>
        <p:nvSpPr>
          <p:cNvPr id="7" name="Text 4"/>
          <p:cNvSpPr/>
          <p:nvPr/>
        </p:nvSpPr>
        <p:spPr>
          <a:xfrm>
            <a:off x="1298448" y="2955615"/>
            <a:ext cx="4440784" cy="182880"/>
          </a:xfrm>
          <a:prstGeom prst="rect">
            <a:avLst/>
          </a:prstGeom>
          <a:noFill/>
          <a:ln/>
        </p:spPr>
        <p:txBody>
          <a:bodyPr wrap="square" lIns="0" tIns="0" rIns="0" bIns="0" rtlCol="0" anchor="ctr"/>
          <a:lstStyle/>
          <a:p>
            <a:pPr marL="0" indent="0">
              <a:buNone/>
            </a:pPr>
            <a:r>
              <a:rPr lang="en-US" sz="850" b="1" kern="0" spc="160" dirty="0">
                <a:solidFill>
                  <a:srgbClr val="D93A3F"/>
                </a:solidFill>
                <a:latin typeface="Calibri" pitchFamily="34" charset="0"/>
                <a:ea typeface="Calibri" pitchFamily="34" charset="-122"/>
                <a:cs typeface="Calibri" pitchFamily="34" charset="-120"/>
              </a:rPr>
              <a:t>BITE 1</a:t>
            </a:r>
            <a:endParaRPr lang="en-US" sz="850" dirty="0"/>
          </a:p>
        </p:txBody>
      </p:sp>
      <p:sp>
        <p:nvSpPr>
          <p:cNvPr id="8" name="Text 5"/>
          <p:cNvSpPr/>
          <p:nvPr/>
        </p:nvSpPr>
        <p:spPr>
          <a:xfrm>
            <a:off x="1298448" y="3175071"/>
            <a:ext cx="4440784" cy="370698"/>
          </a:xfrm>
          <a:prstGeom prst="rect">
            <a:avLst/>
          </a:prstGeom>
          <a:noFill/>
          <a:ln/>
        </p:spPr>
        <p:txBody>
          <a:bodyPr wrap="square" lIns="0" tIns="0" rIns="0" bIns="0" rtlCol="0" anchor="t"/>
          <a:lstStyle/>
          <a:p>
            <a:pPr marL="0" indent="0">
              <a:lnSpc>
                <a:spcPct val="105000"/>
              </a:lnSpc>
              <a:buNone/>
            </a:pPr>
            <a:r>
              <a:rPr lang="en-US" sz="1650" b="1" dirty="0">
                <a:solidFill>
                  <a:srgbClr val="141235"/>
                </a:solidFill>
                <a:latin typeface="Calibri" pitchFamily="34" charset="0"/>
                <a:ea typeface="Calibri" pitchFamily="34" charset="-122"/>
                <a:cs typeface="Calibri" pitchFamily="34" charset="-120"/>
              </a:rPr>
              <a:t>The domino error</a:t>
            </a:r>
            <a:endParaRPr lang="en-US" sz="1650" dirty="0"/>
          </a:p>
        </p:txBody>
      </p:sp>
      <p:sp>
        <p:nvSpPr>
          <p:cNvPr id="9" name="Text 6"/>
          <p:cNvSpPr/>
          <p:nvPr/>
        </p:nvSpPr>
        <p:spPr>
          <a:xfrm>
            <a:off x="1298448" y="3554913"/>
            <a:ext cx="4440784" cy="886968"/>
          </a:xfrm>
          <a:prstGeom prst="rect">
            <a:avLst/>
          </a:prstGeom>
          <a:noFill/>
          <a:ln/>
        </p:spPr>
        <p:txBody>
          <a:bodyPr wrap="square" lIns="0" tIns="0" rIns="0" bIns="0" rtlCol="0" anchor="t"/>
          <a:lstStyle/>
          <a:p>
            <a:pPr marL="0" indent="0">
              <a:lnSpc>
                <a:spcPct val="113000"/>
              </a:lnSpc>
              <a:buNone/>
            </a:pPr>
            <a:r>
              <a:rPr lang="en-US" sz="1250" dirty="0">
                <a:solidFill>
                  <a:srgbClr val="6E6B8A"/>
                </a:solidFill>
                <a:latin typeface="Calibri" pitchFamily="34" charset="0"/>
                <a:ea typeface="Calibri" pitchFamily="34" charset="-122"/>
                <a:cs typeface="Calibri" pitchFamily="34" charset="-120"/>
              </a:rPr>
              <a:t>One unhandled failure takes down access to every other result — including the ones that succeeded and that you already paid for. Gather with return_exceptions and handle each result on its own merits.</a:t>
            </a:r>
            <a:endParaRPr lang="en-US" sz="1250" dirty="0"/>
          </a:p>
        </p:txBody>
      </p:sp>
      <p:sp>
        <p:nvSpPr>
          <p:cNvPr id="10" name="Shape 7"/>
          <p:cNvSpPr/>
          <p:nvPr/>
        </p:nvSpPr>
        <p:spPr>
          <a:xfrm>
            <a:off x="6214720" y="2745303"/>
            <a:ext cx="5410048" cy="1879458"/>
          </a:xfrm>
          <a:prstGeom prst="roundRect">
            <a:avLst>
              <a:gd name="adj" fmla="val 4379"/>
            </a:avLst>
          </a:prstGeom>
          <a:solidFill>
            <a:srgbClr val="FDECEC"/>
          </a:solidFill>
          <a:ln w="12700">
            <a:solidFill>
              <a:srgbClr val="F1C9C9"/>
            </a:solidFill>
            <a:prstDash val="solid"/>
          </a:ln>
          <a:effectLst>
            <a:outerShdw blurRad="114300" dist="572" dir="5400000" algn="bl" rotWithShape="0">
              <a:srgbClr val="1B1A4A">
                <a:alpha val="7000"/>
              </a:srgbClr>
            </a:outerShdw>
          </a:effectLst>
        </p:spPr>
        <p:txBody>
          <a:bodyPr/>
          <a:lstStyle/>
          <a:p>
            <a:endParaRPr lang="en-US"/>
          </a:p>
        </p:txBody>
      </p:sp>
      <p:sp>
        <p:nvSpPr>
          <p:cNvPr id="11" name="Shape 8"/>
          <p:cNvSpPr/>
          <p:nvPr/>
        </p:nvSpPr>
        <p:spPr>
          <a:xfrm>
            <a:off x="6452464" y="2964759"/>
            <a:ext cx="365760" cy="365760"/>
          </a:xfrm>
          <a:prstGeom prst="ellipse">
            <a:avLst/>
          </a:prstGeom>
          <a:solidFill>
            <a:srgbClr val="D93A3F"/>
          </a:solidFill>
          <a:ln w="12700">
            <a:solidFill>
              <a:srgbClr val="D93A3F"/>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6543904" y="3056199"/>
            <a:ext cx="182880" cy="182880"/>
          </a:xfrm>
          <a:prstGeom prst="rect">
            <a:avLst/>
          </a:prstGeom>
        </p:spPr>
      </p:pic>
      <p:sp>
        <p:nvSpPr>
          <p:cNvPr id="13" name="Text 9"/>
          <p:cNvSpPr/>
          <p:nvPr/>
        </p:nvSpPr>
        <p:spPr>
          <a:xfrm>
            <a:off x="6946240" y="2955615"/>
            <a:ext cx="4440784" cy="182880"/>
          </a:xfrm>
          <a:prstGeom prst="rect">
            <a:avLst/>
          </a:prstGeom>
          <a:noFill/>
          <a:ln/>
        </p:spPr>
        <p:txBody>
          <a:bodyPr wrap="square" lIns="0" tIns="0" rIns="0" bIns="0" rtlCol="0" anchor="ctr"/>
          <a:lstStyle/>
          <a:p>
            <a:pPr marL="0" indent="0">
              <a:buNone/>
            </a:pPr>
            <a:r>
              <a:rPr lang="en-US" sz="850" b="1" kern="0" spc="160" dirty="0">
                <a:solidFill>
                  <a:srgbClr val="D93A3F"/>
                </a:solidFill>
                <a:latin typeface="Calibri" pitchFamily="34" charset="0"/>
                <a:ea typeface="Calibri" pitchFamily="34" charset="-122"/>
                <a:cs typeface="Calibri" pitchFamily="34" charset="-120"/>
              </a:rPr>
              <a:t>BITE 2</a:t>
            </a:r>
            <a:endParaRPr lang="en-US" sz="850" dirty="0"/>
          </a:p>
        </p:txBody>
      </p:sp>
      <p:sp>
        <p:nvSpPr>
          <p:cNvPr id="14" name="Text 10"/>
          <p:cNvSpPr/>
          <p:nvPr/>
        </p:nvSpPr>
        <p:spPr>
          <a:xfrm>
            <a:off x="6946240" y="3175071"/>
            <a:ext cx="4440784" cy="370698"/>
          </a:xfrm>
          <a:prstGeom prst="rect">
            <a:avLst/>
          </a:prstGeom>
          <a:noFill/>
          <a:ln/>
        </p:spPr>
        <p:txBody>
          <a:bodyPr wrap="square" lIns="0" tIns="0" rIns="0" bIns="0" rtlCol="0" anchor="t"/>
          <a:lstStyle/>
          <a:p>
            <a:pPr marL="0" indent="0">
              <a:lnSpc>
                <a:spcPct val="105000"/>
              </a:lnSpc>
              <a:buNone/>
            </a:pPr>
            <a:r>
              <a:rPr lang="en-US" sz="1650" b="1" dirty="0">
                <a:solidFill>
                  <a:srgbClr val="141235"/>
                </a:solidFill>
                <a:latin typeface="Calibri" pitchFamily="34" charset="0"/>
                <a:ea typeface="Calibri" pitchFamily="34" charset="-122"/>
                <a:cs typeface="Calibri" pitchFamily="34" charset="-120"/>
              </a:rPr>
              <a:t>Rate limiting</a:t>
            </a:r>
            <a:endParaRPr lang="en-US" sz="1650" dirty="0"/>
          </a:p>
        </p:txBody>
      </p:sp>
      <p:sp>
        <p:nvSpPr>
          <p:cNvPr id="15" name="Text 11"/>
          <p:cNvSpPr/>
          <p:nvPr/>
        </p:nvSpPr>
        <p:spPr>
          <a:xfrm>
            <a:off x="6946240" y="3554913"/>
            <a:ext cx="4440784" cy="886968"/>
          </a:xfrm>
          <a:prstGeom prst="rect">
            <a:avLst/>
          </a:prstGeom>
          <a:noFill/>
          <a:ln/>
        </p:spPr>
        <p:txBody>
          <a:bodyPr wrap="square" lIns="0" tIns="0" rIns="0" bIns="0" rtlCol="0" anchor="t"/>
          <a:lstStyle/>
          <a:p>
            <a:pPr marL="0" indent="0">
              <a:lnSpc>
                <a:spcPct val="113000"/>
              </a:lnSpc>
              <a:buNone/>
            </a:pPr>
            <a:r>
              <a:rPr lang="en-US" sz="1250" dirty="0">
                <a:solidFill>
                  <a:srgbClr val="6E6B8A"/>
                </a:solidFill>
                <a:latin typeface="Calibri" pitchFamily="34" charset="0"/>
                <a:ea typeface="Calibri" pitchFamily="34" charset="-122"/>
                <a:cs typeface="Calibri" pitchFamily="34" charset="-120"/>
              </a:rPr>
              <a:t>Fire a hundred calls at once and you earn a wall of rejections, then a retry storm on top of it. Bound the concurrency with a semaphore. Faster is not the same as more at once.</a:t>
            </a:r>
            <a:endParaRPr lang="en-US" sz="1250" dirty="0"/>
          </a:p>
        </p:txBody>
      </p:sp>
      <p:sp>
        <p:nvSpPr>
          <p:cNvPr id="16" name="Shape 12"/>
          <p:cNvSpPr/>
          <p:nvPr/>
        </p:nvSpPr>
        <p:spPr>
          <a:xfrm>
            <a:off x="566928" y="5541264"/>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17" name="Shape 13"/>
          <p:cNvSpPr/>
          <p:nvPr/>
        </p:nvSpPr>
        <p:spPr>
          <a:xfrm>
            <a:off x="841248" y="5760720"/>
            <a:ext cx="384048" cy="384048"/>
          </a:xfrm>
          <a:prstGeom prst="ellipse">
            <a:avLst/>
          </a:prstGeom>
          <a:solidFill>
            <a:srgbClr val="F5A524"/>
          </a:solidFill>
          <a:ln w="12700">
            <a:solidFill>
              <a:srgbClr val="F5A524"/>
            </a:solidFill>
            <a:prstDash val="solid"/>
          </a:ln>
        </p:spPr>
        <p:txBody>
          <a:bodyPr/>
          <a:lstStyle/>
          <a:p>
            <a:endParaRPr lang="en-US"/>
          </a:p>
        </p:txBody>
      </p:sp>
      <p:pic>
        <p:nvPicPr>
          <p:cNvPr id="18" name="Image 2" descr="preencoded.png"/>
          <p:cNvPicPr>
            <a:picLocks noChangeAspect="1"/>
          </p:cNvPicPr>
          <p:nvPr/>
        </p:nvPicPr>
        <p:blipFill>
          <a:blip r:embed="rId5"/>
          <a:stretch>
            <a:fillRect/>
          </a:stretch>
        </p:blipFill>
        <p:spPr>
          <a:xfrm>
            <a:off x="937260" y="5856732"/>
            <a:ext cx="192024" cy="192024"/>
          </a:xfrm>
          <a:prstGeom prst="rect">
            <a:avLst/>
          </a:prstGeom>
        </p:spPr>
      </p:pic>
      <p:sp>
        <p:nvSpPr>
          <p:cNvPr id="19" name="Text 14"/>
          <p:cNvSpPr/>
          <p:nvPr/>
        </p:nvSpPr>
        <p:spPr>
          <a:xfrm>
            <a:off x="1371600" y="5596128"/>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Doing everything at once is not free. One thing failing should not lose you the nine that worked, and nobody's API will let you sprint indefinitely.</a:t>
            </a:r>
            <a:endParaRPr lang="en-US" sz="10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0B0A22"/>
        </a:solidFill>
        <a:effectLst/>
      </p:bgPr>
    </p:bg>
    <p:spTree>
      <p:nvGrpSpPr>
        <p:cNvPr id="1" name=""/>
        <p:cNvGrpSpPr/>
        <p:nvPr/>
      </p:nvGrpSpPr>
      <p:grpSpPr>
        <a:xfrm>
          <a:off x="0" y="0"/>
          <a:ext cx="0" cy="0"/>
          <a:chOff x="0" y="0"/>
          <a:chExt cx="0" cy="0"/>
        </a:xfrm>
      </p:grpSpPr>
      <p:pic>
        <p:nvPicPr>
          <p:cNvPr id="2" name="Image 0" descr="/home/claude/work/bg_dark.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6126480" y="1234440"/>
            <a:ext cx="5486400" cy="2743200"/>
          </a:xfrm>
          <a:prstGeom prst="rect">
            <a:avLst/>
          </a:prstGeom>
          <a:noFill/>
          <a:ln/>
        </p:spPr>
        <p:txBody>
          <a:bodyPr wrap="square" lIns="0" tIns="0" rIns="0" bIns="0" rtlCol="0" anchor="ctr"/>
          <a:lstStyle/>
          <a:p>
            <a:pPr marL="0" indent="0" algn="r">
              <a:buNone/>
            </a:pPr>
            <a:r>
              <a:rPr lang="en-US" sz="17600" b="1" dirty="0">
                <a:solidFill>
                  <a:srgbClr val="5B4BE8">
                    <a:alpha val="30000"/>
                  </a:srgbClr>
                </a:solidFill>
                <a:latin typeface="Cambria" pitchFamily="34" charset="0"/>
                <a:ea typeface="Cambria" pitchFamily="34" charset="-122"/>
                <a:cs typeface="Cambria" pitchFamily="34" charset="-120"/>
              </a:rPr>
              <a:t>09</a:t>
            </a:r>
            <a:endParaRPr lang="en-US" sz="17600" dirty="0"/>
          </a:p>
        </p:txBody>
      </p:sp>
      <p:sp>
        <p:nvSpPr>
          <p:cNvPr id="4" name="Shape 1"/>
          <p:cNvSpPr/>
          <p:nvPr/>
        </p:nvSpPr>
        <p:spPr>
          <a:xfrm>
            <a:off x="566928" y="2084832"/>
            <a:ext cx="566928" cy="566928"/>
          </a:xfrm>
          <a:prstGeom prst="ellipse">
            <a:avLst/>
          </a:prstGeom>
          <a:solidFill>
            <a:srgbClr val="F5A524"/>
          </a:solidFill>
          <a:ln w="12700">
            <a:solidFill>
              <a:srgbClr val="F5A524"/>
            </a:solidFill>
            <a:prstDash val="solid"/>
          </a:ln>
        </p:spPr>
        <p:txBody>
          <a:bodyPr/>
          <a:lstStyle/>
          <a:p>
            <a:endParaRPr lang="en-US"/>
          </a:p>
        </p:txBody>
      </p:sp>
      <p:pic>
        <p:nvPicPr>
          <p:cNvPr id="5" name="Image 1" descr="preencoded.png"/>
          <p:cNvPicPr>
            <a:picLocks noChangeAspect="1"/>
          </p:cNvPicPr>
          <p:nvPr/>
        </p:nvPicPr>
        <p:blipFill>
          <a:blip r:embed="rId4"/>
          <a:stretch>
            <a:fillRect/>
          </a:stretch>
        </p:blipFill>
        <p:spPr>
          <a:xfrm>
            <a:off x="708660" y="2226564"/>
            <a:ext cx="283464" cy="283464"/>
          </a:xfrm>
          <a:prstGeom prst="rect">
            <a:avLst/>
          </a:prstGeom>
        </p:spPr>
      </p:pic>
      <p:sp>
        <p:nvSpPr>
          <p:cNvPr id="6" name="Text 2"/>
          <p:cNvSpPr/>
          <p:nvPr/>
        </p:nvSpPr>
        <p:spPr>
          <a:xfrm>
            <a:off x="566928" y="2852928"/>
            <a:ext cx="7315200" cy="256032"/>
          </a:xfrm>
          <a:prstGeom prst="rect">
            <a:avLst/>
          </a:prstGeom>
          <a:noFill/>
          <a:ln/>
        </p:spPr>
        <p:txBody>
          <a:bodyPr wrap="square" lIns="0" tIns="0" rIns="0" bIns="0" rtlCol="0" anchor="ctr"/>
          <a:lstStyle/>
          <a:p>
            <a:pPr marL="0" indent="0">
              <a:buNone/>
            </a:pPr>
            <a:r>
              <a:rPr lang="en-US" sz="1100" b="1" kern="0" spc="240" dirty="0">
                <a:solidFill>
                  <a:srgbClr val="F5A524"/>
                </a:solidFill>
                <a:latin typeface="Calibri" pitchFamily="34" charset="0"/>
                <a:ea typeface="Calibri" pitchFamily="34" charset="-122"/>
                <a:cs typeface="Calibri" pitchFamily="34" charset="-120"/>
              </a:rPr>
              <a:t>MODULE 09</a:t>
            </a:r>
            <a:endParaRPr lang="en-US" sz="1100" dirty="0"/>
          </a:p>
        </p:txBody>
      </p:sp>
      <p:sp>
        <p:nvSpPr>
          <p:cNvPr id="7" name="Text 3"/>
          <p:cNvSpPr/>
          <p:nvPr/>
        </p:nvSpPr>
        <p:spPr>
          <a:xfrm>
            <a:off x="566928" y="3145536"/>
            <a:ext cx="8595360" cy="914400"/>
          </a:xfrm>
          <a:prstGeom prst="rect">
            <a:avLst/>
          </a:prstGeom>
          <a:noFill/>
          <a:ln/>
        </p:spPr>
        <p:txBody>
          <a:bodyPr wrap="square" lIns="0" tIns="0" rIns="0" bIns="0" rtlCol="0" anchor="t"/>
          <a:lstStyle/>
          <a:p>
            <a:pPr marL="0" indent="0">
              <a:buNone/>
            </a:pPr>
            <a:r>
              <a:rPr lang="en-US" sz="4600" b="1" dirty="0">
                <a:solidFill>
                  <a:srgbClr val="FFFFFF"/>
                </a:solidFill>
                <a:latin typeface="Cambria" pitchFamily="34" charset="0"/>
                <a:ea typeface="Cambria" pitchFamily="34" charset="-122"/>
                <a:cs typeface="Cambria" pitchFamily="34" charset="-120"/>
              </a:rPr>
              <a:t>The framework ladder</a:t>
            </a:r>
            <a:endParaRPr lang="en-US" sz="4600" dirty="0"/>
          </a:p>
        </p:txBody>
      </p:sp>
      <p:sp>
        <p:nvSpPr>
          <p:cNvPr id="8" name="Text 4"/>
          <p:cNvSpPr/>
          <p:nvPr/>
        </p:nvSpPr>
        <p:spPr>
          <a:xfrm>
            <a:off x="566928" y="4169664"/>
            <a:ext cx="7863840" cy="731520"/>
          </a:xfrm>
          <a:prstGeom prst="rect">
            <a:avLst/>
          </a:prstGeom>
          <a:noFill/>
          <a:ln/>
        </p:spPr>
        <p:txBody>
          <a:bodyPr wrap="square" lIns="0" tIns="0" rIns="0" bIns="0" rtlCol="0" anchor="t"/>
          <a:lstStyle/>
          <a:p>
            <a:pPr marL="0" indent="0">
              <a:lnSpc>
                <a:spcPct val="120000"/>
              </a:lnSpc>
              <a:buNone/>
            </a:pPr>
            <a:r>
              <a:rPr lang="en-US" sz="1600" dirty="0">
                <a:solidFill>
                  <a:srgbClr val="B9B4E0"/>
                </a:solidFill>
                <a:latin typeface="Calibri" pitchFamily="34" charset="0"/>
                <a:ea typeface="Calibri" pitchFamily="34" charset="-122"/>
                <a:cs typeface="Calibri" pitchFamily="34" charset="-120"/>
              </a:rPr>
              <a:t>The same agent, rebuilt at five levels of abstraction. Same task, same tools.</a:t>
            </a:r>
            <a:endParaRPr lang="en-US" sz="16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09 · THE FRAMEWORK LADDER</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3000" b="1" dirty="0">
                <a:solidFill>
                  <a:srgbClr val="141235"/>
                </a:solidFill>
                <a:latin typeface="Cambria" pitchFamily="34" charset="0"/>
                <a:ea typeface="Cambria" pitchFamily="34" charset="-122"/>
                <a:cs typeface="Cambria" pitchFamily="34" charset="-120"/>
              </a:rPr>
              <a:t>Same task, same tools, five levels of control</a:t>
            </a:r>
            <a:endParaRPr lang="en-US" sz="3000" dirty="0"/>
          </a:p>
        </p:txBody>
      </p:sp>
      <p:sp>
        <p:nvSpPr>
          <p:cNvPr id="4" name="Text 2"/>
          <p:cNvSpPr/>
          <p:nvPr/>
        </p:nvSpPr>
        <p:spPr>
          <a:xfrm>
            <a:off x="768096" y="1828800"/>
            <a:ext cx="1463040" cy="256032"/>
          </a:xfrm>
          <a:prstGeom prst="rect">
            <a:avLst/>
          </a:prstGeom>
          <a:noFill/>
          <a:ln/>
        </p:spPr>
        <p:txBody>
          <a:bodyPr wrap="square" lIns="0" tIns="0" rIns="0" bIns="0" rtlCol="0" anchor="ctr"/>
          <a:lstStyle/>
          <a:p>
            <a:pPr marL="0" indent="0">
              <a:buNone/>
            </a:pPr>
            <a:r>
              <a:rPr lang="en-US" sz="950" b="1" kern="0" spc="160" dirty="0">
                <a:solidFill>
                  <a:srgbClr val="9B98B4"/>
                </a:solidFill>
                <a:latin typeface="Calibri" pitchFamily="34" charset="0"/>
                <a:ea typeface="Calibri" pitchFamily="34" charset="-122"/>
                <a:cs typeface="Calibri" pitchFamily="34" charset="-120"/>
              </a:rPr>
              <a:t>TIER</a:t>
            </a:r>
            <a:endParaRPr lang="en-US" sz="950" dirty="0"/>
          </a:p>
        </p:txBody>
      </p:sp>
      <p:sp>
        <p:nvSpPr>
          <p:cNvPr id="5" name="Text 3"/>
          <p:cNvSpPr/>
          <p:nvPr/>
        </p:nvSpPr>
        <p:spPr>
          <a:xfrm>
            <a:off x="2505456" y="1828800"/>
            <a:ext cx="2194560" cy="256032"/>
          </a:xfrm>
          <a:prstGeom prst="rect">
            <a:avLst/>
          </a:prstGeom>
          <a:noFill/>
          <a:ln/>
        </p:spPr>
        <p:txBody>
          <a:bodyPr wrap="square" lIns="0" tIns="0" rIns="0" bIns="0" rtlCol="0" anchor="ctr"/>
          <a:lstStyle/>
          <a:p>
            <a:pPr marL="0" indent="0">
              <a:buNone/>
            </a:pPr>
            <a:r>
              <a:rPr lang="en-US" sz="950" b="1" kern="0" spc="160" dirty="0">
                <a:solidFill>
                  <a:srgbClr val="9B98B4"/>
                </a:solidFill>
                <a:latin typeface="Calibri" pitchFamily="34" charset="0"/>
                <a:ea typeface="Calibri" pitchFamily="34" charset="-122"/>
                <a:cs typeface="Calibri" pitchFamily="34" charset="-120"/>
              </a:rPr>
              <a:t>WHAT IT IS</a:t>
            </a:r>
            <a:endParaRPr lang="en-US" sz="950" dirty="0"/>
          </a:p>
        </p:txBody>
      </p:sp>
      <p:sp>
        <p:nvSpPr>
          <p:cNvPr id="6" name="Text 4"/>
          <p:cNvSpPr/>
          <p:nvPr/>
        </p:nvSpPr>
        <p:spPr>
          <a:xfrm>
            <a:off x="4974336" y="1828800"/>
            <a:ext cx="2377440" cy="256032"/>
          </a:xfrm>
          <a:prstGeom prst="rect">
            <a:avLst/>
          </a:prstGeom>
          <a:noFill/>
          <a:ln/>
        </p:spPr>
        <p:txBody>
          <a:bodyPr wrap="square" lIns="0" tIns="0" rIns="0" bIns="0" rtlCol="0" anchor="ctr"/>
          <a:lstStyle/>
          <a:p>
            <a:pPr marL="0" indent="0">
              <a:buNone/>
            </a:pPr>
            <a:r>
              <a:rPr lang="en-US" sz="950" b="1" kern="0" spc="160" dirty="0">
                <a:solidFill>
                  <a:srgbClr val="9B98B4"/>
                </a:solidFill>
                <a:latin typeface="Calibri" pitchFamily="34" charset="0"/>
                <a:ea typeface="Calibri" pitchFamily="34" charset="-122"/>
                <a:cs typeface="Calibri" pitchFamily="34" charset="-120"/>
              </a:rPr>
              <a:t>YOU WRITE</a:t>
            </a:r>
            <a:endParaRPr lang="en-US" sz="950" dirty="0"/>
          </a:p>
        </p:txBody>
      </p:sp>
      <p:sp>
        <p:nvSpPr>
          <p:cNvPr id="7" name="Text 5"/>
          <p:cNvSpPr/>
          <p:nvPr/>
        </p:nvSpPr>
        <p:spPr>
          <a:xfrm>
            <a:off x="7626096" y="1828800"/>
            <a:ext cx="2194560" cy="256032"/>
          </a:xfrm>
          <a:prstGeom prst="rect">
            <a:avLst/>
          </a:prstGeom>
          <a:noFill/>
          <a:ln/>
        </p:spPr>
        <p:txBody>
          <a:bodyPr wrap="square" lIns="0" tIns="0" rIns="0" bIns="0" rtlCol="0" anchor="ctr"/>
          <a:lstStyle/>
          <a:p>
            <a:pPr marL="0" indent="0">
              <a:buNone/>
            </a:pPr>
            <a:r>
              <a:rPr lang="en-US" sz="950" b="1" kern="0" spc="160" dirty="0">
                <a:solidFill>
                  <a:srgbClr val="9B98B4"/>
                </a:solidFill>
                <a:latin typeface="Calibri" pitchFamily="34" charset="0"/>
                <a:ea typeface="Calibri" pitchFamily="34" charset="-122"/>
                <a:cs typeface="Calibri" pitchFamily="34" charset="-120"/>
              </a:rPr>
              <a:t>YOU GIVE UP</a:t>
            </a:r>
            <a:endParaRPr lang="en-US" sz="950" dirty="0"/>
          </a:p>
        </p:txBody>
      </p:sp>
      <p:sp>
        <p:nvSpPr>
          <p:cNvPr id="8" name="Text 6"/>
          <p:cNvSpPr/>
          <p:nvPr/>
        </p:nvSpPr>
        <p:spPr>
          <a:xfrm>
            <a:off x="10094976" y="1828800"/>
            <a:ext cx="1463040" cy="256032"/>
          </a:xfrm>
          <a:prstGeom prst="rect">
            <a:avLst/>
          </a:prstGeom>
          <a:noFill/>
          <a:ln/>
        </p:spPr>
        <p:txBody>
          <a:bodyPr wrap="square" lIns="0" tIns="0" rIns="0" bIns="0" rtlCol="0" anchor="ctr"/>
          <a:lstStyle/>
          <a:p>
            <a:pPr marL="0" indent="0">
              <a:buNone/>
            </a:pPr>
            <a:r>
              <a:rPr lang="en-US" sz="950" b="1" kern="0" spc="160" dirty="0">
                <a:solidFill>
                  <a:srgbClr val="9B98B4"/>
                </a:solidFill>
                <a:latin typeface="Calibri" pitchFamily="34" charset="0"/>
                <a:ea typeface="Calibri" pitchFamily="34" charset="-122"/>
                <a:cs typeface="Calibri" pitchFamily="34" charset="-120"/>
              </a:rPr>
              <a:t>PORTABLE?</a:t>
            </a:r>
            <a:endParaRPr lang="en-US" sz="950" dirty="0"/>
          </a:p>
        </p:txBody>
      </p:sp>
      <p:sp>
        <p:nvSpPr>
          <p:cNvPr id="9" name="Shape 7"/>
          <p:cNvSpPr/>
          <p:nvPr/>
        </p:nvSpPr>
        <p:spPr>
          <a:xfrm>
            <a:off x="566928" y="2157984"/>
            <a:ext cx="11057839" cy="585216"/>
          </a:xfrm>
          <a:prstGeom prst="roundRect">
            <a:avLst>
              <a:gd name="adj" fmla="val 10938"/>
            </a:avLst>
          </a:prstGeom>
          <a:solidFill>
            <a:srgbClr val="FFFFFF"/>
          </a:solidFill>
          <a:ln w="12700">
            <a:solidFill>
              <a:srgbClr val="E3E4F2"/>
            </a:solidFill>
            <a:prstDash val="solid"/>
          </a:ln>
          <a:effectLst>
            <a:outerShdw blurRad="88900" dist="445" dir="5400000" algn="bl" rotWithShape="0">
              <a:srgbClr val="1B1A4A">
                <a:alpha val="6000"/>
              </a:srgbClr>
            </a:outerShdw>
          </a:effectLst>
        </p:spPr>
        <p:txBody>
          <a:bodyPr/>
          <a:lstStyle/>
          <a:p>
            <a:endParaRPr lang="en-US"/>
          </a:p>
        </p:txBody>
      </p:sp>
      <p:sp>
        <p:nvSpPr>
          <p:cNvPr id="10" name="Text 8"/>
          <p:cNvSpPr/>
          <p:nvPr/>
        </p:nvSpPr>
        <p:spPr>
          <a:xfrm>
            <a:off x="768096" y="2157984"/>
            <a:ext cx="1463040" cy="585216"/>
          </a:xfrm>
          <a:prstGeom prst="rect">
            <a:avLst/>
          </a:prstGeom>
          <a:noFill/>
          <a:ln/>
        </p:spPr>
        <p:txBody>
          <a:bodyPr wrap="square" lIns="0" tIns="0" rIns="0" bIns="0" rtlCol="0" anchor="ctr"/>
          <a:lstStyle/>
          <a:p>
            <a:pPr marL="0" indent="0">
              <a:buNone/>
            </a:pPr>
            <a:r>
              <a:rPr lang="en-US" sz="1200" b="1" dirty="0">
                <a:solidFill>
                  <a:srgbClr val="5B4BE8"/>
                </a:solidFill>
                <a:latin typeface="Calibri" pitchFamily="34" charset="0"/>
                <a:ea typeface="Calibri" pitchFamily="34" charset="-122"/>
                <a:cs typeface="Calibri" pitchFamily="34" charset="-120"/>
              </a:rPr>
              <a:t>0 · No framework</a:t>
            </a:r>
            <a:endParaRPr lang="en-US" sz="1200" dirty="0"/>
          </a:p>
        </p:txBody>
      </p:sp>
      <p:sp>
        <p:nvSpPr>
          <p:cNvPr id="11" name="Text 9"/>
          <p:cNvSpPr/>
          <p:nvPr/>
        </p:nvSpPr>
        <p:spPr>
          <a:xfrm>
            <a:off x="2505456" y="2157984"/>
            <a:ext cx="2194560" cy="585216"/>
          </a:xfrm>
          <a:prstGeom prst="rect">
            <a:avLst/>
          </a:prstGeom>
          <a:noFill/>
          <a:ln/>
        </p:spPr>
        <p:txBody>
          <a:bodyPr wrap="square" lIns="0" tIns="0" rIns="0" bIns="0" rtlCol="0" anchor="ctr"/>
          <a:lstStyle/>
          <a:p>
            <a:pPr marL="0" indent="0">
              <a:buNone/>
            </a:pPr>
            <a:r>
              <a:rPr lang="en-US" sz="1150" dirty="0">
                <a:solidFill>
                  <a:srgbClr val="141235"/>
                </a:solidFill>
                <a:latin typeface="Calibri" pitchFamily="34" charset="0"/>
                <a:ea typeface="Calibri" pitchFamily="34" charset="-122"/>
                <a:cs typeface="Calibri" pitchFamily="34" charset="-120"/>
              </a:rPr>
              <a:t>Your own loop</a:t>
            </a:r>
            <a:endParaRPr lang="en-US" sz="1150" dirty="0"/>
          </a:p>
        </p:txBody>
      </p:sp>
      <p:sp>
        <p:nvSpPr>
          <p:cNvPr id="12" name="Text 10"/>
          <p:cNvSpPr/>
          <p:nvPr/>
        </p:nvSpPr>
        <p:spPr>
          <a:xfrm>
            <a:off x="4974336" y="2157984"/>
            <a:ext cx="2377440" cy="585216"/>
          </a:xfrm>
          <a:prstGeom prst="rect">
            <a:avLst/>
          </a:prstGeom>
          <a:noFill/>
          <a:ln/>
        </p:spPr>
        <p:txBody>
          <a:bodyPr wrap="square" lIns="0" tIns="0" rIns="0" bIns="0" rtlCol="0" anchor="ctr"/>
          <a:lstStyle/>
          <a:p>
            <a:pPr marL="0" indent="0">
              <a:buNone/>
            </a:pPr>
            <a:r>
              <a:rPr lang="en-US" sz="1150" dirty="0">
                <a:solidFill>
                  <a:srgbClr val="141235"/>
                </a:solidFill>
                <a:latin typeface="Calibri" pitchFamily="34" charset="0"/>
                <a:ea typeface="Calibri" pitchFamily="34" charset="-122"/>
                <a:cs typeface="Calibri" pitchFamily="34" charset="-120"/>
              </a:rPr>
              <a:t>State, retries, dispatch</a:t>
            </a:r>
            <a:endParaRPr lang="en-US" sz="1150" dirty="0"/>
          </a:p>
        </p:txBody>
      </p:sp>
      <p:sp>
        <p:nvSpPr>
          <p:cNvPr id="13" name="Text 11"/>
          <p:cNvSpPr/>
          <p:nvPr/>
        </p:nvSpPr>
        <p:spPr>
          <a:xfrm>
            <a:off x="7626096" y="2157984"/>
            <a:ext cx="2194560" cy="585216"/>
          </a:xfrm>
          <a:prstGeom prst="rect">
            <a:avLst/>
          </a:prstGeom>
          <a:noFill/>
          <a:ln/>
        </p:spPr>
        <p:txBody>
          <a:bodyPr wrap="square" lIns="0" tIns="0" rIns="0" bIns="0" rtlCol="0" anchor="ctr"/>
          <a:lstStyle/>
          <a:p>
            <a:pPr marL="0" indent="0">
              <a:buNone/>
            </a:pPr>
            <a:r>
              <a:rPr lang="en-US" sz="1150" dirty="0">
                <a:solidFill>
                  <a:srgbClr val="141235"/>
                </a:solidFill>
                <a:latin typeface="Calibri" pitchFamily="34" charset="0"/>
                <a:ea typeface="Calibri" pitchFamily="34" charset="-122"/>
                <a:cs typeface="Calibri" pitchFamily="34" charset="-120"/>
              </a:rPr>
              <a:t>Nothing — you own every failure</a:t>
            </a:r>
            <a:endParaRPr lang="en-US" sz="1150" dirty="0"/>
          </a:p>
        </p:txBody>
      </p:sp>
      <p:sp>
        <p:nvSpPr>
          <p:cNvPr id="14" name="Text 12"/>
          <p:cNvSpPr/>
          <p:nvPr/>
        </p:nvSpPr>
        <p:spPr>
          <a:xfrm>
            <a:off x="10094976" y="2157984"/>
            <a:ext cx="1463040" cy="585216"/>
          </a:xfrm>
          <a:prstGeom prst="rect">
            <a:avLst/>
          </a:prstGeom>
          <a:noFill/>
          <a:ln/>
        </p:spPr>
        <p:txBody>
          <a:bodyPr wrap="square" lIns="0" tIns="0" rIns="0" bIns="0" rtlCol="0" anchor="ctr"/>
          <a:lstStyle/>
          <a:p>
            <a:pPr marL="0" indent="0">
              <a:buNone/>
            </a:pPr>
            <a:r>
              <a:rPr lang="en-US" sz="1150" dirty="0">
                <a:solidFill>
                  <a:srgbClr val="0E9F6E"/>
                </a:solidFill>
                <a:latin typeface="Calibri" pitchFamily="34" charset="0"/>
                <a:ea typeface="Calibri" pitchFamily="34" charset="-122"/>
                <a:cs typeface="Calibri" pitchFamily="34" charset="-120"/>
              </a:rPr>
              <a:t>Yes</a:t>
            </a:r>
            <a:endParaRPr lang="en-US" sz="1150" dirty="0"/>
          </a:p>
        </p:txBody>
      </p:sp>
      <p:sp>
        <p:nvSpPr>
          <p:cNvPr id="15" name="Shape 13"/>
          <p:cNvSpPr/>
          <p:nvPr/>
        </p:nvSpPr>
        <p:spPr>
          <a:xfrm>
            <a:off x="566928" y="2816352"/>
            <a:ext cx="11057839" cy="585216"/>
          </a:xfrm>
          <a:prstGeom prst="roundRect">
            <a:avLst>
              <a:gd name="adj" fmla="val 10938"/>
            </a:avLst>
          </a:prstGeom>
          <a:solidFill>
            <a:srgbClr val="FFFFFF"/>
          </a:solidFill>
          <a:ln w="12700">
            <a:solidFill>
              <a:srgbClr val="E3E4F2"/>
            </a:solidFill>
            <a:prstDash val="solid"/>
          </a:ln>
          <a:effectLst>
            <a:outerShdw blurRad="88900" dist="445" dir="5400000" algn="bl" rotWithShape="0">
              <a:srgbClr val="1B1A4A">
                <a:alpha val="6000"/>
              </a:srgbClr>
            </a:outerShdw>
          </a:effectLst>
        </p:spPr>
        <p:txBody>
          <a:bodyPr/>
          <a:lstStyle/>
          <a:p>
            <a:endParaRPr lang="en-US"/>
          </a:p>
        </p:txBody>
      </p:sp>
      <p:sp>
        <p:nvSpPr>
          <p:cNvPr id="16" name="Text 14"/>
          <p:cNvSpPr/>
          <p:nvPr/>
        </p:nvSpPr>
        <p:spPr>
          <a:xfrm>
            <a:off x="768096" y="2816352"/>
            <a:ext cx="1463040" cy="585216"/>
          </a:xfrm>
          <a:prstGeom prst="rect">
            <a:avLst/>
          </a:prstGeom>
          <a:noFill/>
          <a:ln/>
        </p:spPr>
        <p:txBody>
          <a:bodyPr wrap="square" lIns="0" tIns="0" rIns="0" bIns="0" rtlCol="0" anchor="ctr"/>
          <a:lstStyle/>
          <a:p>
            <a:pPr marL="0" indent="0">
              <a:buNone/>
            </a:pPr>
            <a:r>
              <a:rPr lang="en-US" sz="1200" b="1" dirty="0">
                <a:solidFill>
                  <a:srgbClr val="5B4BE8"/>
                </a:solidFill>
                <a:latin typeface="Calibri" pitchFamily="34" charset="0"/>
                <a:ea typeface="Calibri" pitchFamily="34" charset="-122"/>
                <a:cs typeface="Calibri" pitchFamily="34" charset="-120"/>
              </a:rPr>
              <a:t>1 · Thin SDK</a:t>
            </a:r>
            <a:endParaRPr lang="en-US" sz="1200" dirty="0"/>
          </a:p>
        </p:txBody>
      </p:sp>
      <p:sp>
        <p:nvSpPr>
          <p:cNvPr id="17" name="Text 15"/>
          <p:cNvSpPr/>
          <p:nvPr/>
        </p:nvSpPr>
        <p:spPr>
          <a:xfrm>
            <a:off x="2505456" y="2816352"/>
            <a:ext cx="2194560" cy="585216"/>
          </a:xfrm>
          <a:prstGeom prst="rect">
            <a:avLst/>
          </a:prstGeom>
          <a:noFill/>
          <a:ln/>
        </p:spPr>
        <p:txBody>
          <a:bodyPr wrap="square" lIns="0" tIns="0" rIns="0" bIns="0" rtlCol="0" anchor="ctr"/>
          <a:lstStyle/>
          <a:p>
            <a:pPr marL="0" indent="0">
              <a:buNone/>
            </a:pPr>
            <a:r>
              <a:rPr lang="en-US" sz="1150" dirty="0">
                <a:solidFill>
                  <a:srgbClr val="141235"/>
                </a:solidFill>
                <a:latin typeface="Calibri" pitchFamily="34" charset="0"/>
                <a:ea typeface="Calibri" pitchFamily="34" charset="-122"/>
                <a:cs typeface="Calibri" pitchFamily="34" charset="-120"/>
              </a:rPr>
              <a:t>The loop, wrapped</a:t>
            </a:r>
            <a:endParaRPr lang="en-US" sz="1150" dirty="0"/>
          </a:p>
        </p:txBody>
      </p:sp>
      <p:sp>
        <p:nvSpPr>
          <p:cNvPr id="18" name="Text 16"/>
          <p:cNvSpPr/>
          <p:nvPr/>
        </p:nvSpPr>
        <p:spPr>
          <a:xfrm>
            <a:off x="4974336" y="2816352"/>
            <a:ext cx="2377440" cy="585216"/>
          </a:xfrm>
          <a:prstGeom prst="rect">
            <a:avLst/>
          </a:prstGeom>
          <a:noFill/>
          <a:ln/>
        </p:spPr>
        <p:txBody>
          <a:bodyPr wrap="square" lIns="0" tIns="0" rIns="0" bIns="0" rtlCol="0" anchor="ctr"/>
          <a:lstStyle/>
          <a:p>
            <a:pPr marL="0" indent="0">
              <a:buNone/>
            </a:pPr>
            <a:r>
              <a:rPr lang="en-US" sz="1150" dirty="0">
                <a:solidFill>
                  <a:srgbClr val="141235"/>
                </a:solidFill>
                <a:latin typeface="Calibri" pitchFamily="34" charset="0"/>
                <a:ea typeface="Calibri" pitchFamily="34" charset="-122"/>
                <a:cs typeface="Calibri" pitchFamily="34" charset="-120"/>
              </a:rPr>
              <a:t>Tools and instructions</a:t>
            </a:r>
            <a:endParaRPr lang="en-US" sz="1150" dirty="0"/>
          </a:p>
        </p:txBody>
      </p:sp>
      <p:sp>
        <p:nvSpPr>
          <p:cNvPr id="19" name="Text 17"/>
          <p:cNvSpPr/>
          <p:nvPr/>
        </p:nvSpPr>
        <p:spPr>
          <a:xfrm>
            <a:off x="7626096" y="2816352"/>
            <a:ext cx="2194560" cy="585216"/>
          </a:xfrm>
          <a:prstGeom prst="rect">
            <a:avLst/>
          </a:prstGeom>
          <a:noFill/>
          <a:ln/>
        </p:spPr>
        <p:txBody>
          <a:bodyPr wrap="square" lIns="0" tIns="0" rIns="0" bIns="0" rtlCol="0" anchor="ctr"/>
          <a:lstStyle/>
          <a:p>
            <a:pPr marL="0" indent="0">
              <a:buNone/>
            </a:pPr>
            <a:r>
              <a:rPr lang="en-US" sz="1150" dirty="0">
                <a:solidFill>
                  <a:srgbClr val="141235"/>
                </a:solidFill>
                <a:latin typeface="Calibri" pitchFamily="34" charset="0"/>
                <a:ea typeface="Calibri" pitchFamily="34" charset="-122"/>
                <a:cs typeface="Calibri" pitchFamily="34" charset="-120"/>
              </a:rPr>
              <a:t>The loop's internals</a:t>
            </a:r>
            <a:endParaRPr lang="en-US" sz="1150" dirty="0"/>
          </a:p>
        </p:txBody>
      </p:sp>
      <p:sp>
        <p:nvSpPr>
          <p:cNvPr id="20" name="Text 18"/>
          <p:cNvSpPr/>
          <p:nvPr/>
        </p:nvSpPr>
        <p:spPr>
          <a:xfrm>
            <a:off x="10094976" y="2816352"/>
            <a:ext cx="1463040" cy="585216"/>
          </a:xfrm>
          <a:prstGeom prst="rect">
            <a:avLst/>
          </a:prstGeom>
          <a:noFill/>
          <a:ln/>
        </p:spPr>
        <p:txBody>
          <a:bodyPr wrap="square" lIns="0" tIns="0" rIns="0" bIns="0" rtlCol="0" anchor="ctr"/>
          <a:lstStyle/>
          <a:p>
            <a:pPr marL="0" indent="0">
              <a:buNone/>
            </a:pPr>
            <a:r>
              <a:rPr lang="en-US" sz="1150" dirty="0">
                <a:solidFill>
                  <a:srgbClr val="0E9F6E"/>
                </a:solidFill>
                <a:latin typeface="Calibri" pitchFamily="34" charset="0"/>
                <a:ea typeface="Calibri" pitchFamily="34" charset="-122"/>
                <a:cs typeface="Calibri" pitchFamily="34" charset="-120"/>
              </a:rPr>
              <a:t>Yes</a:t>
            </a:r>
            <a:endParaRPr lang="en-US" sz="1150" dirty="0"/>
          </a:p>
        </p:txBody>
      </p:sp>
      <p:sp>
        <p:nvSpPr>
          <p:cNvPr id="21" name="Shape 19"/>
          <p:cNvSpPr/>
          <p:nvPr/>
        </p:nvSpPr>
        <p:spPr>
          <a:xfrm>
            <a:off x="566928" y="3474720"/>
            <a:ext cx="11057839" cy="585216"/>
          </a:xfrm>
          <a:prstGeom prst="roundRect">
            <a:avLst>
              <a:gd name="adj" fmla="val 10938"/>
            </a:avLst>
          </a:prstGeom>
          <a:solidFill>
            <a:srgbClr val="FFFFFF"/>
          </a:solidFill>
          <a:ln w="12700">
            <a:solidFill>
              <a:srgbClr val="E3E4F2"/>
            </a:solidFill>
            <a:prstDash val="solid"/>
          </a:ln>
          <a:effectLst>
            <a:outerShdw blurRad="88900" dist="445" dir="5400000" algn="bl" rotWithShape="0">
              <a:srgbClr val="1B1A4A">
                <a:alpha val="6000"/>
              </a:srgbClr>
            </a:outerShdw>
          </a:effectLst>
        </p:spPr>
        <p:txBody>
          <a:bodyPr/>
          <a:lstStyle/>
          <a:p>
            <a:endParaRPr lang="en-US"/>
          </a:p>
        </p:txBody>
      </p:sp>
      <p:sp>
        <p:nvSpPr>
          <p:cNvPr id="22" name="Text 20"/>
          <p:cNvSpPr/>
          <p:nvPr/>
        </p:nvSpPr>
        <p:spPr>
          <a:xfrm>
            <a:off x="768096" y="3474720"/>
            <a:ext cx="1463040" cy="585216"/>
          </a:xfrm>
          <a:prstGeom prst="rect">
            <a:avLst/>
          </a:prstGeom>
          <a:noFill/>
          <a:ln/>
        </p:spPr>
        <p:txBody>
          <a:bodyPr wrap="square" lIns="0" tIns="0" rIns="0" bIns="0" rtlCol="0" anchor="ctr"/>
          <a:lstStyle/>
          <a:p>
            <a:pPr marL="0" indent="0">
              <a:buNone/>
            </a:pPr>
            <a:r>
              <a:rPr lang="en-US" sz="1200" b="1" dirty="0">
                <a:solidFill>
                  <a:srgbClr val="5B4BE8"/>
                </a:solidFill>
                <a:latin typeface="Calibri" pitchFamily="34" charset="0"/>
                <a:ea typeface="Calibri" pitchFamily="34" charset="-122"/>
                <a:cs typeface="Calibri" pitchFamily="34" charset="-120"/>
              </a:rPr>
              <a:t>2 · Graph and state</a:t>
            </a:r>
            <a:endParaRPr lang="en-US" sz="1200" dirty="0"/>
          </a:p>
        </p:txBody>
      </p:sp>
      <p:sp>
        <p:nvSpPr>
          <p:cNvPr id="23" name="Text 21"/>
          <p:cNvSpPr/>
          <p:nvPr/>
        </p:nvSpPr>
        <p:spPr>
          <a:xfrm>
            <a:off x="2505456" y="3474720"/>
            <a:ext cx="2194560" cy="585216"/>
          </a:xfrm>
          <a:prstGeom prst="rect">
            <a:avLst/>
          </a:prstGeom>
          <a:noFill/>
          <a:ln/>
        </p:spPr>
        <p:txBody>
          <a:bodyPr wrap="square" lIns="0" tIns="0" rIns="0" bIns="0" rtlCol="0" anchor="ctr"/>
          <a:lstStyle/>
          <a:p>
            <a:pPr marL="0" indent="0">
              <a:buNone/>
            </a:pPr>
            <a:r>
              <a:rPr lang="en-US" sz="1150" dirty="0">
                <a:solidFill>
                  <a:srgbClr val="141235"/>
                </a:solidFill>
                <a:latin typeface="Calibri" pitchFamily="34" charset="0"/>
                <a:ea typeface="Calibri" pitchFamily="34" charset="-122"/>
                <a:cs typeface="Calibri" pitchFamily="34" charset="-120"/>
              </a:rPr>
              <a:t>Explicit control flow</a:t>
            </a:r>
            <a:endParaRPr lang="en-US" sz="1150" dirty="0"/>
          </a:p>
        </p:txBody>
      </p:sp>
      <p:sp>
        <p:nvSpPr>
          <p:cNvPr id="24" name="Text 22"/>
          <p:cNvSpPr/>
          <p:nvPr/>
        </p:nvSpPr>
        <p:spPr>
          <a:xfrm>
            <a:off x="4974336" y="3474720"/>
            <a:ext cx="2377440" cy="585216"/>
          </a:xfrm>
          <a:prstGeom prst="rect">
            <a:avLst/>
          </a:prstGeom>
          <a:noFill/>
          <a:ln/>
        </p:spPr>
        <p:txBody>
          <a:bodyPr wrap="square" lIns="0" tIns="0" rIns="0" bIns="0" rtlCol="0" anchor="ctr"/>
          <a:lstStyle/>
          <a:p>
            <a:pPr marL="0" indent="0">
              <a:buNone/>
            </a:pPr>
            <a:r>
              <a:rPr lang="en-US" sz="1150" dirty="0">
                <a:solidFill>
                  <a:srgbClr val="141235"/>
                </a:solidFill>
                <a:latin typeface="Calibri" pitchFamily="34" charset="0"/>
                <a:ea typeface="Calibri" pitchFamily="34" charset="-122"/>
                <a:cs typeface="Calibri" pitchFamily="34" charset="-120"/>
              </a:rPr>
              <a:t>Nodes, edges, a state schema</a:t>
            </a:r>
            <a:endParaRPr lang="en-US" sz="1150" dirty="0"/>
          </a:p>
        </p:txBody>
      </p:sp>
      <p:sp>
        <p:nvSpPr>
          <p:cNvPr id="25" name="Text 23"/>
          <p:cNvSpPr/>
          <p:nvPr/>
        </p:nvSpPr>
        <p:spPr>
          <a:xfrm>
            <a:off x="7626096" y="3474720"/>
            <a:ext cx="2194560" cy="585216"/>
          </a:xfrm>
          <a:prstGeom prst="rect">
            <a:avLst/>
          </a:prstGeom>
          <a:noFill/>
          <a:ln/>
        </p:spPr>
        <p:txBody>
          <a:bodyPr wrap="square" lIns="0" tIns="0" rIns="0" bIns="0" rtlCol="0" anchor="ctr"/>
          <a:lstStyle/>
          <a:p>
            <a:pPr marL="0" indent="0">
              <a:buNone/>
            </a:pPr>
            <a:r>
              <a:rPr lang="en-US" sz="1150" dirty="0">
                <a:solidFill>
                  <a:srgbClr val="141235"/>
                </a:solidFill>
                <a:latin typeface="Calibri" pitchFamily="34" charset="0"/>
                <a:ea typeface="Calibri" pitchFamily="34" charset="-122"/>
                <a:cs typeface="Calibri" pitchFamily="34" charset="-120"/>
              </a:rPr>
              <a:t>Simplicity, in exchange for checkpointing</a:t>
            </a:r>
            <a:endParaRPr lang="en-US" sz="1150" dirty="0"/>
          </a:p>
        </p:txBody>
      </p:sp>
      <p:sp>
        <p:nvSpPr>
          <p:cNvPr id="26" name="Text 24"/>
          <p:cNvSpPr/>
          <p:nvPr/>
        </p:nvSpPr>
        <p:spPr>
          <a:xfrm>
            <a:off x="10094976" y="3474720"/>
            <a:ext cx="1463040" cy="585216"/>
          </a:xfrm>
          <a:prstGeom prst="rect">
            <a:avLst/>
          </a:prstGeom>
          <a:noFill/>
          <a:ln/>
        </p:spPr>
        <p:txBody>
          <a:bodyPr wrap="square" lIns="0" tIns="0" rIns="0" bIns="0" rtlCol="0" anchor="ctr"/>
          <a:lstStyle/>
          <a:p>
            <a:pPr marL="0" indent="0">
              <a:buNone/>
            </a:pPr>
            <a:r>
              <a:rPr lang="en-US" sz="1150" dirty="0">
                <a:solidFill>
                  <a:srgbClr val="0E9F6E"/>
                </a:solidFill>
                <a:latin typeface="Calibri" pitchFamily="34" charset="0"/>
                <a:ea typeface="Calibri" pitchFamily="34" charset="-122"/>
                <a:cs typeface="Calibri" pitchFamily="34" charset="-120"/>
              </a:rPr>
              <a:t>Yes</a:t>
            </a:r>
            <a:endParaRPr lang="en-US" sz="1150" dirty="0"/>
          </a:p>
        </p:txBody>
      </p:sp>
      <p:sp>
        <p:nvSpPr>
          <p:cNvPr id="27" name="Shape 25"/>
          <p:cNvSpPr/>
          <p:nvPr/>
        </p:nvSpPr>
        <p:spPr>
          <a:xfrm>
            <a:off x="566928" y="4133088"/>
            <a:ext cx="11057839" cy="585216"/>
          </a:xfrm>
          <a:prstGeom prst="roundRect">
            <a:avLst>
              <a:gd name="adj" fmla="val 10938"/>
            </a:avLst>
          </a:prstGeom>
          <a:solidFill>
            <a:srgbClr val="FFFFFF"/>
          </a:solidFill>
          <a:ln w="12700">
            <a:solidFill>
              <a:srgbClr val="E3E4F2"/>
            </a:solidFill>
            <a:prstDash val="solid"/>
          </a:ln>
          <a:effectLst>
            <a:outerShdw blurRad="88900" dist="445" dir="5400000" algn="bl" rotWithShape="0">
              <a:srgbClr val="1B1A4A">
                <a:alpha val="6000"/>
              </a:srgbClr>
            </a:outerShdw>
          </a:effectLst>
        </p:spPr>
        <p:txBody>
          <a:bodyPr/>
          <a:lstStyle/>
          <a:p>
            <a:endParaRPr lang="en-US"/>
          </a:p>
        </p:txBody>
      </p:sp>
      <p:sp>
        <p:nvSpPr>
          <p:cNvPr id="28" name="Text 26"/>
          <p:cNvSpPr/>
          <p:nvPr/>
        </p:nvSpPr>
        <p:spPr>
          <a:xfrm>
            <a:off x="768096" y="4133088"/>
            <a:ext cx="1463040" cy="585216"/>
          </a:xfrm>
          <a:prstGeom prst="rect">
            <a:avLst/>
          </a:prstGeom>
          <a:noFill/>
          <a:ln/>
        </p:spPr>
        <p:txBody>
          <a:bodyPr wrap="square" lIns="0" tIns="0" rIns="0" bIns="0" rtlCol="0" anchor="ctr"/>
          <a:lstStyle/>
          <a:p>
            <a:pPr marL="0" indent="0">
              <a:buNone/>
            </a:pPr>
            <a:r>
              <a:rPr lang="en-US" sz="1200" b="1" dirty="0">
                <a:solidFill>
                  <a:srgbClr val="5B4BE8"/>
                </a:solidFill>
                <a:latin typeface="Calibri" pitchFamily="34" charset="0"/>
                <a:ea typeface="Calibri" pitchFamily="34" charset="-122"/>
                <a:cs typeface="Calibri" pitchFamily="34" charset="-120"/>
              </a:rPr>
              <a:t>3 · Roles and teams</a:t>
            </a:r>
            <a:endParaRPr lang="en-US" sz="1200" dirty="0"/>
          </a:p>
        </p:txBody>
      </p:sp>
      <p:sp>
        <p:nvSpPr>
          <p:cNvPr id="29" name="Text 27"/>
          <p:cNvSpPr/>
          <p:nvPr/>
        </p:nvSpPr>
        <p:spPr>
          <a:xfrm>
            <a:off x="2505456" y="4133088"/>
            <a:ext cx="2194560" cy="585216"/>
          </a:xfrm>
          <a:prstGeom prst="rect">
            <a:avLst/>
          </a:prstGeom>
          <a:noFill/>
          <a:ln/>
        </p:spPr>
        <p:txBody>
          <a:bodyPr wrap="square" lIns="0" tIns="0" rIns="0" bIns="0" rtlCol="0" anchor="ctr"/>
          <a:lstStyle/>
          <a:p>
            <a:pPr marL="0" indent="0">
              <a:buNone/>
            </a:pPr>
            <a:r>
              <a:rPr lang="en-US" sz="1150" dirty="0">
                <a:solidFill>
                  <a:srgbClr val="141235"/>
                </a:solidFill>
                <a:latin typeface="Calibri" pitchFamily="34" charset="0"/>
                <a:ea typeface="Calibri" pitchFamily="34" charset="-122"/>
                <a:cs typeface="Calibri" pitchFamily="34" charset="-120"/>
              </a:rPr>
              <a:t>An org-chart metaphor</a:t>
            </a:r>
            <a:endParaRPr lang="en-US" sz="1150" dirty="0"/>
          </a:p>
        </p:txBody>
      </p:sp>
      <p:sp>
        <p:nvSpPr>
          <p:cNvPr id="30" name="Text 28"/>
          <p:cNvSpPr/>
          <p:nvPr/>
        </p:nvSpPr>
        <p:spPr>
          <a:xfrm>
            <a:off x="4974336" y="4133088"/>
            <a:ext cx="2377440" cy="585216"/>
          </a:xfrm>
          <a:prstGeom prst="rect">
            <a:avLst/>
          </a:prstGeom>
          <a:noFill/>
          <a:ln/>
        </p:spPr>
        <p:txBody>
          <a:bodyPr wrap="square" lIns="0" tIns="0" rIns="0" bIns="0" rtlCol="0" anchor="ctr"/>
          <a:lstStyle/>
          <a:p>
            <a:pPr marL="0" indent="0">
              <a:buNone/>
            </a:pPr>
            <a:r>
              <a:rPr lang="en-US" sz="1150" dirty="0">
                <a:solidFill>
                  <a:srgbClr val="141235"/>
                </a:solidFill>
                <a:latin typeface="Calibri" pitchFamily="34" charset="0"/>
                <a:ea typeface="Calibri" pitchFamily="34" charset="-122"/>
                <a:cs typeface="Calibri" pitchFamily="34" charset="-120"/>
              </a:rPr>
              <a:t>Agent roles, a task graph</a:t>
            </a:r>
            <a:endParaRPr lang="en-US" sz="1150" dirty="0"/>
          </a:p>
        </p:txBody>
      </p:sp>
      <p:sp>
        <p:nvSpPr>
          <p:cNvPr id="31" name="Text 29"/>
          <p:cNvSpPr/>
          <p:nvPr/>
        </p:nvSpPr>
        <p:spPr>
          <a:xfrm>
            <a:off x="7626096" y="4133088"/>
            <a:ext cx="2194560" cy="585216"/>
          </a:xfrm>
          <a:prstGeom prst="rect">
            <a:avLst/>
          </a:prstGeom>
          <a:noFill/>
          <a:ln/>
        </p:spPr>
        <p:txBody>
          <a:bodyPr wrap="square" lIns="0" tIns="0" rIns="0" bIns="0" rtlCol="0" anchor="ctr"/>
          <a:lstStyle/>
          <a:p>
            <a:pPr marL="0" indent="0">
              <a:buNone/>
            </a:pPr>
            <a:r>
              <a:rPr lang="en-US" sz="1150" dirty="0">
                <a:solidFill>
                  <a:srgbClr val="141235"/>
                </a:solidFill>
                <a:latin typeface="Calibri" pitchFamily="34" charset="0"/>
                <a:ea typeface="Calibri" pitchFamily="34" charset="-122"/>
                <a:cs typeface="Calibri" pitchFamily="34" charset="-120"/>
              </a:rPr>
              <a:t>Determinism and debuggability</a:t>
            </a:r>
            <a:endParaRPr lang="en-US" sz="1150" dirty="0"/>
          </a:p>
        </p:txBody>
      </p:sp>
      <p:sp>
        <p:nvSpPr>
          <p:cNvPr id="32" name="Text 30"/>
          <p:cNvSpPr/>
          <p:nvPr/>
        </p:nvSpPr>
        <p:spPr>
          <a:xfrm>
            <a:off x="10094976" y="4133088"/>
            <a:ext cx="1463040" cy="585216"/>
          </a:xfrm>
          <a:prstGeom prst="rect">
            <a:avLst/>
          </a:prstGeom>
          <a:noFill/>
          <a:ln/>
        </p:spPr>
        <p:txBody>
          <a:bodyPr wrap="square" lIns="0" tIns="0" rIns="0" bIns="0" rtlCol="0" anchor="ctr"/>
          <a:lstStyle/>
          <a:p>
            <a:pPr marL="0" indent="0">
              <a:buNone/>
            </a:pPr>
            <a:r>
              <a:rPr lang="en-US" sz="1150" dirty="0">
                <a:solidFill>
                  <a:srgbClr val="0E9F6E"/>
                </a:solidFill>
                <a:latin typeface="Calibri" pitchFamily="34" charset="0"/>
                <a:ea typeface="Calibri" pitchFamily="34" charset="-122"/>
                <a:cs typeface="Calibri" pitchFamily="34" charset="-120"/>
              </a:rPr>
              <a:t>Yes</a:t>
            </a:r>
            <a:endParaRPr lang="en-US" sz="1150" dirty="0"/>
          </a:p>
        </p:txBody>
      </p:sp>
      <p:sp>
        <p:nvSpPr>
          <p:cNvPr id="33" name="Shape 31"/>
          <p:cNvSpPr/>
          <p:nvPr/>
        </p:nvSpPr>
        <p:spPr>
          <a:xfrm>
            <a:off x="566928" y="4791456"/>
            <a:ext cx="11057839" cy="585216"/>
          </a:xfrm>
          <a:prstGeom prst="roundRect">
            <a:avLst>
              <a:gd name="adj" fmla="val 10938"/>
            </a:avLst>
          </a:prstGeom>
          <a:solidFill>
            <a:srgbClr val="FFF4E0"/>
          </a:solidFill>
          <a:ln w="12700">
            <a:solidFill>
              <a:srgbClr val="F0D5A6"/>
            </a:solidFill>
            <a:prstDash val="solid"/>
          </a:ln>
          <a:effectLst>
            <a:outerShdw blurRad="88900" dist="445" dir="5400000" algn="bl" rotWithShape="0">
              <a:srgbClr val="1B1A4A">
                <a:alpha val="6000"/>
              </a:srgbClr>
            </a:outerShdw>
          </a:effectLst>
        </p:spPr>
        <p:txBody>
          <a:bodyPr/>
          <a:lstStyle/>
          <a:p>
            <a:endParaRPr lang="en-US"/>
          </a:p>
        </p:txBody>
      </p:sp>
      <p:sp>
        <p:nvSpPr>
          <p:cNvPr id="34" name="Text 32"/>
          <p:cNvSpPr/>
          <p:nvPr/>
        </p:nvSpPr>
        <p:spPr>
          <a:xfrm>
            <a:off x="768096" y="4791456"/>
            <a:ext cx="1463040" cy="585216"/>
          </a:xfrm>
          <a:prstGeom prst="rect">
            <a:avLst/>
          </a:prstGeom>
          <a:noFill/>
          <a:ln/>
        </p:spPr>
        <p:txBody>
          <a:bodyPr wrap="square" lIns="0" tIns="0" rIns="0" bIns="0" rtlCol="0" anchor="ctr"/>
          <a:lstStyle/>
          <a:p>
            <a:pPr marL="0" indent="0">
              <a:buNone/>
            </a:pPr>
            <a:r>
              <a:rPr lang="en-US" sz="1200" b="1" dirty="0">
                <a:solidFill>
                  <a:srgbClr val="E08700"/>
                </a:solidFill>
                <a:latin typeface="Calibri" pitchFamily="34" charset="0"/>
                <a:ea typeface="Calibri" pitchFamily="34" charset="-122"/>
                <a:cs typeface="Calibri" pitchFamily="34" charset="-120"/>
              </a:rPr>
              <a:t>4 · Managed runtime</a:t>
            </a:r>
            <a:endParaRPr lang="en-US" sz="1200" dirty="0"/>
          </a:p>
        </p:txBody>
      </p:sp>
      <p:sp>
        <p:nvSpPr>
          <p:cNvPr id="35" name="Text 33"/>
          <p:cNvSpPr/>
          <p:nvPr/>
        </p:nvSpPr>
        <p:spPr>
          <a:xfrm>
            <a:off x="2505456" y="4791456"/>
            <a:ext cx="2194560" cy="585216"/>
          </a:xfrm>
          <a:prstGeom prst="rect">
            <a:avLst/>
          </a:prstGeom>
          <a:noFill/>
          <a:ln/>
        </p:spPr>
        <p:txBody>
          <a:bodyPr wrap="square" lIns="0" tIns="0" rIns="0" bIns="0" rtlCol="0" anchor="ctr"/>
          <a:lstStyle/>
          <a:p>
            <a:pPr marL="0" indent="0">
              <a:buNone/>
            </a:pPr>
            <a:r>
              <a:rPr lang="en-US" sz="1150" dirty="0">
                <a:solidFill>
                  <a:srgbClr val="141235"/>
                </a:solidFill>
                <a:latin typeface="Calibri" pitchFamily="34" charset="0"/>
                <a:ea typeface="Calibri" pitchFamily="34" charset="-122"/>
                <a:cs typeface="Calibri" pitchFamily="34" charset="-120"/>
              </a:rPr>
              <a:t>You don't run the loop</a:t>
            </a:r>
            <a:endParaRPr lang="en-US" sz="1150" dirty="0"/>
          </a:p>
        </p:txBody>
      </p:sp>
      <p:sp>
        <p:nvSpPr>
          <p:cNvPr id="36" name="Text 34"/>
          <p:cNvSpPr/>
          <p:nvPr/>
        </p:nvSpPr>
        <p:spPr>
          <a:xfrm>
            <a:off x="4974336" y="4791456"/>
            <a:ext cx="2377440" cy="585216"/>
          </a:xfrm>
          <a:prstGeom prst="rect">
            <a:avLst/>
          </a:prstGeom>
          <a:noFill/>
          <a:ln/>
        </p:spPr>
        <p:txBody>
          <a:bodyPr wrap="square" lIns="0" tIns="0" rIns="0" bIns="0" rtlCol="0" anchor="ctr"/>
          <a:lstStyle/>
          <a:p>
            <a:pPr marL="0" indent="0">
              <a:buNone/>
            </a:pPr>
            <a:r>
              <a:rPr lang="en-US" sz="1150" dirty="0">
                <a:solidFill>
                  <a:srgbClr val="141235"/>
                </a:solidFill>
                <a:latin typeface="Calibri" pitchFamily="34" charset="0"/>
                <a:ea typeface="Calibri" pitchFamily="34" charset="-122"/>
                <a:cs typeface="Calibri" pitchFamily="34" charset="-120"/>
              </a:rPr>
              <a:t>Configuration</a:t>
            </a:r>
            <a:endParaRPr lang="en-US" sz="1150" dirty="0"/>
          </a:p>
        </p:txBody>
      </p:sp>
      <p:sp>
        <p:nvSpPr>
          <p:cNvPr id="37" name="Text 35"/>
          <p:cNvSpPr/>
          <p:nvPr/>
        </p:nvSpPr>
        <p:spPr>
          <a:xfrm>
            <a:off x="7626096" y="4791456"/>
            <a:ext cx="2194560" cy="585216"/>
          </a:xfrm>
          <a:prstGeom prst="rect">
            <a:avLst/>
          </a:prstGeom>
          <a:noFill/>
          <a:ln/>
        </p:spPr>
        <p:txBody>
          <a:bodyPr wrap="square" lIns="0" tIns="0" rIns="0" bIns="0" rtlCol="0" anchor="ctr"/>
          <a:lstStyle/>
          <a:p>
            <a:pPr marL="0" indent="0">
              <a:buNone/>
            </a:pPr>
            <a:r>
              <a:rPr lang="en-US" sz="1150" dirty="0">
                <a:solidFill>
                  <a:srgbClr val="141235"/>
                </a:solidFill>
                <a:latin typeface="Calibri" pitchFamily="34" charset="0"/>
                <a:ea typeface="Calibri" pitchFamily="34" charset="-122"/>
                <a:cs typeface="Calibri" pitchFamily="34" charset="-120"/>
              </a:rPr>
              <a:t>Portability</a:t>
            </a:r>
            <a:endParaRPr lang="en-US" sz="1150" dirty="0"/>
          </a:p>
        </p:txBody>
      </p:sp>
      <p:sp>
        <p:nvSpPr>
          <p:cNvPr id="38" name="Text 36"/>
          <p:cNvSpPr/>
          <p:nvPr/>
        </p:nvSpPr>
        <p:spPr>
          <a:xfrm>
            <a:off x="10094976" y="4791456"/>
            <a:ext cx="1463040" cy="585216"/>
          </a:xfrm>
          <a:prstGeom prst="rect">
            <a:avLst/>
          </a:prstGeom>
          <a:noFill/>
          <a:ln/>
        </p:spPr>
        <p:txBody>
          <a:bodyPr wrap="square" lIns="0" tIns="0" rIns="0" bIns="0" rtlCol="0" anchor="ctr"/>
          <a:lstStyle/>
          <a:p>
            <a:pPr marL="0" indent="0">
              <a:buNone/>
            </a:pPr>
            <a:r>
              <a:rPr lang="en-US" sz="1150" b="1" dirty="0">
                <a:solidFill>
                  <a:srgbClr val="D93A3F"/>
                </a:solidFill>
                <a:latin typeface="Calibri" pitchFamily="34" charset="0"/>
                <a:ea typeface="Calibri" pitchFamily="34" charset="-122"/>
                <a:cs typeface="Calibri" pitchFamily="34" charset="-120"/>
              </a:rPr>
              <a:t>No</a:t>
            </a:r>
            <a:endParaRPr lang="en-US" sz="1150" dirty="0"/>
          </a:p>
        </p:txBody>
      </p:sp>
      <p:sp>
        <p:nvSpPr>
          <p:cNvPr id="39" name="Text 37"/>
          <p:cNvSpPr/>
          <p:nvPr/>
        </p:nvSpPr>
        <p:spPr>
          <a:xfrm>
            <a:off x="566928" y="5541264"/>
            <a:ext cx="11057839" cy="310896"/>
          </a:xfrm>
          <a:prstGeom prst="rect">
            <a:avLst/>
          </a:prstGeom>
          <a:noFill/>
          <a:ln/>
        </p:spPr>
        <p:txBody>
          <a:bodyPr wrap="square" lIns="0" tIns="0" rIns="0" bIns="0" rtlCol="0" anchor="ctr"/>
          <a:lstStyle/>
          <a:p>
            <a:pPr marL="0" indent="0">
              <a:buNone/>
            </a:pPr>
            <a:r>
              <a:rPr lang="en-US" sz="1350" i="1" dirty="0">
                <a:solidFill>
                  <a:srgbClr val="3B3760"/>
                </a:solidFill>
                <a:latin typeface="Calibri" pitchFamily="34" charset="0"/>
                <a:ea typeface="Calibri" pitchFamily="34" charset="-122"/>
                <a:cs typeface="Calibri" pitchFamily="34" charset="-120"/>
              </a:rPr>
              <a:t>Every tier up trades control for leverage. MCP and A2A are the two things that survive the entire climb.</a:t>
            </a:r>
            <a:endParaRPr lang="en-US" sz="1350" dirty="0"/>
          </a:p>
        </p:txBody>
      </p:sp>
      <p:sp>
        <p:nvSpPr>
          <p:cNvPr id="40" name="Text 38"/>
          <p:cNvSpPr/>
          <p:nvPr/>
        </p:nvSpPr>
        <p:spPr>
          <a:xfrm>
            <a:off x="566928" y="5925312"/>
            <a:ext cx="11057839" cy="256032"/>
          </a:xfrm>
          <a:prstGeom prst="rect">
            <a:avLst/>
          </a:prstGeom>
          <a:noFill/>
          <a:ln/>
        </p:spPr>
        <p:txBody>
          <a:bodyPr wrap="square" lIns="0" tIns="0" rIns="0" bIns="0" rtlCol="0" anchor="ctr"/>
          <a:lstStyle/>
          <a:p>
            <a:pPr marL="0" indent="0">
              <a:buNone/>
            </a:pPr>
            <a:r>
              <a:rPr lang="en-US" sz="950" i="1" dirty="0">
                <a:solidFill>
                  <a:srgbClr val="9B98B4"/>
                </a:solidFill>
                <a:latin typeface="Calibri" pitchFamily="34" charset="0"/>
                <a:ea typeface="Calibri" pitchFamily="34" charset="-122"/>
                <a:cs typeface="Calibri" pitchFamily="34" charset="-120"/>
              </a:rPr>
              <a:t>Measure the same task at each tier: lines of code, tokens spent, and whether it can pause and resume. Then decide — do not pick from the diagram.</a:t>
            </a:r>
            <a:endParaRPr lang="en-US" sz="9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09 · THE FRAMEWORK LADDER</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3000" b="1" dirty="0">
                <a:solidFill>
                  <a:srgbClr val="141235"/>
                </a:solidFill>
                <a:latin typeface="Cambria" pitchFamily="34" charset="0"/>
                <a:ea typeface="Cambria" pitchFamily="34" charset="-122"/>
                <a:cs typeface="Cambria" pitchFamily="34" charset="-120"/>
              </a:rPr>
              <a:t>The names you keep hearing, placed on that ladder</a:t>
            </a:r>
            <a:endParaRPr lang="en-US" sz="3000" dirty="0"/>
          </a:p>
        </p:txBody>
      </p:sp>
      <p:sp>
        <p:nvSpPr>
          <p:cNvPr id="4" name="Text 2"/>
          <p:cNvSpPr/>
          <p:nvPr/>
        </p:nvSpPr>
        <p:spPr>
          <a:xfrm>
            <a:off x="566928" y="1371600"/>
            <a:ext cx="11057839" cy="310896"/>
          </a:xfrm>
          <a:prstGeom prst="rect">
            <a:avLst/>
          </a:prstGeom>
          <a:noFill/>
          <a:ln/>
        </p:spPr>
        <p:txBody>
          <a:bodyPr wrap="square" lIns="0" tIns="0" rIns="0" bIns="0" rtlCol="0" anchor="t"/>
          <a:lstStyle/>
          <a:p>
            <a:pPr marL="0" indent="0">
              <a:buNone/>
            </a:pPr>
            <a:r>
              <a:rPr lang="en-US" sz="1400" dirty="0">
                <a:solidFill>
                  <a:srgbClr val="3B3760"/>
                </a:solidFill>
                <a:latin typeface="Calibri" pitchFamily="34" charset="0"/>
                <a:ea typeface="Calibri" pitchFamily="34" charset="-122"/>
                <a:cs typeface="Calibri" pitchFamily="34" charset="-120"/>
              </a:rPr>
              <a:t>Not a recommendation list. The point is that most of these are selling the same abstraction, and you can tell which by the tier they sit on.</a:t>
            </a:r>
            <a:endParaRPr lang="en-US" sz="1400" dirty="0"/>
          </a:p>
        </p:txBody>
      </p:sp>
      <p:sp>
        <p:nvSpPr>
          <p:cNvPr id="5" name="Shape 3"/>
          <p:cNvSpPr/>
          <p:nvPr/>
        </p:nvSpPr>
        <p:spPr>
          <a:xfrm>
            <a:off x="566928" y="1993392"/>
            <a:ext cx="11057839" cy="1042416"/>
          </a:xfrm>
          <a:prstGeom prst="roundRect">
            <a:avLst>
              <a:gd name="adj" fmla="val 7895"/>
            </a:avLst>
          </a:prstGeom>
          <a:solidFill>
            <a:srgbClr val="FFFFFF"/>
          </a:solidFill>
          <a:ln w="12700">
            <a:solidFill>
              <a:srgbClr val="E3E4F2"/>
            </a:solidFill>
            <a:prstDash val="solid"/>
          </a:ln>
          <a:effectLst>
            <a:outerShdw blurRad="101600" dist="508" dir="5400000" algn="bl" rotWithShape="0">
              <a:srgbClr val="1B1A4A">
                <a:alpha val="7000"/>
              </a:srgbClr>
            </a:outerShdw>
          </a:effectLst>
        </p:spPr>
        <p:txBody>
          <a:bodyPr/>
          <a:lstStyle/>
          <a:p>
            <a:endParaRPr lang="en-US"/>
          </a:p>
        </p:txBody>
      </p:sp>
      <p:sp>
        <p:nvSpPr>
          <p:cNvPr id="6" name="Text 4"/>
          <p:cNvSpPr/>
          <p:nvPr/>
        </p:nvSpPr>
        <p:spPr>
          <a:xfrm>
            <a:off x="804672" y="2139696"/>
            <a:ext cx="1371600" cy="256032"/>
          </a:xfrm>
          <a:prstGeom prst="rect">
            <a:avLst/>
          </a:prstGeom>
          <a:noFill/>
          <a:ln/>
        </p:spPr>
        <p:txBody>
          <a:bodyPr wrap="square" lIns="0" tIns="0" rIns="0" bIns="0" rtlCol="0" anchor="ctr"/>
          <a:lstStyle/>
          <a:p>
            <a:pPr marL="0" indent="0">
              <a:buNone/>
            </a:pPr>
            <a:r>
              <a:rPr lang="en-US" sz="1000" b="1" kern="0" spc="160" dirty="0">
                <a:solidFill>
                  <a:srgbClr val="5B4BE8"/>
                </a:solidFill>
                <a:latin typeface="Calibri" pitchFamily="34" charset="0"/>
                <a:ea typeface="Calibri" pitchFamily="34" charset="-122"/>
                <a:cs typeface="Calibri" pitchFamily="34" charset="-120"/>
              </a:rPr>
              <a:t>Tier 1</a:t>
            </a:r>
            <a:endParaRPr lang="en-US" sz="1000" dirty="0"/>
          </a:p>
        </p:txBody>
      </p:sp>
      <p:sp>
        <p:nvSpPr>
          <p:cNvPr id="7" name="Text 5"/>
          <p:cNvSpPr/>
          <p:nvPr/>
        </p:nvSpPr>
        <p:spPr>
          <a:xfrm>
            <a:off x="804672" y="2377440"/>
            <a:ext cx="2103120" cy="274320"/>
          </a:xfrm>
          <a:prstGeom prst="rect">
            <a:avLst/>
          </a:prstGeom>
          <a:noFill/>
          <a:ln/>
        </p:spPr>
        <p:txBody>
          <a:bodyPr wrap="square" lIns="0" tIns="0" rIns="0" bIns="0" rtlCol="0" anchor="ctr"/>
          <a:lstStyle/>
          <a:p>
            <a:pPr marL="0" indent="0">
              <a:buNone/>
            </a:pPr>
            <a:r>
              <a:rPr lang="en-US" sz="1500" b="1" dirty="0">
                <a:solidFill>
                  <a:srgbClr val="141235"/>
                </a:solidFill>
                <a:latin typeface="Calibri" pitchFamily="34" charset="0"/>
                <a:ea typeface="Calibri" pitchFamily="34" charset="-122"/>
                <a:cs typeface="Calibri" pitchFamily="34" charset="-120"/>
              </a:rPr>
              <a:t>Thin SDK</a:t>
            </a:r>
            <a:endParaRPr lang="en-US" sz="1500" dirty="0"/>
          </a:p>
        </p:txBody>
      </p:sp>
      <p:sp>
        <p:nvSpPr>
          <p:cNvPr id="8" name="Text 6"/>
          <p:cNvSpPr/>
          <p:nvPr/>
        </p:nvSpPr>
        <p:spPr>
          <a:xfrm>
            <a:off x="804672" y="2633472"/>
            <a:ext cx="2286000" cy="384048"/>
          </a:xfrm>
          <a:prstGeom prst="rect">
            <a:avLst/>
          </a:prstGeom>
          <a:noFill/>
          <a:ln/>
        </p:spPr>
        <p:txBody>
          <a:bodyPr wrap="square" lIns="0" tIns="0" rIns="0" bIns="0" rtlCol="0" anchor="t"/>
          <a:lstStyle/>
          <a:p>
            <a:pPr marL="0" indent="0">
              <a:lnSpc>
                <a:spcPct val="110000"/>
              </a:lnSpc>
              <a:buNone/>
            </a:pPr>
            <a:r>
              <a:rPr lang="en-US" sz="1000" dirty="0">
                <a:solidFill>
                  <a:srgbClr val="6E6B8A"/>
                </a:solidFill>
                <a:latin typeface="Calibri" pitchFamily="34" charset="0"/>
                <a:ea typeface="Calibri" pitchFamily="34" charset="-122"/>
                <a:cs typeface="Calibri" pitchFamily="34" charset="-120"/>
              </a:rPr>
              <a:t>A loop, wrapped. You bring tools and instructions.</a:t>
            </a:r>
            <a:endParaRPr lang="en-US" sz="1000" dirty="0"/>
          </a:p>
        </p:txBody>
      </p:sp>
      <p:sp>
        <p:nvSpPr>
          <p:cNvPr id="9" name="Shape 7"/>
          <p:cNvSpPr/>
          <p:nvPr/>
        </p:nvSpPr>
        <p:spPr>
          <a:xfrm>
            <a:off x="3273552" y="2130552"/>
            <a:ext cx="2619146" cy="768096"/>
          </a:xfrm>
          <a:prstGeom prst="roundRect">
            <a:avLst>
              <a:gd name="adj" fmla="val 8333"/>
            </a:avLst>
          </a:prstGeom>
          <a:solidFill>
            <a:srgbClr val="EEEDFE"/>
          </a:solidFill>
          <a:ln w="12700">
            <a:solidFill>
              <a:srgbClr val="8E82F5"/>
            </a:solidFill>
            <a:prstDash val="solid"/>
          </a:ln>
        </p:spPr>
        <p:txBody>
          <a:bodyPr/>
          <a:lstStyle/>
          <a:p>
            <a:endParaRPr lang="en-US"/>
          </a:p>
        </p:txBody>
      </p:sp>
      <p:sp>
        <p:nvSpPr>
          <p:cNvPr id="10" name="Text 8"/>
          <p:cNvSpPr/>
          <p:nvPr/>
        </p:nvSpPr>
        <p:spPr>
          <a:xfrm>
            <a:off x="3364992" y="2185416"/>
            <a:ext cx="2436266" cy="292608"/>
          </a:xfrm>
          <a:prstGeom prst="rect">
            <a:avLst/>
          </a:prstGeom>
          <a:noFill/>
          <a:ln/>
        </p:spPr>
        <p:txBody>
          <a:bodyPr wrap="square" lIns="0" tIns="0" rIns="0" bIns="0" rtlCol="0" anchor="t"/>
          <a:lstStyle/>
          <a:p>
            <a:pPr marL="0" indent="0" algn="ctr">
              <a:lnSpc>
                <a:spcPct val="100000"/>
              </a:lnSpc>
              <a:buNone/>
            </a:pPr>
            <a:r>
              <a:rPr lang="en-US" sz="1150" b="1" dirty="0">
                <a:solidFill>
                  <a:srgbClr val="141235"/>
                </a:solidFill>
                <a:latin typeface="Calibri" pitchFamily="34" charset="0"/>
                <a:ea typeface="Calibri" pitchFamily="34" charset="-122"/>
                <a:cs typeface="Calibri" pitchFamily="34" charset="-120"/>
              </a:rPr>
              <a:t>OpenAI Agents SDK</a:t>
            </a:r>
            <a:endParaRPr lang="en-US" sz="1150" dirty="0"/>
          </a:p>
        </p:txBody>
      </p:sp>
      <p:sp>
        <p:nvSpPr>
          <p:cNvPr id="11" name="Text 9"/>
          <p:cNvSpPr/>
          <p:nvPr/>
        </p:nvSpPr>
        <p:spPr>
          <a:xfrm>
            <a:off x="3364992" y="2496312"/>
            <a:ext cx="2436266" cy="384048"/>
          </a:xfrm>
          <a:prstGeom prst="rect">
            <a:avLst/>
          </a:prstGeom>
          <a:noFill/>
          <a:ln/>
        </p:spPr>
        <p:txBody>
          <a:bodyPr wrap="square" lIns="0" tIns="0" rIns="0" bIns="0" rtlCol="0" anchor="t"/>
          <a:lstStyle/>
          <a:p>
            <a:pPr marL="0" indent="0" algn="ctr">
              <a:lnSpc>
                <a:spcPct val="105000"/>
              </a:lnSpc>
              <a:buNone/>
            </a:pPr>
            <a:r>
              <a:rPr lang="en-US" sz="850" i="1" dirty="0">
                <a:solidFill>
                  <a:srgbClr val="6E6B8A"/>
                </a:solidFill>
                <a:latin typeface="Calibri" pitchFamily="34" charset="0"/>
                <a:ea typeface="Calibri" pitchFamily="34" charset="-122"/>
                <a:cs typeface="Calibri" pitchFamily="34" charset="-120"/>
              </a:rPr>
              <a:t>provider-agnostic despite the name</a:t>
            </a:r>
            <a:endParaRPr lang="en-US" sz="850" dirty="0"/>
          </a:p>
        </p:txBody>
      </p:sp>
      <p:sp>
        <p:nvSpPr>
          <p:cNvPr id="12" name="Shape 10"/>
          <p:cNvSpPr/>
          <p:nvPr/>
        </p:nvSpPr>
        <p:spPr>
          <a:xfrm>
            <a:off x="6020714" y="2130552"/>
            <a:ext cx="2619146" cy="768096"/>
          </a:xfrm>
          <a:prstGeom prst="roundRect">
            <a:avLst>
              <a:gd name="adj" fmla="val 8333"/>
            </a:avLst>
          </a:prstGeom>
          <a:solidFill>
            <a:srgbClr val="EEEDFE"/>
          </a:solidFill>
          <a:ln w="12700">
            <a:solidFill>
              <a:srgbClr val="8E82F5"/>
            </a:solidFill>
            <a:prstDash val="solid"/>
          </a:ln>
        </p:spPr>
        <p:txBody>
          <a:bodyPr/>
          <a:lstStyle/>
          <a:p>
            <a:endParaRPr lang="en-US"/>
          </a:p>
        </p:txBody>
      </p:sp>
      <p:sp>
        <p:nvSpPr>
          <p:cNvPr id="13" name="Text 11"/>
          <p:cNvSpPr/>
          <p:nvPr/>
        </p:nvSpPr>
        <p:spPr>
          <a:xfrm>
            <a:off x="6112154" y="2185416"/>
            <a:ext cx="2436266" cy="292608"/>
          </a:xfrm>
          <a:prstGeom prst="rect">
            <a:avLst/>
          </a:prstGeom>
          <a:noFill/>
          <a:ln/>
        </p:spPr>
        <p:txBody>
          <a:bodyPr wrap="square" lIns="0" tIns="0" rIns="0" bIns="0" rtlCol="0" anchor="t"/>
          <a:lstStyle/>
          <a:p>
            <a:pPr marL="0" indent="0" algn="ctr">
              <a:lnSpc>
                <a:spcPct val="100000"/>
              </a:lnSpc>
              <a:buNone/>
            </a:pPr>
            <a:r>
              <a:rPr lang="en-US" sz="1150" b="1" dirty="0">
                <a:solidFill>
                  <a:srgbClr val="141235"/>
                </a:solidFill>
                <a:latin typeface="Calibri" pitchFamily="34" charset="0"/>
                <a:ea typeface="Calibri" pitchFamily="34" charset="-122"/>
                <a:cs typeface="Calibri" pitchFamily="34" charset="-120"/>
              </a:rPr>
              <a:t>Pydantic AI</a:t>
            </a:r>
            <a:endParaRPr lang="en-US" sz="1150" dirty="0"/>
          </a:p>
        </p:txBody>
      </p:sp>
      <p:sp>
        <p:nvSpPr>
          <p:cNvPr id="14" name="Text 12"/>
          <p:cNvSpPr/>
          <p:nvPr/>
        </p:nvSpPr>
        <p:spPr>
          <a:xfrm>
            <a:off x="6112154" y="2496312"/>
            <a:ext cx="2436266" cy="384048"/>
          </a:xfrm>
          <a:prstGeom prst="rect">
            <a:avLst/>
          </a:prstGeom>
          <a:noFill/>
          <a:ln/>
        </p:spPr>
        <p:txBody>
          <a:bodyPr wrap="square" lIns="0" tIns="0" rIns="0" bIns="0" rtlCol="0" anchor="t"/>
          <a:lstStyle/>
          <a:p>
            <a:pPr marL="0" indent="0" algn="ctr">
              <a:lnSpc>
                <a:spcPct val="105000"/>
              </a:lnSpc>
              <a:buNone/>
            </a:pPr>
            <a:r>
              <a:rPr lang="en-US" sz="850" i="1" dirty="0">
                <a:solidFill>
                  <a:srgbClr val="6E6B8A"/>
                </a:solidFill>
                <a:latin typeface="Calibri" pitchFamily="34" charset="0"/>
                <a:ea typeface="Calibri" pitchFamily="34" charset="-122"/>
                <a:cs typeface="Calibri" pitchFamily="34" charset="-120"/>
              </a:rPr>
              <a:t>types and structured output first</a:t>
            </a:r>
            <a:endParaRPr lang="en-US" sz="850" dirty="0"/>
          </a:p>
        </p:txBody>
      </p:sp>
      <p:sp>
        <p:nvSpPr>
          <p:cNvPr id="15" name="Shape 13"/>
          <p:cNvSpPr/>
          <p:nvPr/>
        </p:nvSpPr>
        <p:spPr>
          <a:xfrm>
            <a:off x="8767877" y="2130552"/>
            <a:ext cx="2619146" cy="768096"/>
          </a:xfrm>
          <a:prstGeom prst="roundRect">
            <a:avLst>
              <a:gd name="adj" fmla="val 8333"/>
            </a:avLst>
          </a:prstGeom>
          <a:solidFill>
            <a:srgbClr val="EEEDFE"/>
          </a:solidFill>
          <a:ln w="12700">
            <a:solidFill>
              <a:srgbClr val="8E82F5"/>
            </a:solidFill>
            <a:prstDash val="solid"/>
          </a:ln>
        </p:spPr>
        <p:txBody>
          <a:bodyPr/>
          <a:lstStyle/>
          <a:p>
            <a:endParaRPr lang="en-US"/>
          </a:p>
        </p:txBody>
      </p:sp>
      <p:sp>
        <p:nvSpPr>
          <p:cNvPr id="16" name="Text 14"/>
          <p:cNvSpPr/>
          <p:nvPr/>
        </p:nvSpPr>
        <p:spPr>
          <a:xfrm>
            <a:off x="8859317" y="2185416"/>
            <a:ext cx="2436266" cy="292608"/>
          </a:xfrm>
          <a:prstGeom prst="rect">
            <a:avLst/>
          </a:prstGeom>
          <a:noFill/>
          <a:ln/>
        </p:spPr>
        <p:txBody>
          <a:bodyPr wrap="square" lIns="0" tIns="0" rIns="0" bIns="0" rtlCol="0" anchor="t"/>
          <a:lstStyle/>
          <a:p>
            <a:pPr marL="0" indent="0" algn="ctr">
              <a:lnSpc>
                <a:spcPct val="100000"/>
              </a:lnSpc>
              <a:buNone/>
            </a:pPr>
            <a:r>
              <a:rPr lang="en-US" sz="1150" b="1" dirty="0">
                <a:solidFill>
                  <a:srgbClr val="141235"/>
                </a:solidFill>
                <a:latin typeface="Calibri" pitchFamily="34" charset="0"/>
                <a:ea typeface="Calibri" pitchFamily="34" charset="-122"/>
                <a:cs typeface="Calibri" pitchFamily="34" charset="-120"/>
              </a:rPr>
              <a:t>Strands Agents</a:t>
            </a:r>
            <a:endParaRPr lang="en-US" sz="1150" dirty="0"/>
          </a:p>
        </p:txBody>
      </p:sp>
      <p:sp>
        <p:nvSpPr>
          <p:cNvPr id="17" name="Text 15"/>
          <p:cNvSpPr/>
          <p:nvPr/>
        </p:nvSpPr>
        <p:spPr>
          <a:xfrm>
            <a:off x="8859317" y="2496312"/>
            <a:ext cx="2436266" cy="384048"/>
          </a:xfrm>
          <a:prstGeom prst="rect">
            <a:avLst/>
          </a:prstGeom>
          <a:noFill/>
          <a:ln/>
        </p:spPr>
        <p:txBody>
          <a:bodyPr wrap="square" lIns="0" tIns="0" rIns="0" bIns="0" rtlCol="0" anchor="t"/>
          <a:lstStyle/>
          <a:p>
            <a:pPr marL="0" indent="0" algn="ctr">
              <a:lnSpc>
                <a:spcPct val="105000"/>
              </a:lnSpc>
              <a:buNone/>
            </a:pPr>
            <a:r>
              <a:rPr lang="en-US" sz="850" i="1" dirty="0">
                <a:solidFill>
                  <a:srgbClr val="6E6B8A"/>
                </a:solidFill>
                <a:latin typeface="Calibri" pitchFamily="34" charset="0"/>
                <a:ea typeface="Calibri" pitchFamily="34" charset="-122"/>
                <a:cs typeface="Calibri" pitchFamily="34" charset="-120"/>
              </a:rPr>
              <a:t>minimal, model-driven, from AWS</a:t>
            </a:r>
            <a:endParaRPr lang="en-US" sz="850" dirty="0"/>
          </a:p>
        </p:txBody>
      </p:sp>
      <p:sp>
        <p:nvSpPr>
          <p:cNvPr id="18" name="Shape 16"/>
          <p:cNvSpPr/>
          <p:nvPr/>
        </p:nvSpPr>
        <p:spPr>
          <a:xfrm>
            <a:off x="566928" y="3145536"/>
            <a:ext cx="11057839" cy="1042416"/>
          </a:xfrm>
          <a:prstGeom prst="roundRect">
            <a:avLst>
              <a:gd name="adj" fmla="val 7895"/>
            </a:avLst>
          </a:prstGeom>
          <a:solidFill>
            <a:srgbClr val="FFFFFF"/>
          </a:solidFill>
          <a:ln w="12700">
            <a:solidFill>
              <a:srgbClr val="E3E4F2"/>
            </a:solidFill>
            <a:prstDash val="solid"/>
          </a:ln>
          <a:effectLst>
            <a:outerShdw blurRad="101600" dist="508" dir="5400000" algn="bl" rotWithShape="0">
              <a:srgbClr val="1B1A4A">
                <a:alpha val="7000"/>
              </a:srgbClr>
            </a:outerShdw>
          </a:effectLst>
        </p:spPr>
        <p:txBody>
          <a:bodyPr/>
          <a:lstStyle/>
          <a:p>
            <a:endParaRPr lang="en-US"/>
          </a:p>
        </p:txBody>
      </p:sp>
      <p:sp>
        <p:nvSpPr>
          <p:cNvPr id="19" name="Text 17"/>
          <p:cNvSpPr/>
          <p:nvPr/>
        </p:nvSpPr>
        <p:spPr>
          <a:xfrm>
            <a:off x="804672" y="3291840"/>
            <a:ext cx="1371600" cy="256032"/>
          </a:xfrm>
          <a:prstGeom prst="rect">
            <a:avLst/>
          </a:prstGeom>
          <a:noFill/>
          <a:ln/>
        </p:spPr>
        <p:txBody>
          <a:bodyPr wrap="square" lIns="0" tIns="0" rIns="0" bIns="0" rtlCol="0" anchor="ctr"/>
          <a:lstStyle/>
          <a:p>
            <a:pPr marL="0" indent="0">
              <a:buNone/>
            </a:pPr>
            <a:r>
              <a:rPr lang="en-US" sz="1000" b="1" kern="0" spc="160" dirty="0">
                <a:solidFill>
                  <a:srgbClr val="5B4BE8"/>
                </a:solidFill>
                <a:latin typeface="Calibri" pitchFamily="34" charset="0"/>
                <a:ea typeface="Calibri" pitchFamily="34" charset="-122"/>
                <a:cs typeface="Calibri" pitchFamily="34" charset="-120"/>
              </a:rPr>
              <a:t>Tier 2</a:t>
            </a:r>
            <a:endParaRPr lang="en-US" sz="1000" dirty="0"/>
          </a:p>
        </p:txBody>
      </p:sp>
      <p:sp>
        <p:nvSpPr>
          <p:cNvPr id="20" name="Text 18"/>
          <p:cNvSpPr/>
          <p:nvPr/>
        </p:nvSpPr>
        <p:spPr>
          <a:xfrm>
            <a:off x="804672" y="3529584"/>
            <a:ext cx="2103120" cy="274320"/>
          </a:xfrm>
          <a:prstGeom prst="rect">
            <a:avLst/>
          </a:prstGeom>
          <a:noFill/>
          <a:ln/>
        </p:spPr>
        <p:txBody>
          <a:bodyPr wrap="square" lIns="0" tIns="0" rIns="0" bIns="0" rtlCol="0" anchor="ctr"/>
          <a:lstStyle/>
          <a:p>
            <a:pPr marL="0" indent="0">
              <a:buNone/>
            </a:pPr>
            <a:r>
              <a:rPr lang="en-US" sz="1500" b="1" dirty="0">
                <a:solidFill>
                  <a:srgbClr val="141235"/>
                </a:solidFill>
                <a:latin typeface="Calibri" pitchFamily="34" charset="0"/>
                <a:ea typeface="Calibri" pitchFamily="34" charset="-122"/>
                <a:cs typeface="Calibri" pitchFamily="34" charset="-120"/>
              </a:rPr>
              <a:t>Graph and state</a:t>
            </a:r>
            <a:endParaRPr lang="en-US" sz="1500" dirty="0"/>
          </a:p>
        </p:txBody>
      </p:sp>
      <p:sp>
        <p:nvSpPr>
          <p:cNvPr id="21" name="Text 19"/>
          <p:cNvSpPr/>
          <p:nvPr/>
        </p:nvSpPr>
        <p:spPr>
          <a:xfrm>
            <a:off x="804672" y="3785616"/>
            <a:ext cx="2286000" cy="384048"/>
          </a:xfrm>
          <a:prstGeom prst="rect">
            <a:avLst/>
          </a:prstGeom>
          <a:noFill/>
          <a:ln/>
        </p:spPr>
        <p:txBody>
          <a:bodyPr wrap="square" lIns="0" tIns="0" rIns="0" bIns="0" rtlCol="0" anchor="t"/>
          <a:lstStyle/>
          <a:p>
            <a:pPr marL="0" indent="0">
              <a:lnSpc>
                <a:spcPct val="110000"/>
              </a:lnSpc>
              <a:buNone/>
            </a:pPr>
            <a:r>
              <a:rPr lang="en-US" sz="1000" dirty="0">
                <a:solidFill>
                  <a:srgbClr val="6E6B8A"/>
                </a:solidFill>
                <a:latin typeface="Calibri" pitchFamily="34" charset="0"/>
                <a:ea typeface="Calibri" pitchFamily="34" charset="-122"/>
                <a:cs typeface="Calibri" pitchFamily="34" charset="-120"/>
              </a:rPr>
              <a:t>Explicit control flow, checkpointing, resumability.</a:t>
            </a:r>
            <a:endParaRPr lang="en-US" sz="1000" dirty="0"/>
          </a:p>
        </p:txBody>
      </p:sp>
      <p:sp>
        <p:nvSpPr>
          <p:cNvPr id="22" name="Shape 20"/>
          <p:cNvSpPr/>
          <p:nvPr/>
        </p:nvSpPr>
        <p:spPr>
          <a:xfrm>
            <a:off x="3273552" y="3282696"/>
            <a:ext cx="3992728" cy="768096"/>
          </a:xfrm>
          <a:prstGeom prst="roundRect">
            <a:avLst>
              <a:gd name="adj" fmla="val 8333"/>
            </a:avLst>
          </a:prstGeom>
          <a:solidFill>
            <a:srgbClr val="EEEDFE"/>
          </a:solidFill>
          <a:ln w="12700">
            <a:solidFill>
              <a:srgbClr val="8E82F5"/>
            </a:solidFill>
            <a:prstDash val="solid"/>
          </a:ln>
        </p:spPr>
        <p:txBody>
          <a:bodyPr/>
          <a:lstStyle/>
          <a:p>
            <a:endParaRPr lang="en-US"/>
          </a:p>
        </p:txBody>
      </p:sp>
      <p:sp>
        <p:nvSpPr>
          <p:cNvPr id="23" name="Text 21"/>
          <p:cNvSpPr/>
          <p:nvPr/>
        </p:nvSpPr>
        <p:spPr>
          <a:xfrm>
            <a:off x="3364992" y="3337560"/>
            <a:ext cx="3809848" cy="292608"/>
          </a:xfrm>
          <a:prstGeom prst="rect">
            <a:avLst/>
          </a:prstGeom>
          <a:noFill/>
          <a:ln/>
        </p:spPr>
        <p:txBody>
          <a:bodyPr wrap="square" lIns="0" tIns="0" rIns="0" bIns="0" rtlCol="0" anchor="t"/>
          <a:lstStyle/>
          <a:p>
            <a:pPr marL="0" indent="0" algn="ctr">
              <a:lnSpc>
                <a:spcPct val="100000"/>
              </a:lnSpc>
              <a:buNone/>
            </a:pPr>
            <a:r>
              <a:rPr lang="en-US" sz="1150" b="1" dirty="0">
                <a:solidFill>
                  <a:srgbClr val="141235"/>
                </a:solidFill>
                <a:latin typeface="Calibri" pitchFamily="34" charset="0"/>
                <a:ea typeface="Calibri" pitchFamily="34" charset="-122"/>
                <a:cs typeface="Calibri" pitchFamily="34" charset="-120"/>
              </a:rPr>
              <a:t>LangGraph</a:t>
            </a:r>
            <a:endParaRPr lang="en-US" sz="1150" dirty="0"/>
          </a:p>
        </p:txBody>
      </p:sp>
      <p:sp>
        <p:nvSpPr>
          <p:cNvPr id="24" name="Text 22"/>
          <p:cNvSpPr/>
          <p:nvPr/>
        </p:nvSpPr>
        <p:spPr>
          <a:xfrm>
            <a:off x="3364992" y="3648456"/>
            <a:ext cx="3809848" cy="384048"/>
          </a:xfrm>
          <a:prstGeom prst="rect">
            <a:avLst/>
          </a:prstGeom>
          <a:noFill/>
          <a:ln/>
        </p:spPr>
        <p:txBody>
          <a:bodyPr wrap="square" lIns="0" tIns="0" rIns="0" bIns="0" rtlCol="0" anchor="t"/>
          <a:lstStyle/>
          <a:p>
            <a:pPr marL="0" indent="0" algn="ctr">
              <a:lnSpc>
                <a:spcPct val="105000"/>
              </a:lnSpc>
              <a:buNone/>
            </a:pPr>
            <a:r>
              <a:rPr lang="en-US" sz="850" i="1" dirty="0">
                <a:solidFill>
                  <a:srgbClr val="6E6B8A"/>
                </a:solidFill>
                <a:latin typeface="Calibri" pitchFamily="34" charset="0"/>
                <a:ea typeface="Calibri" pitchFamily="34" charset="-122"/>
                <a:cs typeface="Calibri" pitchFamily="34" charset="-120"/>
              </a:rPr>
              <a:t>nodes, edges, an explicit state schema</a:t>
            </a:r>
            <a:endParaRPr lang="en-US" sz="850" dirty="0"/>
          </a:p>
        </p:txBody>
      </p:sp>
      <p:sp>
        <p:nvSpPr>
          <p:cNvPr id="25" name="Shape 23"/>
          <p:cNvSpPr/>
          <p:nvPr/>
        </p:nvSpPr>
        <p:spPr>
          <a:xfrm>
            <a:off x="7394296" y="3282696"/>
            <a:ext cx="3992728" cy="768096"/>
          </a:xfrm>
          <a:prstGeom prst="roundRect">
            <a:avLst>
              <a:gd name="adj" fmla="val 8333"/>
            </a:avLst>
          </a:prstGeom>
          <a:solidFill>
            <a:srgbClr val="EEEDFE"/>
          </a:solidFill>
          <a:ln w="12700">
            <a:solidFill>
              <a:srgbClr val="8E82F5"/>
            </a:solidFill>
            <a:prstDash val="solid"/>
          </a:ln>
        </p:spPr>
        <p:txBody>
          <a:bodyPr/>
          <a:lstStyle/>
          <a:p>
            <a:endParaRPr lang="en-US"/>
          </a:p>
        </p:txBody>
      </p:sp>
      <p:sp>
        <p:nvSpPr>
          <p:cNvPr id="26" name="Text 24"/>
          <p:cNvSpPr/>
          <p:nvPr/>
        </p:nvSpPr>
        <p:spPr>
          <a:xfrm>
            <a:off x="7485736" y="3337560"/>
            <a:ext cx="3809848" cy="292608"/>
          </a:xfrm>
          <a:prstGeom prst="rect">
            <a:avLst/>
          </a:prstGeom>
          <a:noFill/>
          <a:ln/>
        </p:spPr>
        <p:txBody>
          <a:bodyPr wrap="square" lIns="0" tIns="0" rIns="0" bIns="0" rtlCol="0" anchor="t"/>
          <a:lstStyle/>
          <a:p>
            <a:pPr marL="0" indent="0" algn="ctr">
              <a:lnSpc>
                <a:spcPct val="100000"/>
              </a:lnSpc>
              <a:buNone/>
            </a:pPr>
            <a:r>
              <a:rPr lang="en-US" sz="1150" b="1" dirty="0">
                <a:solidFill>
                  <a:srgbClr val="141235"/>
                </a:solidFill>
                <a:latin typeface="Calibri" pitchFamily="34" charset="0"/>
                <a:ea typeface="Calibri" pitchFamily="34" charset="-122"/>
                <a:cs typeface="Calibri" pitchFamily="34" charset="-120"/>
              </a:rPr>
              <a:t>Mastra</a:t>
            </a:r>
            <a:endParaRPr lang="en-US" sz="1150" dirty="0"/>
          </a:p>
        </p:txBody>
      </p:sp>
      <p:sp>
        <p:nvSpPr>
          <p:cNvPr id="27" name="Text 25"/>
          <p:cNvSpPr/>
          <p:nvPr/>
        </p:nvSpPr>
        <p:spPr>
          <a:xfrm>
            <a:off x="7485736" y="3648456"/>
            <a:ext cx="3809848" cy="384048"/>
          </a:xfrm>
          <a:prstGeom prst="rect">
            <a:avLst/>
          </a:prstGeom>
          <a:noFill/>
          <a:ln/>
        </p:spPr>
        <p:txBody>
          <a:bodyPr wrap="square" lIns="0" tIns="0" rIns="0" bIns="0" rtlCol="0" anchor="t"/>
          <a:lstStyle/>
          <a:p>
            <a:pPr marL="0" indent="0" algn="ctr">
              <a:lnSpc>
                <a:spcPct val="105000"/>
              </a:lnSpc>
              <a:buNone/>
            </a:pPr>
            <a:r>
              <a:rPr lang="en-US" sz="850" i="1" dirty="0">
                <a:solidFill>
                  <a:srgbClr val="6E6B8A"/>
                </a:solidFill>
                <a:latin typeface="Calibri" pitchFamily="34" charset="0"/>
                <a:ea typeface="Calibri" pitchFamily="34" charset="-122"/>
                <a:cs typeface="Calibri" pitchFamily="34" charset="-120"/>
              </a:rPr>
              <a:t>the same idea, TypeScript-first</a:t>
            </a:r>
            <a:endParaRPr lang="en-US" sz="850" dirty="0"/>
          </a:p>
        </p:txBody>
      </p:sp>
      <p:sp>
        <p:nvSpPr>
          <p:cNvPr id="28" name="Shape 26"/>
          <p:cNvSpPr/>
          <p:nvPr/>
        </p:nvSpPr>
        <p:spPr>
          <a:xfrm>
            <a:off x="566928" y="4297680"/>
            <a:ext cx="11057839" cy="1042416"/>
          </a:xfrm>
          <a:prstGeom prst="roundRect">
            <a:avLst>
              <a:gd name="adj" fmla="val 7895"/>
            </a:avLst>
          </a:prstGeom>
          <a:solidFill>
            <a:srgbClr val="FFFFFF"/>
          </a:solidFill>
          <a:ln w="12700">
            <a:solidFill>
              <a:srgbClr val="E3E4F2"/>
            </a:solidFill>
            <a:prstDash val="solid"/>
          </a:ln>
          <a:effectLst>
            <a:outerShdw blurRad="101600" dist="508" dir="5400000" algn="bl" rotWithShape="0">
              <a:srgbClr val="1B1A4A">
                <a:alpha val="7000"/>
              </a:srgbClr>
            </a:outerShdw>
          </a:effectLst>
        </p:spPr>
        <p:txBody>
          <a:bodyPr/>
          <a:lstStyle/>
          <a:p>
            <a:endParaRPr lang="en-US"/>
          </a:p>
        </p:txBody>
      </p:sp>
      <p:sp>
        <p:nvSpPr>
          <p:cNvPr id="29" name="Text 27"/>
          <p:cNvSpPr/>
          <p:nvPr/>
        </p:nvSpPr>
        <p:spPr>
          <a:xfrm>
            <a:off x="804672" y="4443984"/>
            <a:ext cx="1371600" cy="256032"/>
          </a:xfrm>
          <a:prstGeom prst="rect">
            <a:avLst/>
          </a:prstGeom>
          <a:noFill/>
          <a:ln/>
        </p:spPr>
        <p:txBody>
          <a:bodyPr wrap="square" lIns="0" tIns="0" rIns="0" bIns="0" rtlCol="0" anchor="ctr"/>
          <a:lstStyle/>
          <a:p>
            <a:pPr marL="0" indent="0">
              <a:buNone/>
            </a:pPr>
            <a:r>
              <a:rPr lang="en-US" sz="1000" b="1" kern="0" spc="160" dirty="0">
                <a:solidFill>
                  <a:srgbClr val="E08700"/>
                </a:solidFill>
                <a:latin typeface="Calibri" pitchFamily="34" charset="0"/>
                <a:ea typeface="Calibri" pitchFamily="34" charset="-122"/>
                <a:cs typeface="Calibri" pitchFamily="34" charset="-120"/>
              </a:rPr>
              <a:t>Tier 3</a:t>
            </a:r>
            <a:endParaRPr lang="en-US" sz="1000" dirty="0"/>
          </a:p>
        </p:txBody>
      </p:sp>
      <p:sp>
        <p:nvSpPr>
          <p:cNvPr id="30" name="Text 28"/>
          <p:cNvSpPr/>
          <p:nvPr/>
        </p:nvSpPr>
        <p:spPr>
          <a:xfrm>
            <a:off x="804672" y="4681728"/>
            <a:ext cx="2103120" cy="274320"/>
          </a:xfrm>
          <a:prstGeom prst="rect">
            <a:avLst/>
          </a:prstGeom>
          <a:noFill/>
          <a:ln/>
        </p:spPr>
        <p:txBody>
          <a:bodyPr wrap="square" lIns="0" tIns="0" rIns="0" bIns="0" rtlCol="0" anchor="ctr"/>
          <a:lstStyle/>
          <a:p>
            <a:pPr marL="0" indent="0">
              <a:buNone/>
            </a:pPr>
            <a:r>
              <a:rPr lang="en-US" sz="1500" b="1" dirty="0">
                <a:solidFill>
                  <a:srgbClr val="141235"/>
                </a:solidFill>
                <a:latin typeface="Calibri" pitchFamily="34" charset="0"/>
                <a:ea typeface="Calibri" pitchFamily="34" charset="-122"/>
                <a:cs typeface="Calibri" pitchFamily="34" charset="-120"/>
              </a:rPr>
              <a:t>Roles and teams</a:t>
            </a:r>
            <a:endParaRPr lang="en-US" sz="1500" dirty="0"/>
          </a:p>
        </p:txBody>
      </p:sp>
      <p:sp>
        <p:nvSpPr>
          <p:cNvPr id="31" name="Text 29"/>
          <p:cNvSpPr/>
          <p:nvPr/>
        </p:nvSpPr>
        <p:spPr>
          <a:xfrm>
            <a:off x="804672" y="4937760"/>
            <a:ext cx="2286000" cy="384048"/>
          </a:xfrm>
          <a:prstGeom prst="rect">
            <a:avLst/>
          </a:prstGeom>
          <a:noFill/>
          <a:ln/>
        </p:spPr>
        <p:txBody>
          <a:bodyPr wrap="square" lIns="0" tIns="0" rIns="0" bIns="0" rtlCol="0" anchor="t"/>
          <a:lstStyle/>
          <a:p>
            <a:pPr marL="0" indent="0">
              <a:lnSpc>
                <a:spcPct val="110000"/>
              </a:lnSpc>
              <a:buNone/>
            </a:pPr>
            <a:r>
              <a:rPr lang="en-US" sz="1000" dirty="0">
                <a:solidFill>
                  <a:srgbClr val="6E6B8A"/>
                </a:solidFill>
                <a:latin typeface="Calibri" pitchFamily="34" charset="0"/>
                <a:ea typeface="Calibri" pitchFamily="34" charset="-122"/>
                <a:cs typeface="Calibri" pitchFamily="34" charset="-120"/>
              </a:rPr>
              <a:t>An org-chart metaphor over the same loop.</a:t>
            </a:r>
            <a:endParaRPr lang="en-US" sz="1000" dirty="0"/>
          </a:p>
        </p:txBody>
      </p:sp>
      <p:sp>
        <p:nvSpPr>
          <p:cNvPr id="32" name="Shape 30"/>
          <p:cNvSpPr/>
          <p:nvPr/>
        </p:nvSpPr>
        <p:spPr>
          <a:xfrm>
            <a:off x="3273552" y="4434840"/>
            <a:ext cx="1520281" cy="768096"/>
          </a:xfrm>
          <a:prstGeom prst="roundRect">
            <a:avLst>
              <a:gd name="adj" fmla="val 8333"/>
            </a:avLst>
          </a:prstGeom>
          <a:solidFill>
            <a:srgbClr val="FFF4E0"/>
          </a:solidFill>
          <a:ln w="12700">
            <a:solidFill>
              <a:srgbClr val="F0D5A6"/>
            </a:solidFill>
            <a:prstDash val="solid"/>
          </a:ln>
        </p:spPr>
        <p:txBody>
          <a:bodyPr/>
          <a:lstStyle/>
          <a:p>
            <a:endParaRPr lang="en-US"/>
          </a:p>
        </p:txBody>
      </p:sp>
      <p:sp>
        <p:nvSpPr>
          <p:cNvPr id="33" name="Text 31"/>
          <p:cNvSpPr/>
          <p:nvPr/>
        </p:nvSpPr>
        <p:spPr>
          <a:xfrm>
            <a:off x="3364992" y="4489704"/>
            <a:ext cx="1337401" cy="292608"/>
          </a:xfrm>
          <a:prstGeom prst="rect">
            <a:avLst/>
          </a:prstGeom>
          <a:noFill/>
          <a:ln/>
        </p:spPr>
        <p:txBody>
          <a:bodyPr wrap="square" lIns="0" tIns="0" rIns="0" bIns="0" rtlCol="0" anchor="t"/>
          <a:lstStyle/>
          <a:p>
            <a:pPr marL="0" indent="0" algn="ctr">
              <a:lnSpc>
                <a:spcPct val="100000"/>
              </a:lnSpc>
              <a:buNone/>
            </a:pPr>
            <a:r>
              <a:rPr lang="en-US" sz="1150" b="1" dirty="0">
                <a:solidFill>
                  <a:srgbClr val="141235"/>
                </a:solidFill>
                <a:latin typeface="Calibri" pitchFamily="34" charset="0"/>
                <a:ea typeface="Calibri" pitchFamily="34" charset="-122"/>
                <a:cs typeface="Calibri" pitchFamily="34" charset="-120"/>
              </a:rPr>
              <a:t>CrewAI</a:t>
            </a:r>
            <a:endParaRPr lang="en-US" sz="1150" dirty="0"/>
          </a:p>
        </p:txBody>
      </p:sp>
      <p:sp>
        <p:nvSpPr>
          <p:cNvPr id="34" name="Text 32"/>
          <p:cNvSpPr/>
          <p:nvPr/>
        </p:nvSpPr>
        <p:spPr>
          <a:xfrm>
            <a:off x="3364992" y="4800600"/>
            <a:ext cx="1337401" cy="384048"/>
          </a:xfrm>
          <a:prstGeom prst="rect">
            <a:avLst/>
          </a:prstGeom>
          <a:noFill/>
          <a:ln/>
        </p:spPr>
        <p:txBody>
          <a:bodyPr wrap="square" lIns="0" tIns="0" rIns="0" bIns="0" rtlCol="0" anchor="t"/>
          <a:lstStyle/>
          <a:p>
            <a:pPr marL="0" indent="0" algn="ctr">
              <a:lnSpc>
                <a:spcPct val="105000"/>
              </a:lnSpc>
              <a:buNone/>
            </a:pPr>
            <a:r>
              <a:rPr lang="en-US" sz="850" i="1" dirty="0">
                <a:solidFill>
                  <a:srgbClr val="6E6B8A"/>
                </a:solidFill>
                <a:latin typeface="Calibri" pitchFamily="34" charset="0"/>
                <a:ea typeface="Calibri" pitchFamily="34" charset="-122"/>
                <a:cs typeface="Calibri" pitchFamily="34" charset="-120"/>
              </a:rPr>
              <a:t>roles and tasks</a:t>
            </a:r>
            <a:endParaRPr lang="en-US" sz="850" dirty="0"/>
          </a:p>
        </p:txBody>
      </p:sp>
      <p:sp>
        <p:nvSpPr>
          <p:cNvPr id="35" name="Shape 33"/>
          <p:cNvSpPr/>
          <p:nvPr/>
        </p:nvSpPr>
        <p:spPr>
          <a:xfrm>
            <a:off x="4921849" y="4434840"/>
            <a:ext cx="1520281" cy="768096"/>
          </a:xfrm>
          <a:prstGeom prst="roundRect">
            <a:avLst>
              <a:gd name="adj" fmla="val 8333"/>
            </a:avLst>
          </a:prstGeom>
          <a:solidFill>
            <a:srgbClr val="FFF4E0"/>
          </a:solidFill>
          <a:ln w="12700">
            <a:solidFill>
              <a:srgbClr val="F0D5A6"/>
            </a:solidFill>
            <a:prstDash val="solid"/>
          </a:ln>
        </p:spPr>
        <p:txBody>
          <a:bodyPr/>
          <a:lstStyle/>
          <a:p>
            <a:endParaRPr lang="en-US"/>
          </a:p>
        </p:txBody>
      </p:sp>
      <p:sp>
        <p:nvSpPr>
          <p:cNvPr id="36" name="Text 34"/>
          <p:cNvSpPr/>
          <p:nvPr/>
        </p:nvSpPr>
        <p:spPr>
          <a:xfrm>
            <a:off x="5013289" y="4489704"/>
            <a:ext cx="1337401" cy="292608"/>
          </a:xfrm>
          <a:prstGeom prst="rect">
            <a:avLst/>
          </a:prstGeom>
          <a:noFill/>
          <a:ln/>
        </p:spPr>
        <p:txBody>
          <a:bodyPr wrap="square" lIns="0" tIns="0" rIns="0" bIns="0" rtlCol="0" anchor="t"/>
          <a:lstStyle/>
          <a:p>
            <a:pPr marL="0" indent="0" algn="ctr">
              <a:lnSpc>
                <a:spcPct val="100000"/>
              </a:lnSpc>
              <a:buNone/>
            </a:pPr>
            <a:r>
              <a:rPr lang="en-US" sz="1150" b="1" dirty="0">
                <a:solidFill>
                  <a:srgbClr val="141235"/>
                </a:solidFill>
                <a:latin typeface="Calibri" pitchFamily="34" charset="0"/>
                <a:ea typeface="Calibri" pitchFamily="34" charset="-122"/>
                <a:cs typeface="Calibri" pitchFamily="34" charset="-120"/>
              </a:rPr>
              <a:t>AutoGen</a:t>
            </a:r>
            <a:endParaRPr lang="en-US" sz="1150" dirty="0"/>
          </a:p>
        </p:txBody>
      </p:sp>
      <p:sp>
        <p:nvSpPr>
          <p:cNvPr id="37" name="Text 35"/>
          <p:cNvSpPr/>
          <p:nvPr/>
        </p:nvSpPr>
        <p:spPr>
          <a:xfrm>
            <a:off x="5013289" y="4800600"/>
            <a:ext cx="1337401" cy="384048"/>
          </a:xfrm>
          <a:prstGeom prst="rect">
            <a:avLst/>
          </a:prstGeom>
          <a:noFill/>
          <a:ln/>
        </p:spPr>
        <p:txBody>
          <a:bodyPr wrap="square" lIns="0" tIns="0" rIns="0" bIns="0" rtlCol="0" anchor="t"/>
          <a:lstStyle/>
          <a:p>
            <a:pPr marL="0" indent="0" algn="ctr">
              <a:lnSpc>
                <a:spcPct val="105000"/>
              </a:lnSpc>
              <a:buNone/>
            </a:pPr>
            <a:r>
              <a:rPr lang="en-US" sz="850" i="1" dirty="0">
                <a:solidFill>
                  <a:srgbClr val="6E6B8A"/>
                </a:solidFill>
                <a:latin typeface="Calibri" pitchFamily="34" charset="0"/>
                <a:ea typeface="Calibri" pitchFamily="34" charset="-122"/>
                <a:cs typeface="Calibri" pitchFamily="34" charset="-120"/>
              </a:rPr>
              <a:t>conversational multi-agent</a:t>
            </a:r>
            <a:endParaRPr lang="en-US" sz="850" dirty="0"/>
          </a:p>
        </p:txBody>
      </p:sp>
      <p:sp>
        <p:nvSpPr>
          <p:cNvPr id="38" name="Shape 36"/>
          <p:cNvSpPr/>
          <p:nvPr/>
        </p:nvSpPr>
        <p:spPr>
          <a:xfrm>
            <a:off x="6570147" y="4434840"/>
            <a:ext cx="1520281" cy="768096"/>
          </a:xfrm>
          <a:prstGeom prst="roundRect">
            <a:avLst>
              <a:gd name="adj" fmla="val 8333"/>
            </a:avLst>
          </a:prstGeom>
          <a:solidFill>
            <a:srgbClr val="FFF4E0"/>
          </a:solidFill>
          <a:ln w="12700">
            <a:solidFill>
              <a:srgbClr val="F0D5A6"/>
            </a:solidFill>
            <a:prstDash val="solid"/>
          </a:ln>
        </p:spPr>
        <p:txBody>
          <a:bodyPr/>
          <a:lstStyle/>
          <a:p>
            <a:endParaRPr lang="en-US"/>
          </a:p>
        </p:txBody>
      </p:sp>
      <p:sp>
        <p:nvSpPr>
          <p:cNvPr id="39" name="Text 37"/>
          <p:cNvSpPr/>
          <p:nvPr/>
        </p:nvSpPr>
        <p:spPr>
          <a:xfrm>
            <a:off x="6661587" y="4489704"/>
            <a:ext cx="1337401" cy="292608"/>
          </a:xfrm>
          <a:prstGeom prst="rect">
            <a:avLst/>
          </a:prstGeom>
          <a:noFill/>
          <a:ln/>
        </p:spPr>
        <p:txBody>
          <a:bodyPr wrap="square" lIns="0" tIns="0" rIns="0" bIns="0" rtlCol="0" anchor="t"/>
          <a:lstStyle/>
          <a:p>
            <a:pPr marL="0" indent="0" algn="ctr">
              <a:lnSpc>
                <a:spcPct val="100000"/>
              </a:lnSpc>
              <a:buNone/>
            </a:pPr>
            <a:r>
              <a:rPr lang="en-US" sz="1150" b="1" dirty="0">
                <a:solidFill>
                  <a:srgbClr val="141235"/>
                </a:solidFill>
                <a:latin typeface="Calibri" pitchFamily="34" charset="0"/>
                <a:ea typeface="Calibri" pitchFamily="34" charset="-122"/>
                <a:cs typeface="Calibri" pitchFamily="34" charset="-120"/>
              </a:rPr>
              <a:t>Agno</a:t>
            </a:r>
            <a:endParaRPr lang="en-US" sz="1150" dirty="0"/>
          </a:p>
        </p:txBody>
      </p:sp>
      <p:sp>
        <p:nvSpPr>
          <p:cNvPr id="40" name="Text 38"/>
          <p:cNvSpPr/>
          <p:nvPr/>
        </p:nvSpPr>
        <p:spPr>
          <a:xfrm>
            <a:off x="6661587" y="4800600"/>
            <a:ext cx="1337401" cy="384048"/>
          </a:xfrm>
          <a:prstGeom prst="rect">
            <a:avLst/>
          </a:prstGeom>
          <a:noFill/>
          <a:ln/>
        </p:spPr>
        <p:txBody>
          <a:bodyPr wrap="square" lIns="0" tIns="0" rIns="0" bIns="0" rtlCol="0" anchor="t"/>
          <a:lstStyle/>
          <a:p>
            <a:pPr marL="0" indent="0" algn="ctr">
              <a:lnSpc>
                <a:spcPct val="105000"/>
              </a:lnSpc>
              <a:buNone/>
            </a:pPr>
            <a:r>
              <a:rPr lang="en-US" sz="850" i="1" dirty="0">
                <a:solidFill>
                  <a:srgbClr val="6E6B8A"/>
                </a:solidFill>
                <a:latin typeface="Calibri" pitchFamily="34" charset="0"/>
                <a:ea typeface="Calibri" pitchFamily="34" charset="-122"/>
                <a:cs typeface="Calibri" pitchFamily="34" charset="-120"/>
              </a:rPr>
              <a:t>batteries included</a:t>
            </a:r>
            <a:endParaRPr lang="en-US" sz="850" dirty="0"/>
          </a:p>
        </p:txBody>
      </p:sp>
      <p:sp>
        <p:nvSpPr>
          <p:cNvPr id="41" name="Shape 39"/>
          <p:cNvSpPr/>
          <p:nvPr/>
        </p:nvSpPr>
        <p:spPr>
          <a:xfrm>
            <a:off x="8218444" y="4434840"/>
            <a:ext cx="1520281" cy="768096"/>
          </a:xfrm>
          <a:prstGeom prst="roundRect">
            <a:avLst>
              <a:gd name="adj" fmla="val 8333"/>
            </a:avLst>
          </a:prstGeom>
          <a:solidFill>
            <a:srgbClr val="FFF4E0"/>
          </a:solidFill>
          <a:ln w="12700">
            <a:solidFill>
              <a:srgbClr val="F0D5A6"/>
            </a:solidFill>
            <a:prstDash val="solid"/>
          </a:ln>
        </p:spPr>
        <p:txBody>
          <a:bodyPr/>
          <a:lstStyle/>
          <a:p>
            <a:endParaRPr lang="en-US"/>
          </a:p>
        </p:txBody>
      </p:sp>
      <p:sp>
        <p:nvSpPr>
          <p:cNvPr id="42" name="Text 40"/>
          <p:cNvSpPr/>
          <p:nvPr/>
        </p:nvSpPr>
        <p:spPr>
          <a:xfrm>
            <a:off x="8309884" y="4489704"/>
            <a:ext cx="1337401" cy="292608"/>
          </a:xfrm>
          <a:prstGeom prst="rect">
            <a:avLst/>
          </a:prstGeom>
          <a:noFill/>
          <a:ln/>
        </p:spPr>
        <p:txBody>
          <a:bodyPr wrap="square" lIns="0" tIns="0" rIns="0" bIns="0" rtlCol="0" anchor="t"/>
          <a:lstStyle/>
          <a:p>
            <a:pPr marL="0" indent="0" algn="ctr">
              <a:lnSpc>
                <a:spcPct val="100000"/>
              </a:lnSpc>
              <a:buNone/>
            </a:pPr>
            <a:r>
              <a:rPr lang="en-US" sz="1150" b="1" dirty="0">
                <a:solidFill>
                  <a:srgbClr val="141235"/>
                </a:solidFill>
                <a:latin typeface="Calibri" pitchFamily="34" charset="0"/>
                <a:ea typeface="Calibri" pitchFamily="34" charset="-122"/>
                <a:cs typeface="Calibri" pitchFamily="34" charset="-120"/>
              </a:rPr>
              <a:t>Google ADK</a:t>
            </a:r>
            <a:endParaRPr lang="en-US" sz="1150" dirty="0"/>
          </a:p>
        </p:txBody>
      </p:sp>
      <p:sp>
        <p:nvSpPr>
          <p:cNvPr id="43" name="Text 41"/>
          <p:cNvSpPr/>
          <p:nvPr/>
        </p:nvSpPr>
        <p:spPr>
          <a:xfrm>
            <a:off x="8309884" y="4800600"/>
            <a:ext cx="1337401" cy="384048"/>
          </a:xfrm>
          <a:prstGeom prst="rect">
            <a:avLst/>
          </a:prstGeom>
          <a:noFill/>
          <a:ln/>
        </p:spPr>
        <p:txBody>
          <a:bodyPr wrap="square" lIns="0" tIns="0" rIns="0" bIns="0" rtlCol="0" anchor="t"/>
          <a:lstStyle/>
          <a:p>
            <a:pPr marL="0" indent="0" algn="ctr">
              <a:lnSpc>
                <a:spcPct val="105000"/>
              </a:lnSpc>
              <a:buNone/>
            </a:pPr>
            <a:r>
              <a:rPr lang="en-US" sz="850" i="1" dirty="0">
                <a:solidFill>
                  <a:srgbClr val="6E6B8A"/>
                </a:solidFill>
                <a:latin typeface="Calibri" pitchFamily="34" charset="0"/>
                <a:ea typeface="Calibri" pitchFamily="34" charset="-122"/>
                <a:cs typeface="Calibri" pitchFamily="34" charset="-120"/>
              </a:rPr>
              <a:t>hierarchical, Google ecosystem</a:t>
            </a:r>
            <a:endParaRPr lang="en-US" sz="850" dirty="0"/>
          </a:p>
        </p:txBody>
      </p:sp>
      <p:sp>
        <p:nvSpPr>
          <p:cNvPr id="44" name="Shape 42"/>
          <p:cNvSpPr/>
          <p:nvPr/>
        </p:nvSpPr>
        <p:spPr>
          <a:xfrm>
            <a:off x="9866742" y="4434840"/>
            <a:ext cx="1520281" cy="768096"/>
          </a:xfrm>
          <a:prstGeom prst="roundRect">
            <a:avLst>
              <a:gd name="adj" fmla="val 8333"/>
            </a:avLst>
          </a:prstGeom>
          <a:solidFill>
            <a:srgbClr val="FFF4E0"/>
          </a:solidFill>
          <a:ln w="12700">
            <a:solidFill>
              <a:srgbClr val="F0D5A6"/>
            </a:solidFill>
            <a:prstDash val="solid"/>
          </a:ln>
        </p:spPr>
        <p:txBody>
          <a:bodyPr/>
          <a:lstStyle/>
          <a:p>
            <a:endParaRPr lang="en-US"/>
          </a:p>
        </p:txBody>
      </p:sp>
      <p:sp>
        <p:nvSpPr>
          <p:cNvPr id="45" name="Text 43"/>
          <p:cNvSpPr/>
          <p:nvPr/>
        </p:nvSpPr>
        <p:spPr>
          <a:xfrm>
            <a:off x="9958182" y="4489704"/>
            <a:ext cx="1337401" cy="292608"/>
          </a:xfrm>
          <a:prstGeom prst="rect">
            <a:avLst/>
          </a:prstGeom>
          <a:noFill/>
          <a:ln/>
        </p:spPr>
        <p:txBody>
          <a:bodyPr wrap="square" lIns="0" tIns="0" rIns="0" bIns="0" rtlCol="0" anchor="t"/>
          <a:lstStyle/>
          <a:p>
            <a:pPr marL="0" indent="0" algn="ctr">
              <a:lnSpc>
                <a:spcPct val="100000"/>
              </a:lnSpc>
              <a:buNone/>
            </a:pPr>
            <a:r>
              <a:rPr lang="en-US" sz="1150" b="1" dirty="0">
                <a:solidFill>
                  <a:srgbClr val="141235"/>
                </a:solidFill>
                <a:latin typeface="Calibri" pitchFamily="34" charset="0"/>
                <a:ea typeface="Calibri" pitchFamily="34" charset="-122"/>
                <a:cs typeface="Calibri" pitchFamily="34" charset="-120"/>
              </a:rPr>
              <a:t>Microsoft Agent Framework</a:t>
            </a:r>
            <a:endParaRPr lang="en-US" sz="1150" dirty="0"/>
          </a:p>
        </p:txBody>
      </p:sp>
      <p:sp>
        <p:nvSpPr>
          <p:cNvPr id="46" name="Text 44"/>
          <p:cNvSpPr/>
          <p:nvPr/>
        </p:nvSpPr>
        <p:spPr>
          <a:xfrm>
            <a:off x="9958182" y="4800600"/>
            <a:ext cx="1337401" cy="384048"/>
          </a:xfrm>
          <a:prstGeom prst="rect">
            <a:avLst/>
          </a:prstGeom>
          <a:noFill/>
          <a:ln/>
        </p:spPr>
        <p:txBody>
          <a:bodyPr wrap="square" lIns="0" tIns="0" rIns="0" bIns="0" rtlCol="0" anchor="t"/>
          <a:lstStyle/>
          <a:p>
            <a:pPr marL="0" indent="0" algn="ctr">
              <a:lnSpc>
                <a:spcPct val="105000"/>
              </a:lnSpc>
              <a:buNone/>
            </a:pPr>
            <a:r>
              <a:rPr lang="en-US" sz="850" i="1" dirty="0">
                <a:solidFill>
                  <a:srgbClr val="6E6B8A"/>
                </a:solidFill>
                <a:latin typeface="Calibri" pitchFamily="34" charset="0"/>
                <a:ea typeface="Calibri" pitchFamily="34" charset="-122"/>
                <a:cs typeface="Calibri" pitchFamily="34" charset="-120"/>
              </a:rPr>
              <a:t>the Semantic Kernel and AutoGen convergence</a:t>
            </a:r>
            <a:endParaRPr lang="en-US" sz="850" dirty="0"/>
          </a:p>
        </p:txBody>
      </p:sp>
      <p:sp>
        <p:nvSpPr>
          <p:cNvPr id="47" name="Text 45"/>
          <p:cNvSpPr/>
          <p:nvPr/>
        </p:nvSpPr>
        <p:spPr>
          <a:xfrm>
            <a:off x="566928" y="5394960"/>
            <a:ext cx="11057839" cy="256032"/>
          </a:xfrm>
          <a:prstGeom prst="rect">
            <a:avLst/>
          </a:prstGeom>
          <a:noFill/>
          <a:ln/>
        </p:spPr>
        <p:txBody>
          <a:bodyPr wrap="square" lIns="0" tIns="0" rIns="0" bIns="0" rtlCol="0" anchor="ctr"/>
          <a:lstStyle/>
          <a:p>
            <a:pPr marL="0" indent="0">
              <a:buNone/>
            </a:pPr>
            <a:r>
              <a:rPr lang="en-US" sz="950" i="1" dirty="0">
                <a:solidFill>
                  <a:srgbClr val="9B98B4"/>
                </a:solidFill>
                <a:latin typeface="Calibri" pitchFamily="34" charset="0"/>
                <a:ea typeface="Calibri" pitchFamily="34" charset="-122"/>
                <a:cs typeface="Calibri" pitchFamily="34" charset="-120"/>
              </a:rPr>
              <a:t>Tier 0 is the loop you wrote in module 03. Tier 4 is a managed runtime on a cloud — module 16. This landscape moves quickly; the tiers do not.</a:t>
            </a:r>
            <a:endParaRPr lang="en-US" sz="950" dirty="0"/>
          </a:p>
        </p:txBody>
      </p:sp>
      <p:sp>
        <p:nvSpPr>
          <p:cNvPr id="48" name="Shape 46"/>
          <p:cNvSpPr/>
          <p:nvPr/>
        </p:nvSpPr>
        <p:spPr>
          <a:xfrm>
            <a:off x="566928" y="5687568"/>
            <a:ext cx="11057839" cy="694944"/>
          </a:xfrm>
          <a:prstGeom prst="roundRect">
            <a:avLst>
              <a:gd name="adj" fmla="val 11842"/>
            </a:avLst>
          </a:prstGeom>
          <a:solidFill>
            <a:srgbClr val="FFF4E0"/>
          </a:solidFill>
          <a:ln w="12700">
            <a:solidFill>
              <a:srgbClr val="F3DCB0"/>
            </a:solidFill>
            <a:prstDash val="solid"/>
          </a:ln>
        </p:spPr>
        <p:txBody>
          <a:bodyPr/>
          <a:lstStyle/>
          <a:p>
            <a:endParaRPr lang="en-US"/>
          </a:p>
        </p:txBody>
      </p:sp>
      <p:sp>
        <p:nvSpPr>
          <p:cNvPr id="49" name="Shape 47"/>
          <p:cNvSpPr/>
          <p:nvPr/>
        </p:nvSpPr>
        <p:spPr>
          <a:xfrm>
            <a:off x="841248" y="5843016"/>
            <a:ext cx="384048" cy="384048"/>
          </a:xfrm>
          <a:prstGeom prst="ellipse">
            <a:avLst/>
          </a:prstGeom>
          <a:solidFill>
            <a:srgbClr val="F5A524"/>
          </a:solidFill>
          <a:ln w="12700">
            <a:solidFill>
              <a:srgbClr val="F5A524"/>
            </a:solidFill>
            <a:prstDash val="solid"/>
          </a:ln>
        </p:spPr>
        <p:txBody>
          <a:bodyPr/>
          <a:lstStyle/>
          <a:p>
            <a:endParaRPr lang="en-US"/>
          </a:p>
        </p:txBody>
      </p:sp>
      <p:pic>
        <p:nvPicPr>
          <p:cNvPr id="50" name="Image 0" descr="preencoded.png"/>
          <p:cNvPicPr>
            <a:picLocks noChangeAspect="1"/>
          </p:cNvPicPr>
          <p:nvPr/>
        </p:nvPicPr>
        <p:blipFill>
          <a:blip r:embed="rId3"/>
          <a:stretch>
            <a:fillRect/>
          </a:stretch>
        </p:blipFill>
        <p:spPr>
          <a:xfrm>
            <a:off x="937260" y="5939028"/>
            <a:ext cx="192024" cy="192024"/>
          </a:xfrm>
          <a:prstGeom prst="rect">
            <a:avLst/>
          </a:prstGeom>
        </p:spPr>
      </p:pic>
      <p:sp>
        <p:nvSpPr>
          <p:cNvPr id="51" name="Text 48"/>
          <p:cNvSpPr/>
          <p:nvPr/>
        </p:nvSpPr>
        <p:spPr>
          <a:xfrm>
            <a:off x="1371600" y="5742432"/>
            <a:ext cx="9960559" cy="585216"/>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Nine names, three ideas. Learn to ask which tier a tool sits on and the marketing largely answers itself.</a:t>
            </a:r>
            <a:endParaRPr lang="en-US" sz="105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09 · THE FRAMEWORK LADDER</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3000" b="1" dirty="0">
                <a:solidFill>
                  <a:srgbClr val="141235"/>
                </a:solidFill>
                <a:latin typeface="Cambria" pitchFamily="34" charset="0"/>
                <a:ea typeface="Cambria" pitchFamily="34" charset="-122"/>
                <a:cs typeface="Cambria" pitchFamily="34" charset="-120"/>
              </a:rPr>
              <a:t>No framework, or a framework — the honest trade</a:t>
            </a:r>
            <a:endParaRPr lang="en-US" sz="3000" dirty="0"/>
          </a:p>
        </p:txBody>
      </p:sp>
      <p:sp>
        <p:nvSpPr>
          <p:cNvPr id="4" name="Shape 2"/>
          <p:cNvSpPr/>
          <p:nvPr/>
        </p:nvSpPr>
        <p:spPr>
          <a:xfrm>
            <a:off x="566928" y="1810512"/>
            <a:ext cx="5391760" cy="3950208"/>
          </a:xfrm>
          <a:prstGeom prst="roundRect">
            <a:avLst>
              <a:gd name="adj" fmla="val 2315"/>
            </a:avLst>
          </a:prstGeom>
          <a:solidFill>
            <a:srgbClr val="FFFFFF"/>
          </a:solidFill>
          <a:ln w="17780">
            <a:solidFill>
              <a:srgbClr val="8E82F5"/>
            </a:solidFill>
            <a:prstDash val="solid"/>
          </a:ln>
          <a:effectLst>
            <a:outerShdw blurRad="114300" dist="572" dir="5400000" algn="bl" rotWithShape="0">
              <a:srgbClr val="1B1A4A">
                <a:alpha val="7000"/>
              </a:srgbClr>
            </a:outerShdw>
          </a:effectLst>
        </p:spPr>
        <p:txBody>
          <a:bodyPr/>
          <a:lstStyle/>
          <a:p>
            <a:endParaRPr lang="en-US"/>
          </a:p>
        </p:txBody>
      </p:sp>
      <p:sp>
        <p:nvSpPr>
          <p:cNvPr id="5" name="Shape 3"/>
          <p:cNvSpPr/>
          <p:nvPr/>
        </p:nvSpPr>
        <p:spPr>
          <a:xfrm>
            <a:off x="822960" y="1975104"/>
            <a:ext cx="402336" cy="402336"/>
          </a:xfrm>
          <a:prstGeom prst="ellipse">
            <a:avLst/>
          </a:prstGeom>
          <a:solidFill>
            <a:srgbClr val="5B4BE8"/>
          </a:solidFill>
          <a:ln w="12700">
            <a:solidFill>
              <a:srgbClr val="5B4BE8"/>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923544" y="2075688"/>
            <a:ext cx="201168" cy="201168"/>
          </a:xfrm>
          <a:prstGeom prst="rect">
            <a:avLst/>
          </a:prstGeom>
        </p:spPr>
      </p:pic>
      <p:sp>
        <p:nvSpPr>
          <p:cNvPr id="7" name="Text 4"/>
          <p:cNvSpPr/>
          <p:nvPr/>
        </p:nvSpPr>
        <p:spPr>
          <a:xfrm>
            <a:off x="1353312" y="1975104"/>
            <a:ext cx="4385920" cy="274320"/>
          </a:xfrm>
          <a:prstGeom prst="rect">
            <a:avLst/>
          </a:prstGeom>
          <a:noFill/>
          <a:ln/>
        </p:spPr>
        <p:txBody>
          <a:bodyPr wrap="square" lIns="0" tIns="0" rIns="0" bIns="0" rtlCol="0" anchor="ctr"/>
          <a:lstStyle/>
          <a:p>
            <a:pPr marL="0" indent="0">
              <a:buNone/>
            </a:pPr>
            <a:r>
              <a:rPr lang="en-US" sz="1700" b="1" dirty="0">
                <a:solidFill>
                  <a:srgbClr val="141235"/>
                </a:solidFill>
                <a:latin typeface="Calibri" pitchFamily="34" charset="0"/>
                <a:ea typeface="Calibri" pitchFamily="34" charset="-122"/>
                <a:cs typeface="Calibri" pitchFamily="34" charset="-120"/>
              </a:rPr>
              <a:t>No framework</a:t>
            </a:r>
            <a:endParaRPr lang="en-US" sz="1700" dirty="0"/>
          </a:p>
        </p:txBody>
      </p:sp>
      <p:sp>
        <p:nvSpPr>
          <p:cNvPr id="8" name="Text 5"/>
          <p:cNvSpPr/>
          <p:nvPr/>
        </p:nvSpPr>
        <p:spPr>
          <a:xfrm>
            <a:off x="1353312" y="2249424"/>
            <a:ext cx="4385920" cy="237744"/>
          </a:xfrm>
          <a:prstGeom prst="rect">
            <a:avLst/>
          </a:prstGeom>
          <a:noFill/>
          <a:ln/>
        </p:spPr>
        <p:txBody>
          <a:bodyPr wrap="square" lIns="0" tIns="0" rIns="0" bIns="0" rtlCol="0" anchor="ctr"/>
          <a:lstStyle/>
          <a:p>
            <a:pPr marL="0" indent="0">
              <a:buNone/>
            </a:pPr>
            <a:r>
              <a:rPr lang="en-US" sz="1050" i="1" dirty="0">
                <a:solidFill>
                  <a:srgbClr val="5B4BE8"/>
                </a:solidFill>
                <a:latin typeface="Calibri" pitchFamily="34" charset="0"/>
                <a:ea typeface="Calibri" pitchFamily="34" charset="-122"/>
                <a:cs typeface="Calibri" pitchFamily="34" charset="-120"/>
              </a:rPr>
              <a:t>the loop you wrote in module 03</a:t>
            </a:r>
            <a:endParaRPr lang="en-US" sz="1050" dirty="0"/>
          </a:p>
        </p:txBody>
      </p:sp>
      <p:sp>
        <p:nvSpPr>
          <p:cNvPr id="9" name="Text 6"/>
          <p:cNvSpPr/>
          <p:nvPr/>
        </p:nvSpPr>
        <p:spPr>
          <a:xfrm>
            <a:off x="822960" y="2578608"/>
            <a:ext cx="4879696" cy="219456"/>
          </a:xfrm>
          <a:prstGeom prst="rect">
            <a:avLst/>
          </a:prstGeom>
          <a:noFill/>
          <a:ln/>
        </p:spPr>
        <p:txBody>
          <a:bodyPr wrap="square" lIns="0" tIns="0" rIns="0" bIns="0" rtlCol="0" anchor="ctr"/>
          <a:lstStyle/>
          <a:p>
            <a:pPr marL="0" indent="0">
              <a:buNone/>
            </a:pPr>
            <a:r>
              <a:rPr lang="en-US" sz="900" b="1" kern="0" spc="150" dirty="0">
                <a:solidFill>
                  <a:srgbClr val="0E9F6E"/>
                </a:solidFill>
                <a:latin typeface="Calibri" pitchFamily="34" charset="0"/>
                <a:ea typeface="Calibri" pitchFamily="34" charset="-122"/>
                <a:cs typeface="Calibri" pitchFamily="34" charset="-120"/>
              </a:rPr>
              <a:t>WHAT YOU GET</a:t>
            </a:r>
            <a:endParaRPr lang="en-US" sz="900" dirty="0"/>
          </a:p>
        </p:txBody>
      </p:sp>
      <p:sp>
        <p:nvSpPr>
          <p:cNvPr id="10" name="Text 7"/>
          <p:cNvSpPr/>
          <p:nvPr/>
        </p:nvSpPr>
        <p:spPr>
          <a:xfrm>
            <a:off x="859536" y="2798064"/>
            <a:ext cx="4824832" cy="932688"/>
          </a:xfrm>
          <a:prstGeom prst="rect">
            <a:avLst/>
          </a:prstGeom>
          <a:noFill/>
          <a:ln/>
        </p:spPr>
        <p:txBody>
          <a:bodyPr wrap="square" lIns="0" tIns="0" rIns="0" bIns="0" rtlCol="0" anchor="t"/>
          <a:lstStyle/>
          <a:p>
            <a:pPr marL="342900" indent="-342900">
              <a:lnSpc>
                <a:spcPct val="106000"/>
              </a:lnSpc>
              <a:spcAft>
                <a:spcPts val="200"/>
              </a:spcAft>
              <a:buSzPct val="100000"/>
              <a:buChar char="•"/>
            </a:pPr>
            <a:r>
              <a:rPr lang="en-US" sz="1050" dirty="0">
                <a:solidFill>
                  <a:srgbClr val="3B3760"/>
                </a:solidFill>
                <a:latin typeface="Calibri" pitchFamily="34" charset="0"/>
                <a:ea typeface="Calibri" pitchFamily="34" charset="-122"/>
                <a:cs typeface="Calibri" pitchFamily="34" charset="-120"/>
              </a:rPr>
              <a:t>You can read every line, so you can debug it at 2am</a:t>
            </a:r>
            <a:endParaRPr lang="en-US" sz="1050" dirty="0"/>
          </a:p>
          <a:p>
            <a:pPr marL="342900" indent="-342900">
              <a:lnSpc>
                <a:spcPct val="106000"/>
              </a:lnSpc>
              <a:spcAft>
                <a:spcPts val="200"/>
              </a:spcAft>
              <a:buSzPct val="100000"/>
              <a:buChar char="•"/>
            </a:pPr>
            <a:r>
              <a:rPr lang="en-US" sz="1050" dirty="0">
                <a:solidFill>
                  <a:srgbClr val="3B3760"/>
                </a:solidFill>
                <a:latin typeface="Calibri" pitchFamily="34" charset="0"/>
                <a:ea typeface="Calibri" pitchFamily="34" charset="-122"/>
                <a:cs typeface="Calibri" pitchFamily="34" charset="-120"/>
              </a:rPr>
              <a:t>No version churn, no breaking release notes</a:t>
            </a:r>
            <a:endParaRPr lang="en-US" sz="1050" dirty="0"/>
          </a:p>
          <a:p>
            <a:pPr marL="342900" indent="-342900">
              <a:lnSpc>
                <a:spcPct val="106000"/>
              </a:lnSpc>
              <a:spcAft>
                <a:spcPts val="200"/>
              </a:spcAft>
              <a:buSzPct val="100000"/>
              <a:buChar char="•"/>
            </a:pPr>
            <a:r>
              <a:rPr lang="en-US" sz="1050" dirty="0">
                <a:solidFill>
                  <a:srgbClr val="3B3760"/>
                </a:solidFill>
                <a:latin typeface="Calibri" pitchFamily="34" charset="0"/>
                <a:ea typeface="Calibri" pitchFamily="34" charset="-122"/>
                <a:cs typeface="Calibri" pitchFamily="34" charset="-120"/>
              </a:rPr>
              <a:t>Nothing between you and the provider's API</a:t>
            </a:r>
            <a:endParaRPr lang="en-US" sz="1050" dirty="0"/>
          </a:p>
          <a:p>
            <a:pPr marL="342900" indent="-342900">
              <a:lnSpc>
                <a:spcPct val="106000"/>
              </a:lnSpc>
              <a:spcAft>
                <a:spcPts val="200"/>
              </a:spcAft>
              <a:buSzPct val="100000"/>
              <a:buChar char="•"/>
            </a:pPr>
            <a:r>
              <a:rPr lang="en-US" sz="1050" dirty="0">
                <a:solidFill>
                  <a:srgbClr val="3B3760"/>
                </a:solidFill>
                <a:latin typeface="Calibri" pitchFamily="34" charset="0"/>
                <a:ea typeface="Calibri" pitchFamily="34" charset="-122"/>
                <a:cs typeface="Calibri" pitchFamily="34" charset="-120"/>
              </a:rPr>
              <a:t>Trivial to review — it is thirty lines of Python</a:t>
            </a:r>
            <a:endParaRPr lang="en-US" sz="1050" dirty="0"/>
          </a:p>
        </p:txBody>
      </p:sp>
      <p:sp>
        <p:nvSpPr>
          <p:cNvPr id="11" name="Text 8"/>
          <p:cNvSpPr/>
          <p:nvPr/>
        </p:nvSpPr>
        <p:spPr>
          <a:xfrm>
            <a:off x="822960" y="3785616"/>
            <a:ext cx="4879696" cy="219456"/>
          </a:xfrm>
          <a:prstGeom prst="rect">
            <a:avLst/>
          </a:prstGeom>
          <a:noFill/>
          <a:ln/>
        </p:spPr>
        <p:txBody>
          <a:bodyPr wrap="square" lIns="0" tIns="0" rIns="0" bIns="0" rtlCol="0" anchor="ctr"/>
          <a:lstStyle/>
          <a:p>
            <a:pPr marL="0" indent="0">
              <a:buNone/>
            </a:pPr>
            <a:r>
              <a:rPr lang="en-US" sz="900" b="1" kern="0" spc="150" dirty="0">
                <a:solidFill>
                  <a:srgbClr val="D93A3F"/>
                </a:solidFill>
                <a:latin typeface="Calibri" pitchFamily="34" charset="0"/>
                <a:ea typeface="Calibri" pitchFamily="34" charset="-122"/>
                <a:cs typeface="Calibri" pitchFamily="34" charset="-120"/>
              </a:rPr>
              <a:t>WHAT IT COSTS</a:t>
            </a:r>
            <a:endParaRPr lang="en-US" sz="900" dirty="0"/>
          </a:p>
        </p:txBody>
      </p:sp>
      <p:sp>
        <p:nvSpPr>
          <p:cNvPr id="12" name="Text 9"/>
          <p:cNvSpPr/>
          <p:nvPr/>
        </p:nvSpPr>
        <p:spPr>
          <a:xfrm>
            <a:off x="859536" y="4005072"/>
            <a:ext cx="4824832" cy="932688"/>
          </a:xfrm>
          <a:prstGeom prst="rect">
            <a:avLst/>
          </a:prstGeom>
          <a:noFill/>
          <a:ln/>
        </p:spPr>
        <p:txBody>
          <a:bodyPr wrap="square" lIns="0" tIns="0" rIns="0" bIns="0" rtlCol="0" anchor="t"/>
          <a:lstStyle/>
          <a:p>
            <a:pPr marL="342900" indent="-342900">
              <a:lnSpc>
                <a:spcPct val="106000"/>
              </a:lnSpc>
              <a:spcAft>
                <a:spcPts val="200"/>
              </a:spcAft>
              <a:buSzPct val="100000"/>
              <a:buChar char="•"/>
            </a:pPr>
            <a:r>
              <a:rPr lang="en-US" sz="1050" dirty="0">
                <a:solidFill>
                  <a:srgbClr val="3B3760"/>
                </a:solidFill>
                <a:latin typeface="Calibri" pitchFamily="34" charset="0"/>
                <a:ea typeface="Calibri" pitchFamily="34" charset="-122"/>
                <a:cs typeface="Calibri" pitchFamily="34" charset="-120"/>
              </a:rPr>
              <a:t>You write state, retries and dispatch yourself</a:t>
            </a:r>
            <a:endParaRPr lang="en-US" sz="1050" dirty="0"/>
          </a:p>
          <a:p>
            <a:pPr marL="342900" indent="-342900">
              <a:lnSpc>
                <a:spcPct val="106000"/>
              </a:lnSpc>
              <a:spcAft>
                <a:spcPts val="200"/>
              </a:spcAft>
              <a:buSzPct val="100000"/>
              <a:buChar char="•"/>
            </a:pPr>
            <a:r>
              <a:rPr lang="en-US" sz="1050" dirty="0">
                <a:solidFill>
                  <a:srgbClr val="3B3760"/>
                </a:solidFill>
                <a:latin typeface="Calibri" pitchFamily="34" charset="0"/>
                <a:ea typeface="Calibri" pitchFamily="34" charset="-122"/>
                <a:cs typeface="Calibri" pitchFamily="34" charset="-120"/>
              </a:rPr>
              <a:t>No checkpointing or resumability unless you build it</a:t>
            </a:r>
            <a:endParaRPr lang="en-US" sz="1050" dirty="0"/>
          </a:p>
          <a:p>
            <a:pPr marL="342900" indent="-342900">
              <a:lnSpc>
                <a:spcPct val="106000"/>
              </a:lnSpc>
              <a:spcAft>
                <a:spcPts val="200"/>
              </a:spcAft>
              <a:buSzPct val="100000"/>
              <a:buChar char="•"/>
            </a:pPr>
            <a:r>
              <a:rPr lang="en-US" sz="1050" dirty="0">
                <a:solidFill>
                  <a:srgbClr val="3B3760"/>
                </a:solidFill>
                <a:latin typeface="Calibri" pitchFamily="34" charset="0"/>
                <a:ea typeface="Calibri" pitchFamily="34" charset="-122"/>
                <a:cs typeface="Calibri" pitchFamily="34" charset="-120"/>
              </a:rPr>
              <a:t>No ecosystem of ready-made integrations</a:t>
            </a:r>
            <a:endParaRPr lang="en-US" sz="1050" dirty="0"/>
          </a:p>
          <a:p>
            <a:pPr marL="342900" indent="-342900">
              <a:lnSpc>
                <a:spcPct val="106000"/>
              </a:lnSpc>
              <a:spcAft>
                <a:spcPts val="200"/>
              </a:spcAft>
              <a:buSzPct val="100000"/>
              <a:buChar char="•"/>
            </a:pPr>
            <a:r>
              <a:rPr lang="en-US" sz="1050" dirty="0">
                <a:solidFill>
                  <a:srgbClr val="3B3760"/>
                </a:solidFill>
                <a:latin typeface="Calibri" pitchFamily="34" charset="0"/>
                <a:ea typeface="Calibri" pitchFamily="34" charset="-122"/>
                <a:cs typeface="Calibri" pitchFamily="34" charset="-120"/>
              </a:rPr>
              <a:t>Every team reinvents the same helpers</a:t>
            </a:r>
            <a:endParaRPr lang="en-US" sz="1050" dirty="0"/>
          </a:p>
        </p:txBody>
      </p:sp>
      <p:sp>
        <p:nvSpPr>
          <p:cNvPr id="13" name="Shape 10"/>
          <p:cNvSpPr/>
          <p:nvPr/>
        </p:nvSpPr>
        <p:spPr>
          <a:xfrm>
            <a:off x="786384" y="4992624"/>
            <a:ext cx="4952848" cy="621792"/>
          </a:xfrm>
          <a:prstGeom prst="roundRect">
            <a:avLst>
              <a:gd name="adj" fmla="val 10294"/>
            </a:avLst>
          </a:prstGeom>
          <a:solidFill>
            <a:srgbClr val="EEEDFE"/>
          </a:solidFill>
          <a:ln w="12700">
            <a:solidFill>
              <a:srgbClr val="8E82F5"/>
            </a:solidFill>
            <a:prstDash val="solid"/>
          </a:ln>
        </p:spPr>
        <p:txBody>
          <a:bodyPr/>
          <a:lstStyle/>
          <a:p>
            <a:endParaRPr lang="en-US"/>
          </a:p>
        </p:txBody>
      </p:sp>
      <p:sp>
        <p:nvSpPr>
          <p:cNvPr id="14" name="Text 11"/>
          <p:cNvSpPr/>
          <p:nvPr/>
        </p:nvSpPr>
        <p:spPr>
          <a:xfrm>
            <a:off x="896112" y="4992624"/>
            <a:ext cx="4733392" cy="621792"/>
          </a:xfrm>
          <a:prstGeom prst="rect">
            <a:avLst/>
          </a:prstGeom>
          <a:noFill/>
          <a:ln/>
        </p:spPr>
        <p:txBody>
          <a:bodyPr wrap="square" lIns="0" tIns="0" rIns="0" bIns="0" rtlCol="0" anchor="ctr"/>
          <a:lstStyle/>
          <a:p>
            <a:pPr marL="0" indent="0">
              <a:lnSpc>
                <a:spcPct val="108000"/>
              </a:lnSpc>
              <a:buNone/>
            </a:pPr>
            <a:r>
              <a:rPr lang="en-US" sz="1050" b="1" dirty="0">
                <a:solidFill>
                  <a:srgbClr val="5B4BE8"/>
                </a:solidFill>
                <a:latin typeface="Calibri" pitchFamily="34" charset="0"/>
                <a:ea typeface="Calibri" pitchFamily="34" charset="-122"/>
                <a:cs typeface="Calibri" pitchFamily="34" charset="-120"/>
              </a:rPr>
              <a:t>Reach for it when:  </a:t>
            </a:r>
            <a:r>
              <a:rPr lang="en-US" sz="1050" dirty="0">
                <a:solidFill>
                  <a:srgbClr val="3B3760"/>
                </a:solidFill>
                <a:latin typeface="Calibri" pitchFamily="34" charset="0"/>
                <a:ea typeface="Calibri" pitchFamily="34" charset="-122"/>
                <a:cs typeface="Calibri" pitchFamily="34" charset="-120"/>
              </a:rPr>
              <a:t>One or two agents, a small tool set, a team that will own it long-term. Also: any time you are still learning what the problem is.</a:t>
            </a:r>
            <a:endParaRPr lang="en-US" sz="1050" dirty="0"/>
          </a:p>
        </p:txBody>
      </p:sp>
      <p:sp>
        <p:nvSpPr>
          <p:cNvPr id="15" name="Shape 12"/>
          <p:cNvSpPr/>
          <p:nvPr/>
        </p:nvSpPr>
        <p:spPr>
          <a:xfrm>
            <a:off x="6233008" y="1810512"/>
            <a:ext cx="5391760" cy="3950208"/>
          </a:xfrm>
          <a:prstGeom prst="roundRect">
            <a:avLst>
              <a:gd name="adj" fmla="val 2315"/>
            </a:avLst>
          </a:prstGeom>
          <a:solidFill>
            <a:srgbClr val="FFFFFF"/>
          </a:solidFill>
          <a:ln w="17780">
            <a:solidFill>
              <a:srgbClr val="F0D5A6"/>
            </a:solidFill>
            <a:prstDash val="solid"/>
          </a:ln>
          <a:effectLst>
            <a:outerShdw blurRad="114300" dist="572" dir="5400000" algn="bl" rotWithShape="0">
              <a:srgbClr val="1B1A4A">
                <a:alpha val="7000"/>
              </a:srgbClr>
            </a:outerShdw>
          </a:effectLst>
        </p:spPr>
        <p:txBody>
          <a:bodyPr/>
          <a:lstStyle/>
          <a:p>
            <a:endParaRPr lang="en-US"/>
          </a:p>
        </p:txBody>
      </p:sp>
      <p:sp>
        <p:nvSpPr>
          <p:cNvPr id="16" name="Shape 13"/>
          <p:cNvSpPr/>
          <p:nvPr/>
        </p:nvSpPr>
        <p:spPr>
          <a:xfrm>
            <a:off x="6489040" y="1975104"/>
            <a:ext cx="402336" cy="402336"/>
          </a:xfrm>
          <a:prstGeom prst="ellipse">
            <a:avLst/>
          </a:prstGeom>
          <a:solidFill>
            <a:srgbClr val="E08700"/>
          </a:solidFill>
          <a:ln w="12700">
            <a:solidFill>
              <a:srgbClr val="E08700"/>
            </a:solidFill>
            <a:prstDash val="solid"/>
          </a:ln>
        </p:spPr>
        <p:txBody>
          <a:bodyPr/>
          <a:lstStyle/>
          <a:p>
            <a:endParaRPr lang="en-US"/>
          </a:p>
        </p:txBody>
      </p:sp>
      <p:pic>
        <p:nvPicPr>
          <p:cNvPr id="17" name="Image 1" descr="preencoded.png"/>
          <p:cNvPicPr>
            <a:picLocks noChangeAspect="1"/>
          </p:cNvPicPr>
          <p:nvPr/>
        </p:nvPicPr>
        <p:blipFill>
          <a:blip r:embed="rId4"/>
          <a:stretch>
            <a:fillRect/>
          </a:stretch>
        </p:blipFill>
        <p:spPr>
          <a:xfrm>
            <a:off x="6589624" y="2075688"/>
            <a:ext cx="201168" cy="201168"/>
          </a:xfrm>
          <a:prstGeom prst="rect">
            <a:avLst/>
          </a:prstGeom>
        </p:spPr>
      </p:pic>
      <p:sp>
        <p:nvSpPr>
          <p:cNvPr id="18" name="Text 14"/>
          <p:cNvSpPr/>
          <p:nvPr/>
        </p:nvSpPr>
        <p:spPr>
          <a:xfrm>
            <a:off x="7019392" y="1975104"/>
            <a:ext cx="4385920" cy="274320"/>
          </a:xfrm>
          <a:prstGeom prst="rect">
            <a:avLst/>
          </a:prstGeom>
          <a:noFill/>
          <a:ln/>
        </p:spPr>
        <p:txBody>
          <a:bodyPr wrap="square" lIns="0" tIns="0" rIns="0" bIns="0" rtlCol="0" anchor="ctr"/>
          <a:lstStyle/>
          <a:p>
            <a:pPr marL="0" indent="0">
              <a:buNone/>
            </a:pPr>
            <a:r>
              <a:rPr lang="en-US" sz="1700" b="1" dirty="0">
                <a:solidFill>
                  <a:srgbClr val="141235"/>
                </a:solidFill>
                <a:latin typeface="Calibri" pitchFamily="34" charset="0"/>
                <a:ea typeface="Calibri" pitchFamily="34" charset="-122"/>
                <a:cs typeface="Calibri" pitchFamily="34" charset="-120"/>
              </a:rPr>
              <a:t>A framework</a:t>
            </a:r>
            <a:endParaRPr lang="en-US" sz="1700" dirty="0"/>
          </a:p>
        </p:txBody>
      </p:sp>
      <p:sp>
        <p:nvSpPr>
          <p:cNvPr id="19" name="Text 15"/>
          <p:cNvSpPr/>
          <p:nvPr/>
        </p:nvSpPr>
        <p:spPr>
          <a:xfrm>
            <a:off x="7019392" y="2249424"/>
            <a:ext cx="4385920" cy="237744"/>
          </a:xfrm>
          <a:prstGeom prst="rect">
            <a:avLst/>
          </a:prstGeom>
          <a:noFill/>
          <a:ln/>
        </p:spPr>
        <p:txBody>
          <a:bodyPr wrap="square" lIns="0" tIns="0" rIns="0" bIns="0" rtlCol="0" anchor="ctr"/>
          <a:lstStyle/>
          <a:p>
            <a:pPr marL="0" indent="0">
              <a:buNone/>
            </a:pPr>
            <a:r>
              <a:rPr lang="en-US" sz="1050" i="1" dirty="0">
                <a:solidFill>
                  <a:srgbClr val="E08700"/>
                </a:solidFill>
                <a:latin typeface="Calibri" pitchFamily="34" charset="0"/>
                <a:ea typeface="Calibri" pitchFamily="34" charset="-122"/>
                <a:cs typeface="Calibri" pitchFamily="34" charset="-120"/>
              </a:rPr>
              <a:t>tiers 1 to 3</a:t>
            </a:r>
            <a:endParaRPr lang="en-US" sz="1050" dirty="0"/>
          </a:p>
        </p:txBody>
      </p:sp>
      <p:sp>
        <p:nvSpPr>
          <p:cNvPr id="20" name="Text 16"/>
          <p:cNvSpPr/>
          <p:nvPr/>
        </p:nvSpPr>
        <p:spPr>
          <a:xfrm>
            <a:off x="6489040" y="2578608"/>
            <a:ext cx="4879696" cy="219456"/>
          </a:xfrm>
          <a:prstGeom prst="rect">
            <a:avLst/>
          </a:prstGeom>
          <a:noFill/>
          <a:ln/>
        </p:spPr>
        <p:txBody>
          <a:bodyPr wrap="square" lIns="0" tIns="0" rIns="0" bIns="0" rtlCol="0" anchor="ctr"/>
          <a:lstStyle/>
          <a:p>
            <a:pPr marL="0" indent="0">
              <a:buNone/>
            </a:pPr>
            <a:r>
              <a:rPr lang="en-US" sz="900" b="1" kern="0" spc="150" dirty="0">
                <a:solidFill>
                  <a:srgbClr val="0E9F6E"/>
                </a:solidFill>
                <a:latin typeface="Calibri" pitchFamily="34" charset="0"/>
                <a:ea typeface="Calibri" pitchFamily="34" charset="-122"/>
                <a:cs typeface="Calibri" pitchFamily="34" charset="-120"/>
              </a:rPr>
              <a:t>WHAT YOU GET</a:t>
            </a:r>
            <a:endParaRPr lang="en-US" sz="900" dirty="0"/>
          </a:p>
        </p:txBody>
      </p:sp>
      <p:sp>
        <p:nvSpPr>
          <p:cNvPr id="21" name="Text 17"/>
          <p:cNvSpPr/>
          <p:nvPr/>
        </p:nvSpPr>
        <p:spPr>
          <a:xfrm>
            <a:off x="6525616" y="2798064"/>
            <a:ext cx="4824832" cy="932688"/>
          </a:xfrm>
          <a:prstGeom prst="rect">
            <a:avLst/>
          </a:prstGeom>
          <a:noFill/>
          <a:ln/>
        </p:spPr>
        <p:txBody>
          <a:bodyPr wrap="square" lIns="0" tIns="0" rIns="0" bIns="0" rtlCol="0" anchor="t"/>
          <a:lstStyle/>
          <a:p>
            <a:pPr marL="342900" indent="-342900">
              <a:lnSpc>
                <a:spcPct val="106000"/>
              </a:lnSpc>
              <a:spcAft>
                <a:spcPts val="200"/>
              </a:spcAft>
              <a:buSzPct val="100000"/>
              <a:buChar char="•"/>
            </a:pPr>
            <a:r>
              <a:rPr lang="en-US" sz="1050" dirty="0">
                <a:solidFill>
                  <a:srgbClr val="3B3760"/>
                </a:solidFill>
                <a:latin typeface="Calibri" pitchFamily="34" charset="0"/>
                <a:ea typeface="Calibri" pitchFamily="34" charset="-122"/>
                <a:cs typeface="Calibri" pitchFamily="34" charset="-120"/>
              </a:rPr>
              <a:t>Checkpointing, resumability, streaming, tracing — free</a:t>
            </a:r>
            <a:endParaRPr lang="en-US" sz="1050" dirty="0"/>
          </a:p>
          <a:p>
            <a:pPr marL="342900" indent="-342900">
              <a:lnSpc>
                <a:spcPct val="106000"/>
              </a:lnSpc>
              <a:spcAft>
                <a:spcPts val="200"/>
              </a:spcAft>
              <a:buSzPct val="100000"/>
              <a:buChar char="•"/>
            </a:pPr>
            <a:r>
              <a:rPr lang="en-US" sz="1050" dirty="0">
                <a:solidFill>
                  <a:srgbClr val="3B3760"/>
                </a:solidFill>
                <a:latin typeface="Calibri" pitchFamily="34" charset="0"/>
                <a:ea typeface="Calibri" pitchFamily="34" charset="-122"/>
                <a:cs typeface="Calibri" pitchFamily="34" charset="-120"/>
              </a:rPr>
              <a:t>Human-in-the-loop pauses are already solved</a:t>
            </a:r>
            <a:endParaRPr lang="en-US" sz="1050" dirty="0"/>
          </a:p>
          <a:p>
            <a:pPr marL="342900" indent="-342900">
              <a:lnSpc>
                <a:spcPct val="106000"/>
              </a:lnSpc>
              <a:spcAft>
                <a:spcPts val="200"/>
              </a:spcAft>
              <a:buSzPct val="100000"/>
              <a:buChar char="•"/>
            </a:pPr>
            <a:r>
              <a:rPr lang="en-US" sz="1050" dirty="0">
                <a:solidFill>
                  <a:srgbClr val="3B3760"/>
                </a:solidFill>
                <a:latin typeface="Calibri" pitchFamily="34" charset="0"/>
                <a:ea typeface="Calibri" pitchFamily="34" charset="-122"/>
                <a:cs typeface="Calibri" pitchFamily="34" charset="-120"/>
              </a:rPr>
              <a:t>Shared vocabulary when someone new joins</a:t>
            </a:r>
            <a:endParaRPr lang="en-US" sz="1050" dirty="0"/>
          </a:p>
          <a:p>
            <a:pPr marL="342900" indent="-342900">
              <a:lnSpc>
                <a:spcPct val="106000"/>
              </a:lnSpc>
              <a:spcAft>
                <a:spcPts val="200"/>
              </a:spcAft>
              <a:buSzPct val="100000"/>
              <a:buChar char="•"/>
            </a:pPr>
            <a:r>
              <a:rPr lang="en-US" sz="1050" dirty="0">
                <a:solidFill>
                  <a:srgbClr val="3B3760"/>
                </a:solidFill>
                <a:latin typeface="Calibri" pitchFamily="34" charset="0"/>
                <a:ea typeface="Calibri" pitchFamily="34" charset="-122"/>
                <a:cs typeface="Calibri" pitchFamily="34" charset="-120"/>
              </a:rPr>
              <a:t>Integrations and patterns you do not have to write</a:t>
            </a:r>
            <a:endParaRPr lang="en-US" sz="1050" dirty="0"/>
          </a:p>
        </p:txBody>
      </p:sp>
      <p:sp>
        <p:nvSpPr>
          <p:cNvPr id="22" name="Text 18"/>
          <p:cNvSpPr/>
          <p:nvPr/>
        </p:nvSpPr>
        <p:spPr>
          <a:xfrm>
            <a:off x="6489040" y="3785616"/>
            <a:ext cx="4879696" cy="219456"/>
          </a:xfrm>
          <a:prstGeom prst="rect">
            <a:avLst/>
          </a:prstGeom>
          <a:noFill/>
          <a:ln/>
        </p:spPr>
        <p:txBody>
          <a:bodyPr wrap="square" lIns="0" tIns="0" rIns="0" bIns="0" rtlCol="0" anchor="ctr"/>
          <a:lstStyle/>
          <a:p>
            <a:pPr marL="0" indent="0">
              <a:buNone/>
            </a:pPr>
            <a:r>
              <a:rPr lang="en-US" sz="900" b="1" kern="0" spc="150" dirty="0">
                <a:solidFill>
                  <a:srgbClr val="D93A3F"/>
                </a:solidFill>
                <a:latin typeface="Calibri" pitchFamily="34" charset="0"/>
                <a:ea typeface="Calibri" pitchFamily="34" charset="-122"/>
                <a:cs typeface="Calibri" pitchFamily="34" charset="-120"/>
              </a:rPr>
              <a:t>WHAT IT COSTS</a:t>
            </a:r>
            <a:endParaRPr lang="en-US" sz="900" dirty="0"/>
          </a:p>
        </p:txBody>
      </p:sp>
      <p:sp>
        <p:nvSpPr>
          <p:cNvPr id="23" name="Text 19"/>
          <p:cNvSpPr/>
          <p:nvPr/>
        </p:nvSpPr>
        <p:spPr>
          <a:xfrm>
            <a:off x="6525616" y="4005072"/>
            <a:ext cx="4824832" cy="932688"/>
          </a:xfrm>
          <a:prstGeom prst="rect">
            <a:avLst/>
          </a:prstGeom>
          <a:noFill/>
          <a:ln/>
        </p:spPr>
        <p:txBody>
          <a:bodyPr wrap="square" lIns="0" tIns="0" rIns="0" bIns="0" rtlCol="0" anchor="t"/>
          <a:lstStyle/>
          <a:p>
            <a:pPr marL="342900" indent="-342900">
              <a:lnSpc>
                <a:spcPct val="106000"/>
              </a:lnSpc>
              <a:spcAft>
                <a:spcPts val="200"/>
              </a:spcAft>
              <a:buSzPct val="100000"/>
              <a:buChar char="•"/>
            </a:pPr>
            <a:r>
              <a:rPr lang="en-US" sz="1050" dirty="0">
                <a:solidFill>
                  <a:srgbClr val="3B3760"/>
                </a:solidFill>
                <a:latin typeface="Calibri" pitchFamily="34" charset="0"/>
                <a:ea typeface="Calibri" pitchFamily="34" charset="-122"/>
                <a:cs typeface="Calibri" pitchFamily="34" charset="-120"/>
              </a:rPr>
              <a:t>An abstraction to learn on top of the concept</a:t>
            </a:r>
            <a:endParaRPr lang="en-US" sz="1050" dirty="0"/>
          </a:p>
          <a:p>
            <a:pPr marL="342900" indent="-342900">
              <a:lnSpc>
                <a:spcPct val="106000"/>
              </a:lnSpc>
              <a:spcAft>
                <a:spcPts val="200"/>
              </a:spcAft>
              <a:buSzPct val="100000"/>
              <a:buChar char="•"/>
            </a:pPr>
            <a:r>
              <a:rPr lang="en-US" sz="1050" dirty="0">
                <a:solidFill>
                  <a:srgbClr val="3B3760"/>
                </a:solidFill>
                <a:latin typeface="Calibri" pitchFamily="34" charset="0"/>
                <a:ea typeface="Calibri" pitchFamily="34" charset="-122"/>
                <a:cs typeface="Calibri" pitchFamily="34" charset="-120"/>
              </a:rPr>
              <a:t>Breaking changes on somebody else's schedule</a:t>
            </a:r>
            <a:endParaRPr lang="en-US" sz="1050" dirty="0"/>
          </a:p>
          <a:p>
            <a:pPr marL="342900" indent="-342900">
              <a:lnSpc>
                <a:spcPct val="106000"/>
              </a:lnSpc>
              <a:spcAft>
                <a:spcPts val="200"/>
              </a:spcAft>
              <a:buSzPct val="100000"/>
              <a:buChar char="•"/>
            </a:pPr>
            <a:r>
              <a:rPr lang="en-US" sz="1050" dirty="0">
                <a:solidFill>
                  <a:srgbClr val="3B3760"/>
                </a:solidFill>
                <a:latin typeface="Calibri" pitchFamily="34" charset="0"/>
                <a:ea typeface="Calibri" pitchFamily="34" charset="-122"/>
                <a:cs typeface="Calibri" pitchFamily="34" charset="-120"/>
              </a:rPr>
              <a:t>Failures happen inside code you did not write</a:t>
            </a:r>
            <a:endParaRPr lang="en-US" sz="1050" dirty="0"/>
          </a:p>
          <a:p>
            <a:pPr marL="342900" indent="-342900">
              <a:lnSpc>
                <a:spcPct val="106000"/>
              </a:lnSpc>
              <a:spcAft>
                <a:spcPts val="200"/>
              </a:spcAft>
              <a:buSzPct val="100000"/>
              <a:buChar char="•"/>
            </a:pPr>
            <a:r>
              <a:rPr lang="en-US" sz="1050" dirty="0">
                <a:solidFill>
                  <a:srgbClr val="3B3760"/>
                </a:solidFill>
                <a:latin typeface="Calibri" pitchFamily="34" charset="0"/>
                <a:ea typeface="Calibri" pitchFamily="34" charset="-122"/>
                <a:cs typeface="Calibri" pitchFamily="34" charset="-120"/>
              </a:rPr>
              <a:t>Easy to adopt tier 3 for a tier 1 problem</a:t>
            </a:r>
            <a:endParaRPr lang="en-US" sz="1050" dirty="0"/>
          </a:p>
        </p:txBody>
      </p:sp>
      <p:sp>
        <p:nvSpPr>
          <p:cNvPr id="24" name="Shape 20"/>
          <p:cNvSpPr/>
          <p:nvPr/>
        </p:nvSpPr>
        <p:spPr>
          <a:xfrm>
            <a:off x="6452464" y="4992624"/>
            <a:ext cx="4952848" cy="621792"/>
          </a:xfrm>
          <a:prstGeom prst="roundRect">
            <a:avLst>
              <a:gd name="adj" fmla="val 10294"/>
            </a:avLst>
          </a:prstGeom>
          <a:solidFill>
            <a:srgbClr val="FFF4E0"/>
          </a:solidFill>
          <a:ln w="12700">
            <a:solidFill>
              <a:srgbClr val="F0D5A6"/>
            </a:solidFill>
            <a:prstDash val="solid"/>
          </a:ln>
        </p:spPr>
        <p:txBody>
          <a:bodyPr/>
          <a:lstStyle/>
          <a:p>
            <a:endParaRPr lang="en-US"/>
          </a:p>
        </p:txBody>
      </p:sp>
      <p:sp>
        <p:nvSpPr>
          <p:cNvPr id="25" name="Text 21"/>
          <p:cNvSpPr/>
          <p:nvPr/>
        </p:nvSpPr>
        <p:spPr>
          <a:xfrm>
            <a:off x="6562192" y="4992624"/>
            <a:ext cx="4733392" cy="621792"/>
          </a:xfrm>
          <a:prstGeom prst="rect">
            <a:avLst/>
          </a:prstGeom>
          <a:noFill/>
          <a:ln/>
        </p:spPr>
        <p:txBody>
          <a:bodyPr wrap="square" lIns="0" tIns="0" rIns="0" bIns="0" rtlCol="0" anchor="ctr"/>
          <a:lstStyle/>
          <a:p>
            <a:pPr marL="0" indent="0">
              <a:lnSpc>
                <a:spcPct val="108000"/>
              </a:lnSpc>
              <a:buNone/>
            </a:pPr>
            <a:r>
              <a:rPr lang="en-US" sz="1050" b="1" dirty="0">
                <a:solidFill>
                  <a:srgbClr val="E08700"/>
                </a:solidFill>
                <a:latin typeface="Calibri" pitchFamily="34" charset="0"/>
                <a:ea typeface="Calibri" pitchFamily="34" charset="-122"/>
                <a:cs typeface="Calibri" pitchFamily="34" charset="-120"/>
              </a:rPr>
              <a:t>Reach for it when:  </a:t>
            </a:r>
            <a:r>
              <a:rPr lang="en-US" sz="1050" dirty="0">
                <a:solidFill>
                  <a:srgbClr val="3B3760"/>
                </a:solidFill>
                <a:latin typeface="Calibri" pitchFamily="34" charset="0"/>
                <a:ea typeface="Calibri" pitchFamily="34" charset="-122"/>
                <a:cs typeface="Calibri" pitchFamily="34" charset="-120"/>
              </a:rPr>
              <a:t>Long-running work, approval gates, many tools, several people maintaining it, or anything that must survive a restart.</a:t>
            </a:r>
            <a:endParaRPr lang="en-US" sz="1050" dirty="0"/>
          </a:p>
        </p:txBody>
      </p:sp>
      <p:sp>
        <p:nvSpPr>
          <p:cNvPr id="26" name="Shape 22"/>
          <p:cNvSpPr/>
          <p:nvPr/>
        </p:nvSpPr>
        <p:spPr>
          <a:xfrm>
            <a:off x="566928" y="5870448"/>
            <a:ext cx="11057839" cy="658368"/>
          </a:xfrm>
          <a:prstGeom prst="roundRect">
            <a:avLst>
              <a:gd name="adj" fmla="val 12500"/>
            </a:avLst>
          </a:prstGeom>
          <a:solidFill>
            <a:srgbClr val="FFF4E0"/>
          </a:solidFill>
          <a:ln w="12700">
            <a:solidFill>
              <a:srgbClr val="F3DCB0"/>
            </a:solidFill>
            <a:prstDash val="solid"/>
          </a:ln>
        </p:spPr>
        <p:txBody>
          <a:bodyPr/>
          <a:lstStyle/>
          <a:p>
            <a:endParaRPr lang="en-US"/>
          </a:p>
        </p:txBody>
      </p:sp>
      <p:sp>
        <p:nvSpPr>
          <p:cNvPr id="27" name="Shape 23"/>
          <p:cNvSpPr/>
          <p:nvPr/>
        </p:nvSpPr>
        <p:spPr>
          <a:xfrm>
            <a:off x="841248" y="6007608"/>
            <a:ext cx="384048" cy="384048"/>
          </a:xfrm>
          <a:prstGeom prst="ellipse">
            <a:avLst/>
          </a:prstGeom>
          <a:solidFill>
            <a:srgbClr val="F5A524"/>
          </a:solidFill>
          <a:ln w="12700">
            <a:solidFill>
              <a:srgbClr val="F5A524"/>
            </a:solidFill>
            <a:prstDash val="solid"/>
          </a:ln>
        </p:spPr>
        <p:txBody>
          <a:bodyPr/>
          <a:lstStyle/>
          <a:p>
            <a:endParaRPr lang="en-US"/>
          </a:p>
        </p:txBody>
      </p:sp>
      <p:pic>
        <p:nvPicPr>
          <p:cNvPr id="28" name="Image 2" descr="preencoded.png"/>
          <p:cNvPicPr>
            <a:picLocks noChangeAspect="1"/>
          </p:cNvPicPr>
          <p:nvPr/>
        </p:nvPicPr>
        <p:blipFill>
          <a:blip r:embed="rId5"/>
          <a:stretch>
            <a:fillRect/>
          </a:stretch>
        </p:blipFill>
        <p:spPr>
          <a:xfrm>
            <a:off x="937260" y="6103620"/>
            <a:ext cx="192024" cy="192024"/>
          </a:xfrm>
          <a:prstGeom prst="rect">
            <a:avLst/>
          </a:prstGeom>
        </p:spPr>
      </p:pic>
      <p:sp>
        <p:nvSpPr>
          <p:cNvPr id="29" name="Text 24"/>
          <p:cNvSpPr/>
          <p:nvPr/>
        </p:nvSpPr>
        <p:spPr>
          <a:xfrm>
            <a:off x="1371600" y="5925312"/>
            <a:ext cx="9960559" cy="548640"/>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Write it yourself first. You will then know exactly which of the framework's features you actually needed — and you will be able to tell when it is lying to you.</a:t>
            </a:r>
            <a:endParaRPr lang="en-US" sz="105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09 · THE FRAMEWORK LADDER</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3000" b="1" dirty="0">
                <a:solidFill>
                  <a:srgbClr val="141235"/>
                </a:solidFill>
                <a:latin typeface="Cambria" pitchFamily="34" charset="0"/>
                <a:ea typeface="Cambria" pitchFamily="34" charset="-122"/>
                <a:cs typeface="Cambria" pitchFamily="34" charset="-120"/>
              </a:rPr>
              <a:t>Five questions that choose the tier for you</a:t>
            </a:r>
            <a:endParaRPr lang="en-US" sz="3000" dirty="0"/>
          </a:p>
        </p:txBody>
      </p:sp>
      <p:sp>
        <p:nvSpPr>
          <p:cNvPr id="4" name="Shape 2"/>
          <p:cNvSpPr/>
          <p:nvPr/>
        </p:nvSpPr>
        <p:spPr>
          <a:xfrm>
            <a:off x="566928" y="1883664"/>
            <a:ext cx="3527450" cy="1636776"/>
          </a:xfrm>
          <a:prstGeom prst="roundRect">
            <a:avLst>
              <a:gd name="adj" fmla="val 5028"/>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5" name="Shape 3"/>
          <p:cNvSpPr/>
          <p:nvPr/>
        </p:nvSpPr>
        <p:spPr>
          <a:xfrm>
            <a:off x="804672" y="2103120"/>
            <a:ext cx="365760" cy="365760"/>
          </a:xfrm>
          <a:prstGeom prst="ellipse">
            <a:avLst/>
          </a:prstGeom>
          <a:solidFill>
            <a:srgbClr val="5B4BE8"/>
          </a:solidFill>
          <a:ln w="12700">
            <a:solidFill>
              <a:srgbClr val="5B4BE8"/>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896112" y="2194560"/>
            <a:ext cx="182880" cy="182880"/>
          </a:xfrm>
          <a:prstGeom prst="rect">
            <a:avLst/>
          </a:prstGeom>
        </p:spPr>
      </p:pic>
      <p:sp>
        <p:nvSpPr>
          <p:cNvPr id="7" name="Text 4"/>
          <p:cNvSpPr/>
          <p:nvPr/>
        </p:nvSpPr>
        <p:spPr>
          <a:xfrm>
            <a:off x="1298448" y="2093976"/>
            <a:ext cx="2558186"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QUESTION 1</a:t>
            </a:r>
            <a:endParaRPr lang="en-US" sz="850" dirty="0"/>
          </a:p>
        </p:txBody>
      </p:sp>
      <p:sp>
        <p:nvSpPr>
          <p:cNvPr id="8" name="Text 5"/>
          <p:cNvSpPr/>
          <p:nvPr/>
        </p:nvSpPr>
        <p:spPr>
          <a:xfrm>
            <a:off x="1298448" y="2313432"/>
            <a:ext cx="2558186" cy="589971"/>
          </a:xfrm>
          <a:prstGeom prst="rect">
            <a:avLst/>
          </a:prstGeom>
          <a:noFill/>
          <a:ln/>
        </p:spPr>
        <p:txBody>
          <a:bodyPr wrap="square" lIns="0" tIns="0" rIns="0" bIns="0" rtlCol="0" anchor="t"/>
          <a:lstStyle/>
          <a:p>
            <a:pPr marL="0" indent="0">
              <a:lnSpc>
                <a:spcPct val="105000"/>
              </a:lnSpc>
              <a:buNone/>
            </a:pPr>
            <a:r>
              <a:rPr lang="en-US" sz="1350" b="1" dirty="0">
                <a:solidFill>
                  <a:srgbClr val="141235"/>
                </a:solidFill>
                <a:latin typeface="Calibri" pitchFamily="34" charset="0"/>
                <a:ea typeface="Calibri" pitchFamily="34" charset="-122"/>
                <a:cs typeface="Calibri" pitchFamily="34" charset="-120"/>
              </a:rPr>
              <a:t>Does a run last longer than one request?</a:t>
            </a:r>
            <a:endParaRPr lang="en-US" sz="1350" dirty="0"/>
          </a:p>
        </p:txBody>
      </p:sp>
      <p:sp>
        <p:nvSpPr>
          <p:cNvPr id="9" name="Text 6"/>
          <p:cNvSpPr/>
          <p:nvPr/>
        </p:nvSpPr>
        <p:spPr>
          <a:xfrm>
            <a:off x="1298448" y="2912547"/>
            <a:ext cx="2558186" cy="425013"/>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If it can pause for a human, or run for an hour, you need checkpointing and resumability. That is tier 2 — or a lot of work at tier 0.</a:t>
            </a:r>
            <a:endParaRPr lang="en-US" sz="1100" dirty="0"/>
          </a:p>
        </p:txBody>
      </p:sp>
      <p:sp>
        <p:nvSpPr>
          <p:cNvPr id="10" name="Shape 7"/>
          <p:cNvSpPr/>
          <p:nvPr/>
        </p:nvSpPr>
        <p:spPr>
          <a:xfrm>
            <a:off x="4332122" y="1883664"/>
            <a:ext cx="3527450" cy="1636776"/>
          </a:xfrm>
          <a:prstGeom prst="roundRect">
            <a:avLst>
              <a:gd name="adj" fmla="val 5028"/>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1" name="Shape 8"/>
          <p:cNvSpPr/>
          <p:nvPr/>
        </p:nvSpPr>
        <p:spPr>
          <a:xfrm>
            <a:off x="4569866" y="2103120"/>
            <a:ext cx="365760" cy="365760"/>
          </a:xfrm>
          <a:prstGeom prst="ellipse">
            <a:avLst/>
          </a:prstGeom>
          <a:solidFill>
            <a:srgbClr val="5B4BE8"/>
          </a:solidFill>
          <a:ln w="12700">
            <a:solidFill>
              <a:srgbClr val="5B4BE8"/>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4661306" y="2194560"/>
            <a:ext cx="182880" cy="182880"/>
          </a:xfrm>
          <a:prstGeom prst="rect">
            <a:avLst/>
          </a:prstGeom>
        </p:spPr>
      </p:pic>
      <p:sp>
        <p:nvSpPr>
          <p:cNvPr id="13" name="Text 9"/>
          <p:cNvSpPr/>
          <p:nvPr/>
        </p:nvSpPr>
        <p:spPr>
          <a:xfrm>
            <a:off x="5063642" y="2093976"/>
            <a:ext cx="2558186"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QUESTION 2</a:t>
            </a:r>
            <a:endParaRPr lang="en-US" sz="850" dirty="0"/>
          </a:p>
        </p:txBody>
      </p:sp>
      <p:sp>
        <p:nvSpPr>
          <p:cNvPr id="14" name="Text 10"/>
          <p:cNvSpPr/>
          <p:nvPr/>
        </p:nvSpPr>
        <p:spPr>
          <a:xfrm>
            <a:off x="5063642" y="2313432"/>
            <a:ext cx="2558186" cy="589971"/>
          </a:xfrm>
          <a:prstGeom prst="rect">
            <a:avLst/>
          </a:prstGeom>
          <a:noFill/>
          <a:ln/>
        </p:spPr>
        <p:txBody>
          <a:bodyPr wrap="square" lIns="0" tIns="0" rIns="0" bIns="0" rtlCol="0" anchor="t"/>
          <a:lstStyle/>
          <a:p>
            <a:pPr marL="0" indent="0">
              <a:lnSpc>
                <a:spcPct val="105000"/>
              </a:lnSpc>
              <a:buNone/>
            </a:pPr>
            <a:r>
              <a:rPr lang="en-US" sz="1350" b="1" dirty="0">
                <a:solidFill>
                  <a:srgbClr val="141235"/>
                </a:solidFill>
                <a:latin typeface="Calibri" pitchFamily="34" charset="0"/>
                <a:ea typeface="Calibri" pitchFamily="34" charset="-122"/>
                <a:cs typeface="Calibri" pitchFamily="34" charset="-120"/>
              </a:rPr>
              <a:t>How many people will maintain this?</a:t>
            </a:r>
            <a:endParaRPr lang="en-US" sz="1350" dirty="0"/>
          </a:p>
        </p:txBody>
      </p:sp>
      <p:sp>
        <p:nvSpPr>
          <p:cNvPr id="15" name="Text 11"/>
          <p:cNvSpPr/>
          <p:nvPr/>
        </p:nvSpPr>
        <p:spPr>
          <a:xfrm>
            <a:off x="5063642" y="2912547"/>
            <a:ext cx="2558186" cy="425013"/>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One person can carry a hand-written loop indefinitely. Five people need a shared vocabulary, and that is most of what a framework sells.</a:t>
            </a:r>
            <a:endParaRPr lang="en-US" sz="1100" dirty="0"/>
          </a:p>
        </p:txBody>
      </p:sp>
      <p:sp>
        <p:nvSpPr>
          <p:cNvPr id="16" name="Shape 12"/>
          <p:cNvSpPr/>
          <p:nvPr/>
        </p:nvSpPr>
        <p:spPr>
          <a:xfrm>
            <a:off x="8097317" y="1883664"/>
            <a:ext cx="3527450" cy="1636776"/>
          </a:xfrm>
          <a:prstGeom prst="roundRect">
            <a:avLst>
              <a:gd name="adj" fmla="val 5028"/>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7" name="Shape 13"/>
          <p:cNvSpPr/>
          <p:nvPr/>
        </p:nvSpPr>
        <p:spPr>
          <a:xfrm>
            <a:off x="8335061" y="2103120"/>
            <a:ext cx="365760" cy="365760"/>
          </a:xfrm>
          <a:prstGeom prst="ellipse">
            <a:avLst/>
          </a:prstGeom>
          <a:solidFill>
            <a:srgbClr val="5B4BE8"/>
          </a:solidFill>
          <a:ln w="12700">
            <a:solidFill>
              <a:srgbClr val="5B4BE8"/>
            </a:solidFill>
            <a:prstDash val="solid"/>
          </a:ln>
        </p:spPr>
        <p:txBody>
          <a:bodyPr/>
          <a:lstStyle/>
          <a:p>
            <a:endParaRPr lang="en-US"/>
          </a:p>
        </p:txBody>
      </p:sp>
      <p:pic>
        <p:nvPicPr>
          <p:cNvPr id="18" name="Image 2" descr="preencoded.png"/>
          <p:cNvPicPr>
            <a:picLocks noChangeAspect="1"/>
          </p:cNvPicPr>
          <p:nvPr/>
        </p:nvPicPr>
        <p:blipFill>
          <a:blip r:embed="rId5"/>
          <a:stretch>
            <a:fillRect/>
          </a:stretch>
        </p:blipFill>
        <p:spPr>
          <a:xfrm>
            <a:off x="8426501" y="2194560"/>
            <a:ext cx="182880" cy="182880"/>
          </a:xfrm>
          <a:prstGeom prst="rect">
            <a:avLst/>
          </a:prstGeom>
        </p:spPr>
      </p:pic>
      <p:sp>
        <p:nvSpPr>
          <p:cNvPr id="19" name="Text 14"/>
          <p:cNvSpPr/>
          <p:nvPr/>
        </p:nvSpPr>
        <p:spPr>
          <a:xfrm>
            <a:off x="8828837" y="2093976"/>
            <a:ext cx="2558186"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QUESTION 3</a:t>
            </a:r>
            <a:endParaRPr lang="en-US" sz="850" dirty="0"/>
          </a:p>
        </p:txBody>
      </p:sp>
      <p:sp>
        <p:nvSpPr>
          <p:cNvPr id="20" name="Text 15"/>
          <p:cNvSpPr/>
          <p:nvPr/>
        </p:nvSpPr>
        <p:spPr>
          <a:xfrm>
            <a:off x="8828837" y="2313432"/>
            <a:ext cx="2558186" cy="322417"/>
          </a:xfrm>
          <a:prstGeom prst="rect">
            <a:avLst/>
          </a:prstGeom>
          <a:noFill/>
          <a:ln/>
        </p:spPr>
        <p:txBody>
          <a:bodyPr wrap="square" lIns="0" tIns="0" rIns="0" bIns="0" rtlCol="0" anchor="t"/>
          <a:lstStyle/>
          <a:p>
            <a:pPr marL="0" indent="0">
              <a:lnSpc>
                <a:spcPct val="105000"/>
              </a:lnSpc>
              <a:buNone/>
            </a:pPr>
            <a:r>
              <a:rPr lang="en-US" sz="1350" b="1" dirty="0">
                <a:solidFill>
                  <a:srgbClr val="141235"/>
                </a:solidFill>
                <a:latin typeface="Calibri" pitchFamily="34" charset="0"/>
                <a:ea typeface="Calibri" pitchFamily="34" charset="-122"/>
                <a:cs typeface="Calibri" pitchFamily="34" charset="-120"/>
              </a:rPr>
              <a:t>How many tools, really?</a:t>
            </a:r>
            <a:endParaRPr lang="en-US" sz="1350" dirty="0"/>
          </a:p>
        </p:txBody>
      </p:sp>
      <p:sp>
        <p:nvSpPr>
          <p:cNvPr id="21" name="Text 16"/>
          <p:cNvSpPr/>
          <p:nvPr/>
        </p:nvSpPr>
        <p:spPr>
          <a:xfrm>
            <a:off x="8828837" y="2644993"/>
            <a:ext cx="2558186" cy="692567"/>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Three tools do not need an abstraction. Thirty do — and by then you want MCP more than you want a framework.</a:t>
            </a:r>
            <a:endParaRPr lang="en-US" sz="1100" dirty="0"/>
          </a:p>
        </p:txBody>
      </p:sp>
      <p:sp>
        <p:nvSpPr>
          <p:cNvPr id="22" name="Shape 17"/>
          <p:cNvSpPr/>
          <p:nvPr/>
        </p:nvSpPr>
        <p:spPr>
          <a:xfrm>
            <a:off x="566928" y="3758184"/>
            <a:ext cx="3527450" cy="1636776"/>
          </a:xfrm>
          <a:prstGeom prst="roundRect">
            <a:avLst>
              <a:gd name="adj" fmla="val 5028"/>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23" name="Shape 18"/>
          <p:cNvSpPr/>
          <p:nvPr/>
        </p:nvSpPr>
        <p:spPr>
          <a:xfrm>
            <a:off x="804672" y="3977640"/>
            <a:ext cx="365760" cy="365760"/>
          </a:xfrm>
          <a:prstGeom prst="ellipse">
            <a:avLst/>
          </a:prstGeom>
          <a:solidFill>
            <a:srgbClr val="5B4BE8"/>
          </a:solidFill>
          <a:ln w="12700">
            <a:solidFill>
              <a:srgbClr val="5B4BE8"/>
            </a:solidFill>
            <a:prstDash val="solid"/>
          </a:ln>
        </p:spPr>
        <p:txBody>
          <a:bodyPr/>
          <a:lstStyle/>
          <a:p>
            <a:endParaRPr lang="en-US"/>
          </a:p>
        </p:txBody>
      </p:sp>
      <p:pic>
        <p:nvPicPr>
          <p:cNvPr id="24" name="Image 3" descr="preencoded.png"/>
          <p:cNvPicPr>
            <a:picLocks noChangeAspect="1"/>
          </p:cNvPicPr>
          <p:nvPr/>
        </p:nvPicPr>
        <p:blipFill>
          <a:blip r:embed="rId6"/>
          <a:stretch>
            <a:fillRect/>
          </a:stretch>
        </p:blipFill>
        <p:spPr>
          <a:xfrm>
            <a:off x="896112" y="4069080"/>
            <a:ext cx="182880" cy="182880"/>
          </a:xfrm>
          <a:prstGeom prst="rect">
            <a:avLst/>
          </a:prstGeom>
        </p:spPr>
      </p:pic>
      <p:sp>
        <p:nvSpPr>
          <p:cNvPr id="25" name="Text 19"/>
          <p:cNvSpPr/>
          <p:nvPr/>
        </p:nvSpPr>
        <p:spPr>
          <a:xfrm>
            <a:off x="1298448" y="3968496"/>
            <a:ext cx="2558186"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QUESTION 4</a:t>
            </a:r>
            <a:endParaRPr lang="en-US" sz="850" dirty="0"/>
          </a:p>
        </p:txBody>
      </p:sp>
      <p:sp>
        <p:nvSpPr>
          <p:cNvPr id="26" name="Text 20"/>
          <p:cNvSpPr/>
          <p:nvPr/>
        </p:nvSpPr>
        <p:spPr>
          <a:xfrm>
            <a:off x="1298448" y="4187952"/>
            <a:ext cx="2558186" cy="322417"/>
          </a:xfrm>
          <a:prstGeom prst="rect">
            <a:avLst/>
          </a:prstGeom>
          <a:noFill/>
          <a:ln/>
        </p:spPr>
        <p:txBody>
          <a:bodyPr wrap="square" lIns="0" tIns="0" rIns="0" bIns="0" rtlCol="0" anchor="t"/>
          <a:lstStyle/>
          <a:p>
            <a:pPr marL="0" indent="0">
              <a:lnSpc>
                <a:spcPct val="105000"/>
              </a:lnSpc>
              <a:buNone/>
            </a:pPr>
            <a:r>
              <a:rPr lang="en-US" sz="1350" b="1" dirty="0">
                <a:solidFill>
                  <a:srgbClr val="141235"/>
                </a:solidFill>
                <a:latin typeface="Calibri" pitchFamily="34" charset="0"/>
                <a:ea typeface="Calibri" pitchFamily="34" charset="-122"/>
                <a:cs typeface="Calibri" pitchFamily="34" charset="-120"/>
              </a:rPr>
              <a:t>Who has to audit it?</a:t>
            </a:r>
            <a:endParaRPr lang="en-US" sz="1350" dirty="0"/>
          </a:p>
        </p:txBody>
      </p:sp>
      <p:sp>
        <p:nvSpPr>
          <p:cNvPr id="27" name="Text 21"/>
          <p:cNvSpPr/>
          <p:nvPr/>
        </p:nvSpPr>
        <p:spPr>
          <a:xfrm>
            <a:off x="1298448" y="4519513"/>
            <a:ext cx="2558186" cy="692567"/>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If a regulator or a security review is in your future, favour the tier where you can point at the line of code that made the decision.</a:t>
            </a:r>
            <a:endParaRPr lang="en-US" sz="1100" dirty="0"/>
          </a:p>
        </p:txBody>
      </p:sp>
      <p:sp>
        <p:nvSpPr>
          <p:cNvPr id="28" name="Shape 22"/>
          <p:cNvSpPr/>
          <p:nvPr/>
        </p:nvSpPr>
        <p:spPr>
          <a:xfrm>
            <a:off x="4332122" y="3758184"/>
            <a:ext cx="3527450" cy="1636776"/>
          </a:xfrm>
          <a:prstGeom prst="roundRect">
            <a:avLst>
              <a:gd name="adj" fmla="val 5028"/>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29" name="Shape 23"/>
          <p:cNvSpPr/>
          <p:nvPr/>
        </p:nvSpPr>
        <p:spPr>
          <a:xfrm>
            <a:off x="4569866" y="3977640"/>
            <a:ext cx="365760" cy="365760"/>
          </a:xfrm>
          <a:prstGeom prst="ellipse">
            <a:avLst/>
          </a:prstGeom>
          <a:solidFill>
            <a:srgbClr val="5B4BE8"/>
          </a:solidFill>
          <a:ln w="12700">
            <a:solidFill>
              <a:srgbClr val="5B4BE8"/>
            </a:solidFill>
            <a:prstDash val="solid"/>
          </a:ln>
        </p:spPr>
        <p:txBody>
          <a:bodyPr/>
          <a:lstStyle/>
          <a:p>
            <a:endParaRPr lang="en-US"/>
          </a:p>
        </p:txBody>
      </p:sp>
      <p:pic>
        <p:nvPicPr>
          <p:cNvPr id="30" name="Image 4" descr="preencoded.png"/>
          <p:cNvPicPr>
            <a:picLocks noChangeAspect="1"/>
          </p:cNvPicPr>
          <p:nvPr/>
        </p:nvPicPr>
        <p:blipFill>
          <a:blip r:embed="rId7"/>
          <a:stretch>
            <a:fillRect/>
          </a:stretch>
        </p:blipFill>
        <p:spPr>
          <a:xfrm>
            <a:off x="4661306" y="4069080"/>
            <a:ext cx="182880" cy="182880"/>
          </a:xfrm>
          <a:prstGeom prst="rect">
            <a:avLst/>
          </a:prstGeom>
        </p:spPr>
      </p:pic>
      <p:sp>
        <p:nvSpPr>
          <p:cNvPr id="31" name="Text 24"/>
          <p:cNvSpPr/>
          <p:nvPr/>
        </p:nvSpPr>
        <p:spPr>
          <a:xfrm>
            <a:off x="5063642" y="3968496"/>
            <a:ext cx="2558186"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QUESTION 5</a:t>
            </a:r>
            <a:endParaRPr lang="en-US" sz="850" dirty="0"/>
          </a:p>
        </p:txBody>
      </p:sp>
      <p:sp>
        <p:nvSpPr>
          <p:cNvPr id="32" name="Text 25"/>
          <p:cNvSpPr/>
          <p:nvPr/>
        </p:nvSpPr>
        <p:spPr>
          <a:xfrm>
            <a:off x="5063642" y="4187952"/>
            <a:ext cx="2558186" cy="589971"/>
          </a:xfrm>
          <a:prstGeom prst="rect">
            <a:avLst/>
          </a:prstGeom>
          <a:noFill/>
          <a:ln/>
        </p:spPr>
        <p:txBody>
          <a:bodyPr wrap="square" lIns="0" tIns="0" rIns="0" bIns="0" rtlCol="0" anchor="t"/>
          <a:lstStyle/>
          <a:p>
            <a:pPr marL="0" indent="0">
              <a:lnSpc>
                <a:spcPct val="105000"/>
              </a:lnSpc>
              <a:buNone/>
            </a:pPr>
            <a:r>
              <a:rPr lang="en-US" sz="1350" b="1" dirty="0">
                <a:solidFill>
                  <a:srgbClr val="141235"/>
                </a:solidFill>
                <a:latin typeface="Calibri" pitchFamily="34" charset="0"/>
                <a:ea typeface="Calibri" pitchFamily="34" charset="-122"/>
                <a:cs typeface="Calibri" pitchFamily="34" charset="-120"/>
              </a:rPr>
              <a:t>Do you need to move clouds?</a:t>
            </a:r>
            <a:endParaRPr lang="en-US" sz="1350" dirty="0"/>
          </a:p>
        </p:txBody>
      </p:sp>
      <p:sp>
        <p:nvSpPr>
          <p:cNvPr id="33" name="Text 26"/>
          <p:cNvSpPr/>
          <p:nvPr/>
        </p:nvSpPr>
        <p:spPr>
          <a:xfrm>
            <a:off x="5063642" y="4787067"/>
            <a:ext cx="2558186" cy="425013"/>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Tier 4 is a genuine choice, not a mistake — but make it deliberately. It is the one rung where portability actually stops.</a:t>
            </a:r>
            <a:endParaRPr lang="en-US" sz="1100" dirty="0"/>
          </a:p>
        </p:txBody>
      </p:sp>
      <p:sp>
        <p:nvSpPr>
          <p:cNvPr id="34" name="Shape 27"/>
          <p:cNvSpPr/>
          <p:nvPr/>
        </p:nvSpPr>
        <p:spPr>
          <a:xfrm>
            <a:off x="8097317" y="3758184"/>
            <a:ext cx="3527450" cy="1636776"/>
          </a:xfrm>
          <a:prstGeom prst="roundRect">
            <a:avLst>
              <a:gd name="adj" fmla="val 5028"/>
            </a:avLst>
          </a:prstGeom>
          <a:solidFill>
            <a:srgbClr val="FFF4E0"/>
          </a:solidFill>
          <a:ln w="12700">
            <a:solidFill>
              <a:srgbClr val="F3DCB0"/>
            </a:solidFill>
            <a:prstDash val="solid"/>
          </a:ln>
          <a:effectLst>
            <a:outerShdw blurRad="114300" dist="572" dir="5400000" algn="bl" rotWithShape="0">
              <a:srgbClr val="1B1A4A">
                <a:alpha val="7000"/>
              </a:srgbClr>
            </a:outerShdw>
          </a:effectLst>
        </p:spPr>
        <p:txBody>
          <a:bodyPr/>
          <a:lstStyle/>
          <a:p>
            <a:endParaRPr lang="en-US"/>
          </a:p>
        </p:txBody>
      </p:sp>
      <p:sp>
        <p:nvSpPr>
          <p:cNvPr id="35" name="Shape 28"/>
          <p:cNvSpPr/>
          <p:nvPr/>
        </p:nvSpPr>
        <p:spPr>
          <a:xfrm>
            <a:off x="8335061" y="3977640"/>
            <a:ext cx="365760" cy="365760"/>
          </a:xfrm>
          <a:prstGeom prst="ellipse">
            <a:avLst/>
          </a:prstGeom>
          <a:solidFill>
            <a:srgbClr val="F5A524"/>
          </a:solidFill>
          <a:ln w="12700">
            <a:solidFill>
              <a:srgbClr val="F5A524"/>
            </a:solidFill>
            <a:prstDash val="solid"/>
          </a:ln>
        </p:spPr>
        <p:txBody>
          <a:bodyPr/>
          <a:lstStyle/>
          <a:p>
            <a:endParaRPr lang="en-US"/>
          </a:p>
        </p:txBody>
      </p:sp>
      <p:pic>
        <p:nvPicPr>
          <p:cNvPr id="36" name="Image 5" descr="preencoded.png"/>
          <p:cNvPicPr>
            <a:picLocks noChangeAspect="1"/>
          </p:cNvPicPr>
          <p:nvPr/>
        </p:nvPicPr>
        <p:blipFill>
          <a:blip r:embed="rId8"/>
          <a:stretch>
            <a:fillRect/>
          </a:stretch>
        </p:blipFill>
        <p:spPr>
          <a:xfrm>
            <a:off x="8426501" y="4069080"/>
            <a:ext cx="182880" cy="182880"/>
          </a:xfrm>
          <a:prstGeom prst="rect">
            <a:avLst/>
          </a:prstGeom>
        </p:spPr>
      </p:pic>
      <p:sp>
        <p:nvSpPr>
          <p:cNvPr id="37" name="Text 29"/>
          <p:cNvSpPr/>
          <p:nvPr/>
        </p:nvSpPr>
        <p:spPr>
          <a:xfrm>
            <a:off x="8828837" y="3968496"/>
            <a:ext cx="2558186"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AND THEN</a:t>
            </a:r>
            <a:endParaRPr lang="en-US" sz="850" dirty="0"/>
          </a:p>
        </p:txBody>
      </p:sp>
      <p:sp>
        <p:nvSpPr>
          <p:cNvPr id="38" name="Text 30"/>
          <p:cNvSpPr/>
          <p:nvPr/>
        </p:nvSpPr>
        <p:spPr>
          <a:xfrm>
            <a:off x="8828837" y="4187952"/>
            <a:ext cx="2558186" cy="589971"/>
          </a:xfrm>
          <a:prstGeom prst="rect">
            <a:avLst/>
          </a:prstGeom>
          <a:noFill/>
          <a:ln/>
        </p:spPr>
        <p:txBody>
          <a:bodyPr wrap="square" lIns="0" tIns="0" rIns="0" bIns="0" rtlCol="0" anchor="t"/>
          <a:lstStyle/>
          <a:p>
            <a:pPr marL="0" indent="0">
              <a:lnSpc>
                <a:spcPct val="105000"/>
              </a:lnSpc>
              <a:buNone/>
            </a:pPr>
            <a:r>
              <a:rPr lang="en-US" sz="1350" b="1" dirty="0">
                <a:solidFill>
                  <a:srgbClr val="141235"/>
                </a:solidFill>
                <a:latin typeface="Calibri" pitchFamily="34" charset="0"/>
                <a:ea typeface="Calibri" pitchFamily="34" charset="-122"/>
                <a:cs typeface="Calibri" pitchFamily="34" charset="-120"/>
              </a:rPr>
              <a:t>Pick the lowest tier that answers them</a:t>
            </a:r>
            <a:endParaRPr lang="en-US" sz="1350" dirty="0"/>
          </a:p>
        </p:txBody>
      </p:sp>
      <p:sp>
        <p:nvSpPr>
          <p:cNvPr id="39" name="Text 31"/>
          <p:cNvSpPr/>
          <p:nvPr/>
        </p:nvSpPr>
        <p:spPr>
          <a:xfrm>
            <a:off x="8828837" y="4787067"/>
            <a:ext cx="2558186" cy="425013"/>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Not the most capable one. You can always climb; coming back down means a rewrite.</a:t>
            </a:r>
            <a:endParaRPr lang="en-US" sz="1100" dirty="0"/>
          </a:p>
        </p:txBody>
      </p:sp>
      <p:sp>
        <p:nvSpPr>
          <p:cNvPr id="40" name="Shape 32"/>
          <p:cNvSpPr/>
          <p:nvPr/>
        </p:nvSpPr>
        <p:spPr>
          <a:xfrm>
            <a:off x="566928" y="5541264"/>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41" name="Shape 33"/>
          <p:cNvSpPr/>
          <p:nvPr/>
        </p:nvSpPr>
        <p:spPr>
          <a:xfrm>
            <a:off x="841248" y="5760720"/>
            <a:ext cx="384048" cy="384048"/>
          </a:xfrm>
          <a:prstGeom prst="ellipse">
            <a:avLst/>
          </a:prstGeom>
          <a:solidFill>
            <a:srgbClr val="F5A524"/>
          </a:solidFill>
          <a:ln w="12700">
            <a:solidFill>
              <a:srgbClr val="F5A524"/>
            </a:solidFill>
            <a:prstDash val="solid"/>
          </a:ln>
        </p:spPr>
        <p:txBody>
          <a:bodyPr/>
          <a:lstStyle/>
          <a:p>
            <a:endParaRPr lang="en-US"/>
          </a:p>
        </p:txBody>
      </p:sp>
      <p:pic>
        <p:nvPicPr>
          <p:cNvPr id="42" name="Image 6" descr="preencoded.png"/>
          <p:cNvPicPr>
            <a:picLocks noChangeAspect="1"/>
          </p:cNvPicPr>
          <p:nvPr/>
        </p:nvPicPr>
        <p:blipFill>
          <a:blip r:embed="rId9"/>
          <a:stretch>
            <a:fillRect/>
          </a:stretch>
        </p:blipFill>
        <p:spPr>
          <a:xfrm>
            <a:off x="937260" y="5856732"/>
            <a:ext cx="192024" cy="192024"/>
          </a:xfrm>
          <a:prstGeom prst="rect">
            <a:avLst/>
          </a:prstGeom>
        </p:spPr>
      </p:pic>
      <p:sp>
        <p:nvSpPr>
          <p:cNvPr id="43" name="Text 34"/>
          <p:cNvSpPr/>
          <p:nvPr/>
        </p:nvSpPr>
        <p:spPr>
          <a:xfrm>
            <a:off x="1371600" y="5596128"/>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Nobody has ever regretted starting simpler. Plenty of teams have regretted adopting an org-chart framework for a job that was one agent with four tools.</a:t>
            </a:r>
            <a:endParaRPr lang="en-US" sz="105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0B0A22"/>
        </a:solidFill>
        <a:effectLst/>
      </p:bgPr>
    </p:bg>
    <p:spTree>
      <p:nvGrpSpPr>
        <p:cNvPr id="1" name=""/>
        <p:cNvGrpSpPr/>
        <p:nvPr/>
      </p:nvGrpSpPr>
      <p:grpSpPr>
        <a:xfrm>
          <a:off x="0" y="0"/>
          <a:ext cx="0" cy="0"/>
          <a:chOff x="0" y="0"/>
          <a:chExt cx="0" cy="0"/>
        </a:xfrm>
      </p:grpSpPr>
      <p:pic>
        <p:nvPicPr>
          <p:cNvPr id="2" name="Image 0" descr="/home/claude/work/bg_quote.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612648" y="1371600"/>
            <a:ext cx="11057839" cy="274320"/>
          </a:xfrm>
          <a:prstGeom prst="rect">
            <a:avLst/>
          </a:prstGeom>
          <a:noFill/>
          <a:ln/>
        </p:spPr>
        <p:txBody>
          <a:bodyPr wrap="square" lIns="0" tIns="0" rIns="0" bIns="0" rtlCol="0" anchor="ctr"/>
          <a:lstStyle/>
          <a:p>
            <a:pPr marL="0" indent="0">
              <a:buNone/>
            </a:pPr>
            <a:r>
              <a:rPr lang="en-US" sz="1050" b="1" kern="0" spc="220" dirty="0">
                <a:solidFill>
                  <a:srgbClr val="F5A524"/>
                </a:solidFill>
                <a:latin typeface="Calibri" pitchFamily="34" charset="0"/>
                <a:ea typeface="Calibri" pitchFamily="34" charset="-122"/>
                <a:cs typeface="Calibri" pitchFamily="34" charset="-120"/>
              </a:rPr>
              <a:t>09 · THE FRAMEWORK LADDER</a:t>
            </a:r>
            <a:endParaRPr lang="en-US" sz="1050" dirty="0"/>
          </a:p>
        </p:txBody>
      </p:sp>
      <p:sp>
        <p:nvSpPr>
          <p:cNvPr id="4" name="Text 1"/>
          <p:cNvSpPr/>
          <p:nvPr/>
        </p:nvSpPr>
        <p:spPr>
          <a:xfrm>
            <a:off x="420624" y="1481328"/>
            <a:ext cx="1463040" cy="1463040"/>
          </a:xfrm>
          <a:prstGeom prst="rect">
            <a:avLst/>
          </a:prstGeom>
          <a:noFill/>
          <a:ln/>
        </p:spPr>
        <p:txBody>
          <a:bodyPr wrap="square" lIns="0" tIns="0" rIns="0" bIns="0" rtlCol="0" anchor="ctr"/>
          <a:lstStyle/>
          <a:p>
            <a:pPr marL="0" indent="0">
              <a:buNone/>
            </a:pPr>
            <a:r>
              <a:rPr lang="en-US" sz="15000" b="1" dirty="0">
                <a:solidFill>
                  <a:srgbClr val="8E82F5">
                    <a:alpha val="38000"/>
                  </a:srgbClr>
                </a:solidFill>
                <a:latin typeface="Cambria" pitchFamily="34" charset="0"/>
                <a:ea typeface="Cambria" pitchFamily="34" charset="-122"/>
                <a:cs typeface="Cambria" pitchFamily="34" charset="-120"/>
              </a:rPr>
              <a:t>“</a:t>
            </a:r>
            <a:endParaRPr lang="en-US" sz="15000" dirty="0"/>
          </a:p>
        </p:txBody>
      </p:sp>
      <p:sp>
        <p:nvSpPr>
          <p:cNvPr id="5" name="Text 2"/>
          <p:cNvSpPr/>
          <p:nvPr/>
        </p:nvSpPr>
        <p:spPr>
          <a:xfrm>
            <a:off x="612648" y="2212848"/>
            <a:ext cx="9960559" cy="2377440"/>
          </a:xfrm>
          <a:prstGeom prst="rect">
            <a:avLst/>
          </a:prstGeom>
          <a:noFill/>
          <a:ln/>
        </p:spPr>
        <p:txBody>
          <a:bodyPr wrap="square" lIns="0" tIns="0" rIns="0" bIns="0" rtlCol="0" anchor="t"/>
          <a:lstStyle/>
          <a:p>
            <a:pPr marL="0" indent="0">
              <a:lnSpc>
                <a:spcPct val="116000"/>
              </a:lnSpc>
              <a:buNone/>
            </a:pPr>
            <a:r>
              <a:rPr lang="en-US" sz="3100" b="1" dirty="0">
                <a:solidFill>
                  <a:srgbClr val="FFFFFF"/>
                </a:solidFill>
                <a:latin typeface="Cambria" pitchFamily="34" charset="0"/>
                <a:ea typeface="Cambria" pitchFamily="34" charset="-122"/>
                <a:cs typeface="Cambria" pitchFamily="34" charset="-120"/>
              </a:rPr>
              <a:t>Every tier up trades control</a:t>
            </a:r>
            <a:endParaRPr lang="en-US" sz="3100" dirty="0"/>
          </a:p>
          <a:p>
            <a:pPr marL="0" indent="0">
              <a:lnSpc>
                <a:spcPct val="116000"/>
              </a:lnSpc>
              <a:buNone/>
            </a:pPr>
            <a:r>
              <a:rPr lang="en-US" sz="3100" b="1" dirty="0">
                <a:solidFill>
                  <a:srgbClr val="FFFFFF"/>
                </a:solidFill>
                <a:latin typeface="Cambria" pitchFamily="34" charset="0"/>
                <a:ea typeface="Cambria" pitchFamily="34" charset="-122"/>
                <a:cs typeface="Cambria" pitchFamily="34" charset="-120"/>
              </a:rPr>
              <a:t>for leverage. That trade is correct</a:t>
            </a:r>
            <a:endParaRPr lang="en-US" sz="3100" dirty="0"/>
          </a:p>
          <a:p>
            <a:pPr marL="0" indent="0">
              <a:lnSpc>
                <a:spcPct val="116000"/>
              </a:lnSpc>
              <a:buNone/>
            </a:pPr>
            <a:r>
              <a:rPr lang="en-US" sz="3100" b="1" dirty="0">
                <a:solidFill>
                  <a:srgbClr val="FFFFFF"/>
                </a:solidFill>
                <a:latin typeface="Cambria" pitchFamily="34" charset="0"/>
                <a:ea typeface="Cambria" pitchFamily="34" charset="-122"/>
                <a:cs typeface="Cambria" pitchFamily="34" charset="-120"/>
              </a:rPr>
              <a:t>right up until the moment</a:t>
            </a:r>
            <a:endParaRPr lang="en-US" sz="3100" dirty="0"/>
          </a:p>
          <a:p>
            <a:pPr marL="0" indent="0">
              <a:lnSpc>
                <a:spcPct val="116000"/>
              </a:lnSpc>
              <a:buNone/>
            </a:pPr>
            <a:r>
              <a:rPr lang="en-US" sz="3100" b="1" dirty="0">
                <a:solidFill>
                  <a:srgbClr val="FFFFFF"/>
                </a:solidFill>
                <a:latin typeface="Cambria" pitchFamily="34" charset="0"/>
                <a:ea typeface="Cambria" pitchFamily="34" charset="-122"/>
                <a:cs typeface="Cambria" pitchFamily="34" charset="-120"/>
              </a:rPr>
              <a:t>you need the control back.</a:t>
            </a:r>
            <a:endParaRPr lang="en-US" sz="3100" dirty="0"/>
          </a:p>
        </p:txBody>
      </p:sp>
      <p:sp>
        <p:nvSpPr>
          <p:cNvPr id="6" name="Text 3"/>
          <p:cNvSpPr/>
          <p:nvPr/>
        </p:nvSpPr>
        <p:spPr>
          <a:xfrm>
            <a:off x="612648" y="4718304"/>
            <a:ext cx="9777679" cy="822960"/>
          </a:xfrm>
          <a:prstGeom prst="rect">
            <a:avLst/>
          </a:prstGeom>
          <a:noFill/>
          <a:ln/>
        </p:spPr>
        <p:txBody>
          <a:bodyPr wrap="square" lIns="0" tIns="0" rIns="0" bIns="0" rtlCol="0" anchor="t"/>
          <a:lstStyle/>
          <a:p>
            <a:pPr marL="0" indent="0">
              <a:lnSpc>
                <a:spcPct val="120000"/>
              </a:lnSpc>
              <a:buNone/>
            </a:pPr>
            <a:r>
              <a:rPr lang="en-US" sz="1450" dirty="0">
                <a:solidFill>
                  <a:srgbClr val="B9B4E0"/>
                </a:solidFill>
                <a:latin typeface="Calibri" pitchFamily="34" charset="0"/>
                <a:ea typeface="Calibri" pitchFamily="34" charset="-122"/>
                <a:cs typeface="Calibri" pitchFamily="34" charset="-120"/>
              </a:rPr>
              <a:t>Which is usually the first serious incident. Choose the tier you can debug at 2am, not the one with the shortest hello-world.</a:t>
            </a:r>
            <a:endParaRPr lang="en-US" sz="145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0B0A22"/>
        </a:solidFill>
        <a:effectLst/>
      </p:bgPr>
    </p:bg>
    <p:spTree>
      <p:nvGrpSpPr>
        <p:cNvPr id="1" name=""/>
        <p:cNvGrpSpPr/>
        <p:nvPr/>
      </p:nvGrpSpPr>
      <p:grpSpPr>
        <a:xfrm>
          <a:off x="0" y="0"/>
          <a:ext cx="0" cy="0"/>
          <a:chOff x="0" y="0"/>
          <a:chExt cx="0" cy="0"/>
        </a:xfrm>
      </p:grpSpPr>
      <p:pic>
        <p:nvPicPr>
          <p:cNvPr id="2" name="Image 0" descr="/home/claude/work/bg_dark.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66928" y="2139696"/>
            <a:ext cx="7315200" cy="292608"/>
          </a:xfrm>
          <a:prstGeom prst="rect">
            <a:avLst/>
          </a:prstGeom>
          <a:noFill/>
          <a:ln/>
        </p:spPr>
        <p:txBody>
          <a:bodyPr wrap="square" lIns="0" tIns="0" rIns="0" bIns="0" rtlCol="0" anchor="ctr"/>
          <a:lstStyle/>
          <a:p>
            <a:pPr marL="0" indent="0">
              <a:buNone/>
            </a:pPr>
            <a:r>
              <a:rPr lang="en-US" sz="1300" b="1" kern="0" spc="340" dirty="0">
                <a:solidFill>
                  <a:srgbClr val="F5A524"/>
                </a:solidFill>
                <a:latin typeface="Calibri" pitchFamily="34" charset="0"/>
                <a:ea typeface="Calibri" pitchFamily="34" charset="-122"/>
                <a:cs typeface="Calibri" pitchFamily="34" charset="-120"/>
              </a:rPr>
              <a:t>DAY TWO</a:t>
            </a:r>
            <a:endParaRPr lang="en-US" sz="1300" dirty="0"/>
          </a:p>
        </p:txBody>
      </p:sp>
      <p:sp>
        <p:nvSpPr>
          <p:cNvPr id="4" name="Text 1"/>
          <p:cNvSpPr/>
          <p:nvPr/>
        </p:nvSpPr>
        <p:spPr>
          <a:xfrm>
            <a:off x="530352" y="2542032"/>
            <a:ext cx="10515600" cy="914400"/>
          </a:xfrm>
          <a:prstGeom prst="rect">
            <a:avLst/>
          </a:prstGeom>
          <a:noFill/>
          <a:ln/>
        </p:spPr>
        <p:txBody>
          <a:bodyPr wrap="square" lIns="0" tIns="0" rIns="0" bIns="0" rtlCol="0" anchor="t"/>
          <a:lstStyle/>
          <a:p>
            <a:pPr marL="0" indent="0">
              <a:buNone/>
            </a:pPr>
            <a:r>
              <a:rPr lang="en-US" sz="5000" b="1" dirty="0">
                <a:solidFill>
                  <a:srgbClr val="FFFFFF"/>
                </a:solidFill>
                <a:latin typeface="Cambria" pitchFamily="34" charset="0"/>
                <a:ea typeface="Cambria" pitchFamily="34" charset="-122"/>
                <a:cs typeface="Cambria" pitchFamily="34" charset="-120"/>
              </a:rPr>
              <a:t>Ground it, scale it, govern it</a:t>
            </a:r>
            <a:endParaRPr lang="en-US" sz="5000" dirty="0"/>
          </a:p>
        </p:txBody>
      </p:sp>
      <p:sp>
        <p:nvSpPr>
          <p:cNvPr id="5" name="Text 2"/>
          <p:cNvSpPr/>
          <p:nvPr/>
        </p:nvSpPr>
        <p:spPr>
          <a:xfrm>
            <a:off x="566928" y="3602736"/>
            <a:ext cx="9509760" cy="822960"/>
          </a:xfrm>
          <a:prstGeom prst="rect">
            <a:avLst/>
          </a:prstGeom>
          <a:noFill/>
          <a:ln/>
        </p:spPr>
        <p:txBody>
          <a:bodyPr wrap="square" lIns="0" tIns="0" rIns="0" bIns="0" rtlCol="0" anchor="t"/>
          <a:lstStyle/>
          <a:p>
            <a:pPr marL="0" indent="0">
              <a:lnSpc>
                <a:spcPct val="120000"/>
              </a:lnSpc>
              <a:buNone/>
            </a:pPr>
            <a:r>
              <a:rPr lang="en-US" sz="1700" dirty="0">
                <a:solidFill>
                  <a:srgbClr val="B9B4E0"/>
                </a:solidFill>
                <a:latin typeface="Calibri" pitchFamily="34" charset="0"/>
                <a:ea typeface="Calibri" pitchFamily="34" charset="-122"/>
                <a:cs typeface="Calibri" pitchFamily="34" charset="-120"/>
              </a:rPr>
              <a:t>Yesterday you built a loop and saw what wraps it. Today: what it knows, how many of it there are, what could go wrong, and whether any of it should exist.</a:t>
            </a:r>
            <a:endParaRPr lang="en-US" sz="1700" dirty="0"/>
          </a:p>
        </p:txBody>
      </p:sp>
      <p:sp>
        <p:nvSpPr>
          <p:cNvPr id="6" name="Shape 3"/>
          <p:cNvSpPr/>
          <p:nvPr/>
        </p:nvSpPr>
        <p:spPr>
          <a:xfrm>
            <a:off x="566928" y="4626864"/>
            <a:ext cx="1549908" cy="402336"/>
          </a:xfrm>
          <a:prstGeom prst="roundRect">
            <a:avLst>
              <a:gd name="adj" fmla="val 50000"/>
            </a:avLst>
          </a:prstGeom>
          <a:solidFill>
            <a:srgbClr val="FFFFFF">
              <a:alpha val="11000"/>
            </a:srgbClr>
          </a:solidFill>
          <a:ln w="12700">
            <a:solidFill>
              <a:srgbClr val="6E5FD8"/>
            </a:solidFill>
            <a:prstDash val="solid"/>
          </a:ln>
        </p:spPr>
        <p:txBody>
          <a:bodyPr/>
          <a:lstStyle/>
          <a:p>
            <a:endParaRPr lang="en-US"/>
          </a:p>
        </p:txBody>
      </p:sp>
      <p:sp>
        <p:nvSpPr>
          <p:cNvPr id="7" name="Text 4"/>
          <p:cNvSpPr/>
          <p:nvPr/>
        </p:nvSpPr>
        <p:spPr>
          <a:xfrm>
            <a:off x="566928" y="4626864"/>
            <a:ext cx="1549908" cy="402336"/>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10 · Sandboxing</a:t>
            </a:r>
            <a:endParaRPr lang="en-US" sz="1100" dirty="0"/>
          </a:p>
        </p:txBody>
      </p:sp>
      <p:sp>
        <p:nvSpPr>
          <p:cNvPr id="8" name="Shape 5"/>
          <p:cNvSpPr/>
          <p:nvPr/>
        </p:nvSpPr>
        <p:spPr>
          <a:xfrm>
            <a:off x="2263140" y="4626864"/>
            <a:ext cx="1464869" cy="402336"/>
          </a:xfrm>
          <a:prstGeom prst="roundRect">
            <a:avLst>
              <a:gd name="adj" fmla="val 50000"/>
            </a:avLst>
          </a:prstGeom>
          <a:solidFill>
            <a:srgbClr val="FFFFFF">
              <a:alpha val="11000"/>
            </a:srgbClr>
          </a:solidFill>
          <a:ln w="12700">
            <a:solidFill>
              <a:srgbClr val="6E5FD8"/>
            </a:solidFill>
            <a:prstDash val="solid"/>
          </a:ln>
        </p:spPr>
        <p:txBody>
          <a:bodyPr/>
          <a:lstStyle/>
          <a:p>
            <a:endParaRPr lang="en-US"/>
          </a:p>
        </p:txBody>
      </p:sp>
      <p:sp>
        <p:nvSpPr>
          <p:cNvPr id="9" name="Text 6"/>
          <p:cNvSpPr/>
          <p:nvPr/>
        </p:nvSpPr>
        <p:spPr>
          <a:xfrm>
            <a:off x="2263140" y="4626864"/>
            <a:ext cx="1464869" cy="402336"/>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11 · Retrieval</a:t>
            </a:r>
            <a:endParaRPr lang="en-US" sz="1100" dirty="0"/>
          </a:p>
        </p:txBody>
      </p:sp>
      <p:sp>
        <p:nvSpPr>
          <p:cNvPr id="10" name="Shape 7"/>
          <p:cNvSpPr/>
          <p:nvPr/>
        </p:nvSpPr>
        <p:spPr>
          <a:xfrm>
            <a:off x="3874313" y="4626864"/>
            <a:ext cx="1634947" cy="402336"/>
          </a:xfrm>
          <a:prstGeom prst="roundRect">
            <a:avLst>
              <a:gd name="adj" fmla="val 50000"/>
            </a:avLst>
          </a:prstGeom>
          <a:solidFill>
            <a:srgbClr val="FFFFFF">
              <a:alpha val="11000"/>
            </a:srgbClr>
          </a:solidFill>
          <a:ln w="12700">
            <a:solidFill>
              <a:srgbClr val="6E5FD8"/>
            </a:solidFill>
            <a:prstDash val="solid"/>
          </a:ln>
        </p:spPr>
        <p:txBody>
          <a:bodyPr/>
          <a:lstStyle/>
          <a:p>
            <a:endParaRPr lang="en-US"/>
          </a:p>
        </p:txBody>
      </p:sp>
      <p:sp>
        <p:nvSpPr>
          <p:cNvPr id="11" name="Text 8"/>
          <p:cNvSpPr/>
          <p:nvPr/>
        </p:nvSpPr>
        <p:spPr>
          <a:xfrm>
            <a:off x="3874313" y="4626864"/>
            <a:ext cx="1634947" cy="402336"/>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12 · Agentic RAG</a:t>
            </a:r>
            <a:endParaRPr lang="en-US" sz="1100" dirty="0"/>
          </a:p>
        </p:txBody>
      </p:sp>
      <p:sp>
        <p:nvSpPr>
          <p:cNvPr id="12" name="Shape 9"/>
          <p:cNvSpPr/>
          <p:nvPr/>
        </p:nvSpPr>
        <p:spPr>
          <a:xfrm>
            <a:off x="5655564" y="4626864"/>
            <a:ext cx="1549908" cy="402336"/>
          </a:xfrm>
          <a:prstGeom prst="roundRect">
            <a:avLst>
              <a:gd name="adj" fmla="val 50000"/>
            </a:avLst>
          </a:prstGeom>
          <a:solidFill>
            <a:srgbClr val="FFFFFF">
              <a:alpha val="11000"/>
            </a:srgbClr>
          </a:solidFill>
          <a:ln w="12700">
            <a:solidFill>
              <a:srgbClr val="6E5FD8"/>
            </a:solidFill>
            <a:prstDash val="solid"/>
          </a:ln>
        </p:spPr>
        <p:txBody>
          <a:bodyPr/>
          <a:lstStyle/>
          <a:p>
            <a:endParaRPr lang="en-US"/>
          </a:p>
        </p:txBody>
      </p:sp>
      <p:sp>
        <p:nvSpPr>
          <p:cNvPr id="13" name="Text 10"/>
          <p:cNvSpPr/>
          <p:nvPr/>
        </p:nvSpPr>
        <p:spPr>
          <a:xfrm>
            <a:off x="5655564" y="4626864"/>
            <a:ext cx="1549908" cy="402336"/>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13 · Delegation</a:t>
            </a:r>
            <a:endParaRPr lang="en-US" sz="1100" dirty="0"/>
          </a:p>
        </p:txBody>
      </p:sp>
      <p:sp>
        <p:nvSpPr>
          <p:cNvPr id="14" name="Shape 11"/>
          <p:cNvSpPr/>
          <p:nvPr/>
        </p:nvSpPr>
        <p:spPr>
          <a:xfrm>
            <a:off x="7351776" y="4626864"/>
            <a:ext cx="1379830" cy="402336"/>
          </a:xfrm>
          <a:prstGeom prst="roundRect">
            <a:avLst>
              <a:gd name="adj" fmla="val 50000"/>
            </a:avLst>
          </a:prstGeom>
          <a:solidFill>
            <a:srgbClr val="FFFFFF">
              <a:alpha val="11000"/>
            </a:srgbClr>
          </a:solidFill>
          <a:ln w="12700">
            <a:solidFill>
              <a:srgbClr val="6E5FD8"/>
            </a:solidFill>
            <a:prstDash val="solid"/>
          </a:ln>
        </p:spPr>
        <p:txBody>
          <a:bodyPr/>
          <a:lstStyle/>
          <a:p>
            <a:endParaRPr lang="en-US"/>
          </a:p>
        </p:txBody>
      </p:sp>
      <p:sp>
        <p:nvSpPr>
          <p:cNvPr id="15" name="Text 12"/>
          <p:cNvSpPr/>
          <p:nvPr/>
        </p:nvSpPr>
        <p:spPr>
          <a:xfrm>
            <a:off x="7351776" y="4626864"/>
            <a:ext cx="1379830" cy="402336"/>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14 · Security</a:t>
            </a:r>
            <a:endParaRPr lang="en-US" sz="1100" dirty="0"/>
          </a:p>
        </p:txBody>
      </p:sp>
      <p:sp>
        <p:nvSpPr>
          <p:cNvPr id="16" name="Shape 13"/>
          <p:cNvSpPr/>
          <p:nvPr/>
        </p:nvSpPr>
        <p:spPr>
          <a:xfrm>
            <a:off x="8877910" y="4626864"/>
            <a:ext cx="1890065" cy="402336"/>
          </a:xfrm>
          <a:prstGeom prst="roundRect">
            <a:avLst>
              <a:gd name="adj" fmla="val 50000"/>
            </a:avLst>
          </a:prstGeom>
          <a:solidFill>
            <a:srgbClr val="FFFFFF">
              <a:alpha val="11000"/>
            </a:srgbClr>
          </a:solidFill>
          <a:ln w="12700">
            <a:solidFill>
              <a:srgbClr val="6E5FD8"/>
            </a:solidFill>
            <a:prstDash val="solid"/>
          </a:ln>
        </p:spPr>
        <p:txBody>
          <a:bodyPr/>
          <a:lstStyle/>
          <a:p>
            <a:endParaRPr lang="en-US"/>
          </a:p>
        </p:txBody>
      </p:sp>
      <p:sp>
        <p:nvSpPr>
          <p:cNvPr id="17" name="Text 14"/>
          <p:cNvSpPr/>
          <p:nvPr/>
        </p:nvSpPr>
        <p:spPr>
          <a:xfrm>
            <a:off x="8877910" y="4626864"/>
            <a:ext cx="1890065" cy="402336"/>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15 · Evals and cost</a:t>
            </a:r>
            <a:endParaRPr lang="en-US" sz="1100" dirty="0"/>
          </a:p>
        </p:txBody>
      </p:sp>
      <p:sp>
        <p:nvSpPr>
          <p:cNvPr id="18" name="Shape 15"/>
          <p:cNvSpPr/>
          <p:nvPr/>
        </p:nvSpPr>
        <p:spPr>
          <a:xfrm>
            <a:off x="566928" y="5138928"/>
            <a:ext cx="2230222" cy="402336"/>
          </a:xfrm>
          <a:prstGeom prst="roundRect">
            <a:avLst>
              <a:gd name="adj" fmla="val 50000"/>
            </a:avLst>
          </a:prstGeom>
          <a:solidFill>
            <a:srgbClr val="FFFFFF">
              <a:alpha val="11000"/>
            </a:srgbClr>
          </a:solidFill>
          <a:ln w="12700">
            <a:solidFill>
              <a:srgbClr val="6E5FD8"/>
            </a:solidFill>
            <a:prstDash val="solid"/>
          </a:ln>
        </p:spPr>
        <p:txBody>
          <a:bodyPr/>
          <a:lstStyle/>
          <a:p>
            <a:endParaRPr lang="en-US"/>
          </a:p>
        </p:txBody>
      </p:sp>
      <p:sp>
        <p:nvSpPr>
          <p:cNvPr id="19" name="Text 16"/>
          <p:cNvSpPr/>
          <p:nvPr/>
        </p:nvSpPr>
        <p:spPr>
          <a:xfrm>
            <a:off x="566928" y="5138928"/>
            <a:ext cx="2230222" cy="402336"/>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16 · Platform landscape</a:t>
            </a:r>
            <a:endParaRPr lang="en-US" sz="1100" dirty="0"/>
          </a:p>
        </p:txBody>
      </p:sp>
      <p:sp>
        <p:nvSpPr>
          <p:cNvPr id="20" name="Shape 17"/>
          <p:cNvSpPr/>
          <p:nvPr/>
        </p:nvSpPr>
        <p:spPr>
          <a:xfrm>
            <a:off x="2943454" y="5138928"/>
            <a:ext cx="2570378" cy="402336"/>
          </a:xfrm>
          <a:prstGeom prst="roundRect">
            <a:avLst>
              <a:gd name="adj" fmla="val 50000"/>
            </a:avLst>
          </a:prstGeom>
          <a:solidFill>
            <a:srgbClr val="FFFFFF">
              <a:alpha val="11000"/>
            </a:srgbClr>
          </a:solidFill>
          <a:ln w="12700">
            <a:solidFill>
              <a:srgbClr val="6E5FD8"/>
            </a:solidFill>
            <a:prstDash val="solid"/>
          </a:ln>
        </p:spPr>
        <p:txBody>
          <a:bodyPr/>
          <a:lstStyle/>
          <a:p>
            <a:endParaRPr lang="en-US"/>
          </a:p>
        </p:txBody>
      </p:sp>
      <p:sp>
        <p:nvSpPr>
          <p:cNvPr id="21" name="Text 18"/>
          <p:cNvSpPr/>
          <p:nvPr/>
        </p:nvSpPr>
        <p:spPr>
          <a:xfrm>
            <a:off x="2943454" y="5138928"/>
            <a:ext cx="2570378" cy="402336"/>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17 · Process re-engineering</a:t>
            </a:r>
            <a:endParaRPr lang="en-US" sz="11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0B0A22"/>
        </a:solidFill>
        <a:effectLst/>
      </p:bgPr>
    </p:bg>
    <p:spTree>
      <p:nvGrpSpPr>
        <p:cNvPr id="1" name=""/>
        <p:cNvGrpSpPr/>
        <p:nvPr/>
      </p:nvGrpSpPr>
      <p:grpSpPr>
        <a:xfrm>
          <a:off x="0" y="0"/>
          <a:ext cx="0" cy="0"/>
          <a:chOff x="0" y="0"/>
          <a:chExt cx="0" cy="0"/>
        </a:xfrm>
      </p:grpSpPr>
      <p:pic>
        <p:nvPicPr>
          <p:cNvPr id="2" name="Image 0" descr="/home/claude/work/bg_dark.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6126480" y="1234440"/>
            <a:ext cx="5486400" cy="2743200"/>
          </a:xfrm>
          <a:prstGeom prst="rect">
            <a:avLst/>
          </a:prstGeom>
          <a:noFill/>
          <a:ln/>
        </p:spPr>
        <p:txBody>
          <a:bodyPr wrap="square" lIns="0" tIns="0" rIns="0" bIns="0" rtlCol="0" anchor="ctr"/>
          <a:lstStyle/>
          <a:p>
            <a:pPr marL="0" indent="0" algn="r">
              <a:buNone/>
            </a:pPr>
            <a:r>
              <a:rPr lang="en-US" sz="17600" b="1" dirty="0">
                <a:solidFill>
                  <a:srgbClr val="5B4BE8">
                    <a:alpha val="30000"/>
                  </a:srgbClr>
                </a:solidFill>
                <a:latin typeface="Cambria" pitchFamily="34" charset="0"/>
                <a:ea typeface="Cambria" pitchFamily="34" charset="-122"/>
                <a:cs typeface="Cambria" pitchFamily="34" charset="-120"/>
              </a:rPr>
              <a:t>10</a:t>
            </a:r>
            <a:endParaRPr lang="en-US" sz="17600" dirty="0"/>
          </a:p>
        </p:txBody>
      </p:sp>
      <p:sp>
        <p:nvSpPr>
          <p:cNvPr id="4" name="Shape 1"/>
          <p:cNvSpPr/>
          <p:nvPr/>
        </p:nvSpPr>
        <p:spPr>
          <a:xfrm>
            <a:off x="566928" y="2084832"/>
            <a:ext cx="566928" cy="566928"/>
          </a:xfrm>
          <a:prstGeom prst="ellipse">
            <a:avLst/>
          </a:prstGeom>
          <a:solidFill>
            <a:srgbClr val="F5A524"/>
          </a:solidFill>
          <a:ln w="12700">
            <a:solidFill>
              <a:srgbClr val="F5A524"/>
            </a:solidFill>
            <a:prstDash val="solid"/>
          </a:ln>
        </p:spPr>
        <p:txBody>
          <a:bodyPr/>
          <a:lstStyle/>
          <a:p>
            <a:endParaRPr lang="en-US"/>
          </a:p>
        </p:txBody>
      </p:sp>
      <p:pic>
        <p:nvPicPr>
          <p:cNvPr id="5" name="Image 1" descr="preencoded.png"/>
          <p:cNvPicPr>
            <a:picLocks noChangeAspect="1"/>
          </p:cNvPicPr>
          <p:nvPr/>
        </p:nvPicPr>
        <p:blipFill>
          <a:blip r:embed="rId4"/>
          <a:stretch>
            <a:fillRect/>
          </a:stretch>
        </p:blipFill>
        <p:spPr>
          <a:xfrm>
            <a:off x="708660" y="2226564"/>
            <a:ext cx="283464" cy="283464"/>
          </a:xfrm>
          <a:prstGeom prst="rect">
            <a:avLst/>
          </a:prstGeom>
        </p:spPr>
      </p:pic>
      <p:sp>
        <p:nvSpPr>
          <p:cNvPr id="6" name="Text 2"/>
          <p:cNvSpPr/>
          <p:nvPr/>
        </p:nvSpPr>
        <p:spPr>
          <a:xfrm>
            <a:off x="566928" y="2852928"/>
            <a:ext cx="7315200" cy="256032"/>
          </a:xfrm>
          <a:prstGeom prst="rect">
            <a:avLst/>
          </a:prstGeom>
          <a:noFill/>
          <a:ln/>
        </p:spPr>
        <p:txBody>
          <a:bodyPr wrap="square" lIns="0" tIns="0" rIns="0" bIns="0" rtlCol="0" anchor="ctr"/>
          <a:lstStyle/>
          <a:p>
            <a:pPr marL="0" indent="0">
              <a:buNone/>
            </a:pPr>
            <a:r>
              <a:rPr lang="en-US" sz="1100" b="1" kern="0" spc="240" dirty="0">
                <a:solidFill>
                  <a:srgbClr val="F5A524"/>
                </a:solidFill>
                <a:latin typeface="Calibri" pitchFamily="34" charset="0"/>
                <a:ea typeface="Calibri" pitchFamily="34" charset="-122"/>
                <a:cs typeface="Calibri" pitchFamily="34" charset="-120"/>
              </a:rPr>
              <a:t>MODULE 10</a:t>
            </a:r>
            <a:endParaRPr lang="en-US" sz="1100" dirty="0"/>
          </a:p>
        </p:txBody>
      </p:sp>
      <p:sp>
        <p:nvSpPr>
          <p:cNvPr id="7" name="Text 3"/>
          <p:cNvSpPr/>
          <p:nvPr/>
        </p:nvSpPr>
        <p:spPr>
          <a:xfrm>
            <a:off x="566928" y="3145536"/>
            <a:ext cx="8595360" cy="914400"/>
          </a:xfrm>
          <a:prstGeom prst="rect">
            <a:avLst/>
          </a:prstGeom>
          <a:noFill/>
          <a:ln/>
        </p:spPr>
        <p:txBody>
          <a:bodyPr wrap="square" lIns="0" tIns="0" rIns="0" bIns="0" rtlCol="0" anchor="t"/>
          <a:lstStyle/>
          <a:p>
            <a:pPr marL="0" indent="0">
              <a:buNone/>
            </a:pPr>
            <a:r>
              <a:rPr lang="en-US" sz="4600" b="1" dirty="0">
                <a:solidFill>
                  <a:srgbClr val="FFFFFF"/>
                </a:solidFill>
                <a:latin typeface="Cambria" pitchFamily="34" charset="0"/>
                <a:ea typeface="Cambria" pitchFamily="34" charset="-122"/>
                <a:cs typeface="Cambria" pitchFamily="34" charset="-120"/>
              </a:rPr>
              <a:t>Charting agent and the sandbox</a:t>
            </a:r>
            <a:endParaRPr lang="en-US" sz="4600" dirty="0"/>
          </a:p>
        </p:txBody>
      </p:sp>
      <p:sp>
        <p:nvSpPr>
          <p:cNvPr id="8" name="Text 4"/>
          <p:cNvSpPr/>
          <p:nvPr/>
        </p:nvSpPr>
        <p:spPr>
          <a:xfrm>
            <a:off x="566928" y="4169664"/>
            <a:ext cx="7863840" cy="731520"/>
          </a:xfrm>
          <a:prstGeom prst="rect">
            <a:avLst/>
          </a:prstGeom>
          <a:noFill/>
          <a:ln/>
        </p:spPr>
        <p:txBody>
          <a:bodyPr wrap="square" lIns="0" tIns="0" rIns="0" bIns="0" rtlCol="0" anchor="t"/>
          <a:lstStyle/>
          <a:p>
            <a:pPr marL="0" indent="0">
              <a:lnSpc>
                <a:spcPct val="120000"/>
              </a:lnSpc>
              <a:buNone/>
            </a:pPr>
            <a:r>
              <a:rPr lang="en-US" sz="1600" dirty="0">
                <a:solidFill>
                  <a:srgbClr val="B9B4E0"/>
                </a:solidFill>
                <a:latin typeface="Calibri" pitchFamily="34" charset="0"/>
                <a:ea typeface="Calibri" pitchFamily="34" charset="-122"/>
                <a:cs typeface="Calibri" pitchFamily="34" charset="-120"/>
              </a:rPr>
              <a:t>The model writes code. Something has to run it. That something is the question.</a:t>
            </a:r>
            <a:endParaRPr lang="en-US" sz="16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10 · SAFE EXECUTION</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2600" b="1" dirty="0">
                <a:solidFill>
                  <a:srgbClr val="141235"/>
                </a:solidFill>
                <a:latin typeface="Cambria" pitchFamily="34" charset="0"/>
                <a:ea typeface="Cambria" pitchFamily="34" charset="-122"/>
                <a:cs typeface="Cambria" pitchFamily="34" charset="-120"/>
              </a:rPr>
              <a:t>A business question becomes code, and code has to run somewhere</a:t>
            </a:r>
            <a:endParaRPr lang="en-US" sz="2600" dirty="0"/>
          </a:p>
        </p:txBody>
      </p:sp>
      <p:sp>
        <p:nvSpPr>
          <p:cNvPr id="4" name="Shape 2"/>
          <p:cNvSpPr/>
          <p:nvPr/>
        </p:nvSpPr>
        <p:spPr>
          <a:xfrm>
            <a:off x="566928" y="2048256"/>
            <a:ext cx="2490140" cy="2084832"/>
          </a:xfrm>
          <a:prstGeom prst="roundRect">
            <a:avLst>
              <a:gd name="adj" fmla="val 4386"/>
            </a:avLst>
          </a:prstGeom>
          <a:solidFill>
            <a:srgbClr val="FFFFFF"/>
          </a:solidFill>
          <a:ln w="12700">
            <a:solidFill>
              <a:srgbClr val="E3E4F2"/>
            </a:solidFill>
            <a:prstDash val="solid"/>
          </a:ln>
          <a:effectLst>
            <a:outerShdw blurRad="101600" dist="508" dir="5400000" algn="bl" rotWithShape="0">
              <a:srgbClr val="1B1A4A">
                <a:alpha val="7000"/>
              </a:srgbClr>
            </a:outerShdw>
          </a:effectLst>
        </p:spPr>
        <p:txBody>
          <a:bodyPr/>
          <a:lstStyle/>
          <a:p>
            <a:endParaRPr lang="en-US"/>
          </a:p>
        </p:txBody>
      </p:sp>
      <p:sp>
        <p:nvSpPr>
          <p:cNvPr id="5" name="Shape 3"/>
          <p:cNvSpPr/>
          <p:nvPr/>
        </p:nvSpPr>
        <p:spPr>
          <a:xfrm>
            <a:off x="1601686" y="2249424"/>
            <a:ext cx="420624" cy="420624"/>
          </a:xfrm>
          <a:prstGeom prst="ellipse">
            <a:avLst/>
          </a:prstGeom>
          <a:solidFill>
            <a:srgbClr val="9B98B4"/>
          </a:solidFill>
          <a:ln w="12700">
            <a:solidFill>
              <a:srgbClr val="9B98B4"/>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1706842" y="2354580"/>
            <a:ext cx="210312" cy="210312"/>
          </a:xfrm>
          <a:prstGeom prst="rect">
            <a:avLst/>
          </a:prstGeom>
        </p:spPr>
      </p:pic>
      <p:sp>
        <p:nvSpPr>
          <p:cNvPr id="7" name="Text 4"/>
          <p:cNvSpPr/>
          <p:nvPr/>
        </p:nvSpPr>
        <p:spPr>
          <a:xfrm>
            <a:off x="731520" y="2798064"/>
            <a:ext cx="2160956" cy="237744"/>
          </a:xfrm>
          <a:prstGeom prst="rect">
            <a:avLst/>
          </a:prstGeom>
          <a:noFill/>
          <a:ln/>
        </p:spPr>
        <p:txBody>
          <a:bodyPr wrap="square" lIns="0" tIns="0" rIns="0" bIns="0" rtlCol="0" anchor="ctr"/>
          <a:lstStyle/>
          <a:p>
            <a:pPr marL="0" indent="0" algn="ctr">
              <a:buNone/>
            </a:pPr>
            <a:r>
              <a:rPr lang="en-US" sz="900" b="1" kern="0" spc="150" dirty="0">
                <a:solidFill>
                  <a:srgbClr val="9B98B4"/>
                </a:solidFill>
                <a:latin typeface="Calibri" pitchFamily="34" charset="0"/>
                <a:ea typeface="Calibri" pitchFamily="34" charset="-122"/>
                <a:cs typeface="Calibri" pitchFamily="34" charset="-120"/>
              </a:rPr>
              <a:t>A PERSON ASKS</a:t>
            </a:r>
            <a:endParaRPr lang="en-US" sz="900" dirty="0"/>
          </a:p>
        </p:txBody>
      </p:sp>
      <p:sp>
        <p:nvSpPr>
          <p:cNvPr id="8" name="Text 5"/>
          <p:cNvSpPr/>
          <p:nvPr/>
        </p:nvSpPr>
        <p:spPr>
          <a:xfrm>
            <a:off x="731520" y="3072384"/>
            <a:ext cx="2160956" cy="859536"/>
          </a:xfrm>
          <a:prstGeom prst="rect">
            <a:avLst/>
          </a:prstGeom>
          <a:noFill/>
          <a:ln/>
        </p:spPr>
        <p:txBody>
          <a:bodyPr wrap="square" lIns="0" tIns="0" rIns="0" bIns="0" rtlCol="0" anchor="t"/>
          <a:lstStyle/>
          <a:p>
            <a:pPr marL="0" indent="0" algn="ctr">
              <a:lnSpc>
                <a:spcPct val="112000"/>
              </a:lnSpc>
              <a:buNone/>
            </a:pPr>
            <a:r>
              <a:rPr lang="en-US" sz="1300" dirty="0">
                <a:solidFill>
                  <a:srgbClr val="141235"/>
                </a:solidFill>
                <a:latin typeface="Calibri" pitchFamily="34" charset="0"/>
                <a:ea typeface="Calibri" pitchFamily="34" charset="-122"/>
                <a:cs typeface="Calibri" pitchFamily="34" charset="-120"/>
              </a:rPr>
              <a:t>“Show me revenue</a:t>
            </a:r>
            <a:endParaRPr lang="en-US" sz="1300" dirty="0"/>
          </a:p>
          <a:p>
            <a:pPr marL="0" indent="0" algn="ctr">
              <a:lnSpc>
                <a:spcPct val="112000"/>
              </a:lnSpc>
              <a:buNone/>
            </a:pPr>
            <a:r>
              <a:rPr lang="en-US" sz="1300" dirty="0">
                <a:solidFill>
                  <a:srgbClr val="141235"/>
                </a:solidFill>
                <a:latin typeface="Calibri" pitchFamily="34" charset="0"/>
                <a:ea typeface="Calibri" pitchFamily="34" charset="-122"/>
                <a:cs typeface="Calibri" pitchFamily="34" charset="-120"/>
              </a:rPr>
              <a:t>by country, last year”</a:t>
            </a:r>
            <a:endParaRPr lang="en-US" sz="1300" dirty="0"/>
          </a:p>
        </p:txBody>
      </p:sp>
      <p:sp>
        <p:nvSpPr>
          <p:cNvPr id="9" name="Shape 6"/>
          <p:cNvSpPr/>
          <p:nvPr/>
        </p:nvSpPr>
        <p:spPr>
          <a:xfrm>
            <a:off x="3111932" y="3090672"/>
            <a:ext cx="256032" cy="0"/>
          </a:xfrm>
          <a:prstGeom prst="line">
            <a:avLst/>
          </a:prstGeom>
          <a:noFill/>
          <a:ln w="25400">
            <a:solidFill>
              <a:srgbClr val="8E82F5"/>
            </a:solidFill>
            <a:prstDash val="solid"/>
            <a:headEnd type="none"/>
            <a:tailEnd type="triangle"/>
          </a:ln>
        </p:spPr>
        <p:txBody>
          <a:bodyPr/>
          <a:lstStyle/>
          <a:p>
            <a:endParaRPr lang="en-US"/>
          </a:p>
        </p:txBody>
      </p:sp>
      <p:sp>
        <p:nvSpPr>
          <p:cNvPr id="10" name="Shape 7"/>
          <p:cNvSpPr/>
          <p:nvPr/>
        </p:nvSpPr>
        <p:spPr>
          <a:xfrm>
            <a:off x="3422828" y="2048256"/>
            <a:ext cx="2490140" cy="2084832"/>
          </a:xfrm>
          <a:prstGeom prst="roundRect">
            <a:avLst>
              <a:gd name="adj" fmla="val 4386"/>
            </a:avLst>
          </a:prstGeom>
          <a:solidFill>
            <a:srgbClr val="FFFFFF"/>
          </a:solidFill>
          <a:ln w="12700">
            <a:solidFill>
              <a:srgbClr val="E3E4F2"/>
            </a:solidFill>
            <a:prstDash val="solid"/>
          </a:ln>
          <a:effectLst>
            <a:outerShdw blurRad="101600" dist="508" dir="5400000" algn="bl" rotWithShape="0">
              <a:srgbClr val="1B1A4A">
                <a:alpha val="7000"/>
              </a:srgbClr>
            </a:outerShdw>
          </a:effectLst>
        </p:spPr>
        <p:txBody>
          <a:bodyPr/>
          <a:lstStyle/>
          <a:p>
            <a:endParaRPr lang="en-US"/>
          </a:p>
        </p:txBody>
      </p:sp>
      <p:sp>
        <p:nvSpPr>
          <p:cNvPr id="11" name="Shape 8"/>
          <p:cNvSpPr/>
          <p:nvPr/>
        </p:nvSpPr>
        <p:spPr>
          <a:xfrm>
            <a:off x="4457586" y="2249424"/>
            <a:ext cx="420624" cy="420624"/>
          </a:xfrm>
          <a:prstGeom prst="ellipse">
            <a:avLst/>
          </a:prstGeom>
          <a:solidFill>
            <a:srgbClr val="5B4BE8"/>
          </a:solidFill>
          <a:ln w="12700">
            <a:solidFill>
              <a:srgbClr val="5B4BE8"/>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4562742" y="2354580"/>
            <a:ext cx="210312" cy="210312"/>
          </a:xfrm>
          <a:prstGeom prst="rect">
            <a:avLst/>
          </a:prstGeom>
        </p:spPr>
      </p:pic>
      <p:sp>
        <p:nvSpPr>
          <p:cNvPr id="13" name="Text 9"/>
          <p:cNvSpPr/>
          <p:nvPr/>
        </p:nvSpPr>
        <p:spPr>
          <a:xfrm>
            <a:off x="3587420" y="2798064"/>
            <a:ext cx="2160956" cy="237744"/>
          </a:xfrm>
          <a:prstGeom prst="rect">
            <a:avLst/>
          </a:prstGeom>
          <a:noFill/>
          <a:ln/>
        </p:spPr>
        <p:txBody>
          <a:bodyPr wrap="square" lIns="0" tIns="0" rIns="0" bIns="0" rtlCol="0" anchor="ctr"/>
          <a:lstStyle/>
          <a:p>
            <a:pPr marL="0" indent="0" algn="ctr">
              <a:buNone/>
            </a:pPr>
            <a:r>
              <a:rPr lang="en-US" sz="900" b="1" kern="0" spc="150" dirty="0">
                <a:solidFill>
                  <a:srgbClr val="9B98B4"/>
                </a:solidFill>
                <a:latin typeface="Calibri" pitchFamily="34" charset="0"/>
                <a:ea typeface="Calibri" pitchFamily="34" charset="-122"/>
                <a:cs typeface="Calibri" pitchFamily="34" charset="-120"/>
              </a:rPr>
              <a:t>THE MODEL PRODUCES</a:t>
            </a:r>
            <a:endParaRPr lang="en-US" sz="900" dirty="0"/>
          </a:p>
        </p:txBody>
      </p:sp>
      <p:sp>
        <p:nvSpPr>
          <p:cNvPr id="14" name="Text 10"/>
          <p:cNvSpPr/>
          <p:nvPr/>
        </p:nvSpPr>
        <p:spPr>
          <a:xfrm>
            <a:off x="3587420" y="3072384"/>
            <a:ext cx="2160956" cy="859536"/>
          </a:xfrm>
          <a:prstGeom prst="rect">
            <a:avLst/>
          </a:prstGeom>
          <a:noFill/>
          <a:ln/>
        </p:spPr>
        <p:txBody>
          <a:bodyPr wrap="square" lIns="0" tIns="0" rIns="0" bIns="0" rtlCol="0" anchor="t"/>
          <a:lstStyle/>
          <a:p>
            <a:pPr marL="0" indent="0" algn="ctr">
              <a:lnSpc>
                <a:spcPct val="112000"/>
              </a:lnSpc>
              <a:buNone/>
            </a:pPr>
            <a:r>
              <a:rPr lang="en-US" sz="1300" dirty="0">
                <a:solidFill>
                  <a:srgbClr val="141235"/>
                </a:solidFill>
                <a:latin typeface="Calibri" pitchFamily="34" charset="0"/>
                <a:ea typeface="Calibri" pitchFamily="34" charset="-122"/>
                <a:cs typeface="Calibri" pitchFamily="34" charset="-120"/>
              </a:rPr>
              <a:t>The agent writes</a:t>
            </a:r>
            <a:endParaRPr lang="en-US" sz="1300" dirty="0"/>
          </a:p>
          <a:p>
            <a:pPr marL="0" indent="0" algn="ctr">
              <a:lnSpc>
                <a:spcPct val="112000"/>
              </a:lnSpc>
              <a:buNone/>
            </a:pPr>
            <a:r>
              <a:rPr lang="en-US" sz="1300" dirty="0">
                <a:solidFill>
                  <a:srgbClr val="141235"/>
                </a:solidFill>
                <a:latin typeface="Calibri" pitchFamily="34" charset="0"/>
                <a:ea typeface="Calibri" pitchFamily="34" charset="-122"/>
                <a:cs typeface="Calibri" pitchFamily="34" charset="-120"/>
              </a:rPr>
              <a:t>pandas and matplotlib</a:t>
            </a:r>
            <a:endParaRPr lang="en-US" sz="1300" dirty="0"/>
          </a:p>
        </p:txBody>
      </p:sp>
      <p:sp>
        <p:nvSpPr>
          <p:cNvPr id="15" name="Shape 11"/>
          <p:cNvSpPr/>
          <p:nvPr/>
        </p:nvSpPr>
        <p:spPr>
          <a:xfrm>
            <a:off x="5967832" y="3090672"/>
            <a:ext cx="256032" cy="0"/>
          </a:xfrm>
          <a:prstGeom prst="line">
            <a:avLst/>
          </a:prstGeom>
          <a:noFill/>
          <a:ln w="25400">
            <a:solidFill>
              <a:srgbClr val="8E82F5"/>
            </a:solidFill>
            <a:prstDash val="solid"/>
            <a:headEnd type="none"/>
            <a:tailEnd type="triangle"/>
          </a:ln>
        </p:spPr>
        <p:txBody>
          <a:bodyPr/>
          <a:lstStyle/>
          <a:p>
            <a:endParaRPr lang="en-US"/>
          </a:p>
        </p:txBody>
      </p:sp>
      <p:sp>
        <p:nvSpPr>
          <p:cNvPr id="16" name="Shape 12"/>
          <p:cNvSpPr/>
          <p:nvPr/>
        </p:nvSpPr>
        <p:spPr>
          <a:xfrm>
            <a:off x="6278728" y="2048256"/>
            <a:ext cx="2490140" cy="2084832"/>
          </a:xfrm>
          <a:prstGeom prst="roundRect">
            <a:avLst>
              <a:gd name="adj" fmla="val 4386"/>
            </a:avLst>
          </a:prstGeom>
          <a:solidFill>
            <a:srgbClr val="FDECEC"/>
          </a:solidFill>
          <a:ln w="20320">
            <a:solidFill>
              <a:srgbClr val="D93A3F"/>
            </a:solidFill>
            <a:prstDash val="solid"/>
          </a:ln>
          <a:effectLst>
            <a:outerShdw blurRad="101600" dist="508" dir="5400000" algn="bl" rotWithShape="0">
              <a:srgbClr val="1B1A4A">
                <a:alpha val="7000"/>
              </a:srgbClr>
            </a:outerShdw>
          </a:effectLst>
        </p:spPr>
        <p:txBody>
          <a:bodyPr/>
          <a:lstStyle/>
          <a:p>
            <a:endParaRPr lang="en-US"/>
          </a:p>
        </p:txBody>
      </p:sp>
      <p:sp>
        <p:nvSpPr>
          <p:cNvPr id="17" name="Shape 13"/>
          <p:cNvSpPr/>
          <p:nvPr/>
        </p:nvSpPr>
        <p:spPr>
          <a:xfrm>
            <a:off x="7313486" y="2249424"/>
            <a:ext cx="420624" cy="420624"/>
          </a:xfrm>
          <a:prstGeom prst="ellipse">
            <a:avLst/>
          </a:prstGeom>
          <a:solidFill>
            <a:srgbClr val="D93A3F"/>
          </a:solidFill>
          <a:ln w="12700">
            <a:solidFill>
              <a:srgbClr val="D93A3F"/>
            </a:solidFill>
            <a:prstDash val="solid"/>
          </a:ln>
        </p:spPr>
        <p:txBody>
          <a:bodyPr/>
          <a:lstStyle/>
          <a:p>
            <a:endParaRPr lang="en-US"/>
          </a:p>
        </p:txBody>
      </p:sp>
      <p:pic>
        <p:nvPicPr>
          <p:cNvPr id="18" name="Image 2" descr="preencoded.png"/>
          <p:cNvPicPr>
            <a:picLocks noChangeAspect="1"/>
          </p:cNvPicPr>
          <p:nvPr/>
        </p:nvPicPr>
        <p:blipFill>
          <a:blip r:embed="rId5"/>
          <a:stretch>
            <a:fillRect/>
          </a:stretch>
        </p:blipFill>
        <p:spPr>
          <a:xfrm>
            <a:off x="7418642" y="2354580"/>
            <a:ext cx="210312" cy="210312"/>
          </a:xfrm>
          <a:prstGeom prst="rect">
            <a:avLst/>
          </a:prstGeom>
        </p:spPr>
      </p:pic>
      <p:sp>
        <p:nvSpPr>
          <p:cNvPr id="19" name="Text 14"/>
          <p:cNvSpPr/>
          <p:nvPr/>
        </p:nvSpPr>
        <p:spPr>
          <a:xfrm>
            <a:off x="6443320" y="2798064"/>
            <a:ext cx="2160956" cy="237744"/>
          </a:xfrm>
          <a:prstGeom prst="rect">
            <a:avLst/>
          </a:prstGeom>
          <a:noFill/>
          <a:ln/>
        </p:spPr>
        <p:txBody>
          <a:bodyPr wrap="square" lIns="0" tIns="0" rIns="0" bIns="0" rtlCol="0" anchor="ctr"/>
          <a:lstStyle/>
          <a:p>
            <a:pPr marL="0" indent="0" algn="ctr">
              <a:buNone/>
            </a:pPr>
            <a:r>
              <a:rPr lang="en-US" sz="900" b="1" kern="0" spc="150" dirty="0">
                <a:solidFill>
                  <a:srgbClr val="D93A3F"/>
                </a:solidFill>
                <a:latin typeface="Calibri" pitchFamily="34" charset="0"/>
                <a:ea typeface="Calibri" pitchFamily="34" charset="-122"/>
                <a:cs typeface="Calibri" pitchFamily="34" charset="-120"/>
              </a:rPr>
              <a:t>YOUR INFRASTRUCTURE</a:t>
            </a:r>
            <a:endParaRPr lang="en-US" sz="900" dirty="0"/>
          </a:p>
        </p:txBody>
      </p:sp>
      <p:sp>
        <p:nvSpPr>
          <p:cNvPr id="20" name="Text 15"/>
          <p:cNvSpPr/>
          <p:nvPr/>
        </p:nvSpPr>
        <p:spPr>
          <a:xfrm>
            <a:off x="6443320" y="3072384"/>
            <a:ext cx="2160956" cy="859536"/>
          </a:xfrm>
          <a:prstGeom prst="rect">
            <a:avLst/>
          </a:prstGeom>
          <a:noFill/>
          <a:ln/>
        </p:spPr>
        <p:txBody>
          <a:bodyPr wrap="square" lIns="0" tIns="0" rIns="0" bIns="0" rtlCol="0" anchor="t"/>
          <a:lstStyle/>
          <a:p>
            <a:pPr marL="0" indent="0" algn="ctr">
              <a:lnSpc>
                <a:spcPct val="112000"/>
              </a:lnSpc>
              <a:buNone/>
            </a:pPr>
            <a:r>
              <a:rPr lang="en-US" sz="1300" b="1" dirty="0">
                <a:solidFill>
                  <a:srgbClr val="141235"/>
                </a:solidFill>
                <a:latin typeface="Calibri" pitchFamily="34" charset="0"/>
                <a:ea typeface="Calibri" pitchFamily="34" charset="-122"/>
                <a:cs typeface="Calibri" pitchFamily="34" charset="-120"/>
              </a:rPr>
              <a:t>Something executes</a:t>
            </a:r>
            <a:endParaRPr lang="en-US" sz="1300" dirty="0"/>
          </a:p>
          <a:p>
            <a:pPr marL="0" indent="0" algn="ctr">
              <a:lnSpc>
                <a:spcPct val="112000"/>
              </a:lnSpc>
              <a:buNone/>
            </a:pPr>
            <a:r>
              <a:rPr lang="en-US" sz="1300" b="1" dirty="0">
                <a:solidFill>
                  <a:srgbClr val="141235"/>
                </a:solidFill>
                <a:latin typeface="Calibri" pitchFamily="34" charset="0"/>
                <a:ea typeface="Calibri" pitchFamily="34" charset="-122"/>
                <a:cs typeface="Calibri" pitchFamily="34" charset="-120"/>
              </a:rPr>
              <a:t>that code</a:t>
            </a:r>
            <a:endParaRPr lang="en-US" sz="1300" dirty="0"/>
          </a:p>
        </p:txBody>
      </p:sp>
      <p:sp>
        <p:nvSpPr>
          <p:cNvPr id="21" name="Shape 16"/>
          <p:cNvSpPr/>
          <p:nvPr/>
        </p:nvSpPr>
        <p:spPr>
          <a:xfrm>
            <a:off x="8823731" y="3090672"/>
            <a:ext cx="256032" cy="0"/>
          </a:xfrm>
          <a:prstGeom prst="line">
            <a:avLst/>
          </a:prstGeom>
          <a:noFill/>
          <a:ln w="25400">
            <a:solidFill>
              <a:srgbClr val="8E82F5"/>
            </a:solidFill>
            <a:prstDash val="solid"/>
            <a:headEnd type="none"/>
            <a:tailEnd type="triangle"/>
          </a:ln>
        </p:spPr>
        <p:txBody>
          <a:bodyPr/>
          <a:lstStyle/>
          <a:p>
            <a:endParaRPr lang="en-US"/>
          </a:p>
        </p:txBody>
      </p:sp>
      <p:sp>
        <p:nvSpPr>
          <p:cNvPr id="22" name="Shape 17"/>
          <p:cNvSpPr/>
          <p:nvPr/>
        </p:nvSpPr>
        <p:spPr>
          <a:xfrm>
            <a:off x="9134627" y="2048256"/>
            <a:ext cx="2490140" cy="2084832"/>
          </a:xfrm>
          <a:prstGeom prst="roundRect">
            <a:avLst>
              <a:gd name="adj" fmla="val 4386"/>
            </a:avLst>
          </a:prstGeom>
          <a:solidFill>
            <a:srgbClr val="FFFFFF"/>
          </a:solidFill>
          <a:ln w="12700">
            <a:solidFill>
              <a:srgbClr val="E3E4F2"/>
            </a:solidFill>
            <a:prstDash val="solid"/>
          </a:ln>
          <a:effectLst>
            <a:outerShdw blurRad="101600" dist="508" dir="5400000" algn="bl" rotWithShape="0">
              <a:srgbClr val="1B1A4A">
                <a:alpha val="7000"/>
              </a:srgbClr>
            </a:outerShdw>
          </a:effectLst>
        </p:spPr>
        <p:txBody>
          <a:bodyPr/>
          <a:lstStyle/>
          <a:p>
            <a:endParaRPr lang="en-US"/>
          </a:p>
        </p:txBody>
      </p:sp>
      <p:sp>
        <p:nvSpPr>
          <p:cNvPr id="23" name="Shape 18"/>
          <p:cNvSpPr/>
          <p:nvPr/>
        </p:nvSpPr>
        <p:spPr>
          <a:xfrm>
            <a:off x="10169385" y="2249424"/>
            <a:ext cx="420624" cy="420624"/>
          </a:xfrm>
          <a:prstGeom prst="ellipse">
            <a:avLst/>
          </a:prstGeom>
          <a:solidFill>
            <a:srgbClr val="0E9F6E"/>
          </a:solidFill>
          <a:ln w="12700">
            <a:solidFill>
              <a:srgbClr val="0E9F6E"/>
            </a:solidFill>
            <a:prstDash val="solid"/>
          </a:ln>
        </p:spPr>
        <p:txBody>
          <a:bodyPr/>
          <a:lstStyle/>
          <a:p>
            <a:endParaRPr lang="en-US"/>
          </a:p>
        </p:txBody>
      </p:sp>
      <p:pic>
        <p:nvPicPr>
          <p:cNvPr id="24" name="Image 3" descr="preencoded.png"/>
          <p:cNvPicPr>
            <a:picLocks noChangeAspect="1"/>
          </p:cNvPicPr>
          <p:nvPr/>
        </p:nvPicPr>
        <p:blipFill>
          <a:blip r:embed="rId6"/>
          <a:stretch>
            <a:fillRect/>
          </a:stretch>
        </p:blipFill>
        <p:spPr>
          <a:xfrm>
            <a:off x="10274541" y="2354580"/>
            <a:ext cx="210312" cy="210312"/>
          </a:xfrm>
          <a:prstGeom prst="rect">
            <a:avLst/>
          </a:prstGeom>
        </p:spPr>
      </p:pic>
      <p:sp>
        <p:nvSpPr>
          <p:cNvPr id="25" name="Text 19"/>
          <p:cNvSpPr/>
          <p:nvPr/>
        </p:nvSpPr>
        <p:spPr>
          <a:xfrm>
            <a:off x="9299219" y="2798064"/>
            <a:ext cx="2160956" cy="237744"/>
          </a:xfrm>
          <a:prstGeom prst="rect">
            <a:avLst/>
          </a:prstGeom>
          <a:noFill/>
          <a:ln/>
        </p:spPr>
        <p:txBody>
          <a:bodyPr wrap="square" lIns="0" tIns="0" rIns="0" bIns="0" rtlCol="0" anchor="ctr"/>
          <a:lstStyle/>
          <a:p>
            <a:pPr marL="0" indent="0" algn="ctr">
              <a:buNone/>
            </a:pPr>
            <a:r>
              <a:rPr lang="en-US" sz="900" b="1" kern="0" spc="150" dirty="0">
                <a:solidFill>
                  <a:srgbClr val="9B98B4"/>
                </a:solidFill>
                <a:latin typeface="Calibri" pitchFamily="34" charset="0"/>
                <a:ea typeface="Calibri" pitchFamily="34" charset="-122"/>
                <a:cs typeface="Calibri" pitchFamily="34" charset="-120"/>
              </a:rPr>
              <a:t>THE PERSON SEES</a:t>
            </a:r>
            <a:endParaRPr lang="en-US" sz="900" dirty="0"/>
          </a:p>
        </p:txBody>
      </p:sp>
      <p:sp>
        <p:nvSpPr>
          <p:cNvPr id="26" name="Text 20"/>
          <p:cNvSpPr/>
          <p:nvPr/>
        </p:nvSpPr>
        <p:spPr>
          <a:xfrm>
            <a:off x="9299219" y="3072384"/>
            <a:ext cx="2160956" cy="859536"/>
          </a:xfrm>
          <a:prstGeom prst="rect">
            <a:avLst/>
          </a:prstGeom>
          <a:noFill/>
          <a:ln/>
        </p:spPr>
        <p:txBody>
          <a:bodyPr wrap="square" lIns="0" tIns="0" rIns="0" bIns="0" rtlCol="0" anchor="t"/>
          <a:lstStyle/>
          <a:p>
            <a:pPr marL="0" indent="0" algn="ctr">
              <a:lnSpc>
                <a:spcPct val="112000"/>
              </a:lnSpc>
              <a:buNone/>
            </a:pPr>
            <a:r>
              <a:rPr lang="en-US" sz="1300" dirty="0">
                <a:solidFill>
                  <a:srgbClr val="141235"/>
                </a:solidFill>
                <a:latin typeface="Calibri" pitchFamily="34" charset="0"/>
                <a:ea typeface="Calibri" pitchFamily="34" charset="-122"/>
                <a:cs typeface="Calibri" pitchFamily="34" charset="-120"/>
              </a:rPr>
              <a:t>A chart comes back</a:t>
            </a:r>
            <a:endParaRPr lang="en-US" sz="1300" dirty="0"/>
          </a:p>
        </p:txBody>
      </p:sp>
      <p:sp>
        <p:nvSpPr>
          <p:cNvPr id="27" name="Text 21"/>
          <p:cNvSpPr/>
          <p:nvPr/>
        </p:nvSpPr>
        <p:spPr>
          <a:xfrm>
            <a:off x="566928" y="4315968"/>
            <a:ext cx="11057839" cy="329184"/>
          </a:xfrm>
          <a:prstGeom prst="rect">
            <a:avLst/>
          </a:prstGeom>
          <a:noFill/>
          <a:ln/>
        </p:spPr>
        <p:txBody>
          <a:bodyPr wrap="square" lIns="0" tIns="0" rIns="0" bIns="0" rtlCol="0" anchor="ctr"/>
          <a:lstStyle/>
          <a:p>
            <a:pPr marL="0" indent="0" algn="ctr">
              <a:buNone/>
            </a:pPr>
            <a:r>
              <a:rPr lang="en-US" sz="1400" i="1" dirty="0">
                <a:solidFill>
                  <a:srgbClr val="D93A3F"/>
                </a:solidFill>
                <a:latin typeface="Calibri" pitchFamily="34" charset="0"/>
                <a:ea typeface="Calibri" pitchFamily="34" charset="-122"/>
                <a:cs typeface="Calibri" pitchFamily="34" charset="-120"/>
              </a:rPr>
              <a:t>Step three is where the entire risk lives, and it is the step nobody puts on the architecture diagram.</a:t>
            </a:r>
            <a:endParaRPr lang="en-US" sz="1400" dirty="0"/>
          </a:p>
        </p:txBody>
      </p:sp>
      <p:sp>
        <p:nvSpPr>
          <p:cNvPr id="28" name="Shape 22"/>
          <p:cNvSpPr/>
          <p:nvPr/>
        </p:nvSpPr>
        <p:spPr>
          <a:xfrm>
            <a:off x="566928" y="5029200"/>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29" name="Shape 23"/>
          <p:cNvSpPr/>
          <p:nvPr/>
        </p:nvSpPr>
        <p:spPr>
          <a:xfrm>
            <a:off x="841248" y="5248656"/>
            <a:ext cx="384048" cy="384048"/>
          </a:xfrm>
          <a:prstGeom prst="ellipse">
            <a:avLst/>
          </a:prstGeom>
          <a:solidFill>
            <a:srgbClr val="F5A524"/>
          </a:solidFill>
          <a:ln w="12700">
            <a:solidFill>
              <a:srgbClr val="F5A524"/>
            </a:solidFill>
            <a:prstDash val="solid"/>
          </a:ln>
        </p:spPr>
        <p:txBody>
          <a:bodyPr/>
          <a:lstStyle/>
          <a:p>
            <a:endParaRPr lang="en-US"/>
          </a:p>
        </p:txBody>
      </p:sp>
      <p:pic>
        <p:nvPicPr>
          <p:cNvPr id="30" name="Image 4" descr="preencoded.png"/>
          <p:cNvPicPr>
            <a:picLocks noChangeAspect="1"/>
          </p:cNvPicPr>
          <p:nvPr/>
        </p:nvPicPr>
        <p:blipFill>
          <a:blip r:embed="rId7"/>
          <a:stretch>
            <a:fillRect/>
          </a:stretch>
        </p:blipFill>
        <p:spPr>
          <a:xfrm>
            <a:off x="937260" y="5344668"/>
            <a:ext cx="192024" cy="192024"/>
          </a:xfrm>
          <a:prstGeom prst="rect">
            <a:avLst/>
          </a:prstGeom>
        </p:spPr>
      </p:pic>
      <p:sp>
        <p:nvSpPr>
          <p:cNvPr id="31" name="Text 24"/>
          <p:cNvSpPr/>
          <p:nvPr/>
        </p:nvSpPr>
        <p:spPr>
          <a:xfrm>
            <a:off x="1371600" y="5084064"/>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The moment an AI writes code that you then run, you have given it a general-purpose ability — not a specific one. Everything from here is about narrowing that back down.</a:t>
            </a:r>
            <a:endParaRPr lang="en-US" sz="105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10 · SAFE EXECUTION</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3000" b="1" dirty="0">
                <a:solidFill>
                  <a:srgbClr val="141235"/>
                </a:solidFill>
                <a:latin typeface="Cambria" pitchFamily="34" charset="0"/>
                <a:ea typeface="Cambria" pitchFamily="34" charset="-122"/>
                <a:cs typeface="Cambria" pitchFamily="34" charset="-120"/>
              </a:rPr>
              <a:t>From no boundary at all, to a fully hosted sandbox</a:t>
            </a:r>
            <a:endParaRPr lang="en-US" sz="3000" dirty="0"/>
          </a:p>
        </p:txBody>
      </p:sp>
      <p:sp>
        <p:nvSpPr>
          <p:cNvPr id="4" name="Shape 2"/>
          <p:cNvSpPr/>
          <p:nvPr/>
        </p:nvSpPr>
        <p:spPr>
          <a:xfrm>
            <a:off x="566928" y="1920240"/>
            <a:ext cx="2599868" cy="2834640"/>
          </a:xfrm>
          <a:prstGeom prst="roundRect">
            <a:avLst>
              <a:gd name="adj" fmla="val 3517"/>
            </a:avLst>
          </a:prstGeom>
          <a:solidFill>
            <a:srgbClr val="FDECEC"/>
          </a:solidFill>
          <a:ln w="12700">
            <a:solidFill>
              <a:srgbClr val="F1C9C9"/>
            </a:solidFill>
            <a:prstDash val="solid"/>
          </a:ln>
        </p:spPr>
        <p:txBody>
          <a:bodyPr/>
          <a:lstStyle/>
          <a:p>
            <a:endParaRPr lang="en-US"/>
          </a:p>
        </p:txBody>
      </p:sp>
      <p:sp>
        <p:nvSpPr>
          <p:cNvPr id="5" name="Shape 3"/>
          <p:cNvSpPr/>
          <p:nvPr/>
        </p:nvSpPr>
        <p:spPr>
          <a:xfrm>
            <a:off x="804672" y="2121408"/>
            <a:ext cx="402336" cy="402336"/>
          </a:xfrm>
          <a:prstGeom prst="ellipse">
            <a:avLst/>
          </a:prstGeom>
          <a:solidFill>
            <a:srgbClr val="D93A3F"/>
          </a:solidFill>
          <a:ln w="12700">
            <a:solidFill>
              <a:srgbClr val="D93A3F"/>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905256" y="2221992"/>
            <a:ext cx="201168" cy="201168"/>
          </a:xfrm>
          <a:prstGeom prst="rect">
            <a:avLst/>
          </a:prstGeom>
        </p:spPr>
      </p:pic>
      <p:sp>
        <p:nvSpPr>
          <p:cNvPr id="7" name="Text 4"/>
          <p:cNvSpPr/>
          <p:nvPr/>
        </p:nvSpPr>
        <p:spPr>
          <a:xfrm>
            <a:off x="804672" y="2633472"/>
            <a:ext cx="2124380" cy="292608"/>
          </a:xfrm>
          <a:prstGeom prst="rect">
            <a:avLst/>
          </a:prstGeom>
          <a:noFill/>
          <a:ln/>
        </p:spPr>
        <p:txBody>
          <a:bodyPr wrap="square" lIns="0" tIns="0" rIns="0" bIns="0" rtlCol="0" anchor="ctr"/>
          <a:lstStyle/>
          <a:p>
            <a:pPr marL="0" indent="0">
              <a:buNone/>
            </a:pPr>
            <a:r>
              <a:rPr lang="en-US" sz="1500" b="1" dirty="0">
                <a:solidFill>
                  <a:srgbClr val="141235"/>
                </a:solidFill>
                <a:latin typeface="Calibri" pitchFamily="34" charset="0"/>
                <a:ea typeface="Calibri" pitchFamily="34" charset="-122"/>
                <a:cs typeface="Calibri" pitchFamily="34" charset="-120"/>
              </a:rPr>
              <a:t>Bare process</a:t>
            </a:r>
            <a:endParaRPr lang="en-US" sz="1500" dirty="0"/>
          </a:p>
        </p:txBody>
      </p:sp>
      <p:sp>
        <p:nvSpPr>
          <p:cNvPr id="8" name="Text 5"/>
          <p:cNvSpPr/>
          <p:nvPr/>
        </p:nvSpPr>
        <p:spPr>
          <a:xfrm>
            <a:off x="804672" y="2980944"/>
            <a:ext cx="2124380" cy="859536"/>
          </a:xfrm>
          <a:prstGeom prst="rect">
            <a:avLst/>
          </a:prstGeom>
          <a:noFill/>
          <a:ln/>
        </p:spPr>
        <p:txBody>
          <a:bodyPr wrap="square" lIns="0" tIns="0" rIns="0" bIns="0" rtlCol="0" anchor="t"/>
          <a:lstStyle/>
          <a:p>
            <a:pPr marL="0" indent="0">
              <a:lnSpc>
                <a:spcPct val="114000"/>
              </a:lnSpc>
              <a:buNone/>
            </a:pPr>
            <a:r>
              <a:rPr lang="en-US" sz="1150" dirty="0">
                <a:solidFill>
                  <a:srgbClr val="6E6B8A"/>
                </a:solidFill>
                <a:latin typeface="Calibri" pitchFamily="34" charset="0"/>
                <a:ea typeface="Calibri" pitchFamily="34" charset="-122"/>
                <a:cs typeface="Calibri" pitchFamily="34" charset="-120"/>
              </a:rPr>
              <a:t>Same machine, same user, same credentials as your application.</a:t>
            </a:r>
            <a:endParaRPr lang="en-US" sz="1150" dirty="0"/>
          </a:p>
        </p:txBody>
      </p:sp>
      <p:sp>
        <p:nvSpPr>
          <p:cNvPr id="9" name="Text 6"/>
          <p:cNvSpPr/>
          <p:nvPr/>
        </p:nvSpPr>
        <p:spPr>
          <a:xfrm>
            <a:off x="804672" y="3931920"/>
            <a:ext cx="2124380" cy="694944"/>
          </a:xfrm>
          <a:prstGeom prst="rect">
            <a:avLst/>
          </a:prstGeom>
          <a:noFill/>
          <a:ln/>
        </p:spPr>
        <p:txBody>
          <a:bodyPr wrap="square" lIns="0" tIns="0" rIns="0" bIns="0" rtlCol="0" anchor="t"/>
          <a:lstStyle/>
          <a:p>
            <a:pPr marL="0" indent="0">
              <a:lnSpc>
                <a:spcPct val="112000"/>
              </a:lnSpc>
              <a:buNone/>
            </a:pPr>
            <a:r>
              <a:rPr lang="en-US" sz="1100" b="1" i="1" dirty="0">
                <a:solidFill>
                  <a:srgbClr val="D93A3F"/>
                </a:solidFill>
                <a:latin typeface="Calibri" pitchFamily="34" charset="0"/>
                <a:ea typeface="Calibri" pitchFamily="34" charset="-122"/>
                <a:cs typeface="Calibri" pitchFamily="34" charset="-120"/>
              </a:rPr>
              <a:t>Never. Not even in a demo.</a:t>
            </a:r>
            <a:endParaRPr lang="en-US" sz="1100" dirty="0"/>
          </a:p>
        </p:txBody>
      </p:sp>
      <p:sp>
        <p:nvSpPr>
          <p:cNvPr id="10" name="Text 7"/>
          <p:cNvSpPr/>
          <p:nvPr/>
        </p:nvSpPr>
        <p:spPr>
          <a:xfrm>
            <a:off x="2618156" y="2103120"/>
            <a:ext cx="365760" cy="365760"/>
          </a:xfrm>
          <a:prstGeom prst="rect">
            <a:avLst/>
          </a:prstGeom>
          <a:noFill/>
          <a:ln/>
        </p:spPr>
        <p:txBody>
          <a:bodyPr wrap="square" lIns="0" tIns="0" rIns="0" bIns="0" rtlCol="0" anchor="ctr"/>
          <a:lstStyle/>
          <a:p>
            <a:pPr marL="0" indent="0" algn="r">
              <a:buNone/>
            </a:pPr>
            <a:r>
              <a:rPr lang="en-US" sz="2200" b="1" dirty="0">
                <a:solidFill>
                  <a:srgbClr val="F1C9C9"/>
                </a:solidFill>
                <a:latin typeface="Cambria" pitchFamily="34" charset="0"/>
                <a:ea typeface="Cambria" pitchFamily="34" charset="-122"/>
                <a:cs typeface="Cambria" pitchFamily="34" charset="-120"/>
              </a:rPr>
              <a:t>1</a:t>
            </a:r>
            <a:endParaRPr lang="en-US" sz="2200" dirty="0"/>
          </a:p>
        </p:txBody>
      </p:sp>
      <p:sp>
        <p:nvSpPr>
          <p:cNvPr id="11" name="Shape 8"/>
          <p:cNvSpPr/>
          <p:nvPr/>
        </p:nvSpPr>
        <p:spPr>
          <a:xfrm>
            <a:off x="3386252" y="1920240"/>
            <a:ext cx="2599868" cy="2834640"/>
          </a:xfrm>
          <a:prstGeom prst="roundRect">
            <a:avLst>
              <a:gd name="adj" fmla="val 3517"/>
            </a:avLst>
          </a:prstGeom>
          <a:solidFill>
            <a:srgbClr val="FFF4E0"/>
          </a:solidFill>
          <a:ln w="12700">
            <a:solidFill>
              <a:srgbClr val="F3DCB0"/>
            </a:solidFill>
            <a:prstDash val="solid"/>
          </a:ln>
        </p:spPr>
        <p:txBody>
          <a:bodyPr/>
          <a:lstStyle/>
          <a:p>
            <a:endParaRPr lang="en-US"/>
          </a:p>
        </p:txBody>
      </p:sp>
      <p:sp>
        <p:nvSpPr>
          <p:cNvPr id="12" name="Shape 9"/>
          <p:cNvSpPr/>
          <p:nvPr/>
        </p:nvSpPr>
        <p:spPr>
          <a:xfrm>
            <a:off x="3623996" y="2121408"/>
            <a:ext cx="402336" cy="402336"/>
          </a:xfrm>
          <a:prstGeom prst="ellipse">
            <a:avLst/>
          </a:prstGeom>
          <a:solidFill>
            <a:srgbClr val="E08700"/>
          </a:solidFill>
          <a:ln w="12700">
            <a:solidFill>
              <a:srgbClr val="E08700"/>
            </a:solidFill>
            <a:prstDash val="solid"/>
          </a:ln>
        </p:spPr>
        <p:txBody>
          <a:bodyPr/>
          <a:lstStyle/>
          <a:p>
            <a:endParaRPr lang="en-US"/>
          </a:p>
        </p:txBody>
      </p:sp>
      <p:pic>
        <p:nvPicPr>
          <p:cNvPr id="13" name="Image 1" descr="preencoded.png"/>
          <p:cNvPicPr>
            <a:picLocks noChangeAspect="1"/>
          </p:cNvPicPr>
          <p:nvPr/>
        </p:nvPicPr>
        <p:blipFill>
          <a:blip r:embed="rId4"/>
          <a:stretch>
            <a:fillRect/>
          </a:stretch>
        </p:blipFill>
        <p:spPr>
          <a:xfrm>
            <a:off x="3724580" y="2221992"/>
            <a:ext cx="201168" cy="201168"/>
          </a:xfrm>
          <a:prstGeom prst="rect">
            <a:avLst/>
          </a:prstGeom>
        </p:spPr>
      </p:pic>
      <p:sp>
        <p:nvSpPr>
          <p:cNvPr id="14" name="Text 10"/>
          <p:cNvSpPr/>
          <p:nvPr/>
        </p:nvSpPr>
        <p:spPr>
          <a:xfrm>
            <a:off x="3623996" y="2633472"/>
            <a:ext cx="2124380" cy="292608"/>
          </a:xfrm>
          <a:prstGeom prst="rect">
            <a:avLst/>
          </a:prstGeom>
          <a:noFill/>
          <a:ln/>
        </p:spPr>
        <p:txBody>
          <a:bodyPr wrap="square" lIns="0" tIns="0" rIns="0" bIns="0" rtlCol="0" anchor="ctr"/>
          <a:lstStyle/>
          <a:p>
            <a:pPr marL="0" indent="0">
              <a:buNone/>
            </a:pPr>
            <a:r>
              <a:rPr lang="en-US" sz="1500" b="1" dirty="0">
                <a:solidFill>
                  <a:srgbClr val="141235"/>
                </a:solidFill>
                <a:latin typeface="Calibri" pitchFamily="34" charset="0"/>
                <a:ea typeface="Calibri" pitchFamily="34" charset="-122"/>
                <a:cs typeface="Calibri" pitchFamily="34" charset="-120"/>
              </a:rPr>
              <a:t>Container</a:t>
            </a:r>
            <a:endParaRPr lang="en-US" sz="1500" dirty="0"/>
          </a:p>
        </p:txBody>
      </p:sp>
      <p:sp>
        <p:nvSpPr>
          <p:cNvPr id="15" name="Text 11"/>
          <p:cNvSpPr/>
          <p:nvPr/>
        </p:nvSpPr>
        <p:spPr>
          <a:xfrm>
            <a:off x="3623996" y="2980944"/>
            <a:ext cx="2124380" cy="859536"/>
          </a:xfrm>
          <a:prstGeom prst="rect">
            <a:avLst/>
          </a:prstGeom>
          <a:noFill/>
          <a:ln/>
        </p:spPr>
        <p:txBody>
          <a:bodyPr wrap="square" lIns="0" tIns="0" rIns="0" bIns="0" rtlCol="0" anchor="t"/>
          <a:lstStyle/>
          <a:p>
            <a:pPr marL="0" indent="0">
              <a:lnSpc>
                <a:spcPct val="114000"/>
              </a:lnSpc>
              <a:buNone/>
            </a:pPr>
            <a:r>
              <a:rPr lang="en-US" sz="1150" dirty="0">
                <a:solidFill>
                  <a:srgbClr val="6E6B8A"/>
                </a:solidFill>
                <a:latin typeface="Calibri" pitchFamily="34" charset="0"/>
                <a:ea typeface="Calibri" pitchFamily="34" charset="-122"/>
                <a:cs typeface="Calibri" pitchFamily="34" charset="-120"/>
              </a:rPr>
              <a:t>Its own filesystem and process space. Shared kernel.</a:t>
            </a:r>
            <a:endParaRPr lang="en-US" sz="1150" dirty="0"/>
          </a:p>
        </p:txBody>
      </p:sp>
      <p:sp>
        <p:nvSpPr>
          <p:cNvPr id="16" name="Text 12"/>
          <p:cNvSpPr/>
          <p:nvPr/>
        </p:nvSpPr>
        <p:spPr>
          <a:xfrm>
            <a:off x="3623996" y="3931920"/>
            <a:ext cx="2124380" cy="694944"/>
          </a:xfrm>
          <a:prstGeom prst="rect">
            <a:avLst/>
          </a:prstGeom>
          <a:noFill/>
          <a:ln/>
        </p:spPr>
        <p:txBody>
          <a:bodyPr wrap="square" lIns="0" tIns="0" rIns="0" bIns="0" rtlCol="0" anchor="t"/>
          <a:lstStyle/>
          <a:p>
            <a:pPr marL="0" indent="0">
              <a:lnSpc>
                <a:spcPct val="112000"/>
              </a:lnSpc>
              <a:buNone/>
            </a:pPr>
            <a:r>
              <a:rPr lang="en-US" sz="1100" b="1" i="1" dirty="0">
                <a:solidFill>
                  <a:srgbClr val="E08700"/>
                </a:solidFill>
                <a:latin typeface="Calibri" pitchFamily="34" charset="0"/>
                <a:ea typeface="Calibri" pitchFamily="34" charset="-122"/>
                <a:cs typeface="Calibri" pitchFamily="34" charset="-120"/>
              </a:rPr>
              <a:t>The realistic default for most internal work.</a:t>
            </a:r>
            <a:endParaRPr lang="en-US" sz="1100" dirty="0"/>
          </a:p>
        </p:txBody>
      </p:sp>
      <p:sp>
        <p:nvSpPr>
          <p:cNvPr id="17" name="Text 13"/>
          <p:cNvSpPr/>
          <p:nvPr/>
        </p:nvSpPr>
        <p:spPr>
          <a:xfrm>
            <a:off x="5437480" y="2103120"/>
            <a:ext cx="365760" cy="365760"/>
          </a:xfrm>
          <a:prstGeom prst="rect">
            <a:avLst/>
          </a:prstGeom>
          <a:noFill/>
          <a:ln/>
        </p:spPr>
        <p:txBody>
          <a:bodyPr wrap="square" lIns="0" tIns="0" rIns="0" bIns="0" rtlCol="0" anchor="ctr"/>
          <a:lstStyle/>
          <a:p>
            <a:pPr marL="0" indent="0" algn="r">
              <a:buNone/>
            </a:pPr>
            <a:r>
              <a:rPr lang="en-US" sz="2200" b="1" dirty="0">
                <a:solidFill>
                  <a:srgbClr val="F3DCB0"/>
                </a:solidFill>
                <a:latin typeface="Cambria" pitchFamily="34" charset="0"/>
                <a:ea typeface="Cambria" pitchFamily="34" charset="-122"/>
                <a:cs typeface="Cambria" pitchFamily="34" charset="-120"/>
              </a:rPr>
              <a:t>2</a:t>
            </a:r>
            <a:endParaRPr lang="en-US" sz="2200" dirty="0"/>
          </a:p>
        </p:txBody>
      </p:sp>
      <p:sp>
        <p:nvSpPr>
          <p:cNvPr id="18" name="Shape 14"/>
          <p:cNvSpPr/>
          <p:nvPr/>
        </p:nvSpPr>
        <p:spPr>
          <a:xfrm>
            <a:off x="6205576" y="1920240"/>
            <a:ext cx="2599868" cy="2834640"/>
          </a:xfrm>
          <a:prstGeom prst="roundRect">
            <a:avLst>
              <a:gd name="adj" fmla="val 3517"/>
            </a:avLst>
          </a:prstGeom>
          <a:solidFill>
            <a:srgbClr val="E7F7F1"/>
          </a:solidFill>
          <a:ln w="12700">
            <a:solidFill>
              <a:srgbClr val="C2E6D7"/>
            </a:solidFill>
            <a:prstDash val="solid"/>
          </a:ln>
        </p:spPr>
        <p:txBody>
          <a:bodyPr/>
          <a:lstStyle/>
          <a:p>
            <a:endParaRPr lang="en-US"/>
          </a:p>
        </p:txBody>
      </p:sp>
      <p:sp>
        <p:nvSpPr>
          <p:cNvPr id="19" name="Shape 15"/>
          <p:cNvSpPr/>
          <p:nvPr/>
        </p:nvSpPr>
        <p:spPr>
          <a:xfrm>
            <a:off x="6443320" y="2121408"/>
            <a:ext cx="402336" cy="402336"/>
          </a:xfrm>
          <a:prstGeom prst="ellipse">
            <a:avLst/>
          </a:prstGeom>
          <a:solidFill>
            <a:srgbClr val="0E9F6E"/>
          </a:solidFill>
          <a:ln w="12700">
            <a:solidFill>
              <a:srgbClr val="0E9F6E"/>
            </a:solidFill>
            <a:prstDash val="solid"/>
          </a:ln>
        </p:spPr>
        <p:txBody>
          <a:bodyPr/>
          <a:lstStyle/>
          <a:p>
            <a:endParaRPr lang="en-US"/>
          </a:p>
        </p:txBody>
      </p:sp>
      <p:pic>
        <p:nvPicPr>
          <p:cNvPr id="20" name="Image 2" descr="preencoded.png"/>
          <p:cNvPicPr>
            <a:picLocks noChangeAspect="1"/>
          </p:cNvPicPr>
          <p:nvPr/>
        </p:nvPicPr>
        <p:blipFill>
          <a:blip r:embed="rId5"/>
          <a:stretch>
            <a:fillRect/>
          </a:stretch>
        </p:blipFill>
        <p:spPr>
          <a:xfrm>
            <a:off x="6543904" y="2221992"/>
            <a:ext cx="201168" cy="201168"/>
          </a:xfrm>
          <a:prstGeom prst="rect">
            <a:avLst/>
          </a:prstGeom>
        </p:spPr>
      </p:pic>
      <p:sp>
        <p:nvSpPr>
          <p:cNvPr id="21" name="Text 16"/>
          <p:cNvSpPr/>
          <p:nvPr/>
        </p:nvSpPr>
        <p:spPr>
          <a:xfrm>
            <a:off x="6443320" y="2633472"/>
            <a:ext cx="2124380" cy="292608"/>
          </a:xfrm>
          <a:prstGeom prst="rect">
            <a:avLst/>
          </a:prstGeom>
          <a:noFill/>
          <a:ln/>
        </p:spPr>
        <p:txBody>
          <a:bodyPr wrap="square" lIns="0" tIns="0" rIns="0" bIns="0" rtlCol="0" anchor="ctr"/>
          <a:lstStyle/>
          <a:p>
            <a:pPr marL="0" indent="0">
              <a:buNone/>
            </a:pPr>
            <a:r>
              <a:rPr lang="en-US" sz="1500" b="1" dirty="0">
                <a:solidFill>
                  <a:srgbClr val="141235"/>
                </a:solidFill>
                <a:latin typeface="Calibri" pitchFamily="34" charset="0"/>
                <a:ea typeface="Calibri" pitchFamily="34" charset="-122"/>
                <a:cs typeface="Calibri" pitchFamily="34" charset="-120"/>
              </a:rPr>
              <a:t>MicroVM</a:t>
            </a:r>
            <a:endParaRPr lang="en-US" sz="1500" dirty="0"/>
          </a:p>
        </p:txBody>
      </p:sp>
      <p:sp>
        <p:nvSpPr>
          <p:cNvPr id="22" name="Text 17"/>
          <p:cNvSpPr/>
          <p:nvPr/>
        </p:nvSpPr>
        <p:spPr>
          <a:xfrm>
            <a:off x="6443320" y="2980944"/>
            <a:ext cx="2124380" cy="859536"/>
          </a:xfrm>
          <a:prstGeom prst="rect">
            <a:avLst/>
          </a:prstGeom>
          <a:noFill/>
          <a:ln/>
        </p:spPr>
        <p:txBody>
          <a:bodyPr wrap="square" lIns="0" tIns="0" rIns="0" bIns="0" rtlCol="0" anchor="t"/>
          <a:lstStyle/>
          <a:p>
            <a:pPr marL="0" indent="0">
              <a:lnSpc>
                <a:spcPct val="114000"/>
              </a:lnSpc>
              <a:buNone/>
            </a:pPr>
            <a:r>
              <a:rPr lang="en-US" sz="1150" dirty="0">
                <a:solidFill>
                  <a:srgbClr val="6E6B8A"/>
                </a:solidFill>
                <a:latin typeface="Calibri" pitchFamily="34" charset="0"/>
                <a:ea typeface="Calibri" pitchFamily="34" charset="-122"/>
                <a:cs typeface="Calibri" pitchFamily="34" charset="-120"/>
              </a:rPr>
              <a:t>Hardware-level isolation, still fast to start.</a:t>
            </a:r>
            <a:endParaRPr lang="en-US" sz="1150" dirty="0"/>
          </a:p>
        </p:txBody>
      </p:sp>
      <p:sp>
        <p:nvSpPr>
          <p:cNvPr id="23" name="Text 18"/>
          <p:cNvSpPr/>
          <p:nvPr/>
        </p:nvSpPr>
        <p:spPr>
          <a:xfrm>
            <a:off x="6443320" y="3931920"/>
            <a:ext cx="2124380" cy="694944"/>
          </a:xfrm>
          <a:prstGeom prst="rect">
            <a:avLst/>
          </a:prstGeom>
          <a:noFill/>
          <a:ln/>
        </p:spPr>
        <p:txBody>
          <a:bodyPr wrap="square" lIns="0" tIns="0" rIns="0" bIns="0" rtlCol="0" anchor="t"/>
          <a:lstStyle/>
          <a:p>
            <a:pPr marL="0" indent="0">
              <a:lnSpc>
                <a:spcPct val="112000"/>
              </a:lnSpc>
              <a:buNone/>
            </a:pPr>
            <a:r>
              <a:rPr lang="en-US" sz="1100" b="1" i="1" dirty="0">
                <a:solidFill>
                  <a:srgbClr val="0E9F6E"/>
                </a:solidFill>
                <a:latin typeface="Calibri" pitchFamily="34" charset="0"/>
                <a:ea typeface="Calibri" pitchFamily="34" charset="-122"/>
                <a:cs typeface="Calibri" pitchFamily="34" charset="-120"/>
              </a:rPr>
              <a:t>When the code is untrusted or the data is regulated.</a:t>
            </a:r>
            <a:endParaRPr lang="en-US" sz="1100" dirty="0"/>
          </a:p>
        </p:txBody>
      </p:sp>
      <p:sp>
        <p:nvSpPr>
          <p:cNvPr id="24" name="Text 19"/>
          <p:cNvSpPr/>
          <p:nvPr/>
        </p:nvSpPr>
        <p:spPr>
          <a:xfrm>
            <a:off x="8256803" y="2103120"/>
            <a:ext cx="365760" cy="365760"/>
          </a:xfrm>
          <a:prstGeom prst="rect">
            <a:avLst/>
          </a:prstGeom>
          <a:noFill/>
          <a:ln/>
        </p:spPr>
        <p:txBody>
          <a:bodyPr wrap="square" lIns="0" tIns="0" rIns="0" bIns="0" rtlCol="0" anchor="ctr"/>
          <a:lstStyle/>
          <a:p>
            <a:pPr marL="0" indent="0" algn="r">
              <a:buNone/>
            </a:pPr>
            <a:r>
              <a:rPr lang="en-US" sz="2200" b="1" dirty="0">
                <a:solidFill>
                  <a:srgbClr val="C2E6D7"/>
                </a:solidFill>
                <a:latin typeface="Cambria" pitchFamily="34" charset="0"/>
                <a:ea typeface="Cambria" pitchFamily="34" charset="-122"/>
                <a:cs typeface="Cambria" pitchFamily="34" charset="-120"/>
              </a:rPr>
              <a:t>3</a:t>
            </a:r>
            <a:endParaRPr lang="en-US" sz="2200" dirty="0"/>
          </a:p>
        </p:txBody>
      </p:sp>
      <p:sp>
        <p:nvSpPr>
          <p:cNvPr id="25" name="Shape 20"/>
          <p:cNvSpPr/>
          <p:nvPr/>
        </p:nvSpPr>
        <p:spPr>
          <a:xfrm>
            <a:off x="9024899" y="1920240"/>
            <a:ext cx="2599868" cy="2834640"/>
          </a:xfrm>
          <a:prstGeom prst="roundRect">
            <a:avLst>
              <a:gd name="adj" fmla="val 3517"/>
            </a:avLst>
          </a:prstGeom>
          <a:solidFill>
            <a:srgbClr val="EEEDFE"/>
          </a:solidFill>
          <a:ln w="12700">
            <a:solidFill>
              <a:srgbClr val="8E82F5"/>
            </a:solidFill>
            <a:prstDash val="solid"/>
          </a:ln>
        </p:spPr>
        <p:txBody>
          <a:bodyPr/>
          <a:lstStyle/>
          <a:p>
            <a:endParaRPr lang="en-US"/>
          </a:p>
        </p:txBody>
      </p:sp>
      <p:sp>
        <p:nvSpPr>
          <p:cNvPr id="26" name="Shape 21"/>
          <p:cNvSpPr/>
          <p:nvPr/>
        </p:nvSpPr>
        <p:spPr>
          <a:xfrm>
            <a:off x="9262643" y="2121408"/>
            <a:ext cx="402336" cy="402336"/>
          </a:xfrm>
          <a:prstGeom prst="ellipse">
            <a:avLst/>
          </a:prstGeom>
          <a:solidFill>
            <a:srgbClr val="5B4BE8"/>
          </a:solidFill>
          <a:ln w="12700">
            <a:solidFill>
              <a:srgbClr val="5B4BE8"/>
            </a:solidFill>
            <a:prstDash val="solid"/>
          </a:ln>
        </p:spPr>
        <p:txBody>
          <a:bodyPr/>
          <a:lstStyle/>
          <a:p>
            <a:endParaRPr lang="en-US"/>
          </a:p>
        </p:txBody>
      </p:sp>
      <p:pic>
        <p:nvPicPr>
          <p:cNvPr id="27" name="Image 3" descr="preencoded.png"/>
          <p:cNvPicPr>
            <a:picLocks noChangeAspect="1"/>
          </p:cNvPicPr>
          <p:nvPr/>
        </p:nvPicPr>
        <p:blipFill>
          <a:blip r:embed="rId6"/>
          <a:stretch>
            <a:fillRect/>
          </a:stretch>
        </p:blipFill>
        <p:spPr>
          <a:xfrm>
            <a:off x="9363227" y="2221992"/>
            <a:ext cx="201168" cy="201168"/>
          </a:xfrm>
          <a:prstGeom prst="rect">
            <a:avLst/>
          </a:prstGeom>
        </p:spPr>
      </p:pic>
      <p:sp>
        <p:nvSpPr>
          <p:cNvPr id="28" name="Text 22"/>
          <p:cNvSpPr/>
          <p:nvPr/>
        </p:nvSpPr>
        <p:spPr>
          <a:xfrm>
            <a:off x="9262643" y="2633472"/>
            <a:ext cx="2124380" cy="292608"/>
          </a:xfrm>
          <a:prstGeom prst="rect">
            <a:avLst/>
          </a:prstGeom>
          <a:noFill/>
          <a:ln/>
        </p:spPr>
        <p:txBody>
          <a:bodyPr wrap="square" lIns="0" tIns="0" rIns="0" bIns="0" rtlCol="0" anchor="ctr"/>
          <a:lstStyle/>
          <a:p>
            <a:pPr marL="0" indent="0">
              <a:buNone/>
            </a:pPr>
            <a:r>
              <a:rPr lang="en-US" sz="1500" b="1" dirty="0">
                <a:solidFill>
                  <a:srgbClr val="141235"/>
                </a:solidFill>
                <a:latin typeface="Calibri" pitchFamily="34" charset="0"/>
                <a:ea typeface="Calibri" pitchFamily="34" charset="-122"/>
                <a:cs typeface="Calibri" pitchFamily="34" charset="-120"/>
              </a:rPr>
              <a:t>Hosted sandbox</a:t>
            </a:r>
            <a:endParaRPr lang="en-US" sz="1500" dirty="0"/>
          </a:p>
        </p:txBody>
      </p:sp>
      <p:sp>
        <p:nvSpPr>
          <p:cNvPr id="29" name="Text 23"/>
          <p:cNvSpPr/>
          <p:nvPr/>
        </p:nvSpPr>
        <p:spPr>
          <a:xfrm>
            <a:off x="9262643" y="2980944"/>
            <a:ext cx="2124380" cy="859536"/>
          </a:xfrm>
          <a:prstGeom prst="rect">
            <a:avLst/>
          </a:prstGeom>
          <a:noFill/>
          <a:ln/>
        </p:spPr>
        <p:txBody>
          <a:bodyPr wrap="square" lIns="0" tIns="0" rIns="0" bIns="0" rtlCol="0" anchor="t"/>
          <a:lstStyle/>
          <a:p>
            <a:pPr marL="0" indent="0">
              <a:lnSpc>
                <a:spcPct val="114000"/>
              </a:lnSpc>
              <a:buNone/>
            </a:pPr>
            <a:r>
              <a:rPr lang="en-US" sz="1150" dirty="0">
                <a:solidFill>
                  <a:srgbClr val="6E6B8A"/>
                </a:solidFill>
                <a:latin typeface="Calibri" pitchFamily="34" charset="0"/>
                <a:ea typeface="Calibri" pitchFamily="34" charset="-122"/>
                <a:cs typeface="Calibri" pitchFamily="34" charset="-120"/>
              </a:rPr>
              <a:t>Somebody else operates the isolation and patches it.</a:t>
            </a:r>
            <a:endParaRPr lang="en-US" sz="1150" dirty="0"/>
          </a:p>
        </p:txBody>
      </p:sp>
      <p:sp>
        <p:nvSpPr>
          <p:cNvPr id="30" name="Text 24"/>
          <p:cNvSpPr/>
          <p:nvPr/>
        </p:nvSpPr>
        <p:spPr>
          <a:xfrm>
            <a:off x="9262643" y="3931920"/>
            <a:ext cx="2124380" cy="694944"/>
          </a:xfrm>
          <a:prstGeom prst="rect">
            <a:avLst/>
          </a:prstGeom>
          <a:noFill/>
          <a:ln/>
        </p:spPr>
        <p:txBody>
          <a:bodyPr wrap="square" lIns="0" tIns="0" rIns="0" bIns="0" rtlCol="0" anchor="t"/>
          <a:lstStyle/>
          <a:p>
            <a:pPr marL="0" indent="0">
              <a:lnSpc>
                <a:spcPct val="112000"/>
              </a:lnSpc>
              <a:buNone/>
            </a:pPr>
            <a:r>
              <a:rPr lang="en-US" sz="1100" b="1" i="1" dirty="0">
                <a:solidFill>
                  <a:srgbClr val="5B4BE8"/>
                </a:solidFill>
                <a:latin typeface="Calibri" pitchFamily="34" charset="0"/>
                <a:ea typeface="Calibri" pitchFamily="34" charset="-122"/>
                <a:cs typeface="Calibri" pitchFamily="34" charset="-120"/>
              </a:rPr>
              <a:t>When you would rather buy this problem than own it.</a:t>
            </a:r>
            <a:endParaRPr lang="en-US" sz="1100" dirty="0"/>
          </a:p>
        </p:txBody>
      </p:sp>
      <p:sp>
        <p:nvSpPr>
          <p:cNvPr id="31" name="Text 25"/>
          <p:cNvSpPr/>
          <p:nvPr/>
        </p:nvSpPr>
        <p:spPr>
          <a:xfrm>
            <a:off x="11076127" y="2103120"/>
            <a:ext cx="365760" cy="365760"/>
          </a:xfrm>
          <a:prstGeom prst="rect">
            <a:avLst/>
          </a:prstGeom>
          <a:noFill/>
          <a:ln/>
        </p:spPr>
        <p:txBody>
          <a:bodyPr wrap="square" lIns="0" tIns="0" rIns="0" bIns="0" rtlCol="0" anchor="ctr"/>
          <a:lstStyle/>
          <a:p>
            <a:pPr marL="0" indent="0" algn="r">
              <a:buNone/>
            </a:pPr>
            <a:r>
              <a:rPr lang="en-US" sz="2200" b="1" dirty="0">
                <a:solidFill>
                  <a:srgbClr val="8E82F5"/>
                </a:solidFill>
                <a:latin typeface="Cambria" pitchFamily="34" charset="0"/>
                <a:ea typeface="Cambria" pitchFamily="34" charset="-122"/>
                <a:cs typeface="Cambria" pitchFamily="34" charset="-120"/>
              </a:rPr>
              <a:t>4</a:t>
            </a:r>
            <a:endParaRPr lang="en-US" sz="2200" dirty="0"/>
          </a:p>
        </p:txBody>
      </p:sp>
      <p:sp>
        <p:nvSpPr>
          <p:cNvPr id="32" name="Shape 26"/>
          <p:cNvSpPr/>
          <p:nvPr/>
        </p:nvSpPr>
        <p:spPr>
          <a:xfrm>
            <a:off x="932688" y="4956048"/>
            <a:ext cx="10326319" cy="0"/>
          </a:xfrm>
          <a:prstGeom prst="line">
            <a:avLst/>
          </a:prstGeom>
          <a:noFill/>
          <a:ln w="25400">
            <a:solidFill>
              <a:srgbClr val="9B98B4"/>
            </a:solidFill>
            <a:prstDash val="solid"/>
            <a:headEnd type="none"/>
            <a:tailEnd type="triangle"/>
          </a:ln>
        </p:spPr>
        <p:txBody>
          <a:bodyPr/>
          <a:lstStyle/>
          <a:p>
            <a:endParaRPr lang="en-US"/>
          </a:p>
        </p:txBody>
      </p:sp>
      <p:sp>
        <p:nvSpPr>
          <p:cNvPr id="33" name="Text 27"/>
          <p:cNvSpPr/>
          <p:nvPr/>
        </p:nvSpPr>
        <p:spPr>
          <a:xfrm>
            <a:off x="566928" y="5029200"/>
            <a:ext cx="11057839" cy="237744"/>
          </a:xfrm>
          <a:prstGeom prst="rect">
            <a:avLst/>
          </a:prstGeom>
          <a:noFill/>
          <a:ln/>
        </p:spPr>
        <p:txBody>
          <a:bodyPr wrap="square" lIns="0" tIns="0" rIns="0" bIns="0" rtlCol="0" anchor="ctr"/>
          <a:lstStyle/>
          <a:p>
            <a:pPr marL="0" indent="0" algn="ctr">
              <a:buNone/>
            </a:pPr>
            <a:r>
              <a:rPr lang="en-US" sz="950" b="1" kern="0" spc="200" dirty="0">
                <a:solidFill>
                  <a:srgbClr val="9B98B4"/>
                </a:solidFill>
                <a:latin typeface="Calibri" pitchFamily="34" charset="0"/>
                <a:ea typeface="Calibri" pitchFamily="34" charset="-122"/>
                <a:cs typeface="Calibri" pitchFamily="34" charset="-120"/>
              </a:rPr>
              <a:t>MORE ISOLATION, MORE COST, MORE LATENCY</a:t>
            </a:r>
            <a:endParaRPr lang="en-US" sz="950" dirty="0"/>
          </a:p>
        </p:txBody>
      </p:sp>
      <p:sp>
        <p:nvSpPr>
          <p:cNvPr id="34" name="Shape 28"/>
          <p:cNvSpPr/>
          <p:nvPr/>
        </p:nvSpPr>
        <p:spPr>
          <a:xfrm>
            <a:off x="566928" y="5431536"/>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35" name="Shape 29"/>
          <p:cNvSpPr/>
          <p:nvPr/>
        </p:nvSpPr>
        <p:spPr>
          <a:xfrm>
            <a:off x="841248" y="5650992"/>
            <a:ext cx="384048" cy="384048"/>
          </a:xfrm>
          <a:prstGeom prst="ellipse">
            <a:avLst/>
          </a:prstGeom>
          <a:solidFill>
            <a:srgbClr val="F5A524"/>
          </a:solidFill>
          <a:ln w="12700">
            <a:solidFill>
              <a:srgbClr val="F5A524"/>
            </a:solidFill>
            <a:prstDash val="solid"/>
          </a:ln>
        </p:spPr>
        <p:txBody>
          <a:bodyPr/>
          <a:lstStyle/>
          <a:p>
            <a:endParaRPr lang="en-US"/>
          </a:p>
        </p:txBody>
      </p:sp>
      <p:pic>
        <p:nvPicPr>
          <p:cNvPr id="36" name="Image 4" descr="preencoded.png"/>
          <p:cNvPicPr>
            <a:picLocks noChangeAspect="1"/>
          </p:cNvPicPr>
          <p:nvPr/>
        </p:nvPicPr>
        <p:blipFill>
          <a:blip r:embed="rId7"/>
          <a:stretch>
            <a:fillRect/>
          </a:stretch>
        </p:blipFill>
        <p:spPr>
          <a:xfrm>
            <a:off x="937260" y="5747004"/>
            <a:ext cx="192024" cy="192024"/>
          </a:xfrm>
          <a:prstGeom prst="rect">
            <a:avLst/>
          </a:prstGeom>
        </p:spPr>
      </p:pic>
      <p:sp>
        <p:nvSpPr>
          <p:cNvPr id="37" name="Text 30"/>
          <p:cNvSpPr/>
          <p:nvPr/>
        </p:nvSpPr>
        <p:spPr>
          <a:xfrm>
            <a:off x="1371600" y="5486400"/>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Pick the weakest boundary you can defend in writing. There is no free isolation, and pretending you need none is the only genuinely wrong answer.</a:t>
            </a:r>
            <a:endParaRPr lang="en-US" sz="105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10 · SAFE EXECUTION</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3000" b="1" dirty="0">
                <a:solidFill>
                  <a:srgbClr val="141235"/>
                </a:solidFill>
                <a:latin typeface="Cambria" pitchFamily="34" charset="0"/>
                <a:ea typeface="Cambria" pitchFamily="34" charset="-122"/>
                <a:cs typeface="Cambria" pitchFamily="34" charset="-120"/>
              </a:rPr>
              <a:t>Four separate dials, not one setting</a:t>
            </a:r>
            <a:endParaRPr lang="en-US" sz="3000" dirty="0"/>
          </a:p>
        </p:txBody>
      </p:sp>
      <p:sp>
        <p:nvSpPr>
          <p:cNvPr id="4" name="Shape 2"/>
          <p:cNvSpPr/>
          <p:nvPr/>
        </p:nvSpPr>
        <p:spPr>
          <a:xfrm>
            <a:off x="566928" y="2651806"/>
            <a:ext cx="2586152" cy="2066453"/>
          </a:xfrm>
          <a:prstGeom prst="roundRect">
            <a:avLst>
              <a:gd name="adj" fmla="val 3982"/>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5" name="Shape 3"/>
          <p:cNvSpPr/>
          <p:nvPr/>
        </p:nvSpPr>
        <p:spPr>
          <a:xfrm>
            <a:off x="804672" y="2871262"/>
            <a:ext cx="365760" cy="365760"/>
          </a:xfrm>
          <a:prstGeom prst="ellipse">
            <a:avLst/>
          </a:prstGeom>
          <a:solidFill>
            <a:srgbClr val="5B4BE8"/>
          </a:solidFill>
          <a:ln w="12700">
            <a:solidFill>
              <a:srgbClr val="5B4BE8"/>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896112" y="2962702"/>
            <a:ext cx="182880" cy="182880"/>
          </a:xfrm>
          <a:prstGeom prst="rect">
            <a:avLst/>
          </a:prstGeom>
        </p:spPr>
      </p:pic>
      <p:sp>
        <p:nvSpPr>
          <p:cNvPr id="7" name="Text 4"/>
          <p:cNvSpPr/>
          <p:nvPr/>
        </p:nvSpPr>
        <p:spPr>
          <a:xfrm>
            <a:off x="1298448" y="2889550"/>
            <a:ext cx="1616888" cy="338511"/>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Timeouts</a:t>
            </a:r>
            <a:endParaRPr lang="en-US" sz="1450" dirty="0"/>
          </a:p>
        </p:txBody>
      </p:sp>
      <p:sp>
        <p:nvSpPr>
          <p:cNvPr id="8" name="Text 5"/>
          <p:cNvSpPr/>
          <p:nvPr/>
        </p:nvSpPr>
        <p:spPr>
          <a:xfrm>
            <a:off x="1298448" y="3237205"/>
            <a:ext cx="1616888" cy="1298174"/>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How long it may run before you kill it. An infinite loop in generated code is not exotic — it is Tuesday.</a:t>
            </a:r>
            <a:endParaRPr lang="en-US" sz="1150" dirty="0"/>
          </a:p>
        </p:txBody>
      </p:sp>
      <p:sp>
        <p:nvSpPr>
          <p:cNvPr id="9" name="Shape 6"/>
          <p:cNvSpPr/>
          <p:nvPr/>
        </p:nvSpPr>
        <p:spPr>
          <a:xfrm>
            <a:off x="3390824" y="2651806"/>
            <a:ext cx="2586152" cy="2066453"/>
          </a:xfrm>
          <a:prstGeom prst="roundRect">
            <a:avLst>
              <a:gd name="adj" fmla="val 3982"/>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0" name="Shape 7"/>
          <p:cNvSpPr/>
          <p:nvPr/>
        </p:nvSpPr>
        <p:spPr>
          <a:xfrm>
            <a:off x="3628568" y="2871262"/>
            <a:ext cx="365760" cy="365760"/>
          </a:xfrm>
          <a:prstGeom prst="ellipse">
            <a:avLst/>
          </a:prstGeom>
          <a:solidFill>
            <a:srgbClr val="5B4BE8"/>
          </a:solidFill>
          <a:ln w="12700">
            <a:solidFill>
              <a:srgbClr val="5B4BE8"/>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3720008" y="2962702"/>
            <a:ext cx="182880" cy="182880"/>
          </a:xfrm>
          <a:prstGeom prst="rect">
            <a:avLst/>
          </a:prstGeom>
        </p:spPr>
      </p:pic>
      <p:sp>
        <p:nvSpPr>
          <p:cNvPr id="12" name="Text 8"/>
          <p:cNvSpPr/>
          <p:nvPr/>
        </p:nvSpPr>
        <p:spPr>
          <a:xfrm>
            <a:off x="4122344" y="2889550"/>
            <a:ext cx="1616888" cy="338511"/>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Resource caps</a:t>
            </a:r>
            <a:endParaRPr lang="en-US" sz="1450" dirty="0"/>
          </a:p>
        </p:txBody>
      </p:sp>
      <p:sp>
        <p:nvSpPr>
          <p:cNvPr id="13" name="Text 9"/>
          <p:cNvSpPr/>
          <p:nvPr/>
        </p:nvSpPr>
        <p:spPr>
          <a:xfrm>
            <a:off x="4122344" y="3237205"/>
            <a:ext cx="1616888" cy="1298174"/>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CPU and memory it may consume. Without a cap, one bad query starves everything else on the host.</a:t>
            </a:r>
            <a:endParaRPr lang="en-US" sz="1150" dirty="0"/>
          </a:p>
        </p:txBody>
      </p:sp>
      <p:sp>
        <p:nvSpPr>
          <p:cNvPr id="14" name="Shape 10"/>
          <p:cNvSpPr/>
          <p:nvPr/>
        </p:nvSpPr>
        <p:spPr>
          <a:xfrm>
            <a:off x="6214720" y="2651806"/>
            <a:ext cx="2586152" cy="2066453"/>
          </a:xfrm>
          <a:prstGeom prst="roundRect">
            <a:avLst>
              <a:gd name="adj" fmla="val 3982"/>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5" name="Shape 11"/>
          <p:cNvSpPr/>
          <p:nvPr/>
        </p:nvSpPr>
        <p:spPr>
          <a:xfrm>
            <a:off x="6452464" y="2871262"/>
            <a:ext cx="365760" cy="365760"/>
          </a:xfrm>
          <a:prstGeom prst="ellipse">
            <a:avLst/>
          </a:prstGeom>
          <a:solidFill>
            <a:srgbClr val="5B4BE8"/>
          </a:solidFill>
          <a:ln w="12700">
            <a:solidFill>
              <a:srgbClr val="5B4BE8"/>
            </a:solidFill>
            <a:prstDash val="solid"/>
          </a:ln>
        </p:spPr>
        <p:txBody>
          <a:bodyPr/>
          <a:lstStyle/>
          <a:p>
            <a:endParaRPr lang="en-US"/>
          </a:p>
        </p:txBody>
      </p:sp>
      <p:pic>
        <p:nvPicPr>
          <p:cNvPr id="16" name="Image 2" descr="preencoded.png"/>
          <p:cNvPicPr>
            <a:picLocks noChangeAspect="1"/>
          </p:cNvPicPr>
          <p:nvPr/>
        </p:nvPicPr>
        <p:blipFill>
          <a:blip r:embed="rId5"/>
          <a:stretch>
            <a:fillRect/>
          </a:stretch>
        </p:blipFill>
        <p:spPr>
          <a:xfrm>
            <a:off x="6543904" y="2962702"/>
            <a:ext cx="182880" cy="182880"/>
          </a:xfrm>
          <a:prstGeom prst="rect">
            <a:avLst/>
          </a:prstGeom>
        </p:spPr>
      </p:pic>
      <p:sp>
        <p:nvSpPr>
          <p:cNvPr id="17" name="Text 12"/>
          <p:cNvSpPr/>
          <p:nvPr/>
        </p:nvSpPr>
        <p:spPr>
          <a:xfrm>
            <a:off x="6946240" y="2889550"/>
            <a:ext cx="1616888" cy="338511"/>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Network egress</a:t>
            </a:r>
            <a:endParaRPr lang="en-US" sz="1450" dirty="0"/>
          </a:p>
        </p:txBody>
      </p:sp>
      <p:sp>
        <p:nvSpPr>
          <p:cNvPr id="18" name="Text 13"/>
          <p:cNvSpPr/>
          <p:nvPr/>
        </p:nvSpPr>
        <p:spPr>
          <a:xfrm>
            <a:off x="6946240" y="3237205"/>
            <a:ext cx="1616888" cy="1298174"/>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What it can reach on the way out. This is the dial that turns a code bug into a data-exfiltration incident.</a:t>
            </a:r>
            <a:endParaRPr lang="en-US" sz="1150" dirty="0"/>
          </a:p>
        </p:txBody>
      </p:sp>
      <p:sp>
        <p:nvSpPr>
          <p:cNvPr id="19" name="Shape 14"/>
          <p:cNvSpPr/>
          <p:nvPr/>
        </p:nvSpPr>
        <p:spPr>
          <a:xfrm>
            <a:off x="9038615" y="2651806"/>
            <a:ext cx="2586152" cy="2066453"/>
          </a:xfrm>
          <a:prstGeom prst="roundRect">
            <a:avLst>
              <a:gd name="adj" fmla="val 3982"/>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20" name="Shape 15"/>
          <p:cNvSpPr/>
          <p:nvPr/>
        </p:nvSpPr>
        <p:spPr>
          <a:xfrm>
            <a:off x="9276359" y="2871262"/>
            <a:ext cx="365760" cy="365760"/>
          </a:xfrm>
          <a:prstGeom prst="ellipse">
            <a:avLst/>
          </a:prstGeom>
          <a:solidFill>
            <a:srgbClr val="5B4BE8"/>
          </a:solidFill>
          <a:ln w="12700">
            <a:solidFill>
              <a:srgbClr val="5B4BE8"/>
            </a:solidFill>
            <a:prstDash val="solid"/>
          </a:ln>
        </p:spPr>
        <p:txBody>
          <a:bodyPr/>
          <a:lstStyle/>
          <a:p>
            <a:endParaRPr lang="en-US"/>
          </a:p>
        </p:txBody>
      </p:sp>
      <p:pic>
        <p:nvPicPr>
          <p:cNvPr id="21" name="Image 3" descr="preencoded.png"/>
          <p:cNvPicPr>
            <a:picLocks noChangeAspect="1"/>
          </p:cNvPicPr>
          <p:nvPr/>
        </p:nvPicPr>
        <p:blipFill>
          <a:blip r:embed="rId6"/>
          <a:stretch>
            <a:fillRect/>
          </a:stretch>
        </p:blipFill>
        <p:spPr>
          <a:xfrm>
            <a:off x="9367799" y="2962702"/>
            <a:ext cx="182880" cy="182880"/>
          </a:xfrm>
          <a:prstGeom prst="rect">
            <a:avLst/>
          </a:prstGeom>
        </p:spPr>
      </p:pic>
      <p:sp>
        <p:nvSpPr>
          <p:cNvPr id="22" name="Text 16"/>
          <p:cNvSpPr/>
          <p:nvPr/>
        </p:nvSpPr>
        <p:spPr>
          <a:xfrm>
            <a:off x="9770135" y="2889550"/>
            <a:ext cx="1616888" cy="622158"/>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Filesystem scope</a:t>
            </a:r>
            <a:endParaRPr lang="en-US" sz="1450" dirty="0"/>
          </a:p>
        </p:txBody>
      </p:sp>
      <p:sp>
        <p:nvSpPr>
          <p:cNvPr id="23" name="Text 17"/>
          <p:cNvSpPr/>
          <p:nvPr/>
        </p:nvSpPr>
        <p:spPr>
          <a:xfrm>
            <a:off x="9770135" y="3520851"/>
            <a:ext cx="1616888" cy="1014527"/>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What it can read and write. Mount exactly what the task needs, read-only wherever you can.</a:t>
            </a:r>
            <a:endParaRPr lang="en-US" sz="1150" dirty="0"/>
          </a:p>
        </p:txBody>
      </p:sp>
      <p:sp>
        <p:nvSpPr>
          <p:cNvPr id="24" name="Shape 18"/>
          <p:cNvSpPr/>
          <p:nvPr/>
        </p:nvSpPr>
        <p:spPr>
          <a:xfrm>
            <a:off x="566928" y="5541264"/>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25" name="Shape 19"/>
          <p:cNvSpPr/>
          <p:nvPr/>
        </p:nvSpPr>
        <p:spPr>
          <a:xfrm>
            <a:off x="841248" y="5760720"/>
            <a:ext cx="384048" cy="384048"/>
          </a:xfrm>
          <a:prstGeom prst="ellipse">
            <a:avLst/>
          </a:prstGeom>
          <a:solidFill>
            <a:srgbClr val="F5A524"/>
          </a:solidFill>
          <a:ln w="12700">
            <a:solidFill>
              <a:srgbClr val="F5A524"/>
            </a:solidFill>
            <a:prstDash val="solid"/>
          </a:ln>
        </p:spPr>
        <p:txBody>
          <a:bodyPr/>
          <a:lstStyle/>
          <a:p>
            <a:endParaRPr lang="en-US"/>
          </a:p>
        </p:txBody>
      </p:sp>
      <p:pic>
        <p:nvPicPr>
          <p:cNvPr id="26" name="Image 4" descr="preencoded.png"/>
          <p:cNvPicPr>
            <a:picLocks noChangeAspect="1"/>
          </p:cNvPicPr>
          <p:nvPr/>
        </p:nvPicPr>
        <p:blipFill>
          <a:blip r:embed="rId7"/>
          <a:stretch>
            <a:fillRect/>
          </a:stretch>
        </p:blipFill>
        <p:spPr>
          <a:xfrm>
            <a:off x="937260" y="5856732"/>
            <a:ext cx="192024" cy="192024"/>
          </a:xfrm>
          <a:prstGeom prst="rect">
            <a:avLst/>
          </a:prstGeom>
        </p:spPr>
      </p:pic>
      <p:sp>
        <p:nvSpPr>
          <p:cNvPr id="27" name="Text 20"/>
          <p:cNvSpPr/>
          <p:nvPr/>
        </p:nvSpPr>
        <p:spPr>
          <a:xfrm>
            <a:off x="1371600" y="5596128"/>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“It runs in a sandbox” is not an answer. Ask which of these four are actually set, because most of the time it is one of them.</a:t>
            </a:r>
            <a:endParaRPr lang="en-US" sz="105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0B0A22"/>
        </a:solidFill>
        <a:effectLst/>
      </p:bgPr>
    </p:bg>
    <p:spTree>
      <p:nvGrpSpPr>
        <p:cNvPr id="1" name=""/>
        <p:cNvGrpSpPr/>
        <p:nvPr/>
      </p:nvGrpSpPr>
      <p:grpSpPr>
        <a:xfrm>
          <a:off x="0" y="0"/>
          <a:ext cx="0" cy="0"/>
          <a:chOff x="0" y="0"/>
          <a:chExt cx="0" cy="0"/>
        </a:xfrm>
      </p:grpSpPr>
      <p:pic>
        <p:nvPicPr>
          <p:cNvPr id="2" name="Image 0" descr="/home/claude/work/bg_dark.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6126480" y="1234440"/>
            <a:ext cx="5486400" cy="2743200"/>
          </a:xfrm>
          <a:prstGeom prst="rect">
            <a:avLst/>
          </a:prstGeom>
          <a:noFill/>
          <a:ln/>
        </p:spPr>
        <p:txBody>
          <a:bodyPr wrap="square" lIns="0" tIns="0" rIns="0" bIns="0" rtlCol="0" anchor="ctr"/>
          <a:lstStyle/>
          <a:p>
            <a:pPr marL="0" indent="0" algn="r">
              <a:buNone/>
            </a:pPr>
            <a:r>
              <a:rPr lang="en-US" sz="17600" b="1" dirty="0">
                <a:solidFill>
                  <a:srgbClr val="5B4BE8">
                    <a:alpha val="30000"/>
                  </a:srgbClr>
                </a:solidFill>
                <a:latin typeface="Cambria" pitchFamily="34" charset="0"/>
                <a:ea typeface="Cambria" pitchFamily="34" charset="-122"/>
                <a:cs typeface="Cambria" pitchFamily="34" charset="-120"/>
              </a:rPr>
              <a:t>11</a:t>
            </a:r>
            <a:endParaRPr lang="en-US" sz="17600" dirty="0"/>
          </a:p>
        </p:txBody>
      </p:sp>
      <p:sp>
        <p:nvSpPr>
          <p:cNvPr id="4" name="Shape 1"/>
          <p:cNvSpPr/>
          <p:nvPr/>
        </p:nvSpPr>
        <p:spPr>
          <a:xfrm>
            <a:off x="566928" y="2084832"/>
            <a:ext cx="566928" cy="566928"/>
          </a:xfrm>
          <a:prstGeom prst="ellipse">
            <a:avLst/>
          </a:prstGeom>
          <a:solidFill>
            <a:srgbClr val="F5A524"/>
          </a:solidFill>
          <a:ln w="12700">
            <a:solidFill>
              <a:srgbClr val="F5A524"/>
            </a:solidFill>
            <a:prstDash val="solid"/>
          </a:ln>
        </p:spPr>
        <p:txBody>
          <a:bodyPr/>
          <a:lstStyle/>
          <a:p>
            <a:endParaRPr lang="en-US"/>
          </a:p>
        </p:txBody>
      </p:sp>
      <p:pic>
        <p:nvPicPr>
          <p:cNvPr id="5" name="Image 1" descr="preencoded.png"/>
          <p:cNvPicPr>
            <a:picLocks noChangeAspect="1"/>
          </p:cNvPicPr>
          <p:nvPr/>
        </p:nvPicPr>
        <p:blipFill>
          <a:blip r:embed="rId4"/>
          <a:stretch>
            <a:fillRect/>
          </a:stretch>
        </p:blipFill>
        <p:spPr>
          <a:xfrm>
            <a:off x="708660" y="2226564"/>
            <a:ext cx="283464" cy="283464"/>
          </a:xfrm>
          <a:prstGeom prst="rect">
            <a:avLst/>
          </a:prstGeom>
        </p:spPr>
      </p:pic>
      <p:sp>
        <p:nvSpPr>
          <p:cNvPr id="6" name="Text 2"/>
          <p:cNvSpPr/>
          <p:nvPr/>
        </p:nvSpPr>
        <p:spPr>
          <a:xfrm>
            <a:off x="566928" y="2852928"/>
            <a:ext cx="7315200" cy="256032"/>
          </a:xfrm>
          <a:prstGeom prst="rect">
            <a:avLst/>
          </a:prstGeom>
          <a:noFill/>
          <a:ln/>
        </p:spPr>
        <p:txBody>
          <a:bodyPr wrap="square" lIns="0" tIns="0" rIns="0" bIns="0" rtlCol="0" anchor="ctr"/>
          <a:lstStyle/>
          <a:p>
            <a:pPr marL="0" indent="0">
              <a:buNone/>
            </a:pPr>
            <a:r>
              <a:rPr lang="en-US" sz="1100" b="1" kern="0" spc="240" dirty="0">
                <a:solidFill>
                  <a:srgbClr val="F5A524"/>
                </a:solidFill>
                <a:latin typeface="Calibri" pitchFamily="34" charset="0"/>
                <a:ea typeface="Calibri" pitchFamily="34" charset="-122"/>
                <a:cs typeface="Calibri" pitchFamily="34" charset="-120"/>
              </a:rPr>
              <a:t>MODULE 11</a:t>
            </a:r>
            <a:endParaRPr lang="en-US" sz="1100" dirty="0"/>
          </a:p>
        </p:txBody>
      </p:sp>
      <p:sp>
        <p:nvSpPr>
          <p:cNvPr id="7" name="Text 3"/>
          <p:cNvSpPr/>
          <p:nvPr/>
        </p:nvSpPr>
        <p:spPr>
          <a:xfrm>
            <a:off x="566928" y="3145536"/>
            <a:ext cx="8595360" cy="914400"/>
          </a:xfrm>
          <a:prstGeom prst="rect">
            <a:avLst/>
          </a:prstGeom>
          <a:noFill/>
          <a:ln/>
        </p:spPr>
        <p:txBody>
          <a:bodyPr wrap="square" lIns="0" tIns="0" rIns="0" bIns="0" rtlCol="0" anchor="t"/>
          <a:lstStyle/>
          <a:p>
            <a:pPr marL="0" indent="0">
              <a:buNone/>
            </a:pPr>
            <a:r>
              <a:rPr lang="en-US" sz="4600" b="1" dirty="0">
                <a:solidFill>
                  <a:srgbClr val="FFFFFF"/>
                </a:solidFill>
                <a:latin typeface="Cambria" pitchFamily="34" charset="0"/>
                <a:ea typeface="Cambria" pitchFamily="34" charset="-122"/>
                <a:cs typeface="Cambria" pitchFamily="34" charset="-120"/>
              </a:rPr>
              <a:t>Retrieval</a:t>
            </a:r>
            <a:endParaRPr lang="en-US" sz="4600" dirty="0"/>
          </a:p>
        </p:txBody>
      </p:sp>
      <p:sp>
        <p:nvSpPr>
          <p:cNvPr id="8" name="Text 4"/>
          <p:cNvSpPr/>
          <p:nvPr/>
        </p:nvSpPr>
        <p:spPr>
          <a:xfrm>
            <a:off x="566928" y="4169664"/>
            <a:ext cx="7863840" cy="731520"/>
          </a:xfrm>
          <a:prstGeom prst="rect">
            <a:avLst/>
          </a:prstGeom>
          <a:noFill/>
          <a:ln/>
        </p:spPr>
        <p:txBody>
          <a:bodyPr wrap="square" lIns="0" tIns="0" rIns="0" bIns="0" rtlCol="0" anchor="t"/>
          <a:lstStyle/>
          <a:p>
            <a:pPr marL="0" indent="0">
              <a:lnSpc>
                <a:spcPct val="120000"/>
              </a:lnSpc>
              <a:buNone/>
            </a:pPr>
            <a:r>
              <a:rPr lang="en-US" sz="1600" dirty="0">
                <a:solidFill>
                  <a:srgbClr val="B9B4E0"/>
                </a:solidFill>
                <a:latin typeface="Calibri" pitchFamily="34" charset="0"/>
                <a:ea typeface="Calibri" pitchFamily="34" charset="-122"/>
                <a:cs typeface="Calibri" pitchFamily="34" charset="-120"/>
              </a:rPr>
              <a:t>Giving the model access to what it was never trained on — and what that costs.</a:t>
            </a:r>
            <a:endParaRPr lang="en-US" sz="16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11 · RETRIEVAL</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3000" b="1" dirty="0">
                <a:solidFill>
                  <a:srgbClr val="141235"/>
                </a:solidFill>
                <a:latin typeface="Cambria" pitchFamily="34" charset="0"/>
                <a:ea typeface="Cambria" pitchFamily="34" charset="-122"/>
                <a:cs typeface="Cambria" pitchFamily="34" charset="-120"/>
              </a:rPr>
              <a:t>One retrieval pass answers the easy questions only</a:t>
            </a:r>
            <a:endParaRPr lang="en-US" sz="3000" dirty="0"/>
          </a:p>
        </p:txBody>
      </p:sp>
      <p:sp>
        <p:nvSpPr>
          <p:cNvPr id="4" name="Shape 2"/>
          <p:cNvSpPr/>
          <p:nvPr/>
        </p:nvSpPr>
        <p:spPr>
          <a:xfrm>
            <a:off x="566928" y="2325411"/>
            <a:ext cx="2586152" cy="2262043"/>
          </a:xfrm>
          <a:prstGeom prst="roundRect">
            <a:avLst>
              <a:gd name="adj" fmla="val 3638"/>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5" name="Shape 3"/>
          <p:cNvSpPr/>
          <p:nvPr/>
        </p:nvSpPr>
        <p:spPr>
          <a:xfrm>
            <a:off x="804672" y="2544867"/>
            <a:ext cx="365760" cy="365760"/>
          </a:xfrm>
          <a:prstGeom prst="ellipse">
            <a:avLst/>
          </a:prstGeom>
          <a:solidFill>
            <a:srgbClr val="D93A3F"/>
          </a:solidFill>
          <a:ln w="12700">
            <a:solidFill>
              <a:srgbClr val="D93A3F"/>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896112" y="2636307"/>
            <a:ext cx="182880" cy="182880"/>
          </a:xfrm>
          <a:prstGeom prst="rect">
            <a:avLst/>
          </a:prstGeom>
        </p:spPr>
      </p:pic>
      <p:sp>
        <p:nvSpPr>
          <p:cNvPr id="7" name="Text 4"/>
          <p:cNvSpPr/>
          <p:nvPr/>
        </p:nvSpPr>
        <p:spPr>
          <a:xfrm>
            <a:off x="1298448" y="2563155"/>
            <a:ext cx="1616888" cy="338511"/>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Multi-hop</a:t>
            </a:r>
            <a:endParaRPr lang="en-US" sz="1450" dirty="0"/>
          </a:p>
        </p:txBody>
      </p:sp>
      <p:sp>
        <p:nvSpPr>
          <p:cNvPr id="8" name="Text 5"/>
          <p:cNvSpPr/>
          <p:nvPr/>
        </p:nvSpPr>
        <p:spPr>
          <a:xfrm>
            <a:off x="1298448" y="2910810"/>
            <a:ext cx="1616888" cy="1493764"/>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The answer needs two documents combined. One search returns one of them and the model confidently fills in the rest.</a:t>
            </a:r>
            <a:endParaRPr lang="en-US" sz="1150" dirty="0"/>
          </a:p>
        </p:txBody>
      </p:sp>
      <p:sp>
        <p:nvSpPr>
          <p:cNvPr id="9" name="Shape 6"/>
          <p:cNvSpPr/>
          <p:nvPr/>
        </p:nvSpPr>
        <p:spPr>
          <a:xfrm>
            <a:off x="3390824" y="2325411"/>
            <a:ext cx="2586152" cy="2262043"/>
          </a:xfrm>
          <a:prstGeom prst="roundRect">
            <a:avLst>
              <a:gd name="adj" fmla="val 3638"/>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0" name="Shape 7"/>
          <p:cNvSpPr/>
          <p:nvPr/>
        </p:nvSpPr>
        <p:spPr>
          <a:xfrm>
            <a:off x="3628568" y="2544867"/>
            <a:ext cx="365760" cy="365760"/>
          </a:xfrm>
          <a:prstGeom prst="ellipse">
            <a:avLst/>
          </a:prstGeom>
          <a:solidFill>
            <a:srgbClr val="D93A3F"/>
          </a:solidFill>
          <a:ln w="12700">
            <a:solidFill>
              <a:srgbClr val="D93A3F"/>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3720008" y="2636307"/>
            <a:ext cx="182880" cy="182880"/>
          </a:xfrm>
          <a:prstGeom prst="rect">
            <a:avLst/>
          </a:prstGeom>
        </p:spPr>
      </p:pic>
      <p:sp>
        <p:nvSpPr>
          <p:cNvPr id="12" name="Text 8"/>
          <p:cNvSpPr/>
          <p:nvPr/>
        </p:nvSpPr>
        <p:spPr>
          <a:xfrm>
            <a:off x="4122344" y="2563155"/>
            <a:ext cx="1616888" cy="622158"/>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Ambiguous phrasing</a:t>
            </a:r>
            <a:endParaRPr lang="en-US" sz="1450" dirty="0"/>
          </a:p>
        </p:txBody>
      </p:sp>
      <p:sp>
        <p:nvSpPr>
          <p:cNvPr id="13" name="Text 9"/>
          <p:cNvSpPr/>
          <p:nvPr/>
        </p:nvSpPr>
        <p:spPr>
          <a:xfrm>
            <a:off x="4122344" y="3194456"/>
            <a:ext cx="1616888" cy="1210117"/>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The right document does not share the question's words. Your users do not write in your documentation's vocabulary.</a:t>
            </a:r>
            <a:endParaRPr lang="en-US" sz="1150" dirty="0"/>
          </a:p>
        </p:txBody>
      </p:sp>
      <p:sp>
        <p:nvSpPr>
          <p:cNvPr id="14" name="Shape 10"/>
          <p:cNvSpPr/>
          <p:nvPr/>
        </p:nvSpPr>
        <p:spPr>
          <a:xfrm>
            <a:off x="6214720" y="2325411"/>
            <a:ext cx="2586152" cy="2262043"/>
          </a:xfrm>
          <a:prstGeom prst="roundRect">
            <a:avLst>
              <a:gd name="adj" fmla="val 3638"/>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5" name="Shape 11"/>
          <p:cNvSpPr/>
          <p:nvPr/>
        </p:nvSpPr>
        <p:spPr>
          <a:xfrm>
            <a:off x="6452464" y="2544867"/>
            <a:ext cx="365760" cy="365760"/>
          </a:xfrm>
          <a:prstGeom prst="ellipse">
            <a:avLst/>
          </a:prstGeom>
          <a:solidFill>
            <a:srgbClr val="D93A3F"/>
          </a:solidFill>
          <a:ln w="12700">
            <a:solidFill>
              <a:srgbClr val="D93A3F"/>
            </a:solidFill>
            <a:prstDash val="solid"/>
          </a:ln>
        </p:spPr>
        <p:txBody>
          <a:bodyPr/>
          <a:lstStyle/>
          <a:p>
            <a:endParaRPr lang="en-US"/>
          </a:p>
        </p:txBody>
      </p:sp>
      <p:pic>
        <p:nvPicPr>
          <p:cNvPr id="16" name="Image 2" descr="preencoded.png"/>
          <p:cNvPicPr>
            <a:picLocks noChangeAspect="1"/>
          </p:cNvPicPr>
          <p:nvPr/>
        </p:nvPicPr>
        <p:blipFill>
          <a:blip r:embed="rId5"/>
          <a:stretch>
            <a:fillRect/>
          </a:stretch>
        </p:blipFill>
        <p:spPr>
          <a:xfrm>
            <a:off x="6543904" y="2636307"/>
            <a:ext cx="182880" cy="182880"/>
          </a:xfrm>
          <a:prstGeom prst="rect">
            <a:avLst/>
          </a:prstGeom>
        </p:spPr>
      </p:pic>
      <p:sp>
        <p:nvSpPr>
          <p:cNvPr id="17" name="Text 12"/>
          <p:cNvSpPr/>
          <p:nvPr/>
        </p:nvSpPr>
        <p:spPr>
          <a:xfrm>
            <a:off x="6946240" y="2563155"/>
            <a:ext cx="1616888" cy="622158"/>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Comparative queries</a:t>
            </a:r>
            <a:endParaRPr lang="en-US" sz="1450" dirty="0"/>
          </a:p>
        </p:txBody>
      </p:sp>
      <p:sp>
        <p:nvSpPr>
          <p:cNvPr id="18" name="Text 13"/>
          <p:cNvSpPr/>
          <p:nvPr/>
        </p:nvSpPr>
        <p:spPr>
          <a:xfrm>
            <a:off x="6946240" y="3194456"/>
            <a:ext cx="1616888" cy="1210117"/>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“How does A differ from B?” needs retrieval against two different things, then a comparison neither document makes.</a:t>
            </a:r>
            <a:endParaRPr lang="en-US" sz="1150" dirty="0"/>
          </a:p>
        </p:txBody>
      </p:sp>
      <p:sp>
        <p:nvSpPr>
          <p:cNvPr id="19" name="Shape 14"/>
          <p:cNvSpPr/>
          <p:nvPr/>
        </p:nvSpPr>
        <p:spPr>
          <a:xfrm>
            <a:off x="9038615" y="2325411"/>
            <a:ext cx="2586152" cy="2262043"/>
          </a:xfrm>
          <a:prstGeom prst="roundRect">
            <a:avLst>
              <a:gd name="adj" fmla="val 3638"/>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20" name="Shape 15"/>
          <p:cNvSpPr/>
          <p:nvPr/>
        </p:nvSpPr>
        <p:spPr>
          <a:xfrm>
            <a:off x="9276359" y="2544867"/>
            <a:ext cx="365760" cy="365760"/>
          </a:xfrm>
          <a:prstGeom prst="ellipse">
            <a:avLst/>
          </a:prstGeom>
          <a:solidFill>
            <a:srgbClr val="D93A3F"/>
          </a:solidFill>
          <a:ln w="12700">
            <a:solidFill>
              <a:srgbClr val="D93A3F"/>
            </a:solidFill>
            <a:prstDash val="solid"/>
          </a:ln>
        </p:spPr>
        <p:txBody>
          <a:bodyPr/>
          <a:lstStyle/>
          <a:p>
            <a:endParaRPr lang="en-US"/>
          </a:p>
        </p:txBody>
      </p:sp>
      <p:pic>
        <p:nvPicPr>
          <p:cNvPr id="21" name="Image 3" descr="preencoded.png"/>
          <p:cNvPicPr>
            <a:picLocks noChangeAspect="1"/>
          </p:cNvPicPr>
          <p:nvPr/>
        </p:nvPicPr>
        <p:blipFill>
          <a:blip r:embed="rId6"/>
          <a:stretch>
            <a:fillRect/>
          </a:stretch>
        </p:blipFill>
        <p:spPr>
          <a:xfrm>
            <a:off x="9367799" y="2636307"/>
            <a:ext cx="182880" cy="182880"/>
          </a:xfrm>
          <a:prstGeom prst="rect">
            <a:avLst/>
          </a:prstGeom>
        </p:spPr>
      </p:pic>
      <p:sp>
        <p:nvSpPr>
          <p:cNvPr id="22" name="Text 16"/>
          <p:cNvSpPr/>
          <p:nvPr/>
        </p:nvSpPr>
        <p:spPr>
          <a:xfrm>
            <a:off x="9770135" y="2563155"/>
            <a:ext cx="1616888" cy="338511"/>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Absence</a:t>
            </a:r>
            <a:endParaRPr lang="en-US" sz="1450" dirty="0"/>
          </a:p>
        </p:txBody>
      </p:sp>
      <p:sp>
        <p:nvSpPr>
          <p:cNvPr id="23" name="Text 17"/>
          <p:cNvSpPr/>
          <p:nvPr/>
        </p:nvSpPr>
        <p:spPr>
          <a:xfrm>
            <a:off x="9770135" y="2910810"/>
            <a:ext cx="1616888" cy="1493764"/>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The honest answer is that it is not in the corpus. A single-pass pipeline has no way to notice, so it invents.</a:t>
            </a:r>
            <a:endParaRPr lang="en-US" sz="1150" dirty="0"/>
          </a:p>
        </p:txBody>
      </p:sp>
      <p:sp>
        <p:nvSpPr>
          <p:cNvPr id="24" name="Text 18"/>
          <p:cNvSpPr/>
          <p:nvPr/>
        </p:nvSpPr>
        <p:spPr>
          <a:xfrm>
            <a:off x="566928" y="5029200"/>
            <a:ext cx="11057839" cy="310896"/>
          </a:xfrm>
          <a:prstGeom prst="rect">
            <a:avLst/>
          </a:prstGeom>
          <a:noFill/>
          <a:ln/>
        </p:spPr>
        <p:txBody>
          <a:bodyPr wrap="square" lIns="0" tIns="0" rIns="0" bIns="0" rtlCol="0" anchor="ctr"/>
          <a:lstStyle/>
          <a:p>
            <a:pPr marL="0" indent="0">
              <a:buNone/>
            </a:pPr>
            <a:r>
              <a:rPr lang="en-US" sz="1300" i="1" dirty="0">
                <a:solidFill>
                  <a:srgbClr val="3B3760"/>
                </a:solidFill>
                <a:latin typeface="Calibri" pitchFamily="34" charset="0"/>
                <a:ea typeface="Calibri" pitchFamily="34" charset="-122"/>
                <a:cs typeface="Calibri" pitchFamily="34" charset="-120"/>
              </a:rPr>
              <a:t>Every one of these is a real support question. None of them is answered well by search-then-stuff.</a:t>
            </a:r>
            <a:endParaRPr lang="en-US" sz="1300" dirty="0"/>
          </a:p>
        </p:txBody>
      </p:sp>
      <p:sp>
        <p:nvSpPr>
          <p:cNvPr id="25" name="Shape 19"/>
          <p:cNvSpPr/>
          <p:nvPr/>
        </p:nvSpPr>
        <p:spPr>
          <a:xfrm>
            <a:off x="566928" y="5431536"/>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26" name="Shape 20"/>
          <p:cNvSpPr/>
          <p:nvPr/>
        </p:nvSpPr>
        <p:spPr>
          <a:xfrm>
            <a:off x="841248" y="5650992"/>
            <a:ext cx="384048" cy="384048"/>
          </a:xfrm>
          <a:prstGeom prst="ellipse">
            <a:avLst/>
          </a:prstGeom>
          <a:solidFill>
            <a:srgbClr val="F5A524"/>
          </a:solidFill>
          <a:ln w="12700">
            <a:solidFill>
              <a:srgbClr val="F5A524"/>
            </a:solidFill>
            <a:prstDash val="solid"/>
          </a:ln>
        </p:spPr>
        <p:txBody>
          <a:bodyPr/>
          <a:lstStyle/>
          <a:p>
            <a:endParaRPr lang="en-US"/>
          </a:p>
        </p:txBody>
      </p:sp>
      <p:pic>
        <p:nvPicPr>
          <p:cNvPr id="27" name="Image 4" descr="preencoded.png"/>
          <p:cNvPicPr>
            <a:picLocks noChangeAspect="1"/>
          </p:cNvPicPr>
          <p:nvPr/>
        </p:nvPicPr>
        <p:blipFill>
          <a:blip r:embed="rId7"/>
          <a:stretch>
            <a:fillRect/>
          </a:stretch>
        </p:blipFill>
        <p:spPr>
          <a:xfrm>
            <a:off x="937260" y="5747004"/>
            <a:ext cx="192024" cy="192024"/>
          </a:xfrm>
          <a:prstGeom prst="rect">
            <a:avLst/>
          </a:prstGeom>
        </p:spPr>
      </p:pic>
      <p:sp>
        <p:nvSpPr>
          <p:cNvPr id="28" name="Text 21"/>
          <p:cNvSpPr/>
          <p:nvPr/>
        </p:nvSpPr>
        <p:spPr>
          <a:xfrm>
            <a:off x="1371600" y="5486400"/>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Basic RAG is “search, then paste the results into the prompt”. It works for questions whose answer sits in one paragraph — which is not most questions.</a:t>
            </a:r>
            <a:endParaRPr lang="en-US" sz="105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11 · RETRIEVAL</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2800" b="1" dirty="0">
                <a:solidFill>
                  <a:srgbClr val="141235"/>
                </a:solidFill>
                <a:latin typeface="Cambria" pitchFamily="34" charset="0"/>
                <a:ea typeface="Cambria" pitchFamily="34" charset="-122"/>
                <a:cs typeface="Cambria" pitchFamily="34" charset="-120"/>
              </a:rPr>
              <a:t>The same questions, answered four ways, over one corpus</a:t>
            </a:r>
            <a:endParaRPr lang="en-US" sz="2800" dirty="0"/>
          </a:p>
        </p:txBody>
      </p:sp>
      <p:sp>
        <p:nvSpPr>
          <p:cNvPr id="4" name="Text 2"/>
          <p:cNvSpPr/>
          <p:nvPr/>
        </p:nvSpPr>
        <p:spPr>
          <a:xfrm>
            <a:off x="768096" y="1883664"/>
            <a:ext cx="2468880" cy="256032"/>
          </a:xfrm>
          <a:prstGeom prst="rect">
            <a:avLst/>
          </a:prstGeom>
          <a:noFill/>
          <a:ln/>
        </p:spPr>
        <p:txBody>
          <a:bodyPr wrap="square" lIns="0" tIns="0" rIns="0" bIns="0" rtlCol="0" anchor="ctr"/>
          <a:lstStyle/>
          <a:p>
            <a:pPr marL="0" indent="0">
              <a:buNone/>
            </a:pPr>
            <a:r>
              <a:rPr lang="en-US" sz="950" b="1" kern="0" spc="160" dirty="0">
                <a:solidFill>
                  <a:srgbClr val="9B98B4"/>
                </a:solidFill>
                <a:latin typeface="Calibri" pitchFamily="34" charset="0"/>
                <a:ea typeface="Calibri" pitchFamily="34" charset="-122"/>
                <a:cs typeface="Calibri" pitchFamily="34" charset="-120"/>
              </a:rPr>
              <a:t>PASS</a:t>
            </a:r>
            <a:endParaRPr lang="en-US" sz="950" dirty="0"/>
          </a:p>
        </p:txBody>
      </p:sp>
      <p:sp>
        <p:nvSpPr>
          <p:cNvPr id="5" name="Text 3"/>
          <p:cNvSpPr/>
          <p:nvPr/>
        </p:nvSpPr>
        <p:spPr>
          <a:xfrm>
            <a:off x="3511296" y="1883664"/>
            <a:ext cx="3657600" cy="256032"/>
          </a:xfrm>
          <a:prstGeom prst="rect">
            <a:avLst/>
          </a:prstGeom>
          <a:noFill/>
          <a:ln/>
        </p:spPr>
        <p:txBody>
          <a:bodyPr wrap="square" lIns="0" tIns="0" rIns="0" bIns="0" rtlCol="0" anchor="ctr"/>
          <a:lstStyle/>
          <a:p>
            <a:pPr marL="0" indent="0">
              <a:buNone/>
            </a:pPr>
            <a:r>
              <a:rPr lang="en-US" sz="950" b="1" kern="0" spc="160" dirty="0">
                <a:solidFill>
                  <a:srgbClr val="9B98B4"/>
                </a:solidFill>
                <a:latin typeface="Calibri" pitchFamily="34" charset="0"/>
                <a:ea typeface="Calibri" pitchFamily="34" charset="-122"/>
                <a:cs typeface="Calibri" pitchFamily="34" charset="-120"/>
              </a:rPr>
              <a:t>WHAT IT IS</a:t>
            </a:r>
            <a:endParaRPr lang="en-US" sz="950" dirty="0"/>
          </a:p>
        </p:txBody>
      </p:sp>
      <p:sp>
        <p:nvSpPr>
          <p:cNvPr id="6" name="Text 4"/>
          <p:cNvSpPr/>
          <p:nvPr/>
        </p:nvSpPr>
        <p:spPr>
          <a:xfrm>
            <a:off x="7443216" y="1883664"/>
            <a:ext cx="1280160" cy="256032"/>
          </a:xfrm>
          <a:prstGeom prst="rect">
            <a:avLst/>
          </a:prstGeom>
          <a:noFill/>
          <a:ln/>
        </p:spPr>
        <p:txBody>
          <a:bodyPr wrap="square" lIns="0" tIns="0" rIns="0" bIns="0" rtlCol="0" anchor="ctr"/>
          <a:lstStyle/>
          <a:p>
            <a:pPr marL="0" indent="0">
              <a:buNone/>
            </a:pPr>
            <a:r>
              <a:rPr lang="en-US" sz="950" b="1" kern="0" spc="160" dirty="0">
                <a:solidFill>
                  <a:srgbClr val="9B98B4"/>
                </a:solidFill>
                <a:latin typeface="Calibri" pitchFamily="34" charset="0"/>
                <a:ea typeface="Calibri" pitchFamily="34" charset="-122"/>
                <a:cs typeface="Calibri" pitchFamily="34" charset="-120"/>
              </a:rPr>
              <a:t>SIGNUP</a:t>
            </a:r>
            <a:endParaRPr lang="en-US" sz="950" dirty="0"/>
          </a:p>
        </p:txBody>
      </p:sp>
      <p:sp>
        <p:nvSpPr>
          <p:cNvPr id="7" name="Text 5"/>
          <p:cNvSpPr/>
          <p:nvPr/>
        </p:nvSpPr>
        <p:spPr>
          <a:xfrm>
            <a:off x="8997696" y="1883664"/>
            <a:ext cx="2553919" cy="256032"/>
          </a:xfrm>
          <a:prstGeom prst="rect">
            <a:avLst/>
          </a:prstGeom>
          <a:noFill/>
          <a:ln/>
        </p:spPr>
        <p:txBody>
          <a:bodyPr wrap="square" lIns="0" tIns="0" rIns="0" bIns="0" rtlCol="0" anchor="ctr"/>
          <a:lstStyle/>
          <a:p>
            <a:pPr marL="0" indent="0">
              <a:buNone/>
            </a:pPr>
            <a:r>
              <a:rPr lang="en-US" sz="950" b="1" kern="0" spc="160" dirty="0">
                <a:solidFill>
                  <a:srgbClr val="9B98B4"/>
                </a:solidFill>
                <a:latin typeface="Calibri" pitchFamily="34" charset="0"/>
                <a:ea typeface="Calibri" pitchFamily="34" charset="-122"/>
                <a:cs typeface="Calibri" pitchFamily="34" charset="-120"/>
              </a:rPr>
              <a:t>WHY IT IS IN THE COURSE</a:t>
            </a:r>
            <a:endParaRPr lang="en-US" sz="950" dirty="0"/>
          </a:p>
        </p:txBody>
      </p:sp>
      <p:sp>
        <p:nvSpPr>
          <p:cNvPr id="8" name="Shape 6"/>
          <p:cNvSpPr/>
          <p:nvPr/>
        </p:nvSpPr>
        <p:spPr>
          <a:xfrm>
            <a:off x="566928" y="2231136"/>
            <a:ext cx="11057839" cy="658368"/>
          </a:xfrm>
          <a:prstGeom prst="roundRect">
            <a:avLst>
              <a:gd name="adj" fmla="val 9722"/>
            </a:avLst>
          </a:prstGeom>
          <a:solidFill>
            <a:srgbClr val="EEEDFE"/>
          </a:solidFill>
          <a:ln w="12700">
            <a:solidFill>
              <a:srgbClr val="8E82F5"/>
            </a:solidFill>
            <a:prstDash val="solid"/>
          </a:ln>
          <a:effectLst>
            <a:outerShdw blurRad="88900" dist="445" dir="5400000" algn="bl" rotWithShape="0">
              <a:srgbClr val="1B1A4A">
                <a:alpha val="6000"/>
              </a:srgbClr>
            </a:outerShdw>
          </a:effectLst>
        </p:spPr>
        <p:txBody>
          <a:bodyPr/>
          <a:lstStyle/>
          <a:p>
            <a:endParaRPr lang="en-US"/>
          </a:p>
        </p:txBody>
      </p:sp>
      <p:sp>
        <p:nvSpPr>
          <p:cNvPr id="9" name="Text 7"/>
          <p:cNvSpPr/>
          <p:nvPr/>
        </p:nvSpPr>
        <p:spPr>
          <a:xfrm>
            <a:off x="768096" y="2231136"/>
            <a:ext cx="2468880" cy="658368"/>
          </a:xfrm>
          <a:prstGeom prst="rect">
            <a:avLst/>
          </a:prstGeom>
          <a:noFill/>
          <a:ln/>
        </p:spPr>
        <p:txBody>
          <a:bodyPr wrap="square" lIns="0" tIns="0" rIns="0" bIns="0" rtlCol="0" anchor="ctr"/>
          <a:lstStyle/>
          <a:p>
            <a:pPr marL="0" indent="0">
              <a:buNone/>
            </a:pPr>
            <a:r>
              <a:rPr lang="en-US" sz="1300" b="1" dirty="0">
                <a:solidFill>
                  <a:srgbClr val="141235"/>
                </a:solidFill>
                <a:latin typeface="Calibri" pitchFamily="34" charset="0"/>
                <a:ea typeface="Calibri" pitchFamily="34" charset="-122"/>
                <a:cs typeface="Calibri" pitchFamily="34" charset="-120"/>
              </a:rPr>
              <a:t>From scratch</a:t>
            </a:r>
            <a:endParaRPr lang="en-US" sz="1300" dirty="0"/>
          </a:p>
        </p:txBody>
      </p:sp>
      <p:sp>
        <p:nvSpPr>
          <p:cNvPr id="10" name="Text 8"/>
          <p:cNvSpPr/>
          <p:nvPr/>
        </p:nvSpPr>
        <p:spPr>
          <a:xfrm>
            <a:off x="3511296" y="2231136"/>
            <a:ext cx="3657600" cy="658368"/>
          </a:xfrm>
          <a:prstGeom prst="rect">
            <a:avLst/>
          </a:prstGeom>
          <a:noFill/>
          <a:ln/>
        </p:spPr>
        <p:txBody>
          <a:bodyPr wrap="square" lIns="0" tIns="0" rIns="0" bIns="0" rtlCol="0" anchor="ctr"/>
          <a:lstStyle/>
          <a:p>
            <a:pPr marL="0" indent="0">
              <a:buNone/>
            </a:pPr>
            <a:r>
              <a:rPr lang="en-US" sz="1150" dirty="0">
                <a:solidFill>
                  <a:srgbClr val="6E6B8A"/>
                </a:solidFill>
                <a:latin typeface="Calibri" pitchFamily="34" charset="0"/>
                <a:ea typeface="Calibri" pitchFamily="34" charset="-122"/>
                <a:cs typeface="Calibri" pitchFamily="34" charset="-120"/>
              </a:rPr>
              <a:t>Cosine similarity in about ten lines</a:t>
            </a:r>
            <a:endParaRPr lang="en-US" sz="1150" dirty="0"/>
          </a:p>
        </p:txBody>
      </p:sp>
      <p:sp>
        <p:nvSpPr>
          <p:cNvPr id="11" name="Text 9"/>
          <p:cNvSpPr/>
          <p:nvPr/>
        </p:nvSpPr>
        <p:spPr>
          <a:xfrm>
            <a:off x="7443216" y="2231136"/>
            <a:ext cx="1280160" cy="658368"/>
          </a:xfrm>
          <a:prstGeom prst="rect">
            <a:avLst/>
          </a:prstGeom>
          <a:noFill/>
          <a:ln/>
        </p:spPr>
        <p:txBody>
          <a:bodyPr wrap="square" lIns="0" tIns="0" rIns="0" bIns="0" rtlCol="0" anchor="ctr"/>
          <a:lstStyle/>
          <a:p>
            <a:pPr marL="0" indent="0">
              <a:buNone/>
            </a:pPr>
            <a:r>
              <a:rPr lang="en-US" sz="1150" dirty="0">
                <a:solidFill>
                  <a:srgbClr val="6E6B8A"/>
                </a:solidFill>
                <a:latin typeface="Calibri" pitchFamily="34" charset="0"/>
                <a:ea typeface="Calibri" pitchFamily="34" charset="-122"/>
                <a:cs typeface="Calibri" pitchFamily="34" charset="-120"/>
              </a:rPr>
              <a:t>None</a:t>
            </a:r>
            <a:endParaRPr lang="en-US" sz="1150" dirty="0"/>
          </a:p>
        </p:txBody>
      </p:sp>
      <p:sp>
        <p:nvSpPr>
          <p:cNvPr id="12" name="Text 10"/>
          <p:cNvSpPr/>
          <p:nvPr/>
        </p:nvSpPr>
        <p:spPr>
          <a:xfrm>
            <a:off x="8997696" y="2231136"/>
            <a:ext cx="2553919" cy="658368"/>
          </a:xfrm>
          <a:prstGeom prst="rect">
            <a:avLst/>
          </a:prstGeom>
          <a:noFill/>
          <a:ln/>
        </p:spPr>
        <p:txBody>
          <a:bodyPr wrap="square" lIns="0" tIns="0" rIns="0" bIns="0" rtlCol="0" anchor="ctr"/>
          <a:lstStyle/>
          <a:p>
            <a:pPr marL="0" indent="0">
              <a:buNone/>
            </a:pPr>
            <a:r>
              <a:rPr lang="en-US" sz="1150" i="1" dirty="0">
                <a:solidFill>
                  <a:srgbClr val="E08700"/>
                </a:solidFill>
                <a:latin typeface="Calibri" pitchFamily="34" charset="0"/>
                <a:ea typeface="Calibri" pitchFamily="34" charset="-122"/>
                <a:cs typeface="Calibri" pitchFamily="34" charset="-120"/>
              </a:rPr>
              <a:t>So nobody believes a vector store is magic</a:t>
            </a:r>
            <a:endParaRPr lang="en-US" sz="1150" dirty="0"/>
          </a:p>
        </p:txBody>
      </p:sp>
      <p:sp>
        <p:nvSpPr>
          <p:cNvPr id="13" name="Shape 11"/>
          <p:cNvSpPr/>
          <p:nvPr/>
        </p:nvSpPr>
        <p:spPr>
          <a:xfrm>
            <a:off x="566928" y="2980944"/>
            <a:ext cx="11057839" cy="658368"/>
          </a:xfrm>
          <a:prstGeom prst="roundRect">
            <a:avLst>
              <a:gd name="adj" fmla="val 9722"/>
            </a:avLst>
          </a:prstGeom>
          <a:solidFill>
            <a:srgbClr val="FFFFFF"/>
          </a:solidFill>
          <a:ln w="12700">
            <a:solidFill>
              <a:srgbClr val="E3E4F2"/>
            </a:solidFill>
            <a:prstDash val="solid"/>
          </a:ln>
          <a:effectLst>
            <a:outerShdw blurRad="88900" dist="445" dir="5400000" algn="bl" rotWithShape="0">
              <a:srgbClr val="1B1A4A">
                <a:alpha val="6000"/>
              </a:srgbClr>
            </a:outerShdw>
          </a:effectLst>
        </p:spPr>
        <p:txBody>
          <a:bodyPr/>
          <a:lstStyle/>
          <a:p>
            <a:endParaRPr lang="en-US"/>
          </a:p>
        </p:txBody>
      </p:sp>
      <p:sp>
        <p:nvSpPr>
          <p:cNvPr id="14" name="Text 12"/>
          <p:cNvSpPr/>
          <p:nvPr/>
        </p:nvSpPr>
        <p:spPr>
          <a:xfrm>
            <a:off x="768096" y="2980944"/>
            <a:ext cx="2468880" cy="658368"/>
          </a:xfrm>
          <a:prstGeom prst="rect">
            <a:avLst/>
          </a:prstGeom>
          <a:noFill/>
          <a:ln/>
        </p:spPr>
        <p:txBody>
          <a:bodyPr wrap="square" lIns="0" tIns="0" rIns="0" bIns="0" rtlCol="0" anchor="ctr"/>
          <a:lstStyle/>
          <a:p>
            <a:pPr marL="0" indent="0">
              <a:buNone/>
            </a:pPr>
            <a:r>
              <a:rPr lang="en-US" sz="1300" b="1" dirty="0">
                <a:solidFill>
                  <a:srgbClr val="141235"/>
                </a:solidFill>
                <a:latin typeface="Calibri" pitchFamily="34" charset="0"/>
                <a:ea typeface="Calibri" pitchFamily="34" charset="-122"/>
                <a:cs typeface="Calibri" pitchFamily="34" charset="-120"/>
              </a:rPr>
              <a:t>A local vector store</a:t>
            </a:r>
            <a:endParaRPr lang="en-US" sz="1300" dirty="0"/>
          </a:p>
        </p:txBody>
      </p:sp>
      <p:sp>
        <p:nvSpPr>
          <p:cNvPr id="15" name="Text 13"/>
          <p:cNvSpPr/>
          <p:nvPr/>
        </p:nvSpPr>
        <p:spPr>
          <a:xfrm>
            <a:off x="3511296" y="2980944"/>
            <a:ext cx="3657600" cy="658368"/>
          </a:xfrm>
          <a:prstGeom prst="rect">
            <a:avLst/>
          </a:prstGeom>
          <a:noFill/>
          <a:ln/>
        </p:spPr>
        <p:txBody>
          <a:bodyPr wrap="square" lIns="0" tIns="0" rIns="0" bIns="0" rtlCol="0" anchor="ctr"/>
          <a:lstStyle/>
          <a:p>
            <a:pPr marL="0" indent="0">
              <a:buNone/>
            </a:pPr>
            <a:r>
              <a:rPr lang="en-US" sz="1150" dirty="0">
                <a:solidFill>
                  <a:srgbClr val="6E6B8A"/>
                </a:solidFill>
                <a:latin typeface="Calibri" pitchFamily="34" charset="0"/>
                <a:ea typeface="Calibri" pitchFamily="34" charset="-122"/>
                <a:cs typeface="Calibri" pitchFamily="34" charset="-120"/>
              </a:rPr>
              <a:t>Persistent, metadata filtering, runs on your laptop</a:t>
            </a:r>
            <a:endParaRPr lang="en-US" sz="1150" dirty="0"/>
          </a:p>
        </p:txBody>
      </p:sp>
      <p:sp>
        <p:nvSpPr>
          <p:cNvPr id="16" name="Text 14"/>
          <p:cNvSpPr/>
          <p:nvPr/>
        </p:nvSpPr>
        <p:spPr>
          <a:xfrm>
            <a:off x="7443216" y="2980944"/>
            <a:ext cx="1280160" cy="658368"/>
          </a:xfrm>
          <a:prstGeom prst="rect">
            <a:avLst/>
          </a:prstGeom>
          <a:noFill/>
          <a:ln/>
        </p:spPr>
        <p:txBody>
          <a:bodyPr wrap="square" lIns="0" tIns="0" rIns="0" bIns="0" rtlCol="0" anchor="ctr"/>
          <a:lstStyle/>
          <a:p>
            <a:pPr marL="0" indent="0">
              <a:buNone/>
            </a:pPr>
            <a:r>
              <a:rPr lang="en-US" sz="1150" dirty="0">
                <a:solidFill>
                  <a:srgbClr val="6E6B8A"/>
                </a:solidFill>
                <a:latin typeface="Calibri" pitchFamily="34" charset="0"/>
                <a:ea typeface="Calibri" pitchFamily="34" charset="-122"/>
                <a:cs typeface="Calibri" pitchFamily="34" charset="-120"/>
              </a:rPr>
              <a:t>None</a:t>
            </a:r>
            <a:endParaRPr lang="en-US" sz="1150" dirty="0"/>
          </a:p>
        </p:txBody>
      </p:sp>
      <p:sp>
        <p:nvSpPr>
          <p:cNvPr id="17" name="Text 15"/>
          <p:cNvSpPr/>
          <p:nvPr/>
        </p:nvSpPr>
        <p:spPr>
          <a:xfrm>
            <a:off x="8997696" y="2980944"/>
            <a:ext cx="2553919" cy="658368"/>
          </a:xfrm>
          <a:prstGeom prst="rect">
            <a:avLst/>
          </a:prstGeom>
          <a:noFill/>
          <a:ln/>
        </p:spPr>
        <p:txBody>
          <a:bodyPr wrap="square" lIns="0" tIns="0" rIns="0" bIns="0" rtlCol="0" anchor="ctr"/>
          <a:lstStyle/>
          <a:p>
            <a:pPr marL="0" indent="0">
              <a:buNone/>
            </a:pPr>
            <a:r>
              <a:rPr lang="en-US" sz="1150" i="1" dirty="0">
                <a:solidFill>
                  <a:srgbClr val="E08700"/>
                </a:solidFill>
                <a:latin typeface="Calibri" pitchFamily="34" charset="0"/>
                <a:ea typeface="Calibri" pitchFamily="34" charset="-122"/>
                <a:cs typeface="Calibri" pitchFamily="34" charset="-120"/>
              </a:rPr>
              <a:t>The realistic default for most teams</a:t>
            </a:r>
            <a:endParaRPr lang="en-US" sz="1150" dirty="0"/>
          </a:p>
        </p:txBody>
      </p:sp>
      <p:sp>
        <p:nvSpPr>
          <p:cNvPr id="18" name="Shape 16"/>
          <p:cNvSpPr/>
          <p:nvPr/>
        </p:nvSpPr>
        <p:spPr>
          <a:xfrm>
            <a:off x="566928" y="3730752"/>
            <a:ext cx="11057839" cy="658368"/>
          </a:xfrm>
          <a:prstGeom prst="roundRect">
            <a:avLst>
              <a:gd name="adj" fmla="val 9722"/>
            </a:avLst>
          </a:prstGeom>
          <a:solidFill>
            <a:srgbClr val="FFFFFF"/>
          </a:solidFill>
          <a:ln w="12700">
            <a:solidFill>
              <a:srgbClr val="E3E4F2"/>
            </a:solidFill>
            <a:prstDash val="solid"/>
          </a:ln>
          <a:effectLst>
            <a:outerShdw blurRad="88900" dist="445" dir="5400000" algn="bl" rotWithShape="0">
              <a:srgbClr val="1B1A4A">
                <a:alpha val="6000"/>
              </a:srgbClr>
            </a:outerShdw>
          </a:effectLst>
        </p:spPr>
        <p:txBody>
          <a:bodyPr/>
          <a:lstStyle/>
          <a:p>
            <a:endParaRPr lang="en-US"/>
          </a:p>
        </p:txBody>
      </p:sp>
      <p:sp>
        <p:nvSpPr>
          <p:cNvPr id="19" name="Text 17"/>
          <p:cNvSpPr/>
          <p:nvPr/>
        </p:nvSpPr>
        <p:spPr>
          <a:xfrm>
            <a:off x="768096" y="3730752"/>
            <a:ext cx="2468880" cy="658368"/>
          </a:xfrm>
          <a:prstGeom prst="rect">
            <a:avLst/>
          </a:prstGeom>
          <a:noFill/>
          <a:ln/>
        </p:spPr>
        <p:txBody>
          <a:bodyPr wrap="square" lIns="0" tIns="0" rIns="0" bIns="0" rtlCol="0" anchor="ctr"/>
          <a:lstStyle/>
          <a:p>
            <a:pPr marL="0" indent="0">
              <a:buNone/>
            </a:pPr>
            <a:r>
              <a:rPr lang="en-US" sz="1300" b="1" dirty="0">
                <a:solidFill>
                  <a:srgbClr val="141235"/>
                </a:solidFill>
                <a:latin typeface="Calibri" pitchFamily="34" charset="0"/>
                <a:ea typeface="Calibri" pitchFamily="34" charset="-122"/>
                <a:cs typeface="Calibri" pitchFamily="34" charset="-120"/>
              </a:rPr>
              <a:t>An indexing layer</a:t>
            </a:r>
            <a:endParaRPr lang="en-US" sz="1300" dirty="0"/>
          </a:p>
        </p:txBody>
      </p:sp>
      <p:sp>
        <p:nvSpPr>
          <p:cNvPr id="20" name="Text 18"/>
          <p:cNvSpPr/>
          <p:nvPr/>
        </p:nvSpPr>
        <p:spPr>
          <a:xfrm>
            <a:off x="3511296" y="3730752"/>
            <a:ext cx="3657600" cy="658368"/>
          </a:xfrm>
          <a:prstGeom prst="rect">
            <a:avLst/>
          </a:prstGeom>
          <a:noFill/>
          <a:ln/>
        </p:spPr>
        <p:txBody>
          <a:bodyPr wrap="square" lIns="0" tIns="0" rIns="0" bIns="0" rtlCol="0" anchor="ctr"/>
          <a:lstStyle/>
          <a:p>
            <a:pPr marL="0" indent="0">
              <a:buNone/>
            </a:pPr>
            <a:r>
              <a:rPr lang="en-US" sz="1150" dirty="0">
                <a:solidFill>
                  <a:srgbClr val="6E6B8A"/>
                </a:solidFill>
                <a:latin typeface="Calibri" pitchFamily="34" charset="0"/>
                <a:ea typeface="Calibri" pitchFamily="34" charset="-122"/>
                <a:cs typeface="Calibri" pitchFamily="34" charset="-120"/>
              </a:rPr>
              <a:t>Chunking and ingestion above the store</a:t>
            </a:r>
            <a:endParaRPr lang="en-US" sz="1150" dirty="0"/>
          </a:p>
        </p:txBody>
      </p:sp>
      <p:sp>
        <p:nvSpPr>
          <p:cNvPr id="21" name="Text 19"/>
          <p:cNvSpPr/>
          <p:nvPr/>
        </p:nvSpPr>
        <p:spPr>
          <a:xfrm>
            <a:off x="7443216" y="3730752"/>
            <a:ext cx="1280160" cy="658368"/>
          </a:xfrm>
          <a:prstGeom prst="rect">
            <a:avLst/>
          </a:prstGeom>
          <a:noFill/>
          <a:ln/>
        </p:spPr>
        <p:txBody>
          <a:bodyPr wrap="square" lIns="0" tIns="0" rIns="0" bIns="0" rtlCol="0" anchor="ctr"/>
          <a:lstStyle/>
          <a:p>
            <a:pPr marL="0" indent="0">
              <a:buNone/>
            </a:pPr>
            <a:r>
              <a:rPr lang="en-US" sz="1150" dirty="0">
                <a:solidFill>
                  <a:srgbClr val="6E6B8A"/>
                </a:solidFill>
                <a:latin typeface="Calibri" pitchFamily="34" charset="0"/>
                <a:ea typeface="Calibri" pitchFamily="34" charset="-122"/>
                <a:cs typeface="Calibri" pitchFamily="34" charset="-120"/>
              </a:rPr>
              <a:t>None</a:t>
            </a:r>
            <a:endParaRPr lang="en-US" sz="1150" dirty="0"/>
          </a:p>
        </p:txBody>
      </p:sp>
      <p:sp>
        <p:nvSpPr>
          <p:cNvPr id="22" name="Text 20"/>
          <p:cNvSpPr/>
          <p:nvPr/>
        </p:nvSpPr>
        <p:spPr>
          <a:xfrm>
            <a:off x="8997696" y="3730752"/>
            <a:ext cx="2553919" cy="658368"/>
          </a:xfrm>
          <a:prstGeom prst="rect">
            <a:avLst/>
          </a:prstGeom>
          <a:noFill/>
          <a:ln/>
        </p:spPr>
        <p:txBody>
          <a:bodyPr wrap="square" lIns="0" tIns="0" rIns="0" bIns="0" rtlCol="0" anchor="ctr"/>
          <a:lstStyle/>
          <a:p>
            <a:pPr marL="0" indent="0">
              <a:buNone/>
            </a:pPr>
            <a:r>
              <a:rPr lang="en-US" sz="1150" i="1" dirty="0">
                <a:solidFill>
                  <a:srgbClr val="E08700"/>
                </a:solidFill>
                <a:latin typeface="Calibri" pitchFamily="34" charset="0"/>
                <a:ea typeface="Calibri" pitchFamily="34" charset="-122"/>
                <a:cs typeface="Calibri" pitchFamily="34" charset="-120"/>
              </a:rPr>
              <a:t>Where retrieval quality is actually won or lost</a:t>
            </a:r>
            <a:endParaRPr lang="en-US" sz="1150" dirty="0"/>
          </a:p>
        </p:txBody>
      </p:sp>
      <p:sp>
        <p:nvSpPr>
          <p:cNvPr id="23" name="Shape 21"/>
          <p:cNvSpPr/>
          <p:nvPr/>
        </p:nvSpPr>
        <p:spPr>
          <a:xfrm>
            <a:off x="566928" y="4480560"/>
            <a:ext cx="11057839" cy="658368"/>
          </a:xfrm>
          <a:prstGeom prst="roundRect">
            <a:avLst>
              <a:gd name="adj" fmla="val 9722"/>
            </a:avLst>
          </a:prstGeom>
          <a:solidFill>
            <a:srgbClr val="FFFFFF"/>
          </a:solidFill>
          <a:ln w="12700">
            <a:solidFill>
              <a:srgbClr val="E3E4F2"/>
            </a:solidFill>
            <a:prstDash val="solid"/>
          </a:ln>
          <a:effectLst>
            <a:outerShdw blurRad="88900" dist="445" dir="5400000" algn="bl" rotWithShape="0">
              <a:srgbClr val="1B1A4A">
                <a:alpha val="6000"/>
              </a:srgbClr>
            </a:outerShdw>
          </a:effectLst>
        </p:spPr>
        <p:txBody>
          <a:bodyPr/>
          <a:lstStyle/>
          <a:p>
            <a:endParaRPr lang="en-US"/>
          </a:p>
        </p:txBody>
      </p:sp>
      <p:sp>
        <p:nvSpPr>
          <p:cNvPr id="24" name="Text 22"/>
          <p:cNvSpPr/>
          <p:nvPr/>
        </p:nvSpPr>
        <p:spPr>
          <a:xfrm>
            <a:off x="768096" y="4480560"/>
            <a:ext cx="2468880" cy="658368"/>
          </a:xfrm>
          <a:prstGeom prst="rect">
            <a:avLst/>
          </a:prstGeom>
          <a:noFill/>
          <a:ln/>
        </p:spPr>
        <p:txBody>
          <a:bodyPr wrap="square" lIns="0" tIns="0" rIns="0" bIns="0" rtlCol="0" anchor="ctr"/>
          <a:lstStyle/>
          <a:p>
            <a:pPr marL="0" indent="0">
              <a:buNone/>
            </a:pPr>
            <a:r>
              <a:rPr lang="en-US" sz="1300" b="1" dirty="0">
                <a:solidFill>
                  <a:srgbClr val="141235"/>
                </a:solidFill>
                <a:latin typeface="Calibri" pitchFamily="34" charset="0"/>
                <a:ea typeface="Calibri" pitchFamily="34" charset="-122"/>
                <a:cs typeface="Calibri" pitchFamily="34" charset="-120"/>
              </a:rPr>
              <a:t>A managed service</a:t>
            </a:r>
            <a:endParaRPr lang="en-US" sz="1300" dirty="0"/>
          </a:p>
        </p:txBody>
      </p:sp>
      <p:sp>
        <p:nvSpPr>
          <p:cNvPr id="25" name="Text 23"/>
          <p:cNvSpPr/>
          <p:nvPr/>
        </p:nvSpPr>
        <p:spPr>
          <a:xfrm>
            <a:off x="3511296" y="4480560"/>
            <a:ext cx="3657600" cy="658368"/>
          </a:xfrm>
          <a:prstGeom prst="rect">
            <a:avLst/>
          </a:prstGeom>
          <a:noFill/>
          <a:ln/>
        </p:spPr>
        <p:txBody>
          <a:bodyPr wrap="square" lIns="0" tIns="0" rIns="0" bIns="0" rtlCol="0" anchor="ctr"/>
          <a:lstStyle/>
          <a:p>
            <a:pPr marL="0" indent="0">
              <a:buNone/>
            </a:pPr>
            <a:r>
              <a:rPr lang="en-US" sz="1150" dirty="0">
                <a:solidFill>
                  <a:srgbClr val="6E6B8A"/>
                </a:solidFill>
                <a:latin typeface="Calibri" pitchFamily="34" charset="0"/>
                <a:ea typeface="Calibri" pitchFamily="34" charset="-122"/>
                <a:cs typeface="Calibri" pitchFamily="34" charset="-120"/>
              </a:rPr>
              <a:t>Same corpus, run once, results shown</a:t>
            </a:r>
            <a:endParaRPr lang="en-US" sz="1150" dirty="0"/>
          </a:p>
        </p:txBody>
      </p:sp>
      <p:sp>
        <p:nvSpPr>
          <p:cNvPr id="26" name="Text 24"/>
          <p:cNvSpPr/>
          <p:nvPr/>
        </p:nvSpPr>
        <p:spPr>
          <a:xfrm>
            <a:off x="7443216" y="4480560"/>
            <a:ext cx="1280160" cy="658368"/>
          </a:xfrm>
          <a:prstGeom prst="rect">
            <a:avLst/>
          </a:prstGeom>
          <a:noFill/>
          <a:ln/>
        </p:spPr>
        <p:txBody>
          <a:bodyPr wrap="square" lIns="0" tIns="0" rIns="0" bIns="0" rtlCol="0" anchor="ctr"/>
          <a:lstStyle/>
          <a:p>
            <a:pPr marL="0" indent="0">
              <a:buNone/>
            </a:pPr>
            <a:r>
              <a:rPr lang="en-US" sz="1150" dirty="0">
                <a:solidFill>
                  <a:srgbClr val="6E6B8A"/>
                </a:solidFill>
                <a:latin typeface="Calibri" pitchFamily="34" charset="0"/>
                <a:ea typeface="Calibri" pitchFamily="34" charset="-122"/>
                <a:cs typeface="Calibri" pitchFamily="34" charset="-120"/>
              </a:rPr>
              <a:t>Instructor only</a:t>
            </a:r>
            <a:endParaRPr lang="en-US" sz="1150" dirty="0"/>
          </a:p>
        </p:txBody>
      </p:sp>
      <p:sp>
        <p:nvSpPr>
          <p:cNvPr id="27" name="Text 25"/>
          <p:cNvSpPr/>
          <p:nvPr/>
        </p:nvSpPr>
        <p:spPr>
          <a:xfrm>
            <a:off x="8997696" y="4480560"/>
            <a:ext cx="2553919" cy="658368"/>
          </a:xfrm>
          <a:prstGeom prst="rect">
            <a:avLst/>
          </a:prstGeom>
          <a:noFill/>
          <a:ln/>
        </p:spPr>
        <p:txBody>
          <a:bodyPr wrap="square" lIns="0" tIns="0" rIns="0" bIns="0" rtlCol="0" anchor="ctr"/>
          <a:lstStyle/>
          <a:p>
            <a:pPr marL="0" indent="0">
              <a:buNone/>
            </a:pPr>
            <a:r>
              <a:rPr lang="en-US" sz="1150" i="1" dirty="0">
                <a:solidFill>
                  <a:srgbClr val="E08700"/>
                </a:solidFill>
                <a:latin typeface="Calibri" pitchFamily="34" charset="0"/>
                <a:ea typeface="Calibri" pitchFamily="34" charset="-122"/>
                <a:cs typeface="Calibri" pitchFamily="34" charset="-120"/>
              </a:rPr>
              <a:t>What you are buying, and what you are not</a:t>
            </a:r>
            <a:endParaRPr lang="en-US" sz="1150" dirty="0"/>
          </a:p>
        </p:txBody>
      </p:sp>
      <p:sp>
        <p:nvSpPr>
          <p:cNvPr id="28" name="Shape 26"/>
          <p:cNvSpPr/>
          <p:nvPr/>
        </p:nvSpPr>
        <p:spPr>
          <a:xfrm>
            <a:off x="566928" y="5285232"/>
            <a:ext cx="11057839" cy="713232"/>
          </a:xfrm>
          <a:prstGeom prst="roundRect">
            <a:avLst>
              <a:gd name="adj" fmla="val 10256"/>
            </a:avLst>
          </a:prstGeom>
          <a:solidFill>
            <a:srgbClr val="F7F8FD"/>
          </a:solidFill>
          <a:ln w="12700">
            <a:solidFill>
              <a:srgbClr val="E3E4F2"/>
            </a:solidFill>
            <a:prstDash val="solid"/>
          </a:ln>
        </p:spPr>
        <p:txBody>
          <a:bodyPr/>
          <a:lstStyle/>
          <a:p>
            <a:endParaRPr lang="en-US"/>
          </a:p>
        </p:txBody>
      </p:sp>
      <p:sp>
        <p:nvSpPr>
          <p:cNvPr id="29" name="Shape 27"/>
          <p:cNvSpPr/>
          <p:nvPr/>
        </p:nvSpPr>
        <p:spPr>
          <a:xfrm>
            <a:off x="822960" y="5449824"/>
            <a:ext cx="384048" cy="384048"/>
          </a:xfrm>
          <a:prstGeom prst="ellipse">
            <a:avLst/>
          </a:prstGeom>
          <a:solidFill>
            <a:srgbClr val="5B4BE8"/>
          </a:solidFill>
          <a:ln w="12700">
            <a:solidFill>
              <a:srgbClr val="5B4BE8"/>
            </a:solidFill>
            <a:prstDash val="solid"/>
          </a:ln>
        </p:spPr>
        <p:txBody>
          <a:bodyPr/>
          <a:lstStyle/>
          <a:p>
            <a:endParaRPr lang="en-US"/>
          </a:p>
        </p:txBody>
      </p:sp>
      <p:pic>
        <p:nvPicPr>
          <p:cNvPr id="30" name="Image 0" descr="preencoded.png"/>
          <p:cNvPicPr>
            <a:picLocks noChangeAspect="1"/>
          </p:cNvPicPr>
          <p:nvPr/>
        </p:nvPicPr>
        <p:blipFill>
          <a:blip r:embed="rId3"/>
          <a:stretch>
            <a:fillRect/>
          </a:stretch>
        </p:blipFill>
        <p:spPr>
          <a:xfrm>
            <a:off x="918972" y="5545836"/>
            <a:ext cx="192024" cy="192024"/>
          </a:xfrm>
          <a:prstGeom prst="rect">
            <a:avLst/>
          </a:prstGeom>
        </p:spPr>
      </p:pic>
      <p:sp>
        <p:nvSpPr>
          <p:cNvPr id="31" name="Text 28"/>
          <p:cNvSpPr/>
          <p:nvPr/>
        </p:nvSpPr>
        <p:spPr>
          <a:xfrm>
            <a:off x="1353312" y="5285232"/>
            <a:ext cx="9960559" cy="713232"/>
          </a:xfrm>
          <a:prstGeom prst="rect">
            <a:avLst/>
          </a:prstGeom>
          <a:noFill/>
          <a:ln/>
        </p:spPr>
        <p:txBody>
          <a:bodyPr wrap="square" lIns="0" tIns="0" rIns="0" bIns="0" rtlCol="0" anchor="ctr"/>
          <a:lstStyle/>
          <a:p>
            <a:pPr marL="0" indent="0">
              <a:buNone/>
            </a:pPr>
            <a:r>
              <a:rPr lang="en-US" sz="1300" b="1" dirty="0">
                <a:solidFill>
                  <a:srgbClr val="141235"/>
                </a:solidFill>
                <a:latin typeface="Calibri" pitchFamily="34" charset="0"/>
                <a:ea typeface="Calibri" pitchFamily="34" charset="-122"/>
                <a:cs typeface="Calibri" pitchFamily="34" charset="-120"/>
              </a:rPr>
              <a:t>The reasoning loop above the store is the durable thing. The store underneath it is swappable, and will be swapped.</a:t>
            </a:r>
            <a:endParaRPr lang="en-US" sz="1300" dirty="0"/>
          </a:p>
        </p:txBody>
      </p:sp>
      <p:sp>
        <p:nvSpPr>
          <p:cNvPr id="32" name="Shape 29"/>
          <p:cNvSpPr/>
          <p:nvPr/>
        </p:nvSpPr>
        <p:spPr>
          <a:xfrm>
            <a:off x="566928" y="6089904"/>
            <a:ext cx="11057839" cy="658368"/>
          </a:xfrm>
          <a:prstGeom prst="roundRect">
            <a:avLst>
              <a:gd name="adj" fmla="val 12500"/>
            </a:avLst>
          </a:prstGeom>
          <a:solidFill>
            <a:srgbClr val="FFF4E0"/>
          </a:solidFill>
          <a:ln w="12700">
            <a:solidFill>
              <a:srgbClr val="F3DCB0"/>
            </a:solidFill>
            <a:prstDash val="solid"/>
          </a:ln>
        </p:spPr>
        <p:txBody>
          <a:bodyPr/>
          <a:lstStyle/>
          <a:p>
            <a:endParaRPr lang="en-US"/>
          </a:p>
        </p:txBody>
      </p:sp>
      <p:sp>
        <p:nvSpPr>
          <p:cNvPr id="33" name="Shape 30"/>
          <p:cNvSpPr/>
          <p:nvPr/>
        </p:nvSpPr>
        <p:spPr>
          <a:xfrm>
            <a:off x="841248" y="6227064"/>
            <a:ext cx="384048" cy="384048"/>
          </a:xfrm>
          <a:prstGeom prst="ellipse">
            <a:avLst/>
          </a:prstGeom>
          <a:solidFill>
            <a:srgbClr val="F5A524"/>
          </a:solidFill>
          <a:ln w="12700">
            <a:solidFill>
              <a:srgbClr val="F5A524"/>
            </a:solidFill>
            <a:prstDash val="solid"/>
          </a:ln>
        </p:spPr>
        <p:txBody>
          <a:bodyPr/>
          <a:lstStyle/>
          <a:p>
            <a:endParaRPr lang="en-US"/>
          </a:p>
        </p:txBody>
      </p:sp>
      <p:pic>
        <p:nvPicPr>
          <p:cNvPr id="34" name="Image 1" descr="preencoded.png"/>
          <p:cNvPicPr>
            <a:picLocks noChangeAspect="1"/>
          </p:cNvPicPr>
          <p:nvPr/>
        </p:nvPicPr>
        <p:blipFill>
          <a:blip r:embed="rId4"/>
          <a:stretch>
            <a:fillRect/>
          </a:stretch>
        </p:blipFill>
        <p:spPr>
          <a:xfrm>
            <a:off x="937260" y="6323076"/>
            <a:ext cx="192024" cy="192024"/>
          </a:xfrm>
          <a:prstGeom prst="rect">
            <a:avLst/>
          </a:prstGeom>
        </p:spPr>
      </p:pic>
      <p:sp>
        <p:nvSpPr>
          <p:cNvPr id="35" name="Text 31"/>
          <p:cNvSpPr/>
          <p:nvPr/>
        </p:nvSpPr>
        <p:spPr>
          <a:xfrm>
            <a:off x="1371600" y="6144768"/>
            <a:ext cx="9960559" cy="548640"/>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Embeddings turn text into coordinates so “similar meaning” becomes “close together”. That is genuinely the whole idea.</a:t>
            </a:r>
            <a:endParaRPr lang="en-US" sz="105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0B0A22"/>
        </a:solidFill>
        <a:effectLst/>
      </p:bgPr>
    </p:bg>
    <p:spTree>
      <p:nvGrpSpPr>
        <p:cNvPr id="1" name=""/>
        <p:cNvGrpSpPr/>
        <p:nvPr/>
      </p:nvGrpSpPr>
      <p:grpSpPr>
        <a:xfrm>
          <a:off x="0" y="0"/>
          <a:ext cx="0" cy="0"/>
          <a:chOff x="0" y="0"/>
          <a:chExt cx="0" cy="0"/>
        </a:xfrm>
      </p:grpSpPr>
      <p:pic>
        <p:nvPicPr>
          <p:cNvPr id="2" name="Image 0" descr="/home/claude/work/bg_quote.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612648" y="1371600"/>
            <a:ext cx="11057839" cy="274320"/>
          </a:xfrm>
          <a:prstGeom prst="rect">
            <a:avLst/>
          </a:prstGeom>
          <a:noFill/>
          <a:ln/>
        </p:spPr>
        <p:txBody>
          <a:bodyPr wrap="square" lIns="0" tIns="0" rIns="0" bIns="0" rtlCol="0" anchor="ctr"/>
          <a:lstStyle/>
          <a:p>
            <a:pPr marL="0" indent="0">
              <a:buNone/>
            </a:pPr>
            <a:r>
              <a:rPr lang="en-US" sz="1050" b="1" kern="0" spc="220" dirty="0">
                <a:solidFill>
                  <a:srgbClr val="F5A524"/>
                </a:solidFill>
                <a:latin typeface="Calibri" pitchFamily="34" charset="0"/>
                <a:ea typeface="Calibri" pitchFamily="34" charset="-122"/>
                <a:cs typeface="Calibri" pitchFamily="34" charset="-120"/>
              </a:rPr>
              <a:t>11 · RETRIEVAL</a:t>
            </a:r>
            <a:endParaRPr lang="en-US" sz="1050" dirty="0"/>
          </a:p>
        </p:txBody>
      </p:sp>
      <p:sp>
        <p:nvSpPr>
          <p:cNvPr id="4" name="Text 1"/>
          <p:cNvSpPr/>
          <p:nvPr/>
        </p:nvSpPr>
        <p:spPr>
          <a:xfrm>
            <a:off x="420624" y="1481328"/>
            <a:ext cx="1463040" cy="1463040"/>
          </a:xfrm>
          <a:prstGeom prst="rect">
            <a:avLst/>
          </a:prstGeom>
          <a:noFill/>
          <a:ln/>
        </p:spPr>
        <p:txBody>
          <a:bodyPr wrap="square" lIns="0" tIns="0" rIns="0" bIns="0" rtlCol="0" anchor="ctr"/>
          <a:lstStyle/>
          <a:p>
            <a:pPr marL="0" indent="0">
              <a:buNone/>
            </a:pPr>
            <a:r>
              <a:rPr lang="en-US" sz="15000" b="1" dirty="0">
                <a:solidFill>
                  <a:srgbClr val="8E82F5">
                    <a:alpha val="38000"/>
                  </a:srgbClr>
                </a:solidFill>
                <a:latin typeface="Cambria" pitchFamily="34" charset="0"/>
                <a:ea typeface="Cambria" pitchFamily="34" charset="-122"/>
                <a:cs typeface="Cambria" pitchFamily="34" charset="-120"/>
              </a:rPr>
              <a:t>“</a:t>
            </a:r>
            <a:endParaRPr lang="en-US" sz="15000" dirty="0"/>
          </a:p>
        </p:txBody>
      </p:sp>
      <p:sp>
        <p:nvSpPr>
          <p:cNvPr id="5" name="Text 2"/>
          <p:cNvSpPr/>
          <p:nvPr/>
        </p:nvSpPr>
        <p:spPr>
          <a:xfrm>
            <a:off x="612648" y="2212848"/>
            <a:ext cx="9960559" cy="2377440"/>
          </a:xfrm>
          <a:prstGeom prst="rect">
            <a:avLst/>
          </a:prstGeom>
          <a:noFill/>
          <a:ln/>
        </p:spPr>
        <p:txBody>
          <a:bodyPr wrap="square" lIns="0" tIns="0" rIns="0" bIns="0" rtlCol="0" anchor="t"/>
          <a:lstStyle/>
          <a:p>
            <a:pPr marL="0" indent="0">
              <a:lnSpc>
                <a:spcPct val="116000"/>
              </a:lnSpc>
              <a:buNone/>
            </a:pPr>
            <a:r>
              <a:rPr lang="en-US" sz="4000" b="1" dirty="0">
                <a:solidFill>
                  <a:srgbClr val="FFFFFF"/>
                </a:solidFill>
                <a:latin typeface="Cambria" pitchFamily="34" charset="0"/>
                <a:ea typeface="Cambria" pitchFamily="34" charset="-122"/>
                <a:cs typeface="Cambria" pitchFamily="34" charset="-120"/>
              </a:rPr>
              <a:t>If the answer lives in a database,</a:t>
            </a:r>
            <a:endParaRPr lang="en-US" sz="4000" dirty="0"/>
          </a:p>
          <a:p>
            <a:pPr marL="0" indent="0">
              <a:lnSpc>
                <a:spcPct val="116000"/>
              </a:lnSpc>
              <a:buNone/>
            </a:pPr>
            <a:r>
              <a:rPr lang="en-US" sz="4000" b="1" dirty="0">
                <a:solidFill>
                  <a:srgbClr val="FFFFFF"/>
                </a:solidFill>
                <a:latin typeface="Cambria" pitchFamily="34" charset="0"/>
                <a:ea typeface="Cambria" pitchFamily="34" charset="-122"/>
                <a:cs typeface="Cambria" pitchFamily="34" charset="-120"/>
              </a:rPr>
              <a:t>query the database.</a:t>
            </a:r>
            <a:endParaRPr lang="en-US" sz="4000" dirty="0"/>
          </a:p>
        </p:txBody>
      </p:sp>
      <p:sp>
        <p:nvSpPr>
          <p:cNvPr id="6" name="Text 3"/>
          <p:cNvSpPr/>
          <p:nvPr/>
        </p:nvSpPr>
        <p:spPr>
          <a:xfrm>
            <a:off x="612648" y="4718304"/>
            <a:ext cx="9777679" cy="822960"/>
          </a:xfrm>
          <a:prstGeom prst="rect">
            <a:avLst/>
          </a:prstGeom>
          <a:noFill/>
          <a:ln/>
        </p:spPr>
        <p:txBody>
          <a:bodyPr wrap="square" lIns="0" tIns="0" rIns="0" bIns="0" rtlCol="0" anchor="t"/>
          <a:lstStyle/>
          <a:p>
            <a:pPr marL="0" indent="0">
              <a:lnSpc>
                <a:spcPct val="120000"/>
              </a:lnSpc>
              <a:buNone/>
            </a:pPr>
            <a:r>
              <a:rPr lang="en-US" sz="1450" dirty="0">
                <a:solidFill>
                  <a:srgbClr val="B9B4E0"/>
                </a:solidFill>
                <a:latin typeface="Calibri" pitchFamily="34" charset="0"/>
                <a:ea typeface="Calibri" pitchFamily="34" charset="-122"/>
                <a:cs typeface="Calibri" pitchFamily="34" charset="-120"/>
              </a:rPr>
              <a:t>RAG is for unstructured text you cannot otherwise reach. Pointing it at a table you could have queried with SQL is slower, more expensive, and less correct.</a:t>
            </a:r>
            <a:endParaRPr lang="en-US" sz="145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0B0A22"/>
        </a:solidFill>
        <a:effectLst/>
      </p:bgPr>
    </p:bg>
    <p:spTree>
      <p:nvGrpSpPr>
        <p:cNvPr id="1" name=""/>
        <p:cNvGrpSpPr/>
        <p:nvPr/>
      </p:nvGrpSpPr>
      <p:grpSpPr>
        <a:xfrm>
          <a:off x="0" y="0"/>
          <a:ext cx="0" cy="0"/>
          <a:chOff x="0" y="0"/>
          <a:chExt cx="0" cy="0"/>
        </a:xfrm>
      </p:grpSpPr>
      <p:pic>
        <p:nvPicPr>
          <p:cNvPr id="2" name="Image 0" descr="/home/claude/work/bg_dark.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6126480" y="1234440"/>
            <a:ext cx="5486400" cy="2743200"/>
          </a:xfrm>
          <a:prstGeom prst="rect">
            <a:avLst/>
          </a:prstGeom>
          <a:noFill/>
          <a:ln/>
        </p:spPr>
        <p:txBody>
          <a:bodyPr wrap="square" lIns="0" tIns="0" rIns="0" bIns="0" rtlCol="0" anchor="ctr"/>
          <a:lstStyle/>
          <a:p>
            <a:pPr marL="0" indent="0" algn="r">
              <a:buNone/>
            </a:pPr>
            <a:r>
              <a:rPr lang="en-US" sz="17600" b="1" dirty="0">
                <a:solidFill>
                  <a:srgbClr val="5B4BE8">
                    <a:alpha val="30000"/>
                  </a:srgbClr>
                </a:solidFill>
                <a:latin typeface="Cambria" pitchFamily="34" charset="0"/>
                <a:ea typeface="Cambria" pitchFamily="34" charset="-122"/>
                <a:cs typeface="Cambria" pitchFamily="34" charset="-120"/>
              </a:rPr>
              <a:t>12</a:t>
            </a:r>
            <a:endParaRPr lang="en-US" sz="17600" dirty="0"/>
          </a:p>
        </p:txBody>
      </p:sp>
      <p:sp>
        <p:nvSpPr>
          <p:cNvPr id="4" name="Shape 1"/>
          <p:cNvSpPr/>
          <p:nvPr/>
        </p:nvSpPr>
        <p:spPr>
          <a:xfrm>
            <a:off x="566928" y="2084832"/>
            <a:ext cx="566928" cy="566928"/>
          </a:xfrm>
          <a:prstGeom prst="ellipse">
            <a:avLst/>
          </a:prstGeom>
          <a:solidFill>
            <a:srgbClr val="F5A524"/>
          </a:solidFill>
          <a:ln w="12700">
            <a:solidFill>
              <a:srgbClr val="F5A524"/>
            </a:solidFill>
            <a:prstDash val="solid"/>
          </a:ln>
        </p:spPr>
        <p:txBody>
          <a:bodyPr/>
          <a:lstStyle/>
          <a:p>
            <a:endParaRPr lang="en-US"/>
          </a:p>
        </p:txBody>
      </p:sp>
      <p:pic>
        <p:nvPicPr>
          <p:cNvPr id="5" name="Image 1" descr="preencoded.png"/>
          <p:cNvPicPr>
            <a:picLocks noChangeAspect="1"/>
          </p:cNvPicPr>
          <p:nvPr/>
        </p:nvPicPr>
        <p:blipFill>
          <a:blip r:embed="rId4"/>
          <a:stretch>
            <a:fillRect/>
          </a:stretch>
        </p:blipFill>
        <p:spPr>
          <a:xfrm>
            <a:off x="708660" y="2226564"/>
            <a:ext cx="283464" cy="283464"/>
          </a:xfrm>
          <a:prstGeom prst="rect">
            <a:avLst/>
          </a:prstGeom>
        </p:spPr>
      </p:pic>
      <p:sp>
        <p:nvSpPr>
          <p:cNvPr id="6" name="Text 2"/>
          <p:cNvSpPr/>
          <p:nvPr/>
        </p:nvSpPr>
        <p:spPr>
          <a:xfrm>
            <a:off x="566928" y="2852928"/>
            <a:ext cx="7315200" cy="256032"/>
          </a:xfrm>
          <a:prstGeom prst="rect">
            <a:avLst/>
          </a:prstGeom>
          <a:noFill/>
          <a:ln/>
        </p:spPr>
        <p:txBody>
          <a:bodyPr wrap="square" lIns="0" tIns="0" rIns="0" bIns="0" rtlCol="0" anchor="ctr"/>
          <a:lstStyle/>
          <a:p>
            <a:pPr marL="0" indent="0">
              <a:buNone/>
            </a:pPr>
            <a:r>
              <a:rPr lang="en-US" sz="1100" b="1" kern="0" spc="240" dirty="0">
                <a:solidFill>
                  <a:srgbClr val="F5A524"/>
                </a:solidFill>
                <a:latin typeface="Calibri" pitchFamily="34" charset="0"/>
                <a:ea typeface="Calibri" pitchFamily="34" charset="-122"/>
                <a:cs typeface="Calibri" pitchFamily="34" charset="-120"/>
              </a:rPr>
              <a:t>MODULE 12</a:t>
            </a:r>
            <a:endParaRPr lang="en-US" sz="1100" dirty="0"/>
          </a:p>
        </p:txBody>
      </p:sp>
      <p:sp>
        <p:nvSpPr>
          <p:cNvPr id="7" name="Text 3"/>
          <p:cNvSpPr/>
          <p:nvPr/>
        </p:nvSpPr>
        <p:spPr>
          <a:xfrm>
            <a:off x="566928" y="3145536"/>
            <a:ext cx="8595360" cy="914400"/>
          </a:xfrm>
          <a:prstGeom prst="rect">
            <a:avLst/>
          </a:prstGeom>
          <a:noFill/>
          <a:ln/>
        </p:spPr>
        <p:txBody>
          <a:bodyPr wrap="square" lIns="0" tIns="0" rIns="0" bIns="0" rtlCol="0" anchor="t"/>
          <a:lstStyle/>
          <a:p>
            <a:pPr marL="0" indent="0">
              <a:buNone/>
            </a:pPr>
            <a:r>
              <a:rPr lang="en-US" sz="4600" b="1" dirty="0">
                <a:solidFill>
                  <a:srgbClr val="FFFFFF"/>
                </a:solidFill>
                <a:latin typeface="Cambria" pitchFamily="34" charset="0"/>
                <a:ea typeface="Cambria" pitchFamily="34" charset="-122"/>
                <a:cs typeface="Cambria" pitchFamily="34" charset="-120"/>
              </a:rPr>
              <a:t>Agentic RAG</a:t>
            </a:r>
            <a:endParaRPr lang="en-US" sz="4600" dirty="0"/>
          </a:p>
        </p:txBody>
      </p:sp>
      <p:sp>
        <p:nvSpPr>
          <p:cNvPr id="8" name="Text 4"/>
          <p:cNvSpPr/>
          <p:nvPr/>
        </p:nvSpPr>
        <p:spPr>
          <a:xfrm>
            <a:off x="566928" y="4169664"/>
            <a:ext cx="7863840" cy="731520"/>
          </a:xfrm>
          <a:prstGeom prst="rect">
            <a:avLst/>
          </a:prstGeom>
          <a:noFill/>
          <a:ln/>
        </p:spPr>
        <p:txBody>
          <a:bodyPr wrap="square" lIns="0" tIns="0" rIns="0" bIns="0" rtlCol="0" anchor="t"/>
          <a:lstStyle/>
          <a:p>
            <a:pPr marL="0" indent="0">
              <a:lnSpc>
                <a:spcPct val="120000"/>
              </a:lnSpc>
              <a:buNone/>
            </a:pPr>
            <a:r>
              <a:rPr lang="en-US" sz="1600" dirty="0">
                <a:solidFill>
                  <a:srgbClr val="B9B4E0"/>
                </a:solidFill>
                <a:latin typeface="Calibri" pitchFamily="34" charset="0"/>
                <a:ea typeface="Calibri" pitchFamily="34" charset="-122"/>
                <a:cs typeface="Calibri" pitchFamily="34" charset="-120"/>
              </a:rPr>
              <a:t>Retrieval becomes a loop, not a lookup.</a:t>
            </a:r>
            <a:endParaRPr lang="en-US" sz="16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12 · AGENTIC RAG</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3000" b="1" dirty="0">
                <a:solidFill>
                  <a:srgbClr val="141235"/>
                </a:solidFill>
                <a:latin typeface="Cambria" pitchFamily="34" charset="0"/>
                <a:ea typeface="Cambria" pitchFamily="34" charset="-122"/>
                <a:cs typeface="Cambria" pitchFamily="34" charset="-120"/>
              </a:rPr>
              <a:t>Five steps, and one of them is the whole idea</a:t>
            </a:r>
            <a:endParaRPr lang="en-US" sz="3000" dirty="0"/>
          </a:p>
        </p:txBody>
      </p:sp>
      <p:sp>
        <p:nvSpPr>
          <p:cNvPr id="4" name="Shape 2"/>
          <p:cNvSpPr/>
          <p:nvPr/>
        </p:nvSpPr>
        <p:spPr>
          <a:xfrm>
            <a:off x="566928" y="2011680"/>
            <a:ext cx="2050633" cy="2286000"/>
          </a:xfrm>
          <a:prstGeom prst="roundRect">
            <a:avLst>
              <a:gd name="adj" fmla="val 4459"/>
            </a:avLst>
          </a:prstGeom>
          <a:solidFill>
            <a:srgbClr val="FFFFFF"/>
          </a:solidFill>
          <a:ln w="12700">
            <a:solidFill>
              <a:srgbClr val="E3E4F2"/>
            </a:solidFill>
            <a:prstDash val="solid"/>
          </a:ln>
          <a:effectLst>
            <a:outerShdw blurRad="101600" dist="508" dir="5400000" algn="bl" rotWithShape="0">
              <a:srgbClr val="1B1A4A">
                <a:alpha val="8000"/>
              </a:srgbClr>
            </a:outerShdw>
          </a:effectLst>
        </p:spPr>
        <p:txBody>
          <a:bodyPr/>
          <a:lstStyle/>
          <a:p>
            <a:endParaRPr lang="en-US"/>
          </a:p>
        </p:txBody>
      </p:sp>
      <p:sp>
        <p:nvSpPr>
          <p:cNvPr id="5" name="Shape 3"/>
          <p:cNvSpPr/>
          <p:nvPr/>
        </p:nvSpPr>
        <p:spPr>
          <a:xfrm>
            <a:off x="786384" y="2212848"/>
            <a:ext cx="402336" cy="402336"/>
          </a:xfrm>
          <a:prstGeom prst="ellipse">
            <a:avLst/>
          </a:prstGeom>
          <a:solidFill>
            <a:srgbClr val="5B4BE8"/>
          </a:solidFill>
          <a:ln w="12700">
            <a:solidFill>
              <a:srgbClr val="5B4BE8"/>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886968" y="2313432"/>
            <a:ext cx="201168" cy="201168"/>
          </a:xfrm>
          <a:prstGeom prst="rect">
            <a:avLst/>
          </a:prstGeom>
        </p:spPr>
      </p:pic>
      <p:sp>
        <p:nvSpPr>
          <p:cNvPr id="7" name="Text 4"/>
          <p:cNvSpPr/>
          <p:nvPr/>
        </p:nvSpPr>
        <p:spPr>
          <a:xfrm>
            <a:off x="786384" y="2743200"/>
            <a:ext cx="1611721" cy="292608"/>
          </a:xfrm>
          <a:prstGeom prst="rect">
            <a:avLst/>
          </a:prstGeom>
          <a:noFill/>
          <a:ln/>
        </p:spPr>
        <p:txBody>
          <a:bodyPr wrap="square" lIns="0" tIns="0" rIns="0" bIns="0" rtlCol="0" anchor="ctr"/>
          <a:lstStyle/>
          <a:p>
            <a:pPr marL="0" indent="0">
              <a:buNone/>
            </a:pPr>
            <a:r>
              <a:rPr lang="en-US" sz="1550" b="1" dirty="0">
                <a:solidFill>
                  <a:srgbClr val="141235"/>
                </a:solidFill>
                <a:latin typeface="Calibri" pitchFamily="34" charset="0"/>
                <a:ea typeface="Calibri" pitchFamily="34" charset="-122"/>
                <a:cs typeface="Calibri" pitchFamily="34" charset="-120"/>
              </a:rPr>
              <a:t>Rewrite</a:t>
            </a:r>
            <a:endParaRPr lang="en-US" sz="1550" dirty="0"/>
          </a:p>
        </p:txBody>
      </p:sp>
      <p:sp>
        <p:nvSpPr>
          <p:cNvPr id="8" name="Text 5"/>
          <p:cNvSpPr/>
          <p:nvPr/>
        </p:nvSpPr>
        <p:spPr>
          <a:xfrm>
            <a:off x="786384" y="3108960"/>
            <a:ext cx="1611721" cy="1005840"/>
          </a:xfrm>
          <a:prstGeom prst="rect">
            <a:avLst/>
          </a:prstGeom>
          <a:noFill/>
          <a:ln/>
        </p:spPr>
        <p:txBody>
          <a:bodyPr wrap="square" lIns="0" tIns="0" rIns="0" bIns="0" rtlCol="0" anchor="t"/>
          <a:lstStyle/>
          <a:p>
            <a:pPr marL="0" indent="0">
              <a:lnSpc>
                <a:spcPct val="114000"/>
              </a:lnSpc>
              <a:buNone/>
            </a:pPr>
            <a:r>
              <a:rPr lang="en-US" sz="1150" dirty="0">
                <a:solidFill>
                  <a:srgbClr val="6E6B8A"/>
                </a:solidFill>
                <a:latin typeface="Calibri" pitchFamily="34" charset="0"/>
                <a:ea typeface="Calibri" pitchFamily="34" charset="-122"/>
                <a:cs typeface="Calibri" pitchFamily="34" charset="-120"/>
              </a:rPr>
              <a:t>Turn the user's words into a query the corpus would actually match.</a:t>
            </a:r>
            <a:endParaRPr lang="en-US" sz="1150" dirty="0"/>
          </a:p>
        </p:txBody>
      </p:sp>
      <p:sp>
        <p:nvSpPr>
          <p:cNvPr id="9" name="Shape 6"/>
          <p:cNvSpPr/>
          <p:nvPr/>
        </p:nvSpPr>
        <p:spPr>
          <a:xfrm>
            <a:off x="2635849" y="3127248"/>
            <a:ext cx="155448" cy="0"/>
          </a:xfrm>
          <a:prstGeom prst="line">
            <a:avLst/>
          </a:prstGeom>
          <a:noFill/>
          <a:ln w="25400">
            <a:solidFill>
              <a:srgbClr val="8E82F5"/>
            </a:solidFill>
            <a:prstDash val="solid"/>
            <a:headEnd type="none"/>
            <a:tailEnd type="triangle"/>
          </a:ln>
        </p:spPr>
        <p:txBody>
          <a:bodyPr/>
          <a:lstStyle/>
          <a:p>
            <a:endParaRPr lang="en-US"/>
          </a:p>
        </p:txBody>
      </p:sp>
      <p:sp>
        <p:nvSpPr>
          <p:cNvPr id="10" name="Shape 7"/>
          <p:cNvSpPr/>
          <p:nvPr/>
        </p:nvSpPr>
        <p:spPr>
          <a:xfrm>
            <a:off x="2818729" y="2011680"/>
            <a:ext cx="2050633" cy="2286000"/>
          </a:xfrm>
          <a:prstGeom prst="roundRect">
            <a:avLst>
              <a:gd name="adj" fmla="val 4459"/>
            </a:avLst>
          </a:prstGeom>
          <a:solidFill>
            <a:srgbClr val="FFFFFF"/>
          </a:solidFill>
          <a:ln w="12700">
            <a:solidFill>
              <a:srgbClr val="E3E4F2"/>
            </a:solidFill>
            <a:prstDash val="solid"/>
          </a:ln>
          <a:effectLst>
            <a:outerShdw blurRad="101600" dist="508" dir="5400000" algn="bl" rotWithShape="0">
              <a:srgbClr val="1B1A4A">
                <a:alpha val="8000"/>
              </a:srgbClr>
            </a:outerShdw>
          </a:effectLst>
        </p:spPr>
        <p:txBody>
          <a:bodyPr/>
          <a:lstStyle/>
          <a:p>
            <a:endParaRPr lang="en-US"/>
          </a:p>
        </p:txBody>
      </p:sp>
      <p:sp>
        <p:nvSpPr>
          <p:cNvPr id="11" name="Shape 8"/>
          <p:cNvSpPr/>
          <p:nvPr/>
        </p:nvSpPr>
        <p:spPr>
          <a:xfrm>
            <a:off x="3038185" y="2212848"/>
            <a:ext cx="402336" cy="402336"/>
          </a:xfrm>
          <a:prstGeom prst="ellipse">
            <a:avLst/>
          </a:prstGeom>
          <a:solidFill>
            <a:srgbClr val="5B4BE8"/>
          </a:solidFill>
          <a:ln w="12700">
            <a:solidFill>
              <a:srgbClr val="5B4BE8"/>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3138769" y="2313432"/>
            <a:ext cx="201168" cy="201168"/>
          </a:xfrm>
          <a:prstGeom prst="rect">
            <a:avLst/>
          </a:prstGeom>
        </p:spPr>
      </p:pic>
      <p:sp>
        <p:nvSpPr>
          <p:cNvPr id="13" name="Text 9"/>
          <p:cNvSpPr/>
          <p:nvPr/>
        </p:nvSpPr>
        <p:spPr>
          <a:xfrm>
            <a:off x="3038185" y="2743200"/>
            <a:ext cx="1611721" cy="292608"/>
          </a:xfrm>
          <a:prstGeom prst="rect">
            <a:avLst/>
          </a:prstGeom>
          <a:noFill/>
          <a:ln/>
        </p:spPr>
        <p:txBody>
          <a:bodyPr wrap="square" lIns="0" tIns="0" rIns="0" bIns="0" rtlCol="0" anchor="ctr"/>
          <a:lstStyle/>
          <a:p>
            <a:pPr marL="0" indent="0">
              <a:buNone/>
            </a:pPr>
            <a:r>
              <a:rPr lang="en-US" sz="1550" b="1" dirty="0">
                <a:solidFill>
                  <a:srgbClr val="141235"/>
                </a:solidFill>
                <a:latin typeface="Calibri" pitchFamily="34" charset="0"/>
                <a:ea typeface="Calibri" pitchFamily="34" charset="-122"/>
                <a:cs typeface="Calibri" pitchFamily="34" charset="-120"/>
              </a:rPr>
              <a:t>Retrieve</a:t>
            </a:r>
            <a:endParaRPr lang="en-US" sz="1550" dirty="0"/>
          </a:p>
        </p:txBody>
      </p:sp>
      <p:sp>
        <p:nvSpPr>
          <p:cNvPr id="14" name="Text 10"/>
          <p:cNvSpPr/>
          <p:nvPr/>
        </p:nvSpPr>
        <p:spPr>
          <a:xfrm>
            <a:off x="3038185" y="3108960"/>
            <a:ext cx="1611721" cy="1005840"/>
          </a:xfrm>
          <a:prstGeom prst="rect">
            <a:avLst/>
          </a:prstGeom>
          <a:noFill/>
          <a:ln/>
        </p:spPr>
        <p:txBody>
          <a:bodyPr wrap="square" lIns="0" tIns="0" rIns="0" bIns="0" rtlCol="0" anchor="t"/>
          <a:lstStyle/>
          <a:p>
            <a:pPr marL="0" indent="0">
              <a:lnSpc>
                <a:spcPct val="114000"/>
              </a:lnSpc>
              <a:buNone/>
            </a:pPr>
            <a:r>
              <a:rPr lang="en-US" sz="1150" dirty="0">
                <a:solidFill>
                  <a:srgbClr val="6E6B8A"/>
                </a:solidFill>
                <a:latin typeface="Calibri" pitchFamily="34" charset="0"/>
                <a:ea typeface="Calibri" pitchFamily="34" charset="-122"/>
                <a:cs typeface="Calibri" pitchFamily="34" charset="-120"/>
              </a:rPr>
              <a:t>Search. Same mechanics as module 11.</a:t>
            </a:r>
            <a:endParaRPr lang="en-US" sz="1150" dirty="0"/>
          </a:p>
        </p:txBody>
      </p:sp>
      <p:sp>
        <p:nvSpPr>
          <p:cNvPr id="15" name="Shape 11"/>
          <p:cNvSpPr/>
          <p:nvPr/>
        </p:nvSpPr>
        <p:spPr>
          <a:xfrm>
            <a:off x="4887651" y="3127248"/>
            <a:ext cx="155448" cy="0"/>
          </a:xfrm>
          <a:prstGeom prst="line">
            <a:avLst/>
          </a:prstGeom>
          <a:noFill/>
          <a:ln w="25400">
            <a:solidFill>
              <a:srgbClr val="8E82F5"/>
            </a:solidFill>
            <a:prstDash val="solid"/>
            <a:headEnd type="none"/>
            <a:tailEnd type="triangle"/>
          </a:ln>
        </p:spPr>
        <p:txBody>
          <a:bodyPr/>
          <a:lstStyle/>
          <a:p>
            <a:endParaRPr lang="en-US"/>
          </a:p>
        </p:txBody>
      </p:sp>
      <p:sp>
        <p:nvSpPr>
          <p:cNvPr id="16" name="Shape 12"/>
          <p:cNvSpPr/>
          <p:nvPr/>
        </p:nvSpPr>
        <p:spPr>
          <a:xfrm>
            <a:off x="5070531" y="2011680"/>
            <a:ext cx="2050633" cy="2286000"/>
          </a:xfrm>
          <a:prstGeom prst="roundRect">
            <a:avLst>
              <a:gd name="adj" fmla="val 4459"/>
            </a:avLst>
          </a:prstGeom>
          <a:solidFill>
            <a:srgbClr val="5B4BE8"/>
          </a:solidFill>
          <a:ln w="12700">
            <a:solidFill>
              <a:srgbClr val="5B4BE8"/>
            </a:solidFill>
            <a:prstDash val="solid"/>
          </a:ln>
          <a:effectLst>
            <a:outerShdw blurRad="101600" dist="508" dir="5400000" algn="bl" rotWithShape="0">
              <a:srgbClr val="1B1A4A">
                <a:alpha val="8000"/>
              </a:srgbClr>
            </a:outerShdw>
          </a:effectLst>
        </p:spPr>
        <p:txBody>
          <a:bodyPr/>
          <a:lstStyle/>
          <a:p>
            <a:endParaRPr lang="en-US"/>
          </a:p>
        </p:txBody>
      </p:sp>
      <p:sp>
        <p:nvSpPr>
          <p:cNvPr id="17" name="Shape 13"/>
          <p:cNvSpPr/>
          <p:nvPr/>
        </p:nvSpPr>
        <p:spPr>
          <a:xfrm>
            <a:off x="5289987" y="2212848"/>
            <a:ext cx="402336" cy="402336"/>
          </a:xfrm>
          <a:prstGeom prst="ellipse">
            <a:avLst/>
          </a:prstGeom>
          <a:solidFill>
            <a:srgbClr val="F5A524"/>
          </a:solidFill>
          <a:ln w="12700">
            <a:solidFill>
              <a:srgbClr val="F5A524"/>
            </a:solidFill>
            <a:prstDash val="solid"/>
          </a:ln>
        </p:spPr>
        <p:txBody>
          <a:bodyPr/>
          <a:lstStyle/>
          <a:p>
            <a:endParaRPr lang="en-US"/>
          </a:p>
        </p:txBody>
      </p:sp>
      <p:pic>
        <p:nvPicPr>
          <p:cNvPr id="18" name="Image 2" descr="preencoded.png"/>
          <p:cNvPicPr>
            <a:picLocks noChangeAspect="1"/>
          </p:cNvPicPr>
          <p:nvPr/>
        </p:nvPicPr>
        <p:blipFill>
          <a:blip r:embed="rId5"/>
          <a:stretch>
            <a:fillRect/>
          </a:stretch>
        </p:blipFill>
        <p:spPr>
          <a:xfrm>
            <a:off x="5390571" y="2313432"/>
            <a:ext cx="201168" cy="201168"/>
          </a:xfrm>
          <a:prstGeom prst="rect">
            <a:avLst/>
          </a:prstGeom>
        </p:spPr>
      </p:pic>
      <p:sp>
        <p:nvSpPr>
          <p:cNvPr id="19" name="Text 14"/>
          <p:cNvSpPr/>
          <p:nvPr/>
        </p:nvSpPr>
        <p:spPr>
          <a:xfrm>
            <a:off x="5289987" y="2743200"/>
            <a:ext cx="1611721" cy="292608"/>
          </a:xfrm>
          <a:prstGeom prst="rect">
            <a:avLst/>
          </a:prstGeom>
          <a:noFill/>
          <a:ln/>
        </p:spPr>
        <p:txBody>
          <a:bodyPr wrap="square" lIns="0" tIns="0" rIns="0" bIns="0" rtlCol="0" anchor="ctr"/>
          <a:lstStyle/>
          <a:p>
            <a:pPr marL="0" indent="0">
              <a:buNone/>
            </a:pPr>
            <a:r>
              <a:rPr lang="en-US" sz="1550" b="1" dirty="0">
                <a:solidFill>
                  <a:srgbClr val="FFFFFF"/>
                </a:solidFill>
                <a:latin typeface="Calibri" pitchFamily="34" charset="0"/>
                <a:ea typeface="Calibri" pitchFamily="34" charset="-122"/>
                <a:cs typeface="Calibri" pitchFamily="34" charset="-120"/>
              </a:rPr>
              <a:t>Assess</a:t>
            </a:r>
            <a:endParaRPr lang="en-US" sz="1550" dirty="0"/>
          </a:p>
        </p:txBody>
      </p:sp>
      <p:sp>
        <p:nvSpPr>
          <p:cNvPr id="20" name="Text 15"/>
          <p:cNvSpPr/>
          <p:nvPr/>
        </p:nvSpPr>
        <p:spPr>
          <a:xfrm>
            <a:off x="5289987" y="3108960"/>
            <a:ext cx="1611721" cy="1005840"/>
          </a:xfrm>
          <a:prstGeom prst="rect">
            <a:avLst/>
          </a:prstGeom>
          <a:noFill/>
          <a:ln/>
        </p:spPr>
        <p:txBody>
          <a:bodyPr wrap="square" lIns="0" tIns="0" rIns="0" bIns="0" rtlCol="0" anchor="t"/>
          <a:lstStyle/>
          <a:p>
            <a:pPr marL="0" indent="0">
              <a:lnSpc>
                <a:spcPct val="114000"/>
              </a:lnSpc>
              <a:buNone/>
            </a:pPr>
            <a:r>
              <a:rPr lang="en-US" sz="1150" dirty="0">
                <a:solidFill>
                  <a:srgbClr val="D8D3FF"/>
                </a:solidFill>
                <a:latin typeface="Calibri" pitchFamily="34" charset="0"/>
                <a:ea typeface="Calibri" pitchFamily="34" charset="-122"/>
                <a:cs typeface="Calibri" pitchFamily="34" charset="-120"/>
              </a:rPr>
              <a:t>Does what I found actually answer this? A naive pipeline never asks.</a:t>
            </a:r>
            <a:endParaRPr lang="en-US" sz="1150" dirty="0"/>
          </a:p>
        </p:txBody>
      </p:sp>
      <p:sp>
        <p:nvSpPr>
          <p:cNvPr id="21" name="Shape 16"/>
          <p:cNvSpPr/>
          <p:nvPr/>
        </p:nvSpPr>
        <p:spPr>
          <a:xfrm>
            <a:off x="7139452" y="3127248"/>
            <a:ext cx="155448" cy="0"/>
          </a:xfrm>
          <a:prstGeom prst="line">
            <a:avLst/>
          </a:prstGeom>
          <a:noFill/>
          <a:ln w="25400">
            <a:solidFill>
              <a:srgbClr val="8E82F5"/>
            </a:solidFill>
            <a:prstDash val="solid"/>
            <a:headEnd type="none"/>
            <a:tailEnd type="triangle"/>
          </a:ln>
        </p:spPr>
        <p:txBody>
          <a:bodyPr/>
          <a:lstStyle/>
          <a:p>
            <a:endParaRPr lang="en-US"/>
          </a:p>
        </p:txBody>
      </p:sp>
      <p:sp>
        <p:nvSpPr>
          <p:cNvPr id="22" name="Shape 17"/>
          <p:cNvSpPr/>
          <p:nvPr/>
        </p:nvSpPr>
        <p:spPr>
          <a:xfrm>
            <a:off x="7322332" y="2011680"/>
            <a:ext cx="2050633" cy="2286000"/>
          </a:xfrm>
          <a:prstGeom prst="roundRect">
            <a:avLst>
              <a:gd name="adj" fmla="val 4459"/>
            </a:avLst>
          </a:prstGeom>
          <a:solidFill>
            <a:srgbClr val="FFFFFF"/>
          </a:solidFill>
          <a:ln w="12700">
            <a:solidFill>
              <a:srgbClr val="E3E4F2"/>
            </a:solidFill>
            <a:prstDash val="solid"/>
          </a:ln>
          <a:effectLst>
            <a:outerShdw blurRad="101600" dist="508" dir="5400000" algn="bl" rotWithShape="0">
              <a:srgbClr val="1B1A4A">
                <a:alpha val="8000"/>
              </a:srgbClr>
            </a:outerShdw>
          </a:effectLst>
        </p:spPr>
        <p:txBody>
          <a:bodyPr/>
          <a:lstStyle/>
          <a:p>
            <a:endParaRPr lang="en-US"/>
          </a:p>
        </p:txBody>
      </p:sp>
      <p:sp>
        <p:nvSpPr>
          <p:cNvPr id="23" name="Shape 18"/>
          <p:cNvSpPr/>
          <p:nvPr/>
        </p:nvSpPr>
        <p:spPr>
          <a:xfrm>
            <a:off x="7541788" y="2212848"/>
            <a:ext cx="402336" cy="402336"/>
          </a:xfrm>
          <a:prstGeom prst="ellipse">
            <a:avLst/>
          </a:prstGeom>
          <a:solidFill>
            <a:srgbClr val="5B4BE8"/>
          </a:solidFill>
          <a:ln w="12700">
            <a:solidFill>
              <a:srgbClr val="5B4BE8"/>
            </a:solidFill>
            <a:prstDash val="solid"/>
          </a:ln>
        </p:spPr>
        <p:txBody>
          <a:bodyPr/>
          <a:lstStyle/>
          <a:p>
            <a:endParaRPr lang="en-US"/>
          </a:p>
        </p:txBody>
      </p:sp>
      <p:pic>
        <p:nvPicPr>
          <p:cNvPr id="24" name="Image 3" descr="preencoded.png"/>
          <p:cNvPicPr>
            <a:picLocks noChangeAspect="1"/>
          </p:cNvPicPr>
          <p:nvPr/>
        </p:nvPicPr>
        <p:blipFill>
          <a:blip r:embed="rId6"/>
          <a:stretch>
            <a:fillRect/>
          </a:stretch>
        </p:blipFill>
        <p:spPr>
          <a:xfrm>
            <a:off x="7642372" y="2313432"/>
            <a:ext cx="201168" cy="201168"/>
          </a:xfrm>
          <a:prstGeom prst="rect">
            <a:avLst/>
          </a:prstGeom>
        </p:spPr>
      </p:pic>
      <p:sp>
        <p:nvSpPr>
          <p:cNvPr id="25" name="Text 19"/>
          <p:cNvSpPr/>
          <p:nvPr/>
        </p:nvSpPr>
        <p:spPr>
          <a:xfrm>
            <a:off x="7541788" y="2743200"/>
            <a:ext cx="1611721" cy="292608"/>
          </a:xfrm>
          <a:prstGeom prst="rect">
            <a:avLst/>
          </a:prstGeom>
          <a:noFill/>
          <a:ln/>
        </p:spPr>
        <p:txBody>
          <a:bodyPr wrap="square" lIns="0" tIns="0" rIns="0" bIns="0" rtlCol="0" anchor="ctr"/>
          <a:lstStyle/>
          <a:p>
            <a:pPr marL="0" indent="0">
              <a:buNone/>
            </a:pPr>
            <a:r>
              <a:rPr lang="en-US" sz="1550" b="1" dirty="0">
                <a:solidFill>
                  <a:srgbClr val="141235"/>
                </a:solidFill>
                <a:latin typeface="Calibri" pitchFamily="34" charset="0"/>
                <a:ea typeface="Calibri" pitchFamily="34" charset="-122"/>
                <a:cs typeface="Calibri" pitchFamily="34" charset="-120"/>
              </a:rPr>
              <a:t>Re-retrieve</a:t>
            </a:r>
            <a:endParaRPr lang="en-US" sz="1550" dirty="0"/>
          </a:p>
        </p:txBody>
      </p:sp>
      <p:sp>
        <p:nvSpPr>
          <p:cNvPr id="26" name="Text 20"/>
          <p:cNvSpPr/>
          <p:nvPr/>
        </p:nvSpPr>
        <p:spPr>
          <a:xfrm>
            <a:off x="7541788" y="3108960"/>
            <a:ext cx="1611721" cy="1005840"/>
          </a:xfrm>
          <a:prstGeom prst="rect">
            <a:avLst/>
          </a:prstGeom>
          <a:noFill/>
          <a:ln/>
        </p:spPr>
        <p:txBody>
          <a:bodyPr wrap="square" lIns="0" tIns="0" rIns="0" bIns="0" rtlCol="0" anchor="t"/>
          <a:lstStyle/>
          <a:p>
            <a:pPr marL="0" indent="0">
              <a:lnSpc>
                <a:spcPct val="114000"/>
              </a:lnSpc>
              <a:buNone/>
            </a:pPr>
            <a:r>
              <a:rPr lang="en-US" sz="1150" dirty="0">
                <a:solidFill>
                  <a:srgbClr val="6E6B8A"/>
                </a:solidFill>
                <a:latin typeface="Calibri" pitchFamily="34" charset="0"/>
                <a:ea typeface="Calibri" pitchFamily="34" charset="-122"/>
                <a:cs typeface="Calibri" pitchFamily="34" charset="-120"/>
              </a:rPr>
              <a:t>If not, try differently — new terms, a different sub-question.</a:t>
            </a:r>
            <a:endParaRPr lang="en-US" sz="1150" dirty="0"/>
          </a:p>
        </p:txBody>
      </p:sp>
      <p:sp>
        <p:nvSpPr>
          <p:cNvPr id="27" name="Shape 21"/>
          <p:cNvSpPr/>
          <p:nvPr/>
        </p:nvSpPr>
        <p:spPr>
          <a:xfrm>
            <a:off x="9391254" y="3127248"/>
            <a:ext cx="155448" cy="0"/>
          </a:xfrm>
          <a:prstGeom prst="line">
            <a:avLst/>
          </a:prstGeom>
          <a:noFill/>
          <a:ln w="25400">
            <a:solidFill>
              <a:srgbClr val="8E82F5"/>
            </a:solidFill>
            <a:prstDash val="solid"/>
            <a:headEnd type="none"/>
            <a:tailEnd type="triangle"/>
          </a:ln>
        </p:spPr>
        <p:txBody>
          <a:bodyPr/>
          <a:lstStyle/>
          <a:p>
            <a:endParaRPr lang="en-US"/>
          </a:p>
        </p:txBody>
      </p:sp>
      <p:sp>
        <p:nvSpPr>
          <p:cNvPr id="28" name="Shape 22"/>
          <p:cNvSpPr/>
          <p:nvPr/>
        </p:nvSpPr>
        <p:spPr>
          <a:xfrm>
            <a:off x="9574134" y="2011680"/>
            <a:ext cx="2050633" cy="2286000"/>
          </a:xfrm>
          <a:prstGeom prst="roundRect">
            <a:avLst>
              <a:gd name="adj" fmla="val 4459"/>
            </a:avLst>
          </a:prstGeom>
          <a:solidFill>
            <a:srgbClr val="FFFFFF"/>
          </a:solidFill>
          <a:ln w="12700">
            <a:solidFill>
              <a:srgbClr val="E3E4F2"/>
            </a:solidFill>
            <a:prstDash val="solid"/>
          </a:ln>
          <a:effectLst>
            <a:outerShdw blurRad="101600" dist="508" dir="5400000" algn="bl" rotWithShape="0">
              <a:srgbClr val="1B1A4A">
                <a:alpha val="8000"/>
              </a:srgbClr>
            </a:outerShdw>
          </a:effectLst>
        </p:spPr>
        <p:txBody>
          <a:bodyPr/>
          <a:lstStyle/>
          <a:p>
            <a:endParaRPr lang="en-US"/>
          </a:p>
        </p:txBody>
      </p:sp>
      <p:sp>
        <p:nvSpPr>
          <p:cNvPr id="29" name="Shape 23"/>
          <p:cNvSpPr/>
          <p:nvPr/>
        </p:nvSpPr>
        <p:spPr>
          <a:xfrm>
            <a:off x="9793590" y="2212848"/>
            <a:ext cx="402336" cy="402336"/>
          </a:xfrm>
          <a:prstGeom prst="ellipse">
            <a:avLst/>
          </a:prstGeom>
          <a:solidFill>
            <a:srgbClr val="5B4BE8"/>
          </a:solidFill>
          <a:ln w="12700">
            <a:solidFill>
              <a:srgbClr val="5B4BE8"/>
            </a:solidFill>
            <a:prstDash val="solid"/>
          </a:ln>
        </p:spPr>
        <p:txBody>
          <a:bodyPr/>
          <a:lstStyle/>
          <a:p>
            <a:endParaRPr lang="en-US"/>
          </a:p>
        </p:txBody>
      </p:sp>
      <p:pic>
        <p:nvPicPr>
          <p:cNvPr id="30" name="Image 4" descr="preencoded.png"/>
          <p:cNvPicPr>
            <a:picLocks noChangeAspect="1"/>
          </p:cNvPicPr>
          <p:nvPr/>
        </p:nvPicPr>
        <p:blipFill>
          <a:blip r:embed="rId7"/>
          <a:stretch>
            <a:fillRect/>
          </a:stretch>
        </p:blipFill>
        <p:spPr>
          <a:xfrm>
            <a:off x="9894174" y="2313432"/>
            <a:ext cx="201168" cy="201168"/>
          </a:xfrm>
          <a:prstGeom prst="rect">
            <a:avLst/>
          </a:prstGeom>
        </p:spPr>
      </p:pic>
      <p:sp>
        <p:nvSpPr>
          <p:cNvPr id="31" name="Text 24"/>
          <p:cNvSpPr/>
          <p:nvPr/>
        </p:nvSpPr>
        <p:spPr>
          <a:xfrm>
            <a:off x="9793590" y="2743200"/>
            <a:ext cx="1611721" cy="292608"/>
          </a:xfrm>
          <a:prstGeom prst="rect">
            <a:avLst/>
          </a:prstGeom>
          <a:noFill/>
          <a:ln/>
        </p:spPr>
        <p:txBody>
          <a:bodyPr wrap="square" lIns="0" tIns="0" rIns="0" bIns="0" rtlCol="0" anchor="ctr"/>
          <a:lstStyle/>
          <a:p>
            <a:pPr marL="0" indent="0">
              <a:buNone/>
            </a:pPr>
            <a:r>
              <a:rPr lang="en-US" sz="1550" b="1" dirty="0">
                <a:solidFill>
                  <a:srgbClr val="141235"/>
                </a:solidFill>
                <a:latin typeface="Calibri" pitchFamily="34" charset="0"/>
                <a:ea typeface="Calibri" pitchFamily="34" charset="-122"/>
                <a:cs typeface="Calibri" pitchFamily="34" charset="-120"/>
              </a:rPr>
              <a:t>Cite</a:t>
            </a:r>
            <a:endParaRPr lang="en-US" sz="1550" dirty="0"/>
          </a:p>
        </p:txBody>
      </p:sp>
      <p:sp>
        <p:nvSpPr>
          <p:cNvPr id="32" name="Text 25"/>
          <p:cNvSpPr/>
          <p:nvPr/>
        </p:nvSpPr>
        <p:spPr>
          <a:xfrm>
            <a:off x="9793590" y="3108960"/>
            <a:ext cx="1611721" cy="1005840"/>
          </a:xfrm>
          <a:prstGeom prst="rect">
            <a:avLst/>
          </a:prstGeom>
          <a:noFill/>
          <a:ln/>
        </p:spPr>
        <p:txBody>
          <a:bodyPr wrap="square" lIns="0" tIns="0" rIns="0" bIns="0" rtlCol="0" anchor="t"/>
          <a:lstStyle/>
          <a:p>
            <a:pPr marL="0" indent="0">
              <a:lnSpc>
                <a:spcPct val="114000"/>
              </a:lnSpc>
              <a:buNone/>
            </a:pPr>
            <a:r>
              <a:rPr lang="en-US" sz="1150" dirty="0">
                <a:solidFill>
                  <a:srgbClr val="6E6B8A"/>
                </a:solidFill>
                <a:latin typeface="Calibri" pitchFamily="34" charset="0"/>
                <a:ea typeface="Calibri" pitchFamily="34" charset="-122"/>
                <a:cs typeface="Calibri" pitchFamily="34" charset="-120"/>
              </a:rPr>
              <a:t>Answer with the passages, so a human can check the work.</a:t>
            </a:r>
            <a:endParaRPr lang="en-US" sz="1150" dirty="0"/>
          </a:p>
        </p:txBody>
      </p:sp>
      <p:sp>
        <p:nvSpPr>
          <p:cNvPr id="33" name="Shape 26"/>
          <p:cNvSpPr/>
          <p:nvPr/>
        </p:nvSpPr>
        <p:spPr>
          <a:xfrm>
            <a:off x="8347649" y="4480560"/>
            <a:ext cx="0" cy="0"/>
          </a:xfrm>
          <a:prstGeom prst="line">
            <a:avLst/>
          </a:prstGeom>
          <a:noFill/>
          <a:ln w="25400">
            <a:solidFill>
              <a:srgbClr val="E08700"/>
            </a:solidFill>
            <a:prstDash val="dash"/>
            <a:headEnd type="none"/>
            <a:tailEnd type="triangle"/>
          </a:ln>
        </p:spPr>
        <p:txBody>
          <a:bodyPr/>
          <a:lstStyle/>
          <a:p>
            <a:endParaRPr lang="en-US"/>
          </a:p>
        </p:txBody>
      </p:sp>
      <p:sp>
        <p:nvSpPr>
          <p:cNvPr id="34" name="Text 27"/>
          <p:cNvSpPr/>
          <p:nvPr/>
        </p:nvSpPr>
        <p:spPr>
          <a:xfrm>
            <a:off x="2617561" y="4517136"/>
            <a:ext cx="4101267" cy="219456"/>
          </a:xfrm>
          <a:prstGeom prst="rect">
            <a:avLst/>
          </a:prstGeom>
          <a:noFill/>
          <a:ln/>
        </p:spPr>
        <p:txBody>
          <a:bodyPr wrap="square" lIns="0" tIns="0" rIns="0" bIns="0" rtlCol="0" anchor="ctr"/>
          <a:lstStyle/>
          <a:p>
            <a:pPr marL="0" indent="0" algn="ctr">
              <a:buNone/>
            </a:pPr>
            <a:r>
              <a:rPr lang="en-US" sz="1000" b="1" i="1" dirty="0">
                <a:solidFill>
                  <a:srgbClr val="E08700"/>
                </a:solidFill>
                <a:latin typeface="Calibri" pitchFamily="34" charset="0"/>
                <a:ea typeface="Calibri" pitchFamily="34" charset="-122"/>
                <a:cs typeface="Calibri" pitchFamily="34" charset="-120"/>
              </a:rPr>
              <a:t>if the answer is not good enough, go round again</a:t>
            </a:r>
            <a:endParaRPr lang="en-US" sz="1000" dirty="0"/>
          </a:p>
        </p:txBody>
      </p:sp>
      <p:sp>
        <p:nvSpPr>
          <p:cNvPr id="35" name="Shape 28"/>
          <p:cNvSpPr/>
          <p:nvPr/>
        </p:nvSpPr>
        <p:spPr>
          <a:xfrm>
            <a:off x="566928" y="5029200"/>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36" name="Shape 29"/>
          <p:cNvSpPr/>
          <p:nvPr/>
        </p:nvSpPr>
        <p:spPr>
          <a:xfrm>
            <a:off x="841248" y="5248656"/>
            <a:ext cx="384048" cy="384048"/>
          </a:xfrm>
          <a:prstGeom prst="ellipse">
            <a:avLst/>
          </a:prstGeom>
          <a:solidFill>
            <a:srgbClr val="F5A524"/>
          </a:solidFill>
          <a:ln w="12700">
            <a:solidFill>
              <a:srgbClr val="F5A524"/>
            </a:solidFill>
            <a:prstDash val="solid"/>
          </a:ln>
        </p:spPr>
        <p:txBody>
          <a:bodyPr/>
          <a:lstStyle/>
          <a:p>
            <a:endParaRPr lang="en-US"/>
          </a:p>
        </p:txBody>
      </p:sp>
      <p:pic>
        <p:nvPicPr>
          <p:cNvPr id="37" name="Image 5" descr="preencoded.png"/>
          <p:cNvPicPr>
            <a:picLocks noChangeAspect="1"/>
          </p:cNvPicPr>
          <p:nvPr/>
        </p:nvPicPr>
        <p:blipFill>
          <a:blip r:embed="rId8"/>
          <a:stretch>
            <a:fillRect/>
          </a:stretch>
        </p:blipFill>
        <p:spPr>
          <a:xfrm>
            <a:off x="937260" y="5344668"/>
            <a:ext cx="192024" cy="192024"/>
          </a:xfrm>
          <a:prstGeom prst="rect">
            <a:avLst/>
          </a:prstGeom>
        </p:spPr>
      </p:pic>
      <p:sp>
        <p:nvSpPr>
          <p:cNvPr id="38" name="Text 30"/>
          <p:cNvSpPr/>
          <p:nvPr/>
        </p:nvSpPr>
        <p:spPr>
          <a:xfrm>
            <a:off x="1371600" y="5084064"/>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Instead of searching once and hoping, it checks its own work and searches again. That is the entire difference — and it is why it costs more.</a:t>
            </a:r>
            <a:endParaRPr lang="en-US" sz="1050" dirty="0"/>
          </a:p>
        </p:txBody>
      </p:sp>
      <p:sp>
        <p:nvSpPr>
          <p:cNvPr id="39" name="Text 31"/>
          <p:cNvSpPr/>
          <p:nvPr/>
        </p:nvSpPr>
        <p:spPr>
          <a:xfrm>
            <a:off x="566928" y="5943600"/>
            <a:ext cx="11057839" cy="256032"/>
          </a:xfrm>
          <a:prstGeom prst="rect">
            <a:avLst/>
          </a:prstGeom>
          <a:noFill/>
          <a:ln/>
        </p:spPr>
        <p:txBody>
          <a:bodyPr wrap="square" lIns="0" tIns="0" rIns="0" bIns="0" rtlCol="0" anchor="ctr"/>
          <a:lstStyle/>
          <a:p>
            <a:pPr marL="0" indent="0">
              <a:buNone/>
            </a:pPr>
            <a:r>
              <a:rPr lang="en-US" sz="950" i="1" dirty="0">
                <a:solidFill>
                  <a:srgbClr val="9B98B4"/>
                </a:solidFill>
                <a:latin typeface="Calibri" pitchFamily="34" charset="0"/>
                <a:ea typeface="Calibri" pitchFamily="34" charset="-122"/>
                <a:cs typeface="Calibri" pitchFamily="34" charset="-120"/>
              </a:rPr>
              <a:t>Cost note: this loop runs the retrieval and the model several times per question. Module 15 is where you find out whether it earned that.</a:t>
            </a:r>
            <a:endParaRPr lang="en-US" sz="95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12 · AGENTIC RAG</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2800" b="1" dirty="0">
                <a:solidFill>
                  <a:srgbClr val="141235"/>
                </a:solidFill>
                <a:latin typeface="Cambria" pitchFamily="34" charset="0"/>
                <a:ea typeface="Cambria" pitchFamily="34" charset="-122"/>
                <a:cs typeface="Cambria" pitchFamily="34" charset="-120"/>
              </a:rPr>
              <a:t>Measured against a naive baseline, on the same questions</a:t>
            </a:r>
            <a:endParaRPr lang="en-US" sz="2800" dirty="0"/>
          </a:p>
        </p:txBody>
      </p:sp>
      <p:sp>
        <p:nvSpPr>
          <p:cNvPr id="4" name="Shape 2"/>
          <p:cNvSpPr/>
          <p:nvPr/>
        </p:nvSpPr>
        <p:spPr>
          <a:xfrm>
            <a:off x="566928" y="2407981"/>
            <a:ext cx="3527450" cy="2096902"/>
          </a:xfrm>
          <a:prstGeom prst="roundRect">
            <a:avLst>
              <a:gd name="adj" fmla="val 3925"/>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5" name="Shape 3"/>
          <p:cNvSpPr/>
          <p:nvPr/>
        </p:nvSpPr>
        <p:spPr>
          <a:xfrm>
            <a:off x="804672" y="2627437"/>
            <a:ext cx="365760" cy="365760"/>
          </a:xfrm>
          <a:prstGeom prst="ellipse">
            <a:avLst/>
          </a:prstGeom>
          <a:solidFill>
            <a:srgbClr val="5B4BE8"/>
          </a:solidFill>
          <a:ln w="12700">
            <a:solidFill>
              <a:srgbClr val="5B4BE8"/>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896112" y="2718877"/>
            <a:ext cx="182880" cy="182880"/>
          </a:xfrm>
          <a:prstGeom prst="rect">
            <a:avLst/>
          </a:prstGeom>
        </p:spPr>
      </p:pic>
      <p:sp>
        <p:nvSpPr>
          <p:cNvPr id="7" name="Text 4"/>
          <p:cNvSpPr/>
          <p:nvPr/>
        </p:nvSpPr>
        <p:spPr>
          <a:xfrm>
            <a:off x="1298448" y="2618293"/>
            <a:ext cx="2558186"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THE SETUP</a:t>
            </a:r>
            <a:endParaRPr lang="en-US" sz="850" dirty="0"/>
          </a:p>
        </p:txBody>
      </p:sp>
      <p:sp>
        <p:nvSpPr>
          <p:cNvPr id="8" name="Text 5"/>
          <p:cNvSpPr/>
          <p:nvPr/>
        </p:nvSpPr>
        <p:spPr>
          <a:xfrm>
            <a:off x="1298448" y="2837749"/>
            <a:ext cx="2558186" cy="622158"/>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Same five questions, two pipelines</a:t>
            </a:r>
            <a:endParaRPr lang="en-US" sz="1450" dirty="0"/>
          </a:p>
        </p:txBody>
      </p:sp>
      <p:sp>
        <p:nvSpPr>
          <p:cNvPr id="9" name="Text 6"/>
          <p:cNvSpPr/>
          <p:nvPr/>
        </p:nvSpPr>
        <p:spPr>
          <a:xfrm>
            <a:off x="1298448" y="3469051"/>
            <a:ext cx="2558186" cy="852952"/>
          </a:xfrm>
          <a:prstGeom prst="rect">
            <a:avLst/>
          </a:prstGeom>
          <a:noFill/>
          <a:ln/>
        </p:spPr>
        <p:txBody>
          <a:bodyPr wrap="square" lIns="0" tIns="0" rIns="0" bIns="0" rtlCol="0" anchor="t"/>
          <a:lstStyle/>
          <a:p>
            <a:pPr marL="0" indent="0">
              <a:lnSpc>
                <a:spcPct val="113000"/>
              </a:lnSpc>
              <a:buNone/>
            </a:pPr>
            <a:r>
              <a:rPr lang="en-US" sz="1200" dirty="0">
                <a:solidFill>
                  <a:srgbClr val="6E6B8A"/>
                </a:solidFill>
                <a:latin typeface="Calibri" pitchFamily="34" charset="0"/>
                <a:ea typeface="Calibri" pitchFamily="34" charset="-122"/>
                <a:cs typeface="Calibri" pitchFamily="34" charset="-120"/>
              </a:rPr>
              <a:t>One retrieval pass versus the full loop, over an identical corpus. No cherry-picking, no different prompts.</a:t>
            </a:r>
            <a:endParaRPr lang="en-US" sz="1200" dirty="0"/>
          </a:p>
        </p:txBody>
      </p:sp>
      <p:sp>
        <p:nvSpPr>
          <p:cNvPr id="10" name="Shape 7"/>
          <p:cNvSpPr/>
          <p:nvPr/>
        </p:nvSpPr>
        <p:spPr>
          <a:xfrm>
            <a:off x="4332122" y="2407981"/>
            <a:ext cx="3527450" cy="2096902"/>
          </a:xfrm>
          <a:prstGeom prst="roundRect">
            <a:avLst>
              <a:gd name="adj" fmla="val 3925"/>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1" name="Shape 8"/>
          <p:cNvSpPr/>
          <p:nvPr/>
        </p:nvSpPr>
        <p:spPr>
          <a:xfrm>
            <a:off x="4569866" y="2627437"/>
            <a:ext cx="365760" cy="365760"/>
          </a:xfrm>
          <a:prstGeom prst="ellipse">
            <a:avLst/>
          </a:prstGeom>
          <a:solidFill>
            <a:srgbClr val="5B4BE8"/>
          </a:solidFill>
          <a:ln w="12700">
            <a:solidFill>
              <a:srgbClr val="5B4BE8"/>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4661306" y="2718877"/>
            <a:ext cx="182880" cy="182880"/>
          </a:xfrm>
          <a:prstGeom prst="rect">
            <a:avLst/>
          </a:prstGeom>
        </p:spPr>
      </p:pic>
      <p:sp>
        <p:nvSpPr>
          <p:cNvPr id="13" name="Text 9"/>
          <p:cNvSpPr/>
          <p:nvPr/>
        </p:nvSpPr>
        <p:spPr>
          <a:xfrm>
            <a:off x="5063642" y="2618293"/>
            <a:ext cx="2558186"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THE TRAP</a:t>
            </a:r>
            <a:endParaRPr lang="en-US" sz="850" dirty="0"/>
          </a:p>
        </p:txBody>
      </p:sp>
      <p:sp>
        <p:nvSpPr>
          <p:cNvPr id="14" name="Text 10"/>
          <p:cNvSpPr/>
          <p:nvPr/>
        </p:nvSpPr>
        <p:spPr>
          <a:xfrm>
            <a:off x="5063642" y="2837749"/>
            <a:ext cx="2558186" cy="622158"/>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Two are unanswerable on purpose</a:t>
            </a:r>
            <a:endParaRPr lang="en-US" sz="1450" dirty="0"/>
          </a:p>
        </p:txBody>
      </p:sp>
      <p:sp>
        <p:nvSpPr>
          <p:cNvPr id="15" name="Text 11"/>
          <p:cNvSpPr/>
          <p:nvPr/>
        </p:nvSpPr>
        <p:spPr>
          <a:xfrm>
            <a:off x="5063642" y="3469051"/>
            <a:ext cx="2558186" cy="852952"/>
          </a:xfrm>
          <a:prstGeom prst="rect">
            <a:avLst/>
          </a:prstGeom>
          <a:noFill/>
          <a:ln/>
        </p:spPr>
        <p:txBody>
          <a:bodyPr wrap="square" lIns="0" tIns="0" rIns="0" bIns="0" rtlCol="0" anchor="t"/>
          <a:lstStyle/>
          <a:p>
            <a:pPr marL="0" indent="0">
              <a:lnSpc>
                <a:spcPct val="113000"/>
              </a:lnSpc>
              <a:buNone/>
            </a:pPr>
            <a:r>
              <a:rPr lang="en-US" sz="1200" dirty="0">
                <a:solidFill>
                  <a:srgbClr val="6E6B8A"/>
                </a:solidFill>
                <a:latin typeface="Calibri" pitchFamily="34" charset="0"/>
                <a:ea typeface="Calibri" pitchFamily="34" charset="-122"/>
                <a:cs typeface="Calibri" pitchFamily="34" charset="-120"/>
              </a:rPr>
              <a:t>The corpus simply does not contain the answer. This is the only way to find out whether a system will admit that.</a:t>
            </a:r>
            <a:endParaRPr lang="en-US" sz="1200" dirty="0"/>
          </a:p>
        </p:txBody>
      </p:sp>
      <p:sp>
        <p:nvSpPr>
          <p:cNvPr id="16" name="Shape 12"/>
          <p:cNvSpPr/>
          <p:nvPr/>
        </p:nvSpPr>
        <p:spPr>
          <a:xfrm>
            <a:off x="8097317" y="2407981"/>
            <a:ext cx="3527450" cy="2096902"/>
          </a:xfrm>
          <a:prstGeom prst="roundRect">
            <a:avLst>
              <a:gd name="adj" fmla="val 3925"/>
            </a:avLst>
          </a:prstGeom>
          <a:solidFill>
            <a:srgbClr val="E7F7F1"/>
          </a:solidFill>
          <a:ln w="12700">
            <a:solidFill>
              <a:srgbClr val="C2E6D7"/>
            </a:solidFill>
            <a:prstDash val="solid"/>
          </a:ln>
          <a:effectLst>
            <a:outerShdw blurRad="114300" dist="572" dir="5400000" algn="bl" rotWithShape="0">
              <a:srgbClr val="1B1A4A">
                <a:alpha val="7000"/>
              </a:srgbClr>
            </a:outerShdw>
          </a:effectLst>
        </p:spPr>
        <p:txBody>
          <a:bodyPr/>
          <a:lstStyle/>
          <a:p>
            <a:endParaRPr lang="en-US"/>
          </a:p>
        </p:txBody>
      </p:sp>
      <p:sp>
        <p:nvSpPr>
          <p:cNvPr id="17" name="Shape 13"/>
          <p:cNvSpPr/>
          <p:nvPr/>
        </p:nvSpPr>
        <p:spPr>
          <a:xfrm>
            <a:off x="8335061" y="2627437"/>
            <a:ext cx="365760" cy="365760"/>
          </a:xfrm>
          <a:prstGeom prst="ellipse">
            <a:avLst/>
          </a:prstGeom>
          <a:solidFill>
            <a:srgbClr val="0E9F6E"/>
          </a:solidFill>
          <a:ln w="12700">
            <a:solidFill>
              <a:srgbClr val="0E9F6E"/>
            </a:solidFill>
            <a:prstDash val="solid"/>
          </a:ln>
        </p:spPr>
        <p:txBody>
          <a:bodyPr/>
          <a:lstStyle/>
          <a:p>
            <a:endParaRPr lang="en-US"/>
          </a:p>
        </p:txBody>
      </p:sp>
      <p:pic>
        <p:nvPicPr>
          <p:cNvPr id="18" name="Image 2" descr="preencoded.png"/>
          <p:cNvPicPr>
            <a:picLocks noChangeAspect="1"/>
          </p:cNvPicPr>
          <p:nvPr/>
        </p:nvPicPr>
        <p:blipFill>
          <a:blip r:embed="rId5"/>
          <a:stretch>
            <a:fillRect/>
          </a:stretch>
        </p:blipFill>
        <p:spPr>
          <a:xfrm>
            <a:off x="8426501" y="2718877"/>
            <a:ext cx="182880" cy="182880"/>
          </a:xfrm>
          <a:prstGeom prst="rect">
            <a:avLst/>
          </a:prstGeom>
        </p:spPr>
      </p:pic>
      <p:sp>
        <p:nvSpPr>
          <p:cNvPr id="19" name="Text 14"/>
          <p:cNvSpPr/>
          <p:nvPr/>
        </p:nvSpPr>
        <p:spPr>
          <a:xfrm>
            <a:off x="8828837" y="2618293"/>
            <a:ext cx="2558186"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THE RESULT THAT MATTERS</a:t>
            </a:r>
            <a:endParaRPr lang="en-US" sz="850" dirty="0"/>
          </a:p>
        </p:txBody>
      </p:sp>
      <p:sp>
        <p:nvSpPr>
          <p:cNvPr id="20" name="Text 15"/>
          <p:cNvSpPr/>
          <p:nvPr/>
        </p:nvSpPr>
        <p:spPr>
          <a:xfrm>
            <a:off x="8828837" y="2837749"/>
            <a:ext cx="2558186" cy="338511"/>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Not accuracy — honesty</a:t>
            </a:r>
            <a:endParaRPr lang="en-US" sz="1450" dirty="0"/>
          </a:p>
        </p:txBody>
      </p:sp>
      <p:sp>
        <p:nvSpPr>
          <p:cNvPr id="21" name="Text 16"/>
          <p:cNvSpPr/>
          <p:nvPr/>
        </p:nvSpPr>
        <p:spPr>
          <a:xfrm>
            <a:off x="8828837" y="3185404"/>
            <a:ext cx="2558186" cy="1136599"/>
          </a:xfrm>
          <a:prstGeom prst="rect">
            <a:avLst/>
          </a:prstGeom>
          <a:noFill/>
          <a:ln/>
        </p:spPr>
        <p:txBody>
          <a:bodyPr wrap="square" lIns="0" tIns="0" rIns="0" bIns="0" rtlCol="0" anchor="t"/>
          <a:lstStyle/>
          <a:p>
            <a:pPr marL="0" indent="0">
              <a:lnSpc>
                <a:spcPct val="113000"/>
              </a:lnSpc>
              <a:buNone/>
            </a:pPr>
            <a:r>
              <a:rPr lang="en-US" sz="1200" dirty="0">
                <a:solidFill>
                  <a:srgbClr val="6E6B8A"/>
                </a:solidFill>
                <a:latin typeface="Calibri" pitchFamily="34" charset="0"/>
                <a:ea typeface="Calibri" pitchFamily="34" charset="-122"/>
                <a:cs typeface="Calibri" pitchFamily="34" charset="-120"/>
              </a:rPr>
              <a:t>The interesting number is not how many it got right. It is whether it said “I don't know” when that was the correct answer.</a:t>
            </a:r>
            <a:endParaRPr lang="en-US" sz="1200" dirty="0"/>
          </a:p>
        </p:txBody>
      </p:sp>
      <p:sp>
        <p:nvSpPr>
          <p:cNvPr id="22" name="Text 17"/>
          <p:cNvSpPr/>
          <p:nvPr/>
        </p:nvSpPr>
        <p:spPr>
          <a:xfrm>
            <a:off x="566928" y="5029200"/>
            <a:ext cx="11057839" cy="329184"/>
          </a:xfrm>
          <a:prstGeom prst="rect">
            <a:avLst/>
          </a:prstGeom>
          <a:noFill/>
          <a:ln/>
        </p:spPr>
        <p:txBody>
          <a:bodyPr wrap="square" lIns="0" tIns="0" rIns="0" bIns="0" rtlCol="0" anchor="ctr"/>
          <a:lstStyle/>
          <a:p>
            <a:pPr marL="0" indent="0">
              <a:buNone/>
            </a:pPr>
            <a:r>
              <a:rPr lang="en-US" sz="1350" i="1" dirty="0">
                <a:solidFill>
                  <a:srgbClr val="3B3760"/>
                </a:solidFill>
                <a:latin typeface="Calibri" pitchFamily="34" charset="0"/>
                <a:ea typeface="Calibri" pitchFamily="34" charset="-122"/>
                <a:cs typeface="Calibri" pitchFamily="34" charset="-120"/>
              </a:rPr>
              <a:t>An agent that confidently answers an unanswerable question is worse than one that answers nothing at all — because you cannot tell the two apart at a glance.</a:t>
            </a:r>
            <a:endParaRPr lang="en-US" sz="1350" dirty="0"/>
          </a:p>
        </p:txBody>
      </p:sp>
      <p:sp>
        <p:nvSpPr>
          <p:cNvPr id="23" name="Shape 18"/>
          <p:cNvSpPr/>
          <p:nvPr/>
        </p:nvSpPr>
        <p:spPr>
          <a:xfrm>
            <a:off x="566928" y="5468112"/>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24" name="Shape 19"/>
          <p:cNvSpPr/>
          <p:nvPr/>
        </p:nvSpPr>
        <p:spPr>
          <a:xfrm>
            <a:off x="841248" y="5687568"/>
            <a:ext cx="384048" cy="384048"/>
          </a:xfrm>
          <a:prstGeom prst="ellipse">
            <a:avLst/>
          </a:prstGeom>
          <a:solidFill>
            <a:srgbClr val="F5A524"/>
          </a:solidFill>
          <a:ln w="12700">
            <a:solidFill>
              <a:srgbClr val="F5A524"/>
            </a:solidFill>
            <a:prstDash val="solid"/>
          </a:ln>
        </p:spPr>
        <p:txBody>
          <a:bodyPr/>
          <a:lstStyle/>
          <a:p>
            <a:endParaRPr lang="en-US"/>
          </a:p>
        </p:txBody>
      </p:sp>
      <p:pic>
        <p:nvPicPr>
          <p:cNvPr id="25" name="Image 3" descr="preencoded.png"/>
          <p:cNvPicPr>
            <a:picLocks noChangeAspect="1"/>
          </p:cNvPicPr>
          <p:nvPr/>
        </p:nvPicPr>
        <p:blipFill>
          <a:blip r:embed="rId6"/>
          <a:stretch>
            <a:fillRect/>
          </a:stretch>
        </p:blipFill>
        <p:spPr>
          <a:xfrm>
            <a:off x="937260" y="5783580"/>
            <a:ext cx="192024" cy="192024"/>
          </a:xfrm>
          <a:prstGeom prst="rect">
            <a:avLst/>
          </a:prstGeom>
        </p:spPr>
      </p:pic>
      <p:sp>
        <p:nvSpPr>
          <p:cNvPr id="26" name="Text 20"/>
          <p:cNvSpPr/>
          <p:nvPr/>
        </p:nvSpPr>
        <p:spPr>
          <a:xfrm>
            <a:off x="1371600" y="5522976"/>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Test it on things it cannot know. How a system behaves when it has no answer tells you more than how it behaves when it does.</a:t>
            </a:r>
            <a:endParaRPr lang="en-US" sz="105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12 · AGENTIC RAG</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2600" b="1" dirty="0">
                <a:solidFill>
                  <a:srgbClr val="141235"/>
                </a:solidFill>
                <a:latin typeface="Cambria" pitchFamily="34" charset="0"/>
                <a:ea typeface="Cambria" pitchFamily="34" charset="-122"/>
                <a:cs typeface="Cambria" pitchFamily="34" charset="-120"/>
              </a:rPr>
              <a:t>Every retrieval corpus should carry two things on purpose</a:t>
            </a:r>
            <a:endParaRPr lang="en-US" sz="2600" dirty="0"/>
          </a:p>
        </p:txBody>
      </p:sp>
      <p:sp>
        <p:nvSpPr>
          <p:cNvPr id="4" name="Shape 2"/>
          <p:cNvSpPr/>
          <p:nvPr/>
        </p:nvSpPr>
        <p:spPr>
          <a:xfrm>
            <a:off x="566928" y="2587386"/>
            <a:ext cx="5410048" cy="2195292"/>
          </a:xfrm>
          <a:prstGeom prst="roundRect">
            <a:avLst>
              <a:gd name="adj" fmla="val 3749"/>
            </a:avLst>
          </a:prstGeom>
          <a:solidFill>
            <a:srgbClr val="FFF4E0"/>
          </a:solidFill>
          <a:ln w="12700">
            <a:solidFill>
              <a:srgbClr val="F3DCB0"/>
            </a:solidFill>
            <a:prstDash val="solid"/>
          </a:ln>
          <a:effectLst>
            <a:outerShdw blurRad="114300" dist="572" dir="5400000" algn="bl" rotWithShape="0">
              <a:srgbClr val="1B1A4A">
                <a:alpha val="7000"/>
              </a:srgbClr>
            </a:outerShdw>
          </a:effectLst>
        </p:spPr>
        <p:txBody>
          <a:bodyPr/>
          <a:lstStyle/>
          <a:p>
            <a:endParaRPr lang="en-US"/>
          </a:p>
        </p:txBody>
      </p:sp>
      <p:sp>
        <p:nvSpPr>
          <p:cNvPr id="5" name="Shape 3"/>
          <p:cNvSpPr/>
          <p:nvPr/>
        </p:nvSpPr>
        <p:spPr>
          <a:xfrm>
            <a:off x="804672" y="2806842"/>
            <a:ext cx="365760" cy="365760"/>
          </a:xfrm>
          <a:prstGeom prst="ellipse">
            <a:avLst/>
          </a:prstGeom>
          <a:solidFill>
            <a:srgbClr val="F5A524"/>
          </a:solidFill>
          <a:ln w="12700">
            <a:solidFill>
              <a:srgbClr val="F5A524"/>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896112" y="2898282"/>
            <a:ext cx="182880" cy="182880"/>
          </a:xfrm>
          <a:prstGeom prst="rect">
            <a:avLst/>
          </a:prstGeom>
        </p:spPr>
      </p:pic>
      <p:sp>
        <p:nvSpPr>
          <p:cNvPr id="7" name="Text 4"/>
          <p:cNvSpPr/>
          <p:nvPr/>
        </p:nvSpPr>
        <p:spPr>
          <a:xfrm>
            <a:off x="1298448" y="2797698"/>
            <a:ext cx="4440784"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PLANT 1</a:t>
            </a:r>
            <a:endParaRPr lang="en-US" sz="850" dirty="0"/>
          </a:p>
        </p:txBody>
      </p:sp>
      <p:sp>
        <p:nvSpPr>
          <p:cNvPr id="8" name="Text 5"/>
          <p:cNvSpPr/>
          <p:nvPr/>
        </p:nvSpPr>
        <p:spPr>
          <a:xfrm>
            <a:off x="1298448" y="3017154"/>
            <a:ext cx="4440784" cy="686532"/>
          </a:xfrm>
          <a:prstGeom prst="rect">
            <a:avLst/>
          </a:prstGeom>
          <a:noFill/>
          <a:ln/>
        </p:spPr>
        <p:txBody>
          <a:bodyPr wrap="square" lIns="0" tIns="0" rIns="0" bIns="0" rtlCol="0" anchor="t"/>
          <a:lstStyle/>
          <a:p>
            <a:pPr marL="0" indent="0">
              <a:lnSpc>
                <a:spcPct val="105000"/>
              </a:lnSpc>
              <a:buNone/>
            </a:pPr>
            <a:r>
              <a:rPr lang="en-US" sz="1650" b="1" dirty="0">
                <a:solidFill>
                  <a:srgbClr val="141235"/>
                </a:solidFill>
                <a:latin typeface="Calibri" pitchFamily="34" charset="0"/>
                <a:ea typeface="Calibri" pitchFamily="34" charset="-122"/>
                <a:cs typeface="Calibri" pitchFamily="34" charset="-120"/>
              </a:rPr>
              <a:t>Questions with no answer in the corpus</a:t>
            </a:r>
            <a:endParaRPr lang="en-US" sz="1650" dirty="0"/>
          </a:p>
        </p:txBody>
      </p:sp>
      <p:sp>
        <p:nvSpPr>
          <p:cNvPr id="9" name="Text 6"/>
          <p:cNvSpPr/>
          <p:nvPr/>
        </p:nvSpPr>
        <p:spPr>
          <a:xfrm>
            <a:off x="1298448" y="3712830"/>
            <a:ext cx="4440784" cy="886968"/>
          </a:xfrm>
          <a:prstGeom prst="rect">
            <a:avLst/>
          </a:prstGeom>
          <a:noFill/>
          <a:ln/>
        </p:spPr>
        <p:txBody>
          <a:bodyPr wrap="square" lIns="0" tIns="0" rIns="0" bIns="0" rtlCol="0" anchor="t"/>
          <a:lstStyle/>
          <a:p>
            <a:pPr marL="0" indent="0">
              <a:lnSpc>
                <a:spcPct val="113000"/>
              </a:lnSpc>
              <a:buNone/>
            </a:pPr>
            <a:r>
              <a:rPr lang="en-US" sz="1250" dirty="0">
                <a:solidFill>
                  <a:srgbClr val="6E6B8A"/>
                </a:solidFill>
                <a:latin typeface="Calibri" pitchFamily="34" charset="0"/>
                <a:ea typeface="Calibri" pitchFamily="34" charset="-122"/>
                <a:cs typeface="Calibri" pitchFamily="34" charset="-120"/>
              </a:rPr>
              <a:t>Kept permanently in your test set. The day a change makes the agent start answering them confidently is the day the change broke something — and no accuracy metric would have told you.</a:t>
            </a:r>
            <a:endParaRPr lang="en-US" sz="1250" dirty="0"/>
          </a:p>
        </p:txBody>
      </p:sp>
      <p:sp>
        <p:nvSpPr>
          <p:cNvPr id="10" name="Shape 7"/>
          <p:cNvSpPr/>
          <p:nvPr/>
        </p:nvSpPr>
        <p:spPr>
          <a:xfrm>
            <a:off x="6214720" y="2587386"/>
            <a:ext cx="5410048" cy="2195292"/>
          </a:xfrm>
          <a:prstGeom prst="roundRect">
            <a:avLst>
              <a:gd name="adj" fmla="val 3749"/>
            </a:avLst>
          </a:prstGeom>
          <a:solidFill>
            <a:srgbClr val="FDECEC"/>
          </a:solidFill>
          <a:ln w="12700">
            <a:solidFill>
              <a:srgbClr val="F1C9C9"/>
            </a:solidFill>
            <a:prstDash val="solid"/>
          </a:ln>
          <a:effectLst>
            <a:outerShdw blurRad="114300" dist="572" dir="5400000" algn="bl" rotWithShape="0">
              <a:srgbClr val="1B1A4A">
                <a:alpha val="7000"/>
              </a:srgbClr>
            </a:outerShdw>
          </a:effectLst>
        </p:spPr>
        <p:txBody>
          <a:bodyPr/>
          <a:lstStyle/>
          <a:p>
            <a:endParaRPr lang="en-US"/>
          </a:p>
        </p:txBody>
      </p:sp>
      <p:sp>
        <p:nvSpPr>
          <p:cNvPr id="11" name="Shape 8"/>
          <p:cNvSpPr/>
          <p:nvPr/>
        </p:nvSpPr>
        <p:spPr>
          <a:xfrm>
            <a:off x="6452464" y="2806842"/>
            <a:ext cx="365760" cy="365760"/>
          </a:xfrm>
          <a:prstGeom prst="ellipse">
            <a:avLst/>
          </a:prstGeom>
          <a:solidFill>
            <a:srgbClr val="D93A3F"/>
          </a:solidFill>
          <a:ln w="12700">
            <a:solidFill>
              <a:srgbClr val="D93A3F"/>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6543904" y="2898282"/>
            <a:ext cx="182880" cy="182880"/>
          </a:xfrm>
          <a:prstGeom prst="rect">
            <a:avLst/>
          </a:prstGeom>
        </p:spPr>
      </p:pic>
      <p:sp>
        <p:nvSpPr>
          <p:cNvPr id="13" name="Text 9"/>
          <p:cNvSpPr/>
          <p:nvPr/>
        </p:nvSpPr>
        <p:spPr>
          <a:xfrm>
            <a:off x="6946240" y="2797698"/>
            <a:ext cx="4440784"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PLANT 2</a:t>
            </a:r>
            <a:endParaRPr lang="en-US" sz="850" dirty="0"/>
          </a:p>
        </p:txBody>
      </p:sp>
      <p:sp>
        <p:nvSpPr>
          <p:cNvPr id="14" name="Text 10"/>
          <p:cNvSpPr/>
          <p:nvPr/>
        </p:nvSpPr>
        <p:spPr>
          <a:xfrm>
            <a:off x="6946240" y="3017154"/>
            <a:ext cx="4440784" cy="686532"/>
          </a:xfrm>
          <a:prstGeom prst="rect">
            <a:avLst/>
          </a:prstGeom>
          <a:noFill/>
          <a:ln/>
        </p:spPr>
        <p:txBody>
          <a:bodyPr wrap="square" lIns="0" tIns="0" rIns="0" bIns="0" rtlCol="0" anchor="t"/>
          <a:lstStyle/>
          <a:p>
            <a:pPr marL="0" indent="0">
              <a:lnSpc>
                <a:spcPct val="105000"/>
              </a:lnSpc>
              <a:buNone/>
            </a:pPr>
            <a:r>
              <a:rPr lang="en-US" sz="1650" b="1" dirty="0">
                <a:solidFill>
                  <a:srgbClr val="141235"/>
                </a:solidFill>
                <a:latin typeface="Calibri" pitchFamily="34" charset="0"/>
                <a:ea typeface="Calibri" pitchFamily="34" charset="-122"/>
                <a:cs typeface="Calibri" pitchFamily="34" charset="-120"/>
              </a:rPr>
              <a:t>One document with a hidden instruction</a:t>
            </a:r>
            <a:endParaRPr lang="en-US" sz="1650" dirty="0"/>
          </a:p>
        </p:txBody>
      </p:sp>
      <p:sp>
        <p:nvSpPr>
          <p:cNvPr id="15" name="Text 11"/>
          <p:cNvSpPr/>
          <p:nvPr/>
        </p:nvSpPr>
        <p:spPr>
          <a:xfrm>
            <a:off x="6946240" y="3712830"/>
            <a:ext cx="4440784" cy="886968"/>
          </a:xfrm>
          <a:prstGeom prst="rect">
            <a:avLst/>
          </a:prstGeom>
          <a:noFill/>
          <a:ln/>
        </p:spPr>
        <p:txBody>
          <a:bodyPr wrap="square" lIns="0" tIns="0" rIns="0" bIns="0" rtlCol="0" anchor="t"/>
          <a:lstStyle/>
          <a:p>
            <a:pPr marL="0" indent="0">
              <a:lnSpc>
                <a:spcPct val="113000"/>
              </a:lnSpc>
              <a:buNone/>
            </a:pPr>
            <a:r>
              <a:rPr lang="en-US" sz="1250" dirty="0">
                <a:solidFill>
                  <a:srgbClr val="6E6B8A"/>
                </a:solidFill>
                <a:latin typeface="Calibri" pitchFamily="34" charset="0"/>
                <a:ea typeface="Calibri" pitchFamily="34" charset="-122"/>
                <a:cs typeface="Calibri" pitchFamily="34" charset="-120"/>
              </a:rPr>
              <a:t>Sitting quietly in the corpus, doing nothing. Tomorrow, in module 14, you will watch your own agent read it and obey it — and then you will fix that.</a:t>
            </a:r>
            <a:endParaRPr lang="en-US" sz="1250" dirty="0"/>
          </a:p>
        </p:txBody>
      </p:sp>
      <p:sp>
        <p:nvSpPr>
          <p:cNvPr id="16" name="Shape 12"/>
          <p:cNvSpPr/>
          <p:nvPr/>
        </p:nvSpPr>
        <p:spPr>
          <a:xfrm>
            <a:off x="566928" y="5541264"/>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17" name="Shape 13"/>
          <p:cNvSpPr/>
          <p:nvPr/>
        </p:nvSpPr>
        <p:spPr>
          <a:xfrm>
            <a:off x="841248" y="5760720"/>
            <a:ext cx="384048" cy="384048"/>
          </a:xfrm>
          <a:prstGeom prst="ellipse">
            <a:avLst/>
          </a:prstGeom>
          <a:solidFill>
            <a:srgbClr val="F5A524"/>
          </a:solidFill>
          <a:ln w="12700">
            <a:solidFill>
              <a:srgbClr val="F5A524"/>
            </a:solidFill>
            <a:prstDash val="solid"/>
          </a:ln>
        </p:spPr>
        <p:txBody>
          <a:bodyPr/>
          <a:lstStyle/>
          <a:p>
            <a:endParaRPr lang="en-US"/>
          </a:p>
        </p:txBody>
      </p:sp>
      <p:pic>
        <p:nvPicPr>
          <p:cNvPr id="18" name="Image 2" descr="preencoded.png"/>
          <p:cNvPicPr>
            <a:picLocks noChangeAspect="1"/>
          </p:cNvPicPr>
          <p:nvPr/>
        </p:nvPicPr>
        <p:blipFill>
          <a:blip r:embed="rId5"/>
          <a:stretch>
            <a:fillRect/>
          </a:stretch>
        </p:blipFill>
        <p:spPr>
          <a:xfrm>
            <a:off x="937260" y="5856732"/>
            <a:ext cx="192024" cy="192024"/>
          </a:xfrm>
          <a:prstGeom prst="rect">
            <a:avLst/>
          </a:prstGeom>
        </p:spPr>
      </p:pic>
      <p:sp>
        <p:nvSpPr>
          <p:cNvPr id="19" name="Text 14"/>
          <p:cNvSpPr/>
          <p:nvPr/>
        </p:nvSpPr>
        <p:spPr>
          <a:xfrm>
            <a:off x="1371600" y="5596128"/>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Build the test for the failure before you build the thing that fails. It is much harder to add honestly afterwards.</a:t>
            </a:r>
            <a:endParaRPr lang="en-US" sz="105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0B0A22"/>
        </a:solidFill>
        <a:effectLst/>
      </p:bgPr>
    </p:bg>
    <p:spTree>
      <p:nvGrpSpPr>
        <p:cNvPr id="1" name=""/>
        <p:cNvGrpSpPr/>
        <p:nvPr/>
      </p:nvGrpSpPr>
      <p:grpSpPr>
        <a:xfrm>
          <a:off x="0" y="0"/>
          <a:ext cx="0" cy="0"/>
          <a:chOff x="0" y="0"/>
          <a:chExt cx="0" cy="0"/>
        </a:xfrm>
      </p:grpSpPr>
      <p:pic>
        <p:nvPicPr>
          <p:cNvPr id="2" name="Image 0" descr="/home/claude/work/bg_dark.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6126480" y="1234440"/>
            <a:ext cx="5486400" cy="2743200"/>
          </a:xfrm>
          <a:prstGeom prst="rect">
            <a:avLst/>
          </a:prstGeom>
          <a:noFill/>
          <a:ln/>
        </p:spPr>
        <p:txBody>
          <a:bodyPr wrap="square" lIns="0" tIns="0" rIns="0" bIns="0" rtlCol="0" anchor="ctr"/>
          <a:lstStyle/>
          <a:p>
            <a:pPr marL="0" indent="0" algn="r">
              <a:buNone/>
            </a:pPr>
            <a:r>
              <a:rPr lang="en-US" sz="17600" b="1" dirty="0">
                <a:solidFill>
                  <a:srgbClr val="5B4BE8">
                    <a:alpha val="30000"/>
                  </a:srgbClr>
                </a:solidFill>
                <a:latin typeface="Cambria" pitchFamily="34" charset="0"/>
                <a:ea typeface="Cambria" pitchFamily="34" charset="-122"/>
                <a:cs typeface="Cambria" pitchFamily="34" charset="-120"/>
              </a:rPr>
              <a:t>13</a:t>
            </a:r>
            <a:endParaRPr lang="en-US" sz="17600" dirty="0"/>
          </a:p>
        </p:txBody>
      </p:sp>
      <p:sp>
        <p:nvSpPr>
          <p:cNvPr id="4" name="Shape 1"/>
          <p:cNvSpPr/>
          <p:nvPr/>
        </p:nvSpPr>
        <p:spPr>
          <a:xfrm>
            <a:off x="566928" y="2084832"/>
            <a:ext cx="566928" cy="566928"/>
          </a:xfrm>
          <a:prstGeom prst="ellipse">
            <a:avLst/>
          </a:prstGeom>
          <a:solidFill>
            <a:srgbClr val="F5A524"/>
          </a:solidFill>
          <a:ln w="12700">
            <a:solidFill>
              <a:srgbClr val="F5A524"/>
            </a:solidFill>
            <a:prstDash val="solid"/>
          </a:ln>
        </p:spPr>
        <p:txBody>
          <a:bodyPr/>
          <a:lstStyle/>
          <a:p>
            <a:endParaRPr lang="en-US"/>
          </a:p>
        </p:txBody>
      </p:sp>
      <p:pic>
        <p:nvPicPr>
          <p:cNvPr id="5" name="Image 1" descr="preencoded.png"/>
          <p:cNvPicPr>
            <a:picLocks noChangeAspect="1"/>
          </p:cNvPicPr>
          <p:nvPr/>
        </p:nvPicPr>
        <p:blipFill>
          <a:blip r:embed="rId4"/>
          <a:stretch>
            <a:fillRect/>
          </a:stretch>
        </p:blipFill>
        <p:spPr>
          <a:xfrm>
            <a:off x="708660" y="2226564"/>
            <a:ext cx="283464" cy="283464"/>
          </a:xfrm>
          <a:prstGeom prst="rect">
            <a:avLst/>
          </a:prstGeom>
        </p:spPr>
      </p:pic>
      <p:sp>
        <p:nvSpPr>
          <p:cNvPr id="6" name="Text 2"/>
          <p:cNvSpPr/>
          <p:nvPr/>
        </p:nvSpPr>
        <p:spPr>
          <a:xfrm>
            <a:off x="566928" y="2852928"/>
            <a:ext cx="7315200" cy="256032"/>
          </a:xfrm>
          <a:prstGeom prst="rect">
            <a:avLst/>
          </a:prstGeom>
          <a:noFill/>
          <a:ln/>
        </p:spPr>
        <p:txBody>
          <a:bodyPr wrap="square" lIns="0" tIns="0" rIns="0" bIns="0" rtlCol="0" anchor="ctr"/>
          <a:lstStyle/>
          <a:p>
            <a:pPr marL="0" indent="0">
              <a:buNone/>
            </a:pPr>
            <a:r>
              <a:rPr lang="en-US" sz="1100" b="1" kern="0" spc="240" dirty="0">
                <a:solidFill>
                  <a:srgbClr val="F5A524"/>
                </a:solidFill>
                <a:latin typeface="Calibri" pitchFamily="34" charset="0"/>
                <a:ea typeface="Calibri" pitchFamily="34" charset="-122"/>
                <a:cs typeface="Calibri" pitchFamily="34" charset="-120"/>
              </a:rPr>
              <a:t>MODULE 13</a:t>
            </a:r>
            <a:endParaRPr lang="en-US" sz="1100" dirty="0"/>
          </a:p>
        </p:txBody>
      </p:sp>
      <p:sp>
        <p:nvSpPr>
          <p:cNvPr id="7" name="Text 3"/>
          <p:cNvSpPr/>
          <p:nvPr/>
        </p:nvSpPr>
        <p:spPr>
          <a:xfrm>
            <a:off x="566928" y="3145536"/>
            <a:ext cx="8595360" cy="914400"/>
          </a:xfrm>
          <a:prstGeom prst="rect">
            <a:avLst/>
          </a:prstGeom>
          <a:noFill/>
          <a:ln/>
        </p:spPr>
        <p:txBody>
          <a:bodyPr wrap="square" lIns="0" tIns="0" rIns="0" bIns="0" rtlCol="0" anchor="t"/>
          <a:lstStyle/>
          <a:p>
            <a:pPr marL="0" indent="0">
              <a:buNone/>
            </a:pPr>
            <a:r>
              <a:rPr lang="en-US" sz="4600" b="1" dirty="0">
                <a:solidFill>
                  <a:srgbClr val="FFFFFF"/>
                </a:solidFill>
                <a:latin typeface="Cambria" pitchFamily="34" charset="0"/>
                <a:ea typeface="Cambria" pitchFamily="34" charset="-122"/>
                <a:cs typeface="Cambria" pitchFamily="34" charset="-120"/>
              </a:rPr>
              <a:t>Delegation</a:t>
            </a:r>
            <a:endParaRPr lang="en-US" sz="4600" dirty="0"/>
          </a:p>
        </p:txBody>
      </p:sp>
      <p:sp>
        <p:nvSpPr>
          <p:cNvPr id="8" name="Text 4"/>
          <p:cNvSpPr/>
          <p:nvPr/>
        </p:nvSpPr>
        <p:spPr>
          <a:xfrm>
            <a:off x="566928" y="4169664"/>
            <a:ext cx="7863840" cy="731520"/>
          </a:xfrm>
          <a:prstGeom prst="rect">
            <a:avLst/>
          </a:prstGeom>
          <a:noFill/>
          <a:ln/>
        </p:spPr>
        <p:txBody>
          <a:bodyPr wrap="square" lIns="0" tIns="0" rIns="0" bIns="0" rtlCol="0" anchor="t"/>
          <a:lstStyle/>
          <a:p>
            <a:pPr marL="0" indent="0">
              <a:lnSpc>
                <a:spcPct val="120000"/>
              </a:lnSpc>
              <a:buNone/>
            </a:pPr>
            <a:r>
              <a:rPr lang="en-US" sz="1600" dirty="0">
                <a:solidFill>
                  <a:srgbClr val="B9B4E0"/>
                </a:solidFill>
                <a:latin typeface="Calibri" pitchFamily="34" charset="0"/>
                <a:ea typeface="Calibri" pitchFamily="34" charset="-122"/>
                <a:cs typeface="Calibri" pitchFamily="34" charset="-120"/>
              </a:rPr>
              <a:t>Multiple agents, and the much harder question of when that is actually right.</a:t>
            </a:r>
            <a:endParaRPr lang="en-US" sz="16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13 · DELEGATION</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3000" b="1" dirty="0">
                <a:solidFill>
                  <a:srgbClr val="141235"/>
                </a:solidFill>
                <a:latin typeface="Cambria" pitchFamily="34" charset="0"/>
                <a:ea typeface="Cambria" pitchFamily="34" charset="-122"/>
                <a:cs typeface="Cambria" pitchFamily="34" charset="-120"/>
              </a:rPr>
              <a:t>Five ways to split the job</a:t>
            </a:r>
            <a:endParaRPr lang="en-US" sz="3000" dirty="0"/>
          </a:p>
        </p:txBody>
      </p:sp>
      <p:sp>
        <p:nvSpPr>
          <p:cNvPr id="4" name="Shape 2"/>
          <p:cNvSpPr/>
          <p:nvPr/>
        </p:nvSpPr>
        <p:spPr>
          <a:xfrm>
            <a:off x="566928" y="2120768"/>
            <a:ext cx="3527450" cy="1399672"/>
          </a:xfrm>
          <a:prstGeom prst="roundRect">
            <a:avLst>
              <a:gd name="adj" fmla="val 5880"/>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5" name="Shape 3"/>
          <p:cNvSpPr/>
          <p:nvPr/>
        </p:nvSpPr>
        <p:spPr>
          <a:xfrm>
            <a:off x="804672" y="2340224"/>
            <a:ext cx="365760" cy="365760"/>
          </a:xfrm>
          <a:prstGeom prst="ellipse">
            <a:avLst/>
          </a:prstGeom>
          <a:solidFill>
            <a:srgbClr val="5B4BE8"/>
          </a:solidFill>
          <a:ln w="12700">
            <a:solidFill>
              <a:srgbClr val="5B4BE8"/>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896112" y="2431664"/>
            <a:ext cx="182880" cy="182880"/>
          </a:xfrm>
          <a:prstGeom prst="rect">
            <a:avLst/>
          </a:prstGeom>
        </p:spPr>
      </p:pic>
      <p:sp>
        <p:nvSpPr>
          <p:cNvPr id="7" name="Text 4"/>
          <p:cNvSpPr/>
          <p:nvPr/>
        </p:nvSpPr>
        <p:spPr>
          <a:xfrm>
            <a:off x="1298448" y="2358512"/>
            <a:ext cx="2558186" cy="346558"/>
          </a:xfrm>
          <a:prstGeom prst="rect">
            <a:avLst/>
          </a:prstGeom>
          <a:noFill/>
          <a:ln/>
        </p:spPr>
        <p:txBody>
          <a:bodyPr wrap="square" lIns="0" tIns="0" rIns="0" bIns="0" rtlCol="0" anchor="t"/>
          <a:lstStyle/>
          <a:p>
            <a:pPr marL="0" indent="0">
              <a:lnSpc>
                <a:spcPct val="105000"/>
              </a:lnSpc>
              <a:buNone/>
            </a:pPr>
            <a:r>
              <a:rPr lang="en-US" sz="1500" b="1" dirty="0">
                <a:solidFill>
                  <a:srgbClr val="141235"/>
                </a:solidFill>
                <a:latin typeface="Calibri" pitchFamily="34" charset="0"/>
                <a:ea typeface="Calibri" pitchFamily="34" charset="-122"/>
                <a:cs typeface="Calibri" pitchFamily="34" charset="-120"/>
              </a:rPr>
              <a:t>Supervisor</a:t>
            </a:r>
            <a:endParaRPr lang="en-US" sz="1500" dirty="0"/>
          </a:p>
        </p:txBody>
      </p:sp>
      <p:sp>
        <p:nvSpPr>
          <p:cNvPr id="8" name="Text 5"/>
          <p:cNvSpPr/>
          <p:nvPr/>
        </p:nvSpPr>
        <p:spPr>
          <a:xfrm>
            <a:off x="1298448" y="2714214"/>
            <a:ext cx="2558186" cy="623346"/>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One router, several specialists. Easiest to reason about, easiest to debug, and the right default.</a:t>
            </a:r>
            <a:endParaRPr lang="en-US" sz="1150" dirty="0"/>
          </a:p>
        </p:txBody>
      </p:sp>
      <p:sp>
        <p:nvSpPr>
          <p:cNvPr id="9" name="Shape 6"/>
          <p:cNvSpPr/>
          <p:nvPr/>
        </p:nvSpPr>
        <p:spPr>
          <a:xfrm>
            <a:off x="4332122" y="2120768"/>
            <a:ext cx="3527450" cy="1399672"/>
          </a:xfrm>
          <a:prstGeom prst="roundRect">
            <a:avLst>
              <a:gd name="adj" fmla="val 5880"/>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0" name="Shape 7"/>
          <p:cNvSpPr/>
          <p:nvPr/>
        </p:nvSpPr>
        <p:spPr>
          <a:xfrm>
            <a:off x="4569866" y="2340224"/>
            <a:ext cx="365760" cy="365760"/>
          </a:xfrm>
          <a:prstGeom prst="ellipse">
            <a:avLst/>
          </a:prstGeom>
          <a:solidFill>
            <a:srgbClr val="5B4BE8"/>
          </a:solidFill>
          <a:ln w="12700">
            <a:solidFill>
              <a:srgbClr val="5B4BE8"/>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4661306" y="2431664"/>
            <a:ext cx="182880" cy="182880"/>
          </a:xfrm>
          <a:prstGeom prst="rect">
            <a:avLst/>
          </a:prstGeom>
        </p:spPr>
      </p:pic>
      <p:sp>
        <p:nvSpPr>
          <p:cNvPr id="12" name="Text 8"/>
          <p:cNvSpPr/>
          <p:nvPr/>
        </p:nvSpPr>
        <p:spPr>
          <a:xfrm>
            <a:off x="5063642" y="2358512"/>
            <a:ext cx="2558186" cy="346558"/>
          </a:xfrm>
          <a:prstGeom prst="rect">
            <a:avLst/>
          </a:prstGeom>
          <a:noFill/>
          <a:ln/>
        </p:spPr>
        <p:txBody>
          <a:bodyPr wrap="square" lIns="0" tIns="0" rIns="0" bIns="0" rtlCol="0" anchor="t"/>
          <a:lstStyle/>
          <a:p>
            <a:pPr marL="0" indent="0">
              <a:lnSpc>
                <a:spcPct val="105000"/>
              </a:lnSpc>
              <a:buNone/>
            </a:pPr>
            <a:r>
              <a:rPr lang="en-US" sz="1500" b="1" dirty="0">
                <a:solidFill>
                  <a:srgbClr val="141235"/>
                </a:solidFill>
                <a:latin typeface="Calibri" pitchFamily="34" charset="0"/>
                <a:ea typeface="Calibri" pitchFamily="34" charset="-122"/>
                <a:cs typeface="Calibri" pitchFamily="34" charset="-120"/>
              </a:rPr>
              <a:t>Sequential pipeline</a:t>
            </a:r>
            <a:endParaRPr lang="en-US" sz="1500" dirty="0"/>
          </a:p>
        </p:txBody>
      </p:sp>
      <p:sp>
        <p:nvSpPr>
          <p:cNvPr id="13" name="Text 9"/>
          <p:cNvSpPr/>
          <p:nvPr/>
        </p:nvSpPr>
        <p:spPr>
          <a:xfrm>
            <a:off x="5063642" y="2714214"/>
            <a:ext cx="2558186" cy="623346"/>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Each agent hands off to the next. Predictable, and often a workflow wearing a costume.</a:t>
            </a:r>
            <a:endParaRPr lang="en-US" sz="1150" dirty="0"/>
          </a:p>
        </p:txBody>
      </p:sp>
      <p:sp>
        <p:nvSpPr>
          <p:cNvPr id="14" name="Shape 10"/>
          <p:cNvSpPr/>
          <p:nvPr/>
        </p:nvSpPr>
        <p:spPr>
          <a:xfrm>
            <a:off x="8097317" y="2120768"/>
            <a:ext cx="3527450" cy="1399672"/>
          </a:xfrm>
          <a:prstGeom prst="roundRect">
            <a:avLst>
              <a:gd name="adj" fmla="val 5880"/>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5" name="Shape 11"/>
          <p:cNvSpPr/>
          <p:nvPr/>
        </p:nvSpPr>
        <p:spPr>
          <a:xfrm>
            <a:off x="8335061" y="2340224"/>
            <a:ext cx="365760" cy="365760"/>
          </a:xfrm>
          <a:prstGeom prst="ellipse">
            <a:avLst/>
          </a:prstGeom>
          <a:solidFill>
            <a:srgbClr val="5B4BE8"/>
          </a:solidFill>
          <a:ln w="12700">
            <a:solidFill>
              <a:srgbClr val="5B4BE8"/>
            </a:solidFill>
            <a:prstDash val="solid"/>
          </a:ln>
        </p:spPr>
        <p:txBody>
          <a:bodyPr/>
          <a:lstStyle/>
          <a:p>
            <a:endParaRPr lang="en-US"/>
          </a:p>
        </p:txBody>
      </p:sp>
      <p:pic>
        <p:nvPicPr>
          <p:cNvPr id="16" name="Image 2" descr="preencoded.png"/>
          <p:cNvPicPr>
            <a:picLocks noChangeAspect="1"/>
          </p:cNvPicPr>
          <p:nvPr/>
        </p:nvPicPr>
        <p:blipFill>
          <a:blip r:embed="rId5"/>
          <a:stretch>
            <a:fillRect/>
          </a:stretch>
        </p:blipFill>
        <p:spPr>
          <a:xfrm>
            <a:off x="8426501" y="2431664"/>
            <a:ext cx="182880" cy="182880"/>
          </a:xfrm>
          <a:prstGeom prst="rect">
            <a:avLst/>
          </a:prstGeom>
        </p:spPr>
      </p:pic>
      <p:sp>
        <p:nvSpPr>
          <p:cNvPr id="17" name="Text 12"/>
          <p:cNvSpPr/>
          <p:nvPr/>
        </p:nvSpPr>
        <p:spPr>
          <a:xfrm>
            <a:off x="8828837" y="2358512"/>
            <a:ext cx="2558186" cy="346558"/>
          </a:xfrm>
          <a:prstGeom prst="rect">
            <a:avLst/>
          </a:prstGeom>
          <a:noFill/>
          <a:ln/>
        </p:spPr>
        <p:txBody>
          <a:bodyPr wrap="square" lIns="0" tIns="0" rIns="0" bIns="0" rtlCol="0" anchor="t"/>
          <a:lstStyle/>
          <a:p>
            <a:pPr marL="0" indent="0">
              <a:lnSpc>
                <a:spcPct val="105000"/>
              </a:lnSpc>
              <a:buNone/>
            </a:pPr>
            <a:r>
              <a:rPr lang="en-US" sz="1500" b="1" dirty="0">
                <a:solidFill>
                  <a:srgbClr val="141235"/>
                </a:solidFill>
                <a:latin typeface="Calibri" pitchFamily="34" charset="0"/>
                <a:ea typeface="Calibri" pitchFamily="34" charset="-122"/>
                <a:cs typeface="Calibri" pitchFamily="34" charset="-120"/>
              </a:rPr>
              <a:t>Hierarchical teams</a:t>
            </a:r>
            <a:endParaRPr lang="en-US" sz="1500" dirty="0"/>
          </a:p>
        </p:txBody>
      </p:sp>
      <p:sp>
        <p:nvSpPr>
          <p:cNvPr id="18" name="Text 13"/>
          <p:cNvSpPr/>
          <p:nvPr/>
        </p:nvSpPr>
        <p:spPr>
          <a:xfrm>
            <a:off x="8828837" y="2714214"/>
            <a:ext cx="2558186" cy="623346"/>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Managers of managers. Latency and token cost compound at every level.</a:t>
            </a:r>
            <a:endParaRPr lang="en-US" sz="1150" dirty="0"/>
          </a:p>
        </p:txBody>
      </p:sp>
      <p:sp>
        <p:nvSpPr>
          <p:cNvPr id="19" name="Shape 14"/>
          <p:cNvSpPr/>
          <p:nvPr/>
        </p:nvSpPr>
        <p:spPr>
          <a:xfrm>
            <a:off x="566928" y="3758184"/>
            <a:ext cx="3527450" cy="1399672"/>
          </a:xfrm>
          <a:prstGeom prst="roundRect">
            <a:avLst>
              <a:gd name="adj" fmla="val 5880"/>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20" name="Shape 15"/>
          <p:cNvSpPr/>
          <p:nvPr/>
        </p:nvSpPr>
        <p:spPr>
          <a:xfrm>
            <a:off x="804672" y="3977640"/>
            <a:ext cx="365760" cy="365760"/>
          </a:xfrm>
          <a:prstGeom prst="ellipse">
            <a:avLst/>
          </a:prstGeom>
          <a:solidFill>
            <a:srgbClr val="5B4BE8"/>
          </a:solidFill>
          <a:ln w="12700">
            <a:solidFill>
              <a:srgbClr val="5B4BE8"/>
            </a:solidFill>
            <a:prstDash val="solid"/>
          </a:ln>
        </p:spPr>
        <p:txBody>
          <a:bodyPr/>
          <a:lstStyle/>
          <a:p>
            <a:endParaRPr lang="en-US"/>
          </a:p>
        </p:txBody>
      </p:sp>
      <p:pic>
        <p:nvPicPr>
          <p:cNvPr id="21" name="Image 3" descr="preencoded.png"/>
          <p:cNvPicPr>
            <a:picLocks noChangeAspect="1"/>
          </p:cNvPicPr>
          <p:nvPr/>
        </p:nvPicPr>
        <p:blipFill>
          <a:blip r:embed="rId6"/>
          <a:stretch>
            <a:fillRect/>
          </a:stretch>
        </p:blipFill>
        <p:spPr>
          <a:xfrm>
            <a:off x="896112" y="4069080"/>
            <a:ext cx="182880" cy="182880"/>
          </a:xfrm>
          <a:prstGeom prst="rect">
            <a:avLst/>
          </a:prstGeom>
        </p:spPr>
      </p:pic>
      <p:sp>
        <p:nvSpPr>
          <p:cNvPr id="22" name="Text 16"/>
          <p:cNvSpPr/>
          <p:nvPr/>
        </p:nvSpPr>
        <p:spPr>
          <a:xfrm>
            <a:off x="1298448" y="3995928"/>
            <a:ext cx="2558186" cy="346558"/>
          </a:xfrm>
          <a:prstGeom prst="rect">
            <a:avLst/>
          </a:prstGeom>
          <a:noFill/>
          <a:ln/>
        </p:spPr>
        <p:txBody>
          <a:bodyPr wrap="square" lIns="0" tIns="0" rIns="0" bIns="0" rtlCol="0" anchor="t"/>
          <a:lstStyle/>
          <a:p>
            <a:pPr marL="0" indent="0">
              <a:lnSpc>
                <a:spcPct val="105000"/>
              </a:lnSpc>
              <a:buNone/>
            </a:pPr>
            <a:r>
              <a:rPr lang="en-US" sz="1500" b="1" dirty="0">
                <a:solidFill>
                  <a:srgbClr val="141235"/>
                </a:solidFill>
                <a:latin typeface="Calibri" pitchFamily="34" charset="0"/>
                <a:ea typeface="Calibri" pitchFamily="34" charset="-122"/>
                <a:cs typeface="Calibri" pitchFamily="34" charset="-120"/>
              </a:rPr>
              <a:t>Peer network</a:t>
            </a:r>
            <a:endParaRPr lang="en-US" sz="1500" dirty="0"/>
          </a:p>
        </p:txBody>
      </p:sp>
      <p:sp>
        <p:nvSpPr>
          <p:cNvPr id="23" name="Text 17"/>
          <p:cNvSpPr/>
          <p:nvPr/>
        </p:nvSpPr>
        <p:spPr>
          <a:xfrm>
            <a:off x="1298448" y="4351630"/>
            <a:ext cx="2558186" cy="623346"/>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Agents talk directly to each other. Powerful, and very hard to explain after an incident.</a:t>
            </a:r>
            <a:endParaRPr lang="en-US" sz="1150" dirty="0"/>
          </a:p>
        </p:txBody>
      </p:sp>
      <p:sp>
        <p:nvSpPr>
          <p:cNvPr id="24" name="Shape 18"/>
          <p:cNvSpPr/>
          <p:nvPr/>
        </p:nvSpPr>
        <p:spPr>
          <a:xfrm>
            <a:off x="4332122" y="3758184"/>
            <a:ext cx="3527450" cy="1399672"/>
          </a:xfrm>
          <a:prstGeom prst="roundRect">
            <a:avLst>
              <a:gd name="adj" fmla="val 5880"/>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25" name="Shape 19"/>
          <p:cNvSpPr/>
          <p:nvPr/>
        </p:nvSpPr>
        <p:spPr>
          <a:xfrm>
            <a:off x="4569866" y="3977640"/>
            <a:ext cx="365760" cy="365760"/>
          </a:xfrm>
          <a:prstGeom prst="ellipse">
            <a:avLst/>
          </a:prstGeom>
          <a:solidFill>
            <a:srgbClr val="5B4BE8"/>
          </a:solidFill>
          <a:ln w="12700">
            <a:solidFill>
              <a:srgbClr val="5B4BE8"/>
            </a:solidFill>
            <a:prstDash val="solid"/>
          </a:ln>
        </p:spPr>
        <p:txBody>
          <a:bodyPr/>
          <a:lstStyle/>
          <a:p>
            <a:endParaRPr lang="en-US"/>
          </a:p>
        </p:txBody>
      </p:sp>
      <p:pic>
        <p:nvPicPr>
          <p:cNvPr id="26" name="Image 4" descr="preencoded.png"/>
          <p:cNvPicPr>
            <a:picLocks noChangeAspect="1"/>
          </p:cNvPicPr>
          <p:nvPr/>
        </p:nvPicPr>
        <p:blipFill>
          <a:blip r:embed="rId7"/>
          <a:stretch>
            <a:fillRect/>
          </a:stretch>
        </p:blipFill>
        <p:spPr>
          <a:xfrm>
            <a:off x="4661306" y="4069080"/>
            <a:ext cx="182880" cy="182880"/>
          </a:xfrm>
          <a:prstGeom prst="rect">
            <a:avLst/>
          </a:prstGeom>
        </p:spPr>
      </p:pic>
      <p:sp>
        <p:nvSpPr>
          <p:cNvPr id="27" name="Text 20"/>
          <p:cNvSpPr/>
          <p:nvPr/>
        </p:nvSpPr>
        <p:spPr>
          <a:xfrm>
            <a:off x="5063642" y="3995928"/>
            <a:ext cx="2558186" cy="346558"/>
          </a:xfrm>
          <a:prstGeom prst="rect">
            <a:avLst/>
          </a:prstGeom>
          <a:noFill/>
          <a:ln/>
        </p:spPr>
        <p:txBody>
          <a:bodyPr wrap="square" lIns="0" tIns="0" rIns="0" bIns="0" rtlCol="0" anchor="t"/>
          <a:lstStyle/>
          <a:p>
            <a:pPr marL="0" indent="0">
              <a:lnSpc>
                <a:spcPct val="105000"/>
              </a:lnSpc>
              <a:buNone/>
            </a:pPr>
            <a:r>
              <a:rPr lang="en-US" sz="1500" b="1" dirty="0">
                <a:solidFill>
                  <a:srgbClr val="141235"/>
                </a:solidFill>
                <a:latin typeface="Calibri" pitchFamily="34" charset="0"/>
                <a:ea typeface="Calibri" pitchFamily="34" charset="-122"/>
                <a:cs typeface="Calibri" pitchFamily="34" charset="-120"/>
              </a:rPr>
              <a:t>Blackboard</a:t>
            </a:r>
            <a:endParaRPr lang="en-US" sz="1500" dirty="0"/>
          </a:p>
        </p:txBody>
      </p:sp>
      <p:sp>
        <p:nvSpPr>
          <p:cNvPr id="28" name="Text 21"/>
          <p:cNvSpPr/>
          <p:nvPr/>
        </p:nvSpPr>
        <p:spPr>
          <a:xfrm>
            <a:off x="5063642" y="4351630"/>
            <a:ext cx="2558186" cy="623346"/>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A shared space every agent reads and writes. Elegant on a whiteboard; a race condition in production.</a:t>
            </a:r>
            <a:endParaRPr lang="en-US" sz="1150" dirty="0"/>
          </a:p>
        </p:txBody>
      </p:sp>
      <p:sp>
        <p:nvSpPr>
          <p:cNvPr id="29" name="Shape 22"/>
          <p:cNvSpPr/>
          <p:nvPr/>
        </p:nvSpPr>
        <p:spPr>
          <a:xfrm>
            <a:off x="8097317" y="3758184"/>
            <a:ext cx="3527450" cy="1399672"/>
          </a:xfrm>
          <a:prstGeom prst="roundRect">
            <a:avLst>
              <a:gd name="adj" fmla="val 5880"/>
            </a:avLst>
          </a:prstGeom>
          <a:solidFill>
            <a:srgbClr val="FFF4E0"/>
          </a:solidFill>
          <a:ln w="12700">
            <a:solidFill>
              <a:srgbClr val="F3DCB0"/>
            </a:solidFill>
            <a:prstDash val="solid"/>
          </a:ln>
          <a:effectLst>
            <a:outerShdw blurRad="114300" dist="572" dir="5400000" algn="bl" rotWithShape="0">
              <a:srgbClr val="1B1A4A">
                <a:alpha val="7000"/>
              </a:srgbClr>
            </a:outerShdw>
          </a:effectLst>
        </p:spPr>
        <p:txBody>
          <a:bodyPr/>
          <a:lstStyle/>
          <a:p>
            <a:endParaRPr lang="en-US"/>
          </a:p>
        </p:txBody>
      </p:sp>
      <p:sp>
        <p:nvSpPr>
          <p:cNvPr id="30" name="Shape 23"/>
          <p:cNvSpPr/>
          <p:nvPr/>
        </p:nvSpPr>
        <p:spPr>
          <a:xfrm>
            <a:off x="8335061" y="3977640"/>
            <a:ext cx="365760" cy="365760"/>
          </a:xfrm>
          <a:prstGeom prst="ellipse">
            <a:avLst/>
          </a:prstGeom>
          <a:solidFill>
            <a:srgbClr val="F5A524"/>
          </a:solidFill>
          <a:ln w="12700">
            <a:solidFill>
              <a:srgbClr val="F5A524"/>
            </a:solidFill>
            <a:prstDash val="solid"/>
          </a:ln>
        </p:spPr>
        <p:txBody>
          <a:bodyPr/>
          <a:lstStyle/>
          <a:p>
            <a:endParaRPr lang="en-US"/>
          </a:p>
        </p:txBody>
      </p:sp>
      <p:pic>
        <p:nvPicPr>
          <p:cNvPr id="31" name="Image 5" descr="preencoded.png"/>
          <p:cNvPicPr>
            <a:picLocks noChangeAspect="1"/>
          </p:cNvPicPr>
          <p:nvPr/>
        </p:nvPicPr>
        <p:blipFill>
          <a:blip r:embed="rId8"/>
          <a:stretch>
            <a:fillRect/>
          </a:stretch>
        </p:blipFill>
        <p:spPr>
          <a:xfrm>
            <a:off x="8426501" y="4069080"/>
            <a:ext cx="182880" cy="182880"/>
          </a:xfrm>
          <a:prstGeom prst="rect">
            <a:avLst/>
          </a:prstGeom>
        </p:spPr>
      </p:pic>
      <p:sp>
        <p:nvSpPr>
          <p:cNvPr id="32" name="Text 24"/>
          <p:cNvSpPr/>
          <p:nvPr/>
        </p:nvSpPr>
        <p:spPr>
          <a:xfrm>
            <a:off x="8828837" y="3995928"/>
            <a:ext cx="2558186" cy="346558"/>
          </a:xfrm>
          <a:prstGeom prst="rect">
            <a:avLst/>
          </a:prstGeom>
          <a:noFill/>
          <a:ln/>
        </p:spPr>
        <p:txBody>
          <a:bodyPr wrap="square" lIns="0" tIns="0" rIns="0" bIns="0" rtlCol="0" anchor="t"/>
          <a:lstStyle/>
          <a:p>
            <a:pPr marL="0" indent="0">
              <a:lnSpc>
                <a:spcPct val="105000"/>
              </a:lnSpc>
              <a:buNone/>
            </a:pPr>
            <a:r>
              <a:rPr lang="en-US" sz="1500" b="1" dirty="0">
                <a:solidFill>
                  <a:srgbClr val="141235"/>
                </a:solidFill>
                <a:latin typeface="Calibri" pitchFamily="34" charset="0"/>
                <a:ea typeface="Calibri" pitchFamily="34" charset="-122"/>
                <a:cs typeface="Calibri" pitchFamily="34" charset="-120"/>
              </a:rPr>
              <a:t>All five cost more</a:t>
            </a:r>
            <a:endParaRPr lang="en-US" sz="1500" dirty="0"/>
          </a:p>
        </p:txBody>
      </p:sp>
      <p:sp>
        <p:nvSpPr>
          <p:cNvPr id="33" name="Text 25"/>
          <p:cNvSpPr/>
          <p:nvPr/>
        </p:nvSpPr>
        <p:spPr>
          <a:xfrm>
            <a:off x="8828837" y="4351630"/>
            <a:ext cx="2558186" cy="623346"/>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Every hand-off is another model call, another chance to lose context, another thing to trace.</a:t>
            </a:r>
            <a:endParaRPr lang="en-US" sz="1150" dirty="0"/>
          </a:p>
        </p:txBody>
      </p:sp>
      <p:sp>
        <p:nvSpPr>
          <p:cNvPr id="34" name="Shape 26"/>
          <p:cNvSpPr/>
          <p:nvPr/>
        </p:nvSpPr>
        <p:spPr>
          <a:xfrm>
            <a:off x="566928" y="5541264"/>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35" name="Shape 27"/>
          <p:cNvSpPr/>
          <p:nvPr/>
        </p:nvSpPr>
        <p:spPr>
          <a:xfrm>
            <a:off x="841248" y="5760720"/>
            <a:ext cx="384048" cy="384048"/>
          </a:xfrm>
          <a:prstGeom prst="ellipse">
            <a:avLst/>
          </a:prstGeom>
          <a:solidFill>
            <a:srgbClr val="F5A524"/>
          </a:solidFill>
          <a:ln w="12700">
            <a:solidFill>
              <a:srgbClr val="F5A524"/>
            </a:solidFill>
            <a:prstDash val="solid"/>
          </a:ln>
        </p:spPr>
        <p:txBody>
          <a:bodyPr/>
          <a:lstStyle/>
          <a:p>
            <a:endParaRPr lang="en-US"/>
          </a:p>
        </p:txBody>
      </p:sp>
      <p:pic>
        <p:nvPicPr>
          <p:cNvPr id="36" name="Image 6" descr="preencoded.png"/>
          <p:cNvPicPr>
            <a:picLocks noChangeAspect="1"/>
          </p:cNvPicPr>
          <p:nvPr/>
        </p:nvPicPr>
        <p:blipFill>
          <a:blip r:embed="rId9"/>
          <a:stretch>
            <a:fillRect/>
          </a:stretch>
        </p:blipFill>
        <p:spPr>
          <a:xfrm>
            <a:off x="937260" y="5856732"/>
            <a:ext cx="192024" cy="192024"/>
          </a:xfrm>
          <a:prstGeom prst="rect">
            <a:avLst/>
          </a:prstGeom>
        </p:spPr>
      </p:pic>
      <p:sp>
        <p:nvSpPr>
          <p:cNvPr id="37" name="Text 28"/>
          <p:cNvSpPr/>
          <p:nvPr/>
        </p:nvSpPr>
        <p:spPr>
          <a:xfrm>
            <a:off x="1371600" y="5596128"/>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These are org charts for software. Every arrow between two boxes is a place where an instruction can get garbled — exactly like a real organisation.</a:t>
            </a:r>
            <a:endParaRPr lang="en-US" sz="105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0B0A22"/>
        </a:solidFill>
        <a:effectLst/>
      </p:bgPr>
    </p:bg>
    <p:spTree>
      <p:nvGrpSpPr>
        <p:cNvPr id="1" name=""/>
        <p:cNvGrpSpPr/>
        <p:nvPr/>
      </p:nvGrpSpPr>
      <p:grpSpPr>
        <a:xfrm>
          <a:off x="0" y="0"/>
          <a:ext cx="0" cy="0"/>
          <a:chOff x="0" y="0"/>
          <a:chExt cx="0" cy="0"/>
        </a:xfrm>
      </p:grpSpPr>
      <p:pic>
        <p:nvPicPr>
          <p:cNvPr id="2" name="Image 0" descr="/home/claude/work/bg_quote.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612648" y="1371600"/>
            <a:ext cx="11057839" cy="274320"/>
          </a:xfrm>
          <a:prstGeom prst="rect">
            <a:avLst/>
          </a:prstGeom>
          <a:noFill/>
          <a:ln/>
        </p:spPr>
        <p:txBody>
          <a:bodyPr wrap="square" lIns="0" tIns="0" rIns="0" bIns="0" rtlCol="0" anchor="ctr"/>
          <a:lstStyle/>
          <a:p>
            <a:pPr marL="0" indent="0">
              <a:buNone/>
            </a:pPr>
            <a:r>
              <a:rPr lang="en-US" sz="1050" b="1" kern="0" spc="220" dirty="0">
                <a:solidFill>
                  <a:srgbClr val="F5A524"/>
                </a:solidFill>
                <a:latin typeface="Calibri" pitchFamily="34" charset="0"/>
                <a:ea typeface="Calibri" pitchFamily="34" charset="-122"/>
                <a:cs typeface="Calibri" pitchFamily="34" charset="-120"/>
              </a:rPr>
              <a:t>13 · DELEGATION</a:t>
            </a:r>
            <a:endParaRPr lang="en-US" sz="1050" dirty="0"/>
          </a:p>
        </p:txBody>
      </p:sp>
      <p:sp>
        <p:nvSpPr>
          <p:cNvPr id="4" name="Text 1"/>
          <p:cNvSpPr/>
          <p:nvPr/>
        </p:nvSpPr>
        <p:spPr>
          <a:xfrm>
            <a:off x="420624" y="1481328"/>
            <a:ext cx="1463040" cy="1463040"/>
          </a:xfrm>
          <a:prstGeom prst="rect">
            <a:avLst/>
          </a:prstGeom>
          <a:noFill/>
          <a:ln/>
        </p:spPr>
        <p:txBody>
          <a:bodyPr wrap="square" lIns="0" tIns="0" rIns="0" bIns="0" rtlCol="0" anchor="ctr"/>
          <a:lstStyle/>
          <a:p>
            <a:pPr marL="0" indent="0">
              <a:buNone/>
            </a:pPr>
            <a:r>
              <a:rPr lang="en-US" sz="15000" b="1" dirty="0">
                <a:solidFill>
                  <a:srgbClr val="8E82F5">
                    <a:alpha val="38000"/>
                  </a:srgbClr>
                </a:solidFill>
                <a:latin typeface="Cambria" pitchFamily="34" charset="0"/>
                <a:ea typeface="Cambria" pitchFamily="34" charset="-122"/>
                <a:cs typeface="Cambria" pitchFamily="34" charset="-120"/>
              </a:rPr>
              <a:t>“</a:t>
            </a:r>
            <a:endParaRPr lang="en-US" sz="15000" dirty="0"/>
          </a:p>
        </p:txBody>
      </p:sp>
      <p:sp>
        <p:nvSpPr>
          <p:cNvPr id="5" name="Text 2"/>
          <p:cNvSpPr/>
          <p:nvPr/>
        </p:nvSpPr>
        <p:spPr>
          <a:xfrm>
            <a:off x="612648" y="2212848"/>
            <a:ext cx="9960559" cy="2377440"/>
          </a:xfrm>
          <a:prstGeom prst="rect">
            <a:avLst/>
          </a:prstGeom>
          <a:noFill/>
          <a:ln/>
        </p:spPr>
        <p:txBody>
          <a:bodyPr wrap="square" lIns="0" tIns="0" rIns="0" bIns="0" rtlCol="0" anchor="t"/>
          <a:lstStyle/>
          <a:p>
            <a:pPr marL="0" indent="0">
              <a:lnSpc>
                <a:spcPct val="116000"/>
              </a:lnSpc>
              <a:buNone/>
            </a:pPr>
            <a:r>
              <a:rPr lang="en-US" sz="3800" b="1" dirty="0">
                <a:solidFill>
                  <a:srgbClr val="FFFFFF"/>
                </a:solidFill>
                <a:latin typeface="Cambria" pitchFamily="34" charset="0"/>
                <a:ea typeface="Cambria" pitchFamily="34" charset="-122"/>
                <a:cs typeface="Cambria" pitchFamily="34" charset="-120"/>
              </a:rPr>
              <a:t>Most multi-agent systems should be</a:t>
            </a:r>
            <a:endParaRPr lang="en-US" sz="3800" dirty="0"/>
          </a:p>
          <a:p>
            <a:pPr marL="0" indent="0">
              <a:lnSpc>
                <a:spcPct val="116000"/>
              </a:lnSpc>
              <a:buNone/>
            </a:pPr>
            <a:r>
              <a:rPr lang="en-US" sz="3800" b="1" dirty="0">
                <a:solidFill>
                  <a:srgbClr val="FFFFFF"/>
                </a:solidFill>
                <a:latin typeface="Cambria" pitchFamily="34" charset="0"/>
                <a:ea typeface="Cambria" pitchFamily="34" charset="-122"/>
                <a:cs typeface="Cambria" pitchFamily="34" charset="-120"/>
              </a:rPr>
              <a:t>one agent with more tools.</a:t>
            </a:r>
            <a:endParaRPr lang="en-US" sz="3800" dirty="0"/>
          </a:p>
        </p:txBody>
      </p:sp>
      <p:sp>
        <p:nvSpPr>
          <p:cNvPr id="6" name="Text 3"/>
          <p:cNvSpPr/>
          <p:nvPr/>
        </p:nvSpPr>
        <p:spPr>
          <a:xfrm>
            <a:off x="612648" y="4718304"/>
            <a:ext cx="9777679" cy="822960"/>
          </a:xfrm>
          <a:prstGeom prst="rect">
            <a:avLst/>
          </a:prstGeom>
          <a:noFill/>
          <a:ln/>
        </p:spPr>
        <p:txBody>
          <a:bodyPr wrap="square" lIns="0" tIns="0" rIns="0" bIns="0" rtlCol="0" anchor="t"/>
          <a:lstStyle/>
          <a:p>
            <a:pPr marL="0" indent="0">
              <a:lnSpc>
                <a:spcPct val="120000"/>
              </a:lnSpc>
              <a:buNone/>
            </a:pPr>
            <a:r>
              <a:rPr lang="en-US" sz="1450" dirty="0">
                <a:solidFill>
                  <a:srgbClr val="B9B4E0"/>
                </a:solidFill>
                <a:latin typeface="Calibri" pitchFamily="34" charset="0"/>
                <a:ea typeface="Calibri" pitchFamily="34" charset="-122"/>
                <a:cs typeface="Calibri" pitchFamily="34" charset="-120"/>
              </a:rPr>
              <a:t>The org-chart metaphor is what seduces teams into a distributed systems problem they did not need to have.</a:t>
            </a:r>
            <a:endParaRPr lang="en-US" sz="145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13 · DELEGATION</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2800" b="1" dirty="0">
                <a:solidFill>
                  <a:srgbClr val="141235"/>
                </a:solidFill>
                <a:latin typeface="Cambria" pitchFamily="34" charset="0"/>
                <a:ea typeface="Cambria" pitchFamily="34" charset="-122"/>
                <a:cs typeface="Cambria" pitchFamily="34" charset="-120"/>
              </a:rPr>
              <a:t>Splitting the work pays for itself when — and only when</a:t>
            </a:r>
            <a:endParaRPr lang="en-US" sz="2800" dirty="0"/>
          </a:p>
        </p:txBody>
      </p:sp>
      <p:sp>
        <p:nvSpPr>
          <p:cNvPr id="4" name="Shape 2"/>
          <p:cNvSpPr/>
          <p:nvPr/>
        </p:nvSpPr>
        <p:spPr>
          <a:xfrm>
            <a:off x="566928" y="2058452"/>
            <a:ext cx="2586152" cy="2649657"/>
          </a:xfrm>
          <a:prstGeom prst="roundRect">
            <a:avLst>
              <a:gd name="adj" fmla="val 3182"/>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5" name="Shape 3"/>
          <p:cNvSpPr/>
          <p:nvPr/>
        </p:nvSpPr>
        <p:spPr>
          <a:xfrm>
            <a:off x="804672" y="2277908"/>
            <a:ext cx="365760" cy="365760"/>
          </a:xfrm>
          <a:prstGeom prst="ellipse">
            <a:avLst/>
          </a:prstGeom>
          <a:solidFill>
            <a:srgbClr val="5B4BE8"/>
          </a:solidFill>
          <a:ln w="12700">
            <a:solidFill>
              <a:srgbClr val="5B4BE8"/>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896112" y="2369348"/>
            <a:ext cx="182880" cy="182880"/>
          </a:xfrm>
          <a:prstGeom prst="rect">
            <a:avLst/>
          </a:prstGeom>
        </p:spPr>
      </p:pic>
      <p:sp>
        <p:nvSpPr>
          <p:cNvPr id="7" name="Text 4"/>
          <p:cNvSpPr/>
          <p:nvPr/>
        </p:nvSpPr>
        <p:spPr>
          <a:xfrm>
            <a:off x="1298448" y="2268764"/>
            <a:ext cx="1616888"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REASON 1</a:t>
            </a:r>
            <a:endParaRPr lang="en-US" sz="850" dirty="0"/>
          </a:p>
        </p:txBody>
      </p:sp>
      <p:sp>
        <p:nvSpPr>
          <p:cNvPr id="8" name="Text 5"/>
          <p:cNvSpPr/>
          <p:nvPr/>
        </p:nvSpPr>
        <p:spPr>
          <a:xfrm>
            <a:off x="1298448" y="2488220"/>
            <a:ext cx="1616888" cy="338511"/>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Different tools</a:t>
            </a:r>
            <a:endParaRPr lang="en-US" sz="1450" dirty="0"/>
          </a:p>
        </p:txBody>
      </p:sp>
      <p:sp>
        <p:nvSpPr>
          <p:cNvPr id="9" name="Text 6"/>
          <p:cNvSpPr/>
          <p:nvPr/>
        </p:nvSpPr>
        <p:spPr>
          <a:xfrm>
            <a:off x="1298448" y="2835874"/>
            <a:ext cx="1616888" cy="1689354"/>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The subtasks genuinely need different capabilities, and loading all of them into one agent makes it worse at choosing.</a:t>
            </a:r>
            <a:endParaRPr lang="en-US" sz="1150" dirty="0"/>
          </a:p>
        </p:txBody>
      </p:sp>
      <p:sp>
        <p:nvSpPr>
          <p:cNvPr id="10" name="Shape 7"/>
          <p:cNvSpPr/>
          <p:nvPr/>
        </p:nvSpPr>
        <p:spPr>
          <a:xfrm>
            <a:off x="3390824" y="2058452"/>
            <a:ext cx="2586152" cy="2649657"/>
          </a:xfrm>
          <a:prstGeom prst="roundRect">
            <a:avLst>
              <a:gd name="adj" fmla="val 3182"/>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1" name="Shape 8"/>
          <p:cNvSpPr/>
          <p:nvPr/>
        </p:nvSpPr>
        <p:spPr>
          <a:xfrm>
            <a:off x="3628568" y="2277908"/>
            <a:ext cx="365760" cy="365760"/>
          </a:xfrm>
          <a:prstGeom prst="ellipse">
            <a:avLst/>
          </a:prstGeom>
          <a:solidFill>
            <a:srgbClr val="5B4BE8"/>
          </a:solidFill>
          <a:ln w="12700">
            <a:solidFill>
              <a:srgbClr val="5B4BE8"/>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3720008" y="2369348"/>
            <a:ext cx="182880" cy="182880"/>
          </a:xfrm>
          <a:prstGeom prst="rect">
            <a:avLst/>
          </a:prstGeom>
        </p:spPr>
      </p:pic>
      <p:sp>
        <p:nvSpPr>
          <p:cNvPr id="13" name="Text 9"/>
          <p:cNvSpPr/>
          <p:nvPr/>
        </p:nvSpPr>
        <p:spPr>
          <a:xfrm>
            <a:off x="4122344" y="2268764"/>
            <a:ext cx="1616888"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REASON 2</a:t>
            </a:r>
            <a:endParaRPr lang="en-US" sz="850" dirty="0"/>
          </a:p>
        </p:txBody>
      </p:sp>
      <p:sp>
        <p:nvSpPr>
          <p:cNvPr id="14" name="Text 10"/>
          <p:cNvSpPr/>
          <p:nvPr/>
        </p:nvSpPr>
        <p:spPr>
          <a:xfrm>
            <a:off x="4122344" y="2488220"/>
            <a:ext cx="1616888" cy="622158"/>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Different models</a:t>
            </a:r>
            <a:endParaRPr lang="en-US" sz="1450" dirty="0"/>
          </a:p>
        </p:txBody>
      </p:sp>
      <p:sp>
        <p:nvSpPr>
          <p:cNvPr id="15" name="Text 11"/>
          <p:cNvSpPr/>
          <p:nvPr/>
        </p:nvSpPr>
        <p:spPr>
          <a:xfrm>
            <a:off x="4122344" y="3119521"/>
            <a:ext cx="1616888" cy="1405707"/>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One part needs a strong, expensive model and the rest does not. Splitting is how you stop paying for the strong one everywhere.</a:t>
            </a:r>
            <a:endParaRPr lang="en-US" sz="1150" dirty="0"/>
          </a:p>
        </p:txBody>
      </p:sp>
      <p:sp>
        <p:nvSpPr>
          <p:cNvPr id="16" name="Shape 12"/>
          <p:cNvSpPr/>
          <p:nvPr/>
        </p:nvSpPr>
        <p:spPr>
          <a:xfrm>
            <a:off x="6214720" y="2058452"/>
            <a:ext cx="2586152" cy="2649657"/>
          </a:xfrm>
          <a:prstGeom prst="roundRect">
            <a:avLst>
              <a:gd name="adj" fmla="val 3182"/>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7" name="Shape 13"/>
          <p:cNvSpPr/>
          <p:nvPr/>
        </p:nvSpPr>
        <p:spPr>
          <a:xfrm>
            <a:off x="6452464" y="2277908"/>
            <a:ext cx="365760" cy="365760"/>
          </a:xfrm>
          <a:prstGeom prst="ellipse">
            <a:avLst/>
          </a:prstGeom>
          <a:solidFill>
            <a:srgbClr val="5B4BE8"/>
          </a:solidFill>
          <a:ln w="12700">
            <a:solidFill>
              <a:srgbClr val="5B4BE8"/>
            </a:solidFill>
            <a:prstDash val="solid"/>
          </a:ln>
        </p:spPr>
        <p:txBody>
          <a:bodyPr/>
          <a:lstStyle/>
          <a:p>
            <a:endParaRPr lang="en-US"/>
          </a:p>
        </p:txBody>
      </p:sp>
      <p:pic>
        <p:nvPicPr>
          <p:cNvPr id="18" name="Image 2" descr="preencoded.png"/>
          <p:cNvPicPr>
            <a:picLocks noChangeAspect="1"/>
          </p:cNvPicPr>
          <p:nvPr/>
        </p:nvPicPr>
        <p:blipFill>
          <a:blip r:embed="rId5"/>
          <a:stretch>
            <a:fillRect/>
          </a:stretch>
        </p:blipFill>
        <p:spPr>
          <a:xfrm>
            <a:off x="6543904" y="2369348"/>
            <a:ext cx="182880" cy="182880"/>
          </a:xfrm>
          <a:prstGeom prst="rect">
            <a:avLst/>
          </a:prstGeom>
        </p:spPr>
      </p:pic>
      <p:sp>
        <p:nvSpPr>
          <p:cNvPr id="19" name="Text 14"/>
          <p:cNvSpPr/>
          <p:nvPr/>
        </p:nvSpPr>
        <p:spPr>
          <a:xfrm>
            <a:off x="6946240" y="2268764"/>
            <a:ext cx="1616888"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REASON 3</a:t>
            </a:r>
            <a:endParaRPr lang="en-US" sz="850" dirty="0"/>
          </a:p>
        </p:txBody>
      </p:sp>
      <p:sp>
        <p:nvSpPr>
          <p:cNvPr id="20" name="Text 15"/>
          <p:cNvSpPr/>
          <p:nvPr/>
        </p:nvSpPr>
        <p:spPr>
          <a:xfrm>
            <a:off x="6946240" y="2488220"/>
            <a:ext cx="1616888" cy="622158"/>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Different permissions</a:t>
            </a:r>
            <a:endParaRPr lang="en-US" sz="1450" dirty="0"/>
          </a:p>
        </p:txBody>
      </p:sp>
      <p:sp>
        <p:nvSpPr>
          <p:cNvPr id="21" name="Text 16"/>
          <p:cNvSpPr/>
          <p:nvPr/>
        </p:nvSpPr>
        <p:spPr>
          <a:xfrm>
            <a:off x="6946240" y="3119521"/>
            <a:ext cx="1616888" cy="1405707"/>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One part reads customer data and another writes to a ledger. They should not share a single credential or a single blast radius.</a:t>
            </a:r>
            <a:endParaRPr lang="en-US" sz="1150" dirty="0"/>
          </a:p>
        </p:txBody>
      </p:sp>
      <p:sp>
        <p:nvSpPr>
          <p:cNvPr id="22" name="Shape 17"/>
          <p:cNvSpPr/>
          <p:nvPr/>
        </p:nvSpPr>
        <p:spPr>
          <a:xfrm>
            <a:off x="9038615" y="2058452"/>
            <a:ext cx="2586152" cy="2649657"/>
          </a:xfrm>
          <a:prstGeom prst="roundRect">
            <a:avLst>
              <a:gd name="adj" fmla="val 3182"/>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23" name="Shape 18"/>
          <p:cNvSpPr/>
          <p:nvPr/>
        </p:nvSpPr>
        <p:spPr>
          <a:xfrm>
            <a:off x="9276359" y="2277908"/>
            <a:ext cx="365760" cy="365760"/>
          </a:xfrm>
          <a:prstGeom prst="ellipse">
            <a:avLst/>
          </a:prstGeom>
          <a:solidFill>
            <a:srgbClr val="5B4BE8"/>
          </a:solidFill>
          <a:ln w="12700">
            <a:solidFill>
              <a:srgbClr val="5B4BE8"/>
            </a:solidFill>
            <a:prstDash val="solid"/>
          </a:ln>
        </p:spPr>
        <p:txBody>
          <a:bodyPr/>
          <a:lstStyle/>
          <a:p>
            <a:endParaRPr lang="en-US"/>
          </a:p>
        </p:txBody>
      </p:sp>
      <p:pic>
        <p:nvPicPr>
          <p:cNvPr id="24" name="Image 3" descr="preencoded.png"/>
          <p:cNvPicPr>
            <a:picLocks noChangeAspect="1"/>
          </p:cNvPicPr>
          <p:nvPr/>
        </p:nvPicPr>
        <p:blipFill>
          <a:blip r:embed="rId6"/>
          <a:stretch>
            <a:fillRect/>
          </a:stretch>
        </p:blipFill>
        <p:spPr>
          <a:xfrm>
            <a:off x="9367799" y="2369348"/>
            <a:ext cx="182880" cy="182880"/>
          </a:xfrm>
          <a:prstGeom prst="rect">
            <a:avLst/>
          </a:prstGeom>
        </p:spPr>
      </p:pic>
      <p:sp>
        <p:nvSpPr>
          <p:cNvPr id="25" name="Text 19"/>
          <p:cNvSpPr/>
          <p:nvPr/>
        </p:nvSpPr>
        <p:spPr>
          <a:xfrm>
            <a:off x="9770135" y="2268764"/>
            <a:ext cx="1616888"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REASON 4</a:t>
            </a:r>
            <a:endParaRPr lang="en-US" sz="850" dirty="0"/>
          </a:p>
        </p:txBody>
      </p:sp>
      <p:sp>
        <p:nvSpPr>
          <p:cNvPr id="26" name="Text 20"/>
          <p:cNvSpPr/>
          <p:nvPr/>
        </p:nvSpPr>
        <p:spPr>
          <a:xfrm>
            <a:off x="9770135" y="2488220"/>
            <a:ext cx="1616888" cy="622158"/>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Different scaling</a:t>
            </a:r>
            <a:endParaRPr lang="en-US" sz="1450" dirty="0"/>
          </a:p>
        </p:txBody>
      </p:sp>
      <p:sp>
        <p:nvSpPr>
          <p:cNvPr id="27" name="Text 21"/>
          <p:cNvSpPr/>
          <p:nvPr/>
        </p:nvSpPr>
        <p:spPr>
          <a:xfrm>
            <a:off x="9770135" y="3119521"/>
            <a:ext cx="1616888" cy="1405707"/>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One part is called a thousand times an hour and the rest twice a day. Separate them and you can size them separately.</a:t>
            </a:r>
            <a:endParaRPr lang="en-US" sz="1150" dirty="0"/>
          </a:p>
        </p:txBody>
      </p:sp>
      <p:sp>
        <p:nvSpPr>
          <p:cNvPr id="28" name="Text 22"/>
          <p:cNvSpPr/>
          <p:nvPr/>
        </p:nvSpPr>
        <p:spPr>
          <a:xfrm>
            <a:off x="566928" y="4974336"/>
            <a:ext cx="11057839" cy="329184"/>
          </a:xfrm>
          <a:prstGeom prst="rect">
            <a:avLst/>
          </a:prstGeom>
          <a:noFill/>
          <a:ln/>
        </p:spPr>
        <p:txBody>
          <a:bodyPr wrap="square" lIns="0" tIns="0" rIns="0" bIns="0" rtlCol="0" anchor="ctr"/>
          <a:lstStyle/>
          <a:p>
            <a:pPr marL="0" indent="0">
              <a:buNone/>
            </a:pPr>
            <a:r>
              <a:rPr lang="en-US" sz="1400" i="1" dirty="0">
                <a:solidFill>
                  <a:srgbClr val="D93A3F"/>
                </a:solidFill>
                <a:latin typeface="Calibri" pitchFamily="34" charset="0"/>
                <a:ea typeface="Calibri" pitchFamily="34" charset="-122"/>
                <a:cs typeface="Calibri" pitchFamily="34" charset="-120"/>
              </a:rPr>
              <a:t>Otherwise you have bought a distributed systems problem in exchange for a metaphor.</a:t>
            </a:r>
            <a:endParaRPr lang="en-US" sz="1400" dirty="0"/>
          </a:p>
        </p:txBody>
      </p:sp>
      <p:sp>
        <p:nvSpPr>
          <p:cNvPr id="29" name="Shape 23"/>
          <p:cNvSpPr/>
          <p:nvPr/>
        </p:nvSpPr>
        <p:spPr>
          <a:xfrm>
            <a:off x="566928" y="5413248"/>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30" name="Shape 24"/>
          <p:cNvSpPr/>
          <p:nvPr/>
        </p:nvSpPr>
        <p:spPr>
          <a:xfrm>
            <a:off x="841248" y="5632704"/>
            <a:ext cx="384048" cy="384048"/>
          </a:xfrm>
          <a:prstGeom prst="ellipse">
            <a:avLst/>
          </a:prstGeom>
          <a:solidFill>
            <a:srgbClr val="F5A524"/>
          </a:solidFill>
          <a:ln w="12700">
            <a:solidFill>
              <a:srgbClr val="F5A524"/>
            </a:solidFill>
            <a:prstDash val="solid"/>
          </a:ln>
        </p:spPr>
        <p:txBody>
          <a:bodyPr/>
          <a:lstStyle/>
          <a:p>
            <a:endParaRPr lang="en-US"/>
          </a:p>
        </p:txBody>
      </p:sp>
      <p:pic>
        <p:nvPicPr>
          <p:cNvPr id="31" name="Image 4" descr="preencoded.png"/>
          <p:cNvPicPr>
            <a:picLocks noChangeAspect="1"/>
          </p:cNvPicPr>
          <p:nvPr/>
        </p:nvPicPr>
        <p:blipFill>
          <a:blip r:embed="rId7"/>
          <a:stretch>
            <a:fillRect/>
          </a:stretch>
        </p:blipFill>
        <p:spPr>
          <a:xfrm>
            <a:off x="937260" y="5728716"/>
            <a:ext cx="192024" cy="192024"/>
          </a:xfrm>
          <a:prstGeom prst="rect">
            <a:avLst/>
          </a:prstGeom>
        </p:spPr>
      </p:pic>
      <p:sp>
        <p:nvSpPr>
          <p:cNvPr id="32" name="Text 25"/>
          <p:cNvSpPr/>
          <p:nvPr/>
        </p:nvSpPr>
        <p:spPr>
          <a:xfrm>
            <a:off x="1371600" y="5468112"/>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Reason 3 is the one that convinces a risk function. Separate agents give you separate permissions and separate audit trails — that is a governance win, not an architecture fashion.</a:t>
            </a:r>
            <a:endParaRPr lang="en-US" sz="105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13 · DELEGATION</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3000" b="1" dirty="0">
                <a:solidFill>
                  <a:srgbClr val="141235"/>
                </a:solidFill>
                <a:latin typeface="Cambria" pitchFamily="34" charset="0"/>
                <a:ea typeface="Cambria" pitchFamily="34" charset="-122"/>
                <a:cs typeface="Cambria" pitchFamily="34" charset="-120"/>
              </a:rPr>
              <a:t>A supervisor pattern, kept honest by a comparison</a:t>
            </a:r>
            <a:endParaRPr lang="en-US" sz="3000" dirty="0"/>
          </a:p>
        </p:txBody>
      </p:sp>
      <p:sp>
        <p:nvSpPr>
          <p:cNvPr id="4" name="Shape 2"/>
          <p:cNvSpPr/>
          <p:nvPr/>
        </p:nvSpPr>
        <p:spPr>
          <a:xfrm>
            <a:off x="566928" y="2450592"/>
            <a:ext cx="3527450" cy="2468880"/>
          </a:xfrm>
          <a:prstGeom prst="roundRect">
            <a:avLst>
              <a:gd name="adj" fmla="val 3333"/>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5" name="Shape 3"/>
          <p:cNvSpPr/>
          <p:nvPr/>
        </p:nvSpPr>
        <p:spPr>
          <a:xfrm>
            <a:off x="804672" y="2670048"/>
            <a:ext cx="365760" cy="365760"/>
          </a:xfrm>
          <a:prstGeom prst="ellipse">
            <a:avLst/>
          </a:prstGeom>
          <a:solidFill>
            <a:srgbClr val="5B4BE8"/>
          </a:solidFill>
          <a:ln w="12700">
            <a:solidFill>
              <a:srgbClr val="5B4BE8"/>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896112" y="2761488"/>
            <a:ext cx="182880" cy="182880"/>
          </a:xfrm>
          <a:prstGeom prst="rect">
            <a:avLst/>
          </a:prstGeom>
        </p:spPr>
      </p:pic>
      <p:sp>
        <p:nvSpPr>
          <p:cNvPr id="7" name="Text 4"/>
          <p:cNvSpPr/>
          <p:nvPr/>
        </p:nvSpPr>
        <p:spPr>
          <a:xfrm>
            <a:off x="1298448" y="2660904"/>
            <a:ext cx="2558186"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BUILD</a:t>
            </a:r>
            <a:endParaRPr lang="en-US" sz="850" dirty="0"/>
          </a:p>
        </p:txBody>
      </p:sp>
      <p:sp>
        <p:nvSpPr>
          <p:cNvPr id="8" name="Text 5"/>
          <p:cNvSpPr/>
          <p:nvPr/>
        </p:nvSpPr>
        <p:spPr>
          <a:xfrm>
            <a:off x="1298448" y="2880360"/>
            <a:ext cx="2558186" cy="622158"/>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Three specialists behind one router</a:t>
            </a:r>
            <a:endParaRPr lang="en-US" sz="1450" dirty="0"/>
          </a:p>
        </p:txBody>
      </p:sp>
      <p:sp>
        <p:nvSpPr>
          <p:cNvPr id="9" name="Text 6"/>
          <p:cNvSpPr/>
          <p:nvPr/>
        </p:nvSpPr>
        <p:spPr>
          <a:xfrm>
            <a:off x="1298448" y="3511662"/>
            <a:ext cx="2558186" cy="1224930"/>
          </a:xfrm>
          <a:prstGeom prst="rect">
            <a:avLst/>
          </a:prstGeom>
          <a:noFill/>
          <a:ln/>
        </p:spPr>
        <p:txBody>
          <a:bodyPr wrap="square" lIns="0" tIns="0" rIns="0" bIns="0" rtlCol="0" anchor="t"/>
          <a:lstStyle/>
          <a:p>
            <a:pPr marL="0" indent="0">
              <a:lnSpc>
                <a:spcPct val="113000"/>
              </a:lnSpc>
              <a:buNone/>
            </a:pPr>
            <a:r>
              <a:rPr lang="en-US" sz="1200" dirty="0">
                <a:solidFill>
                  <a:srgbClr val="6E6B8A"/>
                </a:solidFill>
                <a:latin typeface="Calibri" pitchFamily="34" charset="0"/>
                <a:ea typeface="Calibri" pitchFamily="34" charset="-122"/>
                <a:cs typeface="Calibri" pitchFamily="34" charset="-120"/>
              </a:rPr>
              <a:t>Same tools, same task, same corpus as the single plain agent you already have. The only variable is the topology.</a:t>
            </a:r>
            <a:endParaRPr lang="en-US" sz="1200" dirty="0"/>
          </a:p>
        </p:txBody>
      </p:sp>
      <p:sp>
        <p:nvSpPr>
          <p:cNvPr id="10" name="Shape 7"/>
          <p:cNvSpPr/>
          <p:nvPr/>
        </p:nvSpPr>
        <p:spPr>
          <a:xfrm>
            <a:off x="4332122" y="2450592"/>
            <a:ext cx="3527450" cy="2468880"/>
          </a:xfrm>
          <a:prstGeom prst="roundRect">
            <a:avLst>
              <a:gd name="adj" fmla="val 3333"/>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1" name="Shape 8"/>
          <p:cNvSpPr/>
          <p:nvPr/>
        </p:nvSpPr>
        <p:spPr>
          <a:xfrm>
            <a:off x="4569866" y="2670048"/>
            <a:ext cx="365760" cy="365760"/>
          </a:xfrm>
          <a:prstGeom prst="ellipse">
            <a:avLst/>
          </a:prstGeom>
          <a:solidFill>
            <a:srgbClr val="F5A524"/>
          </a:solidFill>
          <a:ln w="12700">
            <a:solidFill>
              <a:srgbClr val="F5A524"/>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4661306" y="2761488"/>
            <a:ext cx="182880" cy="182880"/>
          </a:xfrm>
          <a:prstGeom prst="rect">
            <a:avLst/>
          </a:prstGeom>
        </p:spPr>
      </p:pic>
      <p:sp>
        <p:nvSpPr>
          <p:cNvPr id="13" name="Text 9"/>
          <p:cNvSpPr/>
          <p:nvPr/>
        </p:nvSpPr>
        <p:spPr>
          <a:xfrm>
            <a:off x="5063642" y="2660904"/>
            <a:ext cx="2558186"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WATCH</a:t>
            </a:r>
            <a:endParaRPr lang="en-US" sz="850" dirty="0"/>
          </a:p>
        </p:txBody>
      </p:sp>
      <p:sp>
        <p:nvSpPr>
          <p:cNvPr id="14" name="Text 10"/>
          <p:cNvSpPr/>
          <p:nvPr/>
        </p:nvSpPr>
        <p:spPr>
          <a:xfrm>
            <a:off x="5063642" y="2880360"/>
            <a:ext cx="2558186" cy="622158"/>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Make the descriptions overlap</a:t>
            </a:r>
            <a:endParaRPr lang="en-US" sz="1450" dirty="0"/>
          </a:p>
        </p:txBody>
      </p:sp>
      <p:sp>
        <p:nvSpPr>
          <p:cNvPr id="15" name="Text 11"/>
          <p:cNvSpPr/>
          <p:nvPr/>
        </p:nvSpPr>
        <p:spPr>
          <a:xfrm>
            <a:off x="5063642" y="3511662"/>
            <a:ext cx="2558186" cy="1224930"/>
          </a:xfrm>
          <a:prstGeom prst="rect">
            <a:avLst/>
          </a:prstGeom>
          <a:noFill/>
          <a:ln/>
        </p:spPr>
        <p:txBody>
          <a:bodyPr wrap="square" lIns="0" tIns="0" rIns="0" bIns="0" rtlCol="0" anchor="t"/>
          <a:lstStyle/>
          <a:p>
            <a:pPr marL="0" indent="0">
              <a:lnSpc>
                <a:spcPct val="113000"/>
              </a:lnSpc>
              <a:buNone/>
            </a:pPr>
            <a:r>
              <a:rPr lang="en-US" sz="1200" dirty="0">
                <a:solidFill>
                  <a:srgbClr val="6E6B8A"/>
                </a:solidFill>
                <a:latin typeface="Calibri" pitchFamily="34" charset="0"/>
                <a:ea typeface="Calibri" pitchFamily="34" charset="-122"/>
                <a:cs typeface="Calibri" pitchFamily="34" charset="-120"/>
              </a:rPr>
              <a:t>A weaker router misroutes when specialist descriptions blur into each other. If it happens live, that is the lesson landing — it is the same failure as module 04.</a:t>
            </a:r>
            <a:endParaRPr lang="en-US" sz="1200" dirty="0"/>
          </a:p>
        </p:txBody>
      </p:sp>
      <p:sp>
        <p:nvSpPr>
          <p:cNvPr id="16" name="Shape 12"/>
          <p:cNvSpPr/>
          <p:nvPr/>
        </p:nvSpPr>
        <p:spPr>
          <a:xfrm>
            <a:off x="8097317" y="2450592"/>
            <a:ext cx="3527450" cy="2468880"/>
          </a:xfrm>
          <a:prstGeom prst="roundRect">
            <a:avLst>
              <a:gd name="adj" fmla="val 3333"/>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7" name="Shape 13"/>
          <p:cNvSpPr/>
          <p:nvPr/>
        </p:nvSpPr>
        <p:spPr>
          <a:xfrm>
            <a:off x="8335061" y="2670048"/>
            <a:ext cx="365760" cy="365760"/>
          </a:xfrm>
          <a:prstGeom prst="ellipse">
            <a:avLst/>
          </a:prstGeom>
          <a:solidFill>
            <a:srgbClr val="5B4BE8"/>
          </a:solidFill>
          <a:ln w="12700">
            <a:solidFill>
              <a:srgbClr val="5B4BE8"/>
            </a:solidFill>
            <a:prstDash val="solid"/>
          </a:ln>
        </p:spPr>
        <p:txBody>
          <a:bodyPr/>
          <a:lstStyle/>
          <a:p>
            <a:endParaRPr lang="en-US"/>
          </a:p>
        </p:txBody>
      </p:sp>
      <p:pic>
        <p:nvPicPr>
          <p:cNvPr id="18" name="Image 2" descr="preencoded.png"/>
          <p:cNvPicPr>
            <a:picLocks noChangeAspect="1"/>
          </p:cNvPicPr>
          <p:nvPr/>
        </p:nvPicPr>
        <p:blipFill>
          <a:blip r:embed="rId5"/>
          <a:stretch>
            <a:fillRect/>
          </a:stretch>
        </p:blipFill>
        <p:spPr>
          <a:xfrm>
            <a:off x="8426501" y="2761488"/>
            <a:ext cx="182880" cy="182880"/>
          </a:xfrm>
          <a:prstGeom prst="rect">
            <a:avLst/>
          </a:prstGeom>
        </p:spPr>
      </p:pic>
      <p:sp>
        <p:nvSpPr>
          <p:cNvPr id="19" name="Text 14"/>
          <p:cNvSpPr/>
          <p:nvPr/>
        </p:nvSpPr>
        <p:spPr>
          <a:xfrm>
            <a:off x="8828837" y="2660904"/>
            <a:ext cx="2558186"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MEASURE</a:t>
            </a:r>
            <a:endParaRPr lang="en-US" sz="850" dirty="0"/>
          </a:p>
        </p:txBody>
      </p:sp>
      <p:sp>
        <p:nvSpPr>
          <p:cNvPr id="20" name="Text 15"/>
          <p:cNvSpPr/>
          <p:nvPr/>
        </p:nvSpPr>
        <p:spPr>
          <a:xfrm>
            <a:off x="8828837" y="2880360"/>
            <a:ext cx="2558186" cy="622158"/>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Lines of code, tokens, resumability</a:t>
            </a:r>
            <a:endParaRPr lang="en-US" sz="1450" dirty="0"/>
          </a:p>
        </p:txBody>
      </p:sp>
      <p:sp>
        <p:nvSpPr>
          <p:cNvPr id="21" name="Text 16"/>
          <p:cNvSpPr/>
          <p:nvPr/>
        </p:nvSpPr>
        <p:spPr>
          <a:xfrm>
            <a:off x="8828837" y="3511662"/>
            <a:ext cx="2558186" cy="1224930"/>
          </a:xfrm>
          <a:prstGeom prst="rect">
            <a:avLst/>
          </a:prstGeom>
          <a:noFill/>
          <a:ln/>
        </p:spPr>
        <p:txBody>
          <a:bodyPr wrap="square" lIns="0" tIns="0" rIns="0" bIns="0" rtlCol="0" anchor="t"/>
          <a:lstStyle/>
          <a:p>
            <a:pPr marL="0" indent="0">
              <a:lnSpc>
                <a:spcPct val="113000"/>
              </a:lnSpc>
              <a:buNone/>
            </a:pPr>
            <a:r>
              <a:rPr lang="en-US" sz="1200" dirty="0">
                <a:solidFill>
                  <a:srgbClr val="6E6B8A"/>
                </a:solidFill>
                <a:latin typeface="Calibri" pitchFamily="34" charset="0"/>
                <a:ea typeface="Calibri" pitchFamily="34" charset="-122"/>
                <a:cs typeface="Calibri" pitchFamily="34" charset="-120"/>
              </a:rPr>
              <a:t>Then compare against the single agent on the identical task. Numbers, not a feeling about which diagram looked nicer.</a:t>
            </a:r>
            <a:endParaRPr lang="en-US" sz="1200" dirty="0"/>
          </a:p>
        </p:txBody>
      </p:sp>
      <p:sp>
        <p:nvSpPr>
          <p:cNvPr id="22" name="Shape 17"/>
          <p:cNvSpPr/>
          <p:nvPr/>
        </p:nvSpPr>
        <p:spPr>
          <a:xfrm>
            <a:off x="566928" y="5541264"/>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23" name="Shape 18"/>
          <p:cNvSpPr/>
          <p:nvPr/>
        </p:nvSpPr>
        <p:spPr>
          <a:xfrm>
            <a:off x="841248" y="5760720"/>
            <a:ext cx="384048" cy="384048"/>
          </a:xfrm>
          <a:prstGeom prst="ellipse">
            <a:avLst/>
          </a:prstGeom>
          <a:solidFill>
            <a:srgbClr val="F5A524"/>
          </a:solidFill>
          <a:ln w="12700">
            <a:solidFill>
              <a:srgbClr val="F5A524"/>
            </a:solidFill>
            <a:prstDash val="solid"/>
          </a:ln>
        </p:spPr>
        <p:txBody>
          <a:bodyPr/>
          <a:lstStyle/>
          <a:p>
            <a:endParaRPr lang="en-US"/>
          </a:p>
        </p:txBody>
      </p:sp>
      <p:pic>
        <p:nvPicPr>
          <p:cNvPr id="24" name="Image 3" descr="preencoded.png"/>
          <p:cNvPicPr>
            <a:picLocks noChangeAspect="1"/>
          </p:cNvPicPr>
          <p:nvPr/>
        </p:nvPicPr>
        <p:blipFill>
          <a:blip r:embed="rId6"/>
          <a:stretch>
            <a:fillRect/>
          </a:stretch>
        </p:blipFill>
        <p:spPr>
          <a:xfrm>
            <a:off x="937260" y="5856732"/>
            <a:ext cx="192024" cy="192024"/>
          </a:xfrm>
          <a:prstGeom prst="rect">
            <a:avLst/>
          </a:prstGeom>
        </p:spPr>
      </p:pic>
      <p:sp>
        <p:nvSpPr>
          <p:cNvPr id="25" name="Text 19"/>
          <p:cNvSpPr/>
          <p:nvPr/>
        </p:nvSpPr>
        <p:spPr>
          <a:xfrm>
            <a:off x="1371600" y="5596128"/>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Build the fancy version, measure it against the simple version, and be willing to conclude that the simple version won.</a:t>
            </a:r>
            <a:endParaRPr lang="en-US" sz="105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0B0A22"/>
        </a:solidFill>
        <a:effectLst/>
      </p:bgPr>
    </p:bg>
    <p:spTree>
      <p:nvGrpSpPr>
        <p:cNvPr id="1" name=""/>
        <p:cNvGrpSpPr/>
        <p:nvPr/>
      </p:nvGrpSpPr>
      <p:grpSpPr>
        <a:xfrm>
          <a:off x="0" y="0"/>
          <a:ext cx="0" cy="0"/>
          <a:chOff x="0" y="0"/>
          <a:chExt cx="0" cy="0"/>
        </a:xfrm>
      </p:grpSpPr>
      <p:pic>
        <p:nvPicPr>
          <p:cNvPr id="2" name="Image 0" descr="/home/claude/work/bg_dark.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6126480" y="1234440"/>
            <a:ext cx="5486400" cy="2743200"/>
          </a:xfrm>
          <a:prstGeom prst="rect">
            <a:avLst/>
          </a:prstGeom>
          <a:noFill/>
          <a:ln/>
        </p:spPr>
        <p:txBody>
          <a:bodyPr wrap="square" lIns="0" tIns="0" rIns="0" bIns="0" rtlCol="0" anchor="ctr"/>
          <a:lstStyle/>
          <a:p>
            <a:pPr marL="0" indent="0" algn="r">
              <a:buNone/>
            </a:pPr>
            <a:r>
              <a:rPr lang="en-US" sz="17600" b="1" dirty="0">
                <a:solidFill>
                  <a:srgbClr val="5B4BE8">
                    <a:alpha val="30000"/>
                  </a:srgbClr>
                </a:solidFill>
                <a:latin typeface="Cambria" pitchFamily="34" charset="0"/>
                <a:ea typeface="Cambria" pitchFamily="34" charset="-122"/>
                <a:cs typeface="Cambria" pitchFamily="34" charset="-120"/>
              </a:rPr>
              <a:t>14</a:t>
            </a:r>
            <a:endParaRPr lang="en-US" sz="17600" dirty="0"/>
          </a:p>
        </p:txBody>
      </p:sp>
      <p:sp>
        <p:nvSpPr>
          <p:cNvPr id="4" name="Shape 1"/>
          <p:cNvSpPr/>
          <p:nvPr/>
        </p:nvSpPr>
        <p:spPr>
          <a:xfrm>
            <a:off x="566928" y="2084832"/>
            <a:ext cx="566928" cy="566928"/>
          </a:xfrm>
          <a:prstGeom prst="ellipse">
            <a:avLst/>
          </a:prstGeom>
          <a:solidFill>
            <a:srgbClr val="F5A524"/>
          </a:solidFill>
          <a:ln w="12700">
            <a:solidFill>
              <a:srgbClr val="F5A524"/>
            </a:solidFill>
            <a:prstDash val="solid"/>
          </a:ln>
        </p:spPr>
        <p:txBody>
          <a:bodyPr/>
          <a:lstStyle/>
          <a:p>
            <a:endParaRPr lang="en-US"/>
          </a:p>
        </p:txBody>
      </p:sp>
      <p:pic>
        <p:nvPicPr>
          <p:cNvPr id="5" name="Image 1" descr="preencoded.png"/>
          <p:cNvPicPr>
            <a:picLocks noChangeAspect="1"/>
          </p:cNvPicPr>
          <p:nvPr/>
        </p:nvPicPr>
        <p:blipFill>
          <a:blip r:embed="rId4"/>
          <a:stretch>
            <a:fillRect/>
          </a:stretch>
        </p:blipFill>
        <p:spPr>
          <a:xfrm>
            <a:off x="708660" y="2226564"/>
            <a:ext cx="283464" cy="283464"/>
          </a:xfrm>
          <a:prstGeom prst="rect">
            <a:avLst/>
          </a:prstGeom>
        </p:spPr>
      </p:pic>
      <p:sp>
        <p:nvSpPr>
          <p:cNvPr id="6" name="Text 2"/>
          <p:cNvSpPr/>
          <p:nvPr/>
        </p:nvSpPr>
        <p:spPr>
          <a:xfrm>
            <a:off x="566928" y="2852928"/>
            <a:ext cx="7315200" cy="256032"/>
          </a:xfrm>
          <a:prstGeom prst="rect">
            <a:avLst/>
          </a:prstGeom>
          <a:noFill/>
          <a:ln/>
        </p:spPr>
        <p:txBody>
          <a:bodyPr wrap="square" lIns="0" tIns="0" rIns="0" bIns="0" rtlCol="0" anchor="ctr"/>
          <a:lstStyle/>
          <a:p>
            <a:pPr marL="0" indent="0">
              <a:buNone/>
            </a:pPr>
            <a:r>
              <a:rPr lang="en-US" sz="1100" b="1" kern="0" spc="240" dirty="0">
                <a:solidFill>
                  <a:srgbClr val="F5A524"/>
                </a:solidFill>
                <a:latin typeface="Calibri" pitchFamily="34" charset="0"/>
                <a:ea typeface="Calibri" pitchFamily="34" charset="-122"/>
                <a:cs typeface="Calibri" pitchFamily="34" charset="-120"/>
              </a:rPr>
              <a:t>MODULE 14</a:t>
            </a:r>
            <a:endParaRPr lang="en-US" sz="1100" dirty="0"/>
          </a:p>
        </p:txBody>
      </p:sp>
      <p:sp>
        <p:nvSpPr>
          <p:cNvPr id="7" name="Text 3"/>
          <p:cNvSpPr/>
          <p:nvPr/>
        </p:nvSpPr>
        <p:spPr>
          <a:xfrm>
            <a:off x="566928" y="3145536"/>
            <a:ext cx="8595360" cy="914400"/>
          </a:xfrm>
          <a:prstGeom prst="rect">
            <a:avLst/>
          </a:prstGeom>
          <a:noFill/>
          <a:ln/>
        </p:spPr>
        <p:txBody>
          <a:bodyPr wrap="square" lIns="0" tIns="0" rIns="0" bIns="0" rtlCol="0" anchor="t"/>
          <a:lstStyle/>
          <a:p>
            <a:pPr marL="0" indent="0">
              <a:buNone/>
            </a:pPr>
            <a:r>
              <a:rPr lang="en-US" sz="4600" b="1" dirty="0">
                <a:solidFill>
                  <a:srgbClr val="FFFFFF"/>
                </a:solidFill>
                <a:latin typeface="Cambria" pitchFamily="34" charset="0"/>
                <a:ea typeface="Cambria" pitchFamily="34" charset="-122"/>
                <a:cs typeface="Cambria" pitchFamily="34" charset="-120"/>
              </a:rPr>
              <a:t>Security</a:t>
            </a:r>
            <a:endParaRPr lang="en-US" sz="4600" dirty="0"/>
          </a:p>
        </p:txBody>
      </p:sp>
      <p:sp>
        <p:nvSpPr>
          <p:cNvPr id="8" name="Text 4"/>
          <p:cNvSpPr/>
          <p:nvPr/>
        </p:nvSpPr>
        <p:spPr>
          <a:xfrm>
            <a:off x="566928" y="4169664"/>
            <a:ext cx="7863840" cy="731520"/>
          </a:xfrm>
          <a:prstGeom prst="rect">
            <a:avLst/>
          </a:prstGeom>
          <a:noFill/>
          <a:ln/>
        </p:spPr>
        <p:txBody>
          <a:bodyPr wrap="square" lIns="0" tIns="0" rIns="0" bIns="0" rtlCol="0" anchor="t"/>
          <a:lstStyle/>
          <a:p>
            <a:pPr marL="0" indent="0">
              <a:lnSpc>
                <a:spcPct val="120000"/>
              </a:lnSpc>
              <a:buNone/>
            </a:pPr>
            <a:r>
              <a:rPr lang="en-US" sz="1600" dirty="0">
                <a:solidFill>
                  <a:srgbClr val="B9B4E0"/>
                </a:solidFill>
                <a:latin typeface="Calibri" pitchFamily="34" charset="0"/>
                <a:ea typeface="Calibri" pitchFamily="34" charset="-122"/>
                <a:cs typeface="Calibri" pitchFamily="34" charset="-120"/>
              </a:rPr>
              <a:t>The agent does not do something wrong. Your code does — because it was asked to.</a:t>
            </a:r>
            <a:endParaRPr lang="en-US" sz="16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14 · SECURITY</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3000" b="1" dirty="0">
                <a:solidFill>
                  <a:srgbClr val="141235"/>
                </a:solidFill>
                <a:latin typeface="Cambria" pitchFamily="34" charset="0"/>
                <a:ea typeface="Cambria" pitchFamily="34" charset="-122"/>
                <a:cs typeface="Cambria" pitchFamily="34" charset="-120"/>
              </a:rPr>
              <a:t>Five ways an agent gets used against you</a:t>
            </a:r>
            <a:endParaRPr lang="en-US" sz="3000" dirty="0"/>
          </a:p>
        </p:txBody>
      </p:sp>
      <p:sp>
        <p:nvSpPr>
          <p:cNvPr id="4" name="Shape 2"/>
          <p:cNvSpPr/>
          <p:nvPr/>
        </p:nvSpPr>
        <p:spPr>
          <a:xfrm>
            <a:off x="566928" y="1883664"/>
            <a:ext cx="3527450" cy="1636776"/>
          </a:xfrm>
          <a:prstGeom prst="roundRect">
            <a:avLst>
              <a:gd name="adj" fmla="val 5028"/>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5" name="Shape 3"/>
          <p:cNvSpPr/>
          <p:nvPr/>
        </p:nvSpPr>
        <p:spPr>
          <a:xfrm>
            <a:off x="804672" y="2103120"/>
            <a:ext cx="365760" cy="365760"/>
          </a:xfrm>
          <a:prstGeom prst="ellipse">
            <a:avLst/>
          </a:prstGeom>
          <a:solidFill>
            <a:srgbClr val="D93A3F"/>
          </a:solidFill>
          <a:ln w="12700">
            <a:solidFill>
              <a:srgbClr val="D93A3F"/>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896112" y="2194560"/>
            <a:ext cx="182880" cy="182880"/>
          </a:xfrm>
          <a:prstGeom prst="rect">
            <a:avLst/>
          </a:prstGeom>
        </p:spPr>
      </p:pic>
      <p:sp>
        <p:nvSpPr>
          <p:cNvPr id="7" name="Text 4"/>
          <p:cNvSpPr/>
          <p:nvPr/>
        </p:nvSpPr>
        <p:spPr>
          <a:xfrm>
            <a:off x="1298448" y="2121408"/>
            <a:ext cx="2558186" cy="346558"/>
          </a:xfrm>
          <a:prstGeom prst="rect">
            <a:avLst/>
          </a:prstGeom>
          <a:noFill/>
          <a:ln/>
        </p:spPr>
        <p:txBody>
          <a:bodyPr wrap="square" lIns="0" tIns="0" rIns="0" bIns="0" rtlCol="0" anchor="t"/>
          <a:lstStyle/>
          <a:p>
            <a:pPr marL="0" indent="0">
              <a:lnSpc>
                <a:spcPct val="105000"/>
              </a:lnSpc>
              <a:buNone/>
            </a:pPr>
            <a:r>
              <a:rPr lang="en-US" sz="1500" b="1" dirty="0">
                <a:solidFill>
                  <a:srgbClr val="141235"/>
                </a:solidFill>
                <a:latin typeface="Calibri" pitchFamily="34" charset="0"/>
                <a:ea typeface="Calibri" pitchFamily="34" charset="-122"/>
                <a:cs typeface="Calibri" pitchFamily="34" charset="-120"/>
              </a:rPr>
              <a:t>Prompt injection</a:t>
            </a:r>
            <a:endParaRPr lang="en-US" sz="1500" dirty="0"/>
          </a:p>
        </p:txBody>
      </p:sp>
      <p:sp>
        <p:nvSpPr>
          <p:cNvPr id="8" name="Text 5"/>
          <p:cNvSpPr/>
          <p:nvPr/>
        </p:nvSpPr>
        <p:spPr>
          <a:xfrm>
            <a:off x="1298448" y="2477110"/>
            <a:ext cx="2558186" cy="860450"/>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Instructions hidden in content the agent retrieves. The model cannot tell your instruction from a stranger's — they arrive as the same text.</a:t>
            </a:r>
            <a:endParaRPr lang="en-US" sz="1150" dirty="0"/>
          </a:p>
        </p:txBody>
      </p:sp>
      <p:sp>
        <p:nvSpPr>
          <p:cNvPr id="9" name="Shape 6"/>
          <p:cNvSpPr/>
          <p:nvPr/>
        </p:nvSpPr>
        <p:spPr>
          <a:xfrm>
            <a:off x="4332122" y="1883664"/>
            <a:ext cx="3527450" cy="1636776"/>
          </a:xfrm>
          <a:prstGeom prst="roundRect">
            <a:avLst>
              <a:gd name="adj" fmla="val 5028"/>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0" name="Shape 7"/>
          <p:cNvSpPr/>
          <p:nvPr/>
        </p:nvSpPr>
        <p:spPr>
          <a:xfrm>
            <a:off x="4569866" y="2103120"/>
            <a:ext cx="365760" cy="365760"/>
          </a:xfrm>
          <a:prstGeom prst="ellipse">
            <a:avLst/>
          </a:prstGeom>
          <a:solidFill>
            <a:srgbClr val="D93A3F"/>
          </a:solidFill>
          <a:ln w="12700">
            <a:solidFill>
              <a:srgbClr val="D93A3F"/>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4661306" y="2194560"/>
            <a:ext cx="182880" cy="182880"/>
          </a:xfrm>
          <a:prstGeom prst="rect">
            <a:avLst/>
          </a:prstGeom>
        </p:spPr>
      </p:pic>
      <p:sp>
        <p:nvSpPr>
          <p:cNvPr id="12" name="Text 8"/>
          <p:cNvSpPr/>
          <p:nvPr/>
        </p:nvSpPr>
        <p:spPr>
          <a:xfrm>
            <a:off x="5063642" y="2121408"/>
            <a:ext cx="2558186" cy="346558"/>
          </a:xfrm>
          <a:prstGeom prst="rect">
            <a:avLst/>
          </a:prstGeom>
          <a:noFill/>
          <a:ln/>
        </p:spPr>
        <p:txBody>
          <a:bodyPr wrap="square" lIns="0" tIns="0" rIns="0" bIns="0" rtlCol="0" anchor="t"/>
          <a:lstStyle/>
          <a:p>
            <a:pPr marL="0" indent="0">
              <a:lnSpc>
                <a:spcPct val="105000"/>
              </a:lnSpc>
              <a:buNone/>
            </a:pPr>
            <a:r>
              <a:rPr lang="en-US" sz="1500" b="1" dirty="0">
                <a:solidFill>
                  <a:srgbClr val="141235"/>
                </a:solidFill>
                <a:latin typeface="Calibri" pitchFamily="34" charset="0"/>
                <a:ea typeface="Calibri" pitchFamily="34" charset="-122"/>
                <a:cs typeface="Calibri" pitchFamily="34" charset="-120"/>
              </a:rPr>
              <a:t>Tool poisoning</a:t>
            </a:r>
            <a:endParaRPr lang="en-US" sz="1500" dirty="0"/>
          </a:p>
        </p:txBody>
      </p:sp>
      <p:sp>
        <p:nvSpPr>
          <p:cNvPr id="13" name="Text 9"/>
          <p:cNvSpPr/>
          <p:nvPr/>
        </p:nvSpPr>
        <p:spPr>
          <a:xfrm>
            <a:off x="5063642" y="2477110"/>
            <a:ext cx="2558186" cy="860450"/>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A malicious tool, described convincingly enough to be installed and then chosen.</a:t>
            </a:r>
            <a:endParaRPr lang="en-US" sz="1150" dirty="0"/>
          </a:p>
        </p:txBody>
      </p:sp>
      <p:sp>
        <p:nvSpPr>
          <p:cNvPr id="14" name="Shape 10"/>
          <p:cNvSpPr/>
          <p:nvPr/>
        </p:nvSpPr>
        <p:spPr>
          <a:xfrm>
            <a:off x="8097317" y="1883664"/>
            <a:ext cx="3527450" cy="1636776"/>
          </a:xfrm>
          <a:prstGeom prst="roundRect">
            <a:avLst>
              <a:gd name="adj" fmla="val 5028"/>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5" name="Shape 11"/>
          <p:cNvSpPr/>
          <p:nvPr/>
        </p:nvSpPr>
        <p:spPr>
          <a:xfrm>
            <a:off x="8335061" y="2103120"/>
            <a:ext cx="365760" cy="365760"/>
          </a:xfrm>
          <a:prstGeom prst="ellipse">
            <a:avLst/>
          </a:prstGeom>
          <a:solidFill>
            <a:srgbClr val="D93A3F"/>
          </a:solidFill>
          <a:ln w="12700">
            <a:solidFill>
              <a:srgbClr val="D93A3F"/>
            </a:solidFill>
            <a:prstDash val="solid"/>
          </a:ln>
        </p:spPr>
        <p:txBody>
          <a:bodyPr/>
          <a:lstStyle/>
          <a:p>
            <a:endParaRPr lang="en-US"/>
          </a:p>
        </p:txBody>
      </p:sp>
      <p:pic>
        <p:nvPicPr>
          <p:cNvPr id="16" name="Image 2" descr="preencoded.png"/>
          <p:cNvPicPr>
            <a:picLocks noChangeAspect="1"/>
          </p:cNvPicPr>
          <p:nvPr/>
        </p:nvPicPr>
        <p:blipFill>
          <a:blip r:embed="rId5"/>
          <a:stretch>
            <a:fillRect/>
          </a:stretch>
        </p:blipFill>
        <p:spPr>
          <a:xfrm>
            <a:off x="8426501" y="2194560"/>
            <a:ext cx="182880" cy="182880"/>
          </a:xfrm>
          <a:prstGeom prst="rect">
            <a:avLst/>
          </a:prstGeom>
        </p:spPr>
      </p:pic>
      <p:sp>
        <p:nvSpPr>
          <p:cNvPr id="17" name="Text 12"/>
          <p:cNvSpPr/>
          <p:nvPr/>
        </p:nvSpPr>
        <p:spPr>
          <a:xfrm>
            <a:off x="8828837" y="2121408"/>
            <a:ext cx="2558186" cy="346558"/>
          </a:xfrm>
          <a:prstGeom prst="rect">
            <a:avLst/>
          </a:prstGeom>
          <a:noFill/>
          <a:ln/>
        </p:spPr>
        <p:txBody>
          <a:bodyPr wrap="square" lIns="0" tIns="0" rIns="0" bIns="0" rtlCol="0" anchor="t"/>
          <a:lstStyle/>
          <a:p>
            <a:pPr marL="0" indent="0">
              <a:lnSpc>
                <a:spcPct val="105000"/>
              </a:lnSpc>
              <a:buNone/>
            </a:pPr>
            <a:r>
              <a:rPr lang="en-US" sz="1500" b="1" dirty="0">
                <a:solidFill>
                  <a:srgbClr val="141235"/>
                </a:solidFill>
                <a:latin typeface="Calibri" pitchFamily="34" charset="0"/>
                <a:ea typeface="Calibri" pitchFamily="34" charset="-122"/>
                <a:cs typeface="Calibri" pitchFamily="34" charset="-120"/>
              </a:rPr>
              <a:t>Exfiltration</a:t>
            </a:r>
            <a:endParaRPr lang="en-US" sz="1500" dirty="0"/>
          </a:p>
        </p:txBody>
      </p:sp>
      <p:sp>
        <p:nvSpPr>
          <p:cNvPr id="18" name="Text 13"/>
          <p:cNvSpPr/>
          <p:nvPr/>
        </p:nvSpPr>
        <p:spPr>
          <a:xfrm>
            <a:off x="8828837" y="2477110"/>
            <a:ext cx="2558186" cy="860450"/>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Data leaked out through a tool's own arguments. A search query is a perfectly good place to hide a payload.</a:t>
            </a:r>
            <a:endParaRPr lang="en-US" sz="1150" dirty="0"/>
          </a:p>
        </p:txBody>
      </p:sp>
      <p:sp>
        <p:nvSpPr>
          <p:cNvPr id="19" name="Shape 14"/>
          <p:cNvSpPr/>
          <p:nvPr/>
        </p:nvSpPr>
        <p:spPr>
          <a:xfrm>
            <a:off x="566928" y="3758184"/>
            <a:ext cx="3527450" cy="1636776"/>
          </a:xfrm>
          <a:prstGeom prst="roundRect">
            <a:avLst>
              <a:gd name="adj" fmla="val 5028"/>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20" name="Shape 15"/>
          <p:cNvSpPr/>
          <p:nvPr/>
        </p:nvSpPr>
        <p:spPr>
          <a:xfrm>
            <a:off x="804672" y="3977640"/>
            <a:ext cx="365760" cy="365760"/>
          </a:xfrm>
          <a:prstGeom prst="ellipse">
            <a:avLst/>
          </a:prstGeom>
          <a:solidFill>
            <a:srgbClr val="D93A3F"/>
          </a:solidFill>
          <a:ln w="12700">
            <a:solidFill>
              <a:srgbClr val="D93A3F"/>
            </a:solidFill>
            <a:prstDash val="solid"/>
          </a:ln>
        </p:spPr>
        <p:txBody>
          <a:bodyPr/>
          <a:lstStyle/>
          <a:p>
            <a:endParaRPr lang="en-US"/>
          </a:p>
        </p:txBody>
      </p:sp>
      <p:pic>
        <p:nvPicPr>
          <p:cNvPr id="21" name="Image 3" descr="preencoded.png"/>
          <p:cNvPicPr>
            <a:picLocks noChangeAspect="1"/>
          </p:cNvPicPr>
          <p:nvPr/>
        </p:nvPicPr>
        <p:blipFill>
          <a:blip r:embed="rId6"/>
          <a:stretch>
            <a:fillRect/>
          </a:stretch>
        </p:blipFill>
        <p:spPr>
          <a:xfrm>
            <a:off x="896112" y="4069080"/>
            <a:ext cx="182880" cy="182880"/>
          </a:xfrm>
          <a:prstGeom prst="rect">
            <a:avLst/>
          </a:prstGeom>
        </p:spPr>
      </p:pic>
      <p:sp>
        <p:nvSpPr>
          <p:cNvPr id="22" name="Text 16"/>
          <p:cNvSpPr/>
          <p:nvPr/>
        </p:nvSpPr>
        <p:spPr>
          <a:xfrm>
            <a:off x="1298448" y="3995928"/>
            <a:ext cx="2558186" cy="346558"/>
          </a:xfrm>
          <a:prstGeom prst="rect">
            <a:avLst/>
          </a:prstGeom>
          <a:noFill/>
          <a:ln/>
        </p:spPr>
        <p:txBody>
          <a:bodyPr wrap="square" lIns="0" tIns="0" rIns="0" bIns="0" rtlCol="0" anchor="t"/>
          <a:lstStyle/>
          <a:p>
            <a:pPr marL="0" indent="0">
              <a:lnSpc>
                <a:spcPct val="105000"/>
              </a:lnSpc>
              <a:buNone/>
            </a:pPr>
            <a:r>
              <a:rPr lang="en-US" sz="1500" b="1" dirty="0">
                <a:solidFill>
                  <a:srgbClr val="141235"/>
                </a:solidFill>
                <a:latin typeface="Calibri" pitchFamily="34" charset="0"/>
                <a:ea typeface="Calibri" pitchFamily="34" charset="-122"/>
                <a:cs typeface="Calibri" pitchFamily="34" charset="-120"/>
              </a:rPr>
              <a:t>Runaway loops</a:t>
            </a:r>
            <a:endParaRPr lang="en-US" sz="1500" dirty="0"/>
          </a:p>
        </p:txBody>
      </p:sp>
      <p:sp>
        <p:nvSpPr>
          <p:cNvPr id="23" name="Text 17"/>
          <p:cNvSpPr/>
          <p:nvPr/>
        </p:nvSpPr>
        <p:spPr>
          <a:xfrm>
            <a:off x="1298448" y="4351630"/>
            <a:ext cx="2558186" cy="860450"/>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No stop condition, spending without limit. Module 04's first failure, now with a bill and an incident number.</a:t>
            </a:r>
            <a:endParaRPr lang="en-US" sz="1150" dirty="0"/>
          </a:p>
        </p:txBody>
      </p:sp>
      <p:sp>
        <p:nvSpPr>
          <p:cNvPr id="24" name="Shape 18"/>
          <p:cNvSpPr/>
          <p:nvPr/>
        </p:nvSpPr>
        <p:spPr>
          <a:xfrm>
            <a:off x="4332122" y="3758184"/>
            <a:ext cx="3527450" cy="1636776"/>
          </a:xfrm>
          <a:prstGeom prst="roundRect">
            <a:avLst>
              <a:gd name="adj" fmla="val 5028"/>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25" name="Shape 19"/>
          <p:cNvSpPr/>
          <p:nvPr/>
        </p:nvSpPr>
        <p:spPr>
          <a:xfrm>
            <a:off x="4569866" y="3977640"/>
            <a:ext cx="365760" cy="365760"/>
          </a:xfrm>
          <a:prstGeom prst="ellipse">
            <a:avLst/>
          </a:prstGeom>
          <a:solidFill>
            <a:srgbClr val="D93A3F"/>
          </a:solidFill>
          <a:ln w="12700">
            <a:solidFill>
              <a:srgbClr val="D93A3F"/>
            </a:solidFill>
            <a:prstDash val="solid"/>
          </a:ln>
        </p:spPr>
        <p:txBody>
          <a:bodyPr/>
          <a:lstStyle/>
          <a:p>
            <a:endParaRPr lang="en-US"/>
          </a:p>
        </p:txBody>
      </p:sp>
      <p:pic>
        <p:nvPicPr>
          <p:cNvPr id="26" name="Image 4" descr="preencoded.png"/>
          <p:cNvPicPr>
            <a:picLocks noChangeAspect="1"/>
          </p:cNvPicPr>
          <p:nvPr/>
        </p:nvPicPr>
        <p:blipFill>
          <a:blip r:embed="rId7"/>
          <a:stretch>
            <a:fillRect/>
          </a:stretch>
        </p:blipFill>
        <p:spPr>
          <a:xfrm>
            <a:off x="4661306" y="4069080"/>
            <a:ext cx="182880" cy="182880"/>
          </a:xfrm>
          <a:prstGeom prst="rect">
            <a:avLst/>
          </a:prstGeom>
        </p:spPr>
      </p:pic>
      <p:sp>
        <p:nvSpPr>
          <p:cNvPr id="27" name="Text 20"/>
          <p:cNvSpPr/>
          <p:nvPr/>
        </p:nvSpPr>
        <p:spPr>
          <a:xfrm>
            <a:off x="5063642" y="3995928"/>
            <a:ext cx="2558186" cy="346558"/>
          </a:xfrm>
          <a:prstGeom prst="rect">
            <a:avLst/>
          </a:prstGeom>
          <a:noFill/>
          <a:ln/>
        </p:spPr>
        <p:txBody>
          <a:bodyPr wrap="square" lIns="0" tIns="0" rIns="0" bIns="0" rtlCol="0" anchor="t"/>
          <a:lstStyle/>
          <a:p>
            <a:pPr marL="0" indent="0">
              <a:lnSpc>
                <a:spcPct val="105000"/>
              </a:lnSpc>
              <a:buNone/>
            </a:pPr>
            <a:r>
              <a:rPr lang="en-US" sz="1500" b="1" dirty="0">
                <a:solidFill>
                  <a:srgbClr val="141235"/>
                </a:solidFill>
                <a:latin typeface="Calibri" pitchFamily="34" charset="0"/>
                <a:ea typeface="Calibri" pitchFamily="34" charset="-122"/>
                <a:cs typeface="Calibri" pitchFamily="34" charset="-120"/>
              </a:rPr>
              <a:t>Confused deputy</a:t>
            </a:r>
            <a:endParaRPr lang="en-US" sz="1500" dirty="0"/>
          </a:p>
        </p:txBody>
      </p:sp>
      <p:sp>
        <p:nvSpPr>
          <p:cNvPr id="28" name="Text 21"/>
          <p:cNvSpPr/>
          <p:nvPr/>
        </p:nvSpPr>
        <p:spPr>
          <a:xfrm>
            <a:off x="5063642" y="4351630"/>
            <a:ext cx="2558186" cy="860450"/>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The agent acts with more authority than the request warranted, because it holds a credential the requester never had.</a:t>
            </a:r>
            <a:endParaRPr lang="en-US" sz="1150" dirty="0"/>
          </a:p>
        </p:txBody>
      </p:sp>
      <p:sp>
        <p:nvSpPr>
          <p:cNvPr id="29" name="Shape 22"/>
          <p:cNvSpPr/>
          <p:nvPr/>
        </p:nvSpPr>
        <p:spPr>
          <a:xfrm>
            <a:off x="8097317" y="3758184"/>
            <a:ext cx="3527450" cy="1636776"/>
          </a:xfrm>
          <a:prstGeom prst="roundRect">
            <a:avLst>
              <a:gd name="adj" fmla="val 5028"/>
            </a:avLst>
          </a:prstGeom>
          <a:solidFill>
            <a:srgbClr val="EEEDFE"/>
          </a:solidFill>
          <a:ln w="12700">
            <a:solidFill>
              <a:srgbClr val="8E82F5"/>
            </a:solidFill>
            <a:prstDash val="solid"/>
          </a:ln>
          <a:effectLst>
            <a:outerShdw blurRad="114300" dist="572" dir="5400000" algn="bl" rotWithShape="0">
              <a:srgbClr val="1B1A4A">
                <a:alpha val="7000"/>
              </a:srgbClr>
            </a:outerShdw>
          </a:effectLst>
        </p:spPr>
        <p:txBody>
          <a:bodyPr/>
          <a:lstStyle/>
          <a:p>
            <a:endParaRPr lang="en-US"/>
          </a:p>
        </p:txBody>
      </p:sp>
      <p:sp>
        <p:nvSpPr>
          <p:cNvPr id="30" name="Shape 23"/>
          <p:cNvSpPr/>
          <p:nvPr/>
        </p:nvSpPr>
        <p:spPr>
          <a:xfrm>
            <a:off x="8335061" y="3977640"/>
            <a:ext cx="365760" cy="365760"/>
          </a:xfrm>
          <a:prstGeom prst="ellipse">
            <a:avLst/>
          </a:prstGeom>
          <a:solidFill>
            <a:srgbClr val="5B4BE8"/>
          </a:solidFill>
          <a:ln w="12700">
            <a:solidFill>
              <a:srgbClr val="5B4BE8"/>
            </a:solidFill>
            <a:prstDash val="solid"/>
          </a:ln>
        </p:spPr>
        <p:txBody>
          <a:bodyPr/>
          <a:lstStyle/>
          <a:p>
            <a:endParaRPr lang="en-US"/>
          </a:p>
        </p:txBody>
      </p:sp>
      <p:pic>
        <p:nvPicPr>
          <p:cNvPr id="31" name="Image 5" descr="preencoded.png"/>
          <p:cNvPicPr>
            <a:picLocks noChangeAspect="1"/>
          </p:cNvPicPr>
          <p:nvPr/>
        </p:nvPicPr>
        <p:blipFill>
          <a:blip r:embed="rId8"/>
          <a:stretch>
            <a:fillRect/>
          </a:stretch>
        </p:blipFill>
        <p:spPr>
          <a:xfrm>
            <a:off x="8426501" y="4069080"/>
            <a:ext cx="182880" cy="182880"/>
          </a:xfrm>
          <a:prstGeom prst="rect">
            <a:avLst/>
          </a:prstGeom>
        </p:spPr>
      </p:pic>
      <p:sp>
        <p:nvSpPr>
          <p:cNvPr id="32" name="Text 24"/>
          <p:cNvSpPr/>
          <p:nvPr/>
        </p:nvSpPr>
        <p:spPr>
          <a:xfrm>
            <a:off x="8828837" y="3995928"/>
            <a:ext cx="2558186" cy="346558"/>
          </a:xfrm>
          <a:prstGeom prst="rect">
            <a:avLst/>
          </a:prstGeom>
          <a:noFill/>
          <a:ln/>
        </p:spPr>
        <p:txBody>
          <a:bodyPr wrap="square" lIns="0" tIns="0" rIns="0" bIns="0" rtlCol="0" anchor="t"/>
          <a:lstStyle/>
          <a:p>
            <a:pPr marL="0" indent="0">
              <a:lnSpc>
                <a:spcPct val="105000"/>
              </a:lnSpc>
              <a:buNone/>
            </a:pPr>
            <a:r>
              <a:rPr lang="en-US" sz="1500" b="1" dirty="0">
                <a:solidFill>
                  <a:srgbClr val="141235"/>
                </a:solidFill>
                <a:latin typeface="Calibri" pitchFamily="34" charset="0"/>
                <a:ea typeface="Calibri" pitchFamily="34" charset="-122"/>
                <a:cs typeface="Calibri" pitchFamily="34" charset="-120"/>
              </a:rPr>
              <a:t>All five are module 02</a:t>
            </a:r>
            <a:endParaRPr lang="en-US" sz="1500" dirty="0"/>
          </a:p>
        </p:txBody>
      </p:sp>
      <p:sp>
        <p:nvSpPr>
          <p:cNvPr id="33" name="Text 25"/>
          <p:cNvSpPr/>
          <p:nvPr/>
        </p:nvSpPr>
        <p:spPr>
          <a:xfrm>
            <a:off x="8828837" y="4351630"/>
            <a:ext cx="2558186" cy="860450"/>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Nothing here is the model doing something. Every one is your code acting on an instruction it should have questioned.</a:t>
            </a:r>
            <a:endParaRPr lang="en-US" sz="1150" dirty="0"/>
          </a:p>
        </p:txBody>
      </p:sp>
      <p:sp>
        <p:nvSpPr>
          <p:cNvPr id="34" name="Shape 26"/>
          <p:cNvSpPr/>
          <p:nvPr/>
        </p:nvSpPr>
        <p:spPr>
          <a:xfrm>
            <a:off x="566928" y="5541264"/>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35" name="Shape 27"/>
          <p:cNvSpPr/>
          <p:nvPr/>
        </p:nvSpPr>
        <p:spPr>
          <a:xfrm>
            <a:off x="841248" y="5760720"/>
            <a:ext cx="384048" cy="384048"/>
          </a:xfrm>
          <a:prstGeom prst="ellipse">
            <a:avLst/>
          </a:prstGeom>
          <a:solidFill>
            <a:srgbClr val="F5A524"/>
          </a:solidFill>
          <a:ln w="12700">
            <a:solidFill>
              <a:srgbClr val="F5A524"/>
            </a:solidFill>
            <a:prstDash val="solid"/>
          </a:ln>
        </p:spPr>
        <p:txBody>
          <a:bodyPr/>
          <a:lstStyle/>
          <a:p>
            <a:endParaRPr lang="en-US"/>
          </a:p>
        </p:txBody>
      </p:sp>
      <p:pic>
        <p:nvPicPr>
          <p:cNvPr id="36" name="Image 6" descr="preencoded.png"/>
          <p:cNvPicPr>
            <a:picLocks noChangeAspect="1"/>
          </p:cNvPicPr>
          <p:nvPr/>
        </p:nvPicPr>
        <p:blipFill>
          <a:blip r:embed="rId9"/>
          <a:stretch>
            <a:fillRect/>
          </a:stretch>
        </p:blipFill>
        <p:spPr>
          <a:xfrm>
            <a:off x="937260" y="5856732"/>
            <a:ext cx="192024" cy="192024"/>
          </a:xfrm>
          <a:prstGeom prst="rect">
            <a:avLst/>
          </a:prstGeom>
        </p:spPr>
      </p:pic>
      <p:sp>
        <p:nvSpPr>
          <p:cNvPr id="37" name="Text 28"/>
          <p:cNvSpPr/>
          <p:nvPr/>
        </p:nvSpPr>
        <p:spPr>
          <a:xfrm>
            <a:off x="1371600" y="5596128"/>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An agent is a very literal, very fast employee who will follow instructions from anyone whose text reaches its desk. Most of security is controlling whose text reaches the desk.</a:t>
            </a:r>
            <a:endParaRPr lang="en-US" sz="105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14 · SECURITY</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2600" b="1" dirty="0">
                <a:solidFill>
                  <a:srgbClr val="141235"/>
                </a:solidFill>
                <a:latin typeface="Cambria" pitchFamily="34" charset="0"/>
                <a:ea typeface="Cambria" pitchFamily="34" charset="-122"/>
                <a:cs typeface="Cambria" pitchFamily="34" charset="-120"/>
              </a:rPr>
              <a:t>The agent you built yesterday is the one under attack today</a:t>
            </a:r>
            <a:endParaRPr lang="en-US" sz="2600" dirty="0"/>
          </a:p>
        </p:txBody>
      </p:sp>
      <p:sp>
        <p:nvSpPr>
          <p:cNvPr id="4" name="Shape 2"/>
          <p:cNvSpPr/>
          <p:nvPr/>
        </p:nvSpPr>
        <p:spPr>
          <a:xfrm>
            <a:off x="566928" y="1920240"/>
            <a:ext cx="3503066" cy="2871216"/>
          </a:xfrm>
          <a:prstGeom prst="roundRect">
            <a:avLst>
              <a:gd name="adj" fmla="val 3185"/>
            </a:avLst>
          </a:prstGeom>
          <a:solidFill>
            <a:srgbClr val="FFFFFF"/>
          </a:solidFill>
          <a:ln w="12700">
            <a:solidFill>
              <a:srgbClr val="E3E4F2"/>
            </a:solidFill>
            <a:prstDash val="solid"/>
          </a:ln>
          <a:effectLst>
            <a:outerShdw blurRad="101600" dist="508" dir="5400000" algn="bl" rotWithShape="0">
              <a:srgbClr val="1B1A4A">
                <a:alpha val="7000"/>
              </a:srgbClr>
            </a:outerShdw>
          </a:effectLst>
        </p:spPr>
        <p:txBody>
          <a:bodyPr/>
          <a:lstStyle/>
          <a:p>
            <a:endParaRPr lang="en-US"/>
          </a:p>
        </p:txBody>
      </p:sp>
      <p:sp>
        <p:nvSpPr>
          <p:cNvPr id="5" name="Text 3"/>
          <p:cNvSpPr/>
          <p:nvPr/>
        </p:nvSpPr>
        <p:spPr>
          <a:xfrm>
            <a:off x="822960" y="2084832"/>
            <a:ext cx="548640" cy="548640"/>
          </a:xfrm>
          <a:prstGeom prst="rect">
            <a:avLst/>
          </a:prstGeom>
          <a:noFill/>
          <a:ln/>
        </p:spPr>
        <p:txBody>
          <a:bodyPr wrap="square" lIns="0" tIns="0" rIns="0" bIns="0" rtlCol="0" anchor="ctr"/>
          <a:lstStyle/>
          <a:p>
            <a:pPr marL="0" indent="0">
              <a:buNone/>
            </a:pPr>
            <a:r>
              <a:rPr lang="en-US" sz="4000" b="1" dirty="0">
                <a:solidFill>
                  <a:srgbClr val="9B98B4"/>
                </a:solidFill>
                <a:latin typeface="Cambria" pitchFamily="34" charset="0"/>
                <a:ea typeface="Cambria" pitchFamily="34" charset="-122"/>
                <a:cs typeface="Cambria" pitchFamily="34" charset="-120"/>
              </a:rPr>
              <a:t>1</a:t>
            </a:r>
            <a:endParaRPr lang="en-US" sz="4000" dirty="0"/>
          </a:p>
        </p:txBody>
      </p:sp>
      <p:sp>
        <p:nvSpPr>
          <p:cNvPr id="6" name="Shape 4"/>
          <p:cNvSpPr/>
          <p:nvPr/>
        </p:nvSpPr>
        <p:spPr>
          <a:xfrm>
            <a:off x="3393338" y="2139696"/>
            <a:ext cx="420624" cy="420624"/>
          </a:xfrm>
          <a:prstGeom prst="ellipse">
            <a:avLst/>
          </a:prstGeom>
          <a:solidFill>
            <a:srgbClr val="9B98B4"/>
          </a:solidFill>
          <a:ln w="12700">
            <a:solidFill>
              <a:srgbClr val="9B98B4"/>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3498494" y="2244852"/>
            <a:ext cx="210312" cy="210312"/>
          </a:xfrm>
          <a:prstGeom prst="rect">
            <a:avLst/>
          </a:prstGeom>
        </p:spPr>
      </p:pic>
      <p:sp>
        <p:nvSpPr>
          <p:cNvPr id="8" name="Text 5"/>
          <p:cNvSpPr/>
          <p:nvPr/>
        </p:nvSpPr>
        <p:spPr>
          <a:xfrm>
            <a:off x="822960" y="2761488"/>
            <a:ext cx="2991002" cy="384048"/>
          </a:xfrm>
          <a:prstGeom prst="rect">
            <a:avLst/>
          </a:prstGeom>
          <a:noFill/>
          <a:ln/>
        </p:spPr>
        <p:txBody>
          <a:bodyPr wrap="square" lIns="0" tIns="0" rIns="0" bIns="0" rtlCol="0" anchor="ctr"/>
          <a:lstStyle/>
          <a:p>
            <a:pPr marL="0" indent="0">
              <a:buNone/>
            </a:pPr>
            <a:r>
              <a:rPr lang="en-US" sz="1700" b="1" dirty="0">
                <a:solidFill>
                  <a:srgbClr val="141235"/>
                </a:solidFill>
                <a:latin typeface="Calibri" pitchFamily="34" charset="0"/>
                <a:ea typeface="Calibri" pitchFamily="34" charset="-122"/>
                <a:cs typeface="Calibri" pitchFamily="34" charset="-120"/>
              </a:rPr>
              <a:t>Poison one document</a:t>
            </a:r>
            <a:endParaRPr lang="en-US" sz="1700" dirty="0"/>
          </a:p>
        </p:txBody>
      </p:sp>
      <p:sp>
        <p:nvSpPr>
          <p:cNvPr id="9" name="Text 6"/>
          <p:cNvSpPr/>
          <p:nvPr/>
        </p:nvSpPr>
        <p:spPr>
          <a:xfrm>
            <a:off x="822960" y="3218688"/>
            <a:ext cx="2991002" cy="1371600"/>
          </a:xfrm>
          <a:prstGeom prst="rect">
            <a:avLst/>
          </a:prstGeom>
          <a:noFill/>
          <a:ln/>
        </p:spPr>
        <p:txBody>
          <a:bodyPr wrap="square" lIns="0" tIns="0" rIns="0" bIns="0" rtlCol="0" anchor="t"/>
          <a:lstStyle/>
          <a:p>
            <a:pPr marL="0" indent="0">
              <a:lnSpc>
                <a:spcPct val="116000"/>
              </a:lnSpc>
              <a:buNone/>
            </a:pPr>
            <a:r>
              <a:rPr lang="en-US" sz="1250" dirty="0">
                <a:solidFill>
                  <a:srgbClr val="6E6B8A"/>
                </a:solidFill>
                <a:latin typeface="Calibri" pitchFamily="34" charset="0"/>
                <a:ea typeface="Calibri" pitchFamily="34" charset="-122"/>
                <a:cs typeface="Calibri" pitchFamily="34" charset="-120"/>
              </a:rPr>
              <a:t>It has been sitting in your own retrieval corpus since module 12, doing nothing.</a:t>
            </a:r>
            <a:endParaRPr lang="en-US" sz="1250" dirty="0"/>
          </a:p>
        </p:txBody>
      </p:sp>
      <p:sp>
        <p:nvSpPr>
          <p:cNvPr id="10" name="Shape 7"/>
          <p:cNvSpPr/>
          <p:nvPr/>
        </p:nvSpPr>
        <p:spPr>
          <a:xfrm>
            <a:off x="4124858" y="3310128"/>
            <a:ext cx="164592" cy="0"/>
          </a:xfrm>
          <a:prstGeom prst="line">
            <a:avLst/>
          </a:prstGeom>
          <a:noFill/>
          <a:ln w="27940">
            <a:solidFill>
              <a:srgbClr val="8E82F5"/>
            </a:solidFill>
            <a:prstDash val="solid"/>
            <a:headEnd type="none"/>
            <a:tailEnd type="triangle"/>
          </a:ln>
        </p:spPr>
        <p:txBody>
          <a:bodyPr/>
          <a:lstStyle/>
          <a:p>
            <a:endParaRPr lang="en-US"/>
          </a:p>
        </p:txBody>
      </p:sp>
      <p:sp>
        <p:nvSpPr>
          <p:cNvPr id="11" name="Shape 8"/>
          <p:cNvSpPr/>
          <p:nvPr/>
        </p:nvSpPr>
        <p:spPr>
          <a:xfrm>
            <a:off x="4344314" y="1920240"/>
            <a:ext cx="3503066" cy="2871216"/>
          </a:xfrm>
          <a:prstGeom prst="roundRect">
            <a:avLst>
              <a:gd name="adj" fmla="val 3185"/>
            </a:avLst>
          </a:prstGeom>
          <a:solidFill>
            <a:srgbClr val="FDECEC"/>
          </a:solidFill>
          <a:ln w="12700">
            <a:solidFill>
              <a:srgbClr val="F1C9C9"/>
            </a:solidFill>
            <a:prstDash val="solid"/>
          </a:ln>
          <a:effectLst>
            <a:outerShdw blurRad="101600" dist="508" dir="5400000" algn="bl" rotWithShape="0">
              <a:srgbClr val="1B1A4A">
                <a:alpha val="7000"/>
              </a:srgbClr>
            </a:outerShdw>
          </a:effectLst>
        </p:spPr>
        <p:txBody>
          <a:bodyPr/>
          <a:lstStyle/>
          <a:p>
            <a:endParaRPr lang="en-US"/>
          </a:p>
        </p:txBody>
      </p:sp>
      <p:sp>
        <p:nvSpPr>
          <p:cNvPr id="12" name="Text 9"/>
          <p:cNvSpPr/>
          <p:nvPr/>
        </p:nvSpPr>
        <p:spPr>
          <a:xfrm>
            <a:off x="4600346" y="2084832"/>
            <a:ext cx="548640" cy="548640"/>
          </a:xfrm>
          <a:prstGeom prst="rect">
            <a:avLst/>
          </a:prstGeom>
          <a:noFill/>
          <a:ln/>
        </p:spPr>
        <p:txBody>
          <a:bodyPr wrap="square" lIns="0" tIns="0" rIns="0" bIns="0" rtlCol="0" anchor="ctr"/>
          <a:lstStyle/>
          <a:p>
            <a:pPr marL="0" indent="0">
              <a:buNone/>
            </a:pPr>
            <a:r>
              <a:rPr lang="en-US" sz="4000" b="1" dirty="0">
                <a:solidFill>
                  <a:srgbClr val="D93A3F"/>
                </a:solidFill>
                <a:latin typeface="Cambria" pitchFamily="34" charset="0"/>
                <a:ea typeface="Cambria" pitchFamily="34" charset="-122"/>
                <a:cs typeface="Cambria" pitchFamily="34" charset="-120"/>
              </a:rPr>
              <a:t>2</a:t>
            </a:r>
            <a:endParaRPr lang="en-US" sz="4000" dirty="0"/>
          </a:p>
        </p:txBody>
      </p:sp>
      <p:sp>
        <p:nvSpPr>
          <p:cNvPr id="13" name="Shape 10"/>
          <p:cNvSpPr/>
          <p:nvPr/>
        </p:nvSpPr>
        <p:spPr>
          <a:xfrm>
            <a:off x="7170725" y="2139696"/>
            <a:ext cx="420624" cy="420624"/>
          </a:xfrm>
          <a:prstGeom prst="ellipse">
            <a:avLst/>
          </a:prstGeom>
          <a:solidFill>
            <a:srgbClr val="D93A3F"/>
          </a:solidFill>
          <a:ln w="12700">
            <a:solidFill>
              <a:srgbClr val="D93A3F"/>
            </a:solidFill>
            <a:prstDash val="solid"/>
          </a:ln>
        </p:spPr>
        <p:txBody>
          <a:bodyPr/>
          <a:lstStyle/>
          <a:p>
            <a:endParaRPr lang="en-US"/>
          </a:p>
        </p:txBody>
      </p:sp>
      <p:pic>
        <p:nvPicPr>
          <p:cNvPr id="14" name="Image 1" descr="preencoded.png"/>
          <p:cNvPicPr>
            <a:picLocks noChangeAspect="1"/>
          </p:cNvPicPr>
          <p:nvPr/>
        </p:nvPicPr>
        <p:blipFill>
          <a:blip r:embed="rId4"/>
          <a:stretch>
            <a:fillRect/>
          </a:stretch>
        </p:blipFill>
        <p:spPr>
          <a:xfrm>
            <a:off x="7275881" y="2244852"/>
            <a:ext cx="210312" cy="210312"/>
          </a:xfrm>
          <a:prstGeom prst="rect">
            <a:avLst/>
          </a:prstGeom>
        </p:spPr>
      </p:pic>
      <p:sp>
        <p:nvSpPr>
          <p:cNvPr id="15" name="Text 11"/>
          <p:cNvSpPr/>
          <p:nvPr/>
        </p:nvSpPr>
        <p:spPr>
          <a:xfrm>
            <a:off x="4600346" y="2761488"/>
            <a:ext cx="2991002" cy="384048"/>
          </a:xfrm>
          <a:prstGeom prst="rect">
            <a:avLst/>
          </a:prstGeom>
          <a:noFill/>
          <a:ln/>
        </p:spPr>
        <p:txBody>
          <a:bodyPr wrap="square" lIns="0" tIns="0" rIns="0" bIns="0" rtlCol="0" anchor="ctr"/>
          <a:lstStyle/>
          <a:p>
            <a:pPr marL="0" indent="0">
              <a:buNone/>
            </a:pPr>
            <a:r>
              <a:rPr lang="en-US" sz="1700" b="1" dirty="0">
                <a:solidFill>
                  <a:srgbClr val="141235"/>
                </a:solidFill>
                <a:latin typeface="Calibri" pitchFamily="34" charset="0"/>
                <a:ea typeface="Calibri" pitchFamily="34" charset="-122"/>
                <a:cs typeface="Calibri" pitchFamily="34" charset="-120"/>
              </a:rPr>
              <a:t>Watch your agent obey it</a:t>
            </a:r>
            <a:endParaRPr lang="en-US" sz="1700" dirty="0"/>
          </a:p>
        </p:txBody>
      </p:sp>
      <p:sp>
        <p:nvSpPr>
          <p:cNvPr id="16" name="Text 12"/>
          <p:cNvSpPr/>
          <p:nvPr/>
        </p:nvSpPr>
        <p:spPr>
          <a:xfrm>
            <a:off x="4600346" y="3218688"/>
            <a:ext cx="2991002" cy="1371600"/>
          </a:xfrm>
          <a:prstGeom prst="rect">
            <a:avLst/>
          </a:prstGeom>
          <a:noFill/>
          <a:ln/>
        </p:spPr>
        <p:txBody>
          <a:bodyPr wrap="square" lIns="0" tIns="0" rIns="0" bIns="0" rtlCol="0" anchor="t"/>
          <a:lstStyle/>
          <a:p>
            <a:pPr marL="0" indent="0">
              <a:lnSpc>
                <a:spcPct val="116000"/>
              </a:lnSpc>
              <a:buNone/>
            </a:pPr>
            <a:r>
              <a:rPr lang="en-US" sz="1250" dirty="0">
                <a:solidFill>
                  <a:srgbClr val="6E6B8A"/>
                </a:solidFill>
                <a:latin typeface="Calibri" pitchFamily="34" charset="0"/>
                <a:ea typeface="Calibri" pitchFamily="34" charset="-122"/>
                <a:cs typeface="Calibri" pitchFamily="34" charset="-120"/>
              </a:rPr>
              <a:t>It retrieves the document, reads the hidden instruction, and follows it. No exploit, no vulnerability — it worked exactly as designed.</a:t>
            </a:r>
            <a:endParaRPr lang="en-US" sz="1250" dirty="0"/>
          </a:p>
        </p:txBody>
      </p:sp>
      <p:sp>
        <p:nvSpPr>
          <p:cNvPr id="17" name="Shape 13"/>
          <p:cNvSpPr/>
          <p:nvPr/>
        </p:nvSpPr>
        <p:spPr>
          <a:xfrm>
            <a:off x="7902245" y="3310128"/>
            <a:ext cx="164592" cy="0"/>
          </a:xfrm>
          <a:prstGeom prst="line">
            <a:avLst/>
          </a:prstGeom>
          <a:noFill/>
          <a:ln w="27940">
            <a:solidFill>
              <a:srgbClr val="8E82F5"/>
            </a:solidFill>
            <a:prstDash val="solid"/>
            <a:headEnd type="none"/>
            <a:tailEnd type="triangle"/>
          </a:ln>
        </p:spPr>
        <p:txBody>
          <a:bodyPr/>
          <a:lstStyle/>
          <a:p>
            <a:endParaRPr lang="en-US"/>
          </a:p>
        </p:txBody>
      </p:sp>
      <p:sp>
        <p:nvSpPr>
          <p:cNvPr id="18" name="Shape 14"/>
          <p:cNvSpPr/>
          <p:nvPr/>
        </p:nvSpPr>
        <p:spPr>
          <a:xfrm>
            <a:off x="8121701" y="1920240"/>
            <a:ext cx="3503066" cy="2871216"/>
          </a:xfrm>
          <a:prstGeom prst="roundRect">
            <a:avLst>
              <a:gd name="adj" fmla="val 3185"/>
            </a:avLst>
          </a:prstGeom>
          <a:solidFill>
            <a:srgbClr val="E7F7F1"/>
          </a:solidFill>
          <a:ln w="12700">
            <a:solidFill>
              <a:srgbClr val="C2E6D7"/>
            </a:solidFill>
            <a:prstDash val="solid"/>
          </a:ln>
          <a:effectLst>
            <a:outerShdw blurRad="101600" dist="508" dir="5400000" algn="bl" rotWithShape="0">
              <a:srgbClr val="1B1A4A">
                <a:alpha val="7000"/>
              </a:srgbClr>
            </a:outerShdw>
          </a:effectLst>
        </p:spPr>
        <p:txBody>
          <a:bodyPr/>
          <a:lstStyle/>
          <a:p>
            <a:endParaRPr lang="en-US"/>
          </a:p>
        </p:txBody>
      </p:sp>
      <p:sp>
        <p:nvSpPr>
          <p:cNvPr id="19" name="Text 15"/>
          <p:cNvSpPr/>
          <p:nvPr/>
        </p:nvSpPr>
        <p:spPr>
          <a:xfrm>
            <a:off x="8377733" y="2084832"/>
            <a:ext cx="548640" cy="548640"/>
          </a:xfrm>
          <a:prstGeom prst="rect">
            <a:avLst/>
          </a:prstGeom>
          <a:noFill/>
          <a:ln/>
        </p:spPr>
        <p:txBody>
          <a:bodyPr wrap="square" lIns="0" tIns="0" rIns="0" bIns="0" rtlCol="0" anchor="ctr"/>
          <a:lstStyle/>
          <a:p>
            <a:pPr marL="0" indent="0">
              <a:buNone/>
            </a:pPr>
            <a:r>
              <a:rPr lang="en-US" sz="4000" b="1" dirty="0">
                <a:solidFill>
                  <a:srgbClr val="0E9F6E"/>
                </a:solidFill>
                <a:latin typeface="Cambria" pitchFamily="34" charset="0"/>
                <a:ea typeface="Cambria" pitchFamily="34" charset="-122"/>
                <a:cs typeface="Cambria" pitchFamily="34" charset="-120"/>
              </a:rPr>
              <a:t>3</a:t>
            </a:r>
            <a:endParaRPr lang="en-US" sz="4000" dirty="0"/>
          </a:p>
        </p:txBody>
      </p:sp>
      <p:sp>
        <p:nvSpPr>
          <p:cNvPr id="20" name="Shape 16"/>
          <p:cNvSpPr/>
          <p:nvPr/>
        </p:nvSpPr>
        <p:spPr>
          <a:xfrm>
            <a:off x="10948111" y="2139696"/>
            <a:ext cx="420624" cy="420624"/>
          </a:xfrm>
          <a:prstGeom prst="ellipse">
            <a:avLst/>
          </a:prstGeom>
          <a:solidFill>
            <a:srgbClr val="0E9F6E"/>
          </a:solidFill>
          <a:ln w="12700">
            <a:solidFill>
              <a:srgbClr val="0E9F6E"/>
            </a:solidFill>
            <a:prstDash val="solid"/>
          </a:ln>
        </p:spPr>
        <p:txBody>
          <a:bodyPr/>
          <a:lstStyle/>
          <a:p>
            <a:endParaRPr lang="en-US"/>
          </a:p>
        </p:txBody>
      </p:sp>
      <p:pic>
        <p:nvPicPr>
          <p:cNvPr id="21" name="Image 2" descr="preencoded.png"/>
          <p:cNvPicPr>
            <a:picLocks noChangeAspect="1"/>
          </p:cNvPicPr>
          <p:nvPr/>
        </p:nvPicPr>
        <p:blipFill>
          <a:blip r:embed="rId5"/>
          <a:stretch>
            <a:fillRect/>
          </a:stretch>
        </p:blipFill>
        <p:spPr>
          <a:xfrm>
            <a:off x="11053267" y="2244852"/>
            <a:ext cx="210312" cy="210312"/>
          </a:xfrm>
          <a:prstGeom prst="rect">
            <a:avLst/>
          </a:prstGeom>
        </p:spPr>
      </p:pic>
      <p:sp>
        <p:nvSpPr>
          <p:cNvPr id="22" name="Text 17"/>
          <p:cNvSpPr/>
          <p:nvPr/>
        </p:nvSpPr>
        <p:spPr>
          <a:xfrm>
            <a:off x="8377733" y="2761488"/>
            <a:ext cx="2991002" cy="384048"/>
          </a:xfrm>
          <a:prstGeom prst="rect">
            <a:avLst/>
          </a:prstGeom>
          <a:noFill/>
          <a:ln/>
        </p:spPr>
        <p:txBody>
          <a:bodyPr wrap="square" lIns="0" tIns="0" rIns="0" bIns="0" rtlCol="0" anchor="ctr"/>
          <a:lstStyle/>
          <a:p>
            <a:pPr marL="0" indent="0">
              <a:buNone/>
            </a:pPr>
            <a:r>
              <a:rPr lang="en-US" sz="1700" b="1" dirty="0">
                <a:solidFill>
                  <a:srgbClr val="141235"/>
                </a:solidFill>
                <a:latin typeface="Calibri" pitchFamily="34" charset="0"/>
                <a:ea typeface="Calibri" pitchFamily="34" charset="-122"/>
                <a:cs typeface="Calibri" pitchFamily="34" charset="-120"/>
              </a:rPr>
              <a:t>Add the guardrail</a:t>
            </a:r>
            <a:endParaRPr lang="en-US" sz="1700" dirty="0"/>
          </a:p>
        </p:txBody>
      </p:sp>
      <p:sp>
        <p:nvSpPr>
          <p:cNvPr id="23" name="Text 18"/>
          <p:cNvSpPr/>
          <p:nvPr/>
        </p:nvSpPr>
        <p:spPr>
          <a:xfrm>
            <a:off x="8377733" y="3218688"/>
            <a:ext cx="2991002" cy="1371600"/>
          </a:xfrm>
          <a:prstGeom prst="rect">
            <a:avLst/>
          </a:prstGeom>
          <a:noFill/>
          <a:ln/>
        </p:spPr>
        <p:txBody>
          <a:bodyPr wrap="square" lIns="0" tIns="0" rIns="0" bIns="0" rtlCol="0" anchor="t"/>
          <a:lstStyle/>
          <a:p>
            <a:pPr marL="0" indent="0">
              <a:lnSpc>
                <a:spcPct val="116000"/>
              </a:lnSpc>
              <a:buNone/>
            </a:pPr>
            <a:r>
              <a:rPr lang="en-US" sz="1250" dirty="0">
                <a:solidFill>
                  <a:srgbClr val="6E6B8A"/>
                </a:solidFill>
                <a:latin typeface="Calibri" pitchFamily="34" charset="0"/>
                <a:ea typeface="Calibri" pitchFamily="34" charset="-122"/>
                <a:cs typeface="Calibri" pitchFamily="34" charset="-120"/>
              </a:rPr>
              <a:t>Separate retrieved content from instructions. Constrain what the tool may do with it. Re-run the same attack.</a:t>
            </a:r>
            <a:endParaRPr lang="en-US" sz="1250" dirty="0"/>
          </a:p>
        </p:txBody>
      </p:sp>
      <p:sp>
        <p:nvSpPr>
          <p:cNvPr id="24" name="Text 19"/>
          <p:cNvSpPr/>
          <p:nvPr/>
        </p:nvSpPr>
        <p:spPr>
          <a:xfrm>
            <a:off x="566928" y="4901184"/>
            <a:ext cx="11057839" cy="329184"/>
          </a:xfrm>
          <a:prstGeom prst="rect">
            <a:avLst/>
          </a:prstGeom>
          <a:noFill/>
          <a:ln/>
        </p:spPr>
        <p:txBody>
          <a:bodyPr wrap="square" lIns="0" tIns="0" rIns="0" bIns="0" rtlCol="0" anchor="ctr"/>
          <a:lstStyle/>
          <a:p>
            <a:pPr marL="0" indent="0">
              <a:buNone/>
            </a:pPr>
            <a:r>
              <a:rPr lang="en-US" sz="1400" i="1" dirty="0">
                <a:solidFill>
                  <a:srgbClr val="3B3760"/>
                </a:solidFill>
                <a:latin typeface="Calibri" pitchFamily="34" charset="0"/>
                <a:ea typeface="Calibri" pitchFamily="34" charset="-122"/>
                <a:cs typeface="Calibri" pitchFamily="34" charset="-120"/>
              </a:rPr>
              <a:t>Nothing else in this course lands as hard as watching your own agent do it.</a:t>
            </a:r>
            <a:endParaRPr lang="en-US" sz="1400" dirty="0"/>
          </a:p>
        </p:txBody>
      </p:sp>
      <p:sp>
        <p:nvSpPr>
          <p:cNvPr id="25" name="Shape 20"/>
          <p:cNvSpPr/>
          <p:nvPr/>
        </p:nvSpPr>
        <p:spPr>
          <a:xfrm>
            <a:off x="566928" y="5394960"/>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26" name="Shape 21"/>
          <p:cNvSpPr/>
          <p:nvPr/>
        </p:nvSpPr>
        <p:spPr>
          <a:xfrm>
            <a:off x="841248" y="5614416"/>
            <a:ext cx="384048" cy="384048"/>
          </a:xfrm>
          <a:prstGeom prst="ellipse">
            <a:avLst/>
          </a:prstGeom>
          <a:solidFill>
            <a:srgbClr val="F5A524"/>
          </a:solidFill>
          <a:ln w="12700">
            <a:solidFill>
              <a:srgbClr val="F5A524"/>
            </a:solidFill>
            <a:prstDash val="solid"/>
          </a:ln>
        </p:spPr>
        <p:txBody>
          <a:bodyPr/>
          <a:lstStyle/>
          <a:p>
            <a:endParaRPr lang="en-US"/>
          </a:p>
        </p:txBody>
      </p:sp>
      <p:pic>
        <p:nvPicPr>
          <p:cNvPr id="27" name="Image 3" descr="preencoded.png"/>
          <p:cNvPicPr>
            <a:picLocks noChangeAspect="1"/>
          </p:cNvPicPr>
          <p:nvPr/>
        </p:nvPicPr>
        <p:blipFill>
          <a:blip r:embed="rId6"/>
          <a:stretch>
            <a:fillRect/>
          </a:stretch>
        </p:blipFill>
        <p:spPr>
          <a:xfrm>
            <a:off x="937260" y="5710428"/>
            <a:ext cx="192024" cy="192024"/>
          </a:xfrm>
          <a:prstGeom prst="rect">
            <a:avLst/>
          </a:prstGeom>
        </p:spPr>
      </p:pic>
      <p:sp>
        <p:nvSpPr>
          <p:cNvPr id="28" name="Text 22"/>
          <p:cNvSpPr/>
          <p:nvPr/>
        </p:nvSpPr>
        <p:spPr>
          <a:xfrm>
            <a:off x="1371600" y="5449824"/>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Someone can leave a note inside a document your agent reads, and the agent will treat that note as if you had written it.</a:t>
            </a:r>
            <a:endParaRPr lang="en-US" sz="105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14 · SECURITY</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3000" b="1" dirty="0">
                <a:solidFill>
                  <a:srgbClr val="141235"/>
                </a:solidFill>
                <a:latin typeface="Cambria" pitchFamily="34" charset="0"/>
                <a:ea typeface="Cambria" pitchFamily="34" charset="-122"/>
                <a:cs typeface="Cambria" pitchFamily="34" charset="-120"/>
              </a:rPr>
              <a:t>“Human in the loop” is a design, not a promise</a:t>
            </a:r>
            <a:endParaRPr lang="en-US" sz="3000" dirty="0"/>
          </a:p>
        </p:txBody>
      </p:sp>
      <p:sp>
        <p:nvSpPr>
          <p:cNvPr id="4" name="Text 2"/>
          <p:cNvSpPr/>
          <p:nvPr/>
        </p:nvSpPr>
        <p:spPr>
          <a:xfrm>
            <a:off x="566928" y="1371600"/>
            <a:ext cx="11057839" cy="310896"/>
          </a:xfrm>
          <a:prstGeom prst="rect">
            <a:avLst/>
          </a:prstGeom>
          <a:noFill/>
          <a:ln/>
        </p:spPr>
        <p:txBody>
          <a:bodyPr wrap="square" lIns="0" tIns="0" rIns="0" bIns="0" rtlCol="0" anchor="t"/>
          <a:lstStyle/>
          <a:p>
            <a:pPr marL="0" indent="0">
              <a:buNone/>
            </a:pPr>
            <a:r>
              <a:rPr lang="en-US" sz="1400" dirty="0">
                <a:solidFill>
                  <a:srgbClr val="3B3760"/>
                </a:solidFill>
                <a:latin typeface="Calibri" pitchFamily="34" charset="0"/>
                <a:ea typeface="Calibri" pitchFamily="34" charset="-122"/>
                <a:cs typeface="Calibri" pitchFamily="34" charset="-120"/>
              </a:rPr>
              <a:t>Everyone agrees there should be a human. Almost nobody specifies where, with what information, and what happens when they say no.</a:t>
            </a:r>
            <a:endParaRPr lang="en-US" sz="1400" dirty="0"/>
          </a:p>
        </p:txBody>
      </p:sp>
      <p:sp>
        <p:nvSpPr>
          <p:cNvPr id="5" name="Shape 3"/>
          <p:cNvSpPr/>
          <p:nvPr/>
        </p:nvSpPr>
        <p:spPr>
          <a:xfrm>
            <a:off x="566928" y="2170511"/>
            <a:ext cx="2586152" cy="2590129"/>
          </a:xfrm>
          <a:prstGeom prst="roundRect">
            <a:avLst>
              <a:gd name="adj" fmla="val 3182"/>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6" name="Shape 4"/>
          <p:cNvSpPr/>
          <p:nvPr/>
        </p:nvSpPr>
        <p:spPr>
          <a:xfrm>
            <a:off x="804672" y="2389967"/>
            <a:ext cx="365760" cy="365760"/>
          </a:xfrm>
          <a:prstGeom prst="ellipse">
            <a:avLst/>
          </a:prstGeom>
          <a:solidFill>
            <a:srgbClr val="5B4BE8"/>
          </a:solidFill>
          <a:ln w="12700">
            <a:solidFill>
              <a:srgbClr val="5B4BE8"/>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896112" y="2481407"/>
            <a:ext cx="182880" cy="182880"/>
          </a:xfrm>
          <a:prstGeom prst="rect">
            <a:avLst/>
          </a:prstGeom>
        </p:spPr>
      </p:pic>
      <p:sp>
        <p:nvSpPr>
          <p:cNvPr id="8" name="Text 5"/>
          <p:cNvSpPr/>
          <p:nvPr/>
        </p:nvSpPr>
        <p:spPr>
          <a:xfrm>
            <a:off x="1298448" y="2380823"/>
            <a:ext cx="1616888"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WHERE</a:t>
            </a:r>
            <a:endParaRPr lang="en-US" sz="850" dirty="0"/>
          </a:p>
        </p:txBody>
      </p:sp>
      <p:sp>
        <p:nvSpPr>
          <p:cNvPr id="9" name="Text 6"/>
          <p:cNvSpPr/>
          <p:nvPr/>
        </p:nvSpPr>
        <p:spPr>
          <a:xfrm>
            <a:off x="1298448" y="2600279"/>
            <a:ext cx="1616888" cy="622158"/>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Before the action, not after</a:t>
            </a:r>
            <a:endParaRPr lang="en-US" sz="1450" dirty="0"/>
          </a:p>
        </p:txBody>
      </p:sp>
      <p:sp>
        <p:nvSpPr>
          <p:cNvPr id="10" name="Text 7"/>
          <p:cNvSpPr/>
          <p:nvPr/>
        </p:nvSpPr>
        <p:spPr>
          <a:xfrm>
            <a:off x="1298448" y="3231581"/>
            <a:ext cx="1616888" cy="1346180"/>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The gate goes between the model choosing a tool and your code running it. Anywhere later and you are reviewing something that already happened.</a:t>
            </a:r>
            <a:endParaRPr lang="en-US" sz="1100" dirty="0"/>
          </a:p>
        </p:txBody>
      </p:sp>
      <p:sp>
        <p:nvSpPr>
          <p:cNvPr id="11" name="Shape 8"/>
          <p:cNvSpPr/>
          <p:nvPr/>
        </p:nvSpPr>
        <p:spPr>
          <a:xfrm>
            <a:off x="3390824" y="2170511"/>
            <a:ext cx="2586152" cy="2590129"/>
          </a:xfrm>
          <a:prstGeom prst="roundRect">
            <a:avLst>
              <a:gd name="adj" fmla="val 3182"/>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2" name="Shape 9"/>
          <p:cNvSpPr/>
          <p:nvPr/>
        </p:nvSpPr>
        <p:spPr>
          <a:xfrm>
            <a:off x="3628568" y="2389967"/>
            <a:ext cx="365760" cy="365760"/>
          </a:xfrm>
          <a:prstGeom prst="ellipse">
            <a:avLst/>
          </a:prstGeom>
          <a:solidFill>
            <a:srgbClr val="5B4BE8"/>
          </a:solidFill>
          <a:ln w="12700">
            <a:solidFill>
              <a:srgbClr val="5B4BE8"/>
            </a:solidFill>
            <a:prstDash val="solid"/>
          </a:ln>
        </p:spPr>
        <p:txBody>
          <a:bodyPr/>
          <a:lstStyle/>
          <a:p>
            <a:endParaRPr lang="en-US"/>
          </a:p>
        </p:txBody>
      </p:sp>
      <p:pic>
        <p:nvPicPr>
          <p:cNvPr id="13" name="Image 1" descr="preencoded.png"/>
          <p:cNvPicPr>
            <a:picLocks noChangeAspect="1"/>
          </p:cNvPicPr>
          <p:nvPr/>
        </p:nvPicPr>
        <p:blipFill>
          <a:blip r:embed="rId4"/>
          <a:stretch>
            <a:fillRect/>
          </a:stretch>
        </p:blipFill>
        <p:spPr>
          <a:xfrm>
            <a:off x="3720008" y="2481407"/>
            <a:ext cx="182880" cy="182880"/>
          </a:xfrm>
          <a:prstGeom prst="rect">
            <a:avLst/>
          </a:prstGeom>
        </p:spPr>
      </p:pic>
      <p:sp>
        <p:nvSpPr>
          <p:cNvPr id="14" name="Text 10"/>
          <p:cNvSpPr/>
          <p:nvPr/>
        </p:nvSpPr>
        <p:spPr>
          <a:xfrm>
            <a:off x="4122344" y="2380823"/>
            <a:ext cx="1616888"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WHAT THEY SEE</a:t>
            </a:r>
            <a:endParaRPr lang="en-US" sz="850" dirty="0"/>
          </a:p>
        </p:txBody>
      </p:sp>
      <p:sp>
        <p:nvSpPr>
          <p:cNvPr id="15" name="Text 11"/>
          <p:cNvSpPr/>
          <p:nvPr/>
        </p:nvSpPr>
        <p:spPr>
          <a:xfrm>
            <a:off x="4122344" y="2600279"/>
            <a:ext cx="1616888" cy="622158"/>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The actual arguments</a:t>
            </a:r>
            <a:endParaRPr lang="en-US" sz="1450" dirty="0"/>
          </a:p>
        </p:txBody>
      </p:sp>
      <p:sp>
        <p:nvSpPr>
          <p:cNvPr id="16" name="Text 12"/>
          <p:cNvSpPr/>
          <p:nvPr/>
        </p:nvSpPr>
        <p:spPr>
          <a:xfrm>
            <a:off x="4122344" y="3231581"/>
            <a:ext cx="1616888" cy="1346180"/>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“The agent wants to send an email” is not reviewable. “Send this text, to this address, from this account” is. Show the parsed arguments, not a summary.</a:t>
            </a:r>
            <a:endParaRPr lang="en-US" sz="1100" dirty="0"/>
          </a:p>
        </p:txBody>
      </p:sp>
      <p:sp>
        <p:nvSpPr>
          <p:cNvPr id="17" name="Shape 13"/>
          <p:cNvSpPr/>
          <p:nvPr/>
        </p:nvSpPr>
        <p:spPr>
          <a:xfrm>
            <a:off x="6214720" y="2170511"/>
            <a:ext cx="2586152" cy="2590129"/>
          </a:xfrm>
          <a:prstGeom prst="roundRect">
            <a:avLst>
              <a:gd name="adj" fmla="val 3182"/>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8" name="Shape 14"/>
          <p:cNvSpPr/>
          <p:nvPr/>
        </p:nvSpPr>
        <p:spPr>
          <a:xfrm>
            <a:off x="6452464" y="2389967"/>
            <a:ext cx="365760" cy="365760"/>
          </a:xfrm>
          <a:prstGeom prst="ellipse">
            <a:avLst/>
          </a:prstGeom>
          <a:solidFill>
            <a:srgbClr val="5B4BE8"/>
          </a:solidFill>
          <a:ln w="12700">
            <a:solidFill>
              <a:srgbClr val="5B4BE8"/>
            </a:solidFill>
            <a:prstDash val="solid"/>
          </a:ln>
        </p:spPr>
        <p:txBody>
          <a:bodyPr/>
          <a:lstStyle/>
          <a:p>
            <a:endParaRPr lang="en-US"/>
          </a:p>
        </p:txBody>
      </p:sp>
      <p:pic>
        <p:nvPicPr>
          <p:cNvPr id="19" name="Image 2" descr="preencoded.png"/>
          <p:cNvPicPr>
            <a:picLocks noChangeAspect="1"/>
          </p:cNvPicPr>
          <p:nvPr/>
        </p:nvPicPr>
        <p:blipFill>
          <a:blip r:embed="rId5"/>
          <a:stretch>
            <a:fillRect/>
          </a:stretch>
        </p:blipFill>
        <p:spPr>
          <a:xfrm>
            <a:off x="6543904" y="2481407"/>
            <a:ext cx="182880" cy="182880"/>
          </a:xfrm>
          <a:prstGeom prst="rect">
            <a:avLst/>
          </a:prstGeom>
        </p:spPr>
      </p:pic>
      <p:sp>
        <p:nvSpPr>
          <p:cNvPr id="20" name="Text 15"/>
          <p:cNvSpPr/>
          <p:nvPr/>
        </p:nvSpPr>
        <p:spPr>
          <a:xfrm>
            <a:off x="6946240" y="2380823"/>
            <a:ext cx="1616888"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HOW IT SURVIVES</a:t>
            </a:r>
            <a:endParaRPr lang="en-US" sz="850" dirty="0"/>
          </a:p>
        </p:txBody>
      </p:sp>
      <p:sp>
        <p:nvSpPr>
          <p:cNvPr id="21" name="Text 16"/>
          <p:cNvSpPr/>
          <p:nvPr/>
        </p:nvSpPr>
        <p:spPr>
          <a:xfrm>
            <a:off x="6946240" y="2600279"/>
            <a:ext cx="1616888" cy="622158"/>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Pause and resume</a:t>
            </a:r>
            <a:endParaRPr lang="en-US" sz="1450" dirty="0"/>
          </a:p>
        </p:txBody>
      </p:sp>
      <p:sp>
        <p:nvSpPr>
          <p:cNvPr id="22" name="Text 17"/>
          <p:cNvSpPr/>
          <p:nvPr/>
        </p:nvSpPr>
        <p:spPr>
          <a:xfrm>
            <a:off x="6946240" y="3231581"/>
            <a:ext cx="1616888" cy="1346180"/>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A human takes minutes or days. The run has to be serialisable and resumable — which is precisely what tier 2 frameworks were selling in module 09.</a:t>
            </a:r>
            <a:endParaRPr lang="en-US" sz="1100" dirty="0"/>
          </a:p>
        </p:txBody>
      </p:sp>
      <p:sp>
        <p:nvSpPr>
          <p:cNvPr id="23" name="Shape 18"/>
          <p:cNvSpPr/>
          <p:nvPr/>
        </p:nvSpPr>
        <p:spPr>
          <a:xfrm>
            <a:off x="9038615" y="2170511"/>
            <a:ext cx="2586152" cy="2590129"/>
          </a:xfrm>
          <a:prstGeom prst="roundRect">
            <a:avLst>
              <a:gd name="adj" fmla="val 3182"/>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24" name="Shape 19"/>
          <p:cNvSpPr/>
          <p:nvPr/>
        </p:nvSpPr>
        <p:spPr>
          <a:xfrm>
            <a:off x="9276359" y="2389967"/>
            <a:ext cx="365760" cy="365760"/>
          </a:xfrm>
          <a:prstGeom prst="ellipse">
            <a:avLst/>
          </a:prstGeom>
          <a:solidFill>
            <a:srgbClr val="5B4BE8"/>
          </a:solidFill>
          <a:ln w="12700">
            <a:solidFill>
              <a:srgbClr val="5B4BE8"/>
            </a:solidFill>
            <a:prstDash val="solid"/>
          </a:ln>
        </p:spPr>
        <p:txBody>
          <a:bodyPr/>
          <a:lstStyle/>
          <a:p>
            <a:endParaRPr lang="en-US"/>
          </a:p>
        </p:txBody>
      </p:sp>
      <p:pic>
        <p:nvPicPr>
          <p:cNvPr id="25" name="Image 3" descr="preencoded.png"/>
          <p:cNvPicPr>
            <a:picLocks noChangeAspect="1"/>
          </p:cNvPicPr>
          <p:nvPr/>
        </p:nvPicPr>
        <p:blipFill>
          <a:blip r:embed="rId6"/>
          <a:stretch>
            <a:fillRect/>
          </a:stretch>
        </p:blipFill>
        <p:spPr>
          <a:xfrm>
            <a:off x="9367799" y="2481407"/>
            <a:ext cx="182880" cy="182880"/>
          </a:xfrm>
          <a:prstGeom prst="rect">
            <a:avLst/>
          </a:prstGeom>
        </p:spPr>
      </p:pic>
      <p:sp>
        <p:nvSpPr>
          <p:cNvPr id="26" name="Text 20"/>
          <p:cNvSpPr/>
          <p:nvPr/>
        </p:nvSpPr>
        <p:spPr>
          <a:xfrm>
            <a:off x="9770135" y="2380823"/>
            <a:ext cx="1616888"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THE FAILURE MODE</a:t>
            </a:r>
            <a:endParaRPr lang="en-US" sz="850" dirty="0"/>
          </a:p>
        </p:txBody>
      </p:sp>
      <p:sp>
        <p:nvSpPr>
          <p:cNvPr id="27" name="Text 21"/>
          <p:cNvSpPr/>
          <p:nvPr/>
        </p:nvSpPr>
        <p:spPr>
          <a:xfrm>
            <a:off x="9770135" y="2600279"/>
            <a:ext cx="1616888" cy="622158"/>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Approval fatigue</a:t>
            </a:r>
            <a:endParaRPr lang="en-US" sz="1450" dirty="0"/>
          </a:p>
        </p:txBody>
      </p:sp>
      <p:sp>
        <p:nvSpPr>
          <p:cNvPr id="28" name="Text 22"/>
          <p:cNvSpPr/>
          <p:nvPr/>
        </p:nvSpPr>
        <p:spPr>
          <a:xfrm>
            <a:off x="9770135" y="3231581"/>
            <a:ext cx="1616888" cy="1346180"/>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Gate everything and people click yes without reading, which is worse than no gate because now it is documented as approved.</a:t>
            </a:r>
            <a:endParaRPr lang="en-US" sz="1100" dirty="0"/>
          </a:p>
        </p:txBody>
      </p:sp>
      <p:sp>
        <p:nvSpPr>
          <p:cNvPr id="29" name="Text 23"/>
          <p:cNvSpPr/>
          <p:nvPr/>
        </p:nvSpPr>
        <p:spPr>
          <a:xfrm>
            <a:off x="566928" y="5047488"/>
            <a:ext cx="11057839" cy="256032"/>
          </a:xfrm>
          <a:prstGeom prst="rect">
            <a:avLst/>
          </a:prstGeom>
          <a:noFill/>
          <a:ln/>
        </p:spPr>
        <p:txBody>
          <a:bodyPr wrap="square" lIns="0" tIns="0" rIns="0" bIns="0" rtlCol="0" anchor="ctr"/>
          <a:lstStyle/>
          <a:p>
            <a:pPr marL="0" indent="0">
              <a:buNone/>
            </a:pPr>
            <a:r>
              <a:rPr lang="en-US" sz="950" i="1" dirty="0">
                <a:solidFill>
                  <a:srgbClr val="9B98B4"/>
                </a:solidFill>
                <a:latin typeface="Calibri" pitchFamily="34" charset="0"/>
                <a:ea typeface="Calibri" pitchFamily="34" charset="-122"/>
                <a:cs typeface="Calibri" pitchFamily="34" charset="-120"/>
              </a:rPr>
              <a:t>MCP's elicitation feature (module 06) is this same idea expressed at the protocol level — the server can pause and ask.</a:t>
            </a:r>
            <a:endParaRPr lang="en-US" sz="950" dirty="0"/>
          </a:p>
        </p:txBody>
      </p:sp>
      <p:sp>
        <p:nvSpPr>
          <p:cNvPr id="30" name="Shape 24"/>
          <p:cNvSpPr/>
          <p:nvPr/>
        </p:nvSpPr>
        <p:spPr>
          <a:xfrm>
            <a:off x="566928" y="5431536"/>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31" name="Shape 25"/>
          <p:cNvSpPr/>
          <p:nvPr/>
        </p:nvSpPr>
        <p:spPr>
          <a:xfrm>
            <a:off x="841248" y="5650992"/>
            <a:ext cx="384048" cy="384048"/>
          </a:xfrm>
          <a:prstGeom prst="ellipse">
            <a:avLst/>
          </a:prstGeom>
          <a:solidFill>
            <a:srgbClr val="F5A524"/>
          </a:solidFill>
          <a:ln w="12700">
            <a:solidFill>
              <a:srgbClr val="F5A524"/>
            </a:solidFill>
            <a:prstDash val="solid"/>
          </a:ln>
        </p:spPr>
        <p:txBody>
          <a:bodyPr/>
          <a:lstStyle/>
          <a:p>
            <a:endParaRPr lang="en-US"/>
          </a:p>
        </p:txBody>
      </p:sp>
      <p:pic>
        <p:nvPicPr>
          <p:cNvPr id="32" name="Image 4" descr="preencoded.png"/>
          <p:cNvPicPr>
            <a:picLocks noChangeAspect="1"/>
          </p:cNvPicPr>
          <p:nvPr/>
        </p:nvPicPr>
        <p:blipFill>
          <a:blip r:embed="rId7"/>
          <a:stretch>
            <a:fillRect/>
          </a:stretch>
        </p:blipFill>
        <p:spPr>
          <a:xfrm>
            <a:off x="937260" y="5747004"/>
            <a:ext cx="192024" cy="192024"/>
          </a:xfrm>
          <a:prstGeom prst="rect">
            <a:avLst/>
          </a:prstGeom>
        </p:spPr>
      </p:pic>
      <p:sp>
        <p:nvSpPr>
          <p:cNvPr id="33" name="Text 26"/>
          <p:cNvSpPr/>
          <p:nvPr/>
        </p:nvSpPr>
        <p:spPr>
          <a:xfrm>
            <a:off x="1371600" y="5486400"/>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Gate the few actions that are expensive to undo, and show the person enough to actually judge. Gating everything trains people to approve everything.</a:t>
            </a:r>
            <a:endParaRPr lang="en-US" sz="105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14 · SECURITY</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3000" b="1" dirty="0">
                <a:solidFill>
                  <a:srgbClr val="141235"/>
                </a:solidFill>
                <a:latin typeface="Cambria" pitchFamily="34" charset="0"/>
                <a:ea typeface="Cambria" pitchFamily="34" charset="-122"/>
                <a:cs typeface="Cambria" pitchFamily="34" charset="-120"/>
              </a:rPr>
              <a:t>An agent needs its own identity, not a shared one</a:t>
            </a:r>
            <a:endParaRPr lang="en-US" sz="3000" dirty="0"/>
          </a:p>
        </p:txBody>
      </p:sp>
      <p:sp>
        <p:nvSpPr>
          <p:cNvPr id="4" name="Shape 2"/>
          <p:cNvSpPr/>
          <p:nvPr/>
        </p:nvSpPr>
        <p:spPr>
          <a:xfrm>
            <a:off x="566928" y="2534534"/>
            <a:ext cx="3527450" cy="2300996"/>
          </a:xfrm>
          <a:prstGeom prst="roundRect">
            <a:avLst>
              <a:gd name="adj" fmla="val 3577"/>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5" name="Shape 3"/>
          <p:cNvSpPr/>
          <p:nvPr/>
        </p:nvSpPr>
        <p:spPr>
          <a:xfrm>
            <a:off x="804672" y="2753990"/>
            <a:ext cx="365760" cy="365760"/>
          </a:xfrm>
          <a:prstGeom prst="ellipse">
            <a:avLst/>
          </a:prstGeom>
          <a:solidFill>
            <a:srgbClr val="5B4BE8"/>
          </a:solidFill>
          <a:ln w="12700">
            <a:solidFill>
              <a:srgbClr val="5B4BE8"/>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896112" y="2845430"/>
            <a:ext cx="182880" cy="182880"/>
          </a:xfrm>
          <a:prstGeom prst="rect">
            <a:avLst/>
          </a:prstGeom>
        </p:spPr>
      </p:pic>
      <p:sp>
        <p:nvSpPr>
          <p:cNvPr id="7" name="Text 4"/>
          <p:cNvSpPr/>
          <p:nvPr/>
        </p:nvSpPr>
        <p:spPr>
          <a:xfrm>
            <a:off x="1298448" y="2744846"/>
            <a:ext cx="2558186"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THE PROBLEM</a:t>
            </a:r>
            <a:endParaRPr lang="en-US" sz="850" dirty="0"/>
          </a:p>
        </p:txBody>
      </p:sp>
      <p:sp>
        <p:nvSpPr>
          <p:cNvPr id="8" name="Text 5"/>
          <p:cNvSpPr/>
          <p:nvPr/>
        </p:nvSpPr>
        <p:spPr>
          <a:xfrm>
            <a:off x="1298448" y="2964302"/>
            <a:ext cx="2558186" cy="338511"/>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A shared service account</a:t>
            </a:r>
            <a:endParaRPr lang="en-US" sz="1450" dirty="0"/>
          </a:p>
        </p:txBody>
      </p:sp>
      <p:sp>
        <p:nvSpPr>
          <p:cNvPr id="9" name="Text 6"/>
          <p:cNvSpPr/>
          <p:nvPr/>
        </p:nvSpPr>
        <p:spPr>
          <a:xfrm>
            <a:off x="1298448" y="3311957"/>
            <a:ext cx="2558186" cy="1340693"/>
          </a:xfrm>
          <a:prstGeom prst="rect">
            <a:avLst/>
          </a:prstGeom>
          <a:noFill/>
          <a:ln/>
        </p:spPr>
        <p:txBody>
          <a:bodyPr wrap="square" lIns="0" tIns="0" rIns="0" bIns="0" rtlCol="0" anchor="t"/>
          <a:lstStyle/>
          <a:p>
            <a:pPr marL="0" indent="0">
              <a:lnSpc>
                <a:spcPct val="113000"/>
              </a:lnSpc>
              <a:buNone/>
            </a:pPr>
            <a:r>
              <a:rPr lang="en-US" sz="1200" dirty="0">
                <a:solidFill>
                  <a:srgbClr val="6E6B8A"/>
                </a:solidFill>
                <a:latin typeface="Calibri" pitchFamily="34" charset="0"/>
                <a:ea typeface="Calibri" pitchFamily="34" charset="-122"/>
                <a:cs typeface="Calibri" pitchFamily="34" charset="-120"/>
              </a:rPr>
              <a:t>Cannot tell you which agent did what. After an incident you have one log line and five suspects — and the fastest fix is to disable the account, which takes everything down.</a:t>
            </a:r>
            <a:endParaRPr lang="en-US" sz="1200" dirty="0"/>
          </a:p>
        </p:txBody>
      </p:sp>
      <p:sp>
        <p:nvSpPr>
          <p:cNvPr id="10" name="Shape 7"/>
          <p:cNvSpPr/>
          <p:nvPr/>
        </p:nvSpPr>
        <p:spPr>
          <a:xfrm>
            <a:off x="4332122" y="2534534"/>
            <a:ext cx="3527450" cy="2300996"/>
          </a:xfrm>
          <a:prstGeom prst="roundRect">
            <a:avLst>
              <a:gd name="adj" fmla="val 3577"/>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1" name="Shape 8"/>
          <p:cNvSpPr/>
          <p:nvPr/>
        </p:nvSpPr>
        <p:spPr>
          <a:xfrm>
            <a:off x="4569866" y="2753990"/>
            <a:ext cx="365760" cy="365760"/>
          </a:xfrm>
          <a:prstGeom prst="ellipse">
            <a:avLst/>
          </a:prstGeom>
          <a:solidFill>
            <a:srgbClr val="5B4BE8"/>
          </a:solidFill>
          <a:ln w="12700">
            <a:solidFill>
              <a:srgbClr val="5B4BE8"/>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4661306" y="2845430"/>
            <a:ext cx="182880" cy="182880"/>
          </a:xfrm>
          <a:prstGeom prst="rect">
            <a:avLst/>
          </a:prstGeom>
        </p:spPr>
      </p:pic>
      <p:sp>
        <p:nvSpPr>
          <p:cNvPr id="13" name="Text 9"/>
          <p:cNvSpPr/>
          <p:nvPr/>
        </p:nvSpPr>
        <p:spPr>
          <a:xfrm>
            <a:off x="5063642" y="2744846"/>
            <a:ext cx="2558186"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THE FIX</a:t>
            </a:r>
            <a:endParaRPr lang="en-US" sz="850" dirty="0"/>
          </a:p>
        </p:txBody>
      </p:sp>
      <p:sp>
        <p:nvSpPr>
          <p:cNvPr id="14" name="Text 10"/>
          <p:cNvSpPr/>
          <p:nvPr/>
        </p:nvSpPr>
        <p:spPr>
          <a:xfrm>
            <a:off x="5063642" y="2964302"/>
            <a:ext cx="2558186" cy="338511"/>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Per-agent identity</a:t>
            </a:r>
            <a:endParaRPr lang="en-US" sz="1450" dirty="0"/>
          </a:p>
        </p:txBody>
      </p:sp>
      <p:sp>
        <p:nvSpPr>
          <p:cNvPr id="15" name="Text 11"/>
          <p:cNvSpPr/>
          <p:nvPr/>
        </p:nvSpPr>
        <p:spPr>
          <a:xfrm>
            <a:off x="5063642" y="3311957"/>
            <a:ext cx="2558186" cy="1340693"/>
          </a:xfrm>
          <a:prstGeom prst="rect">
            <a:avLst/>
          </a:prstGeom>
          <a:noFill/>
          <a:ln/>
        </p:spPr>
        <p:txBody>
          <a:bodyPr wrap="square" lIns="0" tIns="0" rIns="0" bIns="0" rtlCol="0" anchor="t"/>
          <a:lstStyle/>
          <a:p>
            <a:pPr marL="0" indent="0">
              <a:lnSpc>
                <a:spcPct val="113000"/>
              </a:lnSpc>
              <a:buNone/>
            </a:pPr>
            <a:r>
              <a:rPr lang="en-US" sz="1200" dirty="0">
                <a:solidFill>
                  <a:srgbClr val="6E6B8A"/>
                </a:solidFill>
                <a:latin typeface="Calibri" pitchFamily="34" charset="0"/>
                <a:ea typeface="Calibri" pitchFamily="34" charset="-122"/>
                <a:cs typeface="Calibri" pitchFamily="34" charset="-120"/>
              </a:rPr>
              <a:t>Per-agent permissions, per-agent audit, per-agent revocation. Turn off the one that misbehaved without touching anything else.</a:t>
            </a:r>
            <a:endParaRPr lang="en-US" sz="1200" dirty="0"/>
          </a:p>
        </p:txBody>
      </p:sp>
      <p:sp>
        <p:nvSpPr>
          <p:cNvPr id="16" name="Shape 12"/>
          <p:cNvSpPr/>
          <p:nvPr/>
        </p:nvSpPr>
        <p:spPr>
          <a:xfrm>
            <a:off x="8097317" y="2534534"/>
            <a:ext cx="3527450" cy="2300996"/>
          </a:xfrm>
          <a:prstGeom prst="roundRect">
            <a:avLst>
              <a:gd name="adj" fmla="val 3577"/>
            </a:avLst>
          </a:prstGeom>
          <a:solidFill>
            <a:srgbClr val="EEEDFE"/>
          </a:solidFill>
          <a:ln w="12700">
            <a:solidFill>
              <a:srgbClr val="8E82F5"/>
            </a:solidFill>
            <a:prstDash val="solid"/>
          </a:ln>
          <a:effectLst>
            <a:outerShdw blurRad="114300" dist="572" dir="5400000" algn="bl" rotWithShape="0">
              <a:srgbClr val="1B1A4A">
                <a:alpha val="7000"/>
              </a:srgbClr>
            </a:outerShdw>
          </a:effectLst>
        </p:spPr>
        <p:txBody>
          <a:bodyPr/>
          <a:lstStyle/>
          <a:p>
            <a:endParaRPr lang="en-US"/>
          </a:p>
        </p:txBody>
      </p:sp>
      <p:sp>
        <p:nvSpPr>
          <p:cNvPr id="17" name="Shape 13"/>
          <p:cNvSpPr/>
          <p:nvPr/>
        </p:nvSpPr>
        <p:spPr>
          <a:xfrm>
            <a:off x="8335061" y="2753990"/>
            <a:ext cx="365760" cy="365760"/>
          </a:xfrm>
          <a:prstGeom prst="ellipse">
            <a:avLst/>
          </a:prstGeom>
          <a:solidFill>
            <a:srgbClr val="5B4BE8"/>
          </a:solidFill>
          <a:ln w="12700">
            <a:solidFill>
              <a:srgbClr val="5B4BE8"/>
            </a:solidFill>
            <a:prstDash val="solid"/>
          </a:ln>
        </p:spPr>
        <p:txBody>
          <a:bodyPr/>
          <a:lstStyle/>
          <a:p>
            <a:endParaRPr lang="en-US"/>
          </a:p>
        </p:txBody>
      </p:sp>
      <p:pic>
        <p:nvPicPr>
          <p:cNvPr id="18" name="Image 2" descr="preencoded.png"/>
          <p:cNvPicPr>
            <a:picLocks noChangeAspect="1"/>
          </p:cNvPicPr>
          <p:nvPr/>
        </p:nvPicPr>
        <p:blipFill>
          <a:blip r:embed="rId5"/>
          <a:stretch>
            <a:fillRect/>
          </a:stretch>
        </p:blipFill>
        <p:spPr>
          <a:xfrm>
            <a:off x="8426501" y="2845430"/>
            <a:ext cx="182880" cy="182880"/>
          </a:xfrm>
          <a:prstGeom prst="rect">
            <a:avLst/>
          </a:prstGeom>
        </p:spPr>
      </p:pic>
      <p:sp>
        <p:nvSpPr>
          <p:cNvPr id="19" name="Text 14"/>
          <p:cNvSpPr/>
          <p:nvPr/>
        </p:nvSpPr>
        <p:spPr>
          <a:xfrm>
            <a:off x="8828837" y="2744846"/>
            <a:ext cx="2558186"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THE SIGNAL</a:t>
            </a:r>
            <a:endParaRPr lang="en-US" sz="850" dirty="0"/>
          </a:p>
        </p:txBody>
      </p:sp>
      <p:sp>
        <p:nvSpPr>
          <p:cNvPr id="20" name="Text 15"/>
          <p:cNvSpPr/>
          <p:nvPr/>
        </p:nvSpPr>
        <p:spPr>
          <a:xfrm>
            <a:off x="8828837" y="2964302"/>
            <a:ext cx="2558186" cy="622158"/>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Every platform now sells it</a:t>
            </a:r>
            <a:endParaRPr lang="en-US" sz="1450" dirty="0"/>
          </a:p>
        </p:txBody>
      </p:sp>
      <p:sp>
        <p:nvSpPr>
          <p:cNvPr id="21" name="Text 16"/>
          <p:cNvSpPr/>
          <p:nvPr/>
        </p:nvSpPr>
        <p:spPr>
          <a:xfrm>
            <a:off x="8828837" y="3595604"/>
            <a:ext cx="2558186" cy="1057046"/>
          </a:xfrm>
          <a:prstGeom prst="rect">
            <a:avLst/>
          </a:prstGeom>
          <a:noFill/>
          <a:ln/>
        </p:spPr>
        <p:txBody>
          <a:bodyPr wrap="square" lIns="0" tIns="0" rIns="0" bIns="0" rtlCol="0" anchor="t"/>
          <a:lstStyle/>
          <a:p>
            <a:pPr marL="0" indent="0">
              <a:lnSpc>
                <a:spcPct val="113000"/>
              </a:lnSpc>
              <a:buNone/>
            </a:pPr>
            <a:r>
              <a:rPr lang="en-US" sz="1200" dirty="0">
                <a:solidFill>
                  <a:srgbClr val="6E6B8A"/>
                </a:solidFill>
                <a:latin typeface="Calibri" pitchFamily="34" charset="0"/>
                <a:ea typeface="Calibri" pitchFamily="34" charset="-122"/>
                <a:cs typeface="Calibri" pitchFamily="34" charset="-120"/>
              </a:rPr>
              <a:t>Agent identity has become a named feature on every managed platform — because every team that reached production discovered they needed it.</a:t>
            </a:r>
            <a:endParaRPr lang="en-US" sz="1200" dirty="0"/>
          </a:p>
        </p:txBody>
      </p:sp>
      <p:sp>
        <p:nvSpPr>
          <p:cNvPr id="22" name="Shape 17"/>
          <p:cNvSpPr/>
          <p:nvPr/>
        </p:nvSpPr>
        <p:spPr>
          <a:xfrm>
            <a:off x="566928" y="5541264"/>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23" name="Shape 18"/>
          <p:cNvSpPr/>
          <p:nvPr/>
        </p:nvSpPr>
        <p:spPr>
          <a:xfrm>
            <a:off x="841248" y="5760720"/>
            <a:ext cx="384048" cy="384048"/>
          </a:xfrm>
          <a:prstGeom prst="ellipse">
            <a:avLst/>
          </a:prstGeom>
          <a:solidFill>
            <a:srgbClr val="F5A524"/>
          </a:solidFill>
          <a:ln w="12700">
            <a:solidFill>
              <a:srgbClr val="F5A524"/>
            </a:solidFill>
            <a:prstDash val="solid"/>
          </a:ln>
        </p:spPr>
        <p:txBody>
          <a:bodyPr/>
          <a:lstStyle/>
          <a:p>
            <a:endParaRPr lang="en-US"/>
          </a:p>
        </p:txBody>
      </p:sp>
      <p:pic>
        <p:nvPicPr>
          <p:cNvPr id="24" name="Image 3" descr="preencoded.png"/>
          <p:cNvPicPr>
            <a:picLocks noChangeAspect="1"/>
          </p:cNvPicPr>
          <p:nvPr/>
        </p:nvPicPr>
        <p:blipFill>
          <a:blip r:embed="rId6"/>
          <a:stretch>
            <a:fillRect/>
          </a:stretch>
        </p:blipFill>
        <p:spPr>
          <a:xfrm>
            <a:off x="937260" y="5856732"/>
            <a:ext cx="192024" cy="192024"/>
          </a:xfrm>
          <a:prstGeom prst="rect">
            <a:avLst/>
          </a:prstGeom>
        </p:spPr>
      </p:pic>
      <p:sp>
        <p:nvSpPr>
          <p:cNvPr id="25" name="Text 19"/>
          <p:cNvSpPr/>
          <p:nvPr/>
        </p:nvSpPr>
        <p:spPr>
          <a:xfrm>
            <a:off x="1371600" y="5596128"/>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Give each agent its own badge. Shared logins are exactly as bad an idea here as they have always been everywhere else.</a:t>
            </a:r>
            <a:endParaRPr lang="en-US" sz="105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14 · SECURITY</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2800" b="1" dirty="0">
                <a:solidFill>
                  <a:srgbClr val="141235"/>
                </a:solidFill>
                <a:latin typeface="Cambria" pitchFamily="34" charset="0"/>
                <a:ea typeface="Cambria" pitchFamily="34" charset="-122"/>
                <a:cs typeface="Cambria" pitchFamily="34" charset="-120"/>
              </a:rPr>
              <a:t>The autonomy spectrum is also your approval-gate map</a:t>
            </a:r>
            <a:endParaRPr lang="en-US" sz="2800" dirty="0"/>
          </a:p>
        </p:txBody>
      </p:sp>
      <p:sp>
        <p:nvSpPr>
          <p:cNvPr id="4" name="Text 2"/>
          <p:cNvSpPr/>
          <p:nvPr/>
        </p:nvSpPr>
        <p:spPr>
          <a:xfrm>
            <a:off x="566928" y="1371600"/>
            <a:ext cx="11057839" cy="310896"/>
          </a:xfrm>
          <a:prstGeom prst="rect">
            <a:avLst/>
          </a:prstGeom>
          <a:noFill/>
          <a:ln/>
        </p:spPr>
        <p:txBody>
          <a:bodyPr wrap="square" lIns="0" tIns="0" rIns="0" bIns="0" rtlCol="0" anchor="t"/>
          <a:lstStyle/>
          <a:p>
            <a:pPr marL="0" indent="0">
              <a:buNone/>
            </a:pPr>
            <a:r>
              <a:rPr lang="en-US" sz="1400" dirty="0">
                <a:solidFill>
                  <a:srgbClr val="3B3760"/>
                </a:solidFill>
                <a:latin typeface="Calibri" pitchFamily="34" charset="0"/>
                <a:ea typeface="Calibri" pitchFamily="34" charset="-122"/>
                <a:cs typeface="Calibri" pitchFamily="34" charset="-120"/>
              </a:rPr>
              <a:t>The four words from module 01, now with the engineering that has to exist behind each one.</a:t>
            </a:r>
            <a:endParaRPr lang="en-US" sz="1400" dirty="0"/>
          </a:p>
        </p:txBody>
      </p:sp>
      <p:sp>
        <p:nvSpPr>
          <p:cNvPr id="5" name="Shape 3"/>
          <p:cNvSpPr/>
          <p:nvPr/>
        </p:nvSpPr>
        <p:spPr>
          <a:xfrm>
            <a:off x="566928" y="1975104"/>
            <a:ext cx="2599868" cy="201168"/>
          </a:xfrm>
          <a:prstGeom prst="roundRect">
            <a:avLst>
              <a:gd name="adj" fmla="val 50000"/>
            </a:avLst>
          </a:prstGeom>
          <a:solidFill>
            <a:srgbClr val="C7C2F7"/>
          </a:solidFill>
          <a:ln w="12700">
            <a:solidFill>
              <a:srgbClr val="C7C2F7"/>
            </a:solidFill>
            <a:prstDash val="solid"/>
          </a:ln>
        </p:spPr>
        <p:txBody>
          <a:bodyPr/>
          <a:lstStyle/>
          <a:p>
            <a:endParaRPr lang="en-US"/>
          </a:p>
        </p:txBody>
      </p:sp>
      <p:sp>
        <p:nvSpPr>
          <p:cNvPr id="6" name="Shape 4"/>
          <p:cNvSpPr/>
          <p:nvPr/>
        </p:nvSpPr>
        <p:spPr>
          <a:xfrm>
            <a:off x="566928" y="2267712"/>
            <a:ext cx="2599868" cy="2432304"/>
          </a:xfrm>
          <a:prstGeom prst="roundRect">
            <a:avLst>
              <a:gd name="adj" fmla="val 3759"/>
            </a:avLst>
          </a:prstGeom>
          <a:solidFill>
            <a:srgbClr val="FFFFFF"/>
          </a:solidFill>
          <a:ln w="12700">
            <a:solidFill>
              <a:srgbClr val="E3E4F2"/>
            </a:solidFill>
            <a:prstDash val="solid"/>
          </a:ln>
          <a:effectLst>
            <a:outerShdw blurRad="101600" dist="508" dir="5400000" algn="bl" rotWithShape="0">
              <a:srgbClr val="1B1A4A">
                <a:alpha val="7000"/>
              </a:srgbClr>
            </a:outerShdw>
          </a:effectLst>
        </p:spPr>
        <p:txBody>
          <a:bodyPr/>
          <a:lstStyle/>
          <a:p>
            <a:endParaRPr lang="en-US"/>
          </a:p>
        </p:txBody>
      </p:sp>
      <p:sp>
        <p:nvSpPr>
          <p:cNvPr id="7" name="Text 5"/>
          <p:cNvSpPr/>
          <p:nvPr/>
        </p:nvSpPr>
        <p:spPr>
          <a:xfrm>
            <a:off x="804672" y="2432304"/>
            <a:ext cx="2124380" cy="310896"/>
          </a:xfrm>
          <a:prstGeom prst="rect">
            <a:avLst/>
          </a:prstGeom>
          <a:noFill/>
          <a:ln/>
        </p:spPr>
        <p:txBody>
          <a:bodyPr wrap="square" lIns="0" tIns="0" rIns="0" bIns="0" rtlCol="0" anchor="ctr"/>
          <a:lstStyle/>
          <a:p>
            <a:pPr marL="0" indent="0">
              <a:buNone/>
            </a:pPr>
            <a:r>
              <a:rPr lang="en-US" sz="1600" b="1" dirty="0">
                <a:solidFill>
                  <a:srgbClr val="141235"/>
                </a:solidFill>
                <a:latin typeface="Calibri" pitchFamily="34" charset="0"/>
                <a:ea typeface="Calibri" pitchFamily="34" charset="-122"/>
                <a:cs typeface="Calibri" pitchFamily="34" charset="-120"/>
              </a:rPr>
              <a:t>Suggest</a:t>
            </a:r>
            <a:endParaRPr lang="en-US" sz="1600" dirty="0"/>
          </a:p>
        </p:txBody>
      </p:sp>
      <p:sp>
        <p:nvSpPr>
          <p:cNvPr id="8" name="Text 6"/>
          <p:cNvSpPr/>
          <p:nvPr/>
        </p:nvSpPr>
        <p:spPr>
          <a:xfrm>
            <a:off x="804672" y="2798064"/>
            <a:ext cx="2124380" cy="786384"/>
          </a:xfrm>
          <a:prstGeom prst="rect">
            <a:avLst/>
          </a:prstGeom>
          <a:noFill/>
          <a:ln/>
        </p:spPr>
        <p:txBody>
          <a:bodyPr wrap="square" lIns="0" tIns="0" rIns="0" bIns="0" rtlCol="0" anchor="t"/>
          <a:lstStyle/>
          <a:p>
            <a:pPr marL="0" indent="0">
              <a:lnSpc>
                <a:spcPct val="114000"/>
              </a:lnSpc>
              <a:buNone/>
            </a:pPr>
            <a:r>
              <a:rPr lang="en-US" sz="1200" dirty="0">
                <a:solidFill>
                  <a:srgbClr val="3B3760"/>
                </a:solidFill>
                <a:latin typeface="Calibri" pitchFamily="34" charset="0"/>
                <a:ea typeface="Calibri" pitchFamily="34" charset="-122"/>
                <a:cs typeface="Calibri" pitchFamily="34" charset="-120"/>
              </a:rPr>
              <a:t>No gate needed</a:t>
            </a:r>
            <a:endParaRPr lang="en-US" sz="1200" dirty="0"/>
          </a:p>
        </p:txBody>
      </p:sp>
      <p:sp>
        <p:nvSpPr>
          <p:cNvPr id="9" name="Text 7"/>
          <p:cNvSpPr/>
          <p:nvPr/>
        </p:nvSpPr>
        <p:spPr>
          <a:xfrm>
            <a:off x="804672" y="3694176"/>
            <a:ext cx="2124380" cy="914400"/>
          </a:xfrm>
          <a:prstGeom prst="rect">
            <a:avLst/>
          </a:prstGeom>
          <a:noFill/>
          <a:ln/>
        </p:spPr>
        <p:txBody>
          <a:bodyPr wrap="square" lIns="0" tIns="0" rIns="0" bIns="0" rtlCol="0" anchor="t"/>
          <a:lstStyle/>
          <a:p>
            <a:pPr marL="0" indent="0">
              <a:lnSpc>
                <a:spcPct val="114000"/>
              </a:lnSpc>
              <a:buNone/>
            </a:pPr>
            <a:r>
              <a:rPr lang="en-US" sz="850" b="1" kern="0" spc="140" dirty="0">
                <a:solidFill>
                  <a:srgbClr val="9B98B4"/>
                </a:solidFill>
                <a:latin typeface="Calibri" pitchFamily="34" charset="0"/>
                <a:ea typeface="Calibri" pitchFamily="34" charset="-122"/>
                <a:cs typeface="Calibri" pitchFamily="34" charset="-120"/>
              </a:rPr>
              <a:t>WHAT IT COSTS YOU TO BUILD</a:t>
            </a:r>
            <a:endParaRPr lang="en-US" sz="850" dirty="0"/>
          </a:p>
          <a:p>
            <a:pPr marL="0" indent="0">
              <a:lnSpc>
                <a:spcPct val="114000"/>
              </a:lnSpc>
              <a:buNone/>
            </a:pPr>
            <a:r>
              <a:rPr lang="en-US" sz="1100" dirty="0">
                <a:solidFill>
                  <a:srgbClr val="6E6B8A"/>
                </a:solidFill>
                <a:latin typeface="Calibri" pitchFamily="34" charset="0"/>
                <a:ea typeface="Calibri" pitchFamily="34" charset="-122"/>
                <a:cs typeface="Calibri" pitchFamily="34" charset="-120"/>
              </a:rPr>
              <a:t>Log the recommendation. Nothing happened.</a:t>
            </a:r>
            <a:endParaRPr lang="en-US" sz="850" dirty="0"/>
          </a:p>
        </p:txBody>
      </p:sp>
      <p:sp>
        <p:nvSpPr>
          <p:cNvPr id="10" name="Shape 8"/>
          <p:cNvSpPr/>
          <p:nvPr/>
        </p:nvSpPr>
        <p:spPr>
          <a:xfrm>
            <a:off x="3386252" y="1975104"/>
            <a:ext cx="2599868" cy="201168"/>
          </a:xfrm>
          <a:prstGeom prst="roundRect">
            <a:avLst>
              <a:gd name="adj" fmla="val 50000"/>
            </a:avLst>
          </a:prstGeom>
          <a:solidFill>
            <a:srgbClr val="9E94F0"/>
          </a:solidFill>
          <a:ln w="12700">
            <a:solidFill>
              <a:srgbClr val="9E94F0"/>
            </a:solidFill>
            <a:prstDash val="solid"/>
          </a:ln>
        </p:spPr>
        <p:txBody>
          <a:bodyPr/>
          <a:lstStyle/>
          <a:p>
            <a:endParaRPr lang="en-US"/>
          </a:p>
        </p:txBody>
      </p:sp>
      <p:sp>
        <p:nvSpPr>
          <p:cNvPr id="11" name="Shape 9"/>
          <p:cNvSpPr/>
          <p:nvPr/>
        </p:nvSpPr>
        <p:spPr>
          <a:xfrm>
            <a:off x="3386252" y="2267712"/>
            <a:ext cx="2599868" cy="2432304"/>
          </a:xfrm>
          <a:prstGeom prst="roundRect">
            <a:avLst>
              <a:gd name="adj" fmla="val 3759"/>
            </a:avLst>
          </a:prstGeom>
          <a:solidFill>
            <a:srgbClr val="FFFFFF"/>
          </a:solidFill>
          <a:ln w="12700">
            <a:solidFill>
              <a:srgbClr val="E3E4F2"/>
            </a:solidFill>
            <a:prstDash val="solid"/>
          </a:ln>
          <a:effectLst>
            <a:outerShdw blurRad="101600" dist="508" dir="5400000" algn="bl" rotWithShape="0">
              <a:srgbClr val="1B1A4A">
                <a:alpha val="7000"/>
              </a:srgbClr>
            </a:outerShdw>
          </a:effectLst>
        </p:spPr>
        <p:txBody>
          <a:bodyPr/>
          <a:lstStyle/>
          <a:p>
            <a:endParaRPr lang="en-US"/>
          </a:p>
        </p:txBody>
      </p:sp>
      <p:sp>
        <p:nvSpPr>
          <p:cNvPr id="12" name="Text 10"/>
          <p:cNvSpPr/>
          <p:nvPr/>
        </p:nvSpPr>
        <p:spPr>
          <a:xfrm>
            <a:off x="3623996" y="2432304"/>
            <a:ext cx="2124380" cy="310896"/>
          </a:xfrm>
          <a:prstGeom prst="rect">
            <a:avLst/>
          </a:prstGeom>
          <a:noFill/>
          <a:ln/>
        </p:spPr>
        <p:txBody>
          <a:bodyPr wrap="square" lIns="0" tIns="0" rIns="0" bIns="0" rtlCol="0" anchor="ctr"/>
          <a:lstStyle/>
          <a:p>
            <a:pPr marL="0" indent="0">
              <a:buNone/>
            </a:pPr>
            <a:r>
              <a:rPr lang="en-US" sz="1600" b="1" dirty="0">
                <a:solidFill>
                  <a:srgbClr val="141235"/>
                </a:solidFill>
                <a:latin typeface="Calibri" pitchFamily="34" charset="0"/>
                <a:ea typeface="Calibri" pitchFamily="34" charset="-122"/>
                <a:cs typeface="Calibri" pitchFamily="34" charset="-120"/>
              </a:rPr>
              <a:t>Draft</a:t>
            </a:r>
            <a:endParaRPr lang="en-US" sz="1600" dirty="0"/>
          </a:p>
        </p:txBody>
      </p:sp>
      <p:sp>
        <p:nvSpPr>
          <p:cNvPr id="13" name="Text 11"/>
          <p:cNvSpPr/>
          <p:nvPr/>
        </p:nvSpPr>
        <p:spPr>
          <a:xfrm>
            <a:off x="3623996" y="2798064"/>
            <a:ext cx="2124380" cy="786384"/>
          </a:xfrm>
          <a:prstGeom prst="rect">
            <a:avLst/>
          </a:prstGeom>
          <a:noFill/>
          <a:ln/>
        </p:spPr>
        <p:txBody>
          <a:bodyPr wrap="square" lIns="0" tIns="0" rIns="0" bIns="0" rtlCol="0" anchor="t"/>
          <a:lstStyle/>
          <a:p>
            <a:pPr marL="0" indent="0">
              <a:lnSpc>
                <a:spcPct val="114000"/>
              </a:lnSpc>
              <a:buNone/>
            </a:pPr>
            <a:r>
              <a:rPr lang="en-US" sz="1200" dirty="0">
                <a:solidFill>
                  <a:srgbClr val="3B3760"/>
                </a:solidFill>
                <a:latin typeface="Calibri" pitchFamily="34" charset="0"/>
                <a:ea typeface="Calibri" pitchFamily="34" charset="-122"/>
                <a:cs typeface="Calibri" pitchFamily="34" charset="-120"/>
              </a:rPr>
              <a:t>A person reviews before it sends</a:t>
            </a:r>
            <a:endParaRPr lang="en-US" sz="1200" dirty="0"/>
          </a:p>
        </p:txBody>
      </p:sp>
      <p:sp>
        <p:nvSpPr>
          <p:cNvPr id="14" name="Text 12"/>
          <p:cNvSpPr/>
          <p:nvPr/>
        </p:nvSpPr>
        <p:spPr>
          <a:xfrm>
            <a:off x="3623996" y="3694176"/>
            <a:ext cx="2124380" cy="914400"/>
          </a:xfrm>
          <a:prstGeom prst="rect">
            <a:avLst/>
          </a:prstGeom>
          <a:noFill/>
          <a:ln/>
        </p:spPr>
        <p:txBody>
          <a:bodyPr wrap="square" lIns="0" tIns="0" rIns="0" bIns="0" rtlCol="0" anchor="t"/>
          <a:lstStyle/>
          <a:p>
            <a:pPr marL="0" indent="0">
              <a:lnSpc>
                <a:spcPct val="114000"/>
              </a:lnSpc>
              <a:buNone/>
            </a:pPr>
            <a:r>
              <a:rPr lang="en-US" sz="850" b="1" kern="0" spc="140" dirty="0">
                <a:solidFill>
                  <a:srgbClr val="9B98B4"/>
                </a:solidFill>
                <a:latin typeface="Calibri" pitchFamily="34" charset="0"/>
                <a:ea typeface="Calibri" pitchFamily="34" charset="-122"/>
                <a:cs typeface="Calibri" pitchFamily="34" charset="-120"/>
              </a:rPr>
              <a:t>WHAT IT COSTS YOU TO BUILD</a:t>
            </a:r>
            <a:endParaRPr lang="en-US" sz="850" dirty="0"/>
          </a:p>
          <a:p>
            <a:pPr marL="0" indent="0">
              <a:lnSpc>
                <a:spcPct val="114000"/>
              </a:lnSpc>
              <a:buNone/>
            </a:pPr>
            <a:r>
              <a:rPr lang="en-US" sz="1100" dirty="0">
                <a:solidFill>
                  <a:srgbClr val="6E6B8A"/>
                </a:solidFill>
                <a:latin typeface="Calibri" pitchFamily="34" charset="0"/>
                <a:ea typeface="Calibri" pitchFamily="34" charset="-122"/>
                <a:cs typeface="Calibri" pitchFamily="34" charset="-120"/>
              </a:rPr>
              <a:t>Needs a queue, a UI, and a way to resume days later.</a:t>
            </a:r>
            <a:endParaRPr lang="en-US" sz="850" dirty="0"/>
          </a:p>
        </p:txBody>
      </p:sp>
      <p:sp>
        <p:nvSpPr>
          <p:cNvPr id="15" name="Shape 13"/>
          <p:cNvSpPr/>
          <p:nvPr/>
        </p:nvSpPr>
        <p:spPr>
          <a:xfrm>
            <a:off x="6205576" y="1975104"/>
            <a:ext cx="2599868" cy="201168"/>
          </a:xfrm>
          <a:prstGeom prst="roundRect">
            <a:avLst>
              <a:gd name="adj" fmla="val 50000"/>
            </a:avLst>
          </a:prstGeom>
          <a:solidFill>
            <a:srgbClr val="6E5FE8"/>
          </a:solidFill>
          <a:ln w="12700">
            <a:solidFill>
              <a:srgbClr val="6E5FE8"/>
            </a:solidFill>
            <a:prstDash val="solid"/>
          </a:ln>
        </p:spPr>
        <p:txBody>
          <a:bodyPr/>
          <a:lstStyle/>
          <a:p>
            <a:endParaRPr lang="en-US"/>
          </a:p>
        </p:txBody>
      </p:sp>
      <p:sp>
        <p:nvSpPr>
          <p:cNvPr id="16" name="Shape 14"/>
          <p:cNvSpPr/>
          <p:nvPr/>
        </p:nvSpPr>
        <p:spPr>
          <a:xfrm>
            <a:off x="6205576" y="2267712"/>
            <a:ext cx="2599868" cy="2432304"/>
          </a:xfrm>
          <a:prstGeom prst="roundRect">
            <a:avLst>
              <a:gd name="adj" fmla="val 3759"/>
            </a:avLst>
          </a:prstGeom>
          <a:solidFill>
            <a:srgbClr val="FFFFFF"/>
          </a:solidFill>
          <a:ln w="12700">
            <a:solidFill>
              <a:srgbClr val="E3E4F2"/>
            </a:solidFill>
            <a:prstDash val="solid"/>
          </a:ln>
          <a:effectLst>
            <a:outerShdw blurRad="101600" dist="508" dir="5400000" algn="bl" rotWithShape="0">
              <a:srgbClr val="1B1A4A">
                <a:alpha val="7000"/>
              </a:srgbClr>
            </a:outerShdw>
          </a:effectLst>
        </p:spPr>
        <p:txBody>
          <a:bodyPr/>
          <a:lstStyle/>
          <a:p>
            <a:endParaRPr lang="en-US"/>
          </a:p>
        </p:txBody>
      </p:sp>
      <p:sp>
        <p:nvSpPr>
          <p:cNvPr id="17" name="Text 15"/>
          <p:cNvSpPr/>
          <p:nvPr/>
        </p:nvSpPr>
        <p:spPr>
          <a:xfrm>
            <a:off x="6443320" y="2432304"/>
            <a:ext cx="2124380" cy="310896"/>
          </a:xfrm>
          <a:prstGeom prst="rect">
            <a:avLst/>
          </a:prstGeom>
          <a:noFill/>
          <a:ln/>
        </p:spPr>
        <p:txBody>
          <a:bodyPr wrap="square" lIns="0" tIns="0" rIns="0" bIns="0" rtlCol="0" anchor="ctr"/>
          <a:lstStyle/>
          <a:p>
            <a:pPr marL="0" indent="0">
              <a:buNone/>
            </a:pPr>
            <a:r>
              <a:rPr lang="en-US" sz="1600" b="1" dirty="0">
                <a:solidFill>
                  <a:srgbClr val="141235"/>
                </a:solidFill>
                <a:latin typeface="Calibri" pitchFamily="34" charset="0"/>
                <a:ea typeface="Calibri" pitchFamily="34" charset="-122"/>
                <a:cs typeface="Calibri" pitchFamily="34" charset="-120"/>
              </a:rPr>
              <a:t>Act with audit</a:t>
            </a:r>
            <a:endParaRPr lang="en-US" sz="1600" dirty="0"/>
          </a:p>
        </p:txBody>
      </p:sp>
      <p:sp>
        <p:nvSpPr>
          <p:cNvPr id="18" name="Text 16"/>
          <p:cNvSpPr/>
          <p:nvPr/>
        </p:nvSpPr>
        <p:spPr>
          <a:xfrm>
            <a:off x="6443320" y="2798064"/>
            <a:ext cx="2124380" cy="786384"/>
          </a:xfrm>
          <a:prstGeom prst="rect">
            <a:avLst/>
          </a:prstGeom>
          <a:noFill/>
          <a:ln/>
        </p:spPr>
        <p:txBody>
          <a:bodyPr wrap="square" lIns="0" tIns="0" rIns="0" bIns="0" rtlCol="0" anchor="t"/>
          <a:lstStyle/>
          <a:p>
            <a:pPr marL="0" indent="0">
              <a:lnSpc>
                <a:spcPct val="114000"/>
              </a:lnSpc>
              <a:buNone/>
            </a:pPr>
            <a:r>
              <a:rPr lang="en-US" sz="1200" dirty="0">
                <a:solidFill>
                  <a:srgbClr val="3B3760"/>
                </a:solidFill>
                <a:latin typeface="Calibri" pitchFamily="34" charset="0"/>
                <a:ea typeface="Calibri" pitchFamily="34" charset="-122"/>
                <a:cs typeface="Calibri" pitchFamily="34" charset="-120"/>
              </a:rPr>
              <a:t>It acts; every step is logged and reversible</a:t>
            </a:r>
            <a:endParaRPr lang="en-US" sz="1200" dirty="0"/>
          </a:p>
        </p:txBody>
      </p:sp>
      <p:sp>
        <p:nvSpPr>
          <p:cNvPr id="19" name="Text 17"/>
          <p:cNvSpPr/>
          <p:nvPr/>
        </p:nvSpPr>
        <p:spPr>
          <a:xfrm>
            <a:off x="6443320" y="3694176"/>
            <a:ext cx="2124380" cy="914400"/>
          </a:xfrm>
          <a:prstGeom prst="rect">
            <a:avLst/>
          </a:prstGeom>
          <a:noFill/>
          <a:ln/>
        </p:spPr>
        <p:txBody>
          <a:bodyPr wrap="square" lIns="0" tIns="0" rIns="0" bIns="0" rtlCol="0" anchor="t"/>
          <a:lstStyle/>
          <a:p>
            <a:pPr marL="0" indent="0">
              <a:lnSpc>
                <a:spcPct val="114000"/>
              </a:lnSpc>
              <a:buNone/>
            </a:pPr>
            <a:r>
              <a:rPr lang="en-US" sz="850" b="1" kern="0" spc="140" dirty="0">
                <a:solidFill>
                  <a:srgbClr val="9B98B4"/>
                </a:solidFill>
                <a:latin typeface="Calibri" pitchFamily="34" charset="0"/>
                <a:ea typeface="Calibri" pitchFamily="34" charset="-122"/>
                <a:cs typeface="Calibri" pitchFamily="34" charset="-120"/>
              </a:rPr>
              <a:t>WHAT IT COSTS YOU TO BUILD</a:t>
            </a:r>
            <a:endParaRPr lang="en-US" sz="850" dirty="0"/>
          </a:p>
          <a:p>
            <a:pPr marL="0" indent="0">
              <a:lnSpc>
                <a:spcPct val="114000"/>
              </a:lnSpc>
              <a:buNone/>
            </a:pPr>
            <a:r>
              <a:rPr lang="en-US" sz="1100" dirty="0">
                <a:solidFill>
                  <a:srgbClr val="6E6B8A"/>
                </a:solidFill>
                <a:latin typeface="Calibri" pitchFamily="34" charset="0"/>
                <a:ea typeface="Calibri" pitchFamily="34" charset="-122"/>
                <a:cs typeface="Calibri" pitchFamily="34" charset="-120"/>
              </a:rPr>
              <a:t>Needs traces, an undo path, and someone who reads the log.</a:t>
            </a:r>
            <a:endParaRPr lang="en-US" sz="850" dirty="0"/>
          </a:p>
        </p:txBody>
      </p:sp>
      <p:sp>
        <p:nvSpPr>
          <p:cNvPr id="20" name="Shape 18"/>
          <p:cNvSpPr/>
          <p:nvPr/>
        </p:nvSpPr>
        <p:spPr>
          <a:xfrm>
            <a:off x="9024899" y="1975104"/>
            <a:ext cx="2599868" cy="201168"/>
          </a:xfrm>
          <a:prstGeom prst="roundRect">
            <a:avLst>
              <a:gd name="adj" fmla="val 50000"/>
            </a:avLst>
          </a:prstGeom>
          <a:solidFill>
            <a:srgbClr val="3B2EB8"/>
          </a:solidFill>
          <a:ln w="12700">
            <a:solidFill>
              <a:srgbClr val="3B2EB8"/>
            </a:solidFill>
            <a:prstDash val="solid"/>
          </a:ln>
        </p:spPr>
        <p:txBody>
          <a:bodyPr/>
          <a:lstStyle/>
          <a:p>
            <a:endParaRPr lang="en-US"/>
          </a:p>
        </p:txBody>
      </p:sp>
      <p:sp>
        <p:nvSpPr>
          <p:cNvPr id="21" name="Shape 19"/>
          <p:cNvSpPr/>
          <p:nvPr/>
        </p:nvSpPr>
        <p:spPr>
          <a:xfrm>
            <a:off x="9024899" y="2267712"/>
            <a:ext cx="2599868" cy="2432304"/>
          </a:xfrm>
          <a:prstGeom prst="roundRect">
            <a:avLst>
              <a:gd name="adj" fmla="val 3759"/>
            </a:avLst>
          </a:prstGeom>
          <a:solidFill>
            <a:srgbClr val="FFFFFF"/>
          </a:solidFill>
          <a:ln w="12700">
            <a:solidFill>
              <a:srgbClr val="E3E4F2"/>
            </a:solidFill>
            <a:prstDash val="solid"/>
          </a:ln>
          <a:effectLst>
            <a:outerShdw blurRad="101600" dist="508" dir="5400000" algn="bl" rotWithShape="0">
              <a:srgbClr val="1B1A4A">
                <a:alpha val="7000"/>
              </a:srgbClr>
            </a:outerShdw>
          </a:effectLst>
        </p:spPr>
        <p:txBody>
          <a:bodyPr/>
          <a:lstStyle/>
          <a:p>
            <a:endParaRPr lang="en-US"/>
          </a:p>
        </p:txBody>
      </p:sp>
      <p:sp>
        <p:nvSpPr>
          <p:cNvPr id="22" name="Text 20"/>
          <p:cNvSpPr/>
          <p:nvPr/>
        </p:nvSpPr>
        <p:spPr>
          <a:xfrm>
            <a:off x="9262643" y="2432304"/>
            <a:ext cx="2124380" cy="310896"/>
          </a:xfrm>
          <a:prstGeom prst="rect">
            <a:avLst/>
          </a:prstGeom>
          <a:noFill/>
          <a:ln/>
        </p:spPr>
        <p:txBody>
          <a:bodyPr wrap="square" lIns="0" tIns="0" rIns="0" bIns="0" rtlCol="0" anchor="ctr"/>
          <a:lstStyle/>
          <a:p>
            <a:pPr marL="0" indent="0">
              <a:buNone/>
            </a:pPr>
            <a:r>
              <a:rPr lang="en-US" sz="1600" b="1" dirty="0">
                <a:solidFill>
                  <a:srgbClr val="141235"/>
                </a:solidFill>
                <a:latin typeface="Calibri" pitchFamily="34" charset="0"/>
                <a:ea typeface="Calibri" pitchFamily="34" charset="-122"/>
                <a:cs typeface="Calibri" pitchFamily="34" charset="-120"/>
              </a:rPr>
              <a:t>Act</a:t>
            </a:r>
            <a:endParaRPr lang="en-US" sz="1600" dirty="0"/>
          </a:p>
        </p:txBody>
      </p:sp>
      <p:sp>
        <p:nvSpPr>
          <p:cNvPr id="23" name="Text 21"/>
          <p:cNvSpPr/>
          <p:nvPr/>
        </p:nvSpPr>
        <p:spPr>
          <a:xfrm>
            <a:off x="9262643" y="2798064"/>
            <a:ext cx="2124380" cy="786384"/>
          </a:xfrm>
          <a:prstGeom prst="rect">
            <a:avLst/>
          </a:prstGeom>
          <a:noFill/>
          <a:ln/>
        </p:spPr>
        <p:txBody>
          <a:bodyPr wrap="square" lIns="0" tIns="0" rIns="0" bIns="0" rtlCol="0" anchor="t"/>
          <a:lstStyle/>
          <a:p>
            <a:pPr marL="0" indent="0">
              <a:lnSpc>
                <a:spcPct val="114000"/>
              </a:lnSpc>
              <a:buNone/>
            </a:pPr>
            <a:r>
              <a:rPr lang="en-US" sz="1200" dirty="0">
                <a:solidFill>
                  <a:srgbClr val="3B3760"/>
                </a:solidFill>
                <a:latin typeface="Calibri" pitchFamily="34" charset="0"/>
                <a:ea typeface="Calibri" pitchFamily="34" charset="-122"/>
                <a:cs typeface="Calibri" pitchFamily="34" charset="-120"/>
              </a:rPr>
              <a:t>Reserve for the lowest-stakes actions only</a:t>
            </a:r>
            <a:endParaRPr lang="en-US" sz="1200" dirty="0"/>
          </a:p>
        </p:txBody>
      </p:sp>
      <p:sp>
        <p:nvSpPr>
          <p:cNvPr id="24" name="Text 22"/>
          <p:cNvSpPr/>
          <p:nvPr/>
        </p:nvSpPr>
        <p:spPr>
          <a:xfrm>
            <a:off x="9262643" y="3694176"/>
            <a:ext cx="2124380" cy="914400"/>
          </a:xfrm>
          <a:prstGeom prst="rect">
            <a:avLst/>
          </a:prstGeom>
          <a:noFill/>
          <a:ln/>
        </p:spPr>
        <p:txBody>
          <a:bodyPr wrap="square" lIns="0" tIns="0" rIns="0" bIns="0" rtlCol="0" anchor="t"/>
          <a:lstStyle/>
          <a:p>
            <a:pPr marL="0" indent="0">
              <a:lnSpc>
                <a:spcPct val="114000"/>
              </a:lnSpc>
              <a:buNone/>
            </a:pPr>
            <a:r>
              <a:rPr lang="en-US" sz="850" b="1" kern="0" spc="140" dirty="0">
                <a:solidFill>
                  <a:srgbClr val="9B98B4"/>
                </a:solidFill>
                <a:latin typeface="Calibri" pitchFamily="34" charset="0"/>
                <a:ea typeface="Calibri" pitchFamily="34" charset="-122"/>
                <a:cs typeface="Calibri" pitchFamily="34" charset="-120"/>
              </a:rPr>
              <a:t>WHAT IT COSTS YOU TO BUILD</a:t>
            </a:r>
            <a:endParaRPr lang="en-US" sz="850" dirty="0"/>
          </a:p>
          <a:p>
            <a:pPr marL="0" indent="0">
              <a:lnSpc>
                <a:spcPct val="114000"/>
              </a:lnSpc>
              <a:buNone/>
            </a:pPr>
            <a:r>
              <a:rPr lang="en-US" sz="1100" dirty="0">
                <a:solidFill>
                  <a:srgbClr val="6E6B8A"/>
                </a:solidFill>
                <a:latin typeface="Calibri" pitchFamily="34" charset="0"/>
                <a:ea typeface="Calibri" pitchFamily="34" charset="-122"/>
                <a:cs typeface="Calibri" pitchFamily="34" charset="-120"/>
              </a:rPr>
              <a:t>Needs a hard budget cap and an automatic kill switch.</a:t>
            </a:r>
            <a:endParaRPr lang="en-US" sz="850" dirty="0"/>
          </a:p>
        </p:txBody>
      </p:sp>
      <p:sp>
        <p:nvSpPr>
          <p:cNvPr id="25" name="Shape 23"/>
          <p:cNvSpPr/>
          <p:nvPr/>
        </p:nvSpPr>
        <p:spPr>
          <a:xfrm>
            <a:off x="566928" y="4864608"/>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26" name="Shape 24"/>
          <p:cNvSpPr/>
          <p:nvPr/>
        </p:nvSpPr>
        <p:spPr>
          <a:xfrm>
            <a:off x="841248" y="5084064"/>
            <a:ext cx="384048" cy="384048"/>
          </a:xfrm>
          <a:prstGeom prst="ellipse">
            <a:avLst/>
          </a:prstGeom>
          <a:solidFill>
            <a:srgbClr val="F5A524"/>
          </a:solidFill>
          <a:ln w="12700">
            <a:solidFill>
              <a:srgbClr val="F5A524"/>
            </a:solidFill>
            <a:prstDash val="solid"/>
          </a:ln>
        </p:spPr>
        <p:txBody>
          <a:bodyPr/>
          <a:lstStyle/>
          <a:p>
            <a:endParaRPr lang="en-US"/>
          </a:p>
        </p:txBody>
      </p:sp>
      <p:pic>
        <p:nvPicPr>
          <p:cNvPr id="27" name="Image 0" descr="preencoded.png"/>
          <p:cNvPicPr>
            <a:picLocks noChangeAspect="1"/>
          </p:cNvPicPr>
          <p:nvPr/>
        </p:nvPicPr>
        <p:blipFill>
          <a:blip r:embed="rId3"/>
          <a:stretch>
            <a:fillRect/>
          </a:stretch>
        </p:blipFill>
        <p:spPr>
          <a:xfrm>
            <a:off x="937260" y="5180076"/>
            <a:ext cx="192024" cy="192024"/>
          </a:xfrm>
          <a:prstGeom prst="rect">
            <a:avLst/>
          </a:prstGeom>
        </p:spPr>
      </p:pic>
      <p:sp>
        <p:nvSpPr>
          <p:cNvPr id="28" name="Text 25"/>
          <p:cNvSpPr/>
          <p:nvPr/>
        </p:nvSpPr>
        <p:spPr>
          <a:xfrm>
            <a:off x="1371600" y="4919472"/>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Autonomy is not a slider you set in a config file. Each step to the right is real engineering somebody has to build and someone has to operate.</a:t>
            </a:r>
            <a:endParaRPr lang="en-US" sz="1050" dirty="0"/>
          </a:p>
        </p:txBody>
      </p:sp>
      <p:sp>
        <p:nvSpPr>
          <p:cNvPr id="29" name="Text 26"/>
          <p:cNvSpPr/>
          <p:nvPr/>
        </p:nvSpPr>
        <p:spPr>
          <a:xfrm>
            <a:off x="566928" y="5797296"/>
            <a:ext cx="11057839" cy="256032"/>
          </a:xfrm>
          <a:prstGeom prst="rect">
            <a:avLst/>
          </a:prstGeom>
          <a:noFill/>
          <a:ln/>
        </p:spPr>
        <p:txBody>
          <a:bodyPr wrap="square" lIns="0" tIns="0" rIns="0" bIns="0" rtlCol="0" anchor="ctr"/>
          <a:lstStyle/>
          <a:p>
            <a:pPr marL="0" indent="0">
              <a:buNone/>
            </a:pPr>
            <a:r>
              <a:rPr lang="en-US" sz="950" i="1" dirty="0">
                <a:solidFill>
                  <a:srgbClr val="9B98B4"/>
                </a:solidFill>
                <a:latin typeface="Calibri" pitchFamily="34" charset="0"/>
                <a:ea typeface="Calibri" pitchFamily="34" charset="-122"/>
                <a:cs typeface="Calibri" pitchFamily="34" charset="-120"/>
              </a:rPr>
              <a:t>This table is the deliverable of the closing workshop in module 17.</a:t>
            </a:r>
            <a:endParaRPr lang="en-US" sz="95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0B0A22"/>
        </a:solidFill>
        <a:effectLst/>
      </p:bgPr>
    </p:bg>
    <p:spTree>
      <p:nvGrpSpPr>
        <p:cNvPr id="1" name=""/>
        <p:cNvGrpSpPr/>
        <p:nvPr/>
      </p:nvGrpSpPr>
      <p:grpSpPr>
        <a:xfrm>
          <a:off x="0" y="0"/>
          <a:ext cx="0" cy="0"/>
          <a:chOff x="0" y="0"/>
          <a:chExt cx="0" cy="0"/>
        </a:xfrm>
      </p:grpSpPr>
      <p:pic>
        <p:nvPicPr>
          <p:cNvPr id="2" name="Image 0" descr="/home/claude/work/bg_dark.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6126480" y="1234440"/>
            <a:ext cx="5486400" cy="2743200"/>
          </a:xfrm>
          <a:prstGeom prst="rect">
            <a:avLst/>
          </a:prstGeom>
          <a:noFill/>
          <a:ln/>
        </p:spPr>
        <p:txBody>
          <a:bodyPr wrap="square" lIns="0" tIns="0" rIns="0" bIns="0" rtlCol="0" anchor="ctr"/>
          <a:lstStyle/>
          <a:p>
            <a:pPr marL="0" indent="0" algn="r">
              <a:buNone/>
            </a:pPr>
            <a:r>
              <a:rPr lang="en-US" sz="17600" b="1" dirty="0">
                <a:solidFill>
                  <a:srgbClr val="5B4BE8">
                    <a:alpha val="30000"/>
                  </a:srgbClr>
                </a:solidFill>
                <a:latin typeface="Cambria" pitchFamily="34" charset="0"/>
                <a:ea typeface="Cambria" pitchFamily="34" charset="-122"/>
                <a:cs typeface="Cambria" pitchFamily="34" charset="-120"/>
              </a:rPr>
              <a:t>15</a:t>
            </a:r>
            <a:endParaRPr lang="en-US" sz="17600" dirty="0"/>
          </a:p>
        </p:txBody>
      </p:sp>
      <p:sp>
        <p:nvSpPr>
          <p:cNvPr id="4" name="Shape 1"/>
          <p:cNvSpPr/>
          <p:nvPr/>
        </p:nvSpPr>
        <p:spPr>
          <a:xfrm>
            <a:off x="566928" y="2084832"/>
            <a:ext cx="566928" cy="566928"/>
          </a:xfrm>
          <a:prstGeom prst="ellipse">
            <a:avLst/>
          </a:prstGeom>
          <a:solidFill>
            <a:srgbClr val="F5A524"/>
          </a:solidFill>
          <a:ln w="12700">
            <a:solidFill>
              <a:srgbClr val="F5A524"/>
            </a:solidFill>
            <a:prstDash val="solid"/>
          </a:ln>
        </p:spPr>
        <p:txBody>
          <a:bodyPr/>
          <a:lstStyle/>
          <a:p>
            <a:endParaRPr lang="en-US"/>
          </a:p>
        </p:txBody>
      </p:sp>
      <p:pic>
        <p:nvPicPr>
          <p:cNvPr id="5" name="Image 1" descr="preencoded.png"/>
          <p:cNvPicPr>
            <a:picLocks noChangeAspect="1"/>
          </p:cNvPicPr>
          <p:nvPr/>
        </p:nvPicPr>
        <p:blipFill>
          <a:blip r:embed="rId4"/>
          <a:stretch>
            <a:fillRect/>
          </a:stretch>
        </p:blipFill>
        <p:spPr>
          <a:xfrm>
            <a:off x="708660" y="2226564"/>
            <a:ext cx="283464" cy="283464"/>
          </a:xfrm>
          <a:prstGeom prst="rect">
            <a:avLst/>
          </a:prstGeom>
        </p:spPr>
      </p:pic>
      <p:sp>
        <p:nvSpPr>
          <p:cNvPr id="6" name="Text 2"/>
          <p:cNvSpPr/>
          <p:nvPr/>
        </p:nvSpPr>
        <p:spPr>
          <a:xfrm>
            <a:off x="566928" y="2852928"/>
            <a:ext cx="7315200" cy="256032"/>
          </a:xfrm>
          <a:prstGeom prst="rect">
            <a:avLst/>
          </a:prstGeom>
          <a:noFill/>
          <a:ln/>
        </p:spPr>
        <p:txBody>
          <a:bodyPr wrap="square" lIns="0" tIns="0" rIns="0" bIns="0" rtlCol="0" anchor="ctr"/>
          <a:lstStyle/>
          <a:p>
            <a:pPr marL="0" indent="0">
              <a:buNone/>
            </a:pPr>
            <a:r>
              <a:rPr lang="en-US" sz="1100" b="1" kern="0" spc="240" dirty="0">
                <a:solidFill>
                  <a:srgbClr val="F5A524"/>
                </a:solidFill>
                <a:latin typeface="Calibri" pitchFamily="34" charset="0"/>
                <a:ea typeface="Calibri" pitchFamily="34" charset="-122"/>
                <a:cs typeface="Calibri" pitchFamily="34" charset="-120"/>
              </a:rPr>
              <a:t>MODULE 15</a:t>
            </a:r>
            <a:endParaRPr lang="en-US" sz="1100" dirty="0"/>
          </a:p>
        </p:txBody>
      </p:sp>
      <p:sp>
        <p:nvSpPr>
          <p:cNvPr id="7" name="Text 3"/>
          <p:cNvSpPr/>
          <p:nvPr/>
        </p:nvSpPr>
        <p:spPr>
          <a:xfrm>
            <a:off x="566928" y="3145536"/>
            <a:ext cx="8595360" cy="914400"/>
          </a:xfrm>
          <a:prstGeom prst="rect">
            <a:avLst/>
          </a:prstGeom>
          <a:noFill/>
          <a:ln/>
        </p:spPr>
        <p:txBody>
          <a:bodyPr wrap="square" lIns="0" tIns="0" rIns="0" bIns="0" rtlCol="0" anchor="t"/>
          <a:lstStyle/>
          <a:p>
            <a:pPr marL="0" indent="0">
              <a:buNone/>
            </a:pPr>
            <a:r>
              <a:rPr lang="en-US" sz="4600" b="1" dirty="0">
                <a:solidFill>
                  <a:srgbClr val="FFFFFF"/>
                </a:solidFill>
                <a:latin typeface="Cambria" pitchFamily="34" charset="0"/>
                <a:ea typeface="Cambria" pitchFamily="34" charset="-122"/>
                <a:cs typeface="Cambria" pitchFamily="34" charset="-120"/>
              </a:rPr>
              <a:t>Evals, traces and cost</a:t>
            </a:r>
            <a:endParaRPr lang="en-US" sz="4600" dirty="0"/>
          </a:p>
        </p:txBody>
      </p:sp>
      <p:sp>
        <p:nvSpPr>
          <p:cNvPr id="8" name="Text 4"/>
          <p:cNvSpPr/>
          <p:nvPr/>
        </p:nvSpPr>
        <p:spPr>
          <a:xfrm>
            <a:off x="566928" y="4169664"/>
            <a:ext cx="7863840" cy="731520"/>
          </a:xfrm>
          <a:prstGeom prst="rect">
            <a:avLst/>
          </a:prstGeom>
          <a:noFill/>
          <a:ln/>
        </p:spPr>
        <p:txBody>
          <a:bodyPr wrap="square" lIns="0" tIns="0" rIns="0" bIns="0" rtlCol="0" anchor="t"/>
          <a:lstStyle/>
          <a:p>
            <a:pPr marL="0" indent="0">
              <a:lnSpc>
                <a:spcPct val="120000"/>
              </a:lnSpc>
              <a:buNone/>
            </a:pPr>
            <a:r>
              <a:rPr lang="en-US" sz="1600" dirty="0">
                <a:solidFill>
                  <a:srgbClr val="B9B4E0"/>
                </a:solidFill>
                <a:latin typeface="Calibri" pitchFamily="34" charset="0"/>
                <a:ea typeface="Calibri" pitchFamily="34" charset="-122"/>
                <a:cs typeface="Calibri" pitchFamily="34" charset="-120"/>
              </a:rPr>
              <a:t>Choose the architecture on measured performance, not on a diagram.</a:t>
            </a:r>
            <a:endParaRPr lang="en-US" sz="16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15 · EVALS AND COST</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3000" b="1" dirty="0">
                <a:solidFill>
                  <a:srgbClr val="141235"/>
                </a:solidFill>
                <a:latin typeface="Cambria" pitchFamily="34" charset="0"/>
                <a:ea typeface="Cambria" pitchFamily="34" charset="-122"/>
                <a:cs typeface="Cambria" pitchFamily="34" charset="-120"/>
              </a:rPr>
              <a:t>Five dimensions worth measuring on purpose</a:t>
            </a:r>
            <a:endParaRPr lang="en-US" sz="3000" dirty="0"/>
          </a:p>
        </p:txBody>
      </p:sp>
      <p:sp>
        <p:nvSpPr>
          <p:cNvPr id="4" name="Shape 2"/>
          <p:cNvSpPr/>
          <p:nvPr/>
        </p:nvSpPr>
        <p:spPr>
          <a:xfrm>
            <a:off x="566928" y="2120768"/>
            <a:ext cx="3527450" cy="1399672"/>
          </a:xfrm>
          <a:prstGeom prst="roundRect">
            <a:avLst>
              <a:gd name="adj" fmla="val 5880"/>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5" name="Shape 3"/>
          <p:cNvSpPr/>
          <p:nvPr/>
        </p:nvSpPr>
        <p:spPr>
          <a:xfrm>
            <a:off x="804672" y="2340224"/>
            <a:ext cx="365760" cy="365760"/>
          </a:xfrm>
          <a:prstGeom prst="ellipse">
            <a:avLst/>
          </a:prstGeom>
          <a:solidFill>
            <a:srgbClr val="5B4BE8"/>
          </a:solidFill>
          <a:ln w="12700">
            <a:solidFill>
              <a:srgbClr val="5B4BE8"/>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896112" y="2431664"/>
            <a:ext cx="182880" cy="182880"/>
          </a:xfrm>
          <a:prstGeom prst="rect">
            <a:avLst/>
          </a:prstGeom>
        </p:spPr>
      </p:pic>
      <p:sp>
        <p:nvSpPr>
          <p:cNvPr id="7" name="Text 4"/>
          <p:cNvSpPr/>
          <p:nvPr/>
        </p:nvSpPr>
        <p:spPr>
          <a:xfrm>
            <a:off x="1298448" y="2358512"/>
            <a:ext cx="2558186" cy="346558"/>
          </a:xfrm>
          <a:prstGeom prst="rect">
            <a:avLst/>
          </a:prstGeom>
          <a:noFill/>
          <a:ln/>
        </p:spPr>
        <p:txBody>
          <a:bodyPr wrap="square" lIns="0" tIns="0" rIns="0" bIns="0" rtlCol="0" anchor="t"/>
          <a:lstStyle/>
          <a:p>
            <a:pPr marL="0" indent="0">
              <a:lnSpc>
                <a:spcPct val="105000"/>
              </a:lnSpc>
              <a:buNone/>
            </a:pPr>
            <a:r>
              <a:rPr lang="en-US" sz="1500" b="1" dirty="0">
                <a:solidFill>
                  <a:srgbClr val="141235"/>
                </a:solidFill>
                <a:latin typeface="Calibri" pitchFamily="34" charset="0"/>
                <a:ea typeface="Calibri" pitchFamily="34" charset="-122"/>
                <a:cs typeface="Calibri" pitchFamily="34" charset="-120"/>
              </a:rPr>
              <a:t>Task completion</a:t>
            </a:r>
            <a:endParaRPr lang="en-US" sz="1500" dirty="0"/>
          </a:p>
        </p:txBody>
      </p:sp>
      <p:sp>
        <p:nvSpPr>
          <p:cNvPr id="8" name="Text 5"/>
          <p:cNvSpPr/>
          <p:nvPr/>
        </p:nvSpPr>
        <p:spPr>
          <a:xfrm>
            <a:off x="1298448" y="2714214"/>
            <a:ext cx="2558186" cy="623346"/>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Did it actually finish the job the user asked for? Not “was the output plausible”.</a:t>
            </a:r>
            <a:endParaRPr lang="en-US" sz="1150" dirty="0"/>
          </a:p>
        </p:txBody>
      </p:sp>
      <p:sp>
        <p:nvSpPr>
          <p:cNvPr id="9" name="Shape 6"/>
          <p:cNvSpPr/>
          <p:nvPr/>
        </p:nvSpPr>
        <p:spPr>
          <a:xfrm>
            <a:off x="4332122" y="2120768"/>
            <a:ext cx="3527450" cy="1399672"/>
          </a:xfrm>
          <a:prstGeom prst="roundRect">
            <a:avLst>
              <a:gd name="adj" fmla="val 5880"/>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0" name="Shape 7"/>
          <p:cNvSpPr/>
          <p:nvPr/>
        </p:nvSpPr>
        <p:spPr>
          <a:xfrm>
            <a:off x="4569866" y="2340224"/>
            <a:ext cx="365760" cy="365760"/>
          </a:xfrm>
          <a:prstGeom prst="ellipse">
            <a:avLst/>
          </a:prstGeom>
          <a:solidFill>
            <a:srgbClr val="5B4BE8"/>
          </a:solidFill>
          <a:ln w="12700">
            <a:solidFill>
              <a:srgbClr val="5B4BE8"/>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4661306" y="2431664"/>
            <a:ext cx="182880" cy="182880"/>
          </a:xfrm>
          <a:prstGeom prst="rect">
            <a:avLst/>
          </a:prstGeom>
        </p:spPr>
      </p:pic>
      <p:sp>
        <p:nvSpPr>
          <p:cNvPr id="12" name="Text 8"/>
          <p:cNvSpPr/>
          <p:nvPr/>
        </p:nvSpPr>
        <p:spPr>
          <a:xfrm>
            <a:off x="5063642" y="2358512"/>
            <a:ext cx="2558186" cy="346558"/>
          </a:xfrm>
          <a:prstGeom prst="rect">
            <a:avLst/>
          </a:prstGeom>
          <a:noFill/>
          <a:ln/>
        </p:spPr>
        <p:txBody>
          <a:bodyPr wrap="square" lIns="0" tIns="0" rIns="0" bIns="0" rtlCol="0" anchor="t"/>
          <a:lstStyle/>
          <a:p>
            <a:pPr marL="0" indent="0">
              <a:lnSpc>
                <a:spcPct val="105000"/>
              </a:lnSpc>
              <a:buNone/>
            </a:pPr>
            <a:r>
              <a:rPr lang="en-US" sz="1500" b="1" dirty="0">
                <a:solidFill>
                  <a:srgbClr val="141235"/>
                </a:solidFill>
                <a:latin typeface="Calibri" pitchFamily="34" charset="0"/>
                <a:ea typeface="Calibri" pitchFamily="34" charset="-122"/>
                <a:cs typeface="Calibri" pitchFamily="34" charset="-120"/>
              </a:rPr>
              <a:t>Tool-call correctness</a:t>
            </a:r>
            <a:endParaRPr lang="en-US" sz="1500" dirty="0"/>
          </a:p>
        </p:txBody>
      </p:sp>
      <p:sp>
        <p:nvSpPr>
          <p:cNvPr id="13" name="Text 9"/>
          <p:cNvSpPr/>
          <p:nvPr/>
        </p:nvSpPr>
        <p:spPr>
          <a:xfrm>
            <a:off x="5063642" y="2714214"/>
            <a:ext cx="2558186" cy="623346"/>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Right tool, right arguments. The most diagnostic metric you have, and the easiest to automate.</a:t>
            </a:r>
            <a:endParaRPr lang="en-US" sz="1150" dirty="0"/>
          </a:p>
        </p:txBody>
      </p:sp>
      <p:sp>
        <p:nvSpPr>
          <p:cNvPr id="14" name="Shape 10"/>
          <p:cNvSpPr/>
          <p:nvPr/>
        </p:nvSpPr>
        <p:spPr>
          <a:xfrm>
            <a:off x="8097317" y="2120768"/>
            <a:ext cx="3527450" cy="1399672"/>
          </a:xfrm>
          <a:prstGeom prst="roundRect">
            <a:avLst>
              <a:gd name="adj" fmla="val 5880"/>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5" name="Shape 11"/>
          <p:cNvSpPr/>
          <p:nvPr/>
        </p:nvSpPr>
        <p:spPr>
          <a:xfrm>
            <a:off x="8335061" y="2340224"/>
            <a:ext cx="365760" cy="365760"/>
          </a:xfrm>
          <a:prstGeom prst="ellipse">
            <a:avLst/>
          </a:prstGeom>
          <a:solidFill>
            <a:srgbClr val="5B4BE8"/>
          </a:solidFill>
          <a:ln w="12700">
            <a:solidFill>
              <a:srgbClr val="5B4BE8"/>
            </a:solidFill>
            <a:prstDash val="solid"/>
          </a:ln>
        </p:spPr>
        <p:txBody>
          <a:bodyPr/>
          <a:lstStyle/>
          <a:p>
            <a:endParaRPr lang="en-US"/>
          </a:p>
        </p:txBody>
      </p:sp>
      <p:pic>
        <p:nvPicPr>
          <p:cNvPr id="16" name="Image 2" descr="preencoded.png"/>
          <p:cNvPicPr>
            <a:picLocks noChangeAspect="1"/>
          </p:cNvPicPr>
          <p:nvPr/>
        </p:nvPicPr>
        <p:blipFill>
          <a:blip r:embed="rId5"/>
          <a:stretch>
            <a:fillRect/>
          </a:stretch>
        </p:blipFill>
        <p:spPr>
          <a:xfrm>
            <a:off x="8426501" y="2431664"/>
            <a:ext cx="182880" cy="182880"/>
          </a:xfrm>
          <a:prstGeom prst="rect">
            <a:avLst/>
          </a:prstGeom>
        </p:spPr>
      </p:pic>
      <p:sp>
        <p:nvSpPr>
          <p:cNvPr id="17" name="Text 12"/>
          <p:cNvSpPr/>
          <p:nvPr/>
        </p:nvSpPr>
        <p:spPr>
          <a:xfrm>
            <a:off x="8828837" y="2358512"/>
            <a:ext cx="2558186" cy="346558"/>
          </a:xfrm>
          <a:prstGeom prst="rect">
            <a:avLst/>
          </a:prstGeom>
          <a:noFill/>
          <a:ln/>
        </p:spPr>
        <p:txBody>
          <a:bodyPr wrap="square" lIns="0" tIns="0" rIns="0" bIns="0" rtlCol="0" anchor="t"/>
          <a:lstStyle/>
          <a:p>
            <a:pPr marL="0" indent="0">
              <a:lnSpc>
                <a:spcPct val="105000"/>
              </a:lnSpc>
              <a:buNone/>
            </a:pPr>
            <a:r>
              <a:rPr lang="en-US" sz="1500" b="1" dirty="0">
                <a:solidFill>
                  <a:srgbClr val="141235"/>
                </a:solidFill>
                <a:latin typeface="Calibri" pitchFamily="34" charset="0"/>
                <a:ea typeface="Calibri" pitchFamily="34" charset="-122"/>
                <a:cs typeface="Calibri" pitchFamily="34" charset="-120"/>
              </a:rPr>
              <a:t>Groundedness</a:t>
            </a:r>
            <a:endParaRPr lang="en-US" sz="1500" dirty="0"/>
          </a:p>
        </p:txBody>
      </p:sp>
      <p:sp>
        <p:nvSpPr>
          <p:cNvPr id="18" name="Text 13"/>
          <p:cNvSpPr/>
          <p:nvPr/>
        </p:nvSpPr>
        <p:spPr>
          <a:xfrm>
            <a:off x="8828837" y="2714214"/>
            <a:ext cx="2558186" cy="623346"/>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Is the answer supported by what was actually retrieved, or did it fill the gaps itself?</a:t>
            </a:r>
            <a:endParaRPr lang="en-US" sz="1150" dirty="0"/>
          </a:p>
        </p:txBody>
      </p:sp>
      <p:sp>
        <p:nvSpPr>
          <p:cNvPr id="19" name="Shape 14"/>
          <p:cNvSpPr/>
          <p:nvPr/>
        </p:nvSpPr>
        <p:spPr>
          <a:xfrm>
            <a:off x="566928" y="3758184"/>
            <a:ext cx="3527450" cy="1399672"/>
          </a:xfrm>
          <a:prstGeom prst="roundRect">
            <a:avLst>
              <a:gd name="adj" fmla="val 5880"/>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20" name="Shape 15"/>
          <p:cNvSpPr/>
          <p:nvPr/>
        </p:nvSpPr>
        <p:spPr>
          <a:xfrm>
            <a:off x="804672" y="3977640"/>
            <a:ext cx="365760" cy="365760"/>
          </a:xfrm>
          <a:prstGeom prst="ellipse">
            <a:avLst/>
          </a:prstGeom>
          <a:solidFill>
            <a:srgbClr val="5B4BE8"/>
          </a:solidFill>
          <a:ln w="12700">
            <a:solidFill>
              <a:srgbClr val="5B4BE8"/>
            </a:solidFill>
            <a:prstDash val="solid"/>
          </a:ln>
        </p:spPr>
        <p:txBody>
          <a:bodyPr/>
          <a:lstStyle/>
          <a:p>
            <a:endParaRPr lang="en-US"/>
          </a:p>
        </p:txBody>
      </p:sp>
      <p:pic>
        <p:nvPicPr>
          <p:cNvPr id="21" name="Image 3" descr="preencoded.png"/>
          <p:cNvPicPr>
            <a:picLocks noChangeAspect="1"/>
          </p:cNvPicPr>
          <p:nvPr/>
        </p:nvPicPr>
        <p:blipFill>
          <a:blip r:embed="rId6"/>
          <a:stretch>
            <a:fillRect/>
          </a:stretch>
        </p:blipFill>
        <p:spPr>
          <a:xfrm>
            <a:off x="896112" y="4069080"/>
            <a:ext cx="182880" cy="182880"/>
          </a:xfrm>
          <a:prstGeom prst="rect">
            <a:avLst/>
          </a:prstGeom>
        </p:spPr>
      </p:pic>
      <p:sp>
        <p:nvSpPr>
          <p:cNvPr id="22" name="Text 16"/>
          <p:cNvSpPr/>
          <p:nvPr/>
        </p:nvSpPr>
        <p:spPr>
          <a:xfrm>
            <a:off x="1298448" y="3995928"/>
            <a:ext cx="2558186" cy="346558"/>
          </a:xfrm>
          <a:prstGeom prst="rect">
            <a:avLst/>
          </a:prstGeom>
          <a:noFill/>
          <a:ln/>
        </p:spPr>
        <p:txBody>
          <a:bodyPr wrap="square" lIns="0" tIns="0" rIns="0" bIns="0" rtlCol="0" anchor="t"/>
          <a:lstStyle/>
          <a:p>
            <a:pPr marL="0" indent="0">
              <a:lnSpc>
                <a:spcPct val="105000"/>
              </a:lnSpc>
              <a:buNone/>
            </a:pPr>
            <a:r>
              <a:rPr lang="en-US" sz="1500" b="1" dirty="0">
                <a:solidFill>
                  <a:srgbClr val="141235"/>
                </a:solidFill>
                <a:latin typeface="Calibri" pitchFamily="34" charset="0"/>
                <a:ea typeface="Calibri" pitchFamily="34" charset="-122"/>
                <a:cs typeface="Calibri" pitchFamily="34" charset="-120"/>
              </a:rPr>
              <a:t>Cost per task</a:t>
            </a:r>
            <a:endParaRPr lang="en-US" sz="1500" dirty="0"/>
          </a:p>
        </p:txBody>
      </p:sp>
      <p:sp>
        <p:nvSpPr>
          <p:cNvPr id="23" name="Text 17"/>
          <p:cNvSpPr/>
          <p:nvPr/>
        </p:nvSpPr>
        <p:spPr>
          <a:xfrm>
            <a:off x="1298448" y="4351630"/>
            <a:ext cx="2558186" cy="623346"/>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End to end, including retries and the turns nobody counted. Per task, never per call.</a:t>
            </a:r>
            <a:endParaRPr lang="en-US" sz="1150" dirty="0"/>
          </a:p>
        </p:txBody>
      </p:sp>
      <p:sp>
        <p:nvSpPr>
          <p:cNvPr id="24" name="Shape 18"/>
          <p:cNvSpPr/>
          <p:nvPr/>
        </p:nvSpPr>
        <p:spPr>
          <a:xfrm>
            <a:off x="4332122" y="3758184"/>
            <a:ext cx="3527450" cy="1399672"/>
          </a:xfrm>
          <a:prstGeom prst="roundRect">
            <a:avLst>
              <a:gd name="adj" fmla="val 5880"/>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25" name="Shape 19"/>
          <p:cNvSpPr/>
          <p:nvPr/>
        </p:nvSpPr>
        <p:spPr>
          <a:xfrm>
            <a:off x="4569866" y="3977640"/>
            <a:ext cx="365760" cy="365760"/>
          </a:xfrm>
          <a:prstGeom prst="ellipse">
            <a:avLst/>
          </a:prstGeom>
          <a:solidFill>
            <a:srgbClr val="5B4BE8"/>
          </a:solidFill>
          <a:ln w="12700">
            <a:solidFill>
              <a:srgbClr val="5B4BE8"/>
            </a:solidFill>
            <a:prstDash val="solid"/>
          </a:ln>
        </p:spPr>
        <p:txBody>
          <a:bodyPr/>
          <a:lstStyle/>
          <a:p>
            <a:endParaRPr lang="en-US"/>
          </a:p>
        </p:txBody>
      </p:sp>
      <p:pic>
        <p:nvPicPr>
          <p:cNvPr id="26" name="Image 4" descr="preencoded.png"/>
          <p:cNvPicPr>
            <a:picLocks noChangeAspect="1"/>
          </p:cNvPicPr>
          <p:nvPr/>
        </p:nvPicPr>
        <p:blipFill>
          <a:blip r:embed="rId7"/>
          <a:stretch>
            <a:fillRect/>
          </a:stretch>
        </p:blipFill>
        <p:spPr>
          <a:xfrm>
            <a:off x="4661306" y="4069080"/>
            <a:ext cx="182880" cy="182880"/>
          </a:xfrm>
          <a:prstGeom prst="rect">
            <a:avLst/>
          </a:prstGeom>
        </p:spPr>
      </p:pic>
      <p:sp>
        <p:nvSpPr>
          <p:cNvPr id="27" name="Text 20"/>
          <p:cNvSpPr/>
          <p:nvPr/>
        </p:nvSpPr>
        <p:spPr>
          <a:xfrm>
            <a:off x="5063642" y="3995928"/>
            <a:ext cx="2558186" cy="346558"/>
          </a:xfrm>
          <a:prstGeom prst="rect">
            <a:avLst/>
          </a:prstGeom>
          <a:noFill/>
          <a:ln/>
        </p:spPr>
        <p:txBody>
          <a:bodyPr wrap="square" lIns="0" tIns="0" rIns="0" bIns="0" rtlCol="0" anchor="t"/>
          <a:lstStyle/>
          <a:p>
            <a:pPr marL="0" indent="0">
              <a:lnSpc>
                <a:spcPct val="105000"/>
              </a:lnSpc>
              <a:buNone/>
            </a:pPr>
            <a:r>
              <a:rPr lang="en-US" sz="1500" b="1" dirty="0">
                <a:solidFill>
                  <a:srgbClr val="141235"/>
                </a:solidFill>
                <a:latin typeface="Calibri" pitchFamily="34" charset="0"/>
                <a:ea typeface="Calibri" pitchFamily="34" charset="-122"/>
                <a:cs typeface="Calibri" pitchFamily="34" charset="-120"/>
              </a:rPr>
              <a:t>Latency</a:t>
            </a:r>
            <a:endParaRPr lang="en-US" sz="1500" dirty="0"/>
          </a:p>
        </p:txBody>
      </p:sp>
      <p:sp>
        <p:nvSpPr>
          <p:cNvPr id="28" name="Text 21"/>
          <p:cNvSpPr/>
          <p:nvPr/>
        </p:nvSpPr>
        <p:spPr>
          <a:xfrm>
            <a:off x="5063642" y="4351630"/>
            <a:ext cx="2558186" cy="623346"/>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How long a person waited. A correct answer after ninety seconds fails a support use case.</a:t>
            </a:r>
            <a:endParaRPr lang="en-US" sz="1150" dirty="0"/>
          </a:p>
        </p:txBody>
      </p:sp>
      <p:sp>
        <p:nvSpPr>
          <p:cNvPr id="29" name="Shape 22"/>
          <p:cNvSpPr/>
          <p:nvPr/>
        </p:nvSpPr>
        <p:spPr>
          <a:xfrm>
            <a:off x="8097317" y="3758184"/>
            <a:ext cx="3527450" cy="1399672"/>
          </a:xfrm>
          <a:prstGeom prst="roundRect">
            <a:avLst>
              <a:gd name="adj" fmla="val 5880"/>
            </a:avLst>
          </a:prstGeom>
          <a:solidFill>
            <a:srgbClr val="FFF4E0"/>
          </a:solidFill>
          <a:ln w="12700">
            <a:solidFill>
              <a:srgbClr val="F3DCB0"/>
            </a:solidFill>
            <a:prstDash val="solid"/>
          </a:ln>
          <a:effectLst>
            <a:outerShdw blurRad="114300" dist="572" dir="5400000" algn="bl" rotWithShape="0">
              <a:srgbClr val="1B1A4A">
                <a:alpha val="7000"/>
              </a:srgbClr>
            </a:outerShdw>
          </a:effectLst>
        </p:spPr>
        <p:txBody>
          <a:bodyPr/>
          <a:lstStyle/>
          <a:p>
            <a:endParaRPr lang="en-US"/>
          </a:p>
        </p:txBody>
      </p:sp>
      <p:sp>
        <p:nvSpPr>
          <p:cNvPr id="30" name="Shape 23"/>
          <p:cNvSpPr/>
          <p:nvPr/>
        </p:nvSpPr>
        <p:spPr>
          <a:xfrm>
            <a:off x="8335061" y="3977640"/>
            <a:ext cx="365760" cy="365760"/>
          </a:xfrm>
          <a:prstGeom prst="ellipse">
            <a:avLst/>
          </a:prstGeom>
          <a:solidFill>
            <a:srgbClr val="F5A524"/>
          </a:solidFill>
          <a:ln w="12700">
            <a:solidFill>
              <a:srgbClr val="F5A524"/>
            </a:solidFill>
            <a:prstDash val="solid"/>
          </a:ln>
        </p:spPr>
        <p:txBody>
          <a:bodyPr/>
          <a:lstStyle/>
          <a:p>
            <a:endParaRPr lang="en-US"/>
          </a:p>
        </p:txBody>
      </p:sp>
      <p:pic>
        <p:nvPicPr>
          <p:cNvPr id="31" name="Image 5" descr="preencoded.png"/>
          <p:cNvPicPr>
            <a:picLocks noChangeAspect="1"/>
          </p:cNvPicPr>
          <p:nvPr/>
        </p:nvPicPr>
        <p:blipFill>
          <a:blip r:embed="rId8"/>
          <a:stretch>
            <a:fillRect/>
          </a:stretch>
        </p:blipFill>
        <p:spPr>
          <a:xfrm>
            <a:off x="8426501" y="4069080"/>
            <a:ext cx="182880" cy="182880"/>
          </a:xfrm>
          <a:prstGeom prst="rect">
            <a:avLst/>
          </a:prstGeom>
        </p:spPr>
      </p:pic>
      <p:sp>
        <p:nvSpPr>
          <p:cNvPr id="32" name="Text 24"/>
          <p:cNvSpPr/>
          <p:nvPr/>
        </p:nvSpPr>
        <p:spPr>
          <a:xfrm>
            <a:off x="8828837" y="3995928"/>
            <a:ext cx="2558186" cy="346558"/>
          </a:xfrm>
          <a:prstGeom prst="rect">
            <a:avLst/>
          </a:prstGeom>
          <a:noFill/>
          <a:ln/>
        </p:spPr>
        <p:txBody>
          <a:bodyPr wrap="square" lIns="0" tIns="0" rIns="0" bIns="0" rtlCol="0" anchor="t"/>
          <a:lstStyle/>
          <a:p>
            <a:pPr marL="0" indent="0">
              <a:lnSpc>
                <a:spcPct val="105000"/>
              </a:lnSpc>
              <a:buNone/>
            </a:pPr>
            <a:r>
              <a:rPr lang="en-US" sz="1500" b="1" dirty="0">
                <a:solidFill>
                  <a:srgbClr val="141235"/>
                </a:solidFill>
                <a:latin typeface="Calibri" pitchFamily="34" charset="0"/>
                <a:ea typeface="Calibri" pitchFamily="34" charset="-122"/>
                <a:cs typeface="Calibri" pitchFamily="34" charset="-120"/>
              </a:rPr>
              <a:t>And refusal quality</a:t>
            </a:r>
            <a:endParaRPr lang="en-US" sz="1500" dirty="0"/>
          </a:p>
        </p:txBody>
      </p:sp>
      <p:sp>
        <p:nvSpPr>
          <p:cNvPr id="33" name="Text 25"/>
          <p:cNvSpPr/>
          <p:nvPr/>
        </p:nvSpPr>
        <p:spPr>
          <a:xfrm>
            <a:off x="8828837" y="4351630"/>
            <a:ext cx="2558186" cy="623346"/>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How often it says “I don't know” when that is right — and how often when it is not.</a:t>
            </a:r>
            <a:endParaRPr lang="en-US" sz="1150" dirty="0"/>
          </a:p>
        </p:txBody>
      </p:sp>
      <p:sp>
        <p:nvSpPr>
          <p:cNvPr id="34" name="Shape 26"/>
          <p:cNvSpPr/>
          <p:nvPr/>
        </p:nvSpPr>
        <p:spPr>
          <a:xfrm>
            <a:off x="566928" y="5541264"/>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35" name="Shape 27"/>
          <p:cNvSpPr/>
          <p:nvPr/>
        </p:nvSpPr>
        <p:spPr>
          <a:xfrm>
            <a:off x="841248" y="5760720"/>
            <a:ext cx="384048" cy="384048"/>
          </a:xfrm>
          <a:prstGeom prst="ellipse">
            <a:avLst/>
          </a:prstGeom>
          <a:solidFill>
            <a:srgbClr val="F5A524"/>
          </a:solidFill>
          <a:ln w="12700">
            <a:solidFill>
              <a:srgbClr val="F5A524"/>
            </a:solidFill>
            <a:prstDash val="solid"/>
          </a:ln>
        </p:spPr>
        <p:txBody>
          <a:bodyPr/>
          <a:lstStyle/>
          <a:p>
            <a:endParaRPr lang="en-US"/>
          </a:p>
        </p:txBody>
      </p:sp>
      <p:pic>
        <p:nvPicPr>
          <p:cNvPr id="36" name="Image 6" descr="preencoded.png"/>
          <p:cNvPicPr>
            <a:picLocks noChangeAspect="1"/>
          </p:cNvPicPr>
          <p:nvPr/>
        </p:nvPicPr>
        <p:blipFill>
          <a:blip r:embed="rId9"/>
          <a:stretch>
            <a:fillRect/>
          </a:stretch>
        </p:blipFill>
        <p:spPr>
          <a:xfrm>
            <a:off x="937260" y="5856732"/>
            <a:ext cx="192024" cy="192024"/>
          </a:xfrm>
          <a:prstGeom prst="rect">
            <a:avLst/>
          </a:prstGeom>
        </p:spPr>
      </p:pic>
      <p:sp>
        <p:nvSpPr>
          <p:cNvPr id="37" name="Text 28"/>
          <p:cNvSpPr/>
          <p:nvPr/>
        </p:nvSpPr>
        <p:spPr>
          <a:xfrm>
            <a:off x="1371600" y="5596128"/>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“It seems to work” is not a measurement, and it will not survive its first bad week in front of real users.</a:t>
            </a:r>
            <a:endParaRPr lang="en-US" sz="105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15 · EVALS AND COST</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3000" b="1" dirty="0">
                <a:solidFill>
                  <a:srgbClr val="141235"/>
                </a:solidFill>
                <a:latin typeface="Cambria" pitchFamily="34" charset="0"/>
                <a:ea typeface="Cambria" pitchFamily="34" charset="-122"/>
                <a:cs typeface="Cambria" pitchFamily="34" charset="-120"/>
              </a:rPr>
              <a:t>How you actually measure it</a:t>
            </a:r>
            <a:endParaRPr lang="en-US" sz="3000" dirty="0"/>
          </a:p>
        </p:txBody>
      </p:sp>
      <p:sp>
        <p:nvSpPr>
          <p:cNvPr id="4" name="Text 2"/>
          <p:cNvSpPr/>
          <p:nvPr/>
        </p:nvSpPr>
        <p:spPr>
          <a:xfrm>
            <a:off x="566928" y="1371600"/>
            <a:ext cx="11057839" cy="310896"/>
          </a:xfrm>
          <a:prstGeom prst="rect">
            <a:avLst/>
          </a:prstGeom>
          <a:noFill/>
          <a:ln/>
        </p:spPr>
        <p:txBody>
          <a:bodyPr wrap="square" lIns="0" tIns="0" rIns="0" bIns="0" rtlCol="0" anchor="t"/>
          <a:lstStyle/>
          <a:p>
            <a:pPr marL="0" indent="0">
              <a:buNone/>
            </a:pPr>
            <a:r>
              <a:rPr lang="en-US" sz="1400" dirty="0">
                <a:solidFill>
                  <a:srgbClr val="3B3760"/>
                </a:solidFill>
                <a:latin typeface="Calibri" pitchFamily="34" charset="0"/>
                <a:ea typeface="Calibri" pitchFamily="34" charset="-122"/>
                <a:cs typeface="Calibri" pitchFamily="34" charset="-120"/>
              </a:rPr>
              <a:t>Knowing what to measure is the easy half. This is the half that teams skip, and it is why so many agents ship on vibes.</a:t>
            </a:r>
            <a:endParaRPr lang="en-US" sz="1400" dirty="0"/>
          </a:p>
        </p:txBody>
      </p:sp>
      <p:sp>
        <p:nvSpPr>
          <p:cNvPr id="5" name="Shape 3"/>
          <p:cNvSpPr/>
          <p:nvPr/>
        </p:nvSpPr>
        <p:spPr>
          <a:xfrm>
            <a:off x="566928" y="2048256"/>
            <a:ext cx="2586152" cy="2907792"/>
          </a:xfrm>
          <a:prstGeom prst="roundRect">
            <a:avLst>
              <a:gd name="adj" fmla="val 3182"/>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6" name="Shape 4"/>
          <p:cNvSpPr/>
          <p:nvPr/>
        </p:nvSpPr>
        <p:spPr>
          <a:xfrm>
            <a:off x="804672" y="2267712"/>
            <a:ext cx="365760" cy="365760"/>
          </a:xfrm>
          <a:prstGeom prst="ellipse">
            <a:avLst/>
          </a:prstGeom>
          <a:solidFill>
            <a:srgbClr val="5B4BE8"/>
          </a:solidFill>
          <a:ln w="12700">
            <a:solidFill>
              <a:srgbClr val="5B4BE8"/>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896112" y="2359152"/>
            <a:ext cx="182880" cy="182880"/>
          </a:xfrm>
          <a:prstGeom prst="rect">
            <a:avLst/>
          </a:prstGeom>
        </p:spPr>
      </p:pic>
      <p:sp>
        <p:nvSpPr>
          <p:cNvPr id="8" name="Text 5"/>
          <p:cNvSpPr/>
          <p:nvPr/>
        </p:nvSpPr>
        <p:spPr>
          <a:xfrm>
            <a:off x="1298448" y="2258568"/>
            <a:ext cx="1616888"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STEP 1</a:t>
            </a:r>
            <a:endParaRPr lang="en-US" sz="850" dirty="0"/>
          </a:p>
        </p:txBody>
      </p:sp>
      <p:sp>
        <p:nvSpPr>
          <p:cNvPr id="9" name="Text 6"/>
          <p:cNvSpPr/>
          <p:nvPr/>
        </p:nvSpPr>
        <p:spPr>
          <a:xfrm>
            <a:off x="1298448" y="2478024"/>
            <a:ext cx="1616888" cy="338511"/>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A golden set</a:t>
            </a:r>
            <a:endParaRPr lang="en-US" sz="1450" dirty="0"/>
          </a:p>
        </p:txBody>
      </p:sp>
      <p:sp>
        <p:nvSpPr>
          <p:cNvPr id="10" name="Text 7"/>
          <p:cNvSpPr/>
          <p:nvPr/>
        </p:nvSpPr>
        <p:spPr>
          <a:xfrm>
            <a:off x="1298448" y="2825679"/>
            <a:ext cx="1616888" cy="1947489"/>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Twenty to fifty real questions with agreed answers, including the unanswerable ones from module 12. Small and honest beats large and aspirational. It is a living asset — every incident adds a row.</a:t>
            </a:r>
            <a:endParaRPr lang="en-US" sz="1100" dirty="0"/>
          </a:p>
        </p:txBody>
      </p:sp>
      <p:sp>
        <p:nvSpPr>
          <p:cNvPr id="11" name="Shape 8"/>
          <p:cNvSpPr/>
          <p:nvPr/>
        </p:nvSpPr>
        <p:spPr>
          <a:xfrm>
            <a:off x="3390824" y="2048256"/>
            <a:ext cx="2586152" cy="2907792"/>
          </a:xfrm>
          <a:prstGeom prst="roundRect">
            <a:avLst>
              <a:gd name="adj" fmla="val 3182"/>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2" name="Shape 9"/>
          <p:cNvSpPr/>
          <p:nvPr/>
        </p:nvSpPr>
        <p:spPr>
          <a:xfrm>
            <a:off x="3628568" y="2267712"/>
            <a:ext cx="365760" cy="365760"/>
          </a:xfrm>
          <a:prstGeom prst="ellipse">
            <a:avLst/>
          </a:prstGeom>
          <a:solidFill>
            <a:srgbClr val="5B4BE8"/>
          </a:solidFill>
          <a:ln w="12700">
            <a:solidFill>
              <a:srgbClr val="5B4BE8"/>
            </a:solidFill>
            <a:prstDash val="solid"/>
          </a:ln>
        </p:spPr>
        <p:txBody>
          <a:bodyPr/>
          <a:lstStyle/>
          <a:p>
            <a:endParaRPr lang="en-US"/>
          </a:p>
        </p:txBody>
      </p:sp>
      <p:pic>
        <p:nvPicPr>
          <p:cNvPr id="13" name="Image 1" descr="preencoded.png"/>
          <p:cNvPicPr>
            <a:picLocks noChangeAspect="1"/>
          </p:cNvPicPr>
          <p:nvPr/>
        </p:nvPicPr>
        <p:blipFill>
          <a:blip r:embed="rId4"/>
          <a:stretch>
            <a:fillRect/>
          </a:stretch>
        </p:blipFill>
        <p:spPr>
          <a:xfrm>
            <a:off x="3720008" y="2359152"/>
            <a:ext cx="182880" cy="182880"/>
          </a:xfrm>
          <a:prstGeom prst="rect">
            <a:avLst/>
          </a:prstGeom>
        </p:spPr>
      </p:pic>
      <p:sp>
        <p:nvSpPr>
          <p:cNvPr id="14" name="Text 10"/>
          <p:cNvSpPr/>
          <p:nvPr/>
        </p:nvSpPr>
        <p:spPr>
          <a:xfrm>
            <a:off x="4122344" y="2258568"/>
            <a:ext cx="1616888"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STEP 2</a:t>
            </a:r>
            <a:endParaRPr lang="en-US" sz="850" dirty="0"/>
          </a:p>
        </p:txBody>
      </p:sp>
      <p:sp>
        <p:nvSpPr>
          <p:cNvPr id="15" name="Text 11"/>
          <p:cNvSpPr/>
          <p:nvPr/>
        </p:nvSpPr>
        <p:spPr>
          <a:xfrm>
            <a:off x="4122344" y="2478024"/>
            <a:ext cx="1616888" cy="622158"/>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Trajectory, not just outcome</a:t>
            </a:r>
            <a:endParaRPr lang="en-US" sz="1450" dirty="0"/>
          </a:p>
        </p:txBody>
      </p:sp>
      <p:sp>
        <p:nvSpPr>
          <p:cNvPr id="16" name="Text 12"/>
          <p:cNvSpPr/>
          <p:nvPr/>
        </p:nvSpPr>
        <p:spPr>
          <a:xfrm>
            <a:off x="4122344" y="3109326"/>
            <a:ext cx="1616888" cy="1663842"/>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Two runs can both reach the right answer, one in two tool calls and one in eleven. Grade the path as well as the destination — that is where cost and fragility live.</a:t>
            </a:r>
            <a:endParaRPr lang="en-US" sz="1100" dirty="0"/>
          </a:p>
        </p:txBody>
      </p:sp>
      <p:sp>
        <p:nvSpPr>
          <p:cNvPr id="17" name="Shape 13"/>
          <p:cNvSpPr/>
          <p:nvPr/>
        </p:nvSpPr>
        <p:spPr>
          <a:xfrm>
            <a:off x="6214720" y="2048256"/>
            <a:ext cx="2586152" cy="2907792"/>
          </a:xfrm>
          <a:prstGeom prst="roundRect">
            <a:avLst>
              <a:gd name="adj" fmla="val 3182"/>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8" name="Shape 14"/>
          <p:cNvSpPr/>
          <p:nvPr/>
        </p:nvSpPr>
        <p:spPr>
          <a:xfrm>
            <a:off x="6452464" y="2267712"/>
            <a:ext cx="365760" cy="365760"/>
          </a:xfrm>
          <a:prstGeom prst="ellipse">
            <a:avLst/>
          </a:prstGeom>
          <a:solidFill>
            <a:srgbClr val="5B4BE8"/>
          </a:solidFill>
          <a:ln w="12700">
            <a:solidFill>
              <a:srgbClr val="5B4BE8"/>
            </a:solidFill>
            <a:prstDash val="solid"/>
          </a:ln>
        </p:spPr>
        <p:txBody>
          <a:bodyPr/>
          <a:lstStyle/>
          <a:p>
            <a:endParaRPr lang="en-US"/>
          </a:p>
        </p:txBody>
      </p:sp>
      <p:pic>
        <p:nvPicPr>
          <p:cNvPr id="19" name="Image 2" descr="preencoded.png"/>
          <p:cNvPicPr>
            <a:picLocks noChangeAspect="1"/>
          </p:cNvPicPr>
          <p:nvPr/>
        </p:nvPicPr>
        <p:blipFill>
          <a:blip r:embed="rId5"/>
          <a:stretch>
            <a:fillRect/>
          </a:stretch>
        </p:blipFill>
        <p:spPr>
          <a:xfrm>
            <a:off x="6543904" y="2359152"/>
            <a:ext cx="182880" cy="182880"/>
          </a:xfrm>
          <a:prstGeom prst="rect">
            <a:avLst/>
          </a:prstGeom>
        </p:spPr>
      </p:pic>
      <p:sp>
        <p:nvSpPr>
          <p:cNvPr id="20" name="Text 15"/>
          <p:cNvSpPr/>
          <p:nvPr/>
        </p:nvSpPr>
        <p:spPr>
          <a:xfrm>
            <a:off x="6946240" y="2258568"/>
            <a:ext cx="1616888"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STEP 3</a:t>
            </a:r>
            <a:endParaRPr lang="en-US" sz="850" dirty="0"/>
          </a:p>
        </p:txBody>
      </p:sp>
      <p:sp>
        <p:nvSpPr>
          <p:cNvPr id="21" name="Text 16"/>
          <p:cNvSpPr/>
          <p:nvPr/>
        </p:nvSpPr>
        <p:spPr>
          <a:xfrm>
            <a:off x="6946240" y="2478024"/>
            <a:ext cx="1616888" cy="622158"/>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LLM-as-judge, calibrated</a:t>
            </a:r>
            <a:endParaRPr lang="en-US" sz="1450" dirty="0"/>
          </a:p>
        </p:txBody>
      </p:sp>
      <p:sp>
        <p:nvSpPr>
          <p:cNvPr id="22" name="Text 17"/>
          <p:cNvSpPr/>
          <p:nvPr/>
        </p:nvSpPr>
        <p:spPr>
          <a:xfrm>
            <a:off x="6946240" y="3109326"/>
            <a:ext cx="1616888" cy="1663842"/>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A model can grade open-ended answers at scale. But it must be calibrated against human labels on a sample first, and re-checked — an uncalibrated judge is a confident random number generator.</a:t>
            </a:r>
            <a:endParaRPr lang="en-US" sz="1100" dirty="0"/>
          </a:p>
        </p:txBody>
      </p:sp>
      <p:sp>
        <p:nvSpPr>
          <p:cNvPr id="23" name="Shape 18"/>
          <p:cNvSpPr/>
          <p:nvPr/>
        </p:nvSpPr>
        <p:spPr>
          <a:xfrm>
            <a:off x="9038615" y="2048256"/>
            <a:ext cx="2586152" cy="2907792"/>
          </a:xfrm>
          <a:prstGeom prst="roundRect">
            <a:avLst>
              <a:gd name="adj" fmla="val 3182"/>
            </a:avLst>
          </a:prstGeom>
          <a:solidFill>
            <a:srgbClr val="EEEDFE"/>
          </a:solidFill>
          <a:ln w="12700">
            <a:solidFill>
              <a:srgbClr val="8E82F5"/>
            </a:solidFill>
            <a:prstDash val="solid"/>
          </a:ln>
          <a:effectLst>
            <a:outerShdw blurRad="114300" dist="572" dir="5400000" algn="bl" rotWithShape="0">
              <a:srgbClr val="1B1A4A">
                <a:alpha val="7000"/>
              </a:srgbClr>
            </a:outerShdw>
          </a:effectLst>
        </p:spPr>
        <p:txBody>
          <a:bodyPr/>
          <a:lstStyle/>
          <a:p>
            <a:endParaRPr lang="en-US"/>
          </a:p>
        </p:txBody>
      </p:sp>
      <p:sp>
        <p:nvSpPr>
          <p:cNvPr id="24" name="Shape 19"/>
          <p:cNvSpPr/>
          <p:nvPr/>
        </p:nvSpPr>
        <p:spPr>
          <a:xfrm>
            <a:off x="9276359" y="2267712"/>
            <a:ext cx="365760" cy="365760"/>
          </a:xfrm>
          <a:prstGeom prst="ellipse">
            <a:avLst/>
          </a:prstGeom>
          <a:solidFill>
            <a:srgbClr val="5B4BE8"/>
          </a:solidFill>
          <a:ln w="12700">
            <a:solidFill>
              <a:srgbClr val="5B4BE8"/>
            </a:solidFill>
            <a:prstDash val="solid"/>
          </a:ln>
        </p:spPr>
        <p:txBody>
          <a:bodyPr/>
          <a:lstStyle/>
          <a:p>
            <a:endParaRPr lang="en-US"/>
          </a:p>
        </p:txBody>
      </p:sp>
      <p:pic>
        <p:nvPicPr>
          <p:cNvPr id="25" name="Image 3" descr="preencoded.png"/>
          <p:cNvPicPr>
            <a:picLocks noChangeAspect="1"/>
          </p:cNvPicPr>
          <p:nvPr/>
        </p:nvPicPr>
        <p:blipFill>
          <a:blip r:embed="rId6"/>
          <a:stretch>
            <a:fillRect/>
          </a:stretch>
        </p:blipFill>
        <p:spPr>
          <a:xfrm>
            <a:off x="9367799" y="2359152"/>
            <a:ext cx="182880" cy="182880"/>
          </a:xfrm>
          <a:prstGeom prst="rect">
            <a:avLst/>
          </a:prstGeom>
        </p:spPr>
      </p:pic>
      <p:sp>
        <p:nvSpPr>
          <p:cNvPr id="26" name="Text 20"/>
          <p:cNvSpPr/>
          <p:nvPr/>
        </p:nvSpPr>
        <p:spPr>
          <a:xfrm>
            <a:off x="9770135" y="2258568"/>
            <a:ext cx="1616888"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STEP 4</a:t>
            </a:r>
            <a:endParaRPr lang="en-US" sz="850" dirty="0"/>
          </a:p>
        </p:txBody>
      </p:sp>
      <p:sp>
        <p:nvSpPr>
          <p:cNvPr id="27" name="Text 21"/>
          <p:cNvSpPr/>
          <p:nvPr/>
        </p:nvSpPr>
        <p:spPr>
          <a:xfrm>
            <a:off x="9770135" y="2478024"/>
            <a:ext cx="1616888" cy="338511"/>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Run it in CI</a:t>
            </a:r>
            <a:endParaRPr lang="en-US" sz="1450" dirty="0"/>
          </a:p>
        </p:txBody>
      </p:sp>
      <p:sp>
        <p:nvSpPr>
          <p:cNvPr id="28" name="Text 22"/>
          <p:cNvSpPr/>
          <p:nvPr/>
        </p:nvSpPr>
        <p:spPr>
          <a:xfrm>
            <a:off x="9770135" y="2825679"/>
            <a:ext cx="1616888" cy="1947489"/>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An eval you run manually is an eval you stop running. Wire it to the prompt and the model version, so a change that quietly makes things worse fails a build.</a:t>
            </a:r>
            <a:endParaRPr lang="en-US" sz="1100" dirty="0"/>
          </a:p>
        </p:txBody>
      </p:sp>
      <p:sp>
        <p:nvSpPr>
          <p:cNvPr id="29" name="Shape 23"/>
          <p:cNvSpPr/>
          <p:nvPr/>
        </p:nvSpPr>
        <p:spPr>
          <a:xfrm>
            <a:off x="566928" y="5431536"/>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30" name="Shape 24"/>
          <p:cNvSpPr/>
          <p:nvPr/>
        </p:nvSpPr>
        <p:spPr>
          <a:xfrm>
            <a:off x="841248" y="5650992"/>
            <a:ext cx="384048" cy="384048"/>
          </a:xfrm>
          <a:prstGeom prst="ellipse">
            <a:avLst/>
          </a:prstGeom>
          <a:solidFill>
            <a:srgbClr val="F5A524"/>
          </a:solidFill>
          <a:ln w="12700">
            <a:solidFill>
              <a:srgbClr val="F5A524"/>
            </a:solidFill>
            <a:prstDash val="solid"/>
          </a:ln>
        </p:spPr>
        <p:txBody>
          <a:bodyPr/>
          <a:lstStyle/>
          <a:p>
            <a:endParaRPr lang="en-US"/>
          </a:p>
        </p:txBody>
      </p:sp>
      <p:pic>
        <p:nvPicPr>
          <p:cNvPr id="31" name="Image 4" descr="preencoded.png"/>
          <p:cNvPicPr>
            <a:picLocks noChangeAspect="1"/>
          </p:cNvPicPr>
          <p:nvPr/>
        </p:nvPicPr>
        <p:blipFill>
          <a:blip r:embed="rId7"/>
          <a:stretch>
            <a:fillRect/>
          </a:stretch>
        </p:blipFill>
        <p:spPr>
          <a:xfrm>
            <a:off x="937260" y="5747004"/>
            <a:ext cx="192024" cy="192024"/>
          </a:xfrm>
          <a:prstGeom prst="rect">
            <a:avLst/>
          </a:prstGeom>
        </p:spPr>
      </p:pic>
      <p:sp>
        <p:nvSpPr>
          <p:cNvPr id="32" name="Text 25"/>
          <p:cNvSpPr/>
          <p:nvPr/>
        </p:nvSpPr>
        <p:spPr>
          <a:xfrm>
            <a:off x="1371600" y="5486400"/>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Write down twenty questions you already know the answers to, and check them every time you change something. That single habit outperforms most tooling.</a:t>
            </a:r>
            <a:endParaRPr lang="en-US" sz="105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15 · EVALS AND COST</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3000" b="1" dirty="0">
                <a:solidFill>
                  <a:srgbClr val="141235"/>
                </a:solidFill>
                <a:latin typeface="Cambria" pitchFamily="34" charset="0"/>
                <a:ea typeface="Cambria" pitchFamily="34" charset="-122"/>
                <a:cs typeface="Cambria" pitchFamily="34" charset="-120"/>
              </a:rPr>
              <a:t>You cannot debug what you did not record</a:t>
            </a:r>
            <a:endParaRPr lang="en-US" sz="3000" dirty="0"/>
          </a:p>
        </p:txBody>
      </p:sp>
      <p:sp>
        <p:nvSpPr>
          <p:cNvPr id="4" name="Text 2"/>
          <p:cNvSpPr/>
          <p:nvPr/>
        </p:nvSpPr>
        <p:spPr>
          <a:xfrm>
            <a:off x="566928" y="1371600"/>
            <a:ext cx="11057839" cy="310896"/>
          </a:xfrm>
          <a:prstGeom prst="rect">
            <a:avLst/>
          </a:prstGeom>
          <a:noFill/>
          <a:ln/>
        </p:spPr>
        <p:txBody>
          <a:bodyPr wrap="square" lIns="0" tIns="0" rIns="0" bIns="0" rtlCol="0" anchor="t"/>
          <a:lstStyle/>
          <a:p>
            <a:pPr marL="0" indent="0">
              <a:buNone/>
            </a:pPr>
            <a:r>
              <a:rPr lang="en-US" sz="1400" dirty="0">
                <a:solidFill>
                  <a:srgbClr val="3B3760"/>
                </a:solidFill>
                <a:latin typeface="Calibri" pitchFamily="34" charset="0"/>
                <a:ea typeface="Calibri" pitchFamily="34" charset="-122"/>
                <a:cs typeface="Calibri" pitchFamily="34" charset="-120"/>
              </a:rPr>
              <a:t>An agent run is a distributed trace: nested model calls, tool calls, retrievals, retries. That is a solved problem in ordinary software.</a:t>
            </a:r>
            <a:endParaRPr lang="en-US" sz="1400" dirty="0"/>
          </a:p>
        </p:txBody>
      </p:sp>
      <p:sp>
        <p:nvSpPr>
          <p:cNvPr id="5" name="Shape 3"/>
          <p:cNvSpPr/>
          <p:nvPr/>
        </p:nvSpPr>
        <p:spPr>
          <a:xfrm>
            <a:off x="566928" y="2065264"/>
            <a:ext cx="2586152" cy="2873776"/>
          </a:xfrm>
          <a:prstGeom prst="roundRect">
            <a:avLst>
              <a:gd name="adj" fmla="val 3182"/>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6" name="Shape 4"/>
          <p:cNvSpPr/>
          <p:nvPr/>
        </p:nvSpPr>
        <p:spPr>
          <a:xfrm>
            <a:off x="804672" y="2284720"/>
            <a:ext cx="365760" cy="365760"/>
          </a:xfrm>
          <a:prstGeom prst="ellipse">
            <a:avLst/>
          </a:prstGeom>
          <a:solidFill>
            <a:srgbClr val="5B4BE8"/>
          </a:solidFill>
          <a:ln w="12700">
            <a:solidFill>
              <a:srgbClr val="5B4BE8"/>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896112" y="2376160"/>
            <a:ext cx="182880" cy="182880"/>
          </a:xfrm>
          <a:prstGeom prst="rect">
            <a:avLst/>
          </a:prstGeom>
        </p:spPr>
      </p:pic>
      <p:sp>
        <p:nvSpPr>
          <p:cNvPr id="8" name="Text 5"/>
          <p:cNvSpPr/>
          <p:nvPr/>
        </p:nvSpPr>
        <p:spPr>
          <a:xfrm>
            <a:off x="1298448" y="2275576"/>
            <a:ext cx="1616888"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THE SHAPE</a:t>
            </a:r>
            <a:endParaRPr lang="en-US" sz="850" dirty="0"/>
          </a:p>
        </p:txBody>
      </p:sp>
      <p:sp>
        <p:nvSpPr>
          <p:cNvPr id="9" name="Text 6"/>
          <p:cNvSpPr/>
          <p:nvPr/>
        </p:nvSpPr>
        <p:spPr>
          <a:xfrm>
            <a:off x="1298448" y="2495032"/>
            <a:ext cx="1616888" cy="622158"/>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A trace, with spans</a:t>
            </a:r>
            <a:endParaRPr lang="en-US" sz="1450" dirty="0"/>
          </a:p>
        </p:txBody>
      </p:sp>
      <p:sp>
        <p:nvSpPr>
          <p:cNvPr id="10" name="Text 7"/>
          <p:cNvSpPr/>
          <p:nvPr/>
        </p:nvSpPr>
        <p:spPr>
          <a:xfrm>
            <a:off x="1298448" y="3126334"/>
            <a:ext cx="1616888" cy="1629827"/>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One span per model call, per tool call, per retrieval — nested under one run. Exactly how you already trace a microservice request.</a:t>
            </a:r>
            <a:endParaRPr lang="en-US" sz="1100" dirty="0"/>
          </a:p>
        </p:txBody>
      </p:sp>
      <p:sp>
        <p:nvSpPr>
          <p:cNvPr id="11" name="Shape 8"/>
          <p:cNvSpPr/>
          <p:nvPr/>
        </p:nvSpPr>
        <p:spPr>
          <a:xfrm>
            <a:off x="3390824" y="2065264"/>
            <a:ext cx="2586152" cy="2873776"/>
          </a:xfrm>
          <a:prstGeom prst="roundRect">
            <a:avLst>
              <a:gd name="adj" fmla="val 3182"/>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2" name="Shape 9"/>
          <p:cNvSpPr/>
          <p:nvPr/>
        </p:nvSpPr>
        <p:spPr>
          <a:xfrm>
            <a:off x="3628568" y="2284720"/>
            <a:ext cx="365760" cy="365760"/>
          </a:xfrm>
          <a:prstGeom prst="ellipse">
            <a:avLst/>
          </a:prstGeom>
          <a:solidFill>
            <a:srgbClr val="5B4BE8"/>
          </a:solidFill>
          <a:ln w="12700">
            <a:solidFill>
              <a:srgbClr val="5B4BE8"/>
            </a:solidFill>
            <a:prstDash val="solid"/>
          </a:ln>
        </p:spPr>
        <p:txBody>
          <a:bodyPr/>
          <a:lstStyle/>
          <a:p>
            <a:endParaRPr lang="en-US"/>
          </a:p>
        </p:txBody>
      </p:sp>
      <p:pic>
        <p:nvPicPr>
          <p:cNvPr id="13" name="Image 1" descr="preencoded.png"/>
          <p:cNvPicPr>
            <a:picLocks noChangeAspect="1"/>
          </p:cNvPicPr>
          <p:nvPr/>
        </p:nvPicPr>
        <p:blipFill>
          <a:blip r:embed="rId4"/>
          <a:stretch>
            <a:fillRect/>
          </a:stretch>
        </p:blipFill>
        <p:spPr>
          <a:xfrm>
            <a:off x="3720008" y="2376160"/>
            <a:ext cx="182880" cy="182880"/>
          </a:xfrm>
          <a:prstGeom prst="rect">
            <a:avLst/>
          </a:prstGeom>
        </p:spPr>
      </p:pic>
      <p:sp>
        <p:nvSpPr>
          <p:cNvPr id="14" name="Text 10"/>
          <p:cNvSpPr/>
          <p:nvPr/>
        </p:nvSpPr>
        <p:spPr>
          <a:xfrm>
            <a:off x="4122344" y="2275576"/>
            <a:ext cx="1616888"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THE STANDARD</a:t>
            </a:r>
            <a:endParaRPr lang="en-US" sz="850" dirty="0"/>
          </a:p>
        </p:txBody>
      </p:sp>
      <p:sp>
        <p:nvSpPr>
          <p:cNvPr id="15" name="Text 11"/>
          <p:cNvSpPr/>
          <p:nvPr/>
        </p:nvSpPr>
        <p:spPr>
          <a:xfrm>
            <a:off x="4122344" y="2495032"/>
            <a:ext cx="1616888" cy="905805"/>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OpenTelemetry GenAI conventions</a:t>
            </a:r>
            <a:endParaRPr lang="en-US" sz="1450" dirty="0"/>
          </a:p>
        </p:txBody>
      </p:sp>
      <p:sp>
        <p:nvSpPr>
          <p:cNvPr id="16" name="Text 12"/>
          <p:cNvSpPr/>
          <p:nvPr/>
        </p:nvSpPr>
        <p:spPr>
          <a:xfrm>
            <a:off x="4122344" y="3409980"/>
            <a:ext cx="1616888" cy="1346180"/>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Vendor-neutral semantic conventions for agent, model and tool spans. MCP itself now points its logging at OpenTelemetry rather than defining its own.</a:t>
            </a:r>
            <a:endParaRPr lang="en-US" sz="1100" dirty="0"/>
          </a:p>
        </p:txBody>
      </p:sp>
      <p:sp>
        <p:nvSpPr>
          <p:cNvPr id="17" name="Shape 13"/>
          <p:cNvSpPr/>
          <p:nvPr/>
        </p:nvSpPr>
        <p:spPr>
          <a:xfrm>
            <a:off x="6214720" y="2065264"/>
            <a:ext cx="2586152" cy="2873776"/>
          </a:xfrm>
          <a:prstGeom prst="roundRect">
            <a:avLst>
              <a:gd name="adj" fmla="val 3182"/>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8" name="Shape 14"/>
          <p:cNvSpPr/>
          <p:nvPr/>
        </p:nvSpPr>
        <p:spPr>
          <a:xfrm>
            <a:off x="6452464" y="2284720"/>
            <a:ext cx="365760" cy="365760"/>
          </a:xfrm>
          <a:prstGeom prst="ellipse">
            <a:avLst/>
          </a:prstGeom>
          <a:solidFill>
            <a:srgbClr val="5B4BE8"/>
          </a:solidFill>
          <a:ln w="12700">
            <a:solidFill>
              <a:srgbClr val="5B4BE8"/>
            </a:solidFill>
            <a:prstDash val="solid"/>
          </a:ln>
        </p:spPr>
        <p:txBody>
          <a:bodyPr/>
          <a:lstStyle/>
          <a:p>
            <a:endParaRPr lang="en-US"/>
          </a:p>
        </p:txBody>
      </p:sp>
      <p:pic>
        <p:nvPicPr>
          <p:cNvPr id="19" name="Image 2" descr="preencoded.png"/>
          <p:cNvPicPr>
            <a:picLocks noChangeAspect="1"/>
          </p:cNvPicPr>
          <p:nvPr/>
        </p:nvPicPr>
        <p:blipFill>
          <a:blip r:embed="rId5"/>
          <a:stretch>
            <a:fillRect/>
          </a:stretch>
        </p:blipFill>
        <p:spPr>
          <a:xfrm>
            <a:off x="6543904" y="2376160"/>
            <a:ext cx="182880" cy="182880"/>
          </a:xfrm>
          <a:prstGeom prst="rect">
            <a:avLst/>
          </a:prstGeom>
        </p:spPr>
      </p:pic>
      <p:sp>
        <p:nvSpPr>
          <p:cNvPr id="20" name="Text 15"/>
          <p:cNvSpPr/>
          <p:nvPr/>
        </p:nvSpPr>
        <p:spPr>
          <a:xfrm>
            <a:off x="6946240" y="2275576"/>
            <a:ext cx="1616888"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WHAT TO CAPTURE</a:t>
            </a:r>
            <a:endParaRPr lang="en-US" sz="850" dirty="0"/>
          </a:p>
        </p:txBody>
      </p:sp>
      <p:sp>
        <p:nvSpPr>
          <p:cNvPr id="21" name="Text 16"/>
          <p:cNvSpPr/>
          <p:nvPr/>
        </p:nvSpPr>
        <p:spPr>
          <a:xfrm>
            <a:off x="6946240" y="2495032"/>
            <a:ext cx="1616888" cy="905805"/>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Tokens, latency, tool name, outcome</a:t>
            </a:r>
            <a:endParaRPr lang="en-US" sz="1450" dirty="0"/>
          </a:p>
        </p:txBody>
      </p:sp>
      <p:sp>
        <p:nvSpPr>
          <p:cNvPr id="22" name="Text 17"/>
          <p:cNvSpPr/>
          <p:nvPr/>
        </p:nvSpPr>
        <p:spPr>
          <a:xfrm>
            <a:off x="6946240" y="3409980"/>
            <a:ext cx="1616888" cy="1346180"/>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Per span. Cost per task and tool-call correctness fall out of the trace for free once the spans are right.</a:t>
            </a:r>
            <a:endParaRPr lang="en-US" sz="1100" dirty="0"/>
          </a:p>
        </p:txBody>
      </p:sp>
      <p:sp>
        <p:nvSpPr>
          <p:cNvPr id="23" name="Shape 18"/>
          <p:cNvSpPr/>
          <p:nvPr/>
        </p:nvSpPr>
        <p:spPr>
          <a:xfrm>
            <a:off x="9038615" y="2065264"/>
            <a:ext cx="2586152" cy="2873776"/>
          </a:xfrm>
          <a:prstGeom prst="roundRect">
            <a:avLst>
              <a:gd name="adj" fmla="val 3182"/>
            </a:avLst>
          </a:prstGeom>
          <a:solidFill>
            <a:srgbClr val="FFF4E0"/>
          </a:solidFill>
          <a:ln w="12700">
            <a:solidFill>
              <a:srgbClr val="F3DCB0"/>
            </a:solidFill>
            <a:prstDash val="solid"/>
          </a:ln>
          <a:effectLst>
            <a:outerShdw blurRad="114300" dist="572" dir="5400000" algn="bl" rotWithShape="0">
              <a:srgbClr val="1B1A4A">
                <a:alpha val="7000"/>
              </a:srgbClr>
            </a:outerShdw>
          </a:effectLst>
        </p:spPr>
        <p:txBody>
          <a:bodyPr/>
          <a:lstStyle/>
          <a:p>
            <a:endParaRPr lang="en-US"/>
          </a:p>
        </p:txBody>
      </p:sp>
      <p:sp>
        <p:nvSpPr>
          <p:cNvPr id="24" name="Shape 19"/>
          <p:cNvSpPr/>
          <p:nvPr/>
        </p:nvSpPr>
        <p:spPr>
          <a:xfrm>
            <a:off x="9276359" y="2284720"/>
            <a:ext cx="365760" cy="365760"/>
          </a:xfrm>
          <a:prstGeom prst="ellipse">
            <a:avLst/>
          </a:prstGeom>
          <a:solidFill>
            <a:srgbClr val="F5A524"/>
          </a:solidFill>
          <a:ln w="12700">
            <a:solidFill>
              <a:srgbClr val="F5A524"/>
            </a:solidFill>
            <a:prstDash val="solid"/>
          </a:ln>
        </p:spPr>
        <p:txBody>
          <a:bodyPr/>
          <a:lstStyle/>
          <a:p>
            <a:endParaRPr lang="en-US"/>
          </a:p>
        </p:txBody>
      </p:sp>
      <p:pic>
        <p:nvPicPr>
          <p:cNvPr id="25" name="Image 3" descr="preencoded.png"/>
          <p:cNvPicPr>
            <a:picLocks noChangeAspect="1"/>
          </p:cNvPicPr>
          <p:nvPr/>
        </p:nvPicPr>
        <p:blipFill>
          <a:blip r:embed="rId6"/>
          <a:stretch>
            <a:fillRect/>
          </a:stretch>
        </p:blipFill>
        <p:spPr>
          <a:xfrm>
            <a:off x="9367799" y="2376160"/>
            <a:ext cx="182880" cy="182880"/>
          </a:xfrm>
          <a:prstGeom prst="rect">
            <a:avLst/>
          </a:prstGeom>
        </p:spPr>
      </p:pic>
      <p:sp>
        <p:nvSpPr>
          <p:cNvPr id="26" name="Text 20"/>
          <p:cNvSpPr/>
          <p:nvPr/>
        </p:nvSpPr>
        <p:spPr>
          <a:xfrm>
            <a:off x="9770135" y="2275576"/>
            <a:ext cx="1616888"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THE CATCH</a:t>
            </a:r>
            <a:endParaRPr lang="en-US" sz="850" dirty="0"/>
          </a:p>
        </p:txBody>
      </p:sp>
      <p:sp>
        <p:nvSpPr>
          <p:cNvPr id="27" name="Text 21"/>
          <p:cNvSpPr/>
          <p:nvPr/>
        </p:nvSpPr>
        <p:spPr>
          <a:xfrm>
            <a:off x="9770135" y="2495032"/>
            <a:ext cx="1616888" cy="622158"/>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Traces contain prompts</a:t>
            </a:r>
            <a:endParaRPr lang="en-US" sz="1450" dirty="0"/>
          </a:p>
        </p:txBody>
      </p:sp>
      <p:sp>
        <p:nvSpPr>
          <p:cNvPr id="28" name="Text 22"/>
          <p:cNvSpPr/>
          <p:nvPr/>
        </p:nvSpPr>
        <p:spPr>
          <a:xfrm>
            <a:off x="9770135" y="3126334"/>
            <a:ext cx="1616888" cy="1629827"/>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Which means they contain customer data. Decide what you redact before you turn tracing on, not after your first subject access request.</a:t>
            </a:r>
            <a:endParaRPr lang="en-US" sz="1100" dirty="0"/>
          </a:p>
        </p:txBody>
      </p:sp>
      <p:sp>
        <p:nvSpPr>
          <p:cNvPr id="29" name="Shape 23"/>
          <p:cNvSpPr/>
          <p:nvPr/>
        </p:nvSpPr>
        <p:spPr>
          <a:xfrm>
            <a:off x="566928" y="5431536"/>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30" name="Shape 24"/>
          <p:cNvSpPr/>
          <p:nvPr/>
        </p:nvSpPr>
        <p:spPr>
          <a:xfrm>
            <a:off x="841248" y="5650992"/>
            <a:ext cx="384048" cy="384048"/>
          </a:xfrm>
          <a:prstGeom prst="ellipse">
            <a:avLst/>
          </a:prstGeom>
          <a:solidFill>
            <a:srgbClr val="F5A524"/>
          </a:solidFill>
          <a:ln w="12700">
            <a:solidFill>
              <a:srgbClr val="F5A524"/>
            </a:solidFill>
            <a:prstDash val="solid"/>
          </a:ln>
        </p:spPr>
        <p:txBody>
          <a:bodyPr/>
          <a:lstStyle/>
          <a:p>
            <a:endParaRPr lang="en-US"/>
          </a:p>
        </p:txBody>
      </p:sp>
      <p:pic>
        <p:nvPicPr>
          <p:cNvPr id="31" name="Image 4" descr="preencoded.png"/>
          <p:cNvPicPr>
            <a:picLocks noChangeAspect="1"/>
          </p:cNvPicPr>
          <p:nvPr/>
        </p:nvPicPr>
        <p:blipFill>
          <a:blip r:embed="rId7"/>
          <a:stretch>
            <a:fillRect/>
          </a:stretch>
        </p:blipFill>
        <p:spPr>
          <a:xfrm>
            <a:off x="937260" y="5747004"/>
            <a:ext cx="192024" cy="192024"/>
          </a:xfrm>
          <a:prstGeom prst="rect">
            <a:avLst/>
          </a:prstGeom>
        </p:spPr>
      </p:pic>
      <p:sp>
        <p:nvSpPr>
          <p:cNvPr id="32" name="Text 25"/>
          <p:cNvSpPr/>
          <p:nvPr/>
        </p:nvSpPr>
        <p:spPr>
          <a:xfrm>
            <a:off x="1371600" y="5486400"/>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Record every step the agent took, in a standard format, so that when it does something strange you can read back exactly what happened.</a:t>
            </a:r>
            <a:endParaRPr lang="en-US" sz="105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15 · EVALS AND COST</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3000" b="1" dirty="0">
                <a:solidFill>
                  <a:srgbClr val="141235"/>
                </a:solidFill>
                <a:latin typeface="Cambria" pitchFamily="34" charset="0"/>
                <a:ea typeface="Cambria" pitchFamily="34" charset="-122"/>
                <a:cs typeface="Cambria" pitchFamily="34" charset="-120"/>
              </a:rPr>
              <a:t>Three levers that actually move the number</a:t>
            </a:r>
            <a:endParaRPr lang="en-US" sz="3000" dirty="0"/>
          </a:p>
        </p:txBody>
      </p:sp>
      <p:sp>
        <p:nvSpPr>
          <p:cNvPr id="4" name="Shape 2"/>
          <p:cNvSpPr/>
          <p:nvPr/>
        </p:nvSpPr>
        <p:spPr>
          <a:xfrm>
            <a:off x="566928" y="2536728"/>
            <a:ext cx="3527450" cy="2296607"/>
          </a:xfrm>
          <a:prstGeom prst="roundRect">
            <a:avLst>
              <a:gd name="adj" fmla="val 3583"/>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5" name="Shape 3"/>
          <p:cNvSpPr/>
          <p:nvPr/>
        </p:nvSpPr>
        <p:spPr>
          <a:xfrm>
            <a:off x="804672" y="2756184"/>
            <a:ext cx="365760" cy="365760"/>
          </a:xfrm>
          <a:prstGeom prst="ellipse">
            <a:avLst/>
          </a:prstGeom>
          <a:solidFill>
            <a:srgbClr val="5B4BE8"/>
          </a:solidFill>
          <a:ln w="12700">
            <a:solidFill>
              <a:srgbClr val="5B4BE8"/>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896112" y="2847624"/>
            <a:ext cx="182880" cy="182880"/>
          </a:xfrm>
          <a:prstGeom prst="rect">
            <a:avLst/>
          </a:prstGeom>
        </p:spPr>
      </p:pic>
      <p:sp>
        <p:nvSpPr>
          <p:cNvPr id="7" name="Text 4"/>
          <p:cNvSpPr/>
          <p:nvPr/>
        </p:nvSpPr>
        <p:spPr>
          <a:xfrm>
            <a:off x="1298448" y="2747040"/>
            <a:ext cx="2558186"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LEVER 1</a:t>
            </a:r>
            <a:endParaRPr lang="en-US" sz="850" dirty="0"/>
          </a:p>
        </p:txBody>
      </p:sp>
      <p:sp>
        <p:nvSpPr>
          <p:cNvPr id="8" name="Text 5"/>
          <p:cNvSpPr/>
          <p:nvPr/>
        </p:nvSpPr>
        <p:spPr>
          <a:xfrm>
            <a:off x="1298448" y="2966496"/>
            <a:ext cx="2558186" cy="362651"/>
          </a:xfrm>
          <a:prstGeom prst="rect">
            <a:avLst/>
          </a:prstGeom>
          <a:noFill/>
          <a:ln/>
        </p:spPr>
        <p:txBody>
          <a:bodyPr wrap="square" lIns="0" tIns="0" rIns="0" bIns="0" rtlCol="0" anchor="t"/>
          <a:lstStyle/>
          <a:p>
            <a:pPr marL="0" indent="0">
              <a:lnSpc>
                <a:spcPct val="105000"/>
              </a:lnSpc>
              <a:buNone/>
            </a:pPr>
            <a:r>
              <a:rPr lang="en-US" sz="1600" b="1" dirty="0">
                <a:solidFill>
                  <a:srgbClr val="141235"/>
                </a:solidFill>
                <a:latin typeface="Calibri" pitchFamily="34" charset="0"/>
                <a:ea typeface="Calibri" pitchFamily="34" charset="-122"/>
                <a:cs typeface="Calibri" pitchFamily="34" charset="-120"/>
              </a:rPr>
              <a:t>Caching</a:t>
            </a:r>
            <a:endParaRPr lang="en-US" sz="1600" dirty="0"/>
          </a:p>
        </p:txBody>
      </p:sp>
      <p:sp>
        <p:nvSpPr>
          <p:cNvPr id="9" name="Text 6"/>
          <p:cNvSpPr/>
          <p:nvPr/>
        </p:nvSpPr>
        <p:spPr>
          <a:xfrm>
            <a:off x="1298448" y="3338292"/>
            <a:ext cx="2558186" cy="1312164"/>
          </a:xfrm>
          <a:prstGeom prst="rect">
            <a:avLst/>
          </a:prstGeom>
          <a:noFill/>
          <a:ln/>
        </p:spPr>
        <p:txBody>
          <a:bodyPr wrap="square" lIns="0" tIns="0" rIns="0" bIns="0" rtlCol="0" anchor="t"/>
          <a:lstStyle/>
          <a:p>
            <a:pPr marL="0" indent="0">
              <a:lnSpc>
                <a:spcPct val="113000"/>
              </a:lnSpc>
              <a:buNone/>
            </a:pPr>
            <a:r>
              <a:rPr lang="en-US" sz="1250" dirty="0">
                <a:solidFill>
                  <a:srgbClr val="6E6B8A"/>
                </a:solidFill>
                <a:latin typeface="Calibri" pitchFamily="34" charset="0"/>
                <a:ea typeface="Calibri" pitchFamily="34" charset="-122"/>
                <a:cs typeface="Calibri" pitchFamily="34" charset="-120"/>
              </a:rPr>
              <a:t>Reuse what has not changed instead of re-sending it. The system prompt and tool schemas are identical on every turn — paying for them every turn is a choice.</a:t>
            </a:r>
            <a:endParaRPr lang="en-US" sz="1250" dirty="0"/>
          </a:p>
        </p:txBody>
      </p:sp>
      <p:sp>
        <p:nvSpPr>
          <p:cNvPr id="10" name="Shape 7"/>
          <p:cNvSpPr/>
          <p:nvPr/>
        </p:nvSpPr>
        <p:spPr>
          <a:xfrm>
            <a:off x="4332122" y="2536728"/>
            <a:ext cx="3527450" cy="2296607"/>
          </a:xfrm>
          <a:prstGeom prst="roundRect">
            <a:avLst>
              <a:gd name="adj" fmla="val 3583"/>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1" name="Shape 8"/>
          <p:cNvSpPr/>
          <p:nvPr/>
        </p:nvSpPr>
        <p:spPr>
          <a:xfrm>
            <a:off x="4569866" y="2756184"/>
            <a:ext cx="365760" cy="365760"/>
          </a:xfrm>
          <a:prstGeom prst="ellipse">
            <a:avLst/>
          </a:prstGeom>
          <a:solidFill>
            <a:srgbClr val="5B4BE8"/>
          </a:solidFill>
          <a:ln w="12700">
            <a:solidFill>
              <a:srgbClr val="5B4BE8"/>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4661306" y="2847624"/>
            <a:ext cx="182880" cy="182880"/>
          </a:xfrm>
          <a:prstGeom prst="rect">
            <a:avLst/>
          </a:prstGeom>
        </p:spPr>
      </p:pic>
      <p:sp>
        <p:nvSpPr>
          <p:cNvPr id="13" name="Text 9"/>
          <p:cNvSpPr/>
          <p:nvPr/>
        </p:nvSpPr>
        <p:spPr>
          <a:xfrm>
            <a:off x="5063642" y="2747040"/>
            <a:ext cx="2558186"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LEVER 2</a:t>
            </a:r>
            <a:endParaRPr lang="en-US" sz="850" dirty="0"/>
          </a:p>
        </p:txBody>
      </p:sp>
      <p:sp>
        <p:nvSpPr>
          <p:cNvPr id="14" name="Text 10"/>
          <p:cNvSpPr/>
          <p:nvPr/>
        </p:nvSpPr>
        <p:spPr>
          <a:xfrm>
            <a:off x="5063642" y="2966496"/>
            <a:ext cx="2558186" cy="362651"/>
          </a:xfrm>
          <a:prstGeom prst="rect">
            <a:avLst/>
          </a:prstGeom>
          <a:noFill/>
          <a:ln/>
        </p:spPr>
        <p:txBody>
          <a:bodyPr wrap="square" lIns="0" tIns="0" rIns="0" bIns="0" rtlCol="0" anchor="t"/>
          <a:lstStyle/>
          <a:p>
            <a:pPr marL="0" indent="0">
              <a:lnSpc>
                <a:spcPct val="105000"/>
              </a:lnSpc>
              <a:buNone/>
            </a:pPr>
            <a:r>
              <a:rPr lang="en-US" sz="1600" b="1" dirty="0">
                <a:solidFill>
                  <a:srgbClr val="141235"/>
                </a:solidFill>
                <a:latin typeface="Calibri" pitchFamily="34" charset="0"/>
                <a:ea typeface="Calibri" pitchFamily="34" charset="-122"/>
                <a:cs typeface="Calibri" pitchFamily="34" charset="-120"/>
              </a:rPr>
              <a:t>Model routing</a:t>
            </a:r>
            <a:endParaRPr lang="en-US" sz="1600" dirty="0"/>
          </a:p>
        </p:txBody>
      </p:sp>
      <p:sp>
        <p:nvSpPr>
          <p:cNvPr id="15" name="Text 11"/>
          <p:cNvSpPr/>
          <p:nvPr/>
        </p:nvSpPr>
        <p:spPr>
          <a:xfrm>
            <a:off x="5063642" y="3338292"/>
            <a:ext cx="2558186" cy="1312164"/>
          </a:xfrm>
          <a:prstGeom prst="rect">
            <a:avLst/>
          </a:prstGeom>
          <a:noFill/>
          <a:ln/>
        </p:spPr>
        <p:txBody>
          <a:bodyPr wrap="square" lIns="0" tIns="0" rIns="0" bIns="0" rtlCol="0" anchor="t"/>
          <a:lstStyle/>
          <a:p>
            <a:pPr marL="0" indent="0">
              <a:lnSpc>
                <a:spcPct val="113000"/>
              </a:lnSpc>
              <a:buNone/>
            </a:pPr>
            <a:r>
              <a:rPr lang="en-US" sz="1250" dirty="0">
                <a:solidFill>
                  <a:srgbClr val="6E6B8A"/>
                </a:solidFill>
                <a:latin typeface="Calibri" pitchFamily="34" charset="0"/>
                <a:ea typeface="Calibri" pitchFamily="34" charset="-122"/>
                <a:cs typeface="Calibri" pitchFamily="34" charset="-120"/>
              </a:rPr>
              <a:t>Send the easy turns to a smaller model. Most turns in a real agent are routing and formatting, not reasoning — and you were paying premium rates for all of them.</a:t>
            </a:r>
            <a:endParaRPr lang="en-US" sz="1250" dirty="0"/>
          </a:p>
        </p:txBody>
      </p:sp>
      <p:sp>
        <p:nvSpPr>
          <p:cNvPr id="16" name="Shape 12"/>
          <p:cNvSpPr/>
          <p:nvPr/>
        </p:nvSpPr>
        <p:spPr>
          <a:xfrm>
            <a:off x="8097317" y="2536728"/>
            <a:ext cx="3527450" cy="2296607"/>
          </a:xfrm>
          <a:prstGeom prst="roundRect">
            <a:avLst>
              <a:gd name="adj" fmla="val 3583"/>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7" name="Shape 13"/>
          <p:cNvSpPr/>
          <p:nvPr/>
        </p:nvSpPr>
        <p:spPr>
          <a:xfrm>
            <a:off x="8335061" y="2756184"/>
            <a:ext cx="365760" cy="365760"/>
          </a:xfrm>
          <a:prstGeom prst="ellipse">
            <a:avLst/>
          </a:prstGeom>
          <a:solidFill>
            <a:srgbClr val="5B4BE8"/>
          </a:solidFill>
          <a:ln w="12700">
            <a:solidFill>
              <a:srgbClr val="5B4BE8"/>
            </a:solidFill>
            <a:prstDash val="solid"/>
          </a:ln>
        </p:spPr>
        <p:txBody>
          <a:bodyPr/>
          <a:lstStyle/>
          <a:p>
            <a:endParaRPr lang="en-US"/>
          </a:p>
        </p:txBody>
      </p:sp>
      <p:pic>
        <p:nvPicPr>
          <p:cNvPr id="18" name="Image 2" descr="preencoded.png"/>
          <p:cNvPicPr>
            <a:picLocks noChangeAspect="1"/>
          </p:cNvPicPr>
          <p:nvPr/>
        </p:nvPicPr>
        <p:blipFill>
          <a:blip r:embed="rId5"/>
          <a:stretch>
            <a:fillRect/>
          </a:stretch>
        </p:blipFill>
        <p:spPr>
          <a:xfrm>
            <a:off x="8426501" y="2847624"/>
            <a:ext cx="182880" cy="182880"/>
          </a:xfrm>
          <a:prstGeom prst="rect">
            <a:avLst/>
          </a:prstGeom>
        </p:spPr>
      </p:pic>
      <p:sp>
        <p:nvSpPr>
          <p:cNvPr id="19" name="Text 14"/>
          <p:cNvSpPr/>
          <p:nvPr/>
        </p:nvSpPr>
        <p:spPr>
          <a:xfrm>
            <a:off x="8828837" y="2747040"/>
            <a:ext cx="2558186"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LEVER 3</a:t>
            </a:r>
            <a:endParaRPr lang="en-US" sz="850" dirty="0"/>
          </a:p>
        </p:txBody>
      </p:sp>
      <p:sp>
        <p:nvSpPr>
          <p:cNvPr id="20" name="Text 15"/>
          <p:cNvSpPr/>
          <p:nvPr/>
        </p:nvSpPr>
        <p:spPr>
          <a:xfrm>
            <a:off x="8828837" y="2966496"/>
            <a:ext cx="2558186" cy="362651"/>
          </a:xfrm>
          <a:prstGeom prst="rect">
            <a:avLst/>
          </a:prstGeom>
          <a:noFill/>
          <a:ln/>
        </p:spPr>
        <p:txBody>
          <a:bodyPr wrap="square" lIns="0" tIns="0" rIns="0" bIns="0" rtlCol="0" anchor="t"/>
          <a:lstStyle/>
          <a:p>
            <a:pPr marL="0" indent="0">
              <a:lnSpc>
                <a:spcPct val="105000"/>
              </a:lnSpc>
              <a:buNone/>
            </a:pPr>
            <a:r>
              <a:rPr lang="en-US" sz="1600" b="1" dirty="0">
                <a:solidFill>
                  <a:srgbClr val="141235"/>
                </a:solidFill>
                <a:latin typeface="Calibri" pitchFamily="34" charset="0"/>
                <a:ea typeface="Calibri" pitchFamily="34" charset="-122"/>
                <a:cs typeface="Calibri" pitchFamily="34" charset="-120"/>
              </a:rPr>
              <a:t>Per-task budget caps</a:t>
            </a:r>
            <a:endParaRPr lang="en-US" sz="1600" dirty="0"/>
          </a:p>
        </p:txBody>
      </p:sp>
      <p:sp>
        <p:nvSpPr>
          <p:cNvPr id="21" name="Text 16"/>
          <p:cNvSpPr/>
          <p:nvPr/>
        </p:nvSpPr>
        <p:spPr>
          <a:xfrm>
            <a:off x="8828837" y="3338292"/>
            <a:ext cx="2558186" cy="1312164"/>
          </a:xfrm>
          <a:prstGeom prst="rect">
            <a:avLst/>
          </a:prstGeom>
          <a:noFill/>
          <a:ln/>
        </p:spPr>
        <p:txBody>
          <a:bodyPr wrap="square" lIns="0" tIns="0" rIns="0" bIns="0" rtlCol="0" anchor="t"/>
          <a:lstStyle/>
          <a:p>
            <a:pPr marL="0" indent="0">
              <a:lnSpc>
                <a:spcPct val="113000"/>
              </a:lnSpc>
              <a:buNone/>
            </a:pPr>
            <a:r>
              <a:rPr lang="en-US" sz="1250" dirty="0">
                <a:solidFill>
                  <a:srgbClr val="6E6B8A"/>
                </a:solidFill>
                <a:latin typeface="Calibri" pitchFamily="34" charset="0"/>
                <a:ea typeface="Calibri" pitchFamily="34" charset="-122"/>
                <a:cs typeface="Calibri" pitchFamily="34" charset="-120"/>
              </a:rPr>
              <a:t>A limit inside the loop itself, enforced in code. Not a monthly invoice you read three weeks after the runaway loop.</a:t>
            </a:r>
            <a:endParaRPr lang="en-US" sz="1250" dirty="0"/>
          </a:p>
        </p:txBody>
      </p:sp>
      <p:sp>
        <p:nvSpPr>
          <p:cNvPr id="22" name="Shape 17"/>
          <p:cNvSpPr/>
          <p:nvPr/>
        </p:nvSpPr>
        <p:spPr>
          <a:xfrm>
            <a:off x="566928" y="5541264"/>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23" name="Shape 18"/>
          <p:cNvSpPr/>
          <p:nvPr/>
        </p:nvSpPr>
        <p:spPr>
          <a:xfrm>
            <a:off x="841248" y="5760720"/>
            <a:ext cx="384048" cy="384048"/>
          </a:xfrm>
          <a:prstGeom prst="ellipse">
            <a:avLst/>
          </a:prstGeom>
          <a:solidFill>
            <a:srgbClr val="F5A524"/>
          </a:solidFill>
          <a:ln w="12700">
            <a:solidFill>
              <a:srgbClr val="F5A524"/>
            </a:solidFill>
            <a:prstDash val="solid"/>
          </a:ln>
        </p:spPr>
        <p:txBody>
          <a:bodyPr/>
          <a:lstStyle/>
          <a:p>
            <a:endParaRPr lang="en-US"/>
          </a:p>
        </p:txBody>
      </p:sp>
      <p:pic>
        <p:nvPicPr>
          <p:cNvPr id="24" name="Image 3" descr="preencoded.png"/>
          <p:cNvPicPr>
            <a:picLocks noChangeAspect="1"/>
          </p:cNvPicPr>
          <p:nvPr/>
        </p:nvPicPr>
        <p:blipFill>
          <a:blip r:embed="rId6"/>
          <a:stretch>
            <a:fillRect/>
          </a:stretch>
        </p:blipFill>
        <p:spPr>
          <a:xfrm>
            <a:off x="937260" y="5856732"/>
            <a:ext cx="192024" cy="192024"/>
          </a:xfrm>
          <a:prstGeom prst="rect">
            <a:avLst/>
          </a:prstGeom>
        </p:spPr>
      </p:pic>
      <p:sp>
        <p:nvSpPr>
          <p:cNvPr id="25" name="Text 19"/>
          <p:cNvSpPr/>
          <p:nvPr/>
        </p:nvSpPr>
        <p:spPr>
          <a:xfrm>
            <a:off x="1371600" y="5596128"/>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Stop re-sending what has not changed, stop using the expensive model for easy steps, and set a hard limit inside the loop rather than on the invoice.</a:t>
            </a:r>
            <a:endParaRPr lang="en-US" sz="105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0B0A22"/>
        </a:solidFill>
        <a:effectLst/>
      </p:bgPr>
    </p:bg>
    <p:spTree>
      <p:nvGrpSpPr>
        <p:cNvPr id="1" name=""/>
        <p:cNvGrpSpPr/>
        <p:nvPr/>
      </p:nvGrpSpPr>
      <p:grpSpPr>
        <a:xfrm>
          <a:off x="0" y="0"/>
          <a:ext cx="0" cy="0"/>
          <a:chOff x="0" y="0"/>
          <a:chExt cx="0" cy="0"/>
        </a:xfrm>
      </p:grpSpPr>
      <p:pic>
        <p:nvPicPr>
          <p:cNvPr id="2" name="Image 0" descr="/home/claude/work/bg_dark.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6126480" y="1234440"/>
            <a:ext cx="5486400" cy="2743200"/>
          </a:xfrm>
          <a:prstGeom prst="rect">
            <a:avLst/>
          </a:prstGeom>
          <a:noFill/>
          <a:ln/>
        </p:spPr>
        <p:txBody>
          <a:bodyPr wrap="square" lIns="0" tIns="0" rIns="0" bIns="0" rtlCol="0" anchor="ctr"/>
          <a:lstStyle/>
          <a:p>
            <a:pPr marL="0" indent="0" algn="r">
              <a:buNone/>
            </a:pPr>
            <a:r>
              <a:rPr lang="en-US" sz="17600" b="1" dirty="0">
                <a:solidFill>
                  <a:srgbClr val="5B4BE8">
                    <a:alpha val="30000"/>
                  </a:srgbClr>
                </a:solidFill>
                <a:latin typeface="Cambria" pitchFamily="34" charset="0"/>
                <a:ea typeface="Cambria" pitchFamily="34" charset="-122"/>
                <a:cs typeface="Cambria" pitchFamily="34" charset="-120"/>
              </a:rPr>
              <a:t>16</a:t>
            </a:r>
            <a:endParaRPr lang="en-US" sz="17600" dirty="0"/>
          </a:p>
        </p:txBody>
      </p:sp>
      <p:sp>
        <p:nvSpPr>
          <p:cNvPr id="4" name="Shape 1"/>
          <p:cNvSpPr/>
          <p:nvPr/>
        </p:nvSpPr>
        <p:spPr>
          <a:xfrm>
            <a:off x="566928" y="2084832"/>
            <a:ext cx="566928" cy="566928"/>
          </a:xfrm>
          <a:prstGeom prst="ellipse">
            <a:avLst/>
          </a:prstGeom>
          <a:solidFill>
            <a:srgbClr val="F5A524"/>
          </a:solidFill>
          <a:ln w="12700">
            <a:solidFill>
              <a:srgbClr val="F5A524"/>
            </a:solidFill>
            <a:prstDash val="solid"/>
          </a:ln>
        </p:spPr>
        <p:txBody>
          <a:bodyPr/>
          <a:lstStyle/>
          <a:p>
            <a:endParaRPr lang="en-US"/>
          </a:p>
        </p:txBody>
      </p:sp>
      <p:pic>
        <p:nvPicPr>
          <p:cNvPr id="5" name="Image 1" descr="preencoded.png"/>
          <p:cNvPicPr>
            <a:picLocks noChangeAspect="1"/>
          </p:cNvPicPr>
          <p:nvPr/>
        </p:nvPicPr>
        <p:blipFill>
          <a:blip r:embed="rId4"/>
          <a:stretch>
            <a:fillRect/>
          </a:stretch>
        </p:blipFill>
        <p:spPr>
          <a:xfrm>
            <a:off x="708660" y="2226564"/>
            <a:ext cx="283464" cy="283464"/>
          </a:xfrm>
          <a:prstGeom prst="rect">
            <a:avLst/>
          </a:prstGeom>
        </p:spPr>
      </p:pic>
      <p:sp>
        <p:nvSpPr>
          <p:cNvPr id="6" name="Text 2"/>
          <p:cNvSpPr/>
          <p:nvPr/>
        </p:nvSpPr>
        <p:spPr>
          <a:xfrm>
            <a:off x="566928" y="2852928"/>
            <a:ext cx="7315200" cy="256032"/>
          </a:xfrm>
          <a:prstGeom prst="rect">
            <a:avLst/>
          </a:prstGeom>
          <a:noFill/>
          <a:ln/>
        </p:spPr>
        <p:txBody>
          <a:bodyPr wrap="square" lIns="0" tIns="0" rIns="0" bIns="0" rtlCol="0" anchor="ctr"/>
          <a:lstStyle/>
          <a:p>
            <a:pPr marL="0" indent="0">
              <a:buNone/>
            </a:pPr>
            <a:r>
              <a:rPr lang="en-US" sz="1100" b="1" kern="0" spc="240" dirty="0">
                <a:solidFill>
                  <a:srgbClr val="F5A524"/>
                </a:solidFill>
                <a:latin typeface="Calibri" pitchFamily="34" charset="0"/>
                <a:ea typeface="Calibri" pitchFamily="34" charset="-122"/>
                <a:cs typeface="Calibri" pitchFamily="34" charset="-120"/>
              </a:rPr>
              <a:t>MODULE 16</a:t>
            </a:r>
            <a:endParaRPr lang="en-US" sz="1100" dirty="0"/>
          </a:p>
        </p:txBody>
      </p:sp>
      <p:sp>
        <p:nvSpPr>
          <p:cNvPr id="7" name="Text 3"/>
          <p:cNvSpPr/>
          <p:nvPr/>
        </p:nvSpPr>
        <p:spPr>
          <a:xfrm>
            <a:off x="566928" y="3145536"/>
            <a:ext cx="8595360" cy="914400"/>
          </a:xfrm>
          <a:prstGeom prst="rect">
            <a:avLst/>
          </a:prstGeom>
          <a:noFill/>
          <a:ln/>
        </p:spPr>
        <p:txBody>
          <a:bodyPr wrap="square" lIns="0" tIns="0" rIns="0" bIns="0" rtlCol="0" anchor="t"/>
          <a:lstStyle/>
          <a:p>
            <a:pPr marL="0" indent="0">
              <a:buNone/>
            </a:pPr>
            <a:r>
              <a:rPr lang="en-US" sz="4600" b="1" dirty="0">
                <a:solidFill>
                  <a:srgbClr val="FFFFFF"/>
                </a:solidFill>
                <a:latin typeface="Cambria" pitchFamily="34" charset="0"/>
                <a:ea typeface="Cambria" pitchFamily="34" charset="-122"/>
                <a:cs typeface="Cambria" pitchFamily="34" charset="-120"/>
              </a:rPr>
              <a:t>The platform landscape</a:t>
            </a:r>
            <a:endParaRPr lang="en-US" sz="4600" dirty="0"/>
          </a:p>
        </p:txBody>
      </p:sp>
      <p:sp>
        <p:nvSpPr>
          <p:cNvPr id="8" name="Text 4"/>
          <p:cNvSpPr/>
          <p:nvPr/>
        </p:nvSpPr>
        <p:spPr>
          <a:xfrm>
            <a:off x="566928" y="4169664"/>
            <a:ext cx="7863840" cy="731520"/>
          </a:xfrm>
          <a:prstGeom prst="rect">
            <a:avLst/>
          </a:prstGeom>
          <a:noFill/>
          <a:ln/>
        </p:spPr>
        <p:txBody>
          <a:bodyPr wrap="square" lIns="0" tIns="0" rIns="0" bIns="0" rtlCol="0" anchor="t"/>
          <a:lstStyle/>
          <a:p>
            <a:pPr marL="0" indent="0">
              <a:lnSpc>
                <a:spcPct val="120000"/>
              </a:lnSpc>
              <a:buNone/>
            </a:pPr>
            <a:r>
              <a:rPr lang="en-US" sz="1600" dirty="0">
                <a:solidFill>
                  <a:srgbClr val="B9B4E0"/>
                </a:solidFill>
                <a:latin typeface="Calibri" pitchFamily="34" charset="0"/>
                <a:ea typeface="Calibri" pitchFamily="34" charset="-122"/>
                <a:cs typeface="Calibri" pitchFamily="34" charset="-120"/>
              </a:rPr>
              <a:t>Who sells each layer, what is an open standard, and what you would build yourself.</a:t>
            </a:r>
            <a:endParaRPr lang="en-US" sz="16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16 · PLATFORM LANDSCAPE</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3000" b="1" dirty="0">
                <a:solidFill>
                  <a:srgbClr val="141235"/>
                </a:solidFill>
                <a:latin typeface="Cambria" pitchFamily="34" charset="0"/>
                <a:ea typeface="Cambria" pitchFamily="34" charset="-122"/>
                <a:cs typeface="Cambria" pitchFamily="34" charset="-120"/>
              </a:rPr>
              <a:t>Six layers, one question each: what applies to me?</a:t>
            </a:r>
            <a:endParaRPr lang="en-US" sz="3000" dirty="0"/>
          </a:p>
        </p:txBody>
      </p:sp>
      <p:sp>
        <p:nvSpPr>
          <p:cNvPr id="4" name="Text 2"/>
          <p:cNvSpPr/>
          <p:nvPr/>
        </p:nvSpPr>
        <p:spPr>
          <a:xfrm>
            <a:off x="768096" y="1828800"/>
            <a:ext cx="1737360" cy="256032"/>
          </a:xfrm>
          <a:prstGeom prst="rect">
            <a:avLst/>
          </a:prstGeom>
          <a:noFill/>
          <a:ln/>
        </p:spPr>
        <p:txBody>
          <a:bodyPr wrap="square" lIns="0" tIns="0" rIns="0" bIns="0" rtlCol="0" anchor="ctr"/>
          <a:lstStyle/>
          <a:p>
            <a:pPr marL="0" indent="0">
              <a:buNone/>
            </a:pPr>
            <a:r>
              <a:rPr lang="en-US" sz="950" b="1" kern="0" spc="160" dirty="0">
                <a:solidFill>
                  <a:srgbClr val="9B98B4"/>
                </a:solidFill>
                <a:latin typeface="Calibri" pitchFamily="34" charset="0"/>
                <a:ea typeface="Calibri" pitchFamily="34" charset="-122"/>
                <a:cs typeface="Calibri" pitchFamily="34" charset="-120"/>
              </a:rPr>
              <a:t>LAYER</a:t>
            </a:r>
            <a:endParaRPr lang="en-US" sz="950" dirty="0"/>
          </a:p>
        </p:txBody>
      </p:sp>
      <p:sp>
        <p:nvSpPr>
          <p:cNvPr id="5" name="Text 3"/>
          <p:cNvSpPr/>
          <p:nvPr/>
        </p:nvSpPr>
        <p:spPr>
          <a:xfrm>
            <a:off x="2779776" y="1828800"/>
            <a:ext cx="2651760" cy="256032"/>
          </a:xfrm>
          <a:prstGeom prst="rect">
            <a:avLst/>
          </a:prstGeom>
          <a:noFill/>
          <a:ln/>
        </p:spPr>
        <p:txBody>
          <a:bodyPr wrap="square" lIns="0" tIns="0" rIns="0" bIns="0" rtlCol="0" anchor="ctr"/>
          <a:lstStyle/>
          <a:p>
            <a:pPr marL="0" indent="0">
              <a:buNone/>
            </a:pPr>
            <a:r>
              <a:rPr lang="en-US" sz="950" b="1" kern="0" spc="160" dirty="0">
                <a:solidFill>
                  <a:srgbClr val="9B98B4"/>
                </a:solidFill>
                <a:latin typeface="Calibri" pitchFamily="34" charset="0"/>
                <a:ea typeface="Calibri" pitchFamily="34" charset="-122"/>
                <a:cs typeface="Calibri" pitchFamily="34" charset="-120"/>
              </a:rPr>
              <a:t>PROBLEM IT SOLVES</a:t>
            </a:r>
            <a:endParaRPr lang="en-US" sz="950" dirty="0"/>
          </a:p>
        </p:txBody>
      </p:sp>
      <p:sp>
        <p:nvSpPr>
          <p:cNvPr id="6" name="Text 4"/>
          <p:cNvSpPr/>
          <p:nvPr/>
        </p:nvSpPr>
        <p:spPr>
          <a:xfrm>
            <a:off x="5705856" y="1828800"/>
            <a:ext cx="2743200" cy="256032"/>
          </a:xfrm>
          <a:prstGeom prst="rect">
            <a:avLst/>
          </a:prstGeom>
          <a:noFill/>
          <a:ln/>
        </p:spPr>
        <p:txBody>
          <a:bodyPr wrap="square" lIns="0" tIns="0" rIns="0" bIns="0" rtlCol="0" anchor="ctr"/>
          <a:lstStyle/>
          <a:p>
            <a:pPr marL="0" indent="0">
              <a:buNone/>
            </a:pPr>
            <a:r>
              <a:rPr lang="en-US" sz="950" b="1" kern="0" spc="160" dirty="0">
                <a:solidFill>
                  <a:srgbClr val="9B98B4"/>
                </a:solidFill>
                <a:latin typeface="Calibri" pitchFamily="34" charset="0"/>
                <a:ea typeface="Calibri" pitchFamily="34" charset="-122"/>
                <a:cs typeface="Calibri" pitchFamily="34" charset="-120"/>
              </a:rPr>
              <a:t>THE OPEN PATTERN</a:t>
            </a:r>
            <a:endParaRPr lang="en-US" sz="950" dirty="0"/>
          </a:p>
        </p:txBody>
      </p:sp>
      <p:sp>
        <p:nvSpPr>
          <p:cNvPr id="7" name="Text 5"/>
          <p:cNvSpPr/>
          <p:nvPr/>
        </p:nvSpPr>
        <p:spPr>
          <a:xfrm>
            <a:off x="8723376" y="1828800"/>
            <a:ext cx="2828239" cy="256032"/>
          </a:xfrm>
          <a:prstGeom prst="rect">
            <a:avLst/>
          </a:prstGeom>
          <a:noFill/>
          <a:ln/>
        </p:spPr>
        <p:txBody>
          <a:bodyPr wrap="square" lIns="0" tIns="0" rIns="0" bIns="0" rtlCol="0" anchor="ctr"/>
          <a:lstStyle/>
          <a:p>
            <a:pPr marL="0" indent="0">
              <a:buNone/>
            </a:pPr>
            <a:r>
              <a:rPr lang="en-US" sz="950" b="1" kern="0" spc="160" dirty="0">
                <a:solidFill>
                  <a:srgbClr val="9B98B4"/>
                </a:solidFill>
                <a:latin typeface="Calibri" pitchFamily="34" charset="0"/>
                <a:ea typeface="Calibri" pitchFamily="34" charset="-122"/>
                <a:cs typeface="Calibri" pitchFamily="34" charset="-120"/>
              </a:rPr>
              <a:t>WHAT A CLOUD SELLS YOU</a:t>
            </a:r>
            <a:endParaRPr lang="en-US" sz="950" dirty="0"/>
          </a:p>
        </p:txBody>
      </p:sp>
      <p:sp>
        <p:nvSpPr>
          <p:cNvPr id="8" name="Shape 6"/>
          <p:cNvSpPr/>
          <p:nvPr/>
        </p:nvSpPr>
        <p:spPr>
          <a:xfrm>
            <a:off x="566928" y="2157984"/>
            <a:ext cx="11057839" cy="530352"/>
          </a:xfrm>
          <a:prstGeom prst="roundRect">
            <a:avLst>
              <a:gd name="adj" fmla="val 10345"/>
            </a:avLst>
          </a:prstGeom>
          <a:solidFill>
            <a:srgbClr val="FFFFFF"/>
          </a:solidFill>
          <a:ln w="12700">
            <a:solidFill>
              <a:srgbClr val="E3E4F2"/>
            </a:solidFill>
            <a:prstDash val="solid"/>
          </a:ln>
        </p:spPr>
        <p:txBody>
          <a:bodyPr/>
          <a:lstStyle/>
          <a:p>
            <a:endParaRPr lang="en-US"/>
          </a:p>
        </p:txBody>
      </p:sp>
      <p:sp>
        <p:nvSpPr>
          <p:cNvPr id="9" name="Text 7"/>
          <p:cNvSpPr/>
          <p:nvPr/>
        </p:nvSpPr>
        <p:spPr>
          <a:xfrm>
            <a:off x="768096" y="2157984"/>
            <a:ext cx="1737360" cy="530352"/>
          </a:xfrm>
          <a:prstGeom prst="rect">
            <a:avLst/>
          </a:prstGeom>
          <a:noFill/>
          <a:ln/>
        </p:spPr>
        <p:txBody>
          <a:bodyPr wrap="square" lIns="0" tIns="0" rIns="0" bIns="0" rtlCol="0" anchor="ctr"/>
          <a:lstStyle/>
          <a:p>
            <a:pPr marL="0" indent="0">
              <a:buNone/>
            </a:pPr>
            <a:r>
              <a:rPr lang="en-US" sz="1250" b="1" dirty="0">
                <a:solidFill>
                  <a:srgbClr val="141235"/>
                </a:solidFill>
                <a:latin typeface="Calibri" pitchFamily="34" charset="0"/>
                <a:ea typeface="Calibri" pitchFamily="34" charset="-122"/>
                <a:cs typeface="Calibri" pitchFamily="34" charset="-120"/>
              </a:rPr>
              <a:t>Model</a:t>
            </a:r>
            <a:endParaRPr lang="en-US" sz="1250" dirty="0"/>
          </a:p>
        </p:txBody>
      </p:sp>
      <p:sp>
        <p:nvSpPr>
          <p:cNvPr id="10" name="Text 8"/>
          <p:cNvSpPr/>
          <p:nvPr/>
        </p:nvSpPr>
        <p:spPr>
          <a:xfrm>
            <a:off x="2779776" y="2157984"/>
            <a:ext cx="2651760" cy="530352"/>
          </a:xfrm>
          <a:prstGeom prst="rect">
            <a:avLst/>
          </a:prstGeom>
          <a:noFill/>
          <a:ln/>
        </p:spPr>
        <p:txBody>
          <a:bodyPr wrap="square" lIns="0" tIns="0" rIns="0" bIns="0" rtlCol="0" anchor="ctr"/>
          <a:lstStyle/>
          <a:p>
            <a:pPr marL="0" indent="0">
              <a:buNone/>
            </a:pPr>
            <a:r>
              <a:rPr lang="en-US" sz="1150" dirty="0">
                <a:solidFill>
                  <a:srgbClr val="6E6B8A"/>
                </a:solidFill>
                <a:latin typeface="Calibri" pitchFamily="34" charset="0"/>
                <a:ea typeface="Calibri" pitchFamily="34" charset="-122"/>
                <a:cs typeface="Calibri" pitchFamily="34" charset="-120"/>
              </a:rPr>
              <a:t>Reasoning and tool selection</a:t>
            </a:r>
            <a:endParaRPr lang="en-US" sz="1150" dirty="0"/>
          </a:p>
        </p:txBody>
      </p:sp>
      <p:sp>
        <p:nvSpPr>
          <p:cNvPr id="11" name="Text 9"/>
          <p:cNvSpPr/>
          <p:nvPr/>
        </p:nvSpPr>
        <p:spPr>
          <a:xfrm>
            <a:off x="5705856" y="2157984"/>
            <a:ext cx="2743200" cy="530352"/>
          </a:xfrm>
          <a:prstGeom prst="rect">
            <a:avLst/>
          </a:prstGeom>
          <a:noFill/>
          <a:ln/>
        </p:spPr>
        <p:txBody>
          <a:bodyPr wrap="square" lIns="0" tIns="0" rIns="0" bIns="0" rtlCol="0" anchor="ctr"/>
          <a:lstStyle/>
          <a:p>
            <a:pPr marL="0" indent="0">
              <a:buNone/>
            </a:pPr>
            <a:r>
              <a:rPr lang="en-US" sz="1150" dirty="0">
                <a:solidFill>
                  <a:srgbClr val="6E6B8A"/>
                </a:solidFill>
                <a:latin typeface="Calibri" pitchFamily="34" charset="0"/>
                <a:ea typeface="Calibri" pitchFamily="34" charset="-122"/>
                <a:cs typeface="Calibri" pitchFamily="34" charset="-120"/>
              </a:rPr>
              <a:t>Any compatible endpoint</a:t>
            </a:r>
            <a:endParaRPr lang="en-US" sz="1150" dirty="0"/>
          </a:p>
        </p:txBody>
      </p:sp>
      <p:sp>
        <p:nvSpPr>
          <p:cNvPr id="12" name="Text 10"/>
          <p:cNvSpPr/>
          <p:nvPr/>
        </p:nvSpPr>
        <p:spPr>
          <a:xfrm>
            <a:off x="8723376" y="2157984"/>
            <a:ext cx="2828239" cy="530352"/>
          </a:xfrm>
          <a:prstGeom prst="rect">
            <a:avLst/>
          </a:prstGeom>
          <a:noFill/>
          <a:ln/>
        </p:spPr>
        <p:txBody>
          <a:bodyPr wrap="square" lIns="0" tIns="0" rIns="0" bIns="0" rtlCol="0" anchor="ctr"/>
          <a:lstStyle/>
          <a:p>
            <a:pPr marL="0" indent="0">
              <a:buNone/>
            </a:pPr>
            <a:r>
              <a:rPr lang="en-US" sz="1150" dirty="0">
                <a:solidFill>
                  <a:srgbClr val="6E6B8A"/>
                </a:solidFill>
                <a:latin typeface="Calibri" pitchFamily="34" charset="0"/>
                <a:ea typeface="Calibri" pitchFamily="34" charset="-122"/>
                <a:cs typeface="Calibri" pitchFamily="34" charset="-120"/>
              </a:rPr>
              <a:t>A managed model catalogue</a:t>
            </a:r>
            <a:endParaRPr lang="en-US" sz="1150" dirty="0"/>
          </a:p>
        </p:txBody>
      </p:sp>
      <p:sp>
        <p:nvSpPr>
          <p:cNvPr id="13" name="Shape 11"/>
          <p:cNvSpPr/>
          <p:nvPr/>
        </p:nvSpPr>
        <p:spPr>
          <a:xfrm>
            <a:off x="566928" y="2761488"/>
            <a:ext cx="11057839" cy="530352"/>
          </a:xfrm>
          <a:prstGeom prst="roundRect">
            <a:avLst>
              <a:gd name="adj" fmla="val 10345"/>
            </a:avLst>
          </a:prstGeom>
          <a:solidFill>
            <a:srgbClr val="EEEDFE"/>
          </a:solidFill>
          <a:ln w="12700">
            <a:solidFill>
              <a:srgbClr val="8E82F5"/>
            </a:solidFill>
            <a:prstDash val="solid"/>
          </a:ln>
        </p:spPr>
        <p:txBody>
          <a:bodyPr/>
          <a:lstStyle/>
          <a:p>
            <a:endParaRPr lang="en-US"/>
          </a:p>
        </p:txBody>
      </p:sp>
      <p:sp>
        <p:nvSpPr>
          <p:cNvPr id="14" name="Text 12"/>
          <p:cNvSpPr/>
          <p:nvPr/>
        </p:nvSpPr>
        <p:spPr>
          <a:xfrm>
            <a:off x="768096" y="2761488"/>
            <a:ext cx="1737360" cy="530352"/>
          </a:xfrm>
          <a:prstGeom prst="rect">
            <a:avLst/>
          </a:prstGeom>
          <a:noFill/>
          <a:ln/>
        </p:spPr>
        <p:txBody>
          <a:bodyPr wrap="square" lIns="0" tIns="0" rIns="0" bIns="0" rtlCol="0" anchor="ctr"/>
          <a:lstStyle/>
          <a:p>
            <a:pPr marL="0" indent="0">
              <a:buNone/>
            </a:pPr>
            <a:r>
              <a:rPr lang="en-US" sz="1250" b="1" dirty="0">
                <a:solidFill>
                  <a:srgbClr val="141235"/>
                </a:solidFill>
                <a:latin typeface="Calibri" pitchFamily="34" charset="0"/>
                <a:ea typeface="Calibri" pitchFamily="34" charset="-122"/>
                <a:cs typeface="Calibri" pitchFamily="34" charset="-120"/>
              </a:rPr>
              <a:t>Tools</a:t>
            </a:r>
            <a:endParaRPr lang="en-US" sz="1250" dirty="0"/>
          </a:p>
        </p:txBody>
      </p:sp>
      <p:sp>
        <p:nvSpPr>
          <p:cNvPr id="15" name="Text 13"/>
          <p:cNvSpPr/>
          <p:nvPr/>
        </p:nvSpPr>
        <p:spPr>
          <a:xfrm>
            <a:off x="2779776" y="2761488"/>
            <a:ext cx="2651760" cy="530352"/>
          </a:xfrm>
          <a:prstGeom prst="rect">
            <a:avLst/>
          </a:prstGeom>
          <a:noFill/>
          <a:ln/>
        </p:spPr>
        <p:txBody>
          <a:bodyPr wrap="square" lIns="0" tIns="0" rIns="0" bIns="0" rtlCol="0" anchor="ctr"/>
          <a:lstStyle/>
          <a:p>
            <a:pPr marL="0" indent="0">
              <a:buNone/>
            </a:pPr>
            <a:r>
              <a:rPr lang="en-US" sz="1150" dirty="0">
                <a:solidFill>
                  <a:srgbClr val="6E6B8A"/>
                </a:solidFill>
                <a:latin typeface="Calibri" pitchFamily="34" charset="0"/>
                <a:ea typeface="Calibri" pitchFamily="34" charset="-122"/>
                <a:cs typeface="Calibri" pitchFamily="34" charset="-120"/>
              </a:rPr>
              <a:t>Giving the model hands, portably</a:t>
            </a:r>
            <a:endParaRPr lang="en-US" sz="1150" dirty="0"/>
          </a:p>
        </p:txBody>
      </p:sp>
      <p:sp>
        <p:nvSpPr>
          <p:cNvPr id="16" name="Text 14"/>
          <p:cNvSpPr/>
          <p:nvPr/>
        </p:nvSpPr>
        <p:spPr>
          <a:xfrm>
            <a:off x="5705856" y="2761488"/>
            <a:ext cx="2743200" cy="530352"/>
          </a:xfrm>
          <a:prstGeom prst="rect">
            <a:avLst/>
          </a:prstGeom>
          <a:noFill/>
          <a:ln/>
        </p:spPr>
        <p:txBody>
          <a:bodyPr wrap="square" lIns="0" tIns="0" rIns="0" bIns="0" rtlCol="0" anchor="ctr"/>
          <a:lstStyle/>
          <a:p>
            <a:pPr marL="0" indent="0">
              <a:buNone/>
            </a:pPr>
            <a:r>
              <a:rPr lang="en-US" sz="1150" b="1" dirty="0">
                <a:solidFill>
                  <a:srgbClr val="3B2EB8"/>
                </a:solidFill>
                <a:latin typeface="Calibri" pitchFamily="34" charset="0"/>
                <a:ea typeface="Calibri" pitchFamily="34" charset="-122"/>
                <a:cs typeface="Calibri" pitchFamily="34" charset="-120"/>
              </a:rPr>
              <a:t>MCP — an open standard</a:t>
            </a:r>
            <a:endParaRPr lang="en-US" sz="1150" dirty="0"/>
          </a:p>
        </p:txBody>
      </p:sp>
      <p:sp>
        <p:nvSpPr>
          <p:cNvPr id="17" name="Text 15"/>
          <p:cNvSpPr/>
          <p:nvPr/>
        </p:nvSpPr>
        <p:spPr>
          <a:xfrm>
            <a:off x="8723376" y="2761488"/>
            <a:ext cx="2828239" cy="530352"/>
          </a:xfrm>
          <a:prstGeom prst="rect">
            <a:avLst/>
          </a:prstGeom>
          <a:noFill/>
          <a:ln/>
        </p:spPr>
        <p:txBody>
          <a:bodyPr wrap="square" lIns="0" tIns="0" rIns="0" bIns="0" rtlCol="0" anchor="ctr"/>
          <a:lstStyle/>
          <a:p>
            <a:pPr marL="0" indent="0">
              <a:buNone/>
            </a:pPr>
            <a:r>
              <a:rPr lang="en-US" sz="1150" dirty="0">
                <a:solidFill>
                  <a:srgbClr val="6E6B8A"/>
                </a:solidFill>
                <a:latin typeface="Calibri" pitchFamily="34" charset="0"/>
                <a:ea typeface="Calibri" pitchFamily="34" charset="-122"/>
                <a:cs typeface="Calibri" pitchFamily="34" charset="-120"/>
              </a:rPr>
              <a:t>A governed tool catalogue</a:t>
            </a:r>
            <a:endParaRPr lang="en-US" sz="1150" dirty="0"/>
          </a:p>
        </p:txBody>
      </p:sp>
      <p:sp>
        <p:nvSpPr>
          <p:cNvPr id="18" name="Shape 16"/>
          <p:cNvSpPr/>
          <p:nvPr/>
        </p:nvSpPr>
        <p:spPr>
          <a:xfrm>
            <a:off x="566928" y="3364992"/>
            <a:ext cx="11057839" cy="530352"/>
          </a:xfrm>
          <a:prstGeom prst="roundRect">
            <a:avLst>
              <a:gd name="adj" fmla="val 10345"/>
            </a:avLst>
          </a:prstGeom>
          <a:solidFill>
            <a:srgbClr val="FFFFFF"/>
          </a:solidFill>
          <a:ln w="12700">
            <a:solidFill>
              <a:srgbClr val="E3E4F2"/>
            </a:solidFill>
            <a:prstDash val="solid"/>
          </a:ln>
        </p:spPr>
        <p:txBody>
          <a:bodyPr/>
          <a:lstStyle/>
          <a:p>
            <a:endParaRPr lang="en-US"/>
          </a:p>
        </p:txBody>
      </p:sp>
      <p:sp>
        <p:nvSpPr>
          <p:cNvPr id="19" name="Text 17"/>
          <p:cNvSpPr/>
          <p:nvPr/>
        </p:nvSpPr>
        <p:spPr>
          <a:xfrm>
            <a:off x="768096" y="3364992"/>
            <a:ext cx="1737360" cy="530352"/>
          </a:xfrm>
          <a:prstGeom prst="rect">
            <a:avLst/>
          </a:prstGeom>
          <a:noFill/>
          <a:ln/>
        </p:spPr>
        <p:txBody>
          <a:bodyPr wrap="square" lIns="0" tIns="0" rIns="0" bIns="0" rtlCol="0" anchor="ctr"/>
          <a:lstStyle/>
          <a:p>
            <a:pPr marL="0" indent="0">
              <a:buNone/>
            </a:pPr>
            <a:r>
              <a:rPr lang="en-US" sz="1250" b="1" dirty="0">
                <a:solidFill>
                  <a:srgbClr val="141235"/>
                </a:solidFill>
                <a:latin typeface="Calibri" pitchFamily="34" charset="0"/>
                <a:ea typeface="Calibri" pitchFamily="34" charset="-122"/>
                <a:cs typeface="Calibri" pitchFamily="34" charset="-120"/>
              </a:rPr>
              <a:t>Orchestration</a:t>
            </a:r>
            <a:endParaRPr lang="en-US" sz="1250" dirty="0"/>
          </a:p>
        </p:txBody>
      </p:sp>
      <p:sp>
        <p:nvSpPr>
          <p:cNvPr id="20" name="Text 18"/>
          <p:cNvSpPr/>
          <p:nvPr/>
        </p:nvSpPr>
        <p:spPr>
          <a:xfrm>
            <a:off x="2779776" y="3364992"/>
            <a:ext cx="2651760" cy="530352"/>
          </a:xfrm>
          <a:prstGeom prst="rect">
            <a:avLst/>
          </a:prstGeom>
          <a:noFill/>
          <a:ln/>
        </p:spPr>
        <p:txBody>
          <a:bodyPr wrap="square" lIns="0" tIns="0" rIns="0" bIns="0" rtlCol="0" anchor="ctr"/>
          <a:lstStyle/>
          <a:p>
            <a:pPr marL="0" indent="0">
              <a:buNone/>
            </a:pPr>
            <a:r>
              <a:rPr lang="en-US" sz="1150" dirty="0">
                <a:solidFill>
                  <a:srgbClr val="6E6B8A"/>
                </a:solidFill>
                <a:latin typeface="Calibri" pitchFamily="34" charset="0"/>
                <a:ea typeface="Calibri" pitchFamily="34" charset="-122"/>
                <a:cs typeface="Calibri" pitchFamily="34" charset="-120"/>
              </a:rPr>
              <a:t>Control flow, state, retries</a:t>
            </a:r>
            <a:endParaRPr lang="en-US" sz="1150" dirty="0"/>
          </a:p>
        </p:txBody>
      </p:sp>
      <p:sp>
        <p:nvSpPr>
          <p:cNvPr id="21" name="Text 19"/>
          <p:cNvSpPr/>
          <p:nvPr/>
        </p:nvSpPr>
        <p:spPr>
          <a:xfrm>
            <a:off x="5705856" y="3364992"/>
            <a:ext cx="2743200" cy="530352"/>
          </a:xfrm>
          <a:prstGeom prst="rect">
            <a:avLst/>
          </a:prstGeom>
          <a:noFill/>
          <a:ln/>
        </p:spPr>
        <p:txBody>
          <a:bodyPr wrap="square" lIns="0" tIns="0" rIns="0" bIns="0" rtlCol="0" anchor="ctr"/>
          <a:lstStyle/>
          <a:p>
            <a:pPr marL="0" indent="0">
              <a:buNone/>
            </a:pPr>
            <a:r>
              <a:rPr lang="en-US" sz="1150" dirty="0">
                <a:solidFill>
                  <a:srgbClr val="6E6B8A"/>
                </a:solidFill>
                <a:latin typeface="Calibri" pitchFamily="34" charset="0"/>
                <a:ea typeface="Calibri" pitchFamily="34" charset="-122"/>
                <a:cs typeface="Calibri" pitchFamily="34" charset="-120"/>
              </a:rPr>
              <a:t>Open frameworks</a:t>
            </a:r>
            <a:endParaRPr lang="en-US" sz="1150" dirty="0"/>
          </a:p>
        </p:txBody>
      </p:sp>
      <p:sp>
        <p:nvSpPr>
          <p:cNvPr id="22" name="Text 20"/>
          <p:cNvSpPr/>
          <p:nvPr/>
        </p:nvSpPr>
        <p:spPr>
          <a:xfrm>
            <a:off x="8723376" y="3364992"/>
            <a:ext cx="2828239" cy="530352"/>
          </a:xfrm>
          <a:prstGeom prst="rect">
            <a:avLst/>
          </a:prstGeom>
          <a:noFill/>
          <a:ln/>
        </p:spPr>
        <p:txBody>
          <a:bodyPr wrap="square" lIns="0" tIns="0" rIns="0" bIns="0" rtlCol="0" anchor="ctr"/>
          <a:lstStyle/>
          <a:p>
            <a:pPr marL="0" indent="0">
              <a:buNone/>
            </a:pPr>
            <a:r>
              <a:rPr lang="en-US" sz="1150" dirty="0">
                <a:solidFill>
                  <a:srgbClr val="6E6B8A"/>
                </a:solidFill>
                <a:latin typeface="Calibri" pitchFamily="34" charset="0"/>
                <a:ea typeface="Calibri" pitchFamily="34" charset="-122"/>
                <a:cs typeface="Calibri" pitchFamily="34" charset="-120"/>
              </a:rPr>
              <a:t>A managed agent runtime</a:t>
            </a:r>
            <a:endParaRPr lang="en-US" sz="1150" dirty="0"/>
          </a:p>
        </p:txBody>
      </p:sp>
      <p:sp>
        <p:nvSpPr>
          <p:cNvPr id="23" name="Shape 21"/>
          <p:cNvSpPr/>
          <p:nvPr/>
        </p:nvSpPr>
        <p:spPr>
          <a:xfrm>
            <a:off x="566928" y="3968496"/>
            <a:ext cx="11057839" cy="530352"/>
          </a:xfrm>
          <a:prstGeom prst="roundRect">
            <a:avLst>
              <a:gd name="adj" fmla="val 10345"/>
            </a:avLst>
          </a:prstGeom>
          <a:solidFill>
            <a:srgbClr val="FFFFFF"/>
          </a:solidFill>
          <a:ln w="12700">
            <a:solidFill>
              <a:srgbClr val="E3E4F2"/>
            </a:solidFill>
            <a:prstDash val="solid"/>
          </a:ln>
        </p:spPr>
        <p:txBody>
          <a:bodyPr/>
          <a:lstStyle/>
          <a:p>
            <a:endParaRPr lang="en-US"/>
          </a:p>
        </p:txBody>
      </p:sp>
      <p:sp>
        <p:nvSpPr>
          <p:cNvPr id="24" name="Text 22"/>
          <p:cNvSpPr/>
          <p:nvPr/>
        </p:nvSpPr>
        <p:spPr>
          <a:xfrm>
            <a:off x="768096" y="3968496"/>
            <a:ext cx="1737360" cy="530352"/>
          </a:xfrm>
          <a:prstGeom prst="rect">
            <a:avLst/>
          </a:prstGeom>
          <a:noFill/>
          <a:ln/>
        </p:spPr>
        <p:txBody>
          <a:bodyPr wrap="square" lIns="0" tIns="0" rIns="0" bIns="0" rtlCol="0" anchor="ctr"/>
          <a:lstStyle/>
          <a:p>
            <a:pPr marL="0" indent="0">
              <a:buNone/>
            </a:pPr>
            <a:r>
              <a:rPr lang="en-US" sz="1250" b="1" dirty="0">
                <a:solidFill>
                  <a:srgbClr val="141235"/>
                </a:solidFill>
                <a:latin typeface="Calibri" pitchFamily="34" charset="0"/>
                <a:ea typeface="Calibri" pitchFamily="34" charset="-122"/>
                <a:cs typeface="Calibri" pitchFamily="34" charset="-120"/>
              </a:rPr>
              <a:t>Context</a:t>
            </a:r>
            <a:endParaRPr lang="en-US" sz="1250" dirty="0"/>
          </a:p>
        </p:txBody>
      </p:sp>
      <p:sp>
        <p:nvSpPr>
          <p:cNvPr id="25" name="Text 23"/>
          <p:cNvSpPr/>
          <p:nvPr/>
        </p:nvSpPr>
        <p:spPr>
          <a:xfrm>
            <a:off x="2779776" y="3968496"/>
            <a:ext cx="2651760" cy="530352"/>
          </a:xfrm>
          <a:prstGeom prst="rect">
            <a:avLst/>
          </a:prstGeom>
          <a:noFill/>
          <a:ln/>
        </p:spPr>
        <p:txBody>
          <a:bodyPr wrap="square" lIns="0" tIns="0" rIns="0" bIns="0" rtlCol="0" anchor="ctr"/>
          <a:lstStyle/>
          <a:p>
            <a:pPr marL="0" indent="0">
              <a:buNone/>
            </a:pPr>
            <a:r>
              <a:rPr lang="en-US" sz="1150" dirty="0">
                <a:solidFill>
                  <a:srgbClr val="6E6B8A"/>
                </a:solidFill>
                <a:latin typeface="Calibri" pitchFamily="34" charset="0"/>
                <a:ea typeface="Calibri" pitchFamily="34" charset="-122"/>
                <a:cs typeface="Calibri" pitchFamily="34" charset="-120"/>
              </a:rPr>
              <a:t>Memory and grounding</a:t>
            </a:r>
            <a:endParaRPr lang="en-US" sz="1150" dirty="0"/>
          </a:p>
        </p:txBody>
      </p:sp>
      <p:sp>
        <p:nvSpPr>
          <p:cNvPr id="26" name="Text 24"/>
          <p:cNvSpPr/>
          <p:nvPr/>
        </p:nvSpPr>
        <p:spPr>
          <a:xfrm>
            <a:off x="5705856" y="3968496"/>
            <a:ext cx="2743200" cy="530352"/>
          </a:xfrm>
          <a:prstGeom prst="rect">
            <a:avLst/>
          </a:prstGeom>
          <a:noFill/>
          <a:ln/>
        </p:spPr>
        <p:txBody>
          <a:bodyPr wrap="square" lIns="0" tIns="0" rIns="0" bIns="0" rtlCol="0" anchor="ctr"/>
          <a:lstStyle/>
          <a:p>
            <a:pPr marL="0" indent="0">
              <a:buNone/>
            </a:pPr>
            <a:r>
              <a:rPr lang="en-US" sz="1150" dirty="0">
                <a:solidFill>
                  <a:srgbClr val="6E6B8A"/>
                </a:solidFill>
                <a:latin typeface="Calibri" pitchFamily="34" charset="0"/>
                <a:ea typeface="Calibri" pitchFamily="34" charset="-122"/>
                <a:cs typeface="Calibri" pitchFamily="34" charset="-120"/>
              </a:rPr>
              <a:t>Open vector stores</a:t>
            </a:r>
            <a:endParaRPr lang="en-US" sz="1150" dirty="0"/>
          </a:p>
        </p:txBody>
      </p:sp>
      <p:sp>
        <p:nvSpPr>
          <p:cNvPr id="27" name="Text 25"/>
          <p:cNvSpPr/>
          <p:nvPr/>
        </p:nvSpPr>
        <p:spPr>
          <a:xfrm>
            <a:off x="8723376" y="3968496"/>
            <a:ext cx="2828239" cy="530352"/>
          </a:xfrm>
          <a:prstGeom prst="rect">
            <a:avLst/>
          </a:prstGeom>
          <a:noFill/>
          <a:ln/>
        </p:spPr>
        <p:txBody>
          <a:bodyPr wrap="square" lIns="0" tIns="0" rIns="0" bIns="0" rtlCol="0" anchor="ctr"/>
          <a:lstStyle/>
          <a:p>
            <a:pPr marL="0" indent="0">
              <a:buNone/>
            </a:pPr>
            <a:r>
              <a:rPr lang="en-US" sz="1150" dirty="0">
                <a:solidFill>
                  <a:srgbClr val="6E6B8A"/>
                </a:solidFill>
                <a:latin typeface="Calibri" pitchFamily="34" charset="0"/>
                <a:ea typeface="Calibri" pitchFamily="34" charset="-122"/>
                <a:cs typeface="Calibri" pitchFamily="34" charset="-120"/>
              </a:rPr>
              <a:t>A managed search or memory service</a:t>
            </a:r>
            <a:endParaRPr lang="en-US" sz="1150" dirty="0"/>
          </a:p>
        </p:txBody>
      </p:sp>
      <p:sp>
        <p:nvSpPr>
          <p:cNvPr id="28" name="Shape 26"/>
          <p:cNvSpPr/>
          <p:nvPr/>
        </p:nvSpPr>
        <p:spPr>
          <a:xfrm>
            <a:off x="566928" y="4572000"/>
            <a:ext cx="11057839" cy="530352"/>
          </a:xfrm>
          <a:prstGeom prst="roundRect">
            <a:avLst>
              <a:gd name="adj" fmla="val 10345"/>
            </a:avLst>
          </a:prstGeom>
          <a:solidFill>
            <a:srgbClr val="EEEDFE"/>
          </a:solidFill>
          <a:ln w="12700">
            <a:solidFill>
              <a:srgbClr val="8E82F5"/>
            </a:solidFill>
            <a:prstDash val="solid"/>
          </a:ln>
        </p:spPr>
        <p:txBody>
          <a:bodyPr/>
          <a:lstStyle/>
          <a:p>
            <a:endParaRPr lang="en-US"/>
          </a:p>
        </p:txBody>
      </p:sp>
      <p:sp>
        <p:nvSpPr>
          <p:cNvPr id="29" name="Text 27"/>
          <p:cNvSpPr/>
          <p:nvPr/>
        </p:nvSpPr>
        <p:spPr>
          <a:xfrm>
            <a:off x="768096" y="4572000"/>
            <a:ext cx="1737360" cy="530352"/>
          </a:xfrm>
          <a:prstGeom prst="rect">
            <a:avLst/>
          </a:prstGeom>
          <a:noFill/>
          <a:ln/>
        </p:spPr>
        <p:txBody>
          <a:bodyPr wrap="square" lIns="0" tIns="0" rIns="0" bIns="0" rtlCol="0" anchor="ctr"/>
          <a:lstStyle/>
          <a:p>
            <a:pPr marL="0" indent="0">
              <a:buNone/>
            </a:pPr>
            <a:r>
              <a:rPr lang="en-US" sz="1250" b="1" dirty="0">
                <a:solidFill>
                  <a:srgbClr val="141235"/>
                </a:solidFill>
                <a:latin typeface="Calibri" pitchFamily="34" charset="0"/>
                <a:ea typeface="Calibri" pitchFamily="34" charset="-122"/>
                <a:cs typeface="Calibri" pitchFamily="34" charset="-120"/>
              </a:rPr>
              <a:t>Delegation</a:t>
            </a:r>
            <a:endParaRPr lang="en-US" sz="1250" dirty="0"/>
          </a:p>
        </p:txBody>
      </p:sp>
      <p:sp>
        <p:nvSpPr>
          <p:cNvPr id="30" name="Text 28"/>
          <p:cNvSpPr/>
          <p:nvPr/>
        </p:nvSpPr>
        <p:spPr>
          <a:xfrm>
            <a:off x="2779776" y="4572000"/>
            <a:ext cx="2651760" cy="530352"/>
          </a:xfrm>
          <a:prstGeom prst="rect">
            <a:avLst/>
          </a:prstGeom>
          <a:noFill/>
          <a:ln/>
        </p:spPr>
        <p:txBody>
          <a:bodyPr wrap="square" lIns="0" tIns="0" rIns="0" bIns="0" rtlCol="0" anchor="ctr"/>
          <a:lstStyle/>
          <a:p>
            <a:pPr marL="0" indent="0">
              <a:buNone/>
            </a:pPr>
            <a:r>
              <a:rPr lang="en-US" sz="1150" dirty="0">
                <a:solidFill>
                  <a:srgbClr val="6E6B8A"/>
                </a:solidFill>
                <a:latin typeface="Calibri" pitchFamily="34" charset="0"/>
                <a:ea typeface="Calibri" pitchFamily="34" charset="-122"/>
                <a:cs typeface="Calibri" pitchFamily="34" charset="-120"/>
              </a:rPr>
              <a:t>Agents talking to agents</a:t>
            </a:r>
            <a:endParaRPr lang="en-US" sz="1150" dirty="0"/>
          </a:p>
        </p:txBody>
      </p:sp>
      <p:sp>
        <p:nvSpPr>
          <p:cNvPr id="31" name="Text 29"/>
          <p:cNvSpPr/>
          <p:nvPr/>
        </p:nvSpPr>
        <p:spPr>
          <a:xfrm>
            <a:off x="5705856" y="4572000"/>
            <a:ext cx="2743200" cy="530352"/>
          </a:xfrm>
          <a:prstGeom prst="rect">
            <a:avLst/>
          </a:prstGeom>
          <a:noFill/>
          <a:ln/>
        </p:spPr>
        <p:txBody>
          <a:bodyPr wrap="square" lIns="0" tIns="0" rIns="0" bIns="0" rtlCol="0" anchor="ctr"/>
          <a:lstStyle/>
          <a:p>
            <a:pPr marL="0" indent="0">
              <a:buNone/>
            </a:pPr>
            <a:r>
              <a:rPr lang="en-US" sz="1150" b="1" dirty="0">
                <a:solidFill>
                  <a:srgbClr val="3B2EB8"/>
                </a:solidFill>
                <a:latin typeface="Calibri" pitchFamily="34" charset="0"/>
                <a:ea typeface="Calibri" pitchFamily="34" charset="-122"/>
                <a:cs typeface="Calibri" pitchFamily="34" charset="-120"/>
              </a:rPr>
              <a:t>A2A — an open standard</a:t>
            </a:r>
            <a:endParaRPr lang="en-US" sz="1150" dirty="0"/>
          </a:p>
        </p:txBody>
      </p:sp>
      <p:sp>
        <p:nvSpPr>
          <p:cNvPr id="32" name="Text 30"/>
          <p:cNvSpPr/>
          <p:nvPr/>
        </p:nvSpPr>
        <p:spPr>
          <a:xfrm>
            <a:off x="8723376" y="4572000"/>
            <a:ext cx="2828239" cy="530352"/>
          </a:xfrm>
          <a:prstGeom prst="rect">
            <a:avLst/>
          </a:prstGeom>
          <a:noFill/>
          <a:ln/>
        </p:spPr>
        <p:txBody>
          <a:bodyPr wrap="square" lIns="0" tIns="0" rIns="0" bIns="0" rtlCol="0" anchor="ctr"/>
          <a:lstStyle/>
          <a:p>
            <a:pPr marL="0" indent="0">
              <a:buNone/>
            </a:pPr>
            <a:r>
              <a:rPr lang="en-US" sz="1150" dirty="0">
                <a:solidFill>
                  <a:srgbClr val="6E6B8A"/>
                </a:solidFill>
                <a:latin typeface="Calibri" pitchFamily="34" charset="0"/>
                <a:ea typeface="Calibri" pitchFamily="34" charset="-122"/>
                <a:cs typeface="Calibri" pitchFamily="34" charset="-120"/>
              </a:rPr>
              <a:t>A connected-agents feature</a:t>
            </a:r>
            <a:endParaRPr lang="en-US" sz="1150" dirty="0"/>
          </a:p>
        </p:txBody>
      </p:sp>
      <p:sp>
        <p:nvSpPr>
          <p:cNvPr id="33" name="Shape 31"/>
          <p:cNvSpPr/>
          <p:nvPr/>
        </p:nvSpPr>
        <p:spPr>
          <a:xfrm>
            <a:off x="566928" y="5175504"/>
            <a:ext cx="11057839" cy="530352"/>
          </a:xfrm>
          <a:prstGeom prst="roundRect">
            <a:avLst>
              <a:gd name="adj" fmla="val 10345"/>
            </a:avLst>
          </a:prstGeom>
          <a:solidFill>
            <a:srgbClr val="FFFFFF"/>
          </a:solidFill>
          <a:ln w="12700">
            <a:solidFill>
              <a:srgbClr val="E3E4F2"/>
            </a:solidFill>
            <a:prstDash val="solid"/>
          </a:ln>
        </p:spPr>
        <p:txBody>
          <a:bodyPr/>
          <a:lstStyle/>
          <a:p>
            <a:endParaRPr lang="en-US"/>
          </a:p>
        </p:txBody>
      </p:sp>
      <p:sp>
        <p:nvSpPr>
          <p:cNvPr id="34" name="Text 32"/>
          <p:cNvSpPr/>
          <p:nvPr/>
        </p:nvSpPr>
        <p:spPr>
          <a:xfrm>
            <a:off x="768096" y="5175504"/>
            <a:ext cx="1737360" cy="530352"/>
          </a:xfrm>
          <a:prstGeom prst="rect">
            <a:avLst/>
          </a:prstGeom>
          <a:noFill/>
          <a:ln/>
        </p:spPr>
        <p:txBody>
          <a:bodyPr wrap="square" lIns="0" tIns="0" rIns="0" bIns="0" rtlCol="0" anchor="ctr"/>
          <a:lstStyle/>
          <a:p>
            <a:pPr marL="0" indent="0">
              <a:buNone/>
            </a:pPr>
            <a:r>
              <a:rPr lang="en-US" sz="1250" b="1" dirty="0">
                <a:solidFill>
                  <a:srgbClr val="141235"/>
                </a:solidFill>
                <a:latin typeface="Calibri" pitchFamily="34" charset="0"/>
                <a:ea typeface="Calibri" pitchFamily="34" charset="-122"/>
                <a:cs typeface="Calibri" pitchFamily="34" charset="-120"/>
              </a:rPr>
              <a:t>Governance</a:t>
            </a:r>
            <a:endParaRPr lang="en-US" sz="1250" dirty="0"/>
          </a:p>
        </p:txBody>
      </p:sp>
      <p:sp>
        <p:nvSpPr>
          <p:cNvPr id="35" name="Text 33"/>
          <p:cNvSpPr/>
          <p:nvPr/>
        </p:nvSpPr>
        <p:spPr>
          <a:xfrm>
            <a:off x="2779776" y="5175504"/>
            <a:ext cx="2651760" cy="530352"/>
          </a:xfrm>
          <a:prstGeom prst="rect">
            <a:avLst/>
          </a:prstGeom>
          <a:noFill/>
          <a:ln/>
        </p:spPr>
        <p:txBody>
          <a:bodyPr wrap="square" lIns="0" tIns="0" rIns="0" bIns="0" rtlCol="0" anchor="ctr"/>
          <a:lstStyle/>
          <a:p>
            <a:pPr marL="0" indent="0">
              <a:buNone/>
            </a:pPr>
            <a:r>
              <a:rPr lang="en-US" sz="1150" dirty="0">
                <a:solidFill>
                  <a:srgbClr val="6E6B8A"/>
                </a:solidFill>
                <a:latin typeface="Calibri" pitchFamily="34" charset="0"/>
                <a:ea typeface="Calibri" pitchFamily="34" charset="-122"/>
                <a:cs typeface="Calibri" pitchFamily="34" charset="-120"/>
              </a:rPr>
              <a:t>Identity, safety, evals, cost</a:t>
            </a:r>
            <a:endParaRPr lang="en-US" sz="1150" dirty="0"/>
          </a:p>
        </p:txBody>
      </p:sp>
      <p:sp>
        <p:nvSpPr>
          <p:cNvPr id="36" name="Text 34"/>
          <p:cNvSpPr/>
          <p:nvPr/>
        </p:nvSpPr>
        <p:spPr>
          <a:xfrm>
            <a:off x="5705856" y="5175504"/>
            <a:ext cx="2743200" cy="530352"/>
          </a:xfrm>
          <a:prstGeom prst="rect">
            <a:avLst/>
          </a:prstGeom>
          <a:noFill/>
          <a:ln/>
        </p:spPr>
        <p:txBody>
          <a:bodyPr wrap="square" lIns="0" tIns="0" rIns="0" bIns="0" rtlCol="0" anchor="ctr"/>
          <a:lstStyle/>
          <a:p>
            <a:pPr marL="0" indent="0">
              <a:buNone/>
            </a:pPr>
            <a:r>
              <a:rPr lang="en-US" sz="1150" dirty="0">
                <a:solidFill>
                  <a:srgbClr val="6E6B8A"/>
                </a:solidFill>
                <a:latin typeface="Calibri" pitchFamily="34" charset="0"/>
                <a:ea typeface="Calibri" pitchFamily="34" charset="-122"/>
                <a:cs typeface="Calibri" pitchFamily="34" charset="-120"/>
              </a:rPr>
              <a:t>OpenTelemetry and open eval tools</a:t>
            </a:r>
            <a:endParaRPr lang="en-US" sz="1150" dirty="0"/>
          </a:p>
        </p:txBody>
      </p:sp>
      <p:sp>
        <p:nvSpPr>
          <p:cNvPr id="37" name="Text 35"/>
          <p:cNvSpPr/>
          <p:nvPr/>
        </p:nvSpPr>
        <p:spPr>
          <a:xfrm>
            <a:off x="8723376" y="5175504"/>
            <a:ext cx="2828239" cy="530352"/>
          </a:xfrm>
          <a:prstGeom prst="rect">
            <a:avLst/>
          </a:prstGeom>
          <a:noFill/>
          <a:ln/>
        </p:spPr>
        <p:txBody>
          <a:bodyPr wrap="square" lIns="0" tIns="0" rIns="0" bIns="0" rtlCol="0" anchor="ctr"/>
          <a:lstStyle/>
          <a:p>
            <a:pPr marL="0" indent="0">
              <a:buNone/>
            </a:pPr>
            <a:r>
              <a:rPr lang="en-US" sz="1150" dirty="0">
                <a:solidFill>
                  <a:srgbClr val="6E6B8A"/>
                </a:solidFill>
                <a:latin typeface="Calibri" pitchFamily="34" charset="0"/>
                <a:ea typeface="Calibri" pitchFamily="34" charset="-122"/>
                <a:cs typeface="Calibri" pitchFamily="34" charset="-120"/>
              </a:rPr>
              <a:t>A managed identity and safety layer</a:t>
            </a:r>
            <a:endParaRPr lang="en-US" sz="1150" dirty="0"/>
          </a:p>
        </p:txBody>
      </p:sp>
      <p:sp>
        <p:nvSpPr>
          <p:cNvPr id="38" name="Text 36"/>
          <p:cNvSpPr/>
          <p:nvPr/>
        </p:nvSpPr>
        <p:spPr>
          <a:xfrm>
            <a:off x="566928" y="5815584"/>
            <a:ext cx="11057839" cy="310896"/>
          </a:xfrm>
          <a:prstGeom prst="rect">
            <a:avLst/>
          </a:prstGeom>
          <a:noFill/>
          <a:ln/>
        </p:spPr>
        <p:txBody>
          <a:bodyPr wrap="square" lIns="0" tIns="0" rIns="0" bIns="0" rtlCol="0" anchor="ctr"/>
          <a:lstStyle/>
          <a:p>
            <a:pPr marL="0" indent="0">
              <a:buNone/>
            </a:pPr>
            <a:r>
              <a:rPr lang="en-US" sz="1250" i="1" dirty="0">
                <a:solidFill>
                  <a:srgbClr val="3B3760"/>
                </a:solidFill>
                <a:latin typeface="Calibri" pitchFamily="34" charset="0"/>
                <a:ea typeface="Calibri" pitchFamily="34" charset="-122"/>
                <a:cs typeface="Calibri" pitchFamily="34" charset="-120"/>
              </a:rPr>
              <a:t>Highlighted rows are open standards. Everything else in the last column is a vendor's implementation of a pattern you already built by hand.</a:t>
            </a:r>
            <a:endParaRPr lang="en-US" sz="1250" dirty="0"/>
          </a:p>
        </p:txBody>
      </p:sp>
      <p:sp>
        <p:nvSpPr>
          <p:cNvPr id="39" name="Shape 37"/>
          <p:cNvSpPr/>
          <p:nvPr/>
        </p:nvSpPr>
        <p:spPr>
          <a:xfrm>
            <a:off x="566928" y="5120640"/>
            <a:ext cx="11057839" cy="621792"/>
          </a:xfrm>
          <a:prstGeom prst="roundRect">
            <a:avLst>
              <a:gd name="adj" fmla="val 13235"/>
            </a:avLst>
          </a:prstGeom>
          <a:solidFill>
            <a:srgbClr val="FFF4E0"/>
          </a:solidFill>
          <a:ln w="12700">
            <a:solidFill>
              <a:srgbClr val="F3DCB0"/>
            </a:solidFill>
            <a:prstDash val="solid"/>
          </a:ln>
        </p:spPr>
        <p:txBody>
          <a:bodyPr/>
          <a:lstStyle/>
          <a:p>
            <a:endParaRPr lang="en-US"/>
          </a:p>
        </p:txBody>
      </p:sp>
      <p:sp>
        <p:nvSpPr>
          <p:cNvPr id="40" name="Shape 38"/>
          <p:cNvSpPr/>
          <p:nvPr/>
        </p:nvSpPr>
        <p:spPr>
          <a:xfrm>
            <a:off x="841248" y="5239512"/>
            <a:ext cx="384048" cy="384048"/>
          </a:xfrm>
          <a:prstGeom prst="ellipse">
            <a:avLst/>
          </a:prstGeom>
          <a:solidFill>
            <a:srgbClr val="F5A524"/>
          </a:solidFill>
          <a:ln w="12700">
            <a:solidFill>
              <a:srgbClr val="F5A524"/>
            </a:solidFill>
            <a:prstDash val="solid"/>
          </a:ln>
        </p:spPr>
        <p:txBody>
          <a:bodyPr/>
          <a:lstStyle/>
          <a:p>
            <a:endParaRPr lang="en-US"/>
          </a:p>
        </p:txBody>
      </p:sp>
      <p:pic>
        <p:nvPicPr>
          <p:cNvPr id="41" name="Image 0" descr="preencoded.png"/>
          <p:cNvPicPr>
            <a:picLocks noChangeAspect="1"/>
          </p:cNvPicPr>
          <p:nvPr/>
        </p:nvPicPr>
        <p:blipFill>
          <a:blip r:embed="rId3"/>
          <a:stretch>
            <a:fillRect/>
          </a:stretch>
        </p:blipFill>
        <p:spPr>
          <a:xfrm>
            <a:off x="937260" y="5335524"/>
            <a:ext cx="192024" cy="192024"/>
          </a:xfrm>
          <a:prstGeom prst="rect">
            <a:avLst/>
          </a:prstGeom>
        </p:spPr>
      </p:pic>
      <p:sp>
        <p:nvSpPr>
          <p:cNvPr id="42" name="Text 39"/>
          <p:cNvSpPr/>
          <p:nvPr/>
        </p:nvSpPr>
        <p:spPr>
          <a:xfrm>
            <a:off x="1371600" y="5175504"/>
            <a:ext cx="9960559" cy="512064"/>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You are never buying “an AI agent”. You are buying one or more of these six layers, and you should know which.</a:t>
            </a:r>
            <a:endParaRPr lang="en-US" sz="105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16 · PLATFORM LANDSCAPE</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2800" b="1" dirty="0">
                <a:solidFill>
                  <a:srgbClr val="141235"/>
                </a:solidFill>
                <a:latin typeface="Cambria" pitchFamily="34" charset="0"/>
                <a:ea typeface="Cambria" pitchFamily="34" charset="-122"/>
                <a:cs typeface="Cambria" pitchFamily="34" charset="-120"/>
              </a:rPr>
              <a:t>Where lock-in actually lives, and where it does not</a:t>
            </a:r>
            <a:endParaRPr lang="en-US" sz="2800" dirty="0"/>
          </a:p>
        </p:txBody>
      </p:sp>
      <p:sp>
        <p:nvSpPr>
          <p:cNvPr id="4" name="Shape 2"/>
          <p:cNvSpPr/>
          <p:nvPr/>
        </p:nvSpPr>
        <p:spPr>
          <a:xfrm>
            <a:off x="566928" y="2002536"/>
            <a:ext cx="2586152" cy="2926080"/>
          </a:xfrm>
          <a:prstGeom prst="roundRect">
            <a:avLst>
              <a:gd name="adj" fmla="val 3182"/>
            </a:avLst>
          </a:prstGeom>
          <a:solidFill>
            <a:srgbClr val="E7F7F1"/>
          </a:solidFill>
          <a:ln w="12700">
            <a:solidFill>
              <a:srgbClr val="C2E6D7"/>
            </a:solidFill>
            <a:prstDash val="solid"/>
          </a:ln>
          <a:effectLst>
            <a:outerShdw blurRad="114300" dist="572" dir="5400000" algn="bl" rotWithShape="0">
              <a:srgbClr val="1B1A4A">
                <a:alpha val="7000"/>
              </a:srgbClr>
            </a:outerShdw>
          </a:effectLst>
        </p:spPr>
        <p:txBody>
          <a:bodyPr/>
          <a:lstStyle/>
          <a:p>
            <a:endParaRPr lang="en-US"/>
          </a:p>
        </p:txBody>
      </p:sp>
      <p:sp>
        <p:nvSpPr>
          <p:cNvPr id="5" name="Shape 3"/>
          <p:cNvSpPr/>
          <p:nvPr/>
        </p:nvSpPr>
        <p:spPr>
          <a:xfrm>
            <a:off x="804672" y="2221992"/>
            <a:ext cx="365760" cy="365760"/>
          </a:xfrm>
          <a:prstGeom prst="ellipse">
            <a:avLst/>
          </a:prstGeom>
          <a:solidFill>
            <a:srgbClr val="0E9F6E"/>
          </a:solidFill>
          <a:ln w="12700">
            <a:solidFill>
              <a:srgbClr val="0E9F6E"/>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896112" y="2313432"/>
            <a:ext cx="182880" cy="182880"/>
          </a:xfrm>
          <a:prstGeom prst="rect">
            <a:avLst/>
          </a:prstGeom>
        </p:spPr>
      </p:pic>
      <p:sp>
        <p:nvSpPr>
          <p:cNvPr id="7" name="Text 4"/>
          <p:cNvSpPr/>
          <p:nvPr/>
        </p:nvSpPr>
        <p:spPr>
          <a:xfrm>
            <a:off x="1298448" y="2212848"/>
            <a:ext cx="1616888"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PORTABLE</a:t>
            </a:r>
            <a:endParaRPr lang="en-US" sz="850" dirty="0"/>
          </a:p>
        </p:txBody>
      </p:sp>
      <p:sp>
        <p:nvSpPr>
          <p:cNvPr id="8" name="Text 5"/>
          <p:cNvSpPr/>
          <p:nvPr/>
        </p:nvSpPr>
        <p:spPr>
          <a:xfrm>
            <a:off x="1298448" y="2432304"/>
            <a:ext cx="1616888" cy="338511"/>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The model</a:t>
            </a:r>
            <a:endParaRPr lang="en-US" sz="1450" dirty="0"/>
          </a:p>
        </p:txBody>
      </p:sp>
      <p:sp>
        <p:nvSpPr>
          <p:cNvPr id="9" name="Text 6"/>
          <p:cNvSpPr/>
          <p:nvPr/>
        </p:nvSpPr>
        <p:spPr>
          <a:xfrm>
            <a:off x="1298448" y="2779959"/>
            <a:ext cx="1616888" cy="1965777"/>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Nearly every provider speaks a compatible interface. Swapping is a config change and a re-run of your evals.</a:t>
            </a:r>
            <a:endParaRPr lang="en-US" sz="1150" dirty="0"/>
          </a:p>
        </p:txBody>
      </p:sp>
      <p:sp>
        <p:nvSpPr>
          <p:cNvPr id="10" name="Shape 7"/>
          <p:cNvSpPr/>
          <p:nvPr/>
        </p:nvSpPr>
        <p:spPr>
          <a:xfrm>
            <a:off x="3390824" y="2002536"/>
            <a:ext cx="2586152" cy="2926080"/>
          </a:xfrm>
          <a:prstGeom prst="roundRect">
            <a:avLst>
              <a:gd name="adj" fmla="val 3182"/>
            </a:avLst>
          </a:prstGeom>
          <a:solidFill>
            <a:srgbClr val="E7F7F1"/>
          </a:solidFill>
          <a:ln w="12700">
            <a:solidFill>
              <a:srgbClr val="C2E6D7"/>
            </a:solidFill>
            <a:prstDash val="solid"/>
          </a:ln>
          <a:effectLst>
            <a:outerShdw blurRad="114300" dist="572" dir="5400000" algn="bl" rotWithShape="0">
              <a:srgbClr val="1B1A4A">
                <a:alpha val="7000"/>
              </a:srgbClr>
            </a:outerShdw>
          </a:effectLst>
        </p:spPr>
        <p:txBody>
          <a:bodyPr/>
          <a:lstStyle/>
          <a:p>
            <a:endParaRPr lang="en-US"/>
          </a:p>
        </p:txBody>
      </p:sp>
      <p:sp>
        <p:nvSpPr>
          <p:cNvPr id="11" name="Shape 8"/>
          <p:cNvSpPr/>
          <p:nvPr/>
        </p:nvSpPr>
        <p:spPr>
          <a:xfrm>
            <a:off x="3628568" y="2221992"/>
            <a:ext cx="365760" cy="365760"/>
          </a:xfrm>
          <a:prstGeom prst="ellipse">
            <a:avLst/>
          </a:prstGeom>
          <a:solidFill>
            <a:srgbClr val="0E9F6E"/>
          </a:solidFill>
          <a:ln w="12700">
            <a:solidFill>
              <a:srgbClr val="0E9F6E"/>
            </a:solidFill>
            <a:prstDash val="solid"/>
          </a:ln>
        </p:spPr>
        <p:txBody>
          <a:bodyPr/>
          <a:lstStyle/>
          <a:p>
            <a:endParaRPr lang="en-US"/>
          </a:p>
        </p:txBody>
      </p:sp>
      <p:pic>
        <p:nvPicPr>
          <p:cNvPr id="12" name="Image 1" descr="preencoded.png"/>
          <p:cNvPicPr>
            <a:picLocks noChangeAspect="1"/>
          </p:cNvPicPr>
          <p:nvPr/>
        </p:nvPicPr>
        <p:blipFill>
          <a:blip r:embed="rId3"/>
          <a:stretch>
            <a:fillRect/>
          </a:stretch>
        </p:blipFill>
        <p:spPr>
          <a:xfrm>
            <a:off x="3720008" y="2313432"/>
            <a:ext cx="182880" cy="182880"/>
          </a:xfrm>
          <a:prstGeom prst="rect">
            <a:avLst/>
          </a:prstGeom>
        </p:spPr>
      </p:pic>
      <p:sp>
        <p:nvSpPr>
          <p:cNvPr id="13" name="Text 9"/>
          <p:cNvSpPr/>
          <p:nvPr/>
        </p:nvSpPr>
        <p:spPr>
          <a:xfrm>
            <a:off x="4122344" y="2212848"/>
            <a:ext cx="1616888"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PORTABLE</a:t>
            </a:r>
            <a:endParaRPr lang="en-US" sz="850" dirty="0"/>
          </a:p>
        </p:txBody>
      </p:sp>
      <p:sp>
        <p:nvSpPr>
          <p:cNvPr id="14" name="Text 10"/>
          <p:cNvSpPr/>
          <p:nvPr/>
        </p:nvSpPr>
        <p:spPr>
          <a:xfrm>
            <a:off x="4122344" y="2432304"/>
            <a:ext cx="1616888" cy="338511"/>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Tools</a:t>
            </a:r>
            <a:endParaRPr lang="en-US" sz="1450" dirty="0"/>
          </a:p>
        </p:txBody>
      </p:sp>
      <p:sp>
        <p:nvSpPr>
          <p:cNvPr id="15" name="Text 11"/>
          <p:cNvSpPr/>
          <p:nvPr/>
        </p:nvSpPr>
        <p:spPr>
          <a:xfrm>
            <a:off x="4122344" y="2779959"/>
            <a:ext cx="1616888" cy="1965777"/>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If you built them behind MCP. If you wired them into one framework's decorator, they move with that framework.</a:t>
            </a:r>
            <a:endParaRPr lang="en-US" sz="1150" dirty="0"/>
          </a:p>
        </p:txBody>
      </p:sp>
      <p:sp>
        <p:nvSpPr>
          <p:cNvPr id="16" name="Shape 12"/>
          <p:cNvSpPr/>
          <p:nvPr/>
        </p:nvSpPr>
        <p:spPr>
          <a:xfrm>
            <a:off x="6214720" y="2002536"/>
            <a:ext cx="2586152" cy="2926080"/>
          </a:xfrm>
          <a:prstGeom prst="roundRect">
            <a:avLst>
              <a:gd name="adj" fmla="val 3182"/>
            </a:avLst>
          </a:prstGeom>
          <a:solidFill>
            <a:srgbClr val="E7F7F1"/>
          </a:solidFill>
          <a:ln w="12700">
            <a:solidFill>
              <a:srgbClr val="C2E6D7"/>
            </a:solidFill>
            <a:prstDash val="solid"/>
          </a:ln>
          <a:effectLst>
            <a:outerShdw blurRad="114300" dist="572" dir="5400000" algn="bl" rotWithShape="0">
              <a:srgbClr val="1B1A4A">
                <a:alpha val="7000"/>
              </a:srgbClr>
            </a:outerShdw>
          </a:effectLst>
        </p:spPr>
        <p:txBody>
          <a:bodyPr/>
          <a:lstStyle/>
          <a:p>
            <a:endParaRPr lang="en-US"/>
          </a:p>
        </p:txBody>
      </p:sp>
      <p:sp>
        <p:nvSpPr>
          <p:cNvPr id="17" name="Shape 13"/>
          <p:cNvSpPr/>
          <p:nvPr/>
        </p:nvSpPr>
        <p:spPr>
          <a:xfrm>
            <a:off x="6452464" y="2221992"/>
            <a:ext cx="365760" cy="365760"/>
          </a:xfrm>
          <a:prstGeom prst="ellipse">
            <a:avLst/>
          </a:prstGeom>
          <a:solidFill>
            <a:srgbClr val="0E9F6E"/>
          </a:solidFill>
          <a:ln w="12700">
            <a:solidFill>
              <a:srgbClr val="0E9F6E"/>
            </a:solidFill>
            <a:prstDash val="solid"/>
          </a:ln>
        </p:spPr>
        <p:txBody>
          <a:bodyPr/>
          <a:lstStyle/>
          <a:p>
            <a:endParaRPr lang="en-US"/>
          </a:p>
        </p:txBody>
      </p:sp>
      <p:pic>
        <p:nvPicPr>
          <p:cNvPr id="18" name="Image 2" descr="preencoded.png"/>
          <p:cNvPicPr>
            <a:picLocks noChangeAspect="1"/>
          </p:cNvPicPr>
          <p:nvPr/>
        </p:nvPicPr>
        <p:blipFill>
          <a:blip r:embed="rId3"/>
          <a:stretch>
            <a:fillRect/>
          </a:stretch>
        </p:blipFill>
        <p:spPr>
          <a:xfrm>
            <a:off x="6543904" y="2313432"/>
            <a:ext cx="182880" cy="182880"/>
          </a:xfrm>
          <a:prstGeom prst="rect">
            <a:avLst/>
          </a:prstGeom>
        </p:spPr>
      </p:pic>
      <p:sp>
        <p:nvSpPr>
          <p:cNvPr id="19" name="Text 14"/>
          <p:cNvSpPr/>
          <p:nvPr/>
        </p:nvSpPr>
        <p:spPr>
          <a:xfrm>
            <a:off x="6946240" y="2212848"/>
            <a:ext cx="1616888"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PORTABLE</a:t>
            </a:r>
            <a:endParaRPr lang="en-US" sz="850" dirty="0"/>
          </a:p>
        </p:txBody>
      </p:sp>
      <p:sp>
        <p:nvSpPr>
          <p:cNvPr id="20" name="Text 15"/>
          <p:cNvSpPr/>
          <p:nvPr/>
        </p:nvSpPr>
        <p:spPr>
          <a:xfrm>
            <a:off x="6946240" y="2432304"/>
            <a:ext cx="1616888" cy="338511"/>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Orchestration</a:t>
            </a:r>
            <a:endParaRPr lang="en-US" sz="1450" dirty="0"/>
          </a:p>
        </p:txBody>
      </p:sp>
      <p:sp>
        <p:nvSpPr>
          <p:cNvPr id="21" name="Text 16"/>
          <p:cNvSpPr/>
          <p:nvPr/>
        </p:nvSpPr>
        <p:spPr>
          <a:xfrm>
            <a:off x="6946240" y="2779959"/>
            <a:ext cx="1616888" cy="1965777"/>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If you stayed at tier 0–3 of the ladder. Tier 4 is where the loop stops being yours.</a:t>
            </a:r>
            <a:endParaRPr lang="en-US" sz="1150" dirty="0"/>
          </a:p>
        </p:txBody>
      </p:sp>
      <p:sp>
        <p:nvSpPr>
          <p:cNvPr id="22" name="Shape 17"/>
          <p:cNvSpPr/>
          <p:nvPr/>
        </p:nvSpPr>
        <p:spPr>
          <a:xfrm>
            <a:off x="9038615" y="2002536"/>
            <a:ext cx="2586152" cy="2926080"/>
          </a:xfrm>
          <a:prstGeom prst="roundRect">
            <a:avLst>
              <a:gd name="adj" fmla="val 3182"/>
            </a:avLst>
          </a:prstGeom>
          <a:solidFill>
            <a:srgbClr val="FDECEC"/>
          </a:solidFill>
          <a:ln w="12700">
            <a:solidFill>
              <a:srgbClr val="F1C9C9"/>
            </a:solidFill>
            <a:prstDash val="solid"/>
          </a:ln>
          <a:effectLst>
            <a:outerShdw blurRad="114300" dist="572" dir="5400000" algn="bl" rotWithShape="0">
              <a:srgbClr val="1B1A4A">
                <a:alpha val="7000"/>
              </a:srgbClr>
            </a:outerShdw>
          </a:effectLst>
        </p:spPr>
        <p:txBody>
          <a:bodyPr/>
          <a:lstStyle/>
          <a:p>
            <a:endParaRPr lang="en-US"/>
          </a:p>
        </p:txBody>
      </p:sp>
      <p:sp>
        <p:nvSpPr>
          <p:cNvPr id="23" name="Shape 18"/>
          <p:cNvSpPr/>
          <p:nvPr/>
        </p:nvSpPr>
        <p:spPr>
          <a:xfrm>
            <a:off x="9276359" y="2221992"/>
            <a:ext cx="365760" cy="365760"/>
          </a:xfrm>
          <a:prstGeom prst="ellipse">
            <a:avLst/>
          </a:prstGeom>
          <a:solidFill>
            <a:srgbClr val="D93A3F"/>
          </a:solidFill>
          <a:ln w="12700">
            <a:solidFill>
              <a:srgbClr val="D93A3F"/>
            </a:solidFill>
            <a:prstDash val="solid"/>
          </a:ln>
        </p:spPr>
        <p:txBody>
          <a:bodyPr/>
          <a:lstStyle/>
          <a:p>
            <a:endParaRPr lang="en-US"/>
          </a:p>
        </p:txBody>
      </p:sp>
      <p:pic>
        <p:nvPicPr>
          <p:cNvPr id="24" name="Image 3" descr="preencoded.png"/>
          <p:cNvPicPr>
            <a:picLocks noChangeAspect="1"/>
          </p:cNvPicPr>
          <p:nvPr/>
        </p:nvPicPr>
        <p:blipFill>
          <a:blip r:embed="rId4"/>
          <a:stretch>
            <a:fillRect/>
          </a:stretch>
        </p:blipFill>
        <p:spPr>
          <a:xfrm>
            <a:off x="9367799" y="2313432"/>
            <a:ext cx="182880" cy="182880"/>
          </a:xfrm>
          <a:prstGeom prst="rect">
            <a:avLst/>
          </a:prstGeom>
        </p:spPr>
      </p:pic>
      <p:sp>
        <p:nvSpPr>
          <p:cNvPr id="25" name="Text 19"/>
          <p:cNvSpPr/>
          <p:nvPr/>
        </p:nvSpPr>
        <p:spPr>
          <a:xfrm>
            <a:off x="9770135" y="2212848"/>
            <a:ext cx="1616888"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STICKY</a:t>
            </a:r>
            <a:endParaRPr lang="en-US" sz="850" dirty="0"/>
          </a:p>
        </p:txBody>
      </p:sp>
      <p:sp>
        <p:nvSpPr>
          <p:cNvPr id="26" name="Text 20"/>
          <p:cNvSpPr/>
          <p:nvPr/>
        </p:nvSpPr>
        <p:spPr>
          <a:xfrm>
            <a:off x="9770135" y="2432304"/>
            <a:ext cx="1616888" cy="905805"/>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Memory, identity, observability</a:t>
            </a:r>
            <a:endParaRPr lang="en-US" sz="1450" dirty="0"/>
          </a:p>
        </p:txBody>
      </p:sp>
      <p:sp>
        <p:nvSpPr>
          <p:cNvPr id="27" name="Text 21"/>
          <p:cNvSpPr/>
          <p:nvPr/>
        </p:nvSpPr>
        <p:spPr>
          <a:xfrm>
            <a:off x="9770135" y="3347253"/>
            <a:ext cx="1616888" cy="1398483"/>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This is where lock-in actually lives. Migrating a vector store is annoying; migrating an identity and audit model is a project.</a:t>
            </a:r>
            <a:endParaRPr lang="en-US" sz="1150" dirty="0"/>
          </a:p>
        </p:txBody>
      </p:sp>
      <p:sp>
        <p:nvSpPr>
          <p:cNvPr id="28" name="Text 22"/>
          <p:cNvSpPr/>
          <p:nvPr/>
        </p:nvSpPr>
        <p:spPr>
          <a:xfrm>
            <a:off x="566928" y="5047488"/>
            <a:ext cx="11057839" cy="310896"/>
          </a:xfrm>
          <a:prstGeom prst="rect">
            <a:avLst/>
          </a:prstGeom>
          <a:noFill/>
          <a:ln/>
        </p:spPr>
        <p:txBody>
          <a:bodyPr wrap="square" lIns="0" tIns="0" rIns="0" bIns="0" rtlCol="0" anchor="ctr"/>
          <a:lstStyle/>
          <a:p>
            <a:pPr marL="0" indent="0">
              <a:buNone/>
            </a:pPr>
            <a:r>
              <a:rPr lang="en-US" sz="1300" i="1" dirty="0">
                <a:solidFill>
                  <a:srgbClr val="3B3760"/>
                </a:solidFill>
                <a:latin typeface="Calibri" pitchFamily="34" charset="0"/>
                <a:ea typeface="Calibri" pitchFamily="34" charset="-122"/>
                <a:cs typeface="Calibri" pitchFamily="34" charset="-120"/>
              </a:rPr>
              <a:t>Nobody argues about the model any more. The arguments are all in the fourth column, and they start about eighteen months in.</a:t>
            </a:r>
            <a:endParaRPr lang="en-US" sz="1300" dirty="0"/>
          </a:p>
        </p:txBody>
      </p:sp>
      <p:sp>
        <p:nvSpPr>
          <p:cNvPr id="29" name="Shape 23"/>
          <p:cNvSpPr/>
          <p:nvPr/>
        </p:nvSpPr>
        <p:spPr>
          <a:xfrm>
            <a:off x="566928" y="5449824"/>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30" name="Shape 24"/>
          <p:cNvSpPr/>
          <p:nvPr/>
        </p:nvSpPr>
        <p:spPr>
          <a:xfrm>
            <a:off x="841248" y="5669280"/>
            <a:ext cx="384048" cy="384048"/>
          </a:xfrm>
          <a:prstGeom prst="ellipse">
            <a:avLst/>
          </a:prstGeom>
          <a:solidFill>
            <a:srgbClr val="F5A524"/>
          </a:solidFill>
          <a:ln w="12700">
            <a:solidFill>
              <a:srgbClr val="F5A524"/>
            </a:solidFill>
            <a:prstDash val="solid"/>
          </a:ln>
        </p:spPr>
        <p:txBody>
          <a:bodyPr/>
          <a:lstStyle/>
          <a:p>
            <a:endParaRPr lang="en-US"/>
          </a:p>
        </p:txBody>
      </p:sp>
      <p:pic>
        <p:nvPicPr>
          <p:cNvPr id="31" name="Image 4" descr="preencoded.png"/>
          <p:cNvPicPr>
            <a:picLocks noChangeAspect="1"/>
          </p:cNvPicPr>
          <p:nvPr/>
        </p:nvPicPr>
        <p:blipFill>
          <a:blip r:embed="rId5"/>
          <a:stretch>
            <a:fillRect/>
          </a:stretch>
        </p:blipFill>
        <p:spPr>
          <a:xfrm>
            <a:off x="937260" y="5765292"/>
            <a:ext cx="192024" cy="192024"/>
          </a:xfrm>
          <a:prstGeom prst="rect">
            <a:avLst/>
          </a:prstGeom>
        </p:spPr>
      </p:pic>
      <p:sp>
        <p:nvSpPr>
          <p:cNvPr id="32" name="Text 25"/>
          <p:cNvSpPr/>
          <p:nvPr/>
        </p:nvSpPr>
        <p:spPr>
          <a:xfrm>
            <a:off x="1371600" y="5504688"/>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Lock-in is not about which model you picked. It is about where your history, your permissions and your audit trail live.</a:t>
            </a:r>
            <a:endParaRPr lang="en-US" sz="105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0B0A22"/>
        </a:solidFill>
        <a:effectLst/>
      </p:bgPr>
    </p:bg>
    <p:spTree>
      <p:nvGrpSpPr>
        <p:cNvPr id="1" name=""/>
        <p:cNvGrpSpPr/>
        <p:nvPr/>
      </p:nvGrpSpPr>
      <p:grpSpPr>
        <a:xfrm>
          <a:off x="0" y="0"/>
          <a:ext cx="0" cy="0"/>
          <a:chOff x="0" y="0"/>
          <a:chExt cx="0" cy="0"/>
        </a:xfrm>
      </p:grpSpPr>
      <p:pic>
        <p:nvPicPr>
          <p:cNvPr id="2" name="Image 0" descr="/home/claude/work/bg_dark.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6126480" y="1234440"/>
            <a:ext cx="5486400" cy="2743200"/>
          </a:xfrm>
          <a:prstGeom prst="rect">
            <a:avLst/>
          </a:prstGeom>
          <a:noFill/>
          <a:ln/>
        </p:spPr>
        <p:txBody>
          <a:bodyPr wrap="square" lIns="0" tIns="0" rIns="0" bIns="0" rtlCol="0" anchor="ctr"/>
          <a:lstStyle/>
          <a:p>
            <a:pPr marL="0" indent="0" algn="r">
              <a:buNone/>
            </a:pPr>
            <a:r>
              <a:rPr lang="en-US" sz="17600" b="1" dirty="0">
                <a:solidFill>
                  <a:srgbClr val="5B4BE8">
                    <a:alpha val="30000"/>
                  </a:srgbClr>
                </a:solidFill>
                <a:latin typeface="Cambria" pitchFamily="34" charset="0"/>
                <a:ea typeface="Cambria" pitchFamily="34" charset="-122"/>
                <a:cs typeface="Cambria" pitchFamily="34" charset="-120"/>
              </a:rPr>
              <a:t>17</a:t>
            </a:r>
            <a:endParaRPr lang="en-US" sz="17600" dirty="0"/>
          </a:p>
        </p:txBody>
      </p:sp>
      <p:sp>
        <p:nvSpPr>
          <p:cNvPr id="4" name="Shape 1"/>
          <p:cNvSpPr/>
          <p:nvPr/>
        </p:nvSpPr>
        <p:spPr>
          <a:xfrm>
            <a:off x="566928" y="2084832"/>
            <a:ext cx="566928" cy="566928"/>
          </a:xfrm>
          <a:prstGeom prst="ellipse">
            <a:avLst/>
          </a:prstGeom>
          <a:solidFill>
            <a:srgbClr val="F5A524"/>
          </a:solidFill>
          <a:ln w="12700">
            <a:solidFill>
              <a:srgbClr val="F5A524"/>
            </a:solidFill>
            <a:prstDash val="solid"/>
          </a:ln>
        </p:spPr>
        <p:txBody>
          <a:bodyPr/>
          <a:lstStyle/>
          <a:p>
            <a:endParaRPr lang="en-US"/>
          </a:p>
        </p:txBody>
      </p:sp>
      <p:pic>
        <p:nvPicPr>
          <p:cNvPr id="5" name="Image 1" descr="preencoded.png"/>
          <p:cNvPicPr>
            <a:picLocks noChangeAspect="1"/>
          </p:cNvPicPr>
          <p:nvPr/>
        </p:nvPicPr>
        <p:blipFill>
          <a:blip r:embed="rId4"/>
          <a:stretch>
            <a:fillRect/>
          </a:stretch>
        </p:blipFill>
        <p:spPr>
          <a:xfrm>
            <a:off x="708660" y="2226564"/>
            <a:ext cx="283464" cy="283464"/>
          </a:xfrm>
          <a:prstGeom prst="rect">
            <a:avLst/>
          </a:prstGeom>
        </p:spPr>
      </p:pic>
      <p:sp>
        <p:nvSpPr>
          <p:cNvPr id="6" name="Text 2"/>
          <p:cNvSpPr/>
          <p:nvPr/>
        </p:nvSpPr>
        <p:spPr>
          <a:xfrm>
            <a:off x="566928" y="2852928"/>
            <a:ext cx="7315200" cy="256032"/>
          </a:xfrm>
          <a:prstGeom prst="rect">
            <a:avLst/>
          </a:prstGeom>
          <a:noFill/>
          <a:ln/>
        </p:spPr>
        <p:txBody>
          <a:bodyPr wrap="square" lIns="0" tIns="0" rIns="0" bIns="0" rtlCol="0" anchor="ctr"/>
          <a:lstStyle/>
          <a:p>
            <a:pPr marL="0" indent="0">
              <a:buNone/>
            </a:pPr>
            <a:r>
              <a:rPr lang="en-US" sz="1100" b="1" kern="0" spc="240" dirty="0">
                <a:solidFill>
                  <a:srgbClr val="F5A524"/>
                </a:solidFill>
                <a:latin typeface="Calibri" pitchFamily="34" charset="0"/>
                <a:ea typeface="Calibri" pitchFamily="34" charset="-122"/>
                <a:cs typeface="Calibri" pitchFamily="34" charset="-120"/>
              </a:rPr>
              <a:t>MODULE 17</a:t>
            </a:r>
            <a:endParaRPr lang="en-US" sz="1100" dirty="0"/>
          </a:p>
        </p:txBody>
      </p:sp>
      <p:sp>
        <p:nvSpPr>
          <p:cNvPr id="7" name="Text 3"/>
          <p:cNvSpPr/>
          <p:nvPr/>
        </p:nvSpPr>
        <p:spPr>
          <a:xfrm>
            <a:off x="566928" y="3145536"/>
            <a:ext cx="8595360" cy="914400"/>
          </a:xfrm>
          <a:prstGeom prst="rect">
            <a:avLst/>
          </a:prstGeom>
          <a:noFill/>
          <a:ln/>
        </p:spPr>
        <p:txBody>
          <a:bodyPr wrap="square" lIns="0" tIns="0" rIns="0" bIns="0" rtlCol="0" anchor="t"/>
          <a:lstStyle/>
          <a:p>
            <a:pPr marL="0" indent="0">
              <a:buNone/>
            </a:pPr>
            <a:r>
              <a:rPr lang="en-US" sz="4600" b="1" dirty="0">
                <a:solidFill>
                  <a:srgbClr val="FFFFFF"/>
                </a:solidFill>
                <a:latin typeface="Cambria" pitchFamily="34" charset="0"/>
                <a:ea typeface="Cambria" pitchFamily="34" charset="-122"/>
                <a:cs typeface="Cambria" pitchFamily="34" charset="-120"/>
              </a:rPr>
              <a:t>Process re-engineering</a:t>
            </a:r>
            <a:endParaRPr lang="en-US" sz="4600" dirty="0"/>
          </a:p>
        </p:txBody>
      </p:sp>
      <p:sp>
        <p:nvSpPr>
          <p:cNvPr id="8" name="Text 4"/>
          <p:cNvSpPr/>
          <p:nvPr/>
        </p:nvSpPr>
        <p:spPr>
          <a:xfrm>
            <a:off x="566928" y="4169664"/>
            <a:ext cx="7863840" cy="731520"/>
          </a:xfrm>
          <a:prstGeom prst="rect">
            <a:avLst/>
          </a:prstGeom>
          <a:noFill/>
          <a:ln/>
        </p:spPr>
        <p:txBody>
          <a:bodyPr wrap="square" lIns="0" tIns="0" rIns="0" bIns="0" rtlCol="0" anchor="t"/>
          <a:lstStyle/>
          <a:p>
            <a:pPr marL="0" indent="0">
              <a:lnSpc>
                <a:spcPct val="120000"/>
              </a:lnSpc>
              <a:buNone/>
            </a:pPr>
            <a:r>
              <a:rPr lang="en-US" sz="1600" dirty="0">
                <a:solidFill>
                  <a:srgbClr val="B9B4E0"/>
                </a:solidFill>
                <a:latin typeface="Calibri" pitchFamily="34" charset="0"/>
                <a:ea typeface="Calibri" pitchFamily="34" charset="-122"/>
                <a:cs typeface="Calibri" pitchFamily="34" charset="-120"/>
              </a:rPr>
              <a:t>What should we actually automate, and how far should it go?</a:t>
            </a:r>
            <a:endParaRPr lang="en-US" sz="16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17 · PROCESS RE-ENGINEERING</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3000" b="1" dirty="0">
                <a:solidFill>
                  <a:srgbClr val="141235"/>
                </a:solidFill>
                <a:latin typeface="Cambria" pitchFamily="34" charset="0"/>
                <a:ea typeface="Cambria" pitchFamily="34" charset="-122"/>
                <a:cs typeface="Cambria" pitchFamily="34" charset="-120"/>
              </a:rPr>
              <a:t>Find the simplest thing that works, then stop</a:t>
            </a:r>
            <a:endParaRPr lang="en-US" sz="3000" dirty="0"/>
          </a:p>
        </p:txBody>
      </p:sp>
      <p:sp>
        <p:nvSpPr>
          <p:cNvPr id="4" name="Shape 2"/>
          <p:cNvSpPr/>
          <p:nvPr/>
        </p:nvSpPr>
        <p:spPr>
          <a:xfrm>
            <a:off x="566928" y="1810512"/>
            <a:ext cx="11057839" cy="658368"/>
          </a:xfrm>
          <a:prstGeom prst="roundRect">
            <a:avLst>
              <a:gd name="adj" fmla="val 11111"/>
            </a:avLst>
          </a:prstGeom>
          <a:solidFill>
            <a:srgbClr val="FFFFFF"/>
          </a:solidFill>
          <a:ln w="12700">
            <a:solidFill>
              <a:srgbClr val="E3E4F2"/>
            </a:solidFill>
            <a:prstDash val="solid"/>
          </a:ln>
          <a:effectLst>
            <a:outerShdw blurRad="88900" dist="445" dir="5400000" algn="bl" rotWithShape="0">
              <a:srgbClr val="1B1A4A">
                <a:alpha val="6000"/>
              </a:srgbClr>
            </a:outerShdw>
          </a:effectLst>
        </p:spPr>
        <p:txBody>
          <a:bodyPr/>
          <a:lstStyle/>
          <a:p>
            <a:endParaRPr lang="en-US"/>
          </a:p>
        </p:txBody>
      </p:sp>
      <p:sp>
        <p:nvSpPr>
          <p:cNvPr id="5" name="Text 3"/>
          <p:cNvSpPr/>
          <p:nvPr/>
        </p:nvSpPr>
        <p:spPr>
          <a:xfrm>
            <a:off x="749808" y="1810512"/>
            <a:ext cx="365760" cy="658368"/>
          </a:xfrm>
          <a:prstGeom prst="rect">
            <a:avLst/>
          </a:prstGeom>
          <a:noFill/>
          <a:ln/>
        </p:spPr>
        <p:txBody>
          <a:bodyPr wrap="square" lIns="0" tIns="0" rIns="0" bIns="0" rtlCol="0" anchor="ctr"/>
          <a:lstStyle/>
          <a:p>
            <a:pPr marL="0" indent="0" algn="ctr">
              <a:buNone/>
            </a:pPr>
            <a:r>
              <a:rPr lang="en-US" sz="2000" b="1" dirty="0">
                <a:solidFill>
                  <a:srgbClr val="8E82F5"/>
                </a:solidFill>
                <a:latin typeface="Cambria" pitchFamily="34" charset="0"/>
                <a:ea typeface="Cambria" pitchFamily="34" charset="-122"/>
                <a:cs typeface="Cambria" pitchFamily="34" charset="-120"/>
              </a:rPr>
              <a:t>1</a:t>
            </a:r>
            <a:endParaRPr lang="en-US" sz="2000" dirty="0"/>
          </a:p>
        </p:txBody>
      </p:sp>
      <p:sp>
        <p:nvSpPr>
          <p:cNvPr id="6" name="Text 4"/>
          <p:cNvSpPr/>
          <p:nvPr/>
        </p:nvSpPr>
        <p:spPr>
          <a:xfrm>
            <a:off x="1225296" y="1810512"/>
            <a:ext cx="3291840" cy="658368"/>
          </a:xfrm>
          <a:prstGeom prst="rect">
            <a:avLst/>
          </a:prstGeom>
          <a:noFill/>
          <a:ln/>
        </p:spPr>
        <p:txBody>
          <a:bodyPr wrap="square" lIns="0" tIns="0" rIns="0" bIns="0" rtlCol="0" anchor="ctr"/>
          <a:lstStyle/>
          <a:p>
            <a:pPr marL="0" indent="0">
              <a:buNone/>
            </a:pPr>
            <a:r>
              <a:rPr lang="en-US" sz="1450" b="1" dirty="0">
                <a:solidFill>
                  <a:srgbClr val="141235"/>
                </a:solidFill>
                <a:latin typeface="Calibri" pitchFamily="34" charset="0"/>
                <a:ea typeface="Calibri" pitchFamily="34" charset="-122"/>
                <a:cs typeface="Calibri" pitchFamily="34" charset="-120"/>
              </a:rPr>
              <a:t>A single model call</a:t>
            </a:r>
            <a:endParaRPr lang="en-US" sz="1450" dirty="0"/>
          </a:p>
        </p:txBody>
      </p:sp>
      <p:sp>
        <p:nvSpPr>
          <p:cNvPr id="7" name="Text 5"/>
          <p:cNvSpPr/>
          <p:nvPr/>
        </p:nvSpPr>
        <p:spPr>
          <a:xfrm>
            <a:off x="4590288" y="1810512"/>
            <a:ext cx="3291840" cy="658368"/>
          </a:xfrm>
          <a:prstGeom prst="rect">
            <a:avLst/>
          </a:prstGeom>
          <a:noFill/>
          <a:ln/>
        </p:spPr>
        <p:txBody>
          <a:bodyPr wrap="square" lIns="0" tIns="0" rIns="0" bIns="0" rtlCol="0" anchor="ctr"/>
          <a:lstStyle/>
          <a:p>
            <a:pPr marL="0" indent="0">
              <a:buNone/>
            </a:pPr>
            <a:r>
              <a:rPr lang="en-US" sz="1150" dirty="0">
                <a:solidFill>
                  <a:srgbClr val="6E6B8A"/>
                </a:solidFill>
                <a:latin typeface="Calibri" pitchFamily="34" charset="0"/>
                <a:ea typeface="Calibri" pitchFamily="34" charset="-122"/>
                <a:cs typeface="Calibri" pitchFamily="34" charset="-120"/>
              </a:rPr>
              <a:t>No tools, no loop, no retrieval.</a:t>
            </a:r>
            <a:endParaRPr lang="en-US" sz="1150" dirty="0"/>
          </a:p>
        </p:txBody>
      </p:sp>
      <p:sp>
        <p:nvSpPr>
          <p:cNvPr id="8" name="Shape 6"/>
          <p:cNvSpPr/>
          <p:nvPr/>
        </p:nvSpPr>
        <p:spPr>
          <a:xfrm>
            <a:off x="950976" y="2569464"/>
            <a:ext cx="10673791" cy="658368"/>
          </a:xfrm>
          <a:prstGeom prst="roundRect">
            <a:avLst>
              <a:gd name="adj" fmla="val 11111"/>
            </a:avLst>
          </a:prstGeom>
          <a:solidFill>
            <a:srgbClr val="FFFFFF"/>
          </a:solidFill>
          <a:ln w="12700">
            <a:solidFill>
              <a:srgbClr val="E3E4F2"/>
            </a:solidFill>
            <a:prstDash val="solid"/>
          </a:ln>
          <a:effectLst>
            <a:outerShdw blurRad="88900" dist="445" dir="5400000" algn="bl" rotWithShape="0">
              <a:srgbClr val="1B1A4A">
                <a:alpha val="6000"/>
              </a:srgbClr>
            </a:outerShdw>
          </a:effectLst>
        </p:spPr>
        <p:txBody>
          <a:bodyPr/>
          <a:lstStyle/>
          <a:p>
            <a:endParaRPr lang="en-US"/>
          </a:p>
        </p:txBody>
      </p:sp>
      <p:sp>
        <p:nvSpPr>
          <p:cNvPr id="9" name="Text 7"/>
          <p:cNvSpPr/>
          <p:nvPr/>
        </p:nvSpPr>
        <p:spPr>
          <a:xfrm>
            <a:off x="1133856" y="2569464"/>
            <a:ext cx="365760" cy="658368"/>
          </a:xfrm>
          <a:prstGeom prst="rect">
            <a:avLst/>
          </a:prstGeom>
          <a:noFill/>
          <a:ln/>
        </p:spPr>
        <p:txBody>
          <a:bodyPr wrap="square" lIns="0" tIns="0" rIns="0" bIns="0" rtlCol="0" anchor="ctr"/>
          <a:lstStyle/>
          <a:p>
            <a:pPr marL="0" indent="0" algn="ctr">
              <a:buNone/>
            </a:pPr>
            <a:r>
              <a:rPr lang="en-US" sz="2000" b="1" dirty="0">
                <a:solidFill>
                  <a:srgbClr val="8E82F5"/>
                </a:solidFill>
                <a:latin typeface="Cambria" pitchFamily="34" charset="0"/>
                <a:ea typeface="Cambria" pitchFamily="34" charset="-122"/>
                <a:cs typeface="Cambria" pitchFamily="34" charset="-120"/>
              </a:rPr>
              <a:t>2</a:t>
            </a:r>
            <a:endParaRPr lang="en-US" sz="2000" dirty="0"/>
          </a:p>
        </p:txBody>
      </p:sp>
      <p:sp>
        <p:nvSpPr>
          <p:cNvPr id="10" name="Text 8"/>
          <p:cNvSpPr/>
          <p:nvPr/>
        </p:nvSpPr>
        <p:spPr>
          <a:xfrm>
            <a:off x="1609344" y="2569464"/>
            <a:ext cx="3291840" cy="658368"/>
          </a:xfrm>
          <a:prstGeom prst="rect">
            <a:avLst/>
          </a:prstGeom>
          <a:noFill/>
          <a:ln/>
        </p:spPr>
        <p:txBody>
          <a:bodyPr wrap="square" lIns="0" tIns="0" rIns="0" bIns="0" rtlCol="0" anchor="ctr"/>
          <a:lstStyle/>
          <a:p>
            <a:pPr marL="0" indent="0">
              <a:buNone/>
            </a:pPr>
            <a:r>
              <a:rPr lang="en-US" sz="1450" b="1" dirty="0">
                <a:solidFill>
                  <a:srgbClr val="141235"/>
                </a:solidFill>
                <a:latin typeface="Calibri" pitchFamily="34" charset="0"/>
                <a:ea typeface="Calibri" pitchFamily="34" charset="-122"/>
                <a:cs typeface="Calibri" pitchFamily="34" charset="-120"/>
              </a:rPr>
              <a:t>Plus retrieval and good examples</a:t>
            </a:r>
            <a:endParaRPr lang="en-US" sz="1450" dirty="0"/>
          </a:p>
        </p:txBody>
      </p:sp>
      <p:sp>
        <p:nvSpPr>
          <p:cNvPr id="11" name="Text 9"/>
          <p:cNvSpPr/>
          <p:nvPr/>
        </p:nvSpPr>
        <p:spPr>
          <a:xfrm>
            <a:off x="4974336" y="2569464"/>
            <a:ext cx="3291840" cy="658368"/>
          </a:xfrm>
          <a:prstGeom prst="rect">
            <a:avLst/>
          </a:prstGeom>
          <a:noFill/>
          <a:ln/>
        </p:spPr>
        <p:txBody>
          <a:bodyPr wrap="square" lIns="0" tIns="0" rIns="0" bIns="0" rtlCol="0" anchor="ctr"/>
          <a:lstStyle/>
          <a:p>
            <a:pPr marL="0" indent="0">
              <a:buNone/>
            </a:pPr>
            <a:r>
              <a:rPr lang="en-US" sz="1150" dirty="0">
                <a:solidFill>
                  <a:srgbClr val="6E6B8A"/>
                </a:solidFill>
                <a:latin typeface="Calibri" pitchFamily="34" charset="0"/>
                <a:ea typeface="Calibri" pitchFamily="34" charset="-122"/>
                <a:cs typeface="Calibri" pitchFamily="34" charset="-120"/>
              </a:rPr>
              <a:t>Grounded, cheap, predictable.</a:t>
            </a:r>
            <a:endParaRPr lang="en-US" sz="1150" dirty="0"/>
          </a:p>
        </p:txBody>
      </p:sp>
      <p:sp>
        <p:nvSpPr>
          <p:cNvPr id="12" name="Text 10"/>
          <p:cNvSpPr/>
          <p:nvPr/>
        </p:nvSpPr>
        <p:spPr>
          <a:xfrm>
            <a:off x="8357616" y="2569464"/>
            <a:ext cx="3084271" cy="658368"/>
          </a:xfrm>
          <a:prstGeom prst="rect">
            <a:avLst/>
          </a:prstGeom>
          <a:noFill/>
          <a:ln/>
        </p:spPr>
        <p:txBody>
          <a:bodyPr wrap="square" lIns="0" tIns="0" rIns="0" bIns="0" rtlCol="0" anchor="ctr"/>
          <a:lstStyle/>
          <a:p>
            <a:pPr marL="0" indent="0">
              <a:buNone/>
            </a:pPr>
            <a:r>
              <a:rPr lang="en-US" sz="1150" b="1" i="1" dirty="0">
                <a:solidFill>
                  <a:srgbClr val="0E9F6E"/>
                </a:solidFill>
                <a:latin typeface="Calibri" pitchFamily="34" charset="0"/>
                <a:ea typeface="Calibri" pitchFamily="34" charset="-122"/>
                <a:cs typeface="Calibri" pitchFamily="34" charset="-120"/>
              </a:rPr>
              <a:t>Most applications should stop here</a:t>
            </a:r>
            <a:endParaRPr lang="en-US" sz="1150" dirty="0"/>
          </a:p>
        </p:txBody>
      </p:sp>
      <p:sp>
        <p:nvSpPr>
          <p:cNvPr id="13" name="Shape 11"/>
          <p:cNvSpPr/>
          <p:nvPr/>
        </p:nvSpPr>
        <p:spPr>
          <a:xfrm>
            <a:off x="1335024" y="3328416"/>
            <a:ext cx="10289743" cy="658368"/>
          </a:xfrm>
          <a:prstGeom prst="roundRect">
            <a:avLst>
              <a:gd name="adj" fmla="val 11111"/>
            </a:avLst>
          </a:prstGeom>
          <a:solidFill>
            <a:srgbClr val="FFFFFF"/>
          </a:solidFill>
          <a:ln w="12700">
            <a:solidFill>
              <a:srgbClr val="E3E4F2"/>
            </a:solidFill>
            <a:prstDash val="solid"/>
          </a:ln>
          <a:effectLst>
            <a:outerShdw blurRad="88900" dist="445" dir="5400000" algn="bl" rotWithShape="0">
              <a:srgbClr val="1B1A4A">
                <a:alpha val="6000"/>
              </a:srgbClr>
            </a:outerShdw>
          </a:effectLst>
        </p:spPr>
        <p:txBody>
          <a:bodyPr/>
          <a:lstStyle/>
          <a:p>
            <a:endParaRPr lang="en-US"/>
          </a:p>
        </p:txBody>
      </p:sp>
      <p:sp>
        <p:nvSpPr>
          <p:cNvPr id="14" name="Text 12"/>
          <p:cNvSpPr/>
          <p:nvPr/>
        </p:nvSpPr>
        <p:spPr>
          <a:xfrm>
            <a:off x="1517904" y="3328416"/>
            <a:ext cx="365760" cy="658368"/>
          </a:xfrm>
          <a:prstGeom prst="rect">
            <a:avLst/>
          </a:prstGeom>
          <a:noFill/>
          <a:ln/>
        </p:spPr>
        <p:txBody>
          <a:bodyPr wrap="square" lIns="0" tIns="0" rIns="0" bIns="0" rtlCol="0" anchor="ctr"/>
          <a:lstStyle/>
          <a:p>
            <a:pPr marL="0" indent="0" algn="ctr">
              <a:buNone/>
            </a:pPr>
            <a:r>
              <a:rPr lang="en-US" sz="2000" b="1" dirty="0">
                <a:solidFill>
                  <a:srgbClr val="8E82F5"/>
                </a:solidFill>
                <a:latin typeface="Cambria" pitchFamily="34" charset="0"/>
                <a:ea typeface="Cambria" pitchFamily="34" charset="-122"/>
                <a:cs typeface="Cambria" pitchFamily="34" charset="-120"/>
              </a:rPr>
              <a:t>3</a:t>
            </a:r>
            <a:endParaRPr lang="en-US" sz="2000" dirty="0"/>
          </a:p>
        </p:txBody>
      </p:sp>
      <p:sp>
        <p:nvSpPr>
          <p:cNvPr id="15" name="Text 13"/>
          <p:cNvSpPr/>
          <p:nvPr/>
        </p:nvSpPr>
        <p:spPr>
          <a:xfrm>
            <a:off x="1993392" y="3328416"/>
            <a:ext cx="3291840" cy="658368"/>
          </a:xfrm>
          <a:prstGeom prst="rect">
            <a:avLst/>
          </a:prstGeom>
          <a:noFill/>
          <a:ln/>
        </p:spPr>
        <p:txBody>
          <a:bodyPr wrap="square" lIns="0" tIns="0" rIns="0" bIns="0" rtlCol="0" anchor="ctr"/>
          <a:lstStyle/>
          <a:p>
            <a:pPr marL="0" indent="0">
              <a:buNone/>
            </a:pPr>
            <a:r>
              <a:rPr lang="en-US" sz="1450" b="1" dirty="0">
                <a:solidFill>
                  <a:srgbClr val="141235"/>
                </a:solidFill>
                <a:latin typeface="Calibri" pitchFamily="34" charset="0"/>
                <a:ea typeface="Calibri" pitchFamily="34" charset="-122"/>
                <a:cs typeface="Calibri" pitchFamily="34" charset="-120"/>
              </a:rPr>
              <a:t>A fixed workflow</a:t>
            </a:r>
            <a:endParaRPr lang="en-US" sz="1450" dirty="0"/>
          </a:p>
        </p:txBody>
      </p:sp>
      <p:sp>
        <p:nvSpPr>
          <p:cNvPr id="16" name="Text 14"/>
          <p:cNvSpPr/>
          <p:nvPr/>
        </p:nvSpPr>
        <p:spPr>
          <a:xfrm>
            <a:off x="5358384" y="3328416"/>
            <a:ext cx="3291840" cy="658368"/>
          </a:xfrm>
          <a:prstGeom prst="rect">
            <a:avLst/>
          </a:prstGeom>
          <a:noFill/>
          <a:ln/>
        </p:spPr>
        <p:txBody>
          <a:bodyPr wrap="square" lIns="0" tIns="0" rIns="0" bIns="0" rtlCol="0" anchor="ctr"/>
          <a:lstStyle/>
          <a:p>
            <a:pPr marL="0" indent="0">
              <a:buNone/>
            </a:pPr>
            <a:r>
              <a:rPr lang="en-US" sz="1150" dirty="0">
                <a:solidFill>
                  <a:srgbClr val="6E6B8A"/>
                </a:solidFill>
                <a:latin typeface="Calibri" pitchFamily="34" charset="0"/>
                <a:ea typeface="Calibri" pitchFamily="34" charset="-122"/>
                <a:cs typeface="Calibri" pitchFamily="34" charset="-120"/>
              </a:rPr>
              <a:t>You wrote the steps. Testable end to end.</a:t>
            </a:r>
            <a:endParaRPr lang="en-US" sz="1150" dirty="0"/>
          </a:p>
        </p:txBody>
      </p:sp>
      <p:sp>
        <p:nvSpPr>
          <p:cNvPr id="17" name="Text 15"/>
          <p:cNvSpPr/>
          <p:nvPr/>
        </p:nvSpPr>
        <p:spPr>
          <a:xfrm>
            <a:off x="8741664" y="3328416"/>
            <a:ext cx="2700223" cy="658368"/>
          </a:xfrm>
          <a:prstGeom prst="rect">
            <a:avLst/>
          </a:prstGeom>
          <a:noFill/>
          <a:ln/>
        </p:spPr>
        <p:txBody>
          <a:bodyPr wrap="square" lIns="0" tIns="0" rIns="0" bIns="0" rtlCol="0" anchor="ctr"/>
          <a:lstStyle/>
          <a:p>
            <a:pPr marL="0" indent="0">
              <a:buNone/>
            </a:pPr>
            <a:r>
              <a:rPr lang="en-US" sz="1150" b="1" i="1" dirty="0">
                <a:solidFill>
                  <a:srgbClr val="0E9F6E"/>
                </a:solidFill>
                <a:latin typeface="Calibri" pitchFamily="34" charset="0"/>
                <a:ea typeface="Calibri" pitchFamily="34" charset="-122"/>
                <a:cs typeface="Calibri" pitchFamily="34" charset="-120"/>
              </a:rPr>
              <a:t>Most production systems should stop here</a:t>
            </a:r>
            <a:endParaRPr lang="en-US" sz="1150" dirty="0"/>
          </a:p>
        </p:txBody>
      </p:sp>
      <p:sp>
        <p:nvSpPr>
          <p:cNvPr id="18" name="Shape 16"/>
          <p:cNvSpPr/>
          <p:nvPr/>
        </p:nvSpPr>
        <p:spPr>
          <a:xfrm>
            <a:off x="1719072" y="4087368"/>
            <a:ext cx="9905695" cy="658368"/>
          </a:xfrm>
          <a:prstGeom prst="roundRect">
            <a:avLst>
              <a:gd name="adj" fmla="val 11111"/>
            </a:avLst>
          </a:prstGeom>
          <a:solidFill>
            <a:srgbClr val="FFF4E0"/>
          </a:solidFill>
          <a:ln w="12700">
            <a:solidFill>
              <a:srgbClr val="F0D5A6"/>
            </a:solidFill>
            <a:prstDash val="solid"/>
          </a:ln>
          <a:effectLst>
            <a:outerShdw blurRad="88900" dist="445" dir="5400000" algn="bl" rotWithShape="0">
              <a:srgbClr val="1B1A4A">
                <a:alpha val="6000"/>
              </a:srgbClr>
            </a:outerShdw>
          </a:effectLst>
        </p:spPr>
        <p:txBody>
          <a:bodyPr/>
          <a:lstStyle/>
          <a:p>
            <a:endParaRPr lang="en-US"/>
          </a:p>
        </p:txBody>
      </p:sp>
      <p:sp>
        <p:nvSpPr>
          <p:cNvPr id="19" name="Text 17"/>
          <p:cNvSpPr/>
          <p:nvPr/>
        </p:nvSpPr>
        <p:spPr>
          <a:xfrm>
            <a:off x="1901952" y="4087368"/>
            <a:ext cx="365760" cy="658368"/>
          </a:xfrm>
          <a:prstGeom prst="rect">
            <a:avLst/>
          </a:prstGeom>
          <a:noFill/>
          <a:ln/>
        </p:spPr>
        <p:txBody>
          <a:bodyPr wrap="square" lIns="0" tIns="0" rIns="0" bIns="0" rtlCol="0" anchor="ctr"/>
          <a:lstStyle/>
          <a:p>
            <a:pPr marL="0" indent="0" algn="ctr">
              <a:buNone/>
            </a:pPr>
            <a:r>
              <a:rPr lang="en-US" sz="2000" b="1" dirty="0">
                <a:solidFill>
                  <a:srgbClr val="E08700"/>
                </a:solidFill>
                <a:latin typeface="Cambria" pitchFamily="34" charset="0"/>
                <a:ea typeface="Cambria" pitchFamily="34" charset="-122"/>
                <a:cs typeface="Cambria" pitchFamily="34" charset="-120"/>
              </a:rPr>
              <a:t>4</a:t>
            </a:r>
            <a:endParaRPr lang="en-US" sz="2000" dirty="0"/>
          </a:p>
        </p:txBody>
      </p:sp>
      <p:sp>
        <p:nvSpPr>
          <p:cNvPr id="20" name="Text 18"/>
          <p:cNvSpPr/>
          <p:nvPr/>
        </p:nvSpPr>
        <p:spPr>
          <a:xfrm>
            <a:off x="2377440" y="4087368"/>
            <a:ext cx="3291840" cy="658368"/>
          </a:xfrm>
          <a:prstGeom prst="rect">
            <a:avLst/>
          </a:prstGeom>
          <a:noFill/>
          <a:ln/>
        </p:spPr>
        <p:txBody>
          <a:bodyPr wrap="square" lIns="0" tIns="0" rIns="0" bIns="0" rtlCol="0" anchor="ctr"/>
          <a:lstStyle/>
          <a:p>
            <a:pPr marL="0" indent="0">
              <a:buNone/>
            </a:pPr>
            <a:r>
              <a:rPr lang="en-US" sz="1450" b="1" dirty="0">
                <a:solidFill>
                  <a:srgbClr val="141235"/>
                </a:solidFill>
                <a:latin typeface="Calibri" pitchFamily="34" charset="0"/>
                <a:ea typeface="Calibri" pitchFamily="34" charset="-122"/>
                <a:cs typeface="Calibri" pitchFamily="34" charset="-120"/>
              </a:rPr>
              <a:t>An agent</a:t>
            </a:r>
            <a:endParaRPr lang="en-US" sz="1450" dirty="0"/>
          </a:p>
        </p:txBody>
      </p:sp>
      <p:sp>
        <p:nvSpPr>
          <p:cNvPr id="21" name="Text 19"/>
          <p:cNvSpPr/>
          <p:nvPr/>
        </p:nvSpPr>
        <p:spPr>
          <a:xfrm>
            <a:off x="5742432" y="4087368"/>
            <a:ext cx="3291840" cy="658368"/>
          </a:xfrm>
          <a:prstGeom prst="rect">
            <a:avLst/>
          </a:prstGeom>
          <a:noFill/>
          <a:ln/>
        </p:spPr>
        <p:txBody>
          <a:bodyPr wrap="square" lIns="0" tIns="0" rIns="0" bIns="0" rtlCol="0" anchor="ctr"/>
          <a:lstStyle/>
          <a:p>
            <a:pPr marL="0" indent="0">
              <a:buNone/>
            </a:pPr>
            <a:r>
              <a:rPr lang="en-US" sz="1150" dirty="0">
                <a:solidFill>
                  <a:srgbClr val="6E6B8A"/>
                </a:solidFill>
                <a:latin typeface="Calibri" pitchFamily="34" charset="0"/>
                <a:ea typeface="Calibri" pitchFamily="34" charset="-122"/>
                <a:cs typeface="Calibri" pitchFamily="34" charset="-120"/>
              </a:rPr>
              <a:t>The model chooses the next step.</a:t>
            </a:r>
            <a:endParaRPr lang="en-US" sz="1150" dirty="0"/>
          </a:p>
        </p:txBody>
      </p:sp>
      <p:sp>
        <p:nvSpPr>
          <p:cNvPr id="22" name="Text 20"/>
          <p:cNvSpPr/>
          <p:nvPr/>
        </p:nvSpPr>
        <p:spPr>
          <a:xfrm>
            <a:off x="9125712" y="4087368"/>
            <a:ext cx="2316175" cy="658368"/>
          </a:xfrm>
          <a:prstGeom prst="rect">
            <a:avLst/>
          </a:prstGeom>
          <a:noFill/>
          <a:ln/>
        </p:spPr>
        <p:txBody>
          <a:bodyPr wrap="square" lIns="0" tIns="0" rIns="0" bIns="0" rtlCol="0" anchor="ctr"/>
          <a:lstStyle/>
          <a:p>
            <a:pPr marL="0" indent="0">
              <a:buNone/>
            </a:pPr>
            <a:r>
              <a:rPr lang="en-US" sz="1150" b="1" i="1" dirty="0">
                <a:solidFill>
                  <a:srgbClr val="E08700"/>
                </a:solidFill>
                <a:latin typeface="Calibri" pitchFamily="34" charset="0"/>
                <a:ea typeface="Calibri" pitchFamily="34" charset="-122"/>
                <a:cs typeface="Calibri" pitchFamily="34" charset="-120"/>
              </a:rPr>
              <a:t>Only when the path genuinely cannot be predetermined</a:t>
            </a:r>
            <a:endParaRPr lang="en-US" sz="1150" dirty="0"/>
          </a:p>
        </p:txBody>
      </p:sp>
      <p:sp>
        <p:nvSpPr>
          <p:cNvPr id="23" name="Shape 21"/>
          <p:cNvSpPr/>
          <p:nvPr/>
        </p:nvSpPr>
        <p:spPr>
          <a:xfrm>
            <a:off x="2103120" y="4846320"/>
            <a:ext cx="9521647" cy="658368"/>
          </a:xfrm>
          <a:prstGeom prst="roundRect">
            <a:avLst>
              <a:gd name="adj" fmla="val 11111"/>
            </a:avLst>
          </a:prstGeom>
          <a:solidFill>
            <a:srgbClr val="FFF4E0"/>
          </a:solidFill>
          <a:ln w="12700">
            <a:solidFill>
              <a:srgbClr val="F0D5A6"/>
            </a:solidFill>
            <a:prstDash val="solid"/>
          </a:ln>
          <a:effectLst>
            <a:outerShdw blurRad="88900" dist="445" dir="5400000" algn="bl" rotWithShape="0">
              <a:srgbClr val="1B1A4A">
                <a:alpha val="6000"/>
              </a:srgbClr>
            </a:outerShdw>
          </a:effectLst>
        </p:spPr>
        <p:txBody>
          <a:bodyPr/>
          <a:lstStyle/>
          <a:p>
            <a:endParaRPr lang="en-US"/>
          </a:p>
        </p:txBody>
      </p:sp>
      <p:sp>
        <p:nvSpPr>
          <p:cNvPr id="24" name="Text 22"/>
          <p:cNvSpPr/>
          <p:nvPr/>
        </p:nvSpPr>
        <p:spPr>
          <a:xfrm>
            <a:off x="2286000" y="4846320"/>
            <a:ext cx="365760" cy="658368"/>
          </a:xfrm>
          <a:prstGeom prst="rect">
            <a:avLst/>
          </a:prstGeom>
          <a:noFill/>
          <a:ln/>
        </p:spPr>
        <p:txBody>
          <a:bodyPr wrap="square" lIns="0" tIns="0" rIns="0" bIns="0" rtlCol="0" anchor="ctr"/>
          <a:lstStyle/>
          <a:p>
            <a:pPr marL="0" indent="0" algn="ctr">
              <a:buNone/>
            </a:pPr>
            <a:r>
              <a:rPr lang="en-US" sz="2000" b="1" dirty="0">
                <a:solidFill>
                  <a:srgbClr val="E08700"/>
                </a:solidFill>
                <a:latin typeface="Cambria" pitchFamily="34" charset="0"/>
                <a:ea typeface="Cambria" pitchFamily="34" charset="-122"/>
                <a:cs typeface="Cambria" pitchFamily="34" charset="-120"/>
              </a:rPr>
              <a:t>5</a:t>
            </a:r>
            <a:endParaRPr lang="en-US" sz="2000" dirty="0"/>
          </a:p>
        </p:txBody>
      </p:sp>
      <p:sp>
        <p:nvSpPr>
          <p:cNvPr id="25" name="Text 23"/>
          <p:cNvSpPr/>
          <p:nvPr/>
        </p:nvSpPr>
        <p:spPr>
          <a:xfrm>
            <a:off x="2761488" y="4846320"/>
            <a:ext cx="3291840" cy="658368"/>
          </a:xfrm>
          <a:prstGeom prst="rect">
            <a:avLst/>
          </a:prstGeom>
          <a:noFill/>
          <a:ln/>
        </p:spPr>
        <p:txBody>
          <a:bodyPr wrap="square" lIns="0" tIns="0" rIns="0" bIns="0" rtlCol="0" anchor="ctr"/>
          <a:lstStyle/>
          <a:p>
            <a:pPr marL="0" indent="0">
              <a:buNone/>
            </a:pPr>
            <a:r>
              <a:rPr lang="en-US" sz="1450" b="1" dirty="0">
                <a:solidFill>
                  <a:srgbClr val="141235"/>
                </a:solidFill>
                <a:latin typeface="Calibri" pitchFamily="34" charset="0"/>
                <a:ea typeface="Calibri" pitchFamily="34" charset="-122"/>
                <a:cs typeface="Calibri" pitchFamily="34" charset="-120"/>
              </a:rPr>
              <a:t>Multiple agents</a:t>
            </a:r>
            <a:endParaRPr lang="en-US" sz="1450" dirty="0"/>
          </a:p>
        </p:txBody>
      </p:sp>
      <p:sp>
        <p:nvSpPr>
          <p:cNvPr id="26" name="Text 24"/>
          <p:cNvSpPr/>
          <p:nvPr/>
        </p:nvSpPr>
        <p:spPr>
          <a:xfrm>
            <a:off x="6126480" y="4846320"/>
            <a:ext cx="3291840" cy="658368"/>
          </a:xfrm>
          <a:prstGeom prst="rect">
            <a:avLst/>
          </a:prstGeom>
          <a:noFill/>
          <a:ln/>
        </p:spPr>
        <p:txBody>
          <a:bodyPr wrap="square" lIns="0" tIns="0" rIns="0" bIns="0" rtlCol="0" anchor="ctr"/>
          <a:lstStyle/>
          <a:p>
            <a:pPr marL="0" indent="0">
              <a:buNone/>
            </a:pPr>
            <a:r>
              <a:rPr lang="en-US" sz="1150" dirty="0">
                <a:solidFill>
                  <a:srgbClr val="6E6B8A"/>
                </a:solidFill>
                <a:latin typeface="Calibri" pitchFamily="34" charset="0"/>
                <a:ea typeface="Calibri" pitchFamily="34" charset="-122"/>
                <a:cs typeface="Calibri" pitchFamily="34" charset="-120"/>
              </a:rPr>
              <a:t>Different tools, models or permissions.</a:t>
            </a:r>
            <a:endParaRPr lang="en-US" sz="1150" dirty="0"/>
          </a:p>
        </p:txBody>
      </p:sp>
      <p:sp>
        <p:nvSpPr>
          <p:cNvPr id="27" name="Text 25"/>
          <p:cNvSpPr/>
          <p:nvPr/>
        </p:nvSpPr>
        <p:spPr>
          <a:xfrm>
            <a:off x="9509760" y="4846320"/>
            <a:ext cx="1932127" cy="658368"/>
          </a:xfrm>
          <a:prstGeom prst="rect">
            <a:avLst/>
          </a:prstGeom>
          <a:noFill/>
          <a:ln/>
        </p:spPr>
        <p:txBody>
          <a:bodyPr wrap="square" lIns="0" tIns="0" rIns="0" bIns="0" rtlCol="0" anchor="ctr"/>
          <a:lstStyle/>
          <a:p>
            <a:pPr marL="0" indent="0">
              <a:buNone/>
            </a:pPr>
            <a:r>
              <a:rPr lang="en-US" sz="1150" b="1" i="1" dirty="0">
                <a:solidFill>
                  <a:srgbClr val="E08700"/>
                </a:solidFill>
                <a:latin typeface="Calibri" pitchFamily="34" charset="0"/>
                <a:ea typeface="Calibri" pitchFamily="34" charset="-122"/>
                <a:cs typeface="Calibri" pitchFamily="34" charset="-120"/>
              </a:rPr>
              <a:t>Only for the four reasons in module 13</a:t>
            </a:r>
            <a:endParaRPr lang="en-US" sz="1150" dirty="0"/>
          </a:p>
        </p:txBody>
      </p:sp>
      <p:sp>
        <p:nvSpPr>
          <p:cNvPr id="28" name="Shape 26"/>
          <p:cNvSpPr/>
          <p:nvPr/>
        </p:nvSpPr>
        <p:spPr>
          <a:xfrm>
            <a:off x="566928" y="5687568"/>
            <a:ext cx="11057839" cy="676656"/>
          </a:xfrm>
          <a:prstGeom prst="roundRect">
            <a:avLst>
              <a:gd name="adj" fmla="val 12162"/>
            </a:avLst>
          </a:prstGeom>
          <a:solidFill>
            <a:srgbClr val="FFF4E0"/>
          </a:solidFill>
          <a:ln w="12700">
            <a:solidFill>
              <a:srgbClr val="F3DCB0"/>
            </a:solidFill>
            <a:prstDash val="solid"/>
          </a:ln>
        </p:spPr>
        <p:txBody>
          <a:bodyPr/>
          <a:lstStyle/>
          <a:p>
            <a:endParaRPr lang="en-US"/>
          </a:p>
        </p:txBody>
      </p:sp>
      <p:sp>
        <p:nvSpPr>
          <p:cNvPr id="29" name="Shape 27"/>
          <p:cNvSpPr/>
          <p:nvPr/>
        </p:nvSpPr>
        <p:spPr>
          <a:xfrm>
            <a:off x="841248" y="5833872"/>
            <a:ext cx="384048" cy="384048"/>
          </a:xfrm>
          <a:prstGeom prst="ellipse">
            <a:avLst/>
          </a:prstGeom>
          <a:solidFill>
            <a:srgbClr val="F5A524"/>
          </a:solidFill>
          <a:ln w="12700">
            <a:solidFill>
              <a:srgbClr val="F5A524"/>
            </a:solidFill>
            <a:prstDash val="solid"/>
          </a:ln>
        </p:spPr>
        <p:txBody>
          <a:bodyPr/>
          <a:lstStyle/>
          <a:p>
            <a:endParaRPr lang="en-US"/>
          </a:p>
        </p:txBody>
      </p:sp>
      <p:pic>
        <p:nvPicPr>
          <p:cNvPr id="30" name="Image 0" descr="preencoded.png"/>
          <p:cNvPicPr>
            <a:picLocks noChangeAspect="1"/>
          </p:cNvPicPr>
          <p:nvPr/>
        </p:nvPicPr>
        <p:blipFill>
          <a:blip r:embed="rId3"/>
          <a:stretch>
            <a:fillRect/>
          </a:stretch>
        </p:blipFill>
        <p:spPr>
          <a:xfrm>
            <a:off x="937260" y="5929884"/>
            <a:ext cx="192024" cy="192024"/>
          </a:xfrm>
          <a:prstGeom prst="rect">
            <a:avLst/>
          </a:prstGeom>
        </p:spPr>
      </p:pic>
      <p:sp>
        <p:nvSpPr>
          <p:cNvPr id="31" name="Text 28"/>
          <p:cNvSpPr/>
          <p:nvPr/>
        </p:nvSpPr>
        <p:spPr>
          <a:xfrm>
            <a:off x="1371600" y="5742432"/>
            <a:ext cx="9960559" cy="566928"/>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Complexity is a cost you pay every day it is in production. Add a rung only when the one below it has actually failed you.</a:t>
            </a:r>
            <a:endParaRPr lang="en-US" sz="105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17 · PROCESS RE-ENGINEERING</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2600" b="1" dirty="0">
                <a:solidFill>
                  <a:srgbClr val="141235"/>
                </a:solidFill>
                <a:latin typeface="Cambria" pitchFamily="34" charset="0"/>
                <a:ea typeface="Cambria" pitchFamily="34" charset="-122"/>
                <a:cs typeface="Cambria" pitchFamily="34" charset="-120"/>
              </a:rPr>
              <a:t>Do you need an agent at all? Five questions, in this order.</a:t>
            </a:r>
            <a:endParaRPr lang="en-US" sz="2600" dirty="0"/>
          </a:p>
        </p:txBody>
      </p:sp>
      <p:sp>
        <p:nvSpPr>
          <p:cNvPr id="4" name="Shape 2"/>
          <p:cNvSpPr/>
          <p:nvPr/>
        </p:nvSpPr>
        <p:spPr>
          <a:xfrm>
            <a:off x="566928" y="1737360"/>
            <a:ext cx="5029200" cy="676656"/>
          </a:xfrm>
          <a:prstGeom prst="roundRect">
            <a:avLst>
              <a:gd name="adj" fmla="val 10811"/>
            </a:avLst>
          </a:prstGeom>
          <a:solidFill>
            <a:srgbClr val="FFFFFF"/>
          </a:solidFill>
          <a:ln w="17780">
            <a:solidFill>
              <a:srgbClr val="8E82F5"/>
            </a:solidFill>
            <a:prstDash val="solid"/>
          </a:ln>
          <a:effectLst>
            <a:outerShdw blurRad="101600" dist="508" dir="5400000" algn="bl" rotWithShape="0">
              <a:srgbClr val="1B1A4A">
                <a:alpha val="7000"/>
              </a:srgbClr>
            </a:outerShdw>
          </a:effectLst>
        </p:spPr>
        <p:txBody>
          <a:bodyPr/>
          <a:lstStyle/>
          <a:p>
            <a:endParaRPr lang="en-US"/>
          </a:p>
        </p:txBody>
      </p:sp>
      <p:sp>
        <p:nvSpPr>
          <p:cNvPr id="5" name="Text 3"/>
          <p:cNvSpPr/>
          <p:nvPr/>
        </p:nvSpPr>
        <p:spPr>
          <a:xfrm>
            <a:off x="749808" y="1737360"/>
            <a:ext cx="365760" cy="676656"/>
          </a:xfrm>
          <a:prstGeom prst="rect">
            <a:avLst/>
          </a:prstGeom>
          <a:noFill/>
          <a:ln/>
        </p:spPr>
        <p:txBody>
          <a:bodyPr wrap="square" lIns="0" tIns="0" rIns="0" bIns="0" rtlCol="0" anchor="ctr"/>
          <a:lstStyle/>
          <a:p>
            <a:pPr marL="0" indent="0" algn="ctr">
              <a:buNone/>
            </a:pPr>
            <a:r>
              <a:rPr lang="en-US" sz="2000" b="1" dirty="0">
                <a:solidFill>
                  <a:srgbClr val="8E82F5"/>
                </a:solidFill>
                <a:latin typeface="Cambria" pitchFamily="34" charset="0"/>
                <a:ea typeface="Cambria" pitchFamily="34" charset="-122"/>
                <a:cs typeface="Cambria" pitchFamily="34" charset="-120"/>
              </a:rPr>
              <a:t>1</a:t>
            </a:r>
            <a:endParaRPr lang="en-US" sz="2000" dirty="0"/>
          </a:p>
        </p:txBody>
      </p:sp>
      <p:sp>
        <p:nvSpPr>
          <p:cNvPr id="6" name="Text 4"/>
          <p:cNvSpPr/>
          <p:nvPr/>
        </p:nvSpPr>
        <p:spPr>
          <a:xfrm>
            <a:off x="1188720" y="1737360"/>
            <a:ext cx="4206240" cy="676656"/>
          </a:xfrm>
          <a:prstGeom prst="rect">
            <a:avLst/>
          </a:prstGeom>
          <a:noFill/>
          <a:ln/>
        </p:spPr>
        <p:txBody>
          <a:bodyPr wrap="square" lIns="0" tIns="0" rIns="0" bIns="0" rtlCol="0" anchor="ctr"/>
          <a:lstStyle/>
          <a:p>
            <a:pPr marL="0" indent="0">
              <a:buNone/>
            </a:pPr>
            <a:r>
              <a:rPr lang="en-US" sz="1300" b="1" dirty="0">
                <a:solidFill>
                  <a:srgbClr val="141235"/>
                </a:solidFill>
                <a:latin typeface="Calibri" pitchFamily="34" charset="0"/>
                <a:ea typeface="Calibri" pitchFamily="34" charset="-122"/>
                <a:cs typeface="Calibri" pitchFamily="34" charset="-120"/>
              </a:rPr>
              <a:t>Can you write the steps down?</a:t>
            </a:r>
            <a:endParaRPr lang="en-US" sz="1300" dirty="0"/>
          </a:p>
        </p:txBody>
      </p:sp>
      <p:sp>
        <p:nvSpPr>
          <p:cNvPr id="7" name="Shape 5"/>
          <p:cNvSpPr/>
          <p:nvPr/>
        </p:nvSpPr>
        <p:spPr>
          <a:xfrm>
            <a:off x="5650992" y="2075688"/>
            <a:ext cx="457200" cy="0"/>
          </a:xfrm>
          <a:prstGeom prst="line">
            <a:avLst/>
          </a:prstGeom>
          <a:noFill/>
          <a:ln w="25400">
            <a:solidFill>
              <a:srgbClr val="D93A3F"/>
            </a:solidFill>
            <a:prstDash val="solid"/>
            <a:headEnd type="none"/>
            <a:tailEnd type="triangle"/>
          </a:ln>
        </p:spPr>
        <p:txBody>
          <a:bodyPr/>
          <a:lstStyle/>
          <a:p>
            <a:endParaRPr lang="en-US"/>
          </a:p>
        </p:txBody>
      </p:sp>
      <p:sp>
        <p:nvSpPr>
          <p:cNvPr id="8" name="Text 6"/>
          <p:cNvSpPr/>
          <p:nvPr/>
        </p:nvSpPr>
        <p:spPr>
          <a:xfrm>
            <a:off x="5596128" y="1783080"/>
            <a:ext cx="566928" cy="219456"/>
          </a:xfrm>
          <a:prstGeom prst="rect">
            <a:avLst/>
          </a:prstGeom>
          <a:noFill/>
          <a:ln/>
        </p:spPr>
        <p:txBody>
          <a:bodyPr wrap="square" lIns="0" tIns="0" rIns="0" bIns="0" rtlCol="0" anchor="ctr"/>
          <a:lstStyle/>
          <a:p>
            <a:pPr marL="0" indent="0" algn="ctr">
              <a:buNone/>
            </a:pPr>
            <a:r>
              <a:rPr lang="en-US" sz="900" b="1" kern="0" spc="120" dirty="0">
                <a:solidFill>
                  <a:srgbClr val="D93A3F"/>
                </a:solidFill>
                <a:latin typeface="Calibri" pitchFamily="34" charset="0"/>
                <a:ea typeface="Calibri" pitchFamily="34" charset="-122"/>
                <a:cs typeface="Calibri" pitchFamily="34" charset="-120"/>
              </a:rPr>
              <a:t>YES</a:t>
            </a:r>
            <a:endParaRPr lang="en-US" sz="900" dirty="0"/>
          </a:p>
        </p:txBody>
      </p:sp>
      <p:sp>
        <p:nvSpPr>
          <p:cNvPr id="9" name="Shape 7"/>
          <p:cNvSpPr/>
          <p:nvPr/>
        </p:nvSpPr>
        <p:spPr>
          <a:xfrm>
            <a:off x="6181344" y="1737360"/>
            <a:ext cx="5443423" cy="676656"/>
          </a:xfrm>
          <a:prstGeom prst="roundRect">
            <a:avLst>
              <a:gd name="adj" fmla="val 10811"/>
            </a:avLst>
          </a:prstGeom>
          <a:solidFill>
            <a:srgbClr val="FDECEC"/>
          </a:solidFill>
          <a:ln w="12700">
            <a:solidFill>
              <a:srgbClr val="F1C9C9"/>
            </a:solidFill>
            <a:prstDash val="solid"/>
          </a:ln>
        </p:spPr>
        <p:txBody>
          <a:bodyPr/>
          <a:lstStyle/>
          <a:p>
            <a:endParaRPr lang="en-US"/>
          </a:p>
        </p:txBody>
      </p:sp>
      <p:sp>
        <p:nvSpPr>
          <p:cNvPr id="10" name="Shape 8"/>
          <p:cNvSpPr/>
          <p:nvPr/>
        </p:nvSpPr>
        <p:spPr>
          <a:xfrm>
            <a:off x="6382512" y="1892808"/>
            <a:ext cx="365760" cy="365760"/>
          </a:xfrm>
          <a:prstGeom prst="ellipse">
            <a:avLst/>
          </a:prstGeom>
          <a:solidFill>
            <a:srgbClr val="D93A3F"/>
          </a:solidFill>
          <a:ln w="12700">
            <a:solidFill>
              <a:srgbClr val="D93A3F"/>
            </a:solidFill>
            <a:prstDash val="solid"/>
          </a:ln>
        </p:spPr>
        <p:txBody>
          <a:bodyPr/>
          <a:lstStyle/>
          <a:p>
            <a:endParaRPr lang="en-US"/>
          </a:p>
        </p:txBody>
      </p:sp>
      <p:pic>
        <p:nvPicPr>
          <p:cNvPr id="11" name="Image 0" descr="preencoded.png"/>
          <p:cNvPicPr>
            <a:picLocks noChangeAspect="1"/>
          </p:cNvPicPr>
          <p:nvPr/>
        </p:nvPicPr>
        <p:blipFill>
          <a:blip r:embed="rId3"/>
          <a:stretch>
            <a:fillRect/>
          </a:stretch>
        </p:blipFill>
        <p:spPr>
          <a:xfrm>
            <a:off x="6473952" y="1984248"/>
            <a:ext cx="182880" cy="182880"/>
          </a:xfrm>
          <a:prstGeom prst="rect">
            <a:avLst/>
          </a:prstGeom>
        </p:spPr>
      </p:pic>
      <p:sp>
        <p:nvSpPr>
          <p:cNvPr id="12" name="Text 9"/>
          <p:cNvSpPr/>
          <p:nvPr/>
        </p:nvSpPr>
        <p:spPr>
          <a:xfrm>
            <a:off x="6876288" y="1737360"/>
            <a:ext cx="4547311" cy="676656"/>
          </a:xfrm>
          <a:prstGeom prst="rect">
            <a:avLst/>
          </a:prstGeom>
          <a:noFill/>
          <a:ln/>
        </p:spPr>
        <p:txBody>
          <a:bodyPr wrap="square" lIns="0" tIns="0" rIns="0" bIns="0" rtlCol="0" anchor="ctr"/>
          <a:lstStyle/>
          <a:p>
            <a:pPr marL="0" indent="0">
              <a:lnSpc>
                <a:spcPct val="110000"/>
              </a:lnSpc>
              <a:buNone/>
            </a:pPr>
            <a:r>
              <a:rPr lang="en-US" sz="1200" dirty="0">
                <a:solidFill>
                  <a:srgbClr val="3B3760"/>
                </a:solidFill>
                <a:latin typeface="Calibri" pitchFamily="34" charset="0"/>
                <a:ea typeface="Calibri" pitchFamily="34" charset="-122"/>
                <a:cs typeface="Calibri" pitchFamily="34" charset="-120"/>
              </a:rPr>
              <a:t>Build a workflow. Cheaper, testable, and it never surprises anyone.</a:t>
            </a:r>
            <a:endParaRPr lang="en-US" sz="1200" dirty="0"/>
          </a:p>
        </p:txBody>
      </p:sp>
      <p:sp>
        <p:nvSpPr>
          <p:cNvPr id="13" name="Shape 10"/>
          <p:cNvSpPr/>
          <p:nvPr/>
        </p:nvSpPr>
        <p:spPr>
          <a:xfrm>
            <a:off x="3081528" y="2418588"/>
            <a:ext cx="0" cy="114300"/>
          </a:xfrm>
          <a:prstGeom prst="line">
            <a:avLst/>
          </a:prstGeom>
          <a:noFill/>
          <a:ln w="20320">
            <a:solidFill>
              <a:srgbClr val="8E82F5"/>
            </a:solidFill>
            <a:prstDash val="solid"/>
            <a:headEnd type="none"/>
            <a:tailEnd type="triangle"/>
          </a:ln>
        </p:spPr>
        <p:txBody>
          <a:bodyPr/>
          <a:lstStyle/>
          <a:p>
            <a:endParaRPr lang="en-US"/>
          </a:p>
        </p:txBody>
      </p:sp>
      <p:sp>
        <p:nvSpPr>
          <p:cNvPr id="14" name="Shape 11"/>
          <p:cNvSpPr/>
          <p:nvPr/>
        </p:nvSpPr>
        <p:spPr>
          <a:xfrm>
            <a:off x="566928" y="2523744"/>
            <a:ext cx="5029200" cy="676656"/>
          </a:xfrm>
          <a:prstGeom prst="roundRect">
            <a:avLst>
              <a:gd name="adj" fmla="val 10811"/>
            </a:avLst>
          </a:prstGeom>
          <a:solidFill>
            <a:srgbClr val="FFFFFF"/>
          </a:solidFill>
          <a:ln w="17780">
            <a:solidFill>
              <a:srgbClr val="8E82F5"/>
            </a:solidFill>
            <a:prstDash val="solid"/>
          </a:ln>
          <a:effectLst>
            <a:outerShdw blurRad="101600" dist="508" dir="5400000" algn="bl" rotWithShape="0">
              <a:srgbClr val="1B1A4A">
                <a:alpha val="7000"/>
              </a:srgbClr>
            </a:outerShdw>
          </a:effectLst>
        </p:spPr>
        <p:txBody>
          <a:bodyPr/>
          <a:lstStyle/>
          <a:p>
            <a:endParaRPr lang="en-US"/>
          </a:p>
        </p:txBody>
      </p:sp>
      <p:sp>
        <p:nvSpPr>
          <p:cNvPr id="15" name="Text 12"/>
          <p:cNvSpPr/>
          <p:nvPr/>
        </p:nvSpPr>
        <p:spPr>
          <a:xfrm>
            <a:off x="749808" y="2523744"/>
            <a:ext cx="365760" cy="676656"/>
          </a:xfrm>
          <a:prstGeom prst="rect">
            <a:avLst/>
          </a:prstGeom>
          <a:noFill/>
          <a:ln/>
        </p:spPr>
        <p:txBody>
          <a:bodyPr wrap="square" lIns="0" tIns="0" rIns="0" bIns="0" rtlCol="0" anchor="ctr"/>
          <a:lstStyle/>
          <a:p>
            <a:pPr marL="0" indent="0" algn="ctr">
              <a:buNone/>
            </a:pPr>
            <a:r>
              <a:rPr lang="en-US" sz="2000" b="1" dirty="0">
                <a:solidFill>
                  <a:srgbClr val="8E82F5"/>
                </a:solidFill>
                <a:latin typeface="Cambria" pitchFamily="34" charset="0"/>
                <a:ea typeface="Cambria" pitchFamily="34" charset="-122"/>
                <a:cs typeface="Cambria" pitchFamily="34" charset="-120"/>
              </a:rPr>
              <a:t>2</a:t>
            </a:r>
            <a:endParaRPr lang="en-US" sz="2000" dirty="0"/>
          </a:p>
        </p:txBody>
      </p:sp>
      <p:sp>
        <p:nvSpPr>
          <p:cNvPr id="16" name="Text 13"/>
          <p:cNvSpPr/>
          <p:nvPr/>
        </p:nvSpPr>
        <p:spPr>
          <a:xfrm>
            <a:off x="1188720" y="2523744"/>
            <a:ext cx="4206240" cy="676656"/>
          </a:xfrm>
          <a:prstGeom prst="rect">
            <a:avLst/>
          </a:prstGeom>
          <a:noFill/>
          <a:ln/>
        </p:spPr>
        <p:txBody>
          <a:bodyPr wrap="square" lIns="0" tIns="0" rIns="0" bIns="0" rtlCol="0" anchor="ctr"/>
          <a:lstStyle/>
          <a:p>
            <a:pPr marL="0" indent="0">
              <a:buNone/>
            </a:pPr>
            <a:r>
              <a:rPr lang="en-US" sz="1300" b="1" dirty="0">
                <a:solidFill>
                  <a:srgbClr val="141235"/>
                </a:solidFill>
                <a:latin typeface="Calibri" pitchFamily="34" charset="0"/>
                <a:ea typeface="Calibri" pitchFamily="34" charset="-122"/>
                <a:cs typeface="Calibri" pitchFamily="34" charset="-120"/>
              </a:rPr>
              <a:t>Is the context written down anywhere a tool could read it?</a:t>
            </a:r>
            <a:endParaRPr lang="en-US" sz="1300" dirty="0"/>
          </a:p>
        </p:txBody>
      </p:sp>
      <p:sp>
        <p:nvSpPr>
          <p:cNvPr id="17" name="Shape 14"/>
          <p:cNvSpPr/>
          <p:nvPr/>
        </p:nvSpPr>
        <p:spPr>
          <a:xfrm>
            <a:off x="5650992" y="2862072"/>
            <a:ext cx="457200" cy="0"/>
          </a:xfrm>
          <a:prstGeom prst="line">
            <a:avLst/>
          </a:prstGeom>
          <a:noFill/>
          <a:ln w="25400">
            <a:solidFill>
              <a:srgbClr val="D93A3F"/>
            </a:solidFill>
            <a:prstDash val="solid"/>
            <a:headEnd type="none"/>
            <a:tailEnd type="triangle"/>
          </a:ln>
        </p:spPr>
        <p:txBody>
          <a:bodyPr/>
          <a:lstStyle/>
          <a:p>
            <a:endParaRPr lang="en-US"/>
          </a:p>
        </p:txBody>
      </p:sp>
      <p:sp>
        <p:nvSpPr>
          <p:cNvPr id="18" name="Text 15"/>
          <p:cNvSpPr/>
          <p:nvPr/>
        </p:nvSpPr>
        <p:spPr>
          <a:xfrm>
            <a:off x="5596128" y="2569464"/>
            <a:ext cx="566928" cy="219456"/>
          </a:xfrm>
          <a:prstGeom prst="rect">
            <a:avLst/>
          </a:prstGeom>
          <a:noFill/>
          <a:ln/>
        </p:spPr>
        <p:txBody>
          <a:bodyPr wrap="square" lIns="0" tIns="0" rIns="0" bIns="0" rtlCol="0" anchor="ctr"/>
          <a:lstStyle/>
          <a:p>
            <a:pPr marL="0" indent="0" algn="ctr">
              <a:buNone/>
            </a:pPr>
            <a:r>
              <a:rPr lang="en-US" sz="900" b="1" kern="0" spc="120" dirty="0">
                <a:solidFill>
                  <a:srgbClr val="D93A3F"/>
                </a:solidFill>
                <a:latin typeface="Calibri" pitchFamily="34" charset="0"/>
                <a:ea typeface="Calibri" pitchFamily="34" charset="-122"/>
                <a:cs typeface="Calibri" pitchFamily="34" charset="-120"/>
              </a:rPr>
              <a:t>NO</a:t>
            </a:r>
            <a:endParaRPr lang="en-US" sz="900" dirty="0"/>
          </a:p>
        </p:txBody>
      </p:sp>
      <p:sp>
        <p:nvSpPr>
          <p:cNvPr id="19" name="Shape 16"/>
          <p:cNvSpPr/>
          <p:nvPr/>
        </p:nvSpPr>
        <p:spPr>
          <a:xfrm>
            <a:off x="6181344" y="2523744"/>
            <a:ext cx="5443423" cy="676656"/>
          </a:xfrm>
          <a:prstGeom prst="roundRect">
            <a:avLst>
              <a:gd name="adj" fmla="val 10811"/>
            </a:avLst>
          </a:prstGeom>
          <a:solidFill>
            <a:srgbClr val="FDECEC"/>
          </a:solidFill>
          <a:ln w="12700">
            <a:solidFill>
              <a:srgbClr val="F1C9C9"/>
            </a:solidFill>
            <a:prstDash val="solid"/>
          </a:ln>
        </p:spPr>
        <p:txBody>
          <a:bodyPr/>
          <a:lstStyle/>
          <a:p>
            <a:endParaRPr lang="en-US"/>
          </a:p>
        </p:txBody>
      </p:sp>
      <p:sp>
        <p:nvSpPr>
          <p:cNvPr id="20" name="Shape 17"/>
          <p:cNvSpPr/>
          <p:nvPr/>
        </p:nvSpPr>
        <p:spPr>
          <a:xfrm>
            <a:off x="6382512" y="2679192"/>
            <a:ext cx="365760" cy="365760"/>
          </a:xfrm>
          <a:prstGeom prst="ellipse">
            <a:avLst/>
          </a:prstGeom>
          <a:solidFill>
            <a:srgbClr val="D93A3F"/>
          </a:solidFill>
          <a:ln w="12700">
            <a:solidFill>
              <a:srgbClr val="D93A3F"/>
            </a:solidFill>
            <a:prstDash val="solid"/>
          </a:ln>
        </p:spPr>
        <p:txBody>
          <a:bodyPr/>
          <a:lstStyle/>
          <a:p>
            <a:endParaRPr lang="en-US"/>
          </a:p>
        </p:txBody>
      </p:sp>
      <p:pic>
        <p:nvPicPr>
          <p:cNvPr id="21" name="Image 1" descr="preencoded.png"/>
          <p:cNvPicPr>
            <a:picLocks noChangeAspect="1"/>
          </p:cNvPicPr>
          <p:nvPr/>
        </p:nvPicPr>
        <p:blipFill>
          <a:blip r:embed="rId3"/>
          <a:stretch>
            <a:fillRect/>
          </a:stretch>
        </p:blipFill>
        <p:spPr>
          <a:xfrm>
            <a:off x="6473952" y="2770632"/>
            <a:ext cx="182880" cy="182880"/>
          </a:xfrm>
          <a:prstGeom prst="rect">
            <a:avLst/>
          </a:prstGeom>
        </p:spPr>
      </p:pic>
      <p:sp>
        <p:nvSpPr>
          <p:cNvPr id="22" name="Text 18"/>
          <p:cNvSpPr/>
          <p:nvPr/>
        </p:nvSpPr>
        <p:spPr>
          <a:xfrm>
            <a:off x="6876288" y="2523744"/>
            <a:ext cx="4547311" cy="676656"/>
          </a:xfrm>
          <a:prstGeom prst="rect">
            <a:avLst/>
          </a:prstGeom>
          <a:noFill/>
          <a:ln/>
        </p:spPr>
        <p:txBody>
          <a:bodyPr wrap="square" lIns="0" tIns="0" rIns="0" bIns="0" rtlCol="0" anchor="ctr"/>
          <a:lstStyle/>
          <a:p>
            <a:pPr marL="0" indent="0">
              <a:lnSpc>
                <a:spcPct val="110000"/>
              </a:lnSpc>
              <a:buNone/>
            </a:pPr>
            <a:r>
              <a:rPr lang="en-US" sz="1200" dirty="0">
                <a:solidFill>
                  <a:srgbClr val="3B3760"/>
                </a:solidFill>
                <a:latin typeface="Calibri" pitchFamily="34" charset="0"/>
                <a:ea typeface="Calibri" pitchFamily="34" charset="-122"/>
                <a:cs typeface="Calibri" pitchFamily="34" charset="-120"/>
              </a:rPr>
              <a:t>Stop. Fix the data or the process first — no agent can retrieve what nobody recorded.</a:t>
            </a:r>
            <a:endParaRPr lang="en-US" sz="1200" dirty="0"/>
          </a:p>
        </p:txBody>
      </p:sp>
      <p:sp>
        <p:nvSpPr>
          <p:cNvPr id="23" name="Shape 19"/>
          <p:cNvSpPr/>
          <p:nvPr/>
        </p:nvSpPr>
        <p:spPr>
          <a:xfrm>
            <a:off x="3081528" y="3204972"/>
            <a:ext cx="0" cy="114300"/>
          </a:xfrm>
          <a:prstGeom prst="line">
            <a:avLst/>
          </a:prstGeom>
          <a:noFill/>
          <a:ln w="20320">
            <a:solidFill>
              <a:srgbClr val="8E82F5"/>
            </a:solidFill>
            <a:prstDash val="solid"/>
            <a:headEnd type="none"/>
            <a:tailEnd type="triangle"/>
          </a:ln>
        </p:spPr>
        <p:txBody>
          <a:bodyPr/>
          <a:lstStyle/>
          <a:p>
            <a:endParaRPr lang="en-US"/>
          </a:p>
        </p:txBody>
      </p:sp>
      <p:sp>
        <p:nvSpPr>
          <p:cNvPr id="24" name="Shape 20"/>
          <p:cNvSpPr/>
          <p:nvPr/>
        </p:nvSpPr>
        <p:spPr>
          <a:xfrm>
            <a:off x="566928" y="3310128"/>
            <a:ext cx="5029200" cy="676656"/>
          </a:xfrm>
          <a:prstGeom prst="roundRect">
            <a:avLst>
              <a:gd name="adj" fmla="val 10811"/>
            </a:avLst>
          </a:prstGeom>
          <a:solidFill>
            <a:srgbClr val="FFFFFF"/>
          </a:solidFill>
          <a:ln w="17780">
            <a:solidFill>
              <a:srgbClr val="8E82F5"/>
            </a:solidFill>
            <a:prstDash val="solid"/>
          </a:ln>
          <a:effectLst>
            <a:outerShdw blurRad="101600" dist="508" dir="5400000" algn="bl" rotWithShape="0">
              <a:srgbClr val="1B1A4A">
                <a:alpha val="7000"/>
              </a:srgbClr>
            </a:outerShdw>
          </a:effectLst>
        </p:spPr>
        <p:txBody>
          <a:bodyPr/>
          <a:lstStyle/>
          <a:p>
            <a:endParaRPr lang="en-US"/>
          </a:p>
        </p:txBody>
      </p:sp>
      <p:sp>
        <p:nvSpPr>
          <p:cNvPr id="25" name="Text 21"/>
          <p:cNvSpPr/>
          <p:nvPr/>
        </p:nvSpPr>
        <p:spPr>
          <a:xfrm>
            <a:off x="749808" y="3310128"/>
            <a:ext cx="365760" cy="676656"/>
          </a:xfrm>
          <a:prstGeom prst="rect">
            <a:avLst/>
          </a:prstGeom>
          <a:noFill/>
          <a:ln/>
        </p:spPr>
        <p:txBody>
          <a:bodyPr wrap="square" lIns="0" tIns="0" rIns="0" bIns="0" rtlCol="0" anchor="ctr"/>
          <a:lstStyle/>
          <a:p>
            <a:pPr marL="0" indent="0" algn="ctr">
              <a:buNone/>
            </a:pPr>
            <a:r>
              <a:rPr lang="en-US" sz="2000" b="1" dirty="0">
                <a:solidFill>
                  <a:srgbClr val="8E82F5"/>
                </a:solidFill>
                <a:latin typeface="Cambria" pitchFamily="34" charset="0"/>
                <a:ea typeface="Cambria" pitchFamily="34" charset="-122"/>
                <a:cs typeface="Cambria" pitchFamily="34" charset="-120"/>
              </a:rPr>
              <a:t>3</a:t>
            </a:r>
            <a:endParaRPr lang="en-US" sz="2000" dirty="0"/>
          </a:p>
        </p:txBody>
      </p:sp>
      <p:sp>
        <p:nvSpPr>
          <p:cNvPr id="26" name="Text 22"/>
          <p:cNvSpPr/>
          <p:nvPr/>
        </p:nvSpPr>
        <p:spPr>
          <a:xfrm>
            <a:off x="1188720" y="3310128"/>
            <a:ext cx="4206240" cy="676656"/>
          </a:xfrm>
          <a:prstGeom prst="rect">
            <a:avLst/>
          </a:prstGeom>
          <a:noFill/>
          <a:ln/>
        </p:spPr>
        <p:txBody>
          <a:bodyPr wrap="square" lIns="0" tIns="0" rIns="0" bIns="0" rtlCol="0" anchor="ctr"/>
          <a:lstStyle/>
          <a:p>
            <a:pPr marL="0" indent="0">
              <a:buNone/>
            </a:pPr>
            <a:r>
              <a:rPr lang="en-US" sz="1300" b="1" dirty="0">
                <a:solidFill>
                  <a:srgbClr val="141235"/>
                </a:solidFill>
                <a:latin typeface="Calibri" pitchFamily="34" charset="0"/>
                <a:ea typeface="Calibri" pitchFamily="34" charset="-122"/>
                <a:cs typeface="Calibri" pitchFamily="34" charset="-120"/>
              </a:rPr>
              <a:t>Is a wrong step recoverable?</a:t>
            </a:r>
            <a:endParaRPr lang="en-US" sz="1300" dirty="0"/>
          </a:p>
        </p:txBody>
      </p:sp>
      <p:sp>
        <p:nvSpPr>
          <p:cNvPr id="27" name="Shape 23"/>
          <p:cNvSpPr/>
          <p:nvPr/>
        </p:nvSpPr>
        <p:spPr>
          <a:xfrm>
            <a:off x="5650992" y="3648456"/>
            <a:ext cx="457200" cy="0"/>
          </a:xfrm>
          <a:prstGeom prst="line">
            <a:avLst/>
          </a:prstGeom>
          <a:noFill/>
          <a:ln w="25400">
            <a:solidFill>
              <a:srgbClr val="D93A3F"/>
            </a:solidFill>
            <a:prstDash val="solid"/>
            <a:headEnd type="none"/>
            <a:tailEnd type="triangle"/>
          </a:ln>
        </p:spPr>
        <p:txBody>
          <a:bodyPr/>
          <a:lstStyle/>
          <a:p>
            <a:endParaRPr lang="en-US"/>
          </a:p>
        </p:txBody>
      </p:sp>
      <p:sp>
        <p:nvSpPr>
          <p:cNvPr id="28" name="Text 24"/>
          <p:cNvSpPr/>
          <p:nvPr/>
        </p:nvSpPr>
        <p:spPr>
          <a:xfrm>
            <a:off x="5596128" y="3355848"/>
            <a:ext cx="566928" cy="219456"/>
          </a:xfrm>
          <a:prstGeom prst="rect">
            <a:avLst/>
          </a:prstGeom>
          <a:noFill/>
          <a:ln/>
        </p:spPr>
        <p:txBody>
          <a:bodyPr wrap="square" lIns="0" tIns="0" rIns="0" bIns="0" rtlCol="0" anchor="ctr"/>
          <a:lstStyle/>
          <a:p>
            <a:pPr marL="0" indent="0" algn="ctr">
              <a:buNone/>
            </a:pPr>
            <a:r>
              <a:rPr lang="en-US" sz="900" b="1" kern="0" spc="120" dirty="0">
                <a:solidFill>
                  <a:srgbClr val="D93A3F"/>
                </a:solidFill>
                <a:latin typeface="Calibri" pitchFamily="34" charset="0"/>
                <a:ea typeface="Calibri" pitchFamily="34" charset="-122"/>
                <a:cs typeface="Calibri" pitchFamily="34" charset="-120"/>
              </a:rPr>
              <a:t>NO</a:t>
            </a:r>
            <a:endParaRPr lang="en-US" sz="900" dirty="0"/>
          </a:p>
        </p:txBody>
      </p:sp>
      <p:sp>
        <p:nvSpPr>
          <p:cNvPr id="29" name="Shape 25"/>
          <p:cNvSpPr/>
          <p:nvPr/>
        </p:nvSpPr>
        <p:spPr>
          <a:xfrm>
            <a:off x="6181344" y="3310128"/>
            <a:ext cx="5443423" cy="676656"/>
          </a:xfrm>
          <a:prstGeom prst="roundRect">
            <a:avLst>
              <a:gd name="adj" fmla="val 10811"/>
            </a:avLst>
          </a:prstGeom>
          <a:solidFill>
            <a:srgbClr val="FDECEC"/>
          </a:solidFill>
          <a:ln w="12700">
            <a:solidFill>
              <a:srgbClr val="F1C9C9"/>
            </a:solidFill>
            <a:prstDash val="solid"/>
          </a:ln>
        </p:spPr>
        <p:txBody>
          <a:bodyPr/>
          <a:lstStyle/>
          <a:p>
            <a:endParaRPr lang="en-US"/>
          </a:p>
        </p:txBody>
      </p:sp>
      <p:sp>
        <p:nvSpPr>
          <p:cNvPr id="30" name="Shape 26"/>
          <p:cNvSpPr/>
          <p:nvPr/>
        </p:nvSpPr>
        <p:spPr>
          <a:xfrm>
            <a:off x="6382512" y="3465576"/>
            <a:ext cx="365760" cy="365760"/>
          </a:xfrm>
          <a:prstGeom prst="ellipse">
            <a:avLst/>
          </a:prstGeom>
          <a:solidFill>
            <a:srgbClr val="D93A3F"/>
          </a:solidFill>
          <a:ln w="12700">
            <a:solidFill>
              <a:srgbClr val="D93A3F"/>
            </a:solidFill>
            <a:prstDash val="solid"/>
          </a:ln>
        </p:spPr>
        <p:txBody>
          <a:bodyPr/>
          <a:lstStyle/>
          <a:p>
            <a:endParaRPr lang="en-US"/>
          </a:p>
        </p:txBody>
      </p:sp>
      <p:pic>
        <p:nvPicPr>
          <p:cNvPr id="31" name="Image 2" descr="preencoded.png"/>
          <p:cNvPicPr>
            <a:picLocks noChangeAspect="1"/>
          </p:cNvPicPr>
          <p:nvPr/>
        </p:nvPicPr>
        <p:blipFill>
          <a:blip r:embed="rId3"/>
          <a:stretch>
            <a:fillRect/>
          </a:stretch>
        </p:blipFill>
        <p:spPr>
          <a:xfrm>
            <a:off x="6473952" y="3557016"/>
            <a:ext cx="182880" cy="182880"/>
          </a:xfrm>
          <a:prstGeom prst="rect">
            <a:avLst/>
          </a:prstGeom>
        </p:spPr>
      </p:pic>
      <p:sp>
        <p:nvSpPr>
          <p:cNvPr id="32" name="Text 27"/>
          <p:cNvSpPr/>
          <p:nvPr/>
        </p:nvSpPr>
        <p:spPr>
          <a:xfrm>
            <a:off x="6876288" y="3310128"/>
            <a:ext cx="4547311" cy="676656"/>
          </a:xfrm>
          <a:prstGeom prst="rect">
            <a:avLst/>
          </a:prstGeom>
          <a:noFill/>
          <a:ln/>
        </p:spPr>
        <p:txBody>
          <a:bodyPr wrap="square" lIns="0" tIns="0" rIns="0" bIns="0" rtlCol="0" anchor="ctr"/>
          <a:lstStyle/>
          <a:p>
            <a:pPr marL="0" indent="0">
              <a:lnSpc>
                <a:spcPct val="110000"/>
              </a:lnSpc>
              <a:buNone/>
            </a:pPr>
            <a:r>
              <a:rPr lang="en-US" sz="1200" dirty="0">
                <a:solidFill>
                  <a:srgbClr val="3B3760"/>
                </a:solidFill>
                <a:latin typeface="Calibri" pitchFamily="34" charset="0"/>
                <a:ea typeface="Calibri" pitchFamily="34" charset="-122"/>
                <a:cs typeface="Calibri" pitchFamily="34" charset="-120"/>
              </a:rPr>
              <a:t>Then it cannot sit above “draft”. Put a person on the gate, or do not build it.</a:t>
            </a:r>
            <a:endParaRPr lang="en-US" sz="1200" dirty="0"/>
          </a:p>
        </p:txBody>
      </p:sp>
      <p:sp>
        <p:nvSpPr>
          <p:cNvPr id="33" name="Shape 28"/>
          <p:cNvSpPr/>
          <p:nvPr/>
        </p:nvSpPr>
        <p:spPr>
          <a:xfrm>
            <a:off x="3081528" y="3991356"/>
            <a:ext cx="0" cy="114300"/>
          </a:xfrm>
          <a:prstGeom prst="line">
            <a:avLst/>
          </a:prstGeom>
          <a:noFill/>
          <a:ln w="20320">
            <a:solidFill>
              <a:srgbClr val="8E82F5"/>
            </a:solidFill>
            <a:prstDash val="solid"/>
            <a:headEnd type="none"/>
            <a:tailEnd type="triangle"/>
          </a:ln>
        </p:spPr>
        <p:txBody>
          <a:bodyPr/>
          <a:lstStyle/>
          <a:p>
            <a:endParaRPr lang="en-US"/>
          </a:p>
        </p:txBody>
      </p:sp>
      <p:sp>
        <p:nvSpPr>
          <p:cNvPr id="34" name="Shape 29"/>
          <p:cNvSpPr/>
          <p:nvPr/>
        </p:nvSpPr>
        <p:spPr>
          <a:xfrm>
            <a:off x="566928" y="4096512"/>
            <a:ext cx="5029200" cy="676656"/>
          </a:xfrm>
          <a:prstGeom prst="roundRect">
            <a:avLst>
              <a:gd name="adj" fmla="val 10811"/>
            </a:avLst>
          </a:prstGeom>
          <a:solidFill>
            <a:srgbClr val="FFFFFF"/>
          </a:solidFill>
          <a:ln w="17780">
            <a:solidFill>
              <a:srgbClr val="8E82F5"/>
            </a:solidFill>
            <a:prstDash val="solid"/>
          </a:ln>
          <a:effectLst>
            <a:outerShdw blurRad="101600" dist="508" dir="5400000" algn="bl" rotWithShape="0">
              <a:srgbClr val="1B1A4A">
                <a:alpha val="7000"/>
              </a:srgbClr>
            </a:outerShdw>
          </a:effectLst>
        </p:spPr>
        <p:txBody>
          <a:bodyPr/>
          <a:lstStyle/>
          <a:p>
            <a:endParaRPr lang="en-US"/>
          </a:p>
        </p:txBody>
      </p:sp>
      <p:sp>
        <p:nvSpPr>
          <p:cNvPr id="35" name="Text 30"/>
          <p:cNvSpPr/>
          <p:nvPr/>
        </p:nvSpPr>
        <p:spPr>
          <a:xfrm>
            <a:off x="749808" y="4096512"/>
            <a:ext cx="365760" cy="676656"/>
          </a:xfrm>
          <a:prstGeom prst="rect">
            <a:avLst/>
          </a:prstGeom>
          <a:noFill/>
          <a:ln/>
        </p:spPr>
        <p:txBody>
          <a:bodyPr wrap="square" lIns="0" tIns="0" rIns="0" bIns="0" rtlCol="0" anchor="ctr"/>
          <a:lstStyle/>
          <a:p>
            <a:pPr marL="0" indent="0" algn="ctr">
              <a:buNone/>
            </a:pPr>
            <a:r>
              <a:rPr lang="en-US" sz="2000" b="1" dirty="0">
                <a:solidFill>
                  <a:srgbClr val="8E82F5"/>
                </a:solidFill>
                <a:latin typeface="Cambria" pitchFamily="34" charset="0"/>
                <a:ea typeface="Cambria" pitchFamily="34" charset="-122"/>
                <a:cs typeface="Cambria" pitchFamily="34" charset="-120"/>
              </a:rPr>
              <a:t>4</a:t>
            </a:r>
            <a:endParaRPr lang="en-US" sz="2000" dirty="0"/>
          </a:p>
        </p:txBody>
      </p:sp>
      <p:sp>
        <p:nvSpPr>
          <p:cNvPr id="36" name="Text 31"/>
          <p:cNvSpPr/>
          <p:nvPr/>
        </p:nvSpPr>
        <p:spPr>
          <a:xfrm>
            <a:off x="1188720" y="4096512"/>
            <a:ext cx="4206240" cy="676656"/>
          </a:xfrm>
          <a:prstGeom prst="rect">
            <a:avLst/>
          </a:prstGeom>
          <a:noFill/>
          <a:ln/>
        </p:spPr>
        <p:txBody>
          <a:bodyPr wrap="square" lIns="0" tIns="0" rIns="0" bIns="0" rtlCol="0" anchor="ctr"/>
          <a:lstStyle/>
          <a:p>
            <a:pPr marL="0" indent="0">
              <a:buNone/>
            </a:pPr>
            <a:r>
              <a:rPr lang="en-US" sz="1300" b="1" dirty="0">
                <a:solidFill>
                  <a:srgbClr val="141235"/>
                </a:solidFill>
                <a:latin typeface="Calibri" pitchFamily="34" charset="0"/>
                <a:ea typeface="Calibri" pitchFamily="34" charset="-122"/>
                <a:cs typeface="Calibri" pitchFamily="34" charset="-120"/>
              </a:rPr>
              <a:t>Does the volume justify the build and the running cost?</a:t>
            </a:r>
            <a:endParaRPr lang="en-US" sz="1300" dirty="0"/>
          </a:p>
        </p:txBody>
      </p:sp>
      <p:sp>
        <p:nvSpPr>
          <p:cNvPr id="37" name="Shape 32"/>
          <p:cNvSpPr/>
          <p:nvPr/>
        </p:nvSpPr>
        <p:spPr>
          <a:xfrm>
            <a:off x="5650992" y="4434840"/>
            <a:ext cx="457200" cy="0"/>
          </a:xfrm>
          <a:prstGeom prst="line">
            <a:avLst/>
          </a:prstGeom>
          <a:noFill/>
          <a:ln w="25400">
            <a:solidFill>
              <a:srgbClr val="D93A3F"/>
            </a:solidFill>
            <a:prstDash val="solid"/>
            <a:headEnd type="none"/>
            <a:tailEnd type="triangle"/>
          </a:ln>
        </p:spPr>
        <p:txBody>
          <a:bodyPr/>
          <a:lstStyle/>
          <a:p>
            <a:endParaRPr lang="en-US"/>
          </a:p>
        </p:txBody>
      </p:sp>
      <p:sp>
        <p:nvSpPr>
          <p:cNvPr id="38" name="Text 33"/>
          <p:cNvSpPr/>
          <p:nvPr/>
        </p:nvSpPr>
        <p:spPr>
          <a:xfrm>
            <a:off x="5596128" y="4142232"/>
            <a:ext cx="566928" cy="219456"/>
          </a:xfrm>
          <a:prstGeom prst="rect">
            <a:avLst/>
          </a:prstGeom>
          <a:noFill/>
          <a:ln/>
        </p:spPr>
        <p:txBody>
          <a:bodyPr wrap="square" lIns="0" tIns="0" rIns="0" bIns="0" rtlCol="0" anchor="ctr"/>
          <a:lstStyle/>
          <a:p>
            <a:pPr marL="0" indent="0" algn="ctr">
              <a:buNone/>
            </a:pPr>
            <a:r>
              <a:rPr lang="en-US" sz="900" b="1" kern="0" spc="120" dirty="0">
                <a:solidFill>
                  <a:srgbClr val="D93A3F"/>
                </a:solidFill>
                <a:latin typeface="Calibri" pitchFamily="34" charset="0"/>
                <a:ea typeface="Calibri" pitchFamily="34" charset="-122"/>
                <a:cs typeface="Calibri" pitchFamily="34" charset="-120"/>
              </a:rPr>
              <a:t>NO</a:t>
            </a:r>
            <a:endParaRPr lang="en-US" sz="900" dirty="0"/>
          </a:p>
        </p:txBody>
      </p:sp>
      <p:sp>
        <p:nvSpPr>
          <p:cNvPr id="39" name="Shape 34"/>
          <p:cNvSpPr/>
          <p:nvPr/>
        </p:nvSpPr>
        <p:spPr>
          <a:xfrm>
            <a:off x="6181344" y="4096512"/>
            <a:ext cx="5443423" cy="676656"/>
          </a:xfrm>
          <a:prstGeom prst="roundRect">
            <a:avLst>
              <a:gd name="adj" fmla="val 10811"/>
            </a:avLst>
          </a:prstGeom>
          <a:solidFill>
            <a:srgbClr val="FDECEC"/>
          </a:solidFill>
          <a:ln w="12700">
            <a:solidFill>
              <a:srgbClr val="F1C9C9"/>
            </a:solidFill>
            <a:prstDash val="solid"/>
          </a:ln>
        </p:spPr>
        <p:txBody>
          <a:bodyPr/>
          <a:lstStyle/>
          <a:p>
            <a:endParaRPr lang="en-US"/>
          </a:p>
        </p:txBody>
      </p:sp>
      <p:sp>
        <p:nvSpPr>
          <p:cNvPr id="40" name="Shape 35"/>
          <p:cNvSpPr/>
          <p:nvPr/>
        </p:nvSpPr>
        <p:spPr>
          <a:xfrm>
            <a:off x="6382512" y="4251960"/>
            <a:ext cx="365760" cy="365760"/>
          </a:xfrm>
          <a:prstGeom prst="ellipse">
            <a:avLst/>
          </a:prstGeom>
          <a:solidFill>
            <a:srgbClr val="D93A3F"/>
          </a:solidFill>
          <a:ln w="12700">
            <a:solidFill>
              <a:srgbClr val="D93A3F"/>
            </a:solidFill>
            <a:prstDash val="solid"/>
          </a:ln>
        </p:spPr>
        <p:txBody>
          <a:bodyPr/>
          <a:lstStyle/>
          <a:p>
            <a:endParaRPr lang="en-US"/>
          </a:p>
        </p:txBody>
      </p:sp>
      <p:pic>
        <p:nvPicPr>
          <p:cNvPr id="41" name="Image 3" descr="preencoded.png"/>
          <p:cNvPicPr>
            <a:picLocks noChangeAspect="1"/>
          </p:cNvPicPr>
          <p:nvPr/>
        </p:nvPicPr>
        <p:blipFill>
          <a:blip r:embed="rId3"/>
          <a:stretch>
            <a:fillRect/>
          </a:stretch>
        </p:blipFill>
        <p:spPr>
          <a:xfrm>
            <a:off x="6473952" y="4343400"/>
            <a:ext cx="182880" cy="182880"/>
          </a:xfrm>
          <a:prstGeom prst="rect">
            <a:avLst/>
          </a:prstGeom>
        </p:spPr>
      </p:pic>
      <p:sp>
        <p:nvSpPr>
          <p:cNvPr id="42" name="Text 36"/>
          <p:cNvSpPr/>
          <p:nvPr/>
        </p:nvSpPr>
        <p:spPr>
          <a:xfrm>
            <a:off x="6876288" y="4096512"/>
            <a:ext cx="4547311" cy="676656"/>
          </a:xfrm>
          <a:prstGeom prst="rect">
            <a:avLst/>
          </a:prstGeom>
          <a:noFill/>
          <a:ln/>
        </p:spPr>
        <p:txBody>
          <a:bodyPr wrap="square" lIns="0" tIns="0" rIns="0" bIns="0" rtlCol="0" anchor="ctr"/>
          <a:lstStyle/>
          <a:p>
            <a:pPr marL="0" indent="0">
              <a:lnSpc>
                <a:spcPct val="110000"/>
              </a:lnSpc>
              <a:buNone/>
            </a:pPr>
            <a:r>
              <a:rPr lang="en-US" sz="1200" dirty="0">
                <a:solidFill>
                  <a:srgbClr val="3B3760"/>
                </a:solidFill>
                <a:latin typeface="Calibri" pitchFamily="34" charset="0"/>
                <a:ea typeface="Calibri" pitchFamily="34" charset="-122"/>
                <a:cs typeface="Calibri" pitchFamily="34" charset="-120"/>
              </a:rPr>
              <a:t>Stop. Twelve cases a month is a person with a checklist, not a platform.</a:t>
            </a:r>
            <a:endParaRPr lang="en-US" sz="1200" dirty="0"/>
          </a:p>
        </p:txBody>
      </p:sp>
      <p:sp>
        <p:nvSpPr>
          <p:cNvPr id="43" name="Shape 37"/>
          <p:cNvSpPr/>
          <p:nvPr/>
        </p:nvSpPr>
        <p:spPr>
          <a:xfrm>
            <a:off x="3081528" y="4777740"/>
            <a:ext cx="0" cy="114300"/>
          </a:xfrm>
          <a:prstGeom prst="line">
            <a:avLst/>
          </a:prstGeom>
          <a:noFill/>
          <a:ln w="20320">
            <a:solidFill>
              <a:srgbClr val="8E82F5"/>
            </a:solidFill>
            <a:prstDash val="solid"/>
            <a:headEnd type="none"/>
            <a:tailEnd type="triangle"/>
          </a:ln>
        </p:spPr>
        <p:txBody>
          <a:bodyPr/>
          <a:lstStyle/>
          <a:p>
            <a:endParaRPr lang="en-US"/>
          </a:p>
        </p:txBody>
      </p:sp>
      <p:sp>
        <p:nvSpPr>
          <p:cNvPr id="44" name="Shape 38"/>
          <p:cNvSpPr/>
          <p:nvPr/>
        </p:nvSpPr>
        <p:spPr>
          <a:xfrm>
            <a:off x="566928" y="4882896"/>
            <a:ext cx="5029200" cy="676656"/>
          </a:xfrm>
          <a:prstGeom prst="roundRect">
            <a:avLst>
              <a:gd name="adj" fmla="val 10811"/>
            </a:avLst>
          </a:prstGeom>
          <a:solidFill>
            <a:srgbClr val="FFFFFF"/>
          </a:solidFill>
          <a:ln w="17780">
            <a:solidFill>
              <a:srgbClr val="8E82F5"/>
            </a:solidFill>
            <a:prstDash val="solid"/>
          </a:ln>
          <a:effectLst>
            <a:outerShdw blurRad="101600" dist="508" dir="5400000" algn="bl" rotWithShape="0">
              <a:srgbClr val="1B1A4A">
                <a:alpha val="7000"/>
              </a:srgbClr>
            </a:outerShdw>
          </a:effectLst>
        </p:spPr>
        <p:txBody>
          <a:bodyPr/>
          <a:lstStyle/>
          <a:p>
            <a:endParaRPr lang="en-US"/>
          </a:p>
        </p:txBody>
      </p:sp>
      <p:sp>
        <p:nvSpPr>
          <p:cNvPr id="45" name="Text 39"/>
          <p:cNvSpPr/>
          <p:nvPr/>
        </p:nvSpPr>
        <p:spPr>
          <a:xfrm>
            <a:off x="749808" y="4882896"/>
            <a:ext cx="365760" cy="676656"/>
          </a:xfrm>
          <a:prstGeom prst="rect">
            <a:avLst/>
          </a:prstGeom>
          <a:noFill/>
          <a:ln/>
        </p:spPr>
        <p:txBody>
          <a:bodyPr wrap="square" lIns="0" tIns="0" rIns="0" bIns="0" rtlCol="0" anchor="ctr"/>
          <a:lstStyle/>
          <a:p>
            <a:pPr marL="0" indent="0" algn="ctr">
              <a:buNone/>
            </a:pPr>
            <a:r>
              <a:rPr lang="en-US" sz="2000" b="1" dirty="0">
                <a:solidFill>
                  <a:srgbClr val="8E82F5"/>
                </a:solidFill>
                <a:latin typeface="Cambria" pitchFamily="34" charset="0"/>
                <a:ea typeface="Cambria" pitchFamily="34" charset="-122"/>
                <a:cs typeface="Cambria" pitchFamily="34" charset="-120"/>
              </a:rPr>
              <a:t>5</a:t>
            </a:r>
            <a:endParaRPr lang="en-US" sz="2000" dirty="0"/>
          </a:p>
        </p:txBody>
      </p:sp>
      <p:sp>
        <p:nvSpPr>
          <p:cNvPr id="46" name="Text 40"/>
          <p:cNvSpPr/>
          <p:nvPr/>
        </p:nvSpPr>
        <p:spPr>
          <a:xfrm>
            <a:off x="1188720" y="4882896"/>
            <a:ext cx="4206240" cy="676656"/>
          </a:xfrm>
          <a:prstGeom prst="rect">
            <a:avLst/>
          </a:prstGeom>
          <a:noFill/>
          <a:ln/>
        </p:spPr>
        <p:txBody>
          <a:bodyPr wrap="square" lIns="0" tIns="0" rIns="0" bIns="0" rtlCol="0" anchor="ctr"/>
          <a:lstStyle/>
          <a:p>
            <a:pPr marL="0" indent="0">
              <a:buNone/>
            </a:pPr>
            <a:r>
              <a:rPr lang="en-US" sz="1300" b="1" dirty="0">
                <a:solidFill>
                  <a:srgbClr val="141235"/>
                </a:solidFill>
                <a:latin typeface="Calibri" pitchFamily="34" charset="0"/>
                <a:ea typeface="Calibri" pitchFamily="34" charset="-122"/>
                <a:cs typeface="Calibri" pitchFamily="34" charset="-120"/>
              </a:rPr>
              <a:t>Will anyone own it in six months?</a:t>
            </a:r>
            <a:endParaRPr lang="en-US" sz="1300" dirty="0"/>
          </a:p>
        </p:txBody>
      </p:sp>
      <p:sp>
        <p:nvSpPr>
          <p:cNvPr id="47" name="Shape 41"/>
          <p:cNvSpPr/>
          <p:nvPr/>
        </p:nvSpPr>
        <p:spPr>
          <a:xfrm>
            <a:off x="5650992" y="5221224"/>
            <a:ext cx="457200" cy="0"/>
          </a:xfrm>
          <a:prstGeom prst="line">
            <a:avLst/>
          </a:prstGeom>
          <a:noFill/>
          <a:ln w="25400">
            <a:solidFill>
              <a:srgbClr val="0E9F6E"/>
            </a:solidFill>
            <a:prstDash val="solid"/>
            <a:headEnd type="none"/>
            <a:tailEnd type="triangle"/>
          </a:ln>
        </p:spPr>
        <p:txBody>
          <a:bodyPr/>
          <a:lstStyle/>
          <a:p>
            <a:endParaRPr lang="en-US"/>
          </a:p>
        </p:txBody>
      </p:sp>
      <p:sp>
        <p:nvSpPr>
          <p:cNvPr id="48" name="Text 42"/>
          <p:cNvSpPr/>
          <p:nvPr/>
        </p:nvSpPr>
        <p:spPr>
          <a:xfrm>
            <a:off x="5596128" y="4928616"/>
            <a:ext cx="566928" cy="219456"/>
          </a:xfrm>
          <a:prstGeom prst="rect">
            <a:avLst/>
          </a:prstGeom>
          <a:noFill/>
          <a:ln/>
        </p:spPr>
        <p:txBody>
          <a:bodyPr wrap="square" lIns="0" tIns="0" rIns="0" bIns="0" rtlCol="0" anchor="ctr"/>
          <a:lstStyle/>
          <a:p>
            <a:pPr marL="0" indent="0" algn="ctr">
              <a:buNone/>
            </a:pPr>
            <a:r>
              <a:rPr lang="en-US" sz="900" b="1" kern="0" spc="120" dirty="0">
                <a:solidFill>
                  <a:srgbClr val="0E9F6E"/>
                </a:solidFill>
                <a:latin typeface="Calibri" pitchFamily="34" charset="0"/>
                <a:ea typeface="Calibri" pitchFamily="34" charset="-122"/>
                <a:cs typeface="Calibri" pitchFamily="34" charset="-120"/>
              </a:rPr>
              <a:t>YES</a:t>
            </a:r>
            <a:endParaRPr lang="en-US" sz="900" dirty="0"/>
          </a:p>
        </p:txBody>
      </p:sp>
      <p:sp>
        <p:nvSpPr>
          <p:cNvPr id="49" name="Shape 43"/>
          <p:cNvSpPr/>
          <p:nvPr/>
        </p:nvSpPr>
        <p:spPr>
          <a:xfrm>
            <a:off x="6181344" y="4882896"/>
            <a:ext cx="5443423" cy="676656"/>
          </a:xfrm>
          <a:prstGeom prst="roundRect">
            <a:avLst>
              <a:gd name="adj" fmla="val 10811"/>
            </a:avLst>
          </a:prstGeom>
          <a:solidFill>
            <a:srgbClr val="E7F7F1"/>
          </a:solidFill>
          <a:ln w="12700">
            <a:solidFill>
              <a:srgbClr val="C2E6D7"/>
            </a:solidFill>
            <a:prstDash val="solid"/>
          </a:ln>
        </p:spPr>
        <p:txBody>
          <a:bodyPr/>
          <a:lstStyle/>
          <a:p>
            <a:endParaRPr lang="en-US"/>
          </a:p>
        </p:txBody>
      </p:sp>
      <p:sp>
        <p:nvSpPr>
          <p:cNvPr id="50" name="Shape 44"/>
          <p:cNvSpPr/>
          <p:nvPr/>
        </p:nvSpPr>
        <p:spPr>
          <a:xfrm>
            <a:off x="6382512" y="5038344"/>
            <a:ext cx="365760" cy="365760"/>
          </a:xfrm>
          <a:prstGeom prst="ellipse">
            <a:avLst/>
          </a:prstGeom>
          <a:solidFill>
            <a:srgbClr val="0E9F6E"/>
          </a:solidFill>
          <a:ln w="12700">
            <a:solidFill>
              <a:srgbClr val="0E9F6E"/>
            </a:solidFill>
            <a:prstDash val="solid"/>
          </a:ln>
        </p:spPr>
        <p:txBody>
          <a:bodyPr/>
          <a:lstStyle/>
          <a:p>
            <a:endParaRPr lang="en-US"/>
          </a:p>
        </p:txBody>
      </p:sp>
      <p:pic>
        <p:nvPicPr>
          <p:cNvPr id="51" name="Image 4" descr="preencoded.png"/>
          <p:cNvPicPr>
            <a:picLocks noChangeAspect="1"/>
          </p:cNvPicPr>
          <p:nvPr/>
        </p:nvPicPr>
        <p:blipFill>
          <a:blip r:embed="rId4"/>
          <a:stretch>
            <a:fillRect/>
          </a:stretch>
        </p:blipFill>
        <p:spPr>
          <a:xfrm>
            <a:off x="6473952" y="5129784"/>
            <a:ext cx="182880" cy="182880"/>
          </a:xfrm>
          <a:prstGeom prst="rect">
            <a:avLst/>
          </a:prstGeom>
        </p:spPr>
      </p:pic>
      <p:sp>
        <p:nvSpPr>
          <p:cNvPr id="52" name="Text 45"/>
          <p:cNvSpPr/>
          <p:nvPr/>
        </p:nvSpPr>
        <p:spPr>
          <a:xfrm>
            <a:off x="6876288" y="4882896"/>
            <a:ext cx="4547311" cy="676656"/>
          </a:xfrm>
          <a:prstGeom prst="rect">
            <a:avLst/>
          </a:prstGeom>
          <a:noFill/>
          <a:ln/>
        </p:spPr>
        <p:txBody>
          <a:bodyPr wrap="square" lIns="0" tIns="0" rIns="0" bIns="0" rtlCol="0" anchor="ctr"/>
          <a:lstStyle/>
          <a:p>
            <a:pPr marL="0" indent="0">
              <a:lnSpc>
                <a:spcPct val="110000"/>
              </a:lnSpc>
              <a:buNone/>
            </a:pPr>
            <a:r>
              <a:rPr lang="en-US" sz="1200" b="1" dirty="0">
                <a:solidFill>
                  <a:srgbClr val="141235"/>
                </a:solidFill>
                <a:latin typeface="Calibri" pitchFamily="34" charset="0"/>
                <a:ea typeface="Calibri" pitchFamily="34" charset="-122"/>
                <a:cs typeface="Calibri" pitchFamily="34" charset="-120"/>
              </a:rPr>
              <a:t>Build the agent. Start at the lowest tier that works.</a:t>
            </a:r>
            <a:endParaRPr lang="en-US" sz="1200" dirty="0"/>
          </a:p>
        </p:txBody>
      </p:sp>
      <p:sp>
        <p:nvSpPr>
          <p:cNvPr id="53" name="Shape 46"/>
          <p:cNvSpPr/>
          <p:nvPr/>
        </p:nvSpPr>
        <p:spPr>
          <a:xfrm>
            <a:off x="566928" y="5669280"/>
            <a:ext cx="11057839" cy="713232"/>
          </a:xfrm>
          <a:prstGeom prst="roundRect">
            <a:avLst>
              <a:gd name="adj" fmla="val 11538"/>
            </a:avLst>
          </a:prstGeom>
          <a:solidFill>
            <a:srgbClr val="FFF4E0"/>
          </a:solidFill>
          <a:ln w="12700">
            <a:solidFill>
              <a:srgbClr val="F3DCB0"/>
            </a:solidFill>
            <a:prstDash val="solid"/>
          </a:ln>
        </p:spPr>
        <p:txBody>
          <a:bodyPr/>
          <a:lstStyle/>
          <a:p>
            <a:endParaRPr lang="en-US"/>
          </a:p>
        </p:txBody>
      </p:sp>
      <p:sp>
        <p:nvSpPr>
          <p:cNvPr id="54" name="Shape 47"/>
          <p:cNvSpPr/>
          <p:nvPr/>
        </p:nvSpPr>
        <p:spPr>
          <a:xfrm>
            <a:off x="841248" y="5833872"/>
            <a:ext cx="384048" cy="384048"/>
          </a:xfrm>
          <a:prstGeom prst="ellipse">
            <a:avLst/>
          </a:prstGeom>
          <a:solidFill>
            <a:srgbClr val="F5A524"/>
          </a:solidFill>
          <a:ln w="12700">
            <a:solidFill>
              <a:srgbClr val="F5A524"/>
            </a:solidFill>
            <a:prstDash val="solid"/>
          </a:ln>
        </p:spPr>
        <p:txBody>
          <a:bodyPr/>
          <a:lstStyle/>
          <a:p>
            <a:endParaRPr lang="en-US"/>
          </a:p>
        </p:txBody>
      </p:sp>
      <p:pic>
        <p:nvPicPr>
          <p:cNvPr id="55" name="Image 5" descr="preencoded.png"/>
          <p:cNvPicPr>
            <a:picLocks noChangeAspect="1"/>
          </p:cNvPicPr>
          <p:nvPr/>
        </p:nvPicPr>
        <p:blipFill>
          <a:blip r:embed="rId5"/>
          <a:stretch>
            <a:fillRect/>
          </a:stretch>
        </p:blipFill>
        <p:spPr>
          <a:xfrm>
            <a:off x="937260" y="5929884"/>
            <a:ext cx="192024" cy="192024"/>
          </a:xfrm>
          <a:prstGeom prst="rect">
            <a:avLst/>
          </a:prstGeom>
        </p:spPr>
      </p:pic>
      <p:sp>
        <p:nvSpPr>
          <p:cNvPr id="56" name="Text 48"/>
          <p:cNvSpPr/>
          <p:nvPr/>
        </p:nvSpPr>
        <p:spPr>
          <a:xfrm>
            <a:off x="1371600" y="5724144"/>
            <a:ext cx="9960559" cy="603504"/>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Four of these five questions end in “no”, and that is the correct ratio. An honest no, argued from these five points, is a better deliverable than a proof of concept nobody adopts.</a:t>
            </a:r>
            <a:endParaRPr lang="en-US" sz="105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17 · PROCESS RE-ENGINEERING</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2800" b="1" dirty="0">
                <a:solidFill>
                  <a:srgbClr val="141235"/>
                </a:solidFill>
                <a:latin typeface="Cambria" pitchFamily="34" charset="0"/>
                <a:ea typeface="Cambria" pitchFamily="34" charset="-122"/>
                <a:cs typeface="Cambria" pitchFamily="34" charset="-120"/>
              </a:rPr>
              <a:t>Where this creates value, and where it still disappoints</a:t>
            </a:r>
            <a:endParaRPr lang="en-US" sz="2800" dirty="0"/>
          </a:p>
        </p:txBody>
      </p:sp>
      <p:sp>
        <p:nvSpPr>
          <p:cNvPr id="4" name="Shape 2"/>
          <p:cNvSpPr/>
          <p:nvPr/>
        </p:nvSpPr>
        <p:spPr>
          <a:xfrm>
            <a:off x="566928" y="2595433"/>
            <a:ext cx="5410048" cy="2179198"/>
          </a:xfrm>
          <a:prstGeom prst="roundRect">
            <a:avLst>
              <a:gd name="adj" fmla="val 3776"/>
            </a:avLst>
          </a:prstGeom>
          <a:solidFill>
            <a:srgbClr val="E7F7F1"/>
          </a:solidFill>
          <a:ln w="12700">
            <a:solidFill>
              <a:srgbClr val="C2E6D7"/>
            </a:solidFill>
            <a:prstDash val="solid"/>
          </a:ln>
          <a:effectLst>
            <a:outerShdw blurRad="114300" dist="572" dir="5400000" algn="bl" rotWithShape="0">
              <a:srgbClr val="1B1A4A">
                <a:alpha val="7000"/>
              </a:srgbClr>
            </a:outerShdw>
          </a:effectLst>
        </p:spPr>
        <p:txBody>
          <a:bodyPr/>
          <a:lstStyle/>
          <a:p>
            <a:endParaRPr lang="en-US"/>
          </a:p>
        </p:txBody>
      </p:sp>
      <p:sp>
        <p:nvSpPr>
          <p:cNvPr id="5" name="Shape 3"/>
          <p:cNvSpPr/>
          <p:nvPr/>
        </p:nvSpPr>
        <p:spPr>
          <a:xfrm>
            <a:off x="804672" y="2814889"/>
            <a:ext cx="365760" cy="365760"/>
          </a:xfrm>
          <a:prstGeom prst="ellipse">
            <a:avLst/>
          </a:prstGeom>
          <a:solidFill>
            <a:srgbClr val="0E9F6E"/>
          </a:solidFill>
          <a:ln w="12700">
            <a:solidFill>
              <a:srgbClr val="0E9F6E"/>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896112" y="2906329"/>
            <a:ext cx="182880" cy="182880"/>
          </a:xfrm>
          <a:prstGeom prst="rect">
            <a:avLst/>
          </a:prstGeom>
        </p:spPr>
      </p:pic>
      <p:sp>
        <p:nvSpPr>
          <p:cNvPr id="7" name="Text 4"/>
          <p:cNvSpPr/>
          <p:nvPr/>
        </p:nvSpPr>
        <p:spPr>
          <a:xfrm>
            <a:off x="1298448" y="2805745"/>
            <a:ext cx="4440784"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CREATES VALUE</a:t>
            </a:r>
            <a:endParaRPr lang="en-US" sz="850" dirty="0"/>
          </a:p>
        </p:txBody>
      </p:sp>
      <p:sp>
        <p:nvSpPr>
          <p:cNvPr id="8" name="Text 5"/>
          <p:cNvSpPr/>
          <p:nvPr/>
        </p:nvSpPr>
        <p:spPr>
          <a:xfrm>
            <a:off x="1298448" y="3025201"/>
            <a:ext cx="4440784" cy="670438"/>
          </a:xfrm>
          <a:prstGeom prst="rect">
            <a:avLst/>
          </a:prstGeom>
          <a:noFill/>
          <a:ln/>
        </p:spPr>
        <p:txBody>
          <a:bodyPr wrap="square" lIns="0" tIns="0" rIns="0" bIns="0" rtlCol="0" anchor="t"/>
          <a:lstStyle/>
          <a:p>
            <a:pPr marL="0" indent="0">
              <a:lnSpc>
                <a:spcPct val="105000"/>
              </a:lnSpc>
              <a:buNone/>
            </a:pPr>
            <a:r>
              <a:rPr lang="en-US" sz="1600" b="1" dirty="0">
                <a:solidFill>
                  <a:srgbClr val="141235"/>
                </a:solidFill>
                <a:latin typeface="Calibri" pitchFamily="34" charset="0"/>
                <a:ea typeface="Calibri" pitchFamily="34" charset="-122"/>
                <a:cs typeface="Calibri" pitchFamily="34" charset="-120"/>
              </a:rPr>
              <a:t>Real judgment, written-down context, recoverable mistakes</a:t>
            </a:r>
            <a:endParaRPr lang="en-US" sz="1600" dirty="0"/>
          </a:p>
        </p:txBody>
      </p:sp>
      <p:sp>
        <p:nvSpPr>
          <p:cNvPr id="9" name="Text 6"/>
          <p:cNvSpPr/>
          <p:nvPr/>
        </p:nvSpPr>
        <p:spPr>
          <a:xfrm>
            <a:off x="1298448" y="3704783"/>
            <a:ext cx="4440784" cy="886968"/>
          </a:xfrm>
          <a:prstGeom prst="rect">
            <a:avLst/>
          </a:prstGeom>
          <a:noFill/>
          <a:ln/>
        </p:spPr>
        <p:txBody>
          <a:bodyPr wrap="square" lIns="0" tIns="0" rIns="0" bIns="0" rtlCol="0" anchor="t"/>
          <a:lstStyle/>
          <a:p>
            <a:pPr marL="0" indent="0">
              <a:lnSpc>
                <a:spcPct val="113000"/>
              </a:lnSpc>
              <a:buNone/>
            </a:pPr>
            <a:r>
              <a:rPr lang="en-US" sz="1250" dirty="0">
                <a:solidFill>
                  <a:srgbClr val="6E6B8A"/>
                </a:solidFill>
                <a:latin typeface="Calibri" pitchFamily="34" charset="0"/>
                <a:ea typeface="Calibri" pitchFamily="34" charset="-122"/>
                <a:cs typeface="Calibri" pitchFamily="34" charset="-120"/>
              </a:rPr>
              <a:t>Work where a competent person would need to read several things and form a view — and where the things they would read actually exist in a system. Getting it wrong costs a correction, not a customer.</a:t>
            </a:r>
            <a:endParaRPr lang="en-US" sz="1250" dirty="0"/>
          </a:p>
        </p:txBody>
      </p:sp>
      <p:sp>
        <p:nvSpPr>
          <p:cNvPr id="10" name="Shape 7"/>
          <p:cNvSpPr/>
          <p:nvPr/>
        </p:nvSpPr>
        <p:spPr>
          <a:xfrm>
            <a:off x="6214720" y="2595433"/>
            <a:ext cx="5410048" cy="2179198"/>
          </a:xfrm>
          <a:prstGeom prst="roundRect">
            <a:avLst>
              <a:gd name="adj" fmla="val 3776"/>
            </a:avLst>
          </a:prstGeom>
          <a:solidFill>
            <a:srgbClr val="FDECEC"/>
          </a:solidFill>
          <a:ln w="12700">
            <a:solidFill>
              <a:srgbClr val="F1C9C9"/>
            </a:solidFill>
            <a:prstDash val="solid"/>
          </a:ln>
          <a:effectLst>
            <a:outerShdw blurRad="114300" dist="572" dir="5400000" algn="bl" rotWithShape="0">
              <a:srgbClr val="1B1A4A">
                <a:alpha val="7000"/>
              </a:srgbClr>
            </a:outerShdw>
          </a:effectLst>
        </p:spPr>
        <p:txBody>
          <a:bodyPr/>
          <a:lstStyle/>
          <a:p>
            <a:endParaRPr lang="en-US"/>
          </a:p>
        </p:txBody>
      </p:sp>
      <p:sp>
        <p:nvSpPr>
          <p:cNvPr id="11" name="Shape 8"/>
          <p:cNvSpPr/>
          <p:nvPr/>
        </p:nvSpPr>
        <p:spPr>
          <a:xfrm>
            <a:off x="6452464" y="2814889"/>
            <a:ext cx="365760" cy="365760"/>
          </a:xfrm>
          <a:prstGeom prst="ellipse">
            <a:avLst/>
          </a:prstGeom>
          <a:solidFill>
            <a:srgbClr val="D93A3F"/>
          </a:solidFill>
          <a:ln w="12700">
            <a:solidFill>
              <a:srgbClr val="D93A3F"/>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6543904" y="2906329"/>
            <a:ext cx="182880" cy="182880"/>
          </a:xfrm>
          <a:prstGeom prst="rect">
            <a:avLst/>
          </a:prstGeom>
        </p:spPr>
      </p:pic>
      <p:sp>
        <p:nvSpPr>
          <p:cNvPr id="13" name="Text 9"/>
          <p:cNvSpPr/>
          <p:nvPr/>
        </p:nvSpPr>
        <p:spPr>
          <a:xfrm>
            <a:off x="6946240" y="2805745"/>
            <a:ext cx="4440784"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STILL DISAPPOINTS</a:t>
            </a:r>
            <a:endParaRPr lang="en-US" sz="850" dirty="0"/>
          </a:p>
        </p:txBody>
      </p:sp>
      <p:sp>
        <p:nvSpPr>
          <p:cNvPr id="14" name="Text 10"/>
          <p:cNvSpPr/>
          <p:nvPr/>
        </p:nvSpPr>
        <p:spPr>
          <a:xfrm>
            <a:off x="6946240" y="3025201"/>
            <a:ext cx="4440784" cy="670438"/>
          </a:xfrm>
          <a:prstGeom prst="rect">
            <a:avLst/>
          </a:prstGeom>
          <a:noFill/>
          <a:ln/>
        </p:spPr>
        <p:txBody>
          <a:bodyPr wrap="square" lIns="0" tIns="0" rIns="0" bIns="0" rtlCol="0" anchor="t"/>
          <a:lstStyle/>
          <a:p>
            <a:pPr marL="0" indent="0">
              <a:lnSpc>
                <a:spcPct val="105000"/>
              </a:lnSpc>
              <a:buNone/>
            </a:pPr>
            <a:r>
              <a:rPr lang="en-US" sz="1600" b="1" dirty="0">
                <a:solidFill>
                  <a:srgbClr val="141235"/>
                </a:solidFill>
                <a:latin typeface="Calibri" pitchFamily="34" charset="0"/>
                <a:ea typeface="Calibri" pitchFamily="34" charset="-122"/>
                <a:cs typeface="Calibri" pitchFamily="34" charset="-120"/>
              </a:rPr>
              <a:t>High volume, low tolerance, missing context</a:t>
            </a:r>
            <a:endParaRPr lang="en-US" sz="1600" dirty="0"/>
          </a:p>
        </p:txBody>
      </p:sp>
      <p:sp>
        <p:nvSpPr>
          <p:cNvPr id="15" name="Text 11"/>
          <p:cNvSpPr/>
          <p:nvPr/>
        </p:nvSpPr>
        <p:spPr>
          <a:xfrm>
            <a:off x="6946240" y="3704783"/>
            <a:ext cx="4440784" cy="886968"/>
          </a:xfrm>
          <a:prstGeom prst="rect">
            <a:avLst/>
          </a:prstGeom>
          <a:noFill/>
          <a:ln/>
        </p:spPr>
        <p:txBody>
          <a:bodyPr wrap="square" lIns="0" tIns="0" rIns="0" bIns="0" rtlCol="0" anchor="t"/>
          <a:lstStyle/>
          <a:p>
            <a:pPr marL="0" indent="0">
              <a:lnSpc>
                <a:spcPct val="113000"/>
              </a:lnSpc>
              <a:buNone/>
            </a:pPr>
            <a:r>
              <a:rPr lang="en-US" sz="1250" dirty="0">
                <a:solidFill>
                  <a:srgbClr val="6E6B8A"/>
                </a:solidFill>
                <a:latin typeface="Calibri" pitchFamily="34" charset="0"/>
                <a:ea typeface="Calibri" pitchFamily="34" charset="-122"/>
                <a:cs typeface="Calibri" pitchFamily="34" charset="-120"/>
              </a:rPr>
              <a:t>Where a wrong step is unbounded or unrecoverable, where the margin for error is near zero at scale, or where the knowledge lives only in people's heads. Two of those three are not AI problems at all.</a:t>
            </a:r>
            <a:endParaRPr lang="en-US" sz="1250" dirty="0"/>
          </a:p>
        </p:txBody>
      </p:sp>
      <p:sp>
        <p:nvSpPr>
          <p:cNvPr id="16" name="Shape 12"/>
          <p:cNvSpPr/>
          <p:nvPr/>
        </p:nvSpPr>
        <p:spPr>
          <a:xfrm>
            <a:off x="566928" y="5541264"/>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17" name="Shape 13"/>
          <p:cNvSpPr/>
          <p:nvPr/>
        </p:nvSpPr>
        <p:spPr>
          <a:xfrm>
            <a:off x="841248" y="5760720"/>
            <a:ext cx="384048" cy="384048"/>
          </a:xfrm>
          <a:prstGeom prst="ellipse">
            <a:avLst/>
          </a:prstGeom>
          <a:solidFill>
            <a:srgbClr val="F5A524"/>
          </a:solidFill>
          <a:ln w="12700">
            <a:solidFill>
              <a:srgbClr val="F5A524"/>
            </a:solidFill>
            <a:prstDash val="solid"/>
          </a:ln>
        </p:spPr>
        <p:txBody>
          <a:bodyPr/>
          <a:lstStyle/>
          <a:p>
            <a:endParaRPr lang="en-US"/>
          </a:p>
        </p:txBody>
      </p:sp>
      <p:pic>
        <p:nvPicPr>
          <p:cNvPr id="18" name="Image 2" descr="preencoded.png"/>
          <p:cNvPicPr>
            <a:picLocks noChangeAspect="1"/>
          </p:cNvPicPr>
          <p:nvPr/>
        </p:nvPicPr>
        <p:blipFill>
          <a:blip r:embed="rId5"/>
          <a:stretch>
            <a:fillRect/>
          </a:stretch>
        </p:blipFill>
        <p:spPr>
          <a:xfrm>
            <a:off x="937260" y="5856732"/>
            <a:ext cx="192024" cy="192024"/>
          </a:xfrm>
          <a:prstGeom prst="rect">
            <a:avLst/>
          </a:prstGeom>
        </p:spPr>
      </p:pic>
      <p:sp>
        <p:nvSpPr>
          <p:cNvPr id="19" name="Text 14"/>
          <p:cNvSpPr/>
          <p:nvPr/>
        </p:nvSpPr>
        <p:spPr>
          <a:xfrm>
            <a:off x="1371600" y="5596128"/>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The same three tests from module 01, now with two days of evidence behind them. Nothing you learned changed the answer — it just made it easier to justify.</a:t>
            </a:r>
            <a:endParaRPr lang="en-US" sz="105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17 · CLOSING WORKSHOP</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2800" b="1" dirty="0">
                <a:solidFill>
                  <a:srgbClr val="141235"/>
                </a:solidFill>
                <a:latin typeface="Cambria" pitchFamily="34" charset="0"/>
                <a:ea typeface="Cambria" pitchFamily="34" charset="-122"/>
                <a:cs typeface="Cambria" pitchFamily="34" charset="-120"/>
              </a:rPr>
              <a:t>In groups: pick a real process from your own function</a:t>
            </a:r>
            <a:endParaRPr lang="en-US" sz="2800" dirty="0"/>
          </a:p>
        </p:txBody>
      </p:sp>
      <p:sp>
        <p:nvSpPr>
          <p:cNvPr id="4" name="Text 2"/>
          <p:cNvSpPr/>
          <p:nvPr/>
        </p:nvSpPr>
        <p:spPr>
          <a:xfrm>
            <a:off x="566928" y="1371600"/>
            <a:ext cx="11057839" cy="310896"/>
          </a:xfrm>
          <a:prstGeom prst="rect">
            <a:avLst/>
          </a:prstGeom>
          <a:noFill/>
          <a:ln/>
        </p:spPr>
        <p:txBody>
          <a:bodyPr wrap="square" lIns="0" tIns="0" rIns="0" bIns="0" rtlCol="0" anchor="t"/>
          <a:lstStyle/>
          <a:p>
            <a:pPr marL="0" indent="0">
              <a:buNone/>
            </a:pPr>
            <a:r>
              <a:rPr lang="en-US" sz="1400" dirty="0">
                <a:solidFill>
                  <a:srgbClr val="3B3760"/>
                </a:solidFill>
                <a:latin typeface="Calibri" pitchFamily="34" charset="0"/>
                <a:ea typeface="Calibri" pitchFamily="34" charset="-122"/>
                <a:cs typeface="Calibri" pitchFamily="34" charset="-120"/>
              </a:rPr>
              <a:t>Groups of four. Mix builders and non-builders. Thirty minutes, then five minutes each to present.</a:t>
            </a:r>
            <a:endParaRPr lang="en-US" sz="1400" dirty="0"/>
          </a:p>
        </p:txBody>
      </p:sp>
      <p:sp>
        <p:nvSpPr>
          <p:cNvPr id="5" name="Shape 3"/>
          <p:cNvSpPr/>
          <p:nvPr/>
        </p:nvSpPr>
        <p:spPr>
          <a:xfrm>
            <a:off x="566928" y="1975104"/>
            <a:ext cx="3527450" cy="1591056"/>
          </a:xfrm>
          <a:prstGeom prst="roundRect">
            <a:avLst>
              <a:gd name="adj" fmla="val 5172"/>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6" name="Shape 4"/>
          <p:cNvSpPr/>
          <p:nvPr/>
        </p:nvSpPr>
        <p:spPr>
          <a:xfrm>
            <a:off x="804672" y="2194560"/>
            <a:ext cx="365760" cy="365760"/>
          </a:xfrm>
          <a:prstGeom prst="ellipse">
            <a:avLst/>
          </a:prstGeom>
          <a:solidFill>
            <a:srgbClr val="5B4BE8"/>
          </a:solidFill>
          <a:ln w="12700">
            <a:solidFill>
              <a:srgbClr val="5B4BE8"/>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896112" y="2286000"/>
            <a:ext cx="182880" cy="182880"/>
          </a:xfrm>
          <a:prstGeom prst="rect">
            <a:avLst/>
          </a:prstGeom>
        </p:spPr>
      </p:pic>
      <p:sp>
        <p:nvSpPr>
          <p:cNvPr id="8" name="Text 5"/>
          <p:cNvSpPr/>
          <p:nvPr/>
        </p:nvSpPr>
        <p:spPr>
          <a:xfrm>
            <a:off x="1298448" y="2185416"/>
            <a:ext cx="2558186"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STEP 1</a:t>
            </a:r>
            <a:endParaRPr lang="en-US" sz="850" dirty="0"/>
          </a:p>
        </p:txBody>
      </p:sp>
      <p:sp>
        <p:nvSpPr>
          <p:cNvPr id="9" name="Text 6"/>
          <p:cNvSpPr/>
          <p:nvPr/>
        </p:nvSpPr>
        <p:spPr>
          <a:xfrm>
            <a:off x="1298448" y="2404872"/>
            <a:ext cx="2558186" cy="322417"/>
          </a:xfrm>
          <a:prstGeom prst="rect">
            <a:avLst/>
          </a:prstGeom>
          <a:noFill/>
          <a:ln/>
        </p:spPr>
        <p:txBody>
          <a:bodyPr wrap="square" lIns="0" tIns="0" rIns="0" bIns="0" rtlCol="0" anchor="t"/>
          <a:lstStyle/>
          <a:p>
            <a:pPr marL="0" indent="0">
              <a:lnSpc>
                <a:spcPct val="105000"/>
              </a:lnSpc>
              <a:buNone/>
            </a:pPr>
            <a:r>
              <a:rPr lang="en-US" sz="1350" b="1" dirty="0">
                <a:solidFill>
                  <a:srgbClr val="141235"/>
                </a:solidFill>
                <a:latin typeface="Calibri" pitchFamily="34" charset="0"/>
                <a:ea typeface="Calibri" pitchFamily="34" charset="-122"/>
                <a:cs typeface="Calibri" pitchFamily="34" charset="-120"/>
              </a:rPr>
              <a:t>Map it, step by step</a:t>
            </a:r>
            <a:endParaRPr lang="en-US" sz="1350" dirty="0"/>
          </a:p>
        </p:txBody>
      </p:sp>
      <p:sp>
        <p:nvSpPr>
          <p:cNvPr id="10" name="Text 7"/>
          <p:cNvSpPr/>
          <p:nvPr/>
        </p:nvSpPr>
        <p:spPr>
          <a:xfrm>
            <a:off x="1298448" y="2736433"/>
            <a:ext cx="2558186" cy="646847"/>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The real process, including the parts people do informally.</a:t>
            </a:r>
            <a:endParaRPr lang="en-US" sz="1100" dirty="0"/>
          </a:p>
        </p:txBody>
      </p:sp>
      <p:sp>
        <p:nvSpPr>
          <p:cNvPr id="11" name="Shape 8"/>
          <p:cNvSpPr/>
          <p:nvPr/>
        </p:nvSpPr>
        <p:spPr>
          <a:xfrm>
            <a:off x="4332122" y="1975104"/>
            <a:ext cx="3527450" cy="1591056"/>
          </a:xfrm>
          <a:prstGeom prst="roundRect">
            <a:avLst>
              <a:gd name="adj" fmla="val 5172"/>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2" name="Shape 9"/>
          <p:cNvSpPr/>
          <p:nvPr/>
        </p:nvSpPr>
        <p:spPr>
          <a:xfrm>
            <a:off x="4569866" y="2194560"/>
            <a:ext cx="365760" cy="365760"/>
          </a:xfrm>
          <a:prstGeom prst="ellipse">
            <a:avLst/>
          </a:prstGeom>
          <a:solidFill>
            <a:srgbClr val="5B4BE8"/>
          </a:solidFill>
          <a:ln w="12700">
            <a:solidFill>
              <a:srgbClr val="5B4BE8"/>
            </a:solidFill>
            <a:prstDash val="solid"/>
          </a:ln>
        </p:spPr>
        <p:txBody>
          <a:bodyPr/>
          <a:lstStyle/>
          <a:p>
            <a:endParaRPr lang="en-US"/>
          </a:p>
        </p:txBody>
      </p:sp>
      <p:pic>
        <p:nvPicPr>
          <p:cNvPr id="13" name="Image 1" descr="preencoded.png"/>
          <p:cNvPicPr>
            <a:picLocks noChangeAspect="1"/>
          </p:cNvPicPr>
          <p:nvPr/>
        </p:nvPicPr>
        <p:blipFill>
          <a:blip r:embed="rId4"/>
          <a:stretch>
            <a:fillRect/>
          </a:stretch>
        </p:blipFill>
        <p:spPr>
          <a:xfrm>
            <a:off x="4661306" y="2286000"/>
            <a:ext cx="182880" cy="182880"/>
          </a:xfrm>
          <a:prstGeom prst="rect">
            <a:avLst/>
          </a:prstGeom>
        </p:spPr>
      </p:pic>
      <p:sp>
        <p:nvSpPr>
          <p:cNvPr id="14" name="Text 10"/>
          <p:cNvSpPr/>
          <p:nvPr/>
        </p:nvSpPr>
        <p:spPr>
          <a:xfrm>
            <a:off x="5063642" y="2185416"/>
            <a:ext cx="2558186"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STEP 2</a:t>
            </a:r>
            <a:endParaRPr lang="en-US" sz="850" dirty="0"/>
          </a:p>
        </p:txBody>
      </p:sp>
      <p:sp>
        <p:nvSpPr>
          <p:cNvPr id="15" name="Text 11"/>
          <p:cNvSpPr/>
          <p:nvPr/>
        </p:nvSpPr>
        <p:spPr>
          <a:xfrm>
            <a:off x="5063642" y="2404872"/>
            <a:ext cx="2558186" cy="589971"/>
          </a:xfrm>
          <a:prstGeom prst="rect">
            <a:avLst/>
          </a:prstGeom>
          <a:noFill/>
          <a:ln/>
        </p:spPr>
        <p:txBody>
          <a:bodyPr wrap="square" lIns="0" tIns="0" rIns="0" bIns="0" rtlCol="0" anchor="t"/>
          <a:lstStyle/>
          <a:p>
            <a:pPr marL="0" indent="0">
              <a:lnSpc>
                <a:spcPct val="105000"/>
              </a:lnSpc>
              <a:buNone/>
            </a:pPr>
            <a:r>
              <a:rPr lang="en-US" sz="1350" b="1" dirty="0">
                <a:solidFill>
                  <a:srgbClr val="141235"/>
                </a:solidFill>
                <a:latin typeface="Calibri" pitchFamily="34" charset="0"/>
                <a:ea typeface="Calibri" pitchFamily="34" charset="-122"/>
                <a:cs typeface="Calibri" pitchFamily="34" charset="-120"/>
              </a:rPr>
              <a:t>Assign each step an autonomy tier</a:t>
            </a:r>
            <a:endParaRPr lang="en-US" sz="1350" dirty="0"/>
          </a:p>
        </p:txBody>
      </p:sp>
      <p:sp>
        <p:nvSpPr>
          <p:cNvPr id="16" name="Text 12"/>
          <p:cNvSpPr/>
          <p:nvPr/>
        </p:nvSpPr>
        <p:spPr>
          <a:xfrm>
            <a:off x="5063642" y="3003987"/>
            <a:ext cx="2558186" cy="379293"/>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Suggest, draft, act with audit, or act. Per step, not for the whole process.</a:t>
            </a:r>
            <a:endParaRPr lang="en-US" sz="1100" dirty="0"/>
          </a:p>
        </p:txBody>
      </p:sp>
      <p:sp>
        <p:nvSpPr>
          <p:cNvPr id="17" name="Shape 13"/>
          <p:cNvSpPr/>
          <p:nvPr/>
        </p:nvSpPr>
        <p:spPr>
          <a:xfrm>
            <a:off x="8097317" y="1975104"/>
            <a:ext cx="3527450" cy="1591056"/>
          </a:xfrm>
          <a:prstGeom prst="roundRect">
            <a:avLst>
              <a:gd name="adj" fmla="val 5172"/>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8" name="Shape 14"/>
          <p:cNvSpPr/>
          <p:nvPr/>
        </p:nvSpPr>
        <p:spPr>
          <a:xfrm>
            <a:off x="8335061" y="2194560"/>
            <a:ext cx="365760" cy="365760"/>
          </a:xfrm>
          <a:prstGeom prst="ellipse">
            <a:avLst/>
          </a:prstGeom>
          <a:solidFill>
            <a:srgbClr val="5B4BE8"/>
          </a:solidFill>
          <a:ln w="12700">
            <a:solidFill>
              <a:srgbClr val="5B4BE8"/>
            </a:solidFill>
            <a:prstDash val="solid"/>
          </a:ln>
        </p:spPr>
        <p:txBody>
          <a:bodyPr/>
          <a:lstStyle/>
          <a:p>
            <a:endParaRPr lang="en-US"/>
          </a:p>
        </p:txBody>
      </p:sp>
      <p:pic>
        <p:nvPicPr>
          <p:cNvPr id="19" name="Image 2" descr="preencoded.png"/>
          <p:cNvPicPr>
            <a:picLocks noChangeAspect="1"/>
          </p:cNvPicPr>
          <p:nvPr/>
        </p:nvPicPr>
        <p:blipFill>
          <a:blip r:embed="rId5"/>
          <a:stretch>
            <a:fillRect/>
          </a:stretch>
        </p:blipFill>
        <p:spPr>
          <a:xfrm>
            <a:off x="8426501" y="2286000"/>
            <a:ext cx="182880" cy="182880"/>
          </a:xfrm>
          <a:prstGeom prst="rect">
            <a:avLst/>
          </a:prstGeom>
        </p:spPr>
      </p:pic>
      <p:sp>
        <p:nvSpPr>
          <p:cNvPr id="20" name="Text 15"/>
          <p:cNvSpPr/>
          <p:nvPr/>
        </p:nvSpPr>
        <p:spPr>
          <a:xfrm>
            <a:off x="8828837" y="2185416"/>
            <a:ext cx="2558186"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STEP 3</a:t>
            </a:r>
            <a:endParaRPr lang="en-US" sz="850" dirty="0"/>
          </a:p>
        </p:txBody>
      </p:sp>
      <p:sp>
        <p:nvSpPr>
          <p:cNvPr id="21" name="Text 16"/>
          <p:cNvSpPr/>
          <p:nvPr/>
        </p:nvSpPr>
        <p:spPr>
          <a:xfrm>
            <a:off x="8828837" y="2404872"/>
            <a:ext cx="2558186" cy="589971"/>
          </a:xfrm>
          <a:prstGeom prst="rect">
            <a:avLst/>
          </a:prstGeom>
          <a:noFill/>
          <a:ln/>
        </p:spPr>
        <p:txBody>
          <a:bodyPr wrap="square" lIns="0" tIns="0" rIns="0" bIns="0" rtlCol="0" anchor="t"/>
          <a:lstStyle/>
          <a:p>
            <a:pPr marL="0" indent="0">
              <a:lnSpc>
                <a:spcPct val="105000"/>
              </a:lnSpc>
              <a:buNone/>
            </a:pPr>
            <a:r>
              <a:rPr lang="en-US" sz="1350" b="1" dirty="0">
                <a:solidFill>
                  <a:srgbClr val="141235"/>
                </a:solidFill>
                <a:latin typeface="Calibri" pitchFamily="34" charset="0"/>
                <a:ea typeface="Calibri" pitchFamily="34" charset="-122"/>
                <a:cs typeface="Calibri" pitchFamily="34" charset="-120"/>
              </a:rPr>
              <a:t>Find where the context lives</a:t>
            </a:r>
            <a:endParaRPr lang="en-US" sz="1350" dirty="0"/>
          </a:p>
        </p:txBody>
      </p:sp>
      <p:sp>
        <p:nvSpPr>
          <p:cNvPr id="22" name="Text 17"/>
          <p:cNvSpPr/>
          <p:nvPr/>
        </p:nvSpPr>
        <p:spPr>
          <a:xfrm>
            <a:off x="8828837" y="3003987"/>
            <a:ext cx="2558186" cy="379293"/>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And be honest about whether it is written down anywhere an agent could read.</a:t>
            </a:r>
            <a:endParaRPr lang="en-US" sz="1100" dirty="0"/>
          </a:p>
        </p:txBody>
      </p:sp>
      <p:sp>
        <p:nvSpPr>
          <p:cNvPr id="23" name="Shape 18"/>
          <p:cNvSpPr/>
          <p:nvPr/>
        </p:nvSpPr>
        <p:spPr>
          <a:xfrm>
            <a:off x="566928" y="3803904"/>
            <a:ext cx="3527450" cy="1591056"/>
          </a:xfrm>
          <a:prstGeom prst="roundRect">
            <a:avLst>
              <a:gd name="adj" fmla="val 5172"/>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24" name="Shape 19"/>
          <p:cNvSpPr/>
          <p:nvPr/>
        </p:nvSpPr>
        <p:spPr>
          <a:xfrm>
            <a:off x="804672" y="4023360"/>
            <a:ext cx="365760" cy="365760"/>
          </a:xfrm>
          <a:prstGeom prst="ellipse">
            <a:avLst/>
          </a:prstGeom>
          <a:solidFill>
            <a:srgbClr val="5B4BE8"/>
          </a:solidFill>
          <a:ln w="12700">
            <a:solidFill>
              <a:srgbClr val="5B4BE8"/>
            </a:solidFill>
            <a:prstDash val="solid"/>
          </a:ln>
        </p:spPr>
        <p:txBody>
          <a:bodyPr/>
          <a:lstStyle/>
          <a:p>
            <a:endParaRPr lang="en-US"/>
          </a:p>
        </p:txBody>
      </p:sp>
      <p:pic>
        <p:nvPicPr>
          <p:cNvPr id="25" name="Image 3" descr="preencoded.png"/>
          <p:cNvPicPr>
            <a:picLocks noChangeAspect="1"/>
          </p:cNvPicPr>
          <p:nvPr/>
        </p:nvPicPr>
        <p:blipFill>
          <a:blip r:embed="rId6"/>
          <a:stretch>
            <a:fillRect/>
          </a:stretch>
        </p:blipFill>
        <p:spPr>
          <a:xfrm>
            <a:off x="896112" y="4114800"/>
            <a:ext cx="182880" cy="182880"/>
          </a:xfrm>
          <a:prstGeom prst="rect">
            <a:avLst/>
          </a:prstGeom>
        </p:spPr>
      </p:pic>
      <p:sp>
        <p:nvSpPr>
          <p:cNvPr id="26" name="Text 20"/>
          <p:cNvSpPr/>
          <p:nvPr/>
        </p:nvSpPr>
        <p:spPr>
          <a:xfrm>
            <a:off x="1298448" y="4014216"/>
            <a:ext cx="2558186"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STEP 4</a:t>
            </a:r>
            <a:endParaRPr lang="en-US" sz="850" dirty="0"/>
          </a:p>
        </p:txBody>
      </p:sp>
      <p:sp>
        <p:nvSpPr>
          <p:cNvPr id="27" name="Text 21"/>
          <p:cNvSpPr/>
          <p:nvPr/>
        </p:nvSpPr>
        <p:spPr>
          <a:xfrm>
            <a:off x="1298448" y="4233672"/>
            <a:ext cx="2558186" cy="322417"/>
          </a:xfrm>
          <a:prstGeom prst="rect">
            <a:avLst/>
          </a:prstGeom>
          <a:noFill/>
          <a:ln/>
        </p:spPr>
        <p:txBody>
          <a:bodyPr wrap="square" lIns="0" tIns="0" rIns="0" bIns="0" rtlCol="0" anchor="t"/>
          <a:lstStyle/>
          <a:p>
            <a:pPr marL="0" indent="0">
              <a:lnSpc>
                <a:spcPct val="105000"/>
              </a:lnSpc>
              <a:buNone/>
            </a:pPr>
            <a:r>
              <a:rPr lang="en-US" sz="1350" b="1" dirty="0">
                <a:solidFill>
                  <a:srgbClr val="141235"/>
                </a:solidFill>
                <a:latin typeface="Calibri" pitchFamily="34" charset="0"/>
                <a:ea typeface="Calibri" pitchFamily="34" charset="-122"/>
                <a:cs typeface="Calibri" pitchFamily="34" charset="-120"/>
              </a:rPr>
              <a:t>Price a wrong step</a:t>
            </a:r>
            <a:endParaRPr lang="en-US" sz="1350" dirty="0"/>
          </a:p>
        </p:txBody>
      </p:sp>
      <p:sp>
        <p:nvSpPr>
          <p:cNvPr id="28" name="Text 22"/>
          <p:cNvSpPr/>
          <p:nvPr/>
        </p:nvSpPr>
        <p:spPr>
          <a:xfrm>
            <a:off x="1298448" y="4565233"/>
            <a:ext cx="2558186" cy="646847"/>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For each step. This is what decides the tier, more than anything else.</a:t>
            </a:r>
            <a:endParaRPr lang="en-US" sz="1100" dirty="0"/>
          </a:p>
        </p:txBody>
      </p:sp>
      <p:sp>
        <p:nvSpPr>
          <p:cNvPr id="29" name="Shape 23"/>
          <p:cNvSpPr/>
          <p:nvPr/>
        </p:nvSpPr>
        <p:spPr>
          <a:xfrm>
            <a:off x="4332122" y="3803904"/>
            <a:ext cx="3527450" cy="1591056"/>
          </a:xfrm>
          <a:prstGeom prst="roundRect">
            <a:avLst>
              <a:gd name="adj" fmla="val 5172"/>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30" name="Shape 24"/>
          <p:cNvSpPr/>
          <p:nvPr/>
        </p:nvSpPr>
        <p:spPr>
          <a:xfrm>
            <a:off x="4569866" y="4023360"/>
            <a:ext cx="365760" cy="365760"/>
          </a:xfrm>
          <a:prstGeom prst="ellipse">
            <a:avLst/>
          </a:prstGeom>
          <a:solidFill>
            <a:srgbClr val="5B4BE8"/>
          </a:solidFill>
          <a:ln w="12700">
            <a:solidFill>
              <a:srgbClr val="5B4BE8"/>
            </a:solidFill>
            <a:prstDash val="solid"/>
          </a:ln>
        </p:spPr>
        <p:txBody>
          <a:bodyPr/>
          <a:lstStyle/>
          <a:p>
            <a:endParaRPr lang="en-US"/>
          </a:p>
        </p:txBody>
      </p:sp>
      <p:pic>
        <p:nvPicPr>
          <p:cNvPr id="31" name="Image 4" descr="preencoded.png"/>
          <p:cNvPicPr>
            <a:picLocks noChangeAspect="1"/>
          </p:cNvPicPr>
          <p:nvPr/>
        </p:nvPicPr>
        <p:blipFill>
          <a:blip r:embed="rId7"/>
          <a:stretch>
            <a:fillRect/>
          </a:stretch>
        </p:blipFill>
        <p:spPr>
          <a:xfrm>
            <a:off x="4661306" y="4114800"/>
            <a:ext cx="182880" cy="182880"/>
          </a:xfrm>
          <a:prstGeom prst="rect">
            <a:avLst/>
          </a:prstGeom>
        </p:spPr>
      </p:pic>
      <p:sp>
        <p:nvSpPr>
          <p:cNvPr id="32" name="Text 25"/>
          <p:cNvSpPr/>
          <p:nvPr/>
        </p:nvSpPr>
        <p:spPr>
          <a:xfrm>
            <a:off x="5063642" y="4014216"/>
            <a:ext cx="2558186"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STEP 5</a:t>
            </a:r>
            <a:endParaRPr lang="en-US" sz="850" dirty="0"/>
          </a:p>
        </p:txBody>
      </p:sp>
      <p:sp>
        <p:nvSpPr>
          <p:cNvPr id="33" name="Text 26"/>
          <p:cNvSpPr/>
          <p:nvPr/>
        </p:nvSpPr>
        <p:spPr>
          <a:xfrm>
            <a:off x="5063642" y="4233672"/>
            <a:ext cx="2558186" cy="589971"/>
          </a:xfrm>
          <a:prstGeom prst="rect">
            <a:avLst/>
          </a:prstGeom>
          <a:noFill/>
          <a:ln/>
        </p:spPr>
        <p:txBody>
          <a:bodyPr wrap="square" lIns="0" tIns="0" rIns="0" bIns="0" rtlCol="0" anchor="t"/>
          <a:lstStyle/>
          <a:p>
            <a:pPr marL="0" indent="0">
              <a:lnSpc>
                <a:spcPct val="105000"/>
              </a:lnSpc>
              <a:buNone/>
            </a:pPr>
            <a:r>
              <a:rPr lang="en-US" sz="1350" b="1" dirty="0">
                <a:solidFill>
                  <a:srgbClr val="141235"/>
                </a:solidFill>
                <a:latin typeface="Calibri" pitchFamily="34" charset="0"/>
                <a:ea typeface="Calibri" pitchFamily="34" charset="-122"/>
                <a:cs typeface="Calibri" pitchFamily="34" charset="-120"/>
              </a:rPr>
              <a:t>Design it — or conclude it should not be one</a:t>
            </a:r>
            <a:endParaRPr lang="en-US" sz="1350" dirty="0"/>
          </a:p>
        </p:txBody>
      </p:sp>
      <p:sp>
        <p:nvSpPr>
          <p:cNvPr id="34" name="Text 27"/>
          <p:cNvSpPr/>
          <p:nvPr/>
        </p:nvSpPr>
        <p:spPr>
          <a:xfrm>
            <a:off x="5063642" y="4832787"/>
            <a:ext cx="2558186" cy="379293"/>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Both are valid outcomes and one of them is faster to defend.</a:t>
            </a:r>
            <a:endParaRPr lang="en-US" sz="1100" dirty="0"/>
          </a:p>
        </p:txBody>
      </p:sp>
      <p:sp>
        <p:nvSpPr>
          <p:cNvPr id="35" name="Shape 28"/>
          <p:cNvSpPr/>
          <p:nvPr/>
        </p:nvSpPr>
        <p:spPr>
          <a:xfrm>
            <a:off x="8097317" y="3803904"/>
            <a:ext cx="3527450" cy="1591056"/>
          </a:xfrm>
          <a:prstGeom prst="roundRect">
            <a:avLst>
              <a:gd name="adj" fmla="val 5172"/>
            </a:avLst>
          </a:prstGeom>
          <a:solidFill>
            <a:srgbClr val="FFF4E0"/>
          </a:solidFill>
          <a:ln w="12700">
            <a:solidFill>
              <a:srgbClr val="F3DCB0"/>
            </a:solidFill>
            <a:prstDash val="solid"/>
          </a:ln>
          <a:effectLst>
            <a:outerShdw blurRad="114300" dist="572" dir="5400000" algn="bl" rotWithShape="0">
              <a:srgbClr val="1B1A4A">
                <a:alpha val="7000"/>
              </a:srgbClr>
            </a:outerShdw>
          </a:effectLst>
        </p:spPr>
        <p:txBody>
          <a:bodyPr/>
          <a:lstStyle/>
          <a:p>
            <a:endParaRPr lang="en-US"/>
          </a:p>
        </p:txBody>
      </p:sp>
      <p:sp>
        <p:nvSpPr>
          <p:cNvPr id="36" name="Shape 29"/>
          <p:cNvSpPr/>
          <p:nvPr/>
        </p:nvSpPr>
        <p:spPr>
          <a:xfrm>
            <a:off x="8335061" y="4023360"/>
            <a:ext cx="365760" cy="365760"/>
          </a:xfrm>
          <a:prstGeom prst="ellipse">
            <a:avLst/>
          </a:prstGeom>
          <a:solidFill>
            <a:srgbClr val="F5A524"/>
          </a:solidFill>
          <a:ln w="12700">
            <a:solidFill>
              <a:srgbClr val="F5A524"/>
            </a:solidFill>
            <a:prstDash val="solid"/>
          </a:ln>
        </p:spPr>
        <p:txBody>
          <a:bodyPr/>
          <a:lstStyle/>
          <a:p>
            <a:endParaRPr lang="en-US"/>
          </a:p>
        </p:txBody>
      </p:sp>
      <p:pic>
        <p:nvPicPr>
          <p:cNvPr id="37" name="Image 5" descr="preencoded.png"/>
          <p:cNvPicPr>
            <a:picLocks noChangeAspect="1"/>
          </p:cNvPicPr>
          <p:nvPr/>
        </p:nvPicPr>
        <p:blipFill>
          <a:blip r:embed="rId8"/>
          <a:stretch>
            <a:fillRect/>
          </a:stretch>
        </p:blipFill>
        <p:spPr>
          <a:xfrm>
            <a:off x="8426501" y="4114800"/>
            <a:ext cx="182880" cy="182880"/>
          </a:xfrm>
          <a:prstGeom prst="rect">
            <a:avLst/>
          </a:prstGeom>
        </p:spPr>
      </p:pic>
      <p:sp>
        <p:nvSpPr>
          <p:cNvPr id="38" name="Text 30"/>
          <p:cNvSpPr/>
          <p:nvPr/>
        </p:nvSpPr>
        <p:spPr>
          <a:xfrm>
            <a:off x="8828837" y="4014216"/>
            <a:ext cx="2558186"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PRESENT</a:t>
            </a:r>
            <a:endParaRPr lang="en-US" sz="850" dirty="0"/>
          </a:p>
        </p:txBody>
      </p:sp>
      <p:sp>
        <p:nvSpPr>
          <p:cNvPr id="39" name="Text 31"/>
          <p:cNvSpPr/>
          <p:nvPr/>
        </p:nvSpPr>
        <p:spPr>
          <a:xfrm>
            <a:off x="8828837" y="4233672"/>
            <a:ext cx="2558186" cy="322417"/>
          </a:xfrm>
          <a:prstGeom prst="rect">
            <a:avLst/>
          </a:prstGeom>
          <a:noFill/>
          <a:ln/>
        </p:spPr>
        <p:txBody>
          <a:bodyPr wrap="square" lIns="0" tIns="0" rIns="0" bIns="0" rtlCol="0" anchor="t"/>
          <a:lstStyle/>
          <a:p>
            <a:pPr marL="0" indent="0">
              <a:lnSpc>
                <a:spcPct val="105000"/>
              </a:lnSpc>
              <a:buNone/>
            </a:pPr>
            <a:r>
              <a:rPr lang="en-US" sz="1350" b="1" dirty="0">
                <a:solidFill>
                  <a:srgbClr val="141235"/>
                </a:solidFill>
                <a:latin typeface="Calibri" pitchFamily="34" charset="0"/>
                <a:ea typeface="Calibri" pitchFamily="34" charset="-122"/>
                <a:cs typeface="Calibri" pitchFamily="34" charset="-120"/>
              </a:rPr>
              <a:t>Five minutes each</a:t>
            </a:r>
            <a:endParaRPr lang="en-US" sz="1350" dirty="0"/>
          </a:p>
        </p:txBody>
      </p:sp>
      <p:sp>
        <p:nvSpPr>
          <p:cNvPr id="40" name="Text 32"/>
          <p:cNvSpPr/>
          <p:nvPr/>
        </p:nvSpPr>
        <p:spPr>
          <a:xfrm>
            <a:off x="8828837" y="4565233"/>
            <a:ext cx="2558186" cy="646847"/>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The question from the room is always the same: what happens when it is wrong?</a:t>
            </a:r>
            <a:endParaRPr lang="en-US" sz="1100" dirty="0"/>
          </a:p>
        </p:txBody>
      </p:sp>
      <p:sp>
        <p:nvSpPr>
          <p:cNvPr id="41" name="Shape 33"/>
          <p:cNvSpPr/>
          <p:nvPr/>
        </p:nvSpPr>
        <p:spPr>
          <a:xfrm>
            <a:off x="566928" y="5541264"/>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42" name="Shape 34"/>
          <p:cNvSpPr/>
          <p:nvPr/>
        </p:nvSpPr>
        <p:spPr>
          <a:xfrm>
            <a:off x="841248" y="5760720"/>
            <a:ext cx="384048" cy="384048"/>
          </a:xfrm>
          <a:prstGeom prst="ellipse">
            <a:avLst/>
          </a:prstGeom>
          <a:solidFill>
            <a:srgbClr val="F5A524"/>
          </a:solidFill>
          <a:ln w="12700">
            <a:solidFill>
              <a:srgbClr val="F5A524"/>
            </a:solidFill>
            <a:prstDash val="solid"/>
          </a:ln>
        </p:spPr>
        <p:txBody>
          <a:bodyPr/>
          <a:lstStyle/>
          <a:p>
            <a:endParaRPr lang="en-US"/>
          </a:p>
        </p:txBody>
      </p:sp>
      <p:pic>
        <p:nvPicPr>
          <p:cNvPr id="43" name="Image 6" descr="preencoded.png"/>
          <p:cNvPicPr>
            <a:picLocks noChangeAspect="1"/>
          </p:cNvPicPr>
          <p:nvPr/>
        </p:nvPicPr>
        <p:blipFill>
          <a:blip r:embed="rId9"/>
          <a:stretch>
            <a:fillRect/>
          </a:stretch>
        </p:blipFill>
        <p:spPr>
          <a:xfrm>
            <a:off x="937260" y="5856732"/>
            <a:ext cx="192024" cy="192024"/>
          </a:xfrm>
          <a:prstGeom prst="rect">
            <a:avLst/>
          </a:prstGeom>
        </p:spPr>
      </p:pic>
      <p:sp>
        <p:nvSpPr>
          <p:cNvPr id="44" name="Text 35"/>
          <p:cNvSpPr/>
          <p:nvPr/>
        </p:nvSpPr>
        <p:spPr>
          <a:xfrm>
            <a:off x="1371600" y="5596128"/>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You now have the vocabulary to have this conversation with your risk function instead of about them.</a:t>
            </a:r>
            <a:endParaRPr lang="en-US" sz="105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0B0A22"/>
        </a:solidFill>
        <a:effectLst/>
      </p:bgPr>
    </p:bg>
    <p:spTree>
      <p:nvGrpSpPr>
        <p:cNvPr id="1" name=""/>
        <p:cNvGrpSpPr/>
        <p:nvPr/>
      </p:nvGrpSpPr>
      <p:grpSpPr>
        <a:xfrm>
          <a:off x="0" y="0"/>
          <a:ext cx="0" cy="0"/>
          <a:chOff x="0" y="0"/>
          <a:chExt cx="0" cy="0"/>
        </a:xfrm>
      </p:grpSpPr>
      <p:pic>
        <p:nvPicPr>
          <p:cNvPr id="2" name="Image 0" descr="/home/claude/work/bg_quote.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612648" y="1371600"/>
            <a:ext cx="11057839" cy="274320"/>
          </a:xfrm>
          <a:prstGeom prst="rect">
            <a:avLst/>
          </a:prstGeom>
          <a:noFill/>
          <a:ln/>
        </p:spPr>
        <p:txBody>
          <a:bodyPr wrap="square" lIns="0" tIns="0" rIns="0" bIns="0" rtlCol="0" anchor="ctr"/>
          <a:lstStyle/>
          <a:p>
            <a:pPr marL="0" indent="0">
              <a:buNone/>
            </a:pPr>
            <a:r>
              <a:rPr lang="en-US" sz="1050" b="1" kern="0" spc="220" dirty="0">
                <a:solidFill>
                  <a:srgbClr val="F5A524"/>
                </a:solidFill>
                <a:latin typeface="Calibri" pitchFamily="34" charset="0"/>
                <a:ea typeface="Calibri" pitchFamily="34" charset="-122"/>
                <a:cs typeface="Calibri" pitchFamily="34" charset="-120"/>
              </a:rPr>
              <a:t>17 · PROCESS RE-ENGINEERING</a:t>
            </a:r>
            <a:endParaRPr lang="en-US" sz="1050" dirty="0"/>
          </a:p>
        </p:txBody>
      </p:sp>
      <p:sp>
        <p:nvSpPr>
          <p:cNvPr id="4" name="Text 1"/>
          <p:cNvSpPr/>
          <p:nvPr/>
        </p:nvSpPr>
        <p:spPr>
          <a:xfrm>
            <a:off x="420624" y="1481328"/>
            <a:ext cx="1463040" cy="1463040"/>
          </a:xfrm>
          <a:prstGeom prst="rect">
            <a:avLst/>
          </a:prstGeom>
          <a:noFill/>
          <a:ln/>
        </p:spPr>
        <p:txBody>
          <a:bodyPr wrap="square" lIns="0" tIns="0" rIns="0" bIns="0" rtlCol="0" anchor="ctr"/>
          <a:lstStyle/>
          <a:p>
            <a:pPr marL="0" indent="0">
              <a:buNone/>
            </a:pPr>
            <a:r>
              <a:rPr lang="en-US" sz="15000" b="1" dirty="0">
                <a:solidFill>
                  <a:srgbClr val="8E82F5">
                    <a:alpha val="38000"/>
                  </a:srgbClr>
                </a:solidFill>
                <a:latin typeface="Cambria" pitchFamily="34" charset="0"/>
                <a:ea typeface="Cambria" pitchFamily="34" charset="-122"/>
                <a:cs typeface="Cambria" pitchFamily="34" charset="-120"/>
              </a:rPr>
              <a:t>“</a:t>
            </a:r>
            <a:endParaRPr lang="en-US" sz="15000" dirty="0"/>
          </a:p>
        </p:txBody>
      </p:sp>
      <p:sp>
        <p:nvSpPr>
          <p:cNvPr id="5" name="Text 2"/>
          <p:cNvSpPr/>
          <p:nvPr/>
        </p:nvSpPr>
        <p:spPr>
          <a:xfrm>
            <a:off x="612648" y="2212848"/>
            <a:ext cx="9960559" cy="2377440"/>
          </a:xfrm>
          <a:prstGeom prst="rect">
            <a:avLst/>
          </a:prstGeom>
          <a:noFill/>
          <a:ln/>
        </p:spPr>
        <p:txBody>
          <a:bodyPr wrap="square" lIns="0" tIns="0" rIns="0" bIns="0" rtlCol="0" anchor="t"/>
          <a:lstStyle/>
          <a:p>
            <a:pPr marL="0" indent="0">
              <a:lnSpc>
                <a:spcPct val="116000"/>
              </a:lnSpc>
              <a:buNone/>
            </a:pPr>
            <a:r>
              <a:rPr lang="en-US" sz="3000" b="1" dirty="0">
                <a:solidFill>
                  <a:srgbClr val="FFFFFF"/>
                </a:solidFill>
                <a:latin typeface="Cambria" pitchFamily="34" charset="0"/>
                <a:ea typeface="Cambria" pitchFamily="34" charset="-122"/>
                <a:cs typeface="Cambria" pitchFamily="34" charset="-120"/>
              </a:rPr>
              <a:t>The best outcome today might be</a:t>
            </a:r>
            <a:endParaRPr lang="en-US" sz="3000" dirty="0"/>
          </a:p>
          <a:p>
            <a:pPr marL="0" indent="0">
              <a:lnSpc>
                <a:spcPct val="116000"/>
              </a:lnSpc>
              <a:buNone/>
            </a:pPr>
            <a:r>
              <a:rPr lang="en-US" sz="3000" b="1" dirty="0">
                <a:solidFill>
                  <a:srgbClr val="FFFFFF"/>
                </a:solidFill>
                <a:latin typeface="Cambria" pitchFamily="34" charset="0"/>
                <a:ea typeface="Cambria" pitchFamily="34" charset="-122"/>
                <a:cs typeface="Cambria" pitchFamily="34" charset="-120"/>
              </a:rPr>
              <a:t>a group that concludes their process</a:t>
            </a:r>
            <a:endParaRPr lang="en-US" sz="3000" dirty="0"/>
          </a:p>
          <a:p>
            <a:pPr marL="0" indent="0">
              <a:lnSpc>
                <a:spcPct val="116000"/>
              </a:lnSpc>
              <a:buNone/>
            </a:pPr>
            <a:r>
              <a:rPr lang="en-US" sz="3000" b="1" dirty="0">
                <a:solidFill>
                  <a:srgbClr val="FFFFFF"/>
                </a:solidFill>
                <a:latin typeface="Cambria" pitchFamily="34" charset="0"/>
                <a:ea typeface="Cambria" pitchFamily="34" charset="-122"/>
                <a:cs typeface="Cambria" pitchFamily="34" charset="-120"/>
              </a:rPr>
              <a:t>should not be automated —</a:t>
            </a:r>
            <a:endParaRPr lang="en-US" sz="3000" dirty="0"/>
          </a:p>
          <a:p>
            <a:pPr marL="0" indent="0">
              <a:lnSpc>
                <a:spcPct val="116000"/>
              </a:lnSpc>
              <a:buNone/>
            </a:pPr>
            <a:r>
              <a:rPr lang="en-US" sz="3000" b="1" dirty="0">
                <a:solidFill>
                  <a:srgbClr val="FFFFFF"/>
                </a:solidFill>
                <a:latin typeface="Cambria" pitchFamily="34" charset="0"/>
                <a:ea typeface="Cambria" pitchFamily="34" charset="-122"/>
                <a:cs typeface="Cambria" pitchFamily="34" charset="-120"/>
              </a:rPr>
              <a:t>and can say exactly why.</a:t>
            </a:r>
            <a:endParaRPr lang="en-US" sz="3000" dirty="0"/>
          </a:p>
        </p:txBody>
      </p:sp>
      <p:sp>
        <p:nvSpPr>
          <p:cNvPr id="6" name="Text 3"/>
          <p:cNvSpPr/>
          <p:nvPr/>
        </p:nvSpPr>
        <p:spPr>
          <a:xfrm>
            <a:off x="612648" y="4718304"/>
            <a:ext cx="9777679" cy="822960"/>
          </a:xfrm>
          <a:prstGeom prst="rect">
            <a:avLst/>
          </a:prstGeom>
          <a:noFill/>
          <a:ln/>
        </p:spPr>
        <p:txBody>
          <a:bodyPr wrap="square" lIns="0" tIns="0" rIns="0" bIns="0" rtlCol="0" anchor="t"/>
          <a:lstStyle/>
          <a:p>
            <a:pPr marL="0" indent="0">
              <a:lnSpc>
                <a:spcPct val="120000"/>
              </a:lnSpc>
              <a:buNone/>
            </a:pPr>
            <a:r>
              <a:rPr lang="en-US" sz="1450" dirty="0">
                <a:solidFill>
                  <a:srgbClr val="B9B4E0"/>
                </a:solidFill>
                <a:latin typeface="Calibri" pitchFamily="34" charset="0"/>
                <a:ea typeface="Calibri" pitchFamily="34" charset="-122"/>
                <a:cs typeface="Calibri" pitchFamily="34" charset="-120"/>
              </a:rPr>
              <a:t>Call that out as a win when it happens. It is a far more valuable thing to take back to a steering committee than another proof of concept.</a:t>
            </a:r>
            <a:endParaRPr lang="en-US" sz="145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CLOSE</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3000" b="1" dirty="0">
                <a:solidFill>
                  <a:srgbClr val="141235"/>
                </a:solidFill>
                <a:latin typeface="Cambria" pitchFamily="34" charset="0"/>
                <a:ea typeface="Cambria" pitchFamily="34" charset="-122"/>
                <a:cs typeface="Cambria" pitchFamily="34" charset="-120"/>
              </a:rPr>
              <a:t>Two days, one build-up</a:t>
            </a:r>
            <a:endParaRPr lang="en-US" sz="3000" dirty="0"/>
          </a:p>
        </p:txBody>
      </p:sp>
      <p:sp>
        <p:nvSpPr>
          <p:cNvPr id="4" name="Shape 2"/>
          <p:cNvSpPr/>
          <p:nvPr/>
        </p:nvSpPr>
        <p:spPr>
          <a:xfrm>
            <a:off x="566928" y="2103120"/>
            <a:ext cx="1454288" cy="2194560"/>
          </a:xfrm>
          <a:prstGeom prst="roundRect">
            <a:avLst>
              <a:gd name="adj" fmla="val 6288"/>
            </a:avLst>
          </a:prstGeom>
          <a:solidFill>
            <a:srgbClr val="FFFFFF"/>
          </a:solidFill>
          <a:ln w="12700">
            <a:solidFill>
              <a:srgbClr val="E3E4F2"/>
            </a:solidFill>
            <a:prstDash val="solid"/>
          </a:ln>
          <a:effectLst>
            <a:outerShdw blurRad="101600" dist="508" dir="5400000" algn="bl" rotWithShape="0">
              <a:srgbClr val="1B1A4A">
                <a:alpha val="8000"/>
              </a:srgbClr>
            </a:outerShdw>
          </a:effectLst>
        </p:spPr>
        <p:txBody>
          <a:bodyPr/>
          <a:lstStyle/>
          <a:p>
            <a:endParaRPr lang="en-US"/>
          </a:p>
        </p:txBody>
      </p:sp>
      <p:sp>
        <p:nvSpPr>
          <p:cNvPr id="5" name="Shape 3"/>
          <p:cNvSpPr/>
          <p:nvPr/>
        </p:nvSpPr>
        <p:spPr>
          <a:xfrm>
            <a:off x="1102048" y="2286000"/>
            <a:ext cx="384048" cy="384048"/>
          </a:xfrm>
          <a:prstGeom prst="ellipse">
            <a:avLst/>
          </a:prstGeom>
          <a:solidFill>
            <a:srgbClr val="5B4BE8"/>
          </a:solidFill>
          <a:ln w="12700">
            <a:solidFill>
              <a:srgbClr val="5B4BE8"/>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1198060" y="2382012"/>
            <a:ext cx="192024" cy="192024"/>
          </a:xfrm>
          <a:prstGeom prst="rect">
            <a:avLst/>
          </a:prstGeom>
        </p:spPr>
      </p:pic>
      <p:sp>
        <p:nvSpPr>
          <p:cNvPr id="7" name="Text 4"/>
          <p:cNvSpPr/>
          <p:nvPr/>
        </p:nvSpPr>
        <p:spPr>
          <a:xfrm>
            <a:off x="658368" y="2798064"/>
            <a:ext cx="1271408" cy="914400"/>
          </a:xfrm>
          <a:prstGeom prst="rect">
            <a:avLst/>
          </a:prstGeom>
          <a:noFill/>
          <a:ln/>
        </p:spPr>
        <p:txBody>
          <a:bodyPr wrap="square" lIns="0" tIns="0" rIns="0" bIns="0" rtlCol="0" anchor="t"/>
          <a:lstStyle/>
          <a:p>
            <a:pPr marL="0" indent="0" algn="ctr">
              <a:lnSpc>
                <a:spcPct val="108000"/>
              </a:lnSpc>
              <a:buNone/>
            </a:pPr>
            <a:r>
              <a:rPr lang="en-US" sz="1150" b="1" dirty="0">
                <a:solidFill>
                  <a:srgbClr val="141235"/>
                </a:solidFill>
                <a:latin typeface="Calibri" pitchFamily="34" charset="0"/>
                <a:ea typeface="Calibri" pitchFamily="34" charset="-122"/>
                <a:cs typeface="Calibri" pitchFamily="34" charset="-120"/>
              </a:rPr>
              <a:t>A hand-written loop</a:t>
            </a:r>
            <a:endParaRPr lang="en-US" sz="1150" dirty="0"/>
          </a:p>
        </p:txBody>
      </p:sp>
      <p:sp>
        <p:nvSpPr>
          <p:cNvPr id="8" name="Text 5"/>
          <p:cNvSpPr/>
          <p:nvPr/>
        </p:nvSpPr>
        <p:spPr>
          <a:xfrm>
            <a:off x="658368" y="3913632"/>
            <a:ext cx="1271408" cy="237744"/>
          </a:xfrm>
          <a:prstGeom prst="rect">
            <a:avLst/>
          </a:prstGeom>
          <a:noFill/>
          <a:ln/>
        </p:spPr>
        <p:txBody>
          <a:bodyPr wrap="square" lIns="0" tIns="0" rIns="0" bIns="0" rtlCol="0" anchor="ctr"/>
          <a:lstStyle/>
          <a:p>
            <a:pPr marL="0" indent="0" algn="ctr">
              <a:buNone/>
            </a:pPr>
            <a:r>
              <a:rPr lang="en-US" sz="950" dirty="0">
                <a:solidFill>
                  <a:srgbClr val="9B98B4"/>
                </a:solidFill>
                <a:latin typeface="Calibri" pitchFamily="34" charset="0"/>
                <a:ea typeface="Calibri" pitchFamily="34" charset="-122"/>
                <a:cs typeface="Calibri" pitchFamily="34" charset="-120"/>
              </a:rPr>
              <a:t>03</a:t>
            </a:r>
            <a:endParaRPr lang="en-US" sz="950" dirty="0"/>
          </a:p>
        </p:txBody>
      </p:sp>
      <p:sp>
        <p:nvSpPr>
          <p:cNvPr id="9" name="Shape 6"/>
          <p:cNvSpPr/>
          <p:nvPr/>
        </p:nvSpPr>
        <p:spPr>
          <a:xfrm>
            <a:off x="2030360" y="3200400"/>
            <a:ext cx="118872" cy="0"/>
          </a:xfrm>
          <a:prstGeom prst="line">
            <a:avLst/>
          </a:prstGeom>
          <a:noFill/>
          <a:ln w="22860">
            <a:solidFill>
              <a:srgbClr val="8E82F5"/>
            </a:solidFill>
            <a:prstDash val="solid"/>
            <a:headEnd type="none"/>
            <a:tailEnd type="triangle"/>
          </a:ln>
        </p:spPr>
        <p:txBody>
          <a:bodyPr/>
          <a:lstStyle/>
          <a:p>
            <a:endParaRPr lang="en-US"/>
          </a:p>
        </p:txBody>
      </p:sp>
      <p:sp>
        <p:nvSpPr>
          <p:cNvPr id="10" name="Shape 7"/>
          <p:cNvSpPr/>
          <p:nvPr/>
        </p:nvSpPr>
        <p:spPr>
          <a:xfrm>
            <a:off x="2167520" y="2103120"/>
            <a:ext cx="1454288" cy="2194560"/>
          </a:xfrm>
          <a:prstGeom prst="roundRect">
            <a:avLst>
              <a:gd name="adj" fmla="val 6288"/>
            </a:avLst>
          </a:prstGeom>
          <a:solidFill>
            <a:srgbClr val="FFFFFF"/>
          </a:solidFill>
          <a:ln w="12700">
            <a:solidFill>
              <a:srgbClr val="E3E4F2"/>
            </a:solidFill>
            <a:prstDash val="solid"/>
          </a:ln>
          <a:effectLst>
            <a:outerShdw blurRad="101600" dist="508" dir="5400000" algn="bl" rotWithShape="0">
              <a:srgbClr val="1B1A4A">
                <a:alpha val="8000"/>
              </a:srgbClr>
            </a:outerShdw>
          </a:effectLst>
        </p:spPr>
        <p:txBody>
          <a:bodyPr/>
          <a:lstStyle/>
          <a:p>
            <a:endParaRPr lang="en-US"/>
          </a:p>
        </p:txBody>
      </p:sp>
      <p:sp>
        <p:nvSpPr>
          <p:cNvPr id="11" name="Shape 8"/>
          <p:cNvSpPr/>
          <p:nvPr/>
        </p:nvSpPr>
        <p:spPr>
          <a:xfrm>
            <a:off x="2702640" y="2286000"/>
            <a:ext cx="384048" cy="384048"/>
          </a:xfrm>
          <a:prstGeom prst="ellipse">
            <a:avLst/>
          </a:prstGeom>
          <a:solidFill>
            <a:srgbClr val="5B4BE8"/>
          </a:solidFill>
          <a:ln w="12700">
            <a:solidFill>
              <a:srgbClr val="5B4BE8"/>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2798652" y="2382012"/>
            <a:ext cx="192024" cy="192024"/>
          </a:xfrm>
          <a:prstGeom prst="rect">
            <a:avLst/>
          </a:prstGeom>
        </p:spPr>
      </p:pic>
      <p:sp>
        <p:nvSpPr>
          <p:cNvPr id="13" name="Text 9"/>
          <p:cNvSpPr/>
          <p:nvPr/>
        </p:nvSpPr>
        <p:spPr>
          <a:xfrm>
            <a:off x="2258960" y="2798064"/>
            <a:ext cx="1271408" cy="914400"/>
          </a:xfrm>
          <a:prstGeom prst="rect">
            <a:avLst/>
          </a:prstGeom>
          <a:noFill/>
          <a:ln/>
        </p:spPr>
        <p:txBody>
          <a:bodyPr wrap="square" lIns="0" tIns="0" rIns="0" bIns="0" rtlCol="0" anchor="t"/>
          <a:lstStyle/>
          <a:p>
            <a:pPr marL="0" indent="0" algn="ctr">
              <a:lnSpc>
                <a:spcPct val="108000"/>
              </a:lnSpc>
              <a:buNone/>
            </a:pPr>
            <a:r>
              <a:rPr lang="en-US" sz="1150" b="1" dirty="0">
                <a:solidFill>
                  <a:srgbClr val="141235"/>
                </a:solidFill>
                <a:latin typeface="Calibri" pitchFamily="34" charset="0"/>
                <a:ea typeface="Calibri" pitchFamily="34" charset="-122"/>
                <a:cs typeface="Calibri" pitchFamily="34" charset="-120"/>
              </a:rPr>
              <a:t>Tools, then MCP</a:t>
            </a:r>
            <a:endParaRPr lang="en-US" sz="1150" dirty="0"/>
          </a:p>
        </p:txBody>
      </p:sp>
      <p:sp>
        <p:nvSpPr>
          <p:cNvPr id="14" name="Text 10"/>
          <p:cNvSpPr/>
          <p:nvPr/>
        </p:nvSpPr>
        <p:spPr>
          <a:xfrm>
            <a:off x="2258960" y="3913632"/>
            <a:ext cx="1271408" cy="237744"/>
          </a:xfrm>
          <a:prstGeom prst="rect">
            <a:avLst/>
          </a:prstGeom>
          <a:noFill/>
          <a:ln/>
        </p:spPr>
        <p:txBody>
          <a:bodyPr wrap="square" lIns="0" tIns="0" rIns="0" bIns="0" rtlCol="0" anchor="ctr"/>
          <a:lstStyle/>
          <a:p>
            <a:pPr marL="0" indent="0" algn="ctr">
              <a:buNone/>
            </a:pPr>
            <a:r>
              <a:rPr lang="en-US" sz="950" dirty="0">
                <a:solidFill>
                  <a:srgbClr val="9B98B4"/>
                </a:solidFill>
                <a:latin typeface="Calibri" pitchFamily="34" charset="0"/>
                <a:ea typeface="Calibri" pitchFamily="34" charset="-122"/>
                <a:cs typeface="Calibri" pitchFamily="34" charset="-120"/>
              </a:rPr>
              <a:t>02 · 06</a:t>
            </a:r>
            <a:endParaRPr lang="en-US" sz="950" dirty="0"/>
          </a:p>
        </p:txBody>
      </p:sp>
      <p:sp>
        <p:nvSpPr>
          <p:cNvPr id="15" name="Shape 11"/>
          <p:cNvSpPr/>
          <p:nvPr/>
        </p:nvSpPr>
        <p:spPr>
          <a:xfrm>
            <a:off x="3630952" y="3200400"/>
            <a:ext cx="118872" cy="0"/>
          </a:xfrm>
          <a:prstGeom prst="line">
            <a:avLst/>
          </a:prstGeom>
          <a:noFill/>
          <a:ln w="22860">
            <a:solidFill>
              <a:srgbClr val="8E82F5"/>
            </a:solidFill>
            <a:prstDash val="solid"/>
            <a:headEnd type="none"/>
            <a:tailEnd type="triangle"/>
          </a:ln>
        </p:spPr>
        <p:txBody>
          <a:bodyPr/>
          <a:lstStyle/>
          <a:p>
            <a:endParaRPr lang="en-US"/>
          </a:p>
        </p:txBody>
      </p:sp>
      <p:sp>
        <p:nvSpPr>
          <p:cNvPr id="16" name="Shape 12"/>
          <p:cNvSpPr/>
          <p:nvPr/>
        </p:nvSpPr>
        <p:spPr>
          <a:xfrm>
            <a:off x="3768112" y="2103120"/>
            <a:ext cx="1454288" cy="2194560"/>
          </a:xfrm>
          <a:prstGeom prst="roundRect">
            <a:avLst>
              <a:gd name="adj" fmla="val 6288"/>
            </a:avLst>
          </a:prstGeom>
          <a:solidFill>
            <a:srgbClr val="FFFFFF"/>
          </a:solidFill>
          <a:ln w="12700">
            <a:solidFill>
              <a:srgbClr val="E3E4F2"/>
            </a:solidFill>
            <a:prstDash val="solid"/>
          </a:ln>
          <a:effectLst>
            <a:outerShdw blurRad="101600" dist="508" dir="5400000" algn="bl" rotWithShape="0">
              <a:srgbClr val="1B1A4A">
                <a:alpha val="8000"/>
              </a:srgbClr>
            </a:outerShdw>
          </a:effectLst>
        </p:spPr>
        <p:txBody>
          <a:bodyPr/>
          <a:lstStyle/>
          <a:p>
            <a:endParaRPr lang="en-US"/>
          </a:p>
        </p:txBody>
      </p:sp>
      <p:sp>
        <p:nvSpPr>
          <p:cNvPr id="17" name="Shape 13"/>
          <p:cNvSpPr/>
          <p:nvPr/>
        </p:nvSpPr>
        <p:spPr>
          <a:xfrm>
            <a:off x="4303232" y="2286000"/>
            <a:ext cx="384048" cy="384048"/>
          </a:xfrm>
          <a:prstGeom prst="ellipse">
            <a:avLst/>
          </a:prstGeom>
          <a:solidFill>
            <a:srgbClr val="5B4BE8"/>
          </a:solidFill>
          <a:ln w="12700">
            <a:solidFill>
              <a:srgbClr val="5B4BE8"/>
            </a:solidFill>
            <a:prstDash val="solid"/>
          </a:ln>
        </p:spPr>
        <p:txBody>
          <a:bodyPr/>
          <a:lstStyle/>
          <a:p>
            <a:endParaRPr lang="en-US"/>
          </a:p>
        </p:txBody>
      </p:sp>
      <p:pic>
        <p:nvPicPr>
          <p:cNvPr id="18" name="Image 2" descr="preencoded.png"/>
          <p:cNvPicPr>
            <a:picLocks noChangeAspect="1"/>
          </p:cNvPicPr>
          <p:nvPr/>
        </p:nvPicPr>
        <p:blipFill>
          <a:blip r:embed="rId5"/>
          <a:stretch>
            <a:fillRect/>
          </a:stretch>
        </p:blipFill>
        <p:spPr>
          <a:xfrm>
            <a:off x="4399244" y="2382012"/>
            <a:ext cx="192024" cy="192024"/>
          </a:xfrm>
          <a:prstGeom prst="rect">
            <a:avLst/>
          </a:prstGeom>
        </p:spPr>
      </p:pic>
      <p:sp>
        <p:nvSpPr>
          <p:cNvPr id="19" name="Text 14"/>
          <p:cNvSpPr/>
          <p:nvPr/>
        </p:nvSpPr>
        <p:spPr>
          <a:xfrm>
            <a:off x="3859552" y="2798064"/>
            <a:ext cx="1271408" cy="914400"/>
          </a:xfrm>
          <a:prstGeom prst="rect">
            <a:avLst/>
          </a:prstGeom>
          <a:noFill/>
          <a:ln/>
        </p:spPr>
        <p:txBody>
          <a:bodyPr wrap="square" lIns="0" tIns="0" rIns="0" bIns="0" rtlCol="0" anchor="t"/>
          <a:lstStyle/>
          <a:p>
            <a:pPr marL="0" indent="0" algn="ctr">
              <a:lnSpc>
                <a:spcPct val="108000"/>
              </a:lnSpc>
              <a:buNone/>
            </a:pPr>
            <a:r>
              <a:rPr lang="en-US" sz="1150" b="1" dirty="0">
                <a:solidFill>
                  <a:srgbClr val="141235"/>
                </a:solidFill>
                <a:latin typeface="Calibri" pitchFamily="34" charset="0"/>
                <a:ea typeface="Calibri" pitchFamily="34" charset="-122"/>
                <a:cs typeface="Calibri" pitchFamily="34" charset="-120"/>
              </a:rPr>
              <a:t>Frameworks</a:t>
            </a:r>
            <a:endParaRPr lang="en-US" sz="1150" dirty="0"/>
          </a:p>
        </p:txBody>
      </p:sp>
      <p:sp>
        <p:nvSpPr>
          <p:cNvPr id="20" name="Text 15"/>
          <p:cNvSpPr/>
          <p:nvPr/>
        </p:nvSpPr>
        <p:spPr>
          <a:xfrm>
            <a:off x="3859552" y="3913632"/>
            <a:ext cx="1271408" cy="237744"/>
          </a:xfrm>
          <a:prstGeom prst="rect">
            <a:avLst/>
          </a:prstGeom>
          <a:noFill/>
          <a:ln/>
        </p:spPr>
        <p:txBody>
          <a:bodyPr wrap="square" lIns="0" tIns="0" rIns="0" bIns="0" rtlCol="0" anchor="ctr"/>
          <a:lstStyle/>
          <a:p>
            <a:pPr marL="0" indent="0" algn="ctr">
              <a:buNone/>
            </a:pPr>
            <a:r>
              <a:rPr lang="en-US" sz="950" dirty="0">
                <a:solidFill>
                  <a:srgbClr val="9B98B4"/>
                </a:solidFill>
                <a:latin typeface="Calibri" pitchFamily="34" charset="0"/>
                <a:ea typeface="Calibri" pitchFamily="34" charset="-122"/>
                <a:cs typeface="Calibri" pitchFamily="34" charset="-120"/>
              </a:rPr>
              <a:t>09</a:t>
            </a:r>
            <a:endParaRPr lang="en-US" sz="950" dirty="0"/>
          </a:p>
        </p:txBody>
      </p:sp>
      <p:sp>
        <p:nvSpPr>
          <p:cNvPr id="21" name="Shape 16"/>
          <p:cNvSpPr/>
          <p:nvPr/>
        </p:nvSpPr>
        <p:spPr>
          <a:xfrm>
            <a:off x="5231544" y="3200400"/>
            <a:ext cx="118872" cy="0"/>
          </a:xfrm>
          <a:prstGeom prst="line">
            <a:avLst/>
          </a:prstGeom>
          <a:noFill/>
          <a:ln w="22860">
            <a:solidFill>
              <a:srgbClr val="8E82F5"/>
            </a:solidFill>
            <a:prstDash val="solid"/>
            <a:headEnd type="none"/>
            <a:tailEnd type="triangle"/>
          </a:ln>
        </p:spPr>
        <p:txBody>
          <a:bodyPr/>
          <a:lstStyle/>
          <a:p>
            <a:endParaRPr lang="en-US"/>
          </a:p>
        </p:txBody>
      </p:sp>
      <p:sp>
        <p:nvSpPr>
          <p:cNvPr id="22" name="Shape 17"/>
          <p:cNvSpPr/>
          <p:nvPr/>
        </p:nvSpPr>
        <p:spPr>
          <a:xfrm>
            <a:off x="5368704" y="2103120"/>
            <a:ext cx="1454288" cy="2194560"/>
          </a:xfrm>
          <a:prstGeom prst="roundRect">
            <a:avLst>
              <a:gd name="adj" fmla="val 6288"/>
            </a:avLst>
          </a:prstGeom>
          <a:solidFill>
            <a:srgbClr val="FFFFFF"/>
          </a:solidFill>
          <a:ln w="12700">
            <a:solidFill>
              <a:srgbClr val="E3E4F2"/>
            </a:solidFill>
            <a:prstDash val="solid"/>
          </a:ln>
          <a:effectLst>
            <a:outerShdw blurRad="101600" dist="508" dir="5400000" algn="bl" rotWithShape="0">
              <a:srgbClr val="1B1A4A">
                <a:alpha val="8000"/>
              </a:srgbClr>
            </a:outerShdw>
          </a:effectLst>
        </p:spPr>
        <p:txBody>
          <a:bodyPr/>
          <a:lstStyle/>
          <a:p>
            <a:endParaRPr lang="en-US"/>
          </a:p>
        </p:txBody>
      </p:sp>
      <p:sp>
        <p:nvSpPr>
          <p:cNvPr id="23" name="Shape 18"/>
          <p:cNvSpPr/>
          <p:nvPr/>
        </p:nvSpPr>
        <p:spPr>
          <a:xfrm>
            <a:off x="5903824" y="2286000"/>
            <a:ext cx="384048" cy="384048"/>
          </a:xfrm>
          <a:prstGeom prst="ellipse">
            <a:avLst/>
          </a:prstGeom>
          <a:solidFill>
            <a:srgbClr val="5B4BE8"/>
          </a:solidFill>
          <a:ln w="12700">
            <a:solidFill>
              <a:srgbClr val="5B4BE8"/>
            </a:solidFill>
            <a:prstDash val="solid"/>
          </a:ln>
        </p:spPr>
        <p:txBody>
          <a:bodyPr/>
          <a:lstStyle/>
          <a:p>
            <a:endParaRPr lang="en-US"/>
          </a:p>
        </p:txBody>
      </p:sp>
      <p:pic>
        <p:nvPicPr>
          <p:cNvPr id="24" name="Image 3" descr="preencoded.png"/>
          <p:cNvPicPr>
            <a:picLocks noChangeAspect="1"/>
          </p:cNvPicPr>
          <p:nvPr/>
        </p:nvPicPr>
        <p:blipFill>
          <a:blip r:embed="rId6"/>
          <a:stretch>
            <a:fillRect/>
          </a:stretch>
        </p:blipFill>
        <p:spPr>
          <a:xfrm>
            <a:off x="5999836" y="2382012"/>
            <a:ext cx="192024" cy="192024"/>
          </a:xfrm>
          <a:prstGeom prst="rect">
            <a:avLst/>
          </a:prstGeom>
        </p:spPr>
      </p:pic>
      <p:sp>
        <p:nvSpPr>
          <p:cNvPr id="25" name="Text 19"/>
          <p:cNvSpPr/>
          <p:nvPr/>
        </p:nvSpPr>
        <p:spPr>
          <a:xfrm>
            <a:off x="5460144" y="2798064"/>
            <a:ext cx="1271408" cy="914400"/>
          </a:xfrm>
          <a:prstGeom prst="rect">
            <a:avLst/>
          </a:prstGeom>
          <a:noFill/>
          <a:ln/>
        </p:spPr>
        <p:txBody>
          <a:bodyPr wrap="square" lIns="0" tIns="0" rIns="0" bIns="0" rtlCol="0" anchor="t"/>
          <a:lstStyle/>
          <a:p>
            <a:pPr marL="0" indent="0" algn="ctr">
              <a:lnSpc>
                <a:spcPct val="108000"/>
              </a:lnSpc>
              <a:buNone/>
            </a:pPr>
            <a:r>
              <a:rPr lang="en-US" sz="1150" b="1" dirty="0">
                <a:solidFill>
                  <a:srgbClr val="141235"/>
                </a:solidFill>
                <a:latin typeface="Calibri" pitchFamily="34" charset="0"/>
                <a:ea typeface="Calibri" pitchFamily="34" charset="-122"/>
                <a:cs typeface="Calibri" pitchFamily="34" charset="-120"/>
              </a:rPr>
              <a:t>Retrieval and memory</a:t>
            </a:r>
            <a:endParaRPr lang="en-US" sz="1150" dirty="0"/>
          </a:p>
        </p:txBody>
      </p:sp>
      <p:sp>
        <p:nvSpPr>
          <p:cNvPr id="26" name="Text 20"/>
          <p:cNvSpPr/>
          <p:nvPr/>
        </p:nvSpPr>
        <p:spPr>
          <a:xfrm>
            <a:off x="5460144" y="3913632"/>
            <a:ext cx="1271408" cy="237744"/>
          </a:xfrm>
          <a:prstGeom prst="rect">
            <a:avLst/>
          </a:prstGeom>
          <a:noFill/>
          <a:ln/>
        </p:spPr>
        <p:txBody>
          <a:bodyPr wrap="square" lIns="0" tIns="0" rIns="0" bIns="0" rtlCol="0" anchor="ctr"/>
          <a:lstStyle/>
          <a:p>
            <a:pPr marL="0" indent="0" algn="ctr">
              <a:buNone/>
            </a:pPr>
            <a:r>
              <a:rPr lang="en-US" sz="950" dirty="0">
                <a:solidFill>
                  <a:srgbClr val="9B98B4"/>
                </a:solidFill>
                <a:latin typeface="Calibri" pitchFamily="34" charset="0"/>
                <a:ea typeface="Calibri" pitchFamily="34" charset="-122"/>
                <a:cs typeface="Calibri" pitchFamily="34" charset="-120"/>
              </a:rPr>
              <a:t>11 · 12</a:t>
            </a:r>
            <a:endParaRPr lang="en-US" sz="950" dirty="0"/>
          </a:p>
        </p:txBody>
      </p:sp>
      <p:sp>
        <p:nvSpPr>
          <p:cNvPr id="27" name="Shape 21"/>
          <p:cNvSpPr/>
          <p:nvPr/>
        </p:nvSpPr>
        <p:spPr>
          <a:xfrm>
            <a:off x="6832136" y="3200400"/>
            <a:ext cx="118872" cy="0"/>
          </a:xfrm>
          <a:prstGeom prst="line">
            <a:avLst/>
          </a:prstGeom>
          <a:noFill/>
          <a:ln w="22860">
            <a:solidFill>
              <a:srgbClr val="8E82F5"/>
            </a:solidFill>
            <a:prstDash val="solid"/>
            <a:headEnd type="none"/>
            <a:tailEnd type="triangle"/>
          </a:ln>
        </p:spPr>
        <p:txBody>
          <a:bodyPr/>
          <a:lstStyle/>
          <a:p>
            <a:endParaRPr lang="en-US"/>
          </a:p>
        </p:txBody>
      </p:sp>
      <p:sp>
        <p:nvSpPr>
          <p:cNvPr id="28" name="Shape 22"/>
          <p:cNvSpPr/>
          <p:nvPr/>
        </p:nvSpPr>
        <p:spPr>
          <a:xfrm>
            <a:off x="6969296" y="2103120"/>
            <a:ext cx="1454288" cy="2194560"/>
          </a:xfrm>
          <a:prstGeom prst="roundRect">
            <a:avLst>
              <a:gd name="adj" fmla="val 6288"/>
            </a:avLst>
          </a:prstGeom>
          <a:solidFill>
            <a:srgbClr val="FFFFFF"/>
          </a:solidFill>
          <a:ln w="12700">
            <a:solidFill>
              <a:srgbClr val="E3E4F2"/>
            </a:solidFill>
            <a:prstDash val="solid"/>
          </a:ln>
          <a:effectLst>
            <a:outerShdw blurRad="101600" dist="508" dir="5400000" algn="bl" rotWithShape="0">
              <a:srgbClr val="1B1A4A">
                <a:alpha val="8000"/>
              </a:srgbClr>
            </a:outerShdw>
          </a:effectLst>
        </p:spPr>
        <p:txBody>
          <a:bodyPr/>
          <a:lstStyle/>
          <a:p>
            <a:endParaRPr lang="en-US"/>
          </a:p>
        </p:txBody>
      </p:sp>
      <p:sp>
        <p:nvSpPr>
          <p:cNvPr id="29" name="Shape 23"/>
          <p:cNvSpPr/>
          <p:nvPr/>
        </p:nvSpPr>
        <p:spPr>
          <a:xfrm>
            <a:off x="7504415" y="2286000"/>
            <a:ext cx="384048" cy="384048"/>
          </a:xfrm>
          <a:prstGeom prst="ellipse">
            <a:avLst/>
          </a:prstGeom>
          <a:solidFill>
            <a:srgbClr val="5B4BE8"/>
          </a:solidFill>
          <a:ln w="12700">
            <a:solidFill>
              <a:srgbClr val="5B4BE8"/>
            </a:solidFill>
            <a:prstDash val="solid"/>
          </a:ln>
        </p:spPr>
        <p:txBody>
          <a:bodyPr/>
          <a:lstStyle/>
          <a:p>
            <a:endParaRPr lang="en-US"/>
          </a:p>
        </p:txBody>
      </p:sp>
      <p:pic>
        <p:nvPicPr>
          <p:cNvPr id="30" name="Image 4" descr="preencoded.png"/>
          <p:cNvPicPr>
            <a:picLocks noChangeAspect="1"/>
          </p:cNvPicPr>
          <p:nvPr/>
        </p:nvPicPr>
        <p:blipFill>
          <a:blip r:embed="rId7"/>
          <a:stretch>
            <a:fillRect/>
          </a:stretch>
        </p:blipFill>
        <p:spPr>
          <a:xfrm>
            <a:off x="7600427" y="2382012"/>
            <a:ext cx="192024" cy="192024"/>
          </a:xfrm>
          <a:prstGeom prst="rect">
            <a:avLst/>
          </a:prstGeom>
        </p:spPr>
      </p:pic>
      <p:sp>
        <p:nvSpPr>
          <p:cNvPr id="31" name="Text 24"/>
          <p:cNvSpPr/>
          <p:nvPr/>
        </p:nvSpPr>
        <p:spPr>
          <a:xfrm>
            <a:off x="7060736" y="2798064"/>
            <a:ext cx="1271408" cy="914400"/>
          </a:xfrm>
          <a:prstGeom prst="rect">
            <a:avLst/>
          </a:prstGeom>
          <a:noFill/>
          <a:ln/>
        </p:spPr>
        <p:txBody>
          <a:bodyPr wrap="square" lIns="0" tIns="0" rIns="0" bIns="0" rtlCol="0" anchor="t"/>
          <a:lstStyle/>
          <a:p>
            <a:pPr marL="0" indent="0" algn="ctr">
              <a:lnSpc>
                <a:spcPct val="108000"/>
              </a:lnSpc>
              <a:buNone/>
            </a:pPr>
            <a:r>
              <a:rPr lang="en-US" sz="1150" b="1" dirty="0">
                <a:solidFill>
                  <a:srgbClr val="141235"/>
                </a:solidFill>
                <a:latin typeface="Calibri" pitchFamily="34" charset="0"/>
                <a:ea typeface="Calibri" pitchFamily="34" charset="-122"/>
                <a:cs typeface="Calibri" pitchFamily="34" charset="-120"/>
              </a:rPr>
              <a:t>Delegation</a:t>
            </a:r>
            <a:endParaRPr lang="en-US" sz="1150" dirty="0"/>
          </a:p>
        </p:txBody>
      </p:sp>
      <p:sp>
        <p:nvSpPr>
          <p:cNvPr id="32" name="Text 25"/>
          <p:cNvSpPr/>
          <p:nvPr/>
        </p:nvSpPr>
        <p:spPr>
          <a:xfrm>
            <a:off x="7060736" y="3913632"/>
            <a:ext cx="1271408" cy="237744"/>
          </a:xfrm>
          <a:prstGeom prst="rect">
            <a:avLst/>
          </a:prstGeom>
          <a:noFill/>
          <a:ln/>
        </p:spPr>
        <p:txBody>
          <a:bodyPr wrap="square" lIns="0" tIns="0" rIns="0" bIns="0" rtlCol="0" anchor="ctr"/>
          <a:lstStyle/>
          <a:p>
            <a:pPr marL="0" indent="0" algn="ctr">
              <a:buNone/>
            </a:pPr>
            <a:r>
              <a:rPr lang="en-US" sz="950" dirty="0">
                <a:solidFill>
                  <a:srgbClr val="9B98B4"/>
                </a:solidFill>
                <a:latin typeface="Calibri" pitchFamily="34" charset="0"/>
                <a:ea typeface="Calibri" pitchFamily="34" charset="-122"/>
                <a:cs typeface="Calibri" pitchFamily="34" charset="-120"/>
              </a:rPr>
              <a:t>13</a:t>
            </a:r>
            <a:endParaRPr lang="en-US" sz="950" dirty="0"/>
          </a:p>
        </p:txBody>
      </p:sp>
      <p:sp>
        <p:nvSpPr>
          <p:cNvPr id="33" name="Shape 26"/>
          <p:cNvSpPr/>
          <p:nvPr/>
        </p:nvSpPr>
        <p:spPr>
          <a:xfrm>
            <a:off x="8432727" y="3200400"/>
            <a:ext cx="118872" cy="0"/>
          </a:xfrm>
          <a:prstGeom prst="line">
            <a:avLst/>
          </a:prstGeom>
          <a:noFill/>
          <a:ln w="22860">
            <a:solidFill>
              <a:srgbClr val="8E82F5"/>
            </a:solidFill>
            <a:prstDash val="solid"/>
            <a:headEnd type="none"/>
            <a:tailEnd type="triangle"/>
          </a:ln>
        </p:spPr>
        <p:txBody>
          <a:bodyPr/>
          <a:lstStyle/>
          <a:p>
            <a:endParaRPr lang="en-US"/>
          </a:p>
        </p:txBody>
      </p:sp>
      <p:sp>
        <p:nvSpPr>
          <p:cNvPr id="34" name="Shape 27"/>
          <p:cNvSpPr/>
          <p:nvPr/>
        </p:nvSpPr>
        <p:spPr>
          <a:xfrm>
            <a:off x="8569887" y="2103120"/>
            <a:ext cx="1454288" cy="2194560"/>
          </a:xfrm>
          <a:prstGeom prst="roundRect">
            <a:avLst>
              <a:gd name="adj" fmla="val 6288"/>
            </a:avLst>
          </a:prstGeom>
          <a:solidFill>
            <a:srgbClr val="FFFFFF"/>
          </a:solidFill>
          <a:ln w="12700">
            <a:solidFill>
              <a:srgbClr val="E3E4F2"/>
            </a:solidFill>
            <a:prstDash val="solid"/>
          </a:ln>
          <a:effectLst>
            <a:outerShdw blurRad="101600" dist="508" dir="5400000" algn="bl" rotWithShape="0">
              <a:srgbClr val="1B1A4A">
                <a:alpha val="8000"/>
              </a:srgbClr>
            </a:outerShdw>
          </a:effectLst>
        </p:spPr>
        <p:txBody>
          <a:bodyPr/>
          <a:lstStyle/>
          <a:p>
            <a:endParaRPr lang="en-US"/>
          </a:p>
        </p:txBody>
      </p:sp>
      <p:sp>
        <p:nvSpPr>
          <p:cNvPr id="35" name="Shape 28"/>
          <p:cNvSpPr/>
          <p:nvPr/>
        </p:nvSpPr>
        <p:spPr>
          <a:xfrm>
            <a:off x="9105007" y="2286000"/>
            <a:ext cx="384048" cy="384048"/>
          </a:xfrm>
          <a:prstGeom prst="ellipse">
            <a:avLst/>
          </a:prstGeom>
          <a:solidFill>
            <a:srgbClr val="5B4BE8"/>
          </a:solidFill>
          <a:ln w="12700">
            <a:solidFill>
              <a:srgbClr val="5B4BE8"/>
            </a:solidFill>
            <a:prstDash val="solid"/>
          </a:ln>
        </p:spPr>
        <p:txBody>
          <a:bodyPr/>
          <a:lstStyle/>
          <a:p>
            <a:endParaRPr lang="en-US"/>
          </a:p>
        </p:txBody>
      </p:sp>
      <p:pic>
        <p:nvPicPr>
          <p:cNvPr id="36" name="Image 5" descr="preencoded.png"/>
          <p:cNvPicPr>
            <a:picLocks noChangeAspect="1"/>
          </p:cNvPicPr>
          <p:nvPr/>
        </p:nvPicPr>
        <p:blipFill>
          <a:blip r:embed="rId8"/>
          <a:stretch>
            <a:fillRect/>
          </a:stretch>
        </p:blipFill>
        <p:spPr>
          <a:xfrm>
            <a:off x="9201019" y="2382012"/>
            <a:ext cx="192024" cy="192024"/>
          </a:xfrm>
          <a:prstGeom prst="rect">
            <a:avLst/>
          </a:prstGeom>
        </p:spPr>
      </p:pic>
      <p:sp>
        <p:nvSpPr>
          <p:cNvPr id="37" name="Text 29"/>
          <p:cNvSpPr/>
          <p:nvPr/>
        </p:nvSpPr>
        <p:spPr>
          <a:xfrm>
            <a:off x="8661327" y="2798064"/>
            <a:ext cx="1271408" cy="914400"/>
          </a:xfrm>
          <a:prstGeom prst="rect">
            <a:avLst/>
          </a:prstGeom>
          <a:noFill/>
          <a:ln/>
        </p:spPr>
        <p:txBody>
          <a:bodyPr wrap="square" lIns="0" tIns="0" rIns="0" bIns="0" rtlCol="0" anchor="t"/>
          <a:lstStyle/>
          <a:p>
            <a:pPr marL="0" indent="0" algn="ctr">
              <a:lnSpc>
                <a:spcPct val="108000"/>
              </a:lnSpc>
              <a:buNone/>
            </a:pPr>
            <a:r>
              <a:rPr lang="en-US" sz="1150" b="1" dirty="0">
                <a:solidFill>
                  <a:srgbClr val="141235"/>
                </a:solidFill>
                <a:latin typeface="Calibri" pitchFamily="34" charset="0"/>
                <a:ea typeface="Calibri" pitchFamily="34" charset="-122"/>
                <a:cs typeface="Calibri" pitchFamily="34" charset="-120"/>
              </a:rPr>
              <a:t>Security and evals</a:t>
            </a:r>
            <a:endParaRPr lang="en-US" sz="1150" dirty="0"/>
          </a:p>
        </p:txBody>
      </p:sp>
      <p:sp>
        <p:nvSpPr>
          <p:cNvPr id="38" name="Text 30"/>
          <p:cNvSpPr/>
          <p:nvPr/>
        </p:nvSpPr>
        <p:spPr>
          <a:xfrm>
            <a:off x="8661327" y="3913632"/>
            <a:ext cx="1271408" cy="237744"/>
          </a:xfrm>
          <a:prstGeom prst="rect">
            <a:avLst/>
          </a:prstGeom>
          <a:noFill/>
          <a:ln/>
        </p:spPr>
        <p:txBody>
          <a:bodyPr wrap="square" lIns="0" tIns="0" rIns="0" bIns="0" rtlCol="0" anchor="ctr"/>
          <a:lstStyle/>
          <a:p>
            <a:pPr marL="0" indent="0" algn="ctr">
              <a:buNone/>
            </a:pPr>
            <a:r>
              <a:rPr lang="en-US" sz="950" dirty="0">
                <a:solidFill>
                  <a:srgbClr val="9B98B4"/>
                </a:solidFill>
                <a:latin typeface="Calibri" pitchFamily="34" charset="0"/>
                <a:ea typeface="Calibri" pitchFamily="34" charset="-122"/>
                <a:cs typeface="Calibri" pitchFamily="34" charset="-120"/>
              </a:rPr>
              <a:t>14 · 15</a:t>
            </a:r>
            <a:endParaRPr lang="en-US" sz="950" dirty="0"/>
          </a:p>
        </p:txBody>
      </p:sp>
      <p:sp>
        <p:nvSpPr>
          <p:cNvPr id="39" name="Shape 31"/>
          <p:cNvSpPr/>
          <p:nvPr/>
        </p:nvSpPr>
        <p:spPr>
          <a:xfrm>
            <a:off x="10033319" y="3200400"/>
            <a:ext cx="118872" cy="0"/>
          </a:xfrm>
          <a:prstGeom prst="line">
            <a:avLst/>
          </a:prstGeom>
          <a:noFill/>
          <a:ln w="22860">
            <a:solidFill>
              <a:srgbClr val="8E82F5"/>
            </a:solidFill>
            <a:prstDash val="solid"/>
            <a:headEnd type="none"/>
            <a:tailEnd type="triangle"/>
          </a:ln>
        </p:spPr>
        <p:txBody>
          <a:bodyPr/>
          <a:lstStyle/>
          <a:p>
            <a:endParaRPr lang="en-US"/>
          </a:p>
        </p:txBody>
      </p:sp>
      <p:sp>
        <p:nvSpPr>
          <p:cNvPr id="40" name="Shape 32"/>
          <p:cNvSpPr/>
          <p:nvPr/>
        </p:nvSpPr>
        <p:spPr>
          <a:xfrm>
            <a:off x="10170479" y="2103120"/>
            <a:ext cx="1454288" cy="2194560"/>
          </a:xfrm>
          <a:prstGeom prst="roundRect">
            <a:avLst>
              <a:gd name="adj" fmla="val 6288"/>
            </a:avLst>
          </a:prstGeom>
          <a:solidFill>
            <a:srgbClr val="5B4BE8"/>
          </a:solidFill>
          <a:ln w="12700">
            <a:solidFill>
              <a:srgbClr val="5B4BE8"/>
            </a:solidFill>
            <a:prstDash val="solid"/>
          </a:ln>
          <a:effectLst>
            <a:outerShdw blurRad="101600" dist="508" dir="5400000" algn="bl" rotWithShape="0">
              <a:srgbClr val="1B1A4A">
                <a:alpha val="8000"/>
              </a:srgbClr>
            </a:outerShdw>
          </a:effectLst>
        </p:spPr>
        <p:txBody>
          <a:bodyPr/>
          <a:lstStyle/>
          <a:p>
            <a:endParaRPr lang="en-US"/>
          </a:p>
        </p:txBody>
      </p:sp>
      <p:sp>
        <p:nvSpPr>
          <p:cNvPr id="41" name="Shape 33"/>
          <p:cNvSpPr/>
          <p:nvPr/>
        </p:nvSpPr>
        <p:spPr>
          <a:xfrm>
            <a:off x="10705599" y="2286000"/>
            <a:ext cx="384048" cy="384048"/>
          </a:xfrm>
          <a:prstGeom prst="ellipse">
            <a:avLst/>
          </a:prstGeom>
          <a:solidFill>
            <a:srgbClr val="F5A524"/>
          </a:solidFill>
          <a:ln w="12700">
            <a:solidFill>
              <a:srgbClr val="F5A524"/>
            </a:solidFill>
            <a:prstDash val="solid"/>
          </a:ln>
        </p:spPr>
        <p:txBody>
          <a:bodyPr/>
          <a:lstStyle/>
          <a:p>
            <a:endParaRPr lang="en-US"/>
          </a:p>
        </p:txBody>
      </p:sp>
      <p:pic>
        <p:nvPicPr>
          <p:cNvPr id="42" name="Image 6" descr="preencoded.png"/>
          <p:cNvPicPr>
            <a:picLocks noChangeAspect="1"/>
          </p:cNvPicPr>
          <p:nvPr/>
        </p:nvPicPr>
        <p:blipFill>
          <a:blip r:embed="rId9"/>
          <a:stretch>
            <a:fillRect/>
          </a:stretch>
        </p:blipFill>
        <p:spPr>
          <a:xfrm>
            <a:off x="10801611" y="2382012"/>
            <a:ext cx="192024" cy="192024"/>
          </a:xfrm>
          <a:prstGeom prst="rect">
            <a:avLst/>
          </a:prstGeom>
        </p:spPr>
      </p:pic>
      <p:sp>
        <p:nvSpPr>
          <p:cNvPr id="43" name="Text 34"/>
          <p:cNvSpPr/>
          <p:nvPr/>
        </p:nvSpPr>
        <p:spPr>
          <a:xfrm>
            <a:off x="10261919" y="2798064"/>
            <a:ext cx="1271408" cy="914400"/>
          </a:xfrm>
          <a:prstGeom prst="rect">
            <a:avLst/>
          </a:prstGeom>
          <a:noFill/>
          <a:ln/>
        </p:spPr>
        <p:txBody>
          <a:bodyPr wrap="square" lIns="0" tIns="0" rIns="0" bIns="0" rtlCol="0" anchor="t"/>
          <a:lstStyle/>
          <a:p>
            <a:pPr marL="0" indent="0" algn="ctr">
              <a:lnSpc>
                <a:spcPct val="108000"/>
              </a:lnSpc>
              <a:buNone/>
            </a:pPr>
            <a:r>
              <a:rPr lang="en-US" sz="1150" b="1" dirty="0">
                <a:solidFill>
                  <a:srgbClr val="FFFFFF"/>
                </a:solidFill>
                <a:latin typeface="Calibri" pitchFamily="34" charset="0"/>
                <a:ea typeface="Calibri" pitchFamily="34" charset="-122"/>
                <a:cs typeface="Calibri" pitchFamily="34" charset="-120"/>
              </a:rPr>
              <a:t>A decision about what to automate</a:t>
            </a:r>
            <a:endParaRPr lang="en-US" sz="1150" dirty="0"/>
          </a:p>
        </p:txBody>
      </p:sp>
      <p:sp>
        <p:nvSpPr>
          <p:cNvPr id="44" name="Text 35"/>
          <p:cNvSpPr/>
          <p:nvPr/>
        </p:nvSpPr>
        <p:spPr>
          <a:xfrm>
            <a:off x="10261919" y="3913632"/>
            <a:ext cx="1271408" cy="237744"/>
          </a:xfrm>
          <a:prstGeom prst="rect">
            <a:avLst/>
          </a:prstGeom>
          <a:noFill/>
          <a:ln/>
        </p:spPr>
        <p:txBody>
          <a:bodyPr wrap="square" lIns="0" tIns="0" rIns="0" bIns="0" rtlCol="0" anchor="ctr"/>
          <a:lstStyle/>
          <a:p>
            <a:pPr marL="0" indent="0" algn="ctr">
              <a:buNone/>
            </a:pPr>
            <a:r>
              <a:rPr lang="en-US" sz="950" dirty="0">
                <a:solidFill>
                  <a:srgbClr val="CFC9FF"/>
                </a:solidFill>
                <a:latin typeface="Calibri" pitchFamily="34" charset="0"/>
                <a:ea typeface="Calibri" pitchFamily="34" charset="-122"/>
                <a:cs typeface="Calibri" pitchFamily="34" charset="-120"/>
              </a:rPr>
              <a:t>17</a:t>
            </a:r>
            <a:endParaRPr lang="en-US" sz="950" dirty="0"/>
          </a:p>
        </p:txBody>
      </p:sp>
      <p:sp>
        <p:nvSpPr>
          <p:cNvPr id="45" name="Shape 36"/>
          <p:cNvSpPr/>
          <p:nvPr/>
        </p:nvSpPr>
        <p:spPr>
          <a:xfrm>
            <a:off x="566928" y="4626864"/>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46" name="Shape 37"/>
          <p:cNvSpPr/>
          <p:nvPr/>
        </p:nvSpPr>
        <p:spPr>
          <a:xfrm>
            <a:off x="841248" y="4846320"/>
            <a:ext cx="384048" cy="384048"/>
          </a:xfrm>
          <a:prstGeom prst="ellipse">
            <a:avLst/>
          </a:prstGeom>
          <a:solidFill>
            <a:srgbClr val="F5A524"/>
          </a:solidFill>
          <a:ln w="12700">
            <a:solidFill>
              <a:srgbClr val="F5A524"/>
            </a:solidFill>
            <a:prstDash val="solid"/>
          </a:ln>
        </p:spPr>
        <p:txBody>
          <a:bodyPr/>
          <a:lstStyle/>
          <a:p>
            <a:endParaRPr lang="en-US"/>
          </a:p>
        </p:txBody>
      </p:sp>
      <p:pic>
        <p:nvPicPr>
          <p:cNvPr id="47" name="Image 7" descr="preencoded.png"/>
          <p:cNvPicPr>
            <a:picLocks noChangeAspect="1"/>
          </p:cNvPicPr>
          <p:nvPr/>
        </p:nvPicPr>
        <p:blipFill>
          <a:blip r:embed="rId10"/>
          <a:stretch>
            <a:fillRect/>
          </a:stretch>
        </p:blipFill>
        <p:spPr>
          <a:xfrm>
            <a:off x="937260" y="4942332"/>
            <a:ext cx="192024" cy="192024"/>
          </a:xfrm>
          <a:prstGeom prst="rect">
            <a:avLst/>
          </a:prstGeom>
        </p:spPr>
      </p:pic>
      <p:sp>
        <p:nvSpPr>
          <p:cNvPr id="48" name="Text 38"/>
          <p:cNvSpPr/>
          <p:nvPr/>
        </p:nvSpPr>
        <p:spPr>
          <a:xfrm>
            <a:off x="1371600" y="4681728"/>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Every layer above the first one is a delta against the loop you wrote by hand on day one. That is still the fastest way to explain any of them.</a:t>
            </a:r>
            <a:endParaRPr lang="en-US" sz="1050" dirty="0"/>
          </a:p>
        </p:txBody>
      </p:sp>
      <p:sp>
        <p:nvSpPr>
          <p:cNvPr id="49" name="Text 39"/>
          <p:cNvSpPr/>
          <p:nvPr/>
        </p:nvSpPr>
        <p:spPr>
          <a:xfrm>
            <a:off x="566928" y="5632704"/>
            <a:ext cx="11057839" cy="256032"/>
          </a:xfrm>
          <a:prstGeom prst="rect">
            <a:avLst/>
          </a:prstGeom>
          <a:noFill/>
          <a:ln/>
        </p:spPr>
        <p:txBody>
          <a:bodyPr wrap="square" lIns="0" tIns="0" rIns="0" bIns="0" rtlCol="0" anchor="ctr"/>
          <a:lstStyle/>
          <a:p>
            <a:pPr marL="0" indent="0">
              <a:buNone/>
            </a:pPr>
            <a:r>
              <a:rPr lang="en-US" sz="950" i="1" dirty="0">
                <a:solidFill>
                  <a:srgbClr val="9B98B4"/>
                </a:solidFill>
                <a:latin typeface="Calibri" pitchFamily="34" charset="0"/>
                <a:ea typeface="Calibri" pitchFamily="34" charset="-122"/>
                <a:cs typeface="Calibri" pitchFamily="34" charset="-120"/>
              </a:rPr>
              <a:t>Read the chain back out loud, left to right. It takes twenty seconds and it is the best recall device you have.</a:t>
            </a:r>
            <a:endParaRPr lang="en-US" sz="95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0B0A22"/>
        </a:solidFill>
        <a:effectLst/>
      </p:bgPr>
    </p:bg>
    <p:spTree>
      <p:nvGrpSpPr>
        <p:cNvPr id="1" name=""/>
        <p:cNvGrpSpPr/>
        <p:nvPr/>
      </p:nvGrpSpPr>
      <p:grpSpPr>
        <a:xfrm>
          <a:off x="0" y="0"/>
          <a:ext cx="0" cy="0"/>
          <a:chOff x="0" y="0"/>
          <a:chExt cx="0" cy="0"/>
        </a:xfrm>
      </p:grpSpPr>
      <p:pic>
        <p:nvPicPr>
          <p:cNvPr id="2" name="Image 0" descr="/home/claude/work/bg_dark.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66928" y="2286000"/>
            <a:ext cx="7315200" cy="292608"/>
          </a:xfrm>
          <a:prstGeom prst="rect">
            <a:avLst/>
          </a:prstGeom>
          <a:noFill/>
          <a:ln/>
        </p:spPr>
        <p:txBody>
          <a:bodyPr wrap="square" lIns="0" tIns="0" rIns="0" bIns="0" rtlCol="0" anchor="ctr"/>
          <a:lstStyle/>
          <a:p>
            <a:pPr marL="0" indent="0">
              <a:buNone/>
            </a:pPr>
            <a:r>
              <a:rPr lang="en-US" sz="1300" b="1" kern="0" spc="340" dirty="0">
                <a:solidFill>
                  <a:srgbClr val="F5A524"/>
                </a:solidFill>
                <a:latin typeface="Calibri" pitchFamily="34" charset="0"/>
                <a:ea typeface="Calibri" pitchFamily="34" charset="-122"/>
                <a:cs typeface="Calibri" pitchFamily="34" charset="-120"/>
              </a:rPr>
              <a:t>THANK YOU</a:t>
            </a:r>
            <a:endParaRPr lang="en-US" sz="1300" dirty="0"/>
          </a:p>
        </p:txBody>
      </p:sp>
      <p:sp>
        <p:nvSpPr>
          <p:cNvPr id="4" name="Text 1"/>
          <p:cNvSpPr/>
          <p:nvPr/>
        </p:nvSpPr>
        <p:spPr>
          <a:xfrm>
            <a:off x="530352" y="2688336"/>
            <a:ext cx="10607040" cy="914400"/>
          </a:xfrm>
          <a:prstGeom prst="rect">
            <a:avLst/>
          </a:prstGeom>
          <a:noFill/>
          <a:ln/>
        </p:spPr>
        <p:txBody>
          <a:bodyPr wrap="square" lIns="0" tIns="0" rIns="0" bIns="0" rtlCol="0" anchor="t"/>
          <a:lstStyle/>
          <a:p>
            <a:pPr marL="0" indent="0">
              <a:buNone/>
            </a:pPr>
            <a:r>
              <a:rPr lang="en-US" sz="4800" b="1" dirty="0">
                <a:solidFill>
                  <a:srgbClr val="FFFFFF"/>
                </a:solidFill>
                <a:latin typeface="Cambria" pitchFamily="34" charset="0"/>
                <a:ea typeface="Cambria" pitchFamily="34" charset="-122"/>
                <a:cs typeface="Cambria" pitchFamily="34" charset="-120"/>
              </a:rPr>
              <a:t>Questions, and where to go next</a:t>
            </a:r>
            <a:endParaRPr lang="en-US" sz="4800" dirty="0"/>
          </a:p>
        </p:txBody>
      </p:sp>
      <p:sp>
        <p:nvSpPr>
          <p:cNvPr id="5" name="Text 2"/>
          <p:cNvSpPr/>
          <p:nvPr/>
        </p:nvSpPr>
        <p:spPr>
          <a:xfrm>
            <a:off x="566928" y="3767328"/>
            <a:ext cx="9692640" cy="859536"/>
          </a:xfrm>
          <a:prstGeom prst="rect">
            <a:avLst/>
          </a:prstGeom>
          <a:noFill/>
          <a:ln/>
        </p:spPr>
        <p:txBody>
          <a:bodyPr wrap="square" lIns="0" tIns="0" rIns="0" bIns="0" rtlCol="0" anchor="t"/>
          <a:lstStyle/>
          <a:p>
            <a:pPr marL="0" indent="0">
              <a:lnSpc>
                <a:spcPct val="120000"/>
              </a:lnSpc>
              <a:buNone/>
            </a:pPr>
            <a:r>
              <a:rPr lang="en-US" sz="1700" dirty="0">
                <a:solidFill>
                  <a:srgbClr val="B9B4E0"/>
                </a:solidFill>
                <a:latin typeface="Calibri" pitchFamily="34" charset="0"/>
                <a:ea typeface="Calibri" pitchFamily="34" charset="-122"/>
                <a:cs typeface="Calibri" pitchFamily="34" charset="-120"/>
              </a:rPr>
              <a:t>Every notebook stays yours after today. The loop you wrote by hand is still the fastest way to explain any layer above it — including the ones that do not exist yet.</a:t>
            </a:r>
            <a:endParaRPr lang="en-US" sz="1700" dirty="0"/>
          </a:p>
        </p:txBody>
      </p:sp>
      <p:sp>
        <p:nvSpPr>
          <p:cNvPr id="6" name="Shape 3"/>
          <p:cNvSpPr/>
          <p:nvPr/>
        </p:nvSpPr>
        <p:spPr>
          <a:xfrm>
            <a:off x="566928" y="4864608"/>
            <a:ext cx="3171139" cy="420624"/>
          </a:xfrm>
          <a:prstGeom prst="roundRect">
            <a:avLst>
              <a:gd name="adj" fmla="val 50000"/>
            </a:avLst>
          </a:prstGeom>
          <a:solidFill>
            <a:srgbClr val="FFFFFF">
              <a:alpha val="11000"/>
            </a:srgbClr>
          </a:solidFill>
          <a:ln w="12700">
            <a:solidFill>
              <a:srgbClr val="6E5FD8"/>
            </a:solidFill>
            <a:prstDash val="solid"/>
          </a:ln>
        </p:spPr>
        <p:txBody>
          <a:bodyPr/>
          <a:lstStyle/>
          <a:p>
            <a:endParaRPr lang="en-US"/>
          </a:p>
        </p:txBody>
      </p:sp>
      <p:sp>
        <p:nvSpPr>
          <p:cNvPr id="7" name="Text 4"/>
          <p:cNvSpPr/>
          <p:nvPr/>
        </p:nvSpPr>
        <p:spPr>
          <a:xfrm>
            <a:off x="566928" y="4864608"/>
            <a:ext cx="3171139" cy="420624"/>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Re-run module 03 with your own tools</a:t>
            </a:r>
            <a:endParaRPr lang="en-US" sz="1100" dirty="0"/>
          </a:p>
        </p:txBody>
      </p:sp>
      <p:sp>
        <p:nvSpPr>
          <p:cNvPr id="8" name="Shape 5"/>
          <p:cNvSpPr/>
          <p:nvPr/>
        </p:nvSpPr>
        <p:spPr>
          <a:xfrm>
            <a:off x="3902659" y="4864608"/>
            <a:ext cx="3332074" cy="420624"/>
          </a:xfrm>
          <a:prstGeom prst="roundRect">
            <a:avLst>
              <a:gd name="adj" fmla="val 50000"/>
            </a:avLst>
          </a:prstGeom>
          <a:solidFill>
            <a:srgbClr val="FFFFFF">
              <a:alpha val="11000"/>
            </a:srgbClr>
          </a:solidFill>
          <a:ln w="12700">
            <a:solidFill>
              <a:srgbClr val="6E5FD8"/>
            </a:solidFill>
            <a:prstDash val="solid"/>
          </a:ln>
        </p:spPr>
        <p:txBody>
          <a:bodyPr/>
          <a:lstStyle/>
          <a:p>
            <a:endParaRPr lang="en-US"/>
          </a:p>
        </p:txBody>
      </p:sp>
      <p:sp>
        <p:nvSpPr>
          <p:cNvPr id="9" name="Text 6"/>
          <p:cNvSpPr/>
          <p:nvPr/>
        </p:nvSpPr>
        <p:spPr>
          <a:xfrm>
            <a:off x="3902659" y="4864608"/>
            <a:ext cx="3332074" cy="420624"/>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Wrap one internal API as an MCP server</a:t>
            </a:r>
            <a:endParaRPr lang="en-US" sz="1100" dirty="0"/>
          </a:p>
        </p:txBody>
      </p:sp>
      <p:sp>
        <p:nvSpPr>
          <p:cNvPr id="10" name="Shape 7"/>
          <p:cNvSpPr/>
          <p:nvPr/>
        </p:nvSpPr>
        <p:spPr>
          <a:xfrm>
            <a:off x="7399325" y="4864608"/>
            <a:ext cx="3895344" cy="420624"/>
          </a:xfrm>
          <a:prstGeom prst="roundRect">
            <a:avLst>
              <a:gd name="adj" fmla="val 50000"/>
            </a:avLst>
          </a:prstGeom>
          <a:solidFill>
            <a:srgbClr val="FFFFFF">
              <a:alpha val="11000"/>
            </a:srgbClr>
          </a:solidFill>
          <a:ln w="12700">
            <a:solidFill>
              <a:srgbClr val="6E5FD8"/>
            </a:solidFill>
            <a:prstDash val="solid"/>
          </a:ln>
        </p:spPr>
        <p:txBody>
          <a:bodyPr/>
          <a:lstStyle/>
          <a:p>
            <a:endParaRPr lang="en-US"/>
          </a:p>
        </p:txBody>
      </p:sp>
      <p:sp>
        <p:nvSpPr>
          <p:cNvPr id="11" name="Text 8"/>
          <p:cNvSpPr/>
          <p:nvPr/>
        </p:nvSpPr>
        <p:spPr>
          <a:xfrm>
            <a:off x="7399325" y="4864608"/>
            <a:ext cx="3895344" cy="420624"/>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Write twenty golden questions for one process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TotalTime>
  <Words>17422</Words>
  <Application>Microsoft Macintosh PowerPoint</Application>
  <PresentationFormat>Widescreen</PresentationFormat>
  <Paragraphs>1667</Paragraphs>
  <Slides>105</Slides>
  <Notes>105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105</vt:i4>
      </vt:variant>
    </vt:vector>
  </HeadingPairs>
  <TitlesOfParts>
    <vt:vector size="110"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AI Agents in Practice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Agents in Practice — Foundations, Frameworks, Protocols &amp; Production</dc:title>
  <dc:subject>PptxGenJS Presentation</dc:subject>
  <dc:creator>Tarek Atwan</dc:creator>
  <cp:lastModifiedBy>Tarek Atwan</cp:lastModifiedBy>
  <cp:revision>5</cp:revision>
  <dcterms:created xsi:type="dcterms:W3CDTF">2026-08-18T14:11:07Z</dcterms:created>
  <dcterms:modified xsi:type="dcterms:W3CDTF">2026-08-18T14:55:26Z</dcterms:modified>
</cp:coreProperties>
</file>