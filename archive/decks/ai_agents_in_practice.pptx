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days, concepts in the morning, labs in the afternoon. No prior agent experience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and return to it at every transition. Each layer exists because the one before it left a problem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talk, watch a demo, then hands on the keyboard. No typing while I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Definitions, shapes, anatomy, autonomy, and where agents are the wrong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an honest tone before the hype. Evaluation and observability, not the model, are the usual blocker.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 here prevents a derail later, when someone mentions a low-code tool they already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drift, then land on the third row and keep it on screen for the rest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that matters: who decides the next step, you or the model. RPA is a workflow that drives a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The model never runs the tool itself, that comes back in module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grading scale for the closing workshop. A chatbot is usually suggest. A nightly export is usually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honest reasons to stay with a script or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Pairs, five to seven minutes. Score each job on volume, judgment, cost of error, and whether the context even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misconception before anything else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move on until the room says this back. Everything downstream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is often empty when a tool call is present. finish_reason changes from stop to tool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memory and no hands. A bare model call has neither, and both feel surprising the first time you see them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this for the security module. It matters again when a tool call looks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afternoon lab: they will write this dispatcher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is think-out-loud plus act. The official loop is silent. Both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tool-calling loop does this same reasoning silently. ReAct makes it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call the silent tool-calling loop ReAct. They are two different things students should be able to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reasoning line is billed as output. A chatty plan is a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here, every later module is a delta against this loop. Say this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coding agent, then a deliberate failure. Ten minutes on why it broke is worth an hour of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loop from module three. The jail matters as much as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 on why this happened is worth an hour of slides. Both failures preview the security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failures come back by name in the security and governance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mode that ends most enterprise pilots: the context window fills, cost climbs, the agent gets worse the longer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this diagram in every later module. Each later module is an intervention on one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model a catalogue and a tool to pull details when it needs them, rather than loading everything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token count before and after a summarization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filling up quietly ends more pilots than any dramatic failure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every tool in module four was wired by hand, to one agent, in one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filesystem reference server, inspected live, demystifies the protocol 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Watching the raw JSON-RPC traffic for five minutes demystifies the protocol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only, the security module attacks this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Attendees mix these up constantly. One side-by-side slide fixes it permanently. MCP is agent to tool, A2A is agent to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reply can carry several tool calls. Module two ran them one at a time, this module fixes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live: three tools with a realistic delay, sequential then concurrent. Ninety seconds makes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95% waiting on a socket, use asyncio. 95% maxing a core, use multiprocessing.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bite in production. return_exceptions and a semaphore are the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module. Same task, same tools, five levels of abstraction.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artifact of the course. Fill this table in live from what the room actually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line, not a citation. The trade is correct right up until the moment you need the control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0 to 3 are portable. Tier 4 is where lock-in lives. MCP and A2A survive every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 with a five-minute recap of the spine, then move into what happens when the model needs data it doesn't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context in general to retrieval specifically: unstructured text the model can't otherwise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questions are multi-hop, ambiguous, comparative, or about absence. One retrieval pass answers none of those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wow slide for retrieval. From scratch first, so nobody believes a vector store is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most courses skip. If the answer lives in a database, query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retrieval as a lookup to retrieval as its own agentic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The assess step is what a naive pipeline never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against a naive single-shot baseline on the same questions, including the two unanswerable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for the security module: one poisoned document lives here and gets attacked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agent can't hold the whole job forever. When does splitting the work actually pay for itself?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in latency, token cost, and debuggability, not just topology.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they remember. The org-chart metaphor is what seduces teams into a distributed systems problem they didn't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reasons, and only these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supervisor, then measure it against a single agent with the same tools on the same task. Token and latency numbers, not a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highest-retention module in the course, because it's their own agent that gets attacked.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connect back to module two's misconception. Nothing here is the model doing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Poison one document in yesterday's corpus, watch the agent obey it, then add the guardrail that stops it. Nothing else lands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topic a risk or compliance function will ask about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autonomy spectrum from module one onto real approval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measure, where the money goes, and what actually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dimensions, and the room's own multi-agent run from the delegation module is the trace to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regrows every turn. That's the cost curve nobody budgets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levers, in order of how often they're actually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 and charting use case, and the safe-execution question it forces.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 agent asked a business question, writing its own charting code, is where sandboxing stops being theoretical.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same tool with and without a container boundary and show what an unconstrained agent can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these as four independent dials, not one sandbox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six-layer table slowly. The teaching point is which rows are open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durable handout. Answers what applies to me for someone on any cloud. The bolded row is an open standard, everything else is a vendor's implementation of a pattern you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genuinely useful thing an architect takes back to their own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the business half of the room came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applications stop at retrieval and examples. Most production systems stop at a workflow. Say that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module one's three failure modes, now with more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four. Pick a real process from their own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outcome today might be a group that concludes no, and can say exactly why. Call that out as a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callback. Read the chain back in order,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room.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190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0"/>
            <a:ext cx="2822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TWO-DAY WORKSHOP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628650"/>
            <a:ext cx="172878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6"/>
              </a:lnSpc>
              <a:buNone/>
            </a:pPr>
            <a:r>
              <a:rPr lang="en-US" sz="7500" spc="-150" kern="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in Practice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143000" y="1962150"/>
            <a:ext cx="1257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D24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Foundations, frameworks, protocols and production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10039350"/>
            <a:ext cx="14039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· Day 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609850" y="10039350"/>
            <a:ext cx="13662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860774" y="10039350"/>
            <a:ext cx="63167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Concepts and demos in the morning, labs in the afternoon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5716250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4200" spc="-42" kern="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solves what the last one left open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1984921"/>
            <a:ext cx="29507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hand-written loop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054078" y="2061121"/>
            <a:ext cx="34611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are ad hoc and unportable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" y="2384971"/>
            <a:ext cx="11734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2737396"/>
            <a:ext cx="32784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tool protocol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352032" y="2813596"/>
            <a:ext cx="44953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 itself is fragile and unobservable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81100" y="3137446"/>
            <a:ext cx="11734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3489871"/>
            <a:ext cx="1905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framework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103662" y="3566071"/>
            <a:ext cx="4135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still doesn't know your data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81100" y="3889921"/>
            <a:ext cx="11734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4242346"/>
            <a:ext cx="32400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and memory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317057" y="4318546"/>
            <a:ext cx="37648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agent can't hold the whole job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1100" y="4642396"/>
            <a:ext cx="11734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4994821"/>
            <a:ext cx="42798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Delegation, then governance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262414" y="5071021"/>
            <a:ext cx="34821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we automate at all?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7602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each session runs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247900"/>
            <a:ext cx="54203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talk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2771775"/>
            <a:ext cx="507537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concept, on these slides. What breaks without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80150" y="2247900"/>
            <a:ext cx="54203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show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80150" y="2771775"/>
            <a:ext cx="507537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drive the notebook at the front of the room. Nobody types.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17301" y="2247900"/>
            <a:ext cx="54203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 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217301" y="2771775"/>
            <a:ext cx="507537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notebook, your own pace, then a challenge with a debrief.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886777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Mornings build the concepts. Afternoons are lab time.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86138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610225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253038"/>
            <a:ext cx="259776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253163"/>
            <a:ext cx="882967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decides the next step, and when should nobody decide it for you?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119438"/>
            <a:ext cx="1760220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0" spc="-330" kern="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1143000" y="5881688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enterprise agent pilots never reach production. The gap is rarely the model. It is evaluation, observability, and a process nobody had written down.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-457200" y="9153525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D24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in Practice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axes explain most of the confusion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743325"/>
            <a:ext cx="75438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77275" y="2752725"/>
            <a:ext cx="9525" cy="10001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5272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agents, non-technical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3190875"/>
            <a:ext cx="77847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No-code agent builders, workflow automation tools.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601200" y="3743325"/>
            <a:ext cx="75438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2752725"/>
            <a:ext cx="82981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agents, non-technical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0" y="3190875"/>
            <a:ext cx="8298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Packaged assistants and agent products, used as-is.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677275" y="4286250"/>
            <a:ext cx="9525" cy="990600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91050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agents, technical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77847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course. Open frameworks, hand-written loops, open protocols.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01200" y="4591050"/>
            <a:ext cx="82981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agents, technical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01200" y="5029200"/>
            <a:ext cx="8298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runtimes and platform services, operated in production.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891540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in the bottom-left quadrant, then visit the bottom-right when we talk about who runs this in production.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no settled definition, and that's fine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424238"/>
            <a:ext cx="34671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43225"/>
            <a:ext cx="33425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framing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610100" y="3424238"/>
            <a:ext cx="125349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610100" y="2943225"/>
            <a:ext cx="12910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that do work independently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10038"/>
            <a:ext cx="34671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24263"/>
            <a:ext cx="3342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step further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610100" y="4110038"/>
            <a:ext cx="12534900" cy="9525"/>
          </a:xfrm>
          <a:prstGeom prst="rect">
            <a:avLst/>
          </a:prstGeom>
          <a:solidFill>
            <a:srgbClr val="1C1D24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10100" y="3624263"/>
            <a:ext cx="129109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where the model controls the workflow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4310062"/>
            <a:ext cx="334251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use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610100" y="4310062"/>
            <a:ext cx="1291094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with tools, in a loop, working toward a goal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886777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is a specific answer to which part of that sentence we're improving.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Chatbot, workflow, or agent?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752725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162300" y="2776538"/>
            <a:ext cx="32778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only. No tools, no loop.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05175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162300" y="3328988"/>
            <a:ext cx="50285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wrote the steps. Often no model at all.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857625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62300" y="3881438"/>
            <a:ext cx="69379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chooses the next step. Your code runs the tool.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714875"/>
            <a:ext cx="13620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production you will often want the workflow. Predictability is not a lesser achievement.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parts, one loop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24802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Reasons and chooses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80150" y="28289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80150" y="324802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should do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217301" y="28289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217301" y="324802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can reach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395287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437197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message list, so far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80150" y="395287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loop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80150" y="437197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you wrote, not the model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217301" y="395287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stop condition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217301" y="4371975"/>
            <a:ext cx="5420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it runs until you pay for it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is what it is. Autonomy is how much rope.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ECE8F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52775"/>
            <a:ext cx="42119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55282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recommends. A person acts.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520065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CABDF0"/>
          </a:solidFill>
          <a:ln/>
        </p:spPr>
      </p:sp>
      <p:sp>
        <p:nvSpPr>
          <p:cNvPr id="10" name="Text 8"/>
          <p:cNvSpPr/>
          <p:nvPr/>
        </p:nvSpPr>
        <p:spPr>
          <a:xfrm>
            <a:off x="5200650" y="3152775"/>
            <a:ext cx="42119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200650" y="355282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writes the action and waits.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25830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9686DD"/>
          </a:solidFill>
          <a:ln/>
        </p:spPr>
      </p:sp>
      <p:sp>
        <p:nvSpPr>
          <p:cNvPr id="13" name="Text 11"/>
          <p:cNvSpPr/>
          <p:nvPr/>
        </p:nvSpPr>
        <p:spPr>
          <a:xfrm>
            <a:off x="9258300" y="3152775"/>
            <a:ext cx="42119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with audit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258300" y="355282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acts. Every step is logged.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331595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5B4BC4"/>
          </a:solidFill>
          <a:ln/>
        </p:spPr>
      </p:sp>
      <p:sp>
        <p:nvSpPr>
          <p:cNvPr id="16" name="Text 14"/>
          <p:cNvSpPr/>
          <p:nvPr/>
        </p:nvSpPr>
        <p:spPr>
          <a:xfrm>
            <a:off x="13315950" y="3152775"/>
            <a:ext cx="42119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15950" y="355282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acts. No one is in the loop.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43000" y="432435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that can move money or contact a customer should rarely sit on the far right.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places an agent is the wrong default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6227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857500"/>
            <a:ext cx="916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steps are already known. A script is cheaper and it's testable.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3757613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652838"/>
            <a:ext cx="62022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wrong action is expensive or hard to undo.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455295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448175"/>
            <a:ext cx="103150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facts were never written down. A tool can't fetch what nobody stored.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158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FRAMING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pairs: shape and score these four jobs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157538"/>
            <a:ext cx="1191473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809875"/>
            <a:ext cx="1196737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3057733" y="3157538"/>
            <a:ext cx="1723281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210133" y="2809875"/>
            <a:ext cx="149468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4781014" y="3157538"/>
            <a:ext cx="2363986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933414" y="2809875"/>
            <a:ext cx="213538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FAR?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43000" y="3748087"/>
            <a:ext cx="119147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3319462"/>
            <a:ext cx="119673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reminder to every overdue account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057733" y="3748087"/>
            <a:ext cx="172328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210133" y="3319462"/>
            <a:ext cx="14946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781014" y="3748087"/>
            <a:ext cx="236398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933414" y="3319462"/>
            <a:ext cx="2135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338638"/>
            <a:ext cx="119147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3910013"/>
            <a:ext cx="119673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messy email with an invoice, an address, and a question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057733" y="4338638"/>
            <a:ext cx="172328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210133" y="3910013"/>
            <a:ext cx="14946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781014" y="4338638"/>
            <a:ext cx="236398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933414" y="3910013"/>
            <a:ext cx="2135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4929188"/>
            <a:ext cx="119147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4500563"/>
            <a:ext cx="119673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Auto-refund up to a set limit, straight from an inbox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057733" y="4929188"/>
            <a:ext cx="172328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210133" y="4500563"/>
            <a:ext cx="14946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781014" y="4929188"/>
            <a:ext cx="236398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933414" y="4500563"/>
            <a:ext cx="2135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95400" y="5091113"/>
            <a:ext cx="119673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each incoming request to billing, shipping, or product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10133" y="5091113"/>
            <a:ext cx="149468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33414" y="5091113"/>
            <a:ext cx="213538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364289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never touches a tool. It only ever asks.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4762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TOOL CALLING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everyone assumes, and what actually happens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3019425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552700" y="2828925"/>
            <a:ext cx="1928961" cy="628650"/>
          </a:xfrm>
          <a:prstGeom prst="roundRect">
            <a:avLst>
              <a:gd name="adj" fmla="val 15152"/>
            </a:avLst>
          </a:prstGeom>
          <a:ln w="9525">
            <a:solidFill>
              <a:srgbClr val="1C1D24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8925" y="2971800"/>
            <a:ext cx="14527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code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748361" y="2995613"/>
            <a:ext cx="302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41429" y="2828925"/>
            <a:ext cx="1985367" cy="628650"/>
          </a:xfrm>
          <a:prstGeom prst="roundRect">
            <a:avLst>
              <a:gd name="adj" fmla="val 15152"/>
            </a:avLst>
          </a:prstGeom>
          <a:ln w="9525">
            <a:solidFill>
              <a:srgbClr val="1C1D24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7654" y="2971800"/>
            <a:ext cx="15091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493496" y="2995613"/>
            <a:ext cx="302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986564" y="2828925"/>
            <a:ext cx="1277392" cy="628650"/>
          </a:xfrm>
          <a:prstGeom prst="roundRect">
            <a:avLst>
              <a:gd name="adj" fmla="val 15152"/>
            </a:avLst>
          </a:prstGeom>
          <a:ln w="9525">
            <a:solidFill>
              <a:srgbClr val="1C1D24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2789" y="2971800"/>
            <a:ext cx="801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4105275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552700" y="3914775"/>
            <a:ext cx="1928961" cy="628650"/>
          </a:xfrm>
          <a:prstGeom prst="roundRect">
            <a:avLst>
              <a:gd name="adj" fmla="val 15152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8925" y="4057650"/>
            <a:ext cx="14527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code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748361" y="4081463"/>
            <a:ext cx="302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241429" y="3914775"/>
            <a:ext cx="1985367" cy="628650"/>
          </a:xfrm>
          <a:prstGeom prst="roundRect">
            <a:avLst>
              <a:gd name="adj" fmla="val 15152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7654" y="4057650"/>
            <a:ext cx="15091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47800" y="5000625"/>
            <a:ext cx="8888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asks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2552700" y="5753100"/>
            <a:ext cx="1928961" cy="628650"/>
          </a:xfrm>
          <a:prstGeom prst="roundRect">
            <a:avLst>
              <a:gd name="adj" fmla="val 15152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8925" y="5895975"/>
            <a:ext cx="14527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code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748361" y="5919788"/>
            <a:ext cx="302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241429" y="5753100"/>
            <a:ext cx="1277392" cy="628650"/>
          </a:xfrm>
          <a:prstGeom prst="roundRect">
            <a:avLst>
              <a:gd name="adj" fmla="val 15152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7654" y="5895975"/>
            <a:ext cx="801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861721" y="5943600"/>
            <a:ext cx="30296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if your code decides to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4762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TOOL CALLING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 and a blob of arguments, nothing more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6227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857500"/>
            <a:ext cx="103957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has no network access, no filesystem, no database connection.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3719512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614738"/>
            <a:ext cx="101179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emits a function name and a string of arguments. That's the whole ask.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447675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371975"/>
            <a:ext cx="71774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forces you to run it. You can always refuse.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4762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TOOL CALLING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holes a bare model call cannot fill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memory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352800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again in a fresh call and the previous turn is simply gone. The message list is the only memory there is.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282892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hands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0" y="3352800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the weather right now and it will invent a plausible number. It has no clock and no network.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530179"/>
            <a:ext cx="12753975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"Nothing forces you to run a tool just because the model asked. Your code always gets the last word."</a:t>
            </a:r>
            <a:endParaRPr lang="en-US" sz="3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57675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AFTERNOON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733925"/>
            <a:ext cx="12753975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write the tool schema, the dispatcher, and the round trip yourself</a:t>
            </a:r>
            <a:endParaRPr lang="en-US" sz="4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486794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ReAct loop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out loud, act, observe, repeat.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8014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REACT LOOP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Reason, then act, in the open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4673203" y="2905125"/>
            <a:ext cx="1752600" cy="1752600"/>
          </a:xfrm>
          <a:prstGeom prst="ellipse">
            <a:avLst/>
          </a:prstGeom>
          <a:ln w="19050">
            <a:solidFill>
              <a:srgbClr val="5B4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4153" y="2924175"/>
            <a:ext cx="17907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Thought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16303" y="3609975"/>
            <a:ext cx="3388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069485" y="2905125"/>
            <a:ext cx="1752600" cy="1752600"/>
          </a:xfrm>
          <a:prstGeom prst="ellipse">
            <a:avLst/>
          </a:prstGeom>
          <a:ln w="19050">
            <a:solidFill>
              <a:srgbClr val="5B4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0435" y="2924175"/>
            <a:ext cx="17907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012585" y="3609975"/>
            <a:ext cx="3388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465766" y="2905125"/>
            <a:ext cx="1752600" cy="1752600"/>
          </a:xfrm>
          <a:prstGeom prst="ellipse">
            <a:avLst/>
          </a:prstGeom>
          <a:ln w="19050">
            <a:solidFill>
              <a:srgbClr val="968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6716" y="2924175"/>
            <a:ext cx="17907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08866" y="3609975"/>
            <a:ext cx="3388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862048" y="2905125"/>
            <a:ext cx="1752600" cy="1752600"/>
          </a:xfrm>
          <a:prstGeom prst="ellipse">
            <a:avLst/>
          </a:prstGeom>
          <a:ln w="19050">
            <a:solidFill>
              <a:srgbClr val="5B4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42998" y="2924175"/>
            <a:ext cx="17907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" y="519112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 repeats until the model has enough to answer.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8014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REACT LOOP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things, not two names for the same thing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224213"/>
            <a:ext cx="5928866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71866" y="3224213"/>
            <a:ext cx="3104555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224266" y="2809875"/>
            <a:ext cx="289289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176421" y="3224213"/>
            <a:ext cx="6968579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328821" y="2809875"/>
            <a:ext cx="68728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loop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3824288"/>
            <a:ext cx="592886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3386138"/>
            <a:ext cx="58019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asks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7071866" y="3824288"/>
            <a:ext cx="310455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224266" y="3386138"/>
            <a:ext cx="28928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line of text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176421" y="3824288"/>
            <a:ext cx="696857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328821" y="3386138"/>
            <a:ext cx="68728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field on the response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4424363"/>
            <a:ext cx="592886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986213"/>
            <a:ext cx="58019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visible?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071866" y="4424363"/>
            <a:ext cx="310455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24266" y="3986213"/>
            <a:ext cx="28928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176421" y="4424363"/>
            <a:ext cx="696857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328821" y="3986213"/>
            <a:ext cx="68728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it happens inside the model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95400" y="4586288"/>
            <a:ext cx="58019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on any chat model?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7224266" y="4586288"/>
            <a:ext cx="28928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328821" y="4586288"/>
            <a:ext cx="6872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with a tool-calling API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2731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REACT LOOP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779764"/>
            <a:ext cx="1275397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98"/>
              </a:lnSpc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"Every line of thought is billed as output. A chatty plan is a bill, not a virtue."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8625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REACT LOOP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762500"/>
            <a:ext cx="137350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have now written the loop by hand. Everything from here is a delta against it.</a:t>
            </a:r>
            <a:endParaRPr lang="en-US" sz="4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241866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it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coding agent, then a deliberate failure.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572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BREAK IT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Read, diagnose, patch, test, jailed to one folder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81325"/>
            <a:ext cx="2956471" cy="752475"/>
          </a:xfrm>
          <a:prstGeom prst="roundRect">
            <a:avLst>
              <a:gd name="adj" fmla="val 12658"/>
            </a:avLst>
          </a:prstGeom>
          <a:ln w="9525">
            <a:solidFill>
              <a:srgbClr val="1C1D24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6778" y="3219450"/>
            <a:ext cx="25689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list_dir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04271" y="2981325"/>
            <a:ext cx="2956620" cy="752475"/>
          </a:xfrm>
          <a:prstGeom prst="roundRect">
            <a:avLst>
              <a:gd name="adj" fmla="val 12658"/>
            </a:avLst>
          </a:prstGeom>
          <a:ln w="9525">
            <a:solidFill>
              <a:srgbClr val="1C1D24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8046" y="3219450"/>
            <a:ext cx="25690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read_file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65690" y="2981325"/>
            <a:ext cx="2956471" cy="752475"/>
          </a:xfrm>
          <a:prstGeom prst="roundRect">
            <a:avLst>
              <a:gd name="adj" fmla="val 12658"/>
            </a:avLst>
          </a:prstGeom>
          <a:ln w="9525">
            <a:solidFill>
              <a:srgbClr val="1C1D24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59468" y="3219450"/>
            <a:ext cx="25689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26961" y="2981325"/>
            <a:ext cx="2956620" cy="752475"/>
          </a:xfrm>
          <a:prstGeom prst="roundRect">
            <a:avLst>
              <a:gd name="adj" fmla="val 12658"/>
            </a:avLst>
          </a:prstGeom>
          <a:ln w="9525">
            <a:solidFill>
              <a:srgbClr val="1C1D24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20737" y="3219450"/>
            <a:ext cx="25690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write_file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88380" y="2981325"/>
            <a:ext cx="2956471" cy="752475"/>
          </a:xfrm>
          <a:prstGeom prst="roundRect">
            <a:avLst>
              <a:gd name="adj" fmla="val 12658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82158" y="3219450"/>
            <a:ext cx="25689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run_tests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191000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tools can only touch one folder. Nothing else on the machine is reachable.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7572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BREAK IT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this fails, on purpose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turn cap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352800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limit and watch it thrash, calling tools with no end in sight.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282892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tools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0" y="3352800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tools with similar descriptions, and the agent reaches for the wrong one.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80595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BREAK IT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33045"/>
            <a:ext cx="137350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74"/>
              </a:lnSpc>
              <a:buNone/>
            </a:pPr>
            <a:r>
              <a:rPr lang="en-US" sz="33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"You will have seen this failure before we name it. That is the point."</a:t>
            </a:r>
            <a:endParaRPr lang="en-US" sz="3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651782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engineering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feed the model matters more than how clever the loop is.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36410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CONTEXT 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668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is seven things, not one prompt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291465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2412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behavior and rules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48800" y="291465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48800" y="252412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prompt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the immediate request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358140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19087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tools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what it can call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800" y="358140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319087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output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the required shape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24815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85762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and history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this conversation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48800" y="4248150"/>
            <a:ext cx="76962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3857625"/>
            <a:ext cx="7927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memory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across sessions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524375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information </a:t>
            </a:r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documents, databases, APIs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36410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CONTEXT 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a capability when it's needed, not before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up front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32422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tool's full instructions sit in context on every turn, whether or not they're used.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28289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disclosure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332422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catalogue up front, and a tool that reads the full detail only when asked for.</a:t>
            </a:r>
            <a:endParaRPr lang="en-US"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36410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CONTEXT 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668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compaction, every turn resends everything before it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49625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50" y="0"/>
                </a:moveTo>
                <a:lnTo>
                  <a:pt x="514350" y="0"/>
                </a:lnTo>
                <a:arcTo hR="57150" wR="57150" stAng="16200000" swAng="5400000"/>
                <a:lnTo>
                  <a:pt x="571500" y="571500"/>
                </a:lnTo>
                <a:lnTo>
                  <a:pt x="0" y="5715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ECE8FB"/>
          </a:solidFill>
          <a:ln/>
        </p:spPr>
      </p:sp>
      <p:sp>
        <p:nvSpPr>
          <p:cNvPr id="7" name="Text 5"/>
          <p:cNvSpPr/>
          <p:nvPr/>
        </p:nvSpPr>
        <p:spPr>
          <a:xfrm>
            <a:off x="1231404" y="5610225"/>
            <a:ext cx="4708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05000" y="4486275"/>
            <a:ext cx="571500" cy="1047750"/>
          </a:xfrm>
          <a:custGeom>
            <a:avLst/>
            <a:gdLst/>
            <a:ahLst/>
            <a:cxnLst/>
            <a:rect l="l" t="t" r="r" b="b"/>
            <a:pathLst>
              <a:path w="571500" h="1047750">
                <a:moveTo>
                  <a:pt x="57150" y="0"/>
                </a:moveTo>
                <a:lnTo>
                  <a:pt x="514350" y="0"/>
                </a:lnTo>
                <a:arcTo hR="57150" wR="57150" stAng="16200000" swAng="5400000"/>
                <a:lnTo>
                  <a:pt x="571500" y="1047750"/>
                </a:lnTo>
                <a:lnTo>
                  <a:pt x="0" y="10477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ABDF0"/>
          </a:solidFill>
          <a:ln/>
        </p:spPr>
      </p:sp>
      <p:sp>
        <p:nvSpPr>
          <p:cNvPr id="9" name="Text 7"/>
          <p:cNvSpPr/>
          <p:nvPr/>
        </p:nvSpPr>
        <p:spPr>
          <a:xfrm>
            <a:off x="1977926" y="5610225"/>
            <a:ext cx="5018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67000" y="3819525"/>
            <a:ext cx="571500" cy="1714500"/>
          </a:xfrm>
          <a:custGeom>
            <a:avLst/>
            <a:gdLst/>
            <a:ahLst/>
            <a:cxnLst/>
            <a:rect l="l" t="t" r="r" b="b"/>
            <a:pathLst>
              <a:path w="571500" h="1714500">
                <a:moveTo>
                  <a:pt x="57150" y="0"/>
                </a:moveTo>
                <a:lnTo>
                  <a:pt x="514350" y="0"/>
                </a:lnTo>
                <a:arcTo hR="57150" wR="57150" stAng="16200000" swAng="5400000"/>
                <a:lnTo>
                  <a:pt x="571500" y="1714500"/>
                </a:lnTo>
                <a:lnTo>
                  <a:pt x="0" y="17145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9686DD"/>
          </a:solidFill>
          <a:ln/>
        </p:spPr>
      </p:sp>
      <p:sp>
        <p:nvSpPr>
          <p:cNvPr id="11" name="Text 9"/>
          <p:cNvSpPr/>
          <p:nvPr/>
        </p:nvSpPr>
        <p:spPr>
          <a:xfrm>
            <a:off x="2739330" y="5610225"/>
            <a:ext cx="503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2962275"/>
            <a:ext cx="571500" cy="2571750"/>
          </a:xfrm>
          <a:custGeom>
            <a:avLst/>
            <a:gdLst/>
            <a:ahLst/>
            <a:cxnLst/>
            <a:rect l="l" t="t" r="r" b="b"/>
            <a:pathLst>
              <a:path w="571500" h="2571750">
                <a:moveTo>
                  <a:pt x="57150" y="0"/>
                </a:moveTo>
                <a:lnTo>
                  <a:pt x="514350" y="0"/>
                </a:lnTo>
                <a:arcTo hR="57150" wR="57150" stAng="16200000" swAng="5400000"/>
                <a:lnTo>
                  <a:pt x="571500" y="2571750"/>
                </a:lnTo>
                <a:lnTo>
                  <a:pt x="0" y="25717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3499098" y="5610225"/>
            <a:ext cx="50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1293" y="4676775"/>
            <a:ext cx="571500" cy="857250"/>
          </a:xfrm>
          <a:custGeom>
            <a:avLst/>
            <a:gdLst/>
            <a:ahLst/>
            <a:cxnLst/>
            <a:rect l="l" t="t" r="r" b="b"/>
            <a:pathLst>
              <a:path w="571500" h="857250">
                <a:moveTo>
                  <a:pt x="57150" y="0"/>
                </a:moveTo>
                <a:lnTo>
                  <a:pt x="514350" y="0"/>
                </a:lnTo>
                <a:arcTo hR="57150" wR="57150" stAng="16200000" swAng="5400000"/>
                <a:lnTo>
                  <a:pt x="571500" y="857250"/>
                </a:lnTo>
                <a:lnTo>
                  <a:pt x="0" y="8572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5B4BC4"/>
          </a:solidFill>
          <a:ln/>
        </p:spPr>
      </p:sp>
      <p:sp>
        <p:nvSpPr>
          <p:cNvPr id="15" name="Text 13"/>
          <p:cNvSpPr/>
          <p:nvPr/>
        </p:nvSpPr>
        <p:spPr>
          <a:xfrm>
            <a:off x="4495800" y="5610225"/>
            <a:ext cx="14548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4, compacted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618172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the history under a controlled schema, then continue. The cost curve flattens.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5395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CONTEXT ENGINEERING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06404"/>
            <a:ext cx="13735050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"Context filling up quietly ends more pilots than any dramatic failure does."</a:t>
            </a:r>
            <a:endParaRPr lang="en-US" sz="3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153446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boundary, so a tool written once works with any agent.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12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MCP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boundary, three roles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4988719" y="2981325"/>
            <a:ext cx="2149971" cy="1219200"/>
          </a:xfrm>
          <a:prstGeom prst="roundRect">
            <a:avLst>
              <a:gd name="adj" fmla="val 7813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1144" y="3295650"/>
            <a:ext cx="144512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</a:t>
            </a:r>
            <a:pPr algn="ctr" indent="0" marL="0">
              <a:buNone/>
            </a:pPr>
            <a:r>
              <a:rPr lang="en-US" sz="1425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application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367290" y="3429000"/>
            <a:ext cx="3214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841159" y="2981325"/>
            <a:ext cx="2470845" cy="1219200"/>
          </a:xfrm>
          <a:prstGeom prst="roundRect">
            <a:avLst>
              <a:gd name="adj" fmla="val 7813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584" y="3295650"/>
            <a:ext cx="17659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</a:t>
            </a:r>
            <a:pPr algn="ctr" indent="0" marL="0">
              <a:buNone/>
            </a:pPr>
            <a:r>
              <a:rPr lang="en-US" sz="1425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speaks the protocol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540603" y="3429000"/>
            <a:ext cx="3214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014472" y="2981325"/>
            <a:ext cx="2284661" cy="1219200"/>
          </a:xfrm>
          <a:prstGeom prst="roundRect">
            <a:avLst>
              <a:gd name="adj" fmla="val 7813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66897" y="3295650"/>
            <a:ext cx="157981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</a:t>
            </a:r>
            <a:pPr algn="ctr" indent="0" marL="0">
              <a:buNone/>
            </a:pPr>
            <a:r>
              <a:rPr lang="en-US" sz="1425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exposes the tools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481012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Stdio for a local process, HTTP for a remote one. Either way, the tool doesn't know which client is calling.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12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MCP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 asks what's available, before anything runs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6227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857500"/>
            <a:ext cx="104167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handshake negotiates what the server can do: tools, resources, prompts.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3719512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614738"/>
            <a:ext cx="13067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tool ships a name, a description, and a typed schema, the same shape from module two.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447675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371975"/>
            <a:ext cx="12590105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server now drives any client that speaks the protocol, not just the one you wrote it for.</a:t>
            </a:r>
            <a:endParaRPr lang="en-US" sz="2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12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MCP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wider door needs a better lock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905125"/>
            <a:ext cx="5532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poisoning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343275"/>
            <a:ext cx="553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malicious server, disguised as a helpful one.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29400" y="2905125"/>
            <a:ext cx="5532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injection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29400" y="3343275"/>
            <a:ext cx="553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hidden inside a tool's own description.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115800" y="2905125"/>
            <a:ext cx="5532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Over-broad scope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15800" y="3343275"/>
            <a:ext cx="553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granted more reach than the task needs.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112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MCP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668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open standards, two different directions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3033713"/>
            <a:ext cx="3227636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70636" y="3033713"/>
            <a:ext cx="5492502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23036" y="2619375"/>
            <a:ext cx="535247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863138" y="3033713"/>
            <a:ext cx="728186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15538" y="2619375"/>
            <a:ext cx="719551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3633788"/>
            <a:ext cx="322763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3195638"/>
            <a:ext cx="30196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370636" y="3633788"/>
            <a:ext cx="549250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23036" y="3195638"/>
            <a:ext cx="53524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to tool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863138" y="3633788"/>
            <a:ext cx="728186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15538" y="3195638"/>
            <a:ext cx="71955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to agent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4233863"/>
            <a:ext cx="3227636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795713"/>
            <a:ext cx="30196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370636" y="4233863"/>
            <a:ext cx="549250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23036" y="3795713"/>
            <a:ext cx="53524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discovery and calls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863138" y="4233863"/>
            <a:ext cx="728186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15538" y="3795713"/>
            <a:ext cx="71955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cards and task handoff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95400" y="4395788"/>
            <a:ext cx="30196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4523036" y="4395788"/>
            <a:ext cx="53524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specification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015538" y="4395788"/>
            <a:ext cx="71955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specification, multi-vendor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143000" y="529590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are open standards. Everything built on top of them is a vendor's implementation of the pattern.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762303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and concurrency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workloads wait. They don't compute.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41729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ASYNC AND CONCURRENCY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668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tool calls, waited on one at a time or all at once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922716" y="2114550"/>
            <a:ext cx="575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505700" y="2562225"/>
            <a:ext cx="1333500" cy="2667000"/>
          </a:xfrm>
          <a:custGeom>
            <a:avLst/>
            <a:gdLst/>
            <a:ahLst/>
            <a:cxnLst/>
            <a:rect l="l" t="t" r="r" b="b"/>
            <a:pathLst>
              <a:path w="1333500" h="2667000">
                <a:moveTo>
                  <a:pt x="76200" y="0"/>
                </a:moveTo>
                <a:lnTo>
                  <a:pt x="1257300" y="0"/>
                </a:lnTo>
                <a:arcTo hR="76200" wR="76200" stAng="16200000" swAng="5400000"/>
                <a:lnTo>
                  <a:pt x="1333500" y="2667000"/>
                </a:lnTo>
                <a:lnTo>
                  <a:pt x="0" y="266700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CABDF0"/>
          </a:solidFill>
          <a:ln/>
        </p:spPr>
      </p:sp>
      <p:sp>
        <p:nvSpPr>
          <p:cNvPr id="8" name="Text 6"/>
          <p:cNvSpPr/>
          <p:nvPr/>
        </p:nvSpPr>
        <p:spPr>
          <a:xfrm>
            <a:off x="7698432" y="5381625"/>
            <a:ext cx="10240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24455" y="3829050"/>
            <a:ext cx="4583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0" y="4276725"/>
            <a:ext cx="1333500" cy="952500"/>
          </a:xfrm>
          <a:custGeom>
            <a:avLst/>
            <a:gdLst/>
            <a:ahLst/>
            <a:cxnLst/>
            <a:rect l="l" t="t" r="r" b="b"/>
            <a:pathLst>
              <a:path w="1333500" h="952500">
                <a:moveTo>
                  <a:pt x="76200" y="0"/>
                </a:moveTo>
                <a:lnTo>
                  <a:pt x="1257300" y="0"/>
                </a:lnTo>
                <a:arcTo hR="76200" wR="76200" stAng="16200000" swAng="5400000"/>
                <a:lnTo>
                  <a:pt x="1333500" y="952500"/>
                </a:lnTo>
                <a:lnTo>
                  <a:pt x="0" y="95250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9607153" y="5381625"/>
            <a:ext cx="10928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41729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ASYNC AND CONCURRENCY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call a model, your machine mostly waits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233738"/>
            <a:ext cx="9818787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886075"/>
            <a:ext cx="9808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0961787" y="3233738"/>
            <a:ext cx="618321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114187" y="2886075"/>
            <a:ext cx="606391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TOOL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143000" y="3843338"/>
            <a:ext cx="9818787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3395663"/>
            <a:ext cx="9808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calls, tool calls, API fetches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961787" y="3843338"/>
            <a:ext cx="618321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114187" y="3395663"/>
            <a:ext cx="60639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asyncio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4452938"/>
            <a:ext cx="9818787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4005263"/>
            <a:ext cx="9808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embeddings, vector math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961787" y="4452938"/>
            <a:ext cx="618321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114187" y="4005263"/>
            <a:ext cx="60639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multiprocessing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95400" y="4614863"/>
            <a:ext cx="9808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operations, logging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114187" y="4614863"/>
            <a:ext cx="60639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 or asyncio</a:t>
            </a:r>
            <a:endParaRPr lang="en-US" sz="1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41729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ASYNC AND CONCURRENCY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concurrency bites back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domino error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32422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unhandled failure can take down access to every other result, even the ones that succeeded.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28289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332422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Firing a hundred calls at once earns a wall of rejections. Bound the concurrency instead.</a:t>
            </a:r>
            <a:endParaRPr lang="en-US" sz="1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7088847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ladder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agent, rebuilt at every level of abstraction.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8810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762000"/>
            <a:ext cx="39392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THE FRAMEWORK LADDER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314450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task, same tools, five levels of control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" y="2509838"/>
            <a:ext cx="342989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2228850"/>
            <a:ext cx="32660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4572893" y="2509838"/>
            <a:ext cx="3724870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06243" y="2228850"/>
            <a:ext cx="35699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8297763" y="2509838"/>
            <a:ext cx="4021485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31113" y="2228850"/>
            <a:ext cx="387542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WRITE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2319248" y="2509838"/>
            <a:ext cx="4825752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452598" y="2228850"/>
            <a:ext cx="4703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GIVE UP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143000" y="3033713"/>
            <a:ext cx="342989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" y="2652713"/>
            <a:ext cx="3266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No framework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572893" y="3033713"/>
            <a:ext cx="372487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06243" y="2652713"/>
            <a:ext cx="3569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loop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297763" y="3033713"/>
            <a:ext cx="402148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31113" y="2652713"/>
            <a:ext cx="38754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State, retries, dispatch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319248" y="3033713"/>
            <a:ext cx="48257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452598" y="2652713"/>
            <a:ext cx="470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Nothing, you own every failure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43000" y="3557588"/>
            <a:ext cx="342989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" y="3176588"/>
            <a:ext cx="3266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Thin SDK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572893" y="3557588"/>
            <a:ext cx="372487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06243" y="3176588"/>
            <a:ext cx="3569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loop, wrapped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297763" y="3557588"/>
            <a:ext cx="402148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31113" y="3176588"/>
            <a:ext cx="38754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and instructions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2319248" y="3557588"/>
            <a:ext cx="48257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452598" y="3176588"/>
            <a:ext cx="470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loop's internals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3000" y="4081463"/>
            <a:ext cx="342989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76350" y="3700463"/>
            <a:ext cx="3266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Graph and state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572893" y="4081463"/>
            <a:ext cx="372487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06243" y="3700463"/>
            <a:ext cx="3569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control flow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297763" y="4081463"/>
            <a:ext cx="402148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31113" y="3700463"/>
            <a:ext cx="38754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Nodes, edges, a schema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319248" y="4081463"/>
            <a:ext cx="48257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452598" y="3700463"/>
            <a:ext cx="470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Simplicity, for checkpointing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43000" y="4605338"/>
            <a:ext cx="342989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76350" y="4224337"/>
            <a:ext cx="3266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Roles and teams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4572893" y="4605338"/>
            <a:ext cx="372487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06243" y="4224337"/>
            <a:ext cx="3569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org-chart metaphor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8297763" y="4605338"/>
            <a:ext cx="4021485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31113" y="4224337"/>
            <a:ext cx="38754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roles, a task graph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319248" y="4605338"/>
            <a:ext cx="48257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452598" y="4224337"/>
            <a:ext cx="470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Determinism, debuggability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76350" y="4748213"/>
            <a:ext cx="32660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Managed runtime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4706243" y="4748213"/>
            <a:ext cx="356991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don't run the loop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8431113" y="4748213"/>
            <a:ext cx="387542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2452598" y="4748213"/>
            <a:ext cx="470382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Portability</a:t>
            </a:r>
            <a:endParaRPr lang="en-US" sz="1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5395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THE FRAMEWORK LADDER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06404"/>
            <a:ext cx="13735050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"Every tier up trades control for leverage. That trade is correct right up until the moment you need the control back."</a:t>
            </a:r>
            <a:endParaRPr lang="en-US" sz="3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39392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THE FRAMEWORK LADDER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 through tier three. Lock-in starts at four.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81325"/>
            <a:ext cx="3139380" cy="809625"/>
          </a:xfrm>
          <a:custGeom>
            <a:avLst/>
            <a:gdLst/>
            <a:ahLst/>
            <a:cxnLst/>
            <a:rect l="l" t="t" r="r" b="b"/>
            <a:pathLst>
              <a:path w="3139380" h="809625">
                <a:moveTo>
                  <a:pt x="95250" y="0"/>
                </a:moveTo>
                <a:lnTo>
                  <a:pt x="3139380" y="0"/>
                </a:lnTo>
                <a:lnTo>
                  <a:pt x="3139380" y="809625"/>
                </a:lnTo>
                <a:lnTo>
                  <a:pt x="95250" y="809625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ECE8FB"/>
          </a:solidFill>
          <a:ln/>
        </p:spPr>
      </p:sp>
      <p:sp>
        <p:nvSpPr>
          <p:cNvPr id="7" name="Text 5"/>
          <p:cNvSpPr/>
          <p:nvPr/>
        </p:nvSpPr>
        <p:spPr>
          <a:xfrm>
            <a:off x="1362609" y="3248025"/>
            <a:ext cx="2700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58580" y="2981325"/>
            <a:ext cx="3139529" cy="809625"/>
          </a:xfrm>
          <a:prstGeom prst="rect">
            <a:avLst/>
          </a:prstGeom>
          <a:solidFill>
            <a:srgbClr val="CABDF0"/>
          </a:solidFill>
          <a:ln/>
        </p:spPr>
      </p:sp>
      <p:sp>
        <p:nvSpPr>
          <p:cNvPr id="9" name="Text 7"/>
          <p:cNvSpPr/>
          <p:nvPr/>
        </p:nvSpPr>
        <p:spPr>
          <a:xfrm>
            <a:off x="4578188" y="3248025"/>
            <a:ext cx="27003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74310" y="2981325"/>
            <a:ext cx="3139380" cy="809625"/>
          </a:xfrm>
          <a:prstGeom prst="rect">
            <a:avLst/>
          </a:prstGeom>
          <a:solidFill>
            <a:srgbClr val="9686DD"/>
          </a:solidFill>
          <a:ln/>
        </p:spPr>
      </p:sp>
      <p:sp>
        <p:nvSpPr>
          <p:cNvPr id="11" name="Text 9"/>
          <p:cNvSpPr/>
          <p:nvPr/>
        </p:nvSpPr>
        <p:spPr>
          <a:xfrm>
            <a:off x="7793919" y="3248025"/>
            <a:ext cx="2700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89890" y="2981325"/>
            <a:ext cx="3139529" cy="809625"/>
          </a:xfrm>
          <a:prstGeom prst="rect">
            <a:avLst/>
          </a:prstGeom>
          <a:solidFill>
            <a:srgbClr val="796CBF"/>
          </a:solidFill>
          <a:ln/>
        </p:spPr>
      </p:sp>
      <p:sp>
        <p:nvSpPr>
          <p:cNvPr id="13" name="Text 11"/>
          <p:cNvSpPr/>
          <p:nvPr/>
        </p:nvSpPr>
        <p:spPr>
          <a:xfrm>
            <a:off x="11009497" y="3248025"/>
            <a:ext cx="27003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5620" y="2981325"/>
            <a:ext cx="3139380" cy="809625"/>
          </a:xfrm>
          <a:custGeom>
            <a:avLst/>
            <a:gdLst/>
            <a:ahLst/>
            <a:cxnLst/>
            <a:rect l="l" t="t" r="r" b="b"/>
            <a:pathLst>
              <a:path w="3139380" h="809625">
                <a:moveTo>
                  <a:pt x="0" y="0"/>
                </a:moveTo>
                <a:lnTo>
                  <a:pt x="3044130" y="0"/>
                </a:lnTo>
                <a:arcTo hR="95250" wR="95250" stAng="16200000" swAng="5400000"/>
                <a:lnTo>
                  <a:pt x="3139380" y="714375"/>
                </a:lnTo>
                <a:arcTo hR="95250" wR="95250" stAng="0" swAng="5400000"/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24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4225229" y="3248025"/>
            <a:ext cx="2700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09575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and A2A are the two things that survive the whole climb, at any tier.</a:t>
            </a:r>
            <a:endParaRPr lang="en-US" sz="1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4200525"/>
            <a:ext cx="419100" cy="9525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4081463"/>
            <a:ext cx="1169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TWO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4557713"/>
            <a:ext cx="146685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it, scale it, govern it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5557838"/>
            <a:ext cx="98107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 we built a loop and saw what wraps it. Today: what it knows, how many of it there are, and what could go wrong.</a:t>
            </a:r>
            <a:endParaRPr lang="en-US" sz="2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699389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and memory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Giving the model access to what it wasn't trained on.</a:t>
            </a:r>
            <a:endParaRPr lang="en-US" sz="2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38218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RETRIEVAL AND MEMORY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retrieval pass answers the easy questions only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8465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Multi-hop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8025"/>
            <a:ext cx="8465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 needs two documents, not one.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48800" y="2828925"/>
            <a:ext cx="8465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 phrasing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48800" y="3248025"/>
            <a:ext cx="8465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document doesn't share the question's words.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3000" y="3952875"/>
            <a:ext cx="8465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queries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4371975"/>
            <a:ext cx="8465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retrieval against two different things at once.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48800" y="3952875"/>
            <a:ext cx="8465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48800" y="4371975"/>
            <a:ext cx="8465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answer is that it isn't in the corpus at all.</a:t>
            </a:r>
            <a:endParaRPr lang="en-US" sz="1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191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00100"/>
            <a:ext cx="38218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RETRIEVAL AND MEMORY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390650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questions, answered four ways, over one corpus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" y="2662238"/>
            <a:ext cx="4344144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2362200"/>
            <a:ext cx="42077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5487144" y="2662238"/>
            <a:ext cx="831562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20494" y="2362200"/>
            <a:ext cx="82983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3802767" y="2662238"/>
            <a:ext cx="3342233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936117" y="2362200"/>
            <a:ext cx="31758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SIGNUP NEEDED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43000" y="3205163"/>
            <a:ext cx="4344144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76350" y="2805113"/>
            <a:ext cx="4207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scratch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5487144" y="3205163"/>
            <a:ext cx="831562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20494" y="2805113"/>
            <a:ext cx="82983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Cosine similarity, about ten lines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802767" y="3205163"/>
            <a:ext cx="33422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936117" y="2805113"/>
            <a:ext cx="317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143000" y="3748087"/>
            <a:ext cx="4344144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76350" y="3348038"/>
            <a:ext cx="4207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vector store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5487144" y="3748087"/>
            <a:ext cx="831562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20494" y="3348038"/>
            <a:ext cx="82983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Persistent, metadata filtering, no signup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3802767" y="3748087"/>
            <a:ext cx="33422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936117" y="3348038"/>
            <a:ext cx="317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1143000" y="4291013"/>
            <a:ext cx="4344144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76350" y="3890962"/>
            <a:ext cx="4207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indexing layer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5487144" y="4291013"/>
            <a:ext cx="831562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620494" y="3890962"/>
            <a:ext cx="82983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 and ingestion above the store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3802767" y="4291013"/>
            <a:ext cx="3342233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936117" y="3890962"/>
            <a:ext cx="317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276350" y="4433888"/>
            <a:ext cx="4207768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service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5620494" y="4433888"/>
            <a:ext cx="829839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corpus, run once, results shown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13936117" y="4433888"/>
            <a:ext cx="3175800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only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1143000" y="5143500"/>
            <a:ext cx="17602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reasoning loop above the store is the durable thing. The store underneath is swappable.</a:t>
            </a:r>
            <a:endParaRPr lang="en-US" sz="15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5395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RETRIEVAL AND MEMORY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06404"/>
            <a:ext cx="13735050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"If the answer lives in a database, query the database. RAG is for unstructured text you can't otherwise reach."</a:t>
            </a:r>
            <a:endParaRPr lang="en-US" sz="3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403170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RAG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becomes a loop, not a lookup.</a:t>
            </a:r>
            <a:endParaRPr lang="en-US" sz="2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22811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AGENTIC RAG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287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agentic alternative to one retrieval pass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955828" y="2752725"/>
            <a:ext cx="1256407" cy="685800"/>
          </a:xfrm>
          <a:prstGeom prst="roundRect">
            <a:avLst>
              <a:gd name="adj" fmla="val 13889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3003" y="2971800"/>
            <a:ext cx="8182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64635" y="2957513"/>
            <a:ext cx="283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4799" y="2752725"/>
            <a:ext cx="1322487" cy="685800"/>
          </a:xfrm>
          <a:prstGeom prst="roundRect">
            <a:avLst>
              <a:gd name="adj" fmla="val 13889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1974" y="2971800"/>
            <a:ext cx="8843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199686" y="2957513"/>
            <a:ext cx="283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59850" y="2752725"/>
            <a:ext cx="1223665" cy="685800"/>
          </a:xfrm>
          <a:prstGeom prst="roundRect">
            <a:avLst>
              <a:gd name="adj" fmla="val 13889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17025" y="2971800"/>
            <a:ext cx="7855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35914" y="2957513"/>
            <a:ext cx="283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296079" y="2752725"/>
            <a:ext cx="1616571" cy="685800"/>
          </a:xfrm>
          <a:prstGeom prst="roundRect">
            <a:avLst>
              <a:gd name="adj" fmla="val 13889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53254" y="2971800"/>
            <a:ext cx="11784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Re-retrieve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065050" y="2957513"/>
            <a:ext cx="283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425214" y="2752725"/>
            <a:ext cx="906959" cy="685800"/>
          </a:xfrm>
          <a:prstGeom prst="roundRect">
            <a:avLst>
              <a:gd name="adj" fmla="val 13889"/>
            </a:avLst>
          </a:prstGeom>
          <a:solidFill>
            <a:srgbClr val="ECE8FB"/>
          </a:solidFill>
          <a:ln w="9525">
            <a:solidFill>
              <a:srgbClr val="5B4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82389" y="2971800"/>
            <a:ext cx="4688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42900" y="3971925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is the step a naive pipeline skips: does what I found actually answer this?</a:t>
            </a:r>
            <a:endParaRPr lang="en-US" sz="16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2811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AGENTIC RAG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against a naive baseline, on the same questions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279082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705100"/>
            <a:ext cx="77176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five questions, one retrieval pass versus the full loop.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52038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434655"/>
            <a:ext cx="814782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of the five are deliberately unanswerable from the corpus.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249936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164211"/>
            <a:ext cx="1139028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interesting result isn't accuracy. It's whether the agent admits what it doesn't know.</a:t>
            </a:r>
            <a:endParaRPr lang="en-US" sz="2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3686175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567113"/>
            <a:ext cx="22811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AGENTIC RAG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4271963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retrieval corpus should carry two things on purpose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5481638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Unanswerable questions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5976938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you can see whether the agent admits it, or invents an answer.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5481638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planted instruction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5976938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in a document, for the security module to detonate later.</a:t>
            </a:r>
            <a:endParaRPr lang="en-US" sz="1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344202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agents, and when that's actually the right call.</a:t>
            </a:r>
            <a:endParaRPr lang="en-US" sz="2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21009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DELEGATION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287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ways to split the job across agents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43000" y="2524125"/>
            <a:ext cx="8465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2895600"/>
            <a:ext cx="84658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router, several specialists.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448800" y="2524125"/>
            <a:ext cx="8465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pipeline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48800" y="2895600"/>
            <a:ext cx="84658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agent hands off to the next.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43000" y="3476625"/>
            <a:ext cx="8465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Hierarchical teams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3848100"/>
            <a:ext cx="84658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of managers of agents.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448800" y="3476625"/>
            <a:ext cx="8465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network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48800" y="3848100"/>
            <a:ext cx="84658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that talk directly to each other.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43000" y="4429125"/>
            <a:ext cx="8465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Blackboard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4800600"/>
            <a:ext cx="84658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space every agent reads and writes.</a:t>
            </a:r>
            <a:endParaRPr lang="en-US" sz="15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2731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DELEGATION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779764"/>
            <a:ext cx="1373505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98"/>
              </a:lnSpc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"Most multi-agent systems should be one agent with more tools."</a:t>
            </a:r>
            <a:endParaRPr lang="en-US" sz="3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1009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DELEGATION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the work pays for itself when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4322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847975"/>
            <a:ext cx="5401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Subtasks genuinely need different tools.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143000" y="367278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577530"/>
            <a:ext cx="86497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Subtasks genuinely need different models, for cost or capability.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143000" y="4402336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307086"/>
            <a:ext cx="98262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Subtasks need different permissions, and shouldn't share a single scope.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43000" y="5131891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5036641"/>
            <a:ext cx="80983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part of the job needs to scale independently of the rest.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143000" y="891540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Otherwise, you've bought a distributed systems problem in exchange for a metaphor.</a:t>
            </a:r>
            <a:endParaRPr lang="en-US" sz="16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1009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DELEGATION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supervisor pattern, kept honest by a comparison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43000" y="2600325"/>
            <a:ext cx="1275397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specialists behind one router, built on the same tools as one plain agent. Keep tool descriptions sharply distinct, because a weak router misroutes when they overlap, and if it does, that's the lesson landing live.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343400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on the same task: lines of code, tokens spent, and whether it can pause and resume.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86138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610225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253038"/>
            <a:ext cx="2678638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253163"/>
            <a:ext cx="882967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doesn't do something wrong. Your code does, because it asked.</a:t>
            </a:r>
            <a:endParaRPr lang="en-US" sz="2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18165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SECURITY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28750"/>
            <a:ext cx="1760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ways an agent gets used against you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2571750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injection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43000" y="2933700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hidden in retrieved content.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571750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poisoning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629400" y="2933700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malicious tool, described convincingly.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115800" y="2571750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Exfiltration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115800" y="2933700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leaked out through a tool's own arguments.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Runaway loops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43000" y="3905250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stop condition, spending without limit.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3543300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Confused deputy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629400" y="3905250"/>
            <a:ext cx="51800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acts with more authority than the request warrants.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8165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SECURITY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you built yesterday is the one under attack today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43000" y="2676525"/>
            <a:ext cx="685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057400" y="2676525"/>
            <a:ext cx="8432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Poison one document already sitting in your own retrieval corpus.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685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057400" y="3200400"/>
            <a:ext cx="5433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your own agent read it, and obey it.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3724275"/>
            <a:ext cx="685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724275"/>
            <a:ext cx="79144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guardrail that stops it, and run the same attack again.</a:t>
            </a:r>
            <a:endParaRPr lang="en-US" sz="1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8165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SECURITY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needs its own identity, not a shared one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94322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847975"/>
            <a:ext cx="797598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service account can't tell you which agent did what.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659386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564136"/>
            <a:ext cx="109976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Per-agent identity means per-agent revocation, without taking down everything else.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375547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280297"/>
            <a:ext cx="131247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managed platform now offers this as a named feature, because every team eventually needs it.</a:t>
            </a:r>
            <a:endParaRPr lang="en-US" sz="2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18165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SECURITY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autonomy spectrum is also your approval-gate map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ECE8F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5277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gate needed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520065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CABDF0"/>
          </a:solidFill>
          <a:ln/>
        </p:spPr>
      </p:sp>
      <p:sp>
        <p:nvSpPr>
          <p:cNvPr id="9" name="Text 7"/>
          <p:cNvSpPr/>
          <p:nvPr/>
        </p:nvSpPr>
        <p:spPr>
          <a:xfrm>
            <a:off x="5200650" y="315277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 reviews before it sends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25830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9686DD"/>
          </a:solidFill>
          <a:ln/>
        </p:spPr>
      </p:sp>
      <p:sp>
        <p:nvSpPr>
          <p:cNvPr id="11" name="Text 9"/>
          <p:cNvSpPr/>
          <p:nvPr/>
        </p:nvSpPr>
        <p:spPr>
          <a:xfrm>
            <a:off x="9258300" y="3152775"/>
            <a:ext cx="42119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acts, every step logged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3315950" y="2828925"/>
            <a:ext cx="3829050" cy="95250"/>
          </a:xfrm>
          <a:prstGeom prst="roundRect">
            <a:avLst>
              <a:gd name="adj" fmla="val 50000"/>
            </a:avLst>
          </a:pr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13315950" y="3152775"/>
            <a:ext cx="39439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for the lowest-stakes actions only</a:t>
            </a:r>
            <a:endParaRPr lang="en-US" sz="157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86138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610225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253038"/>
            <a:ext cx="463367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Evals and cost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253163"/>
            <a:ext cx="882967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architecture on measured performance, not on a diagram.</a:t>
            </a:r>
            <a:endParaRPr lang="en-US" sz="2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770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EVALS AND COST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dimensions worth measuring on purpose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3000" y="3348038"/>
            <a:ext cx="3238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05125"/>
            <a:ext cx="33356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completion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81500" y="3348038"/>
            <a:ext cx="12763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2905125"/>
            <a:ext cx="131464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it actually finish the job?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3957638"/>
            <a:ext cx="3238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09963"/>
            <a:ext cx="3335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 correctness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381500" y="3957638"/>
            <a:ext cx="12763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81500" y="3509963"/>
            <a:ext cx="13146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tool, right arguments?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4567238"/>
            <a:ext cx="3238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119563"/>
            <a:ext cx="3335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Groundedness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381500" y="4567238"/>
            <a:ext cx="12763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81500" y="4119563"/>
            <a:ext cx="13146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answer backed by what was retrieved?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5176838"/>
            <a:ext cx="3238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729163"/>
            <a:ext cx="3335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task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381500" y="5176838"/>
            <a:ext cx="12763500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4729163"/>
            <a:ext cx="13146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this actually cost, end to end?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5338763"/>
            <a:ext cx="33356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4381500" y="5338763"/>
            <a:ext cx="131464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long did the person wait?</a:t>
            </a:r>
            <a:endParaRPr lang="en-US" sz="1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2770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EVALS AND COST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287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turn resends the whole conversation so far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4543425"/>
            <a:ext cx="666750" cy="571500"/>
          </a:xfrm>
          <a:custGeom>
            <a:avLst/>
            <a:gdLst/>
            <a:ahLst/>
            <a:cxnLst/>
            <a:rect l="l" t="t" r="r" b="b"/>
            <a:pathLst>
              <a:path w="666750" h="571500">
                <a:moveTo>
                  <a:pt x="57150" y="0"/>
                </a:moveTo>
                <a:lnTo>
                  <a:pt x="609600" y="0"/>
                </a:lnTo>
                <a:arcTo hR="57150" wR="57150" stAng="16200000" swAng="5400000"/>
                <a:lnTo>
                  <a:pt x="666750" y="571500"/>
                </a:lnTo>
                <a:lnTo>
                  <a:pt x="0" y="5715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ECE8FB"/>
          </a:solidFill>
          <a:ln/>
        </p:spPr>
      </p:sp>
      <p:sp>
        <p:nvSpPr>
          <p:cNvPr id="7" name="Text 5"/>
          <p:cNvSpPr/>
          <p:nvPr/>
        </p:nvSpPr>
        <p:spPr>
          <a:xfrm>
            <a:off x="1266676" y="5191125"/>
            <a:ext cx="4955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1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2038350" y="4067175"/>
            <a:ext cx="666750" cy="1047750"/>
          </a:xfrm>
          <a:custGeom>
            <a:avLst/>
            <a:gdLst/>
            <a:ahLst/>
            <a:cxnLst/>
            <a:rect l="l" t="t" r="r" b="b"/>
            <a:pathLst>
              <a:path w="666750" h="1047750">
                <a:moveTo>
                  <a:pt x="57150" y="0"/>
                </a:moveTo>
                <a:lnTo>
                  <a:pt x="609600" y="0"/>
                </a:lnTo>
                <a:arcTo hR="57150" wR="57150" stAng="16200000" swAng="5400000"/>
                <a:lnTo>
                  <a:pt x="666750" y="1047750"/>
                </a:lnTo>
                <a:lnTo>
                  <a:pt x="0" y="10477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ABDF0"/>
          </a:solidFill>
          <a:ln/>
        </p:spPr>
      </p:sp>
      <p:sp>
        <p:nvSpPr>
          <p:cNvPr id="9" name="Text 7"/>
          <p:cNvSpPr/>
          <p:nvPr/>
        </p:nvSpPr>
        <p:spPr>
          <a:xfrm>
            <a:off x="2145506" y="5191125"/>
            <a:ext cx="5284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2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2933700" y="3448050"/>
            <a:ext cx="666750" cy="1666875"/>
          </a:xfrm>
          <a:custGeom>
            <a:avLst/>
            <a:gdLst/>
            <a:ahLst/>
            <a:cxnLst/>
            <a:rect l="l" t="t" r="r" b="b"/>
            <a:pathLst>
              <a:path w="666750" h="1666875">
                <a:moveTo>
                  <a:pt x="57150" y="0"/>
                </a:moveTo>
                <a:lnTo>
                  <a:pt x="609600" y="0"/>
                </a:lnTo>
                <a:arcTo hR="57150" wR="57150" stAng="16200000" swAng="5400000"/>
                <a:lnTo>
                  <a:pt x="666750" y="1666875"/>
                </a:lnTo>
                <a:lnTo>
                  <a:pt x="0" y="16668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9686DD"/>
          </a:solidFill>
          <a:ln/>
        </p:spPr>
      </p:sp>
      <p:sp>
        <p:nvSpPr>
          <p:cNvPr id="11" name="Text 9"/>
          <p:cNvSpPr/>
          <p:nvPr/>
        </p:nvSpPr>
        <p:spPr>
          <a:xfrm>
            <a:off x="3040261" y="5191125"/>
            <a:ext cx="5296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3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3829050" y="2638425"/>
            <a:ext cx="666750" cy="2476500"/>
          </a:xfrm>
          <a:custGeom>
            <a:avLst/>
            <a:gdLst/>
            <a:ahLst/>
            <a:cxnLst/>
            <a:rect l="l" t="t" r="r" b="b"/>
            <a:pathLst>
              <a:path w="666750" h="2476500">
                <a:moveTo>
                  <a:pt x="57150" y="0"/>
                </a:moveTo>
                <a:lnTo>
                  <a:pt x="609600" y="0"/>
                </a:lnTo>
                <a:arcTo hR="57150" wR="57150" stAng="16200000" swAng="5400000"/>
                <a:lnTo>
                  <a:pt x="666750" y="2476500"/>
                </a:lnTo>
                <a:lnTo>
                  <a:pt x="0" y="24765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3379" y="5191125"/>
            <a:ext cx="5342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4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143000" y="576262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D2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climbs with every turn, not with every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770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EVALS AND COST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levers that actually move the number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9813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438525"/>
            <a:ext cx="50753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what hasn't changed instead of resending it.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6680150" y="29813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routing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80150" y="3438525"/>
            <a:ext cx="50753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the easy tasks to a smaller, cheaper model.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217301" y="2981325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Per-task budget caps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217301" y="3438525"/>
            <a:ext cx="50753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limit inside the loop itself, not a monthly invoice surprise.</a:t>
            </a:r>
            <a:endParaRPr lang="en-US" sz="17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063"/>
            <a:ext cx="176022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80"/>
              </a:lnSpc>
              <a:buNone/>
            </a:pPr>
            <a:r>
              <a:rPr lang="en-US" sz="1500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1143000" y="5772150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14963"/>
            <a:ext cx="475105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execution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415088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writes code. Something has to run it.</a:t>
            </a:r>
            <a:endParaRPr lang="en-US" sz="2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95775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SAFE EXECUTION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48225"/>
            <a:ext cx="13735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BI agent, asked a business question, writes matplotlib code. That code has to execute somewhere.</a:t>
            </a:r>
            <a:endParaRPr lang="en-US" sz="3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2770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SAFE EXECUTION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390650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no boundary at all, to a fully hosted sandbox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" y="2590800"/>
            <a:ext cx="3957638" cy="952500"/>
          </a:xfrm>
          <a:custGeom>
            <a:avLst/>
            <a:gdLst/>
            <a:ahLst/>
            <a:cxnLst/>
            <a:rect l="l" t="t" r="r" b="b"/>
            <a:pathLst>
              <a:path w="3957638" h="952500">
                <a:moveTo>
                  <a:pt x="95250" y="0"/>
                </a:moveTo>
                <a:lnTo>
                  <a:pt x="3957638" y="0"/>
                </a:lnTo>
                <a:lnTo>
                  <a:pt x="3957638" y="952500"/>
                </a:lnTo>
                <a:lnTo>
                  <a:pt x="95250" y="952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241F3D"/>
          </a:solidFill>
          <a:ln/>
        </p:spPr>
      </p:sp>
      <p:sp>
        <p:nvSpPr>
          <p:cNvPr id="7" name="Text 5"/>
          <p:cNvSpPr/>
          <p:nvPr/>
        </p:nvSpPr>
        <p:spPr>
          <a:xfrm>
            <a:off x="1331285" y="2838450"/>
            <a:ext cx="35810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241F3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Bare process </a:t>
            </a:r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57788" y="2705100"/>
            <a:ext cx="3957638" cy="723900"/>
          </a:xfrm>
          <a:prstGeom prst="rect">
            <a:avLst/>
          </a:prstGeom>
          <a:solidFill>
            <a:srgbClr val="796CBF"/>
          </a:solidFill>
          <a:ln/>
        </p:spPr>
      </p:sp>
      <p:sp>
        <p:nvSpPr>
          <p:cNvPr id="9" name="Text 7"/>
          <p:cNvSpPr/>
          <p:nvPr/>
        </p:nvSpPr>
        <p:spPr>
          <a:xfrm>
            <a:off x="5346073" y="2952750"/>
            <a:ext cx="35810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72575" y="2705100"/>
            <a:ext cx="3957638" cy="723900"/>
          </a:xfrm>
          <a:prstGeom prst="rect">
            <a:avLst/>
          </a:prstGeom>
          <a:solidFill>
            <a:srgbClr val="9686DD"/>
          </a:solidFill>
          <a:ln/>
        </p:spPr>
      </p:sp>
      <p:sp>
        <p:nvSpPr>
          <p:cNvPr id="11" name="Text 9"/>
          <p:cNvSpPr/>
          <p:nvPr/>
        </p:nvSpPr>
        <p:spPr>
          <a:xfrm>
            <a:off x="9360860" y="2952750"/>
            <a:ext cx="35810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MicroVMs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187363" y="2705100"/>
            <a:ext cx="3957638" cy="723900"/>
          </a:xfrm>
          <a:custGeom>
            <a:avLst/>
            <a:gdLst/>
            <a:ahLst/>
            <a:cxnLst/>
            <a:rect l="l" t="t" r="r" b="b"/>
            <a:pathLst>
              <a:path w="3957638" h="723900">
                <a:moveTo>
                  <a:pt x="0" y="0"/>
                </a:moveTo>
                <a:lnTo>
                  <a:pt x="3862387" y="0"/>
                </a:lnTo>
                <a:arcTo hR="95250" wR="95250" stAng="16200000" swAng="5400000"/>
                <a:lnTo>
                  <a:pt x="3957638" y="628650"/>
                </a:lnTo>
                <a:arcTo hR="95250" wR="95250" stAng="0" swAng="5400000"/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CE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75648" y="2952750"/>
            <a:ext cx="35810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sandboxes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2770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SAFE EXECUTION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separate dials, not one setting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981325"/>
            <a:ext cx="4023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3390900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long it's allowed to run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257800" y="2981325"/>
            <a:ext cx="4023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caps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257800" y="3390900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and memory it can use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372600" y="2981325"/>
            <a:ext cx="4023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egress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372600" y="3390900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can reach outside the box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3487400" y="2981325"/>
            <a:ext cx="4023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Filesystem scope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487400" y="3390900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can read or write</a:t>
            </a:r>
            <a:endParaRPr lang="en-US" sz="157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90925"/>
            <a:ext cx="1760220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48"/>
              </a:lnSpc>
              <a:buNone/>
            </a:pPr>
            <a:r>
              <a:rPr lang="en-US" sz="1425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143000" y="5729288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372100"/>
            <a:ext cx="618516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landscape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372225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sells each layer, and what you'd build yourself.</a:t>
            </a:r>
            <a:endParaRPr lang="en-US" sz="2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8429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723900"/>
            <a:ext cx="35363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PLATFORM LANDSCAPE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238250"/>
            <a:ext cx="176022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layers, one question each: what applies to me?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2319338"/>
            <a:ext cx="2127498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057400"/>
            <a:ext cx="197509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3270498" y="2319338"/>
            <a:ext cx="4651921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4798" y="2057400"/>
            <a:ext cx="456287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IT SOLVES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922419" y="2319338"/>
            <a:ext cx="3904952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36719" y="2057400"/>
            <a:ext cx="379350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PATTERN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1827371" y="2319338"/>
            <a:ext cx="5317629" cy="9525"/>
          </a:xfrm>
          <a:prstGeom prst="rect">
            <a:avLst/>
          </a:prstGeom>
          <a:solidFill>
            <a:srgbClr val="1C1D2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941671" y="2057400"/>
            <a:ext cx="524855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1C1D24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CLOUD SELLS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43000" y="2795588"/>
            <a:ext cx="2127498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2443163"/>
            <a:ext cx="1975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3270498" y="2795588"/>
            <a:ext cx="465192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84798" y="2443163"/>
            <a:ext cx="45628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and tool selection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7922419" y="2795588"/>
            <a:ext cx="39049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36719" y="2443163"/>
            <a:ext cx="37935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compatible endpoint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1827371" y="2795588"/>
            <a:ext cx="531762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941671" y="2443163"/>
            <a:ext cx="52485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model catalogue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143000" y="3271838"/>
            <a:ext cx="2127498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" y="2919413"/>
            <a:ext cx="1975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3270498" y="3271838"/>
            <a:ext cx="465192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4798" y="2919413"/>
            <a:ext cx="45628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Giving the model hands, portably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7922419" y="3271838"/>
            <a:ext cx="39049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036719" y="2919413"/>
            <a:ext cx="37935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MCP, an open standard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827371" y="3271838"/>
            <a:ext cx="531762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941671" y="2919413"/>
            <a:ext cx="52485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governed tool catalogue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43000" y="3748087"/>
            <a:ext cx="2127498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57300" y="3395663"/>
            <a:ext cx="1975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3270498" y="3748087"/>
            <a:ext cx="465192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84798" y="3395663"/>
            <a:ext cx="45628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flow, state, retries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7922419" y="3748087"/>
            <a:ext cx="39049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036719" y="3395663"/>
            <a:ext cx="37935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frameworks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11827371" y="3748087"/>
            <a:ext cx="531762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941671" y="3395663"/>
            <a:ext cx="52485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agent runtime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143000" y="4224338"/>
            <a:ext cx="2127498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57300" y="3871913"/>
            <a:ext cx="1975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3270498" y="4224338"/>
            <a:ext cx="465192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384798" y="3871913"/>
            <a:ext cx="45628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and grounding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7922419" y="4224338"/>
            <a:ext cx="39049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036719" y="3871913"/>
            <a:ext cx="37935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vector stores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11827371" y="4224338"/>
            <a:ext cx="531762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941671" y="3871913"/>
            <a:ext cx="52485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search or memory service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143000" y="4700588"/>
            <a:ext cx="2127498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257300" y="4348163"/>
            <a:ext cx="1975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3270498" y="4700588"/>
            <a:ext cx="4651921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384798" y="4348163"/>
            <a:ext cx="45628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talking to agents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7922419" y="4700588"/>
            <a:ext cx="3904952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036719" y="4348163"/>
            <a:ext cx="37935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A2A, an open standard</a:t>
            </a:r>
            <a:endParaRPr lang="en-US" sz="1575" dirty="0"/>
          </a:p>
        </p:txBody>
      </p:sp>
      <p:sp>
        <p:nvSpPr>
          <p:cNvPr id="52" name="Shape 50"/>
          <p:cNvSpPr/>
          <p:nvPr/>
        </p:nvSpPr>
        <p:spPr>
          <a:xfrm>
            <a:off x="11827371" y="4700588"/>
            <a:ext cx="5317629" cy="9525"/>
          </a:xfrm>
          <a:prstGeom prst="rect">
            <a:avLst/>
          </a:prstGeom>
          <a:solidFill>
            <a:srgbClr val="1C1D24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941671" y="4348163"/>
            <a:ext cx="52485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connected-agents feature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257300" y="4824413"/>
            <a:ext cx="197509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3384798" y="4824413"/>
            <a:ext cx="456287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safety, evals, cost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8036719" y="4824413"/>
            <a:ext cx="379350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tracing and eval tools</a:t>
            </a:r>
            <a:endParaRPr lang="en-US" sz="1575" dirty="0"/>
          </a:p>
        </p:txBody>
      </p:sp>
      <p:sp>
        <p:nvSpPr>
          <p:cNvPr id="57" name="Text 55"/>
          <p:cNvSpPr/>
          <p:nvPr/>
        </p:nvSpPr>
        <p:spPr>
          <a:xfrm>
            <a:off x="11941671" y="4824413"/>
            <a:ext cx="524855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identity and safety layer</a:t>
            </a:r>
            <a:endParaRPr lang="en-US" sz="15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35363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PLATFORM LANDSCAPE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7602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lock-in actually lives, and where it doesn't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1143000" y="280035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705100"/>
            <a:ext cx="1018555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swappable. Nearly every provider speaks a compatible interface.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478411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383161"/>
            <a:ext cx="56853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are portable if you built them on MCP.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156472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4061222"/>
            <a:ext cx="74043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is portable if you used an open framework.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834533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4739283"/>
            <a:ext cx="871501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Memory, identity, and observability are where the sticky layers live.</a:t>
            </a:r>
            <a:endParaRPr lang="en-US" sz="2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40000"/>
                </a:srgbClr>
              </a:gs>
              <a:gs pos="64000">
                <a:srgbClr val="6F5FD6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90925"/>
            <a:ext cx="1760220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48"/>
              </a:lnSpc>
              <a:buNone/>
            </a:pPr>
            <a:r>
              <a:rPr lang="en-US" sz="14250" dirty="0">
                <a:solidFill>
                  <a:srgbClr val="4A3F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143000" y="5729288"/>
            <a:ext cx="495300" cy="19050"/>
          </a:xfrm>
          <a:prstGeom prst="rect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372100"/>
            <a:ext cx="753856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7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re-engineering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372225"/>
            <a:ext cx="9429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7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we actually automate, and how far should it go?</a:t>
            </a:r>
            <a:endParaRPr lang="en-US" sz="2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40158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PROCESS RE-ENGINEERING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390650"/>
            <a:ext cx="1760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simplest solution, and add complexity only when needed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2533650"/>
            <a:ext cx="12753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model call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2943225"/>
            <a:ext cx="1362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3286125"/>
            <a:ext cx="12753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retrieval and good examples </a:t>
            </a:r>
            <a:pPr algn="l" indent="0" marL="0">
              <a:buNone/>
            </a:pPr>
            <a:r>
              <a:rPr lang="en-US" sz="142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applications stop here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43000" y="3695700"/>
            <a:ext cx="1362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3000" y="4038600"/>
            <a:ext cx="12753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fixed workflow </a:t>
            </a:r>
            <a:pPr algn="l" indent="0" marL="0">
              <a:buNone/>
            </a:pPr>
            <a:r>
              <a:rPr lang="en-US" sz="142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production systems stop here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43000" y="4448175"/>
            <a:ext cx="1362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4791075"/>
            <a:ext cx="12753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</a:t>
            </a:r>
            <a:pPr algn="l" indent="0" marL="0">
              <a:buNone/>
            </a:pPr>
            <a:r>
              <a:rPr lang="en-US" sz="142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path genuinely can't be predetermined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143000" y="5200650"/>
            <a:ext cx="1362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5543550"/>
            <a:ext cx="12753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agents </a:t>
            </a:r>
            <a:pPr algn="l" indent="0" marL="0">
              <a:buNone/>
            </a:pPr>
            <a:r>
              <a:rPr lang="en-US" sz="1425" dirty="0">
                <a:solidFill>
                  <a:srgbClr val="1C1D2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subtasks need different tools or permissions</a:t>
            </a:r>
            <a:endParaRPr lang="en-US" sz="20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1033462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14400"/>
            <a:ext cx="40158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PROCESS RE-ENGINEERING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7602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creates value, and where it still disappoints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43000" y="26765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value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171825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with real judgment, where the context is written down and the cost of a wrong step is recoverable.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601200" y="2676525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disappoints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3171825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1C1D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 with low margin for error, unbounded cost of a wrong action, or context that was never captured anywhere.</a:t>
            </a:r>
            <a:endParaRPr lang="en-US" sz="187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57263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838200"/>
            <a:ext cx="40158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PROCESS RE-ENGINEERING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390650"/>
            <a:ext cx="1760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groups: pick a real process from your own function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143000" y="256222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476500"/>
            <a:ext cx="24668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it step by step.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3188940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3103215"/>
            <a:ext cx="89894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each step an autonomy tier: suggest, draft, act with audit, or act.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143000" y="3815655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3729930"/>
            <a:ext cx="119557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where the context lives, and whether it's written down anywhere an agent could read it.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442371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4356646"/>
            <a:ext cx="60658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the cost of a wrong step, for each step.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143000" y="5069086"/>
            <a:ext cx="2286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15" name="Text 13"/>
          <p:cNvSpPr/>
          <p:nvPr/>
        </p:nvSpPr>
        <p:spPr>
          <a:xfrm>
            <a:off x="1562100" y="4983361"/>
            <a:ext cx="62358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025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the agent, or conclude it shouldn't be one.</a:t>
            </a:r>
            <a:endParaRPr lang="en-US" sz="20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253954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PROCESS RE-ENGINEERING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4806404"/>
            <a:ext cx="13735050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outcome today might be a group that concludes their process shouldn't be automated, and can say exactly why."</a:t>
            </a:r>
            <a:endParaRPr lang="en-US" sz="34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57162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21"/>
              </a:lnSpc>
              <a:buNone/>
            </a:pPr>
            <a:r>
              <a:rPr lang="en-US" sz="39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days, one build-up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143000" y="2017365"/>
            <a:ext cx="2226469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2075" y="2160240"/>
            <a:ext cx="18645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hand-written loop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1869" y="2017365"/>
            <a:ext cx="871091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0944" y="2160240"/>
            <a:ext cx="5091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45360" y="2017365"/>
            <a:ext cx="1544687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435" y="2160240"/>
            <a:ext cx="11827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2447" y="2017365"/>
            <a:ext cx="2401788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1522" y="2160240"/>
            <a:ext cx="20398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and memory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96635" y="2017365"/>
            <a:ext cx="1403003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5710" y="2160240"/>
            <a:ext cx="10410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352038" y="2017365"/>
            <a:ext cx="1531888" cy="514350"/>
          </a:xfrm>
          <a:prstGeom prst="roundRect">
            <a:avLst>
              <a:gd name="adj" fmla="val 44444"/>
            </a:avLst>
          </a:prstGeom>
          <a:ln w="9525">
            <a:solidFill>
              <a:srgbClr val="1C1D24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71113" y="2160240"/>
            <a:ext cx="11699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036326" y="2017365"/>
            <a:ext cx="3558629" cy="514350"/>
          </a:xfrm>
          <a:prstGeom prst="roundRect">
            <a:avLst>
              <a:gd name="adj" fmla="val 44444"/>
            </a:avLst>
          </a:prstGeom>
          <a:ln w="9525">
            <a:solidFill>
              <a:srgbClr val="5B4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5401" y="2160240"/>
            <a:ext cx="32272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about what to automate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F5FD6">
                  <a:alpha val="8000"/>
                </a:srgbClr>
              </a:gs>
              <a:gs pos="58000">
                <a:srgbClr val="6F5FD6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4090987"/>
            <a:ext cx="419100" cy="9525"/>
          </a:xfrm>
          <a:prstGeom prst="rect">
            <a:avLst/>
          </a:prstGeom>
          <a:solidFill>
            <a:srgbClr val="5B4BC4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971925"/>
            <a:ext cx="1534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B4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4524375"/>
            <a:ext cx="157162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22"/>
              </a:lnSpc>
              <a:buNone/>
            </a:pPr>
            <a:r>
              <a:rPr lang="en-US" sz="6000" dirty="0">
                <a:solidFill>
                  <a:srgbClr val="1C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Questions, and where to go next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43000" y="5667375"/>
            <a:ext cx="11772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D24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notebook stays yours after today. The loop you wrote by hand is still the fastest way to explain any layer above it.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2026-08-18T12:29:34Z</dcterms:created>
  <dcterms:modified xsi:type="dcterms:W3CDTF">2026-08-18T12:29:34Z</dcterms:modified>
</cp:coreProperties>
</file>